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918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18872"/>
            <a:ext cx="5527421" cy="6248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84911"/>
            <a:ext cx="5638829" cy="61214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184911"/>
            <a:ext cx="5509278" cy="61214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6095"/>
            <a:ext cx="5638800" cy="647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3411" y="2779852"/>
            <a:ext cx="2484120" cy="1184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293" y="3391151"/>
            <a:ext cx="3307715" cy="182768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 marR="450215">
              <a:lnSpc>
                <a:spcPct val="90000"/>
              </a:lnSpc>
              <a:spcBef>
                <a:spcPts val="655"/>
              </a:spcBef>
            </a:pPr>
            <a:r>
              <a:rPr sz="3100" smtClean="0">
                <a:latin typeface="Calibri Light"/>
                <a:cs typeface="Calibri Light"/>
              </a:rPr>
              <a:t>Database</a:t>
            </a:r>
            <a:r>
              <a:rPr sz="3100" spc="-175" smtClean="0">
                <a:latin typeface="Calibri Light"/>
                <a:cs typeface="Calibri Light"/>
              </a:rPr>
              <a:t> </a:t>
            </a:r>
            <a:r>
              <a:rPr sz="3100" spc="-10" dirty="0">
                <a:latin typeface="Calibri Light"/>
                <a:cs typeface="Calibri Light"/>
              </a:rPr>
              <a:t>System [</a:t>
            </a:r>
            <a:r>
              <a:rPr sz="3100" i="1" spc="-10" dirty="0">
                <a:latin typeface="Calibri Light"/>
                <a:cs typeface="Calibri Light"/>
              </a:rPr>
              <a:t>Generalization, Specialization</a:t>
            </a:r>
            <a:r>
              <a:rPr sz="3100" i="1" spc="-75" dirty="0">
                <a:latin typeface="Calibri Light"/>
                <a:cs typeface="Calibri Light"/>
              </a:rPr>
              <a:t> </a:t>
            </a:r>
            <a:r>
              <a:rPr sz="3100" i="1" spc="-25" dirty="0">
                <a:latin typeface="Calibri Light"/>
                <a:cs typeface="Calibri Light"/>
              </a:rPr>
              <a:t>and </a:t>
            </a:r>
            <a:r>
              <a:rPr sz="3100" i="1" spc="-10" dirty="0">
                <a:latin typeface="Calibri Light"/>
                <a:cs typeface="Calibri Light"/>
              </a:rPr>
              <a:t>Aggregation</a:t>
            </a:r>
            <a:r>
              <a:rPr sz="3100" spc="-10" dirty="0">
                <a:latin typeface="Calibri Light"/>
                <a:cs typeface="Calibri Light"/>
              </a:rPr>
              <a:t>]</a:t>
            </a:r>
            <a:endParaRPr sz="3100" dirty="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6235065" cy="6858000"/>
            <a:chOff x="0" y="0"/>
            <a:chExt cx="623506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520" y="2247017"/>
              <a:ext cx="2439079" cy="32912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234684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9762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alibri Light"/>
                <a:cs typeface="Calibri Light"/>
              </a:rPr>
              <a:t>Generalization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2204" y="1628013"/>
            <a:ext cx="5134610" cy="315341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spc="-10" dirty="0">
                <a:latin typeface="Calibri"/>
                <a:cs typeface="Calibri"/>
              </a:rPr>
              <a:t>Generalization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bottom-</a:t>
            </a:r>
            <a:r>
              <a:rPr sz="2400" spc="-25" dirty="0">
                <a:latin typeface="Calibri"/>
                <a:cs typeface="Calibri"/>
              </a:rPr>
              <a:t>up 	</a:t>
            </a:r>
            <a:r>
              <a:rPr sz="2400" dirty="0">
                <a:latin typeface="Calibri"/>
                <a:cs typeface="Calibri"/>
              </a:rPr>
              <a:t>approach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entities 	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lower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higher 	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some</a:t>
            </a:r>
            <a:r>
              <a:rPr sz="2400" spc="600" dirty="0">
                <a:latin typeface="Calibri"/>
                <a:cs typeface="Calibri"/>
              </a:rPr>
              <a:t> 	</a:t>
            </a:r>
            <a:r>
              <a:rPr sz="2400" spc="-10" dirty="0">
                <a:latin typeface="Calibri"/>
                <a:cs typeface="Calibri"/>
              </a:rPr>
              <a:t>attributes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common.</a:t>
            </a:r>
            <a:endParaRPr sz="2400">
              <a:latin typeface="Calibri"/>
              <a:cs typeface="Calibri"/>
            </a:endParaRPr>
          </a:p>
          <a:p>
            <a:pPr marL="240029" marR="9525" indent="-227329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generalization,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higher 	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entities 	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lower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further 	</a:t>
            </a:r>
            <a:r>
              <a:rPr sz="2400" dirty="0">
                <a:latin typeface="Calibri"/>
                <a:cs typeface="Calibri"/>
              </a:rPr>
              <a:t>higher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entity.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9762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alibri Light"/>
                <a:cs typeface="Calibri Light"/>
              </a:rPr>
              <a:t>Generalization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2204" y="1628013"/>
            <a:ext cx="5144770" cy="315341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Generalization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subclass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spc="-10" dirty="0">
                <a:latin typeface="Calibri"/>
                <a:cs typeface="Calibri"/>
              </a:rPr>
              <a:t>superclass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only 	</a:t>
            </a:r>
            <a:r>
              <a:rPr sz="2400" spc="-10" dirty="0">
                <a:latin typeface="Calibri"/>
                <a:cs typeface="Calibri"/>
              </a:rPr>
              <a:t>difference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approach. 	Generalization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bottom-</a:t>
            </a:r>
            <a:r>
              <a:rPr sz="2400" spc="-25" dirty="0">
                <a:latin typeface="Calibri"/>
                <a:cs typeface="Calibri"/>
              </a:rPr>
              <a:t>up 	</a:t>
            </a:r>
            <a:r>
              <a:rPr sz="2400" spc="-10" dirty="0">
                <a:latin typeface="Calibri"/>
                <a:cs typeface="Calibri"/>
              </a:rPr>
              <a:t>approach.</a:t>
            </a:r>
            <a:endParaRPr sz="2400">
              <a:latin typeface="Calibri"/>
              <a:cs typeface="Calibri"/>
            </a:endParaRPr>
          </a:p>
          <a:p>
            <a:pPr marL="240029" marR="10160" indent="-227329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generalization,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entities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combined 	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generalized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entity,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i.e., 	subclasses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combined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spc="-10" dirty="0">
                <a:latin typeface="Calibri"/>
                <a:cs typeface="Calibri"/>
              </a:rPr>
              <a:t>superclass.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97624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20" dirty="0">
                <a:latin typeface="Calibri Light"/>
                <a:cs typeface="Calibri Light"/>
              </a:rPr>
              <a:t>Generalization </a:t>
            </a:r>
            <a:r>
              <a:rPr sz="4000" spc="-10" dirty="0">
                <a:latin typeface="Calibri Light"/>
                <a:cs typeface="Calibri Light"/>
              </a:rPr>
              <a:t>Example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974598"/>
            <a:ext cx="4859655" cy="12204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Faculty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Student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entities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can 	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generalized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dirty="0">
                <a:latin typeface="Calibri"/>
                <a:cs typeface="Calibri"/>
              </a:rPr>
              <a:t>higher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level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entity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Person.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70410" y="2803017"/>
            <a:ext cx="2980962" cy="3181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7997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alibri Light"/>
                <a:cs typeface="Calibri Light"/>
              </a:rPr>
              <a:t>Specialization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2204" y="1070305"/>
            <a:ext cx="5050790" cy="426847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spc="-10" dirty="0">
                <a:latin typeface="Calibri"/>
                <a:cs typeface="Calibri"/>
              </a:rPr>
              <a:t>Specialization </a:t>
            </a:r>
            <a:r>
              <a:rPr sz="2400" dirty="0">
                <a:latin typeface="Calibri"/>
                <a:cs typeface="Calibri"/>
              </a:rPr>
              <a:t>is 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top-</a:t>
            </a:r>
            <a:r>
              <a:rPr sz="2400" dirty="0">
                <a:latin typeface="Calibri"/>
                <a:cs typeface="Calibri"/>
              </a:rPr>
              <a:t>down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approach,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opposite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Generalization.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 	</a:t>
            </a:r>
            <a:r>
              <a:rPr sz="2400" spc="-10" dirty="0">
                <a:latin typeface="Calibri"/>
                <a:cs typeface="Calibri"/>
              </a:rPr>
              <a:t>specialization,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entity 	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broken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down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lower 	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entities.</a:t>
            </a:r>
            <a:endParaRPr sz="2400">
              <a:latin typeface="Calibri"/>
              <a:cs typeface="Calibri"/>
            </a:endParaRPr>
          </a:p>
          <a:p>
            <a:pPr marL="240029" marR="375920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Specialization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identify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subset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shares 	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distinguishing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characteristics.</a:t>
            </a:r>
            <a:endParaRPr sz="2400">
              <a:latin typeface="Calibri"/>
              <a:cs typeface="Calibri"/>
            </a:endParaRPr>
          </a:p>
          <a:p>
            <a:pPr marL="240029" marR="520700" indent="-227329">
              <a:lnSpc>
                <a:spcPts val="259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20" dirty="0">
                <a:latin typeface="Calibri"/>
                <a:cs typeface="Calibri"/>
              </a:rPr>
              <a:t>Normally,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superclass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defined 	</a:t>
            </a:r>
            <a:r>
              <a:rPr sz="2400" dirty="0">
                <a:latin typeface="Calibri"/>
                <a:cs typeface="Calibri"/>
              </a:rPr>
              <a:t>first,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subclass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related 	attributes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relationship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added.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79971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10" dirty="0">
                <a:latin typeface="Calibri Light"/>
                <a:cs typeface="Calibri Light"/>
              </a:rPr>
              <a:t>Specialization Example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845642"/>
            <a:ext cx="4921885" cy="19888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Employee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management 	system,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EMPLOYEE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entity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be 	</a:t>
            </a:r>
            <a:r>
              <a:rPr sz="2800" spc="-10" dirty="0">
                <a:latin typeface="Calibri"/>
                <a:cs typeface="Calibri"/>
              </a:rPr>
              <a:t>specialized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TESTER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or 	</a:t>
            </a:r>
            <a:r>
              <a:rPr sz="2800" dirty="0">
                <a:latin typeface="Calibri"/>
                <a:cs typeface="Calibri"/>
              </a:rPr>
              <a:t>DEVELOPER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what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role 	</a:t>
            </a:r>
            <a:r>
              <a:rPr sz="2800" dirty="0">
                <a:latin typeface="Calibri"/>
                <a:cs typeface="Calibri"/>
              </a:rPr>
              <a:t>they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play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company.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8356" y="2810255"/>
            <a:ext cx="4171188" cy="40477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3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Aggregation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12204" y="2286761"/>
            <a:ext cx="5137150" cy="18364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aggregation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between 	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entities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treated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single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entity.</a:t>
            </a:r>
            <a:endParaRPr sz="2400">
              <a:latin typeface="Calibri"/>
              <a:cs typeface="Calibri"/>
            </a:endParaRPr>
          </a:p>
          <a:p>
            <a:pPr marL="240029" marR="407670" indent="-227329">
              <a:lnSpc>
                <a:spcPct val="900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aggregation,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its 	</a:t>
            </a:r>
            <a:r>
              <a:rPr sz="2400" dirty="0">
                <a:latin typeface="Calibri"/>
                <a:cs typeface="Calibri"/>
              </a:rPr>
              <a:t>corresponding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entities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aggregated 	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entity.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48412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20" dirty="0">
                <a:latin typeface="Calibri Light"/>
                <a:cs typeface="Calibri Light"/>
              </a:rPr>
              <a:t>Aggregation </a:t>
            </a:r>
            <a:r>
              <a:rPr sz="4000" spc="-10" dirty="0">
                <a:latin typeface="Calibri Light"/>
                <a:cs typeface="Calibri Light"/>
              </a:rPr>
              <a:t>Example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163573"/>
            <a:ext cx="5085715" cy="44215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89535" indent="-227329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Center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entity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offers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Course 	</a:t>
            </a:r>
            <a:r>
              <a:rPr sz="2800" dirty="0">
                <a:latin typeface="Calibri"/>
                <a:cs typeface="Calibri"/>
              </a:rPr>
              <a:t>entity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single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entity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spc="-10" dirty="0">
                <a:latin typeface="Calibri"/>
                <a:cs typeface="Calibri"/>
              </a:rPr>
              <a:t>relationship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a 	</a:t>
            </a:r>
            <a:r>
              <a:rPr sz="2800" spc="-10" dirty="0">
                <a:latin typeface="Calibri"/>
                <a:cs typeface="Calibri"/>
              </a:rPr>
              <a:t>relationship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another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entity 	</a:t>
            </a:r>
            <a:r>
              <a:rPr sz="2800" b="1" spc="-10" dirty="0">
                <a:latin typeface="Calibri"/>
                <a:cs typeface="Calibri"/>
              </a:rPr>
              <a:t>Visitor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world,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Visitor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visits 	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coaching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center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will 	</a:t>
            </a:r>
            <a:r>
              <a:rPr sz="2800" dirty="0">
                <a:latin typeface="Calibri"/>
                <a:cs typeface="Calibri"/>
              </a:rPr>
              <a:t>never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enquiry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about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Course 	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just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about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Center 	</a:t>
            </a:r>
            <a:r>
              <a:rPr sz="2800" spc="-10" dirty="0">
                <a:latin typeface="Calibri"/>
                <a:cs typeface="Calibri"/>
              </a:rPr>
              <a:t>instead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ask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enquiry 	</a:t>
            </a:r>
            <a:r>
              <a:rPr sz="2800" dirty="0">
                <a:latin typeface="Calibri"/>
                <a:cs typeface="Calibri"/>
              </a:rPr>
              <a:t>about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both.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-20" dirty="0"/>
              <a:t>Aggregation </a:t>
            </a:r>
            <a:r>
              <a:rPr spc="-10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33464" y="1828155"/>
            <a:ext cx="5229377" cy="31857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58</Words>
  <Application>Microsoft Office PowerPoint</Application>
  <PresentationFormat>Widescreen</PresentationFormat>
  <Paragraphs>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 MT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Aggregation</vt:lpstr>
      <vt:lpstr>PowerPoint Presentation</vt:lpstr>
      <vt:lpstr>Aggregation Example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Hammad Waseem</dc:creator>
  <cp:lastModifiedBy>Windows User</cp:lastModifiedBy>
  <cp:revision>1</cp:revision>
  <dcterms:created xsi:type="dcterms:W3CDTF">2025-06-30T07:21:24Z</dcterms:created>
  <dcterms:modified xsi:type="dcterms:W3CDTF">2025-06-30T07:30:02Z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2024-04-26T00:00:00Z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2025-06-30T00:00:00Z</vt:filetime>
  </property>
  <property fmtid="{D5CDD505-2E9C-101B-9397-08002B2CF9AE}" pid="5" name="Producer">
    <vt:lpwstr>Microsoft® PowerPoint® for Microsoft 365</vt:lpwstr>
  </property>
</Properties>
</file>