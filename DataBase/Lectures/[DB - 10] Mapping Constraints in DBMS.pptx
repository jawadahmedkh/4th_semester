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258948"/>
            <a:ext cx="2718435" cy="2229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804920" cy="1398332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55"/>
              </a:spcBef>
            </a:pPr>
            <a:r>
              <a:rPr sz="3100" smtClean="0">
                <a:latin typeface="Calibri Light"/>
                <a:cs typeface="Calibri Light"/>
              </a:rPr>
              <a:t>Database</a:t>
            </a:r>
            <a:r>
              <a:rPr sz="3100" spc="-175" smtClean="0">
                <a:latin typeface="Calibri Light"/>
                <a:cs typeface="Calibri Light"/>
              </a:rPr>
              <a:t> </a:t>
            </a:r>
            <a:r>
              <a:rPr sz="3100" spc="-10" dirty="0">
                <a:latin typeface="Calibri Light"/>
                <a:cs typeface="Calibri Light"/>
              </a:rPr>
              <a:t>System </a:t>
            </a:r>
            <a:r>
              <a:rPr sz="3100" dirty="0">
                <a:latin typeface="Calibri Light"/>
                <a:cs typeface="Calibri Light"/>
              </a:rPr>
              <a:t>[</a:t>
            </a:r>
            <a:r>
              <a:rPr sz="3100" i="1" dirty="0">
                <a:latin typeface="Calibri Light"/>
                <a:cs typeface="Calibri Light"/>
              </a:rPr>
              <a:t>Mapping</a:t>
            </a:r>
            <a:r>
              <a:rPr sz="3100" i="1" spc="-130" dirty="0">
                <a:latin typeface="Calibri Light"/>
                <a:cs typeface="Calibri Light"/>
              </a:rPr>
              <a:t> </a:t>
            </a:r>
            <a:r>
              <a:rPr sz="3100" i="1" dirty="0">
                <a:latin typeface="Calibri Light"/>
                <a:cs typeface="Calibri Light"/>
              </a:rPr>
              <a:t>Constraints</a:t>
            </a:r>
            <a:r>
              <a:rPr sz="3100" i="1" spc="-125" dirty="0">
                <a:latin typeface="Calibri Light"/>
                <a:cs typeface="Calibri Light"/>
              </a:rPr>
              <a:t> </a:t>
            </a:r>
            <a:r>
              <a:rPr sz="3100" i="1" spc="-25" dirty="0">
                <a:latin typeface="Calibri Light"/>
                <a:cs typeface="Calibri Light"/>
              </a:rPr>
              <a:t>in </a:t>
            </a:r>
            <a:r>
              <a:rPr sz="3100" i="1" spc="-10" dirty="0">
                <a:latin typeface="Calibri Light"/>
                <a:cs typeface="Calibri Light"/>
              </a:rPr>
              <a:t>DBMS</a:t>
            </a:r>
            <a:r>
              <a:rPr sz="3100" spc="-10" dirty="0">
                <a:latin typeface="Calibri Light"/>
                <a:cs typeface="Calibri Light"/>
              </a:rPr>
              <a:t>]</a:t>
            </a:r>
            <a:endParaRPr sz="31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3342004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Cardinality</a:t>
            </a:r>
            <a:r>
              <a:rPr sz="4000" spc="-22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in </a:t>
            </a:r>
            <a:r>
              <a:rPr sz="4000" dirty="0">
                <a:latin typeface="Calibri Light"/>
                <a:cs typeface="Calibri Light"/>
              </a:rPr>
              <a:t>DBMS </a:t>
            </a:r>
            <a:r>
              <a:rPr sz="4000" spc="-10" dirty="0">
                <a:latin typeface="Calibri Light"/>
                <a:cs typeface="Calibri Light"/>
              </a:rPr>
              <a:t>(Mapping Constraints)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842517"/>
            <a:ext cx="5076825" cy="47237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45085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Cardinality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entities</a:t>
            </a:r>
            <a:r>
              <a:rPr sz="2400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are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arranged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other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the 	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r>
              <a:rPr sz="2400" i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structure</a:t>
            </a:r>
            <a:r>
              <a:rPr sz="2400" i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400" i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entities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349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b="1" i="1" dirty="0">
                <a:latin typeface="Calibri"/>
                <a:cs typeface="Calibri"/>
              </a:rPr>
              <a:t>number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that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denotes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how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many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times 	</a:t>
            </a:r>
            <a:r>
              <a:rPr sz="2400" b="1" i="1" dirty="0">
                <a:latin typeface="Calibri"/>
                <a:cs typeface="Calibri"/>
              </a:rPr>
              <a:t>an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entity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participating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with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another 	</a:t>
            </a:r>
            <a:r>
              <a:rPr sz="2400" b="1" i="1" dirty="0">
                <a:latin typeface="Calibri"/>
                <a:cs typeface="Calibri"/>
              </a:rPr>
              <a:t>entity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1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very 	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738505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tuples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3623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Cardinality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Ratio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620395"/>
            <a:ext cx="5086350" cy="22739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5080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ratio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called 	</a:t>
            </a:r>
            <a:r>
              <a:rPr sz="2400" b="1" dirty="0">
                <a:latin typeface="Calibri"/>
                <a:cs typeface="Calibri"/>
              </a:rPr>
              <a:t>Cardinality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Mapping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240029" marR="501015" indent="-227329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two 	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0167" y="2923108"/>
            <a:ext cx="5058410" cy="331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59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businesses.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192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purchase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history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then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one-</a:t>
            </a:r>
            <a:r>
              <a:rPr sz="2000" spc="-20" dirty="0">
                <a:latin typeface="Calibri"/>
                <a:cs typeface="Calibri"/>
              </a:rPr>
              <a:t>to-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cardinality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customer.</a:t>
            </a:r>
            <a:endParaRPr sz="2000">
              <a:latin typeface="Calibri"/>
              <a:cs typeface="Calibri"/>
            </a:endParaRPr>
          </a:p>
          <a:p>
            <a:pPr marL="240029" marR="18415" indent="-227329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Databases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Managers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variety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purposes,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corporations 	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20091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94678" y="1366774"/>
            <a:ext cx="2004695" cy="2003425"/>
            <a:chOff x="6694678" y="1366774"/>
            <a:chExt cx="2004695" cy="2003425"/>
          </a:xfrm>
        </p:grpSpPr>
        <p:sp>
          <p:nvSpPr>
            <p:cNvPr id="4" name="object 4"/>
            <p:cNvSpPr/>
            <p:nvPr/>
          </p:nvSpPr>
          <p:spPr>
            <a:xfrm>
              <a:off x="6701028" y="1373124"/>
              <a:ext cx="1991995" cy="1990725"/>
            </a:xfrm>
            <a:custGeom>
              <a:avLst/>
              <a:gdLst/>
              <a:ahLst/>
              <a:cxnLst/>
              <a:rect l="l" t="t" r="r" b="b"/>
              <a:pathLst>
                <a:path w="1991995" h="1990725">
                  <a:moveTo>
                    <a:pt x="1991868" y="0"/>
                  </a:moveTo>
                  <a:lnTo>
                    <a:pt x="1943472" y="576"/>
                  </a:lnTo>
                  <a:lnTo>
                    <a:pt x="1895360" y="2295"/>
                  </a:lnTo>
                  <a:lnTo>
                    <a:pt x="1847544" y="5144"/>
                  </a:lnTo>
                  <a:lnTo>
                    <a:pt x="1800038" y="9111"/>
                  </a:lnTo>
                  <a:lnTo>
                    <a:pt x="1752854" y="14182"/>
                  </a:lnTo>
                  <a:lnTo>
                    <a:pt x="1706006" y="20344"/>
                  </a:lnTo>
                  <a:lnTo>
                    <a:pt x="1659506" y="27585"/>
                  </a:lnTo>
                  <a:lnTo>
                    <a:pt x="1613367" y="35890"/>
                  </a:lnTo>
                  <a:lnTo>
                    <a:pt x="1567604" y="45248"/>
                  </a:lnTo>
                  <a:lnTo>
                    <a:pt x="1522228" y="55644"/>
                  </a:lnTo>
                  <a:lnTo>
                    <a:pt x="1477252" y="67067"/>
                  </a:lnTo>
                  <a:lnTo>
                    <a:pt x="1432690" y="79502"/>
                  </a:lnTo>
                  <a:lnTo>
                    <a:pt x="1388555" y="92938"/>
                  </a:lnTo>
                  <a:lnTo>
                    <a:pt x="1344860" y="107360"/>
                  </a:lnTo>
                  <a:lnTo>
                    <a:pt x="1301618" y="122756"/>
                  </a:lnTo>
                  <a:lnTo>
                    <a:pt x="1258842" y="139113"/>
                  </a:lnTo>
                  <a:lnTo>
                    <a:pt x="1216544" y="156418"/>
                  </a:lnTo>
                  <a:lnTo>
                    <a:pt x="1174739" y="174657"/>
                  </a:lnTo>
                  <a:lnTo>
                    <a:pt x="1133439" y="193819"/>
                  </a:lnTo>
                  <a:lnTo>
                    <a:pt x="1092656" y="213888"/>
                  </a:lnTo>
                  <a:lnTo>
                    <a:pt x="1052405" y="234854"/>
                  </a:lnTo>
                  <a:lnTo>
                    <a:pt x="1012698" y="256702"/>
                  </a:lnTo>
                  <a:lnTo>
                    <a:pt x="973548" y="279420"/>
                  </a:lnTo>
                  <a:lnTo>
                    <a:pt x="934969" y="302994"/>
                  </a:lnTo>
                  <a:lnTo>
                    <a:pt x="896972" y="327412"/>
                  </a:lnTo>
                  <a:lnTo>
                    <a:pt x="859572" y="352660"/>
                  </a:lnTo>
                  <a:lnTo>
                    <a:pt x="822782" y="378725"/>
                  </a:lnTo>
                  <a:lnTo>
                    <a:pt x="786614" y="405595"/>
                  </a:lnTo>
                  <a:lnTo>
                    <a:pt x="751081" y="433257"/>
                  </a:lnTo>
                  <a:lnTo>
                    <a:pt x="716197" y="461696"/>
                  </a:lnTo>
                  <a:lnTo>
                    <a:pt x="681974" y="490901"/>
                  </a:lnTo>
                  <a:lnTo>
                    <a:pt x="648426" y="520858"/>
                  </a:lnTo>
                  <a:lnTo>
                    <a:pt x="615566" y="551555"/>
                  </a:lnTo>
                  <a:lnTo>
                    <a:pt x="583406" y="582977"/>
                  </a:lnTo>
                  <a:lnTo>
                    <a:pt x="551960" y="615113"/>
                  </a:lnTo>
                  <a:lnTo>
                    <a:pt x="521240" y="647949"/>
                  </a:lnTo>
                  <a:lnTo>
                    <a:pt x="491261" y="681471"/>
                  </a:lnTo>
                  <a:lnTo>
                    <a:pt x="462034" y="715668"/>
                  </a:lnTo>
                  <a:lnTo>
                    <a:pt x="433573" y="750526"/>
                  </a:lnTo>
                  <a:lnTo>
                    <a:pt x="405892" y="786032"/>
                  </a:lnTo>
                  <a:lnTo>
                    <a:pt x="379002" y="822173"/>
                  </a:lnTo>
                  <a:lnTo>
                    <a:pt x="352917" y="858935"/>
                  </a:lnTo>
                  <a:lnTo>
                    <a:pt x="327650" y="896307"/>
                  </a:lnTo>
                  <a:lnTo>
                    <a:pt x="303214" y="934274"/>
                  </a:lnTo>
                  <a:lnTo>
                    <a:pt x="279623" y="972824"/>
                  </a:lnTo>
                  <a:lnTo>
                    <a:pt x="256888" y="1011944"/>
                  </a:lnTo>
                  <a:lnTo>
                    <a:pt x="235024" y="1051621"/>
                  </a:lnTo>
                  <a:lnTo>
                    <a:pt x="214043" y="1091841"/>
                  </a:lnTo>
                  <a:lnTo>
                    <a:pt x="193959" y="1132592"/>
                  </a:lnTo>
                  <a:lnTo>
                    <a:pt x="174784" y="1173861"/>
                  </a:lnTo>
                  <a:lnTo>
                    <a:pt x="156531" y="1215634"/>
                  </a:lnTo>
                  <a:lnTo>
                    <a:pt x="139214" y="1257898"/>
                  </a:lnTo>
                  <a:lnTo>
                    <a:pt x="122845" y="1300641"/>
                  </a:lnTo>
                  <a:lnTo>
                    <a:pt x="107437" y="1343850"/>
                  </a:lnTo>
                  <a:lnTo>
                    <a:pt x="93005" y="1387511"/>
                  </a:lnTo>
                  <a:lnTo>
                    <a:pt x="79560" y="1431611"/>
                  </a:lnTo>
                  <a:lnTo>
                    <a:pt x="67115" y="1476138"/>
                  </a:lnTo>
                  <a:lnTo>
                    <a:pt x="55684" y="1521078"/>
                  </a:lnTo>
                  <a:lnTo>
                    <a:pt x="45280" y="1566418"/>
                  </a:lnTo>
                  <a:lnTo>
                    <a:pt x="35916" y="1612146"/>
                  </a:lnTo>
                  <a:lnTo>
                    <a:pt x="27605" y="1658248"/>
                  </a:lnTo>
                  <a:lnTo>
                    <a:pt x="20359" y="1704711"/>
                  </a:lnTo>
                  <a:lnTo>
                    <a:pt x="14192" y="1751522"/>
                  </a:lnTo>
                  <a:lnTo>
                    <a:pt x="9118" y="1798668"/>
                  </a:lnTo>
                  <a:lnTo>
                    <a:pt x="5148" y="1846136"/>
                  </a:lnTo>
                  <a:lnTo>
                    <a:pt x="2296" y="1893914"/>
                  </a:lnTo>
                  <a:lnTo>
                    <a:pt x="576" y="1941987"/>
                  </a:lnTo>
                  <a:lnTo>
                    <a:pt x="0" y="1990343"/>
                  </a:lnTo>
                  <a:lnTo>
                    <a:pt x="1991868" y="1990343"/>
                  </a:lnTo>
                  <a:lnTo>
                    <a:pt x="199186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01028" y="1373124"/>
              <a:ext cx="1991995" cy="1990725"/>
            </a:xfrm>
            <a:custGeom>
              <a:avLst/>
              <a:gdLst/>
              <a:ahLst/>
              <a:cxnLst/>
              <a:rect l="l" t="t" r="r" b="b"/>
              <a:pathLst>
                <a:path w="1991995" h="1990725">
                  <a:moveTo>
                    <a:pt x="0" y="1990343"/>
                  </a:moveTo>
                  <a:lnTo>
                    <a:pt x="576" y="1941987"/>
                  </a:lnTo>
                  <a:lnTo>
                    <a:pt x="2296" y="1893914"/>
                  </a:lnTo>
                  <a:lnTo>
                    <a:pt x="5148" y="1846136"/>
                  </a:lnTo>
                  <a:lnTo>
                    <a:pt x="9118" y="1798668"/>
                  </a:lnTo>
                  <a:lnTo>
                    <a:pt x="14192" y="1751522"/>
                  </a:lnTo>
                  <a:lnTo>
                    <a:pt x="20359" y="1704711"/>
                  </a:lnTo>
                  <a:lnTo>
                    <a:pt x="27605" y="1658248"/>
                  </a:lnTo>
                  <a:lnTo>
                    <a:pt x="35916" y="1612146"/>
                  </a:lnTo>
                  <a:lnTo>
                    <a:pt x="45280" y="1566418"/>
                  </a:lnTo>
                  <a:lnTo>
                    <a:pt x="55684" y="1521078"/>
                  </a:lnTo>
                  <a:lnTo>
                    <a:pt x="67115" y="1476138"/>
                  </a:lnTo>
                  <a:lnTo>
                    <a:pt x="79560" y="1431611"/>
                  </a:lnTo>
                  <a:lnTo>
                    <a:pt x="93005" y="1387511"/>
                  </a:lnTo>
                  <a:lnTo>
                    <a:pt x="107437" y="1343850"/>
                  </a:lnTo>
                  <a:lnTo>
                    <a:pt x="122845" y="1300641"/>
                  </a:lnTo>
                  <a:lnTo>
                    <a:pt x="139214" y="1257898"/>
                  </a:lnTo>
                  <a:lnTo>
                    <a:pt x="156531" y="1215634"/>
                  </a:lnTo>
                  <a:lnTo>
                    <a:pt x="174784" y="1173861"/>
                  </a:lnTo>
                  <a:lnTo>
                    <a:pt x="193959" y="1132592"/>
                  </a:lnTo>
                  <a:lnTo>
                    <a:pt x="214043" y="1091841"/>
                  </a:lnTo>
                  <a:lnTo>
                    <a:pt x="235024" y="1051621"/>
                  </a:lnTo>
                  <a:lnTo>
                    <a:pt x="256888" y="1011944"/>
                  </a:lnTo>
                  <a:lnTo>
                    <a:pt x="279623" y="972824"/>
                  </a:lnTo>
                  <a:lnTo>
                    <a:pt x="303214" y="934274"/>
                  </a:lnTo>
                  <a:lnTo>
                    <a:pt x="327650" y="896307"/>
                  </a:lnTo>
                  <a:lnTo>
                    <a:pt x="352917" y="858935"/>
                  </a:lnTo>
                  <a:lnTo>
                    <a:pt x="379002" y="822173"/>
                  </a:lnTo>
                  <a:lnTo>
                    <a:pt x="405892" y="786032"/>
                  </a:lnTo>
                  <a:lnTo>
                    <a:pt x="433573" y="750526"/>
                  </a:lnTo>
                  <a:lnTo>
                    <a:pt x="462034" y="715668"/>
                  </a:lnTo>
                  <a:lnTo>
                    <a:pt x="491261" y="681471"/>
                  </a:lnTo>
                  <a:lnTo>
                    <a:pt x="521240" y="647949"/>
                  </a:lnTo>
                  <a:lnTo>
                    <a:pt x="551960" y="615113"/>
                  </a:lnTo>
                  <a:lnTo>
                    <a:pt x="583406" y="582977"/>
                  </a:lnTo>
                  <a:lnTo>
                    <a:pt x="615566" y="551555"/>
                  </a:lnTo>
                  <a:lnTo>
                    <a:pt x="648426" y="520858"/>
                  </a:lnTo>
                  <a:lnTo>
                    <a:pt x="681974" y="490901"/>
                  </a:lnTo>
                  <a:lnTo>
                    <a:pt x="716197" y="461696"/>
                  </a:lnTo>
                  <a:lnTo>
                    <a:pt x="751081" y="433257"/>
                  </a:lnTo>
                  <a:lnTo>
                    <a:pt x="786614" y="405595"/>
                  </a:lnTo>
                  <a:lnTo>
                    <a:pt x="822782" y="378725"/>
                  </a:lnTo>
                  <a:lnTo>
                    <a:pt x="859572" y="352660"/>
                  </a:lnTo>
                  <a:lnTo>
                    <a:pt x="896972" y="327412"/>
                  </a:lnTo>
                  <a:lnTo>
                    <a:pt x="934969" y="302994"/>
                  </a:lnTo>
                  <a:lnTo>
                    <a:pt x="973548" y="279420"/>
                  </a:lnTo>
                  <a:lnTo>
                    <a:pt x="1012698" y="256702"/>
                  </a:lnTo>
                  <a:lnTo>
                    <a:pt x="1052405" y="234854"/>
                  </a:lnTo>
                  <a:lnTo>
                    <a:pt x="1092656" y="213888"/>
                  </a:lnTo>
                  <a:lnTo>
                    <a:pt x="1133439" y="193819"/>
                  </a:lnTo>
                  <a:lnTo>
                    <a:pt x="1174739" y="174657"/>
                  </a:lnTo>
                  <a:lnTo>
                    <a:pt x="1216544" y="156418"/>
                  </a:lnTo>
                  <a:lnTo>
                    <a:pt x="1258842" y="139113"/>
                  </a:lnTo>
                  <a:lnTo>
                    <a:pt x="1301618" y="122756"/>
                  </a:lnTo>
                  <a:lnTo>
                    <a:pt x="1344860" y="107360"/>
                  </a:lnTo>
                  <a:lnTo>
                    <a:pt x="1388555" y="92938"/>
                  </a:lnTo>
                  <a:lnTo>
                    <a:pt x="1432690" y="79502"/>
                  </a:lnTo>
                  <a:lnTo>
                    <a:pt x="1477252" y="67067"/>
                  </a:lnTo>
                  <a:lnTo>
                    <a:pt x="1522228" y="55644"/>
                  </a:lnTo>
                  <a:lnTo>
                    <a:pt x="1567604" y="45248"/>
                  </a:lnTo>
                  <a:lnTo>
                    <a:pt x="1613367" y="35890"/>
                  </a:lnTo>
                  <a:lnTo>
                    <a:pt x="1659506" y="27585"/>
                  </a:lnTo>
                  <a:lnTo>
                    <a:pt x="1706006" y="20344"/>
                  </a:lnTo>
                  <a:lnTo>
                    <a:pt x="1752854" y="14182"/>
                  </a:lnTo>
                  <a:lnTo>
                    <a:pt x="1800038" y="9111"/>
                  </a:lnTo>
                  <a:lnTo>
                    <a:pt x="1847544" y="5144"/>
                  </a:lnTo>
                  <a:lnTo>
                    <a:pt x="1895360" y="2295"/>
                  </a:lnTo>
                  <a:lnTo>
                    <a:pt x="1943472" y="576"/>
                  </a:lnTo>
                  <a:lnTo>
                    <a:pt x="1991868" y="0"/>
                  </a:lnTo>
                  <a:lnTo>
                    <a:pt x="1991868" y="1990343"/>
                  </a:lnTo>
                  <a:lnTo>
                    <a:pt x="0" y="199034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4966" y="2245867"/>
            <a:ext cx="1026794" cy="7550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5745" marR="5080" indent="-233679">
              <a:lnSpc>
                <a:spcPts val="2750"/>
              </a:lnSpc>
              <a:spcBef>
                <a:spcPts val="395"/>
              </a:spcBef>
            </a:pP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to- One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7985" y="1366774"/>
            <a:ext cx="2003425" cy="2003425"/>
            <a:chOff x="8777985" y="1366774"/>
            <a:chExt cx="2003425" cy="2003425"/>
          </a:xfrm>
        </p:grpSpPr>
        <p:sp>
          <p:nvSpPr>
            <p:cNvPr id="8" name="object 8"/>
            <p:cNvSpPr/>
            <p:nvPr/>
          </p:nvSpPr>
          <p:spPr>
            <a:xfrm>
              <a:off x="8784335" y="1373124"/>
              <a:ext cx="1990725" cy="1990725"/>
            </a:xfrm>
            <a:custGeom>
              <a:avLst/>
              <a:gdLst/>
              <a:ahLst/>
              <a:cxnLst/>
              <a:rect l="l" t="t" r="r" b="b"/>
              <a:pathLst>
                <a:path w="1990725" h="1990725">
                  <a:moveTo>
                    <a:pt x="0" y="0"/>
                  </a:moveTo>
                  <a:lnTo>
                    <a:pt x="0" y="1990343"/>
                  </a:lnTo>
                  <a:lnTo>
                    <a:pt x="1990344" y="1990343"/>
                  </a:lnTo>
                  <a:lnTo>
                    <a:pt x="1989767" y="1941987"/>
                  </a:lnTo>
                  <a:lnTo>
                    <a:pt x="1988048" y="1893914"/>
                  </a:lnTo>
                  <a:lnTo>
                    <a:pt x="1985199" y="1846136"/>
                  </a:lnTo>
                  <a:lnTo>
                    <a:pt x="1981232" y="1798668"/>
                  </a:lnTo>
                  <a:lnTo>
                    <a:pt x="1976161" y="1751522"/>
                  </a:lnTo>
                  <a:lnTo>
                    <a:pt x="1969999" y="1704711"/>
                  </a:lnTo>
                  <a:lnTo>
                    <a:pt x="1962758" y="1658248"/>
                  </a:lnTo>
                  <a:lnTo>
                    <a:pt x="1954453" y="1612146"/>
                  </a:lnTo>
                  <a:lnTo>
                    <a:pt x="1945095" y="1566418"/>
                  </a:lnTo>
                  <a:lnTo>
                    <a:pt x="1934699" y="1521078"/>
                  </a:lnTo>
                  <a:lnTo>
                    <a:pt x="1923276" y="1476138"/>
                  </a:lnTo>
                  <a:lnTo>
                    <a:pt x="1910841" y="1431611"/>
                  </a:lnTo>
                  <a:lnTo>
                    <a:pt x="1897405" y="1387511"/>
                  </a:lnTo>
                  <a:lnTo>
                    <a:pt x="1882983" y="1343850"/>
                  </a:lnTo>
                  <a:lnTo>
                    <a:pt x="1867587" y="1300641"/>
                  </a:lnTo>
                  <a:lnTo>
                    <a:pt x="1851230" y="1257898"/>
                  </a:lnTo>
                  <a:lnTo>
                    <a:pt x="1833925" y="1215634"/>
                  </a:lnTo>
                  <a:lnTo>
                    <a:pt x="1815686" y="1173861"/>
                  </a:lnTo>
                  <a:lnTo>
                    <a:pt x="1796524" y="1132592"/>
                  </a:lnTo>
                  <a:lnTo>
                    <a:pt x="1776455" y="1091841"/>
                  </a:lnTo>
                  <a:lnTo>
                    <a:pt x="1755489" y="1051621"/>
                  </a:lnTo>
                  <a:lnTo>
                    <a:pt x="1733641" y="1011944"/>
                  </a:lnTo>
                  <a:lnTo>
                    <a:pt x="1710923" y="972824"/>
                  </a:lnTo>
                  <a:lnTo>
                    <a:pt x="1687349" y="934274"/>
                  </a:lnTo>
                  <a:lnTo>
                    <a:pt x="1662931" y="896307"/>
                  </a:lnTo>
                  <a:lnTo>
                    <a:pt x="1637683" y="858935"/>
                  </a:lnTo>
                  <a:lnTo>
                    <a:pt x="1611618" y="822173"/>
                  </a:lnTo>
                  <a:lnTo>
                    <a:pt x="1584748" y="786032"/>
                  </a:lnTo>
                  <a:lnTo>
                    <a:pt x="1557086" y="750526"/>
                  </a:lnTo>
                  <a:lnTo>
                    <a:pt x="1528647" y="715668"/>
                  </a:lnTo>
                  <a:lnTo>
                    <a:pt x="1499442" y="681471"/>
                  </a:lnTo>
                  <a:lnTo>
                    <a:pt x="1469485" y="647949"/>
                  </a:lnTo>
                  <a:lnTo>
                    <a:pt x="1438788" y="615113"/>
                  </a:lnTo>
                  <a:lnTo>
                    <a:pt x="1407366" y="582977"/>
                  </a:lnTo>
                  <a:lnTo>
                    <a:pt x="1375230" y="551555"/>
                  </a:lnTo>
                  <a:lnTo>
                    <a:pt x="1342394" y="520858"/>
                  </a:lnTo>
                  <a:lnTo>
                    <a:pt x="1308872" y="490901"/>
                  </a:lnTo>
                  <a:lnTo>
                    <a:pt x="1274675" y="461696"/>
                  </a:lnTo>
                  <a:lnTo>
                    <a:pt x="1239817" y="433257"/>
                  </a:lnTo>
                  <a:lnTo>
                    <a:pt x="1204311" y="405595"/>
                  </a:lnTo>
                  <a:lnTo>
                    <a:pt x="1168170" y="378725"/>
                  </a:lnTo>
                  <a:lnTo>
                    <a:pt x="1131408" y="352660"/>
                  </a:lnTo>
                  <a:lnTo>
                    <a:pt x="1094036" y="327412"/>
                  </a:lnTo>
                  <a:lnTo>
                    <a:pt x="1056069" y="302994"/>
                  </a:lnTo>
                  <a:lnTo>
                    <a:pt x="1017519" y="279420"/>
                  </a:lnTo>
                  <a:lnTo>
                    <a:pt x="978399" y="256702"/>
                  </a:lnTo>
                  <a:lnTo>
                    <a:pt x="938722" y="234854"/>
                  </a:lnTo>
                  <a:lnTo>
                    <a:pt x="898502" y="213888"/>
                  </a:lnTo>
                  <a:lnTo>
                    <a:pt x="857751" y="193819"/>
                  </a:lnTo>
                  <a:lnTo>
                    <a:pt x="816482" y="174657"/>
                  </a:lnTo>
                  <a:lnTo>
                    <a:pt x="774709" y="156418"/>
                  </a:lnTo>
                  <a:lnTo>
                    <a:pt x="732445" y="139113"/>
                  </a:lnTo>
                  <a:lnTo>
                    <a:pt x="689702" y="122756"/>
                  </a:lnTo>
                  <a:lnTo>
                    <a:pt x="646493" y="107360"/>
                  </a:lnTo>
                  <a:lnTo>
                    <a:pt x="602832" y="92938"/>
                  </a:lnTo>
                  <a:lnTo>
                    <a:pt x="558732" y="79502"/>
                  </a:lnTo>
                  <a:lnTo>
                    <a:pt x="514205" y="67067"/>
                  </a:lnTo>
                  <a:lnTo>
                    <a:pt x="469265" y="55644"/>
                  </a:lnTo>
                  <a:lnTo>
                    <a:pt x="423925" y="45248"/>
                  </a:lnTo>
                  <a:lnTo>
                    <a:pt x="378197" y="35890"/>
                  </a:lnTo>
                  <a:lnTo>
                    <a:pt x="332095" y="27585"/>
                  </a:lnTo>
                  <a:lnTo>
                    <a:pt x="285632" y="20344"/>
                  </a:lnTo>
                  <a:lnTo>
                    <a:pt x="238821" y="14182"/>
                  </a:lnTo>
                  <a:lnTo>
                    <a:pt x="191675" y="9111"/>
                  </a:lnTo>
                  <a:lnTo>
                    <a:pt x="144207" y="5144"/>
                  </a:lnTo>
                  <a:lnTo>
                    <a:pt x="96429" y="2295"/>
                  </a:lnTo>
                  <a:lnTo>
                    <a:pt x="48356" y="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84335" y="1373124"/>
              <a:ext cx="1990725" cy="1990725"/>
            </a:xfrm>
            <a:custGeom>
              <a:avLst/>
              <a:gdLst/>
              <a:ahLst/>
              <a:cxnLst/>
              <a:rect l="l" t="t" r="r" b="b"/>
              <a:pathLst>
                <a:path w="1990725" h="1990725">
                  <a:moveTo>
                    <a:pt x="0" y="0"/>
                  </a:moveTo>
                  <a:lnTo>
                    <a:pt x="48356" y="576"/>
                  </a:lnTo>
                  <a:lnTo>
                    <a:pt x="96429" y="2295"/>
                  </a:lnTo>
                  <a:lnTo>
                    <a:pt x="144207" y="5144"/>
                  </a:lnTo>
                  <a:lnTo>
                    <a:pt x="191675" y="9111"/>
                  </a:lnTo>
                  <a:lnTo>
                    <a:pt x="238821" y="14182"/>
                  </a:lnTo>
                  <a:lnTo>
                    <a:pt x="285632" y="20344"/>
                  </a:lnTo>
                  <a:lnTo>
                    <a:pt x="332095" y="27585"/>
                  </a:lnTo>
                  <a:lnTo>
                    <a:pt x="378197" y="35890"/>
                  </a:lnTo>
                  <a:lnTo>
                    <a:pt x="423925" y="45248"/>
                  </a:lnTo>
                  <a:lnTo>
                    <a:pt x="469265" y="55644"/>
                  </a:lnTo>
                  <a:lnTo>
                    <a:pt x="514205" y="67067"/>
                  </a:lnTo>
                  <a:lnTo>
                    <a:pt x="558732" y="79502"/>
                  </a:lnTo>
                  <a:lnTo>
                    <a:pt x="602832" y="92938"/>
                  </a:lnTo>
                  <a:lnTo>
                    <a:pt x="646493" y="107360"/>
                  </a:lnTo>
                  <a:lnTo>
                    <a:pt x="689702" y="122756"/>
                  </a:lnTo>
                  <a:lnTo>
                    <a:pt x="732445" y="139113"/>
                  </a:lnTo>
                  <a:lnTo>
                    <a:pt x="774709" y="156418"/>
                  </a:lnTo>
                  <a:lnTo>
                    <a:pt x="816482" y="174657"/>
                  </a:lnTo>
                  <a:lnTo>
                    <a:pt x="857751" y="193819"/>
                  </a:lnTo>
                  <a:lnTo>
                    <a:pt x="898502" y="213888"/>
                  </a:lnTo>
                  <a:lnTo>
                    <a:pt x="938722" y="234854"/>
                  </a:lnTo>
                  <a:lnTo>
                    <a:pt x="978399" y="256702"/>
                  </a:lnTo>
                  <a:lnTo>
                    <a:pt x="1017519" y="279420"/>
                  </a:lnTo>
                  <a:lnTo>
                    <a:pt x="1056069" y="302994"/>
                  </a:lnTo>
                  <a:lnTo>
                    <a:pt x="1094036" y="327412"/>
                  </a:lnTo>
                  <a:lnTo>
                    <a:pt x="1131408" y="352660"/>
                  </a:lnTo>
                  <a:lnTo>
                    <a:pt x="1168170" y="378725"/>
                  </a:lnTo>
                  <a:lnTo>
                    <a:pt x="1204311" y="405595"/>
                  </a:lnTo>
                  <a:lnTo>
                    <a:pt x="1239817" y="433257"/>
                  </a:lnTo>
                  <a:lnTo>
                    <a:pt x="1274675" y="461696"/>
                  </a:lnTo>
                  <a:lnTo>
                    <a:pt x="1308872" y="490901"/>
                  </a:lnTo>
                  <a:lnTo>
                    <a:pt x="1342394" y="520858"/>
                  </a:lnTo>
                  <a:lnTo>
                    <a:pt x="1375230" y="551555"/>
                  </a:lnTo>
                  <a:lnTo>
                    <a:pt x="1407366" y="582977"/>
                  </a:lnTo>
                  <a:lnTo>
                    <a:pt x="1438788" y="615113"/>
                  </a:lnTo>
                  <a:lnTo>
                    <a:pt x="1469485" y="647949"/>
                  </a:lnTo>
                  <a:lnTo>
                    <a:pt x="1499442" y="681471"/>
                  </a:lnTo>
                  <a:lnTo>
                    <a:pt x="1528647" y="715668"/>
                  </a:lnTo>
                  <a:lnTo>
                    <a:pt x="1557086" y="750526"/>
                  </a:lnTo>
                  <a:lnTo>
                    <a:pt x="1584748" y="786032"/>
                  </a:lnTo>
                  <a:lnTo>
                    <a:pt x="1611618" y="822173"/>
                  </a:lnTo>
                  <a:lnTo>
                    <a:pt x="1637683" y="858935"/>
                  </a:lnTo>
                  <a:lnTo>
                    <a:pt x="1662931" y="896307"/>
                  </a:lnTo>
                  <a:lnTo>
                    <a:pt x="1687349" y="934274"/>
                  </a:lnTo>
                  <a:lnTo>
                    <a:pt x="1710923" y="972824"/>
                  </a:lnTo>
                  <a:lnTo>
                    <a:pt x="1733641" y="1011944"/>
                  </a:lnTo>
                  <a:lnTo>
                    <a:pt x="1755489" y="1051621"/>
                  </a:lnTo>
                  <a:lnTo>
                    <a:pt x="1776455" y="1091841"/>
                  </a:lnTo>
                  <a:lnTo>
                    <a:pt x="1796524" y="1132592"/>
                  </a:lnTo>
                  <a:lnTo>
                    <a:pt x="1815686" y="1173861"/>
                  </a:lnTo>
                  <a:lnTo>
                    <a:pt x="1833925" y="1215634"/>
                  </a:lnTo>
                  <a:lnTo>
                    <a:pt x="1851230" y="1257898"/>
                  </a:lnTo>
                  <a:lnTo>
                    <a:pt x="1867587" y="1300641"/>
                  </a:lnTo>
                  <a:lnTo>
                    <a:pt x="1882983" y="1343850"/>
                  </a:lnTo>
                  <a:lnTo>
                    <a:pt x="1897405" y="1387511"/>
                  </a:lnTo>
                  <a:lnTo>
                    <a:pt x="1910841" y="1431611"/>
                  </a:lnTo>
                  <a:lnTo>
                    <a:pt x="1923276" y="1476138"/>
                  </a:lnTo>
                  <a:lnTo>
                    <a:pt x="1934699" y="1521078"/>
                  </a:lnTo>
                  <a:lnTo>
                    <a:pt x="1945095" y="1566418"/>
                  </a:lnTo>
                  <a:lnTo>
                    <a:pt x="1954453" y="1612146"/>
                  </a:lnTo>
                  <a:lnTo>
                    <a:pt x="1962758" y="1658248"/>
                  </a:lnTo>
                  <a:lnTo>
                    <a:pt x="1969999" y="1704711"/>
                  </a:lnTo>
                  <a:lnTo>
                    <a:pt x="1976161" y="1751522"/>
                  </a:lnTo>
                  <a:lnTo>
                    <a:pt x="1981232" y="1798668"/>
                  </a:lnTo>
                  <a:lnTo>
                    <a:pt x="1985199" y="1846136"/>
                  </a:lnTo>
                  <a:lnTo>
                    <a:pt x="1988048" y="1893914"/>
                  </a:lnTo>
                  <a:lnTo>
                    <a:pt x="1989767" y="1941987"/>
                  </a:lnTo>
                  <a:lnTo>
                    <a:pt x="1990344" y="1990343"/>
                  </a:lnTo>
                  <a:lnTo>
                    <a:pt x="0" y="199034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74581" y="2245867"/>
            <a:ext cx="1026794" cy="7550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49860" marR="5080" indent="-137795">
              <a:lnSpc>
                <a:spcPts val="2750"/>
              </a:lnSpc>
              <a:spcBef>
                <a:spcPts val="395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to-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77985" y="3450082"/>
            <a:ext cx="2003425" cy="2003425"/>
            <a:chOff x="8777985" y="3450082"/>
            <a:chExt cx="2003425" cy="2003425"/>
          </a:xfrm>
        </p:grpSpPr>
        <p:sp>
          <p:nvSpPr>
            <p:cNvPr id="12" name="object 12"/>
            <p:cNvSpPr/>
            <p:nvPr/>
          </p:nvSpPr>
          <p:spPr>
            <a:xfrm>
              <a:off x="8784335" y="3456432"/>
              <a:ext cx="1990725" cy="1990725"/>
            </a:xfrm>
            <a:custGeom>
              <a:avLst/>
              <a:gdLst/>
              <a:ahLst/>
              <a:cxnLst/>
              <a:rect l="l" t="t" r="r" b="b"/>
              <a:pathLst>
                <a:path w="1990725" h="1990725">
                  <a:moveTo>
                    <a:pt x="1990344" y="0"/>
                  </a:moveTo>
                  <a:lnTo>
                    <a:pt x="0" y="0"/>
                  </a:lnTo>
                  <a:lnTo>
                    <a:pt x="0" y="1990343"/>
                  </a:lnTo>
                  <a:lnTo>
                    <a:pt x="48356" y="1989767"/>
                  </a:lnTo>
                  <a:lnTo>
                    <a:pt x="96429" y="1988048"/>
                  </a:lnTo>
                  <a:lnTo>
                    <a:pt x="144207" y="1985199"/>
                  </a:lnTo>
                  <a:lnTo>
                    <a:pt x="191675" y="1981232"/>
                  </a:lnTo>
                  <a:lnTo>
                    <a:pt x="238821" y="1976161"/>
                  </a:lnTo>
                  <a:lnTo>
                    <a:pt x="285632" y="1969999"/>
                  </a:lnTo>
                  <a:lnTo>
                    <a:pt x="332095" y="1962758"/>
                  </a:lnTo>
                  <a:lnTo>
                    <a:pt x="378197" y="1954453"/>
                  </a:lnTo>
                  <a:lnTo>
                    <a:pt x="423925" y="1945095"/>
                  </a:lnTo>
                  <a:lnTo>
                    <a:pt x="469265" y="1934699"/>
                  </a:lnTo>
                  <a:lnTo>
                    <a:pt x="514205" y="1923276"/>
                  </a:lnTo>
                  <a:lnTo>
                    <a:pt x="558732" y="1910841"/>
                  </a:lnTo>
                  <a:lnTo>
                    <a:pt x="602832" y="1897405"/>
                  </a:lnTo>
                  <a:lnTo>
                    <a:pt x="646493" y="1882983"/>
                  </a:lnTo>
                  <a:lnTo>
                    <a:pt x="689702" y="1867587"/>
                  </a:lnTo>
                  <a:lnTo>
                    <a:pt x="732445" y="1851230"/>
                  </a:lnTo>
                  <a:lnTo>
                    <a:pt x="774709" y="1833925"/>
                  </a:lnTo>
                  <a:lnTo>
                    <a:pt x="816482" y="1815686"/>
                  </a:lnTo>
                  <a:lnTo>
                    <a:pt x="857751" y="1796524"/>
                  </a:lnTo>
                  <a:lnTo>
                    <a:pt x="898502" y="1776455"/>
                  </a:lnTo>
                  <a:lnTo>
                    <a:pt x="938722" y="1755489"/>
                  </a:lnTo>
                  <a:lnTo>
                    <a:pt x="978399" y="1733641"/>
                  </a:lnTo>
                  <a:lnTo>
                    <a:pt x="1017519" y="1710923"/>
                  </a:lnTo>
                  <a:lnTo>
                    <a:pt x="1056069" y="1687349"/>
                  </a:lnTo>
                  <a:lnTo>
                    <a:pt x="1094036" y="1662931"/>
                  </a:lnTo>
                  <a:lnTo>
                    <a:pt x="1131408" y="1637683"/>
                  </a:lnTo>
                  <a:lnTo>
                    <a:pt x="1168170" y="1611618"/>
                  </a:lnTo>
                  <a:lnTo>
                    <a:pt x="1204311" y="1584748"/>
                  </a:lnTo>
                  <a:lnTo>
                    <a:pt x="1239817" y="1557086"/>
                  </a:lnTo>
                  <a:lnTo>
                    <a:pt x="1274675" y="1528647"/>
                  </a:lnTo>
                  <a:lnTo>
                    <a:pt x="1308872" y="1499442"/>
                  </a:lnTo>
                  <a:lnTo>
                    <a:pt x="1342394" y="1469485"/>
                  </a:lnTo>
                  <a:lnTo>
                    <a:pt x="1375230" y="1438788"/>
                  </a:lnTo>
                  <a:lnTo>
                    <a:pt x="1407366" y="1407366"/>
                  </a:lnTo>
                  <a:lnTo>
                    <a:pt x="1438788" y="1375230"/>
                  </a:lnTo>
                  <a:lnTo>
                    <a:pt x="1469485" y="1342394"/>
                  </a:lnTo>
                  <a:lnTo>
                    <a:pt x="1499442" y="1308872"/>
                  </a:lnTo>
                  <a:lnTo>
                    <a:pt x="1528647" y="1274675"/>
                  </a:lnTo>
                  <a:lnTo>
                    <a:pt x="1557086" y="1239817"/>
                  </a:lnTo>
                  <a:lnTo>
                    <a:pt x="1584748" y="1204311"/>
                  </a:lnTo>
                  <a:lnTo>
                    <a:pt x="1611618" y="1168170"/>
                  </a:lnTo>
                  <a:lnTo>
                    <a:pt x="1637683" y="1131408"/>
                  </a:lnTo>
                  <a:lnTo>
                    <a:pt x="1662931" y="1094036"/>
                  </a:lnTo>
                  <a:lnTo>
                    <a:pt x="1687349" y="1056069"/>
                  </a:lnTo>
                  <a:lnTo>
                    <a:pt x="1710923" y="1017519"/>
                  </a:lnTo>
                  <a:lnTo>
                    <a:pt x="1733641" y="978399"/>
                  </a:lnTo>
                  <a:lnTo>
                    <a:pt x="1755489" y="938722"/>
                  </a:lnTo>
                  <a:lnTo>
                    <a:pt x="1776455" y="898502"/>
                  </a:lnTo>
                  <a:lnTo>
                    <a:pt x="1796524" y="857751"/>
                  </a:lnTo>
                  <a:lnTo>
                    <a:pt x="1815686" y="816482"/>
                  </a:lnTo>
                  <a:lnTo>
                    <a:pt x="1833925" y="774709"/>
                  </a:lnTo>
                  <a:lnTo>
                    <a:pt x="1851230" y="732445"/>
                  </a:lnTo>
                  <a:lnTo>
                    <a:pt x="1867587" y="689702"/>
                  </a:lnTo>
                  <a:lnTo>
                    <a:pt x="1882983" y="646493"/>
                  </a:lnTo>
                  <a:lnTo>
                    <a:pt x="1897405" y="602832"/>
                  </a:lnTo>
                  <a:lnTo>
                    <a:pt x="1910841" y="558732"/>
                  </a:lnTo>
                  <a:lnTo>
                    <a:pt x="1923276" y="514205"/>
                  </a:lnTo>
                  <a:lnTo>
                    <a:pt x="1934699" y="469265"/>
                  </a:lnTo>
                  <a:lnTo>
                    <a:pt x="1945095" y="423925"/>
                  </a:lnTo>
                  <a:lnTo>
                    <a:pt x="1954453" y="378197"/>
                  </a:lnTo>
                  <a:lnTo>
                    <a:pt x="1962758" y="332095"/>
                  </a:lnTo>
                  <a:lnTo>
                    <a:pt x="1969999" y="285632"/>
                  </a:lnTo>
                  <a:lnTo>
                    <a:pt x="1976161" y="238821"/>
                  </a:lnTo>
                  <a:lnTo>
                    <a:pt x="1981232" y="191675"/>
                  </a:lnTo>
                  <a:lnTo>
                    <a:pt x="1985199" y="144207"/>
                  </a:lnTo>
                  <a:lnTo>
                    <a:pt x="1988048" y="96429"/>
                  </a:lnTo>
                  <a:lnTo>
                    <a:pt x="1989767" y="48356"/>
                  </a:lnTo>
                  <a:lnTo>
                    <a:pt x="1990344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84335" y="3456432"/>
              <a:ext cx="1990725" cy="1990725"/>
            </a:xfrm>
            <a:custGeom>
              <a:avLst/>
              <a:gdLst/>
              <a:ahLst/>
              <a:cxnLst/>
              <a:rect l="l" t="t" r="r" b="b"/>
              <a:pathLst>
                <a:path w="1990725" h="1990725">
                  <a:moveTo>
                    <a:pt x="1990344" y="0"/>
                  </a:moveTo>
                  <a:lnTo>
                    <a:pt x="1989767" y="48356"/>
                  </a:lnTo>
                  <a:lnTo>
                    <a:pt x="1988048" y="96429"/>
                  </a:lnTo>
                  <a:lnTo>
                    <a:pt x="1985199" y="144207"/>
                  </a:lnTo>
                  <a:lnTo>
                    <a:pt x="1981232" y="191675"/>
                  </a:lnTo>
                  <a:lnTo>
                    <a:pt x="1976161" y="238821"/>
                  </a:lnTo>
                  <a:lnTo>
                    <a:pt x="1969999" y="285632"/>
                  </a:lnTo>
                  <a:lnTo>
                    <a:pt x="1962758" y="332095"/>
                  </a:lnTo>
                  <a:lnTo>
                    <a:pt x="1954453" y="378197"/>
                  </a:lnTo>
                  <a:lnTo>
                    <a:pt x="1945095" y="423925"/>
                  </a:lnTo>
                  <a:lnTo>
                    <a:pt x="1934699" y="469265"/>
                  </a:lnTo>
                  <a:lnTo>
                    <a:pt x="1923276" y="514205"/>
                  </a:lnTo>
                  <a:lnTo>
                    <a:pt x="1910841" y="558732"/>
                  </a:lnTo>
                  <a:lnTo>
                    <a:pt x="1897405" y="602832"/>
                  </a:lnTo>
                  <a:lnTo>
                    <a:pt x="1882983" y="646493"/>
                  </a:lnTo>
                  <a:lnTo>
                    <a:pt x="1867587" y="689702"/>
                  </a:lnTo>
                  <a:lnTo>
                    <a:pt x="1851230" y="732445"/>
                  </a:lnTo>
                  <a:lnTo>
                    <a:pt x="1833925" y="774709"/>
                  </a:lnTo>
                  <a:lnTo>
                    <a:pt x="1815686" y="816482"/>
                  </a:lnTo>
                  <a:lnTo>
                    <a:pt x="1796524" y="857751"/>
                  </a:lnTo>
                  <a:lnTo>
                    <a:pt x="1776455" y="898502"/>
                  </a:lnTo>
                  <a:lnTo>
                    <a:pt x="1755489" y="938722"/>
                  </a:lnTo>
                  <a:lnTo>
                    <a:pt x="1733641" y="978399"/>
                  </a:lnTo>
                  <a:lnTo>
                    <a:pt x="1710923" y="1017519"/>
                  </a:lnTo>
                  <a:lnTo>
                    <a:pt x="1687349" y="1056069"/>
                  </a:lnTo>
                  <a:lnTo>
                    <a:pt x="1662931" y="1094036"/>
                  </a:lnTo>
                  <a:lnTo>
                    <a:pt x="1637683" y="1131408"/>
                  </a:lnTo>
                  <a:lnTo>
                    <a:pt x="1611618" y="1168170"/>
                  </a:lnTo>
                  <a:lnTo>
                    <a:pt x="1584748" y="1204311"/>
                  </a:lnTo>
                  <a:lnTo>
                    <a:pt x="1557086" y="1239817"/>
                  </a:lnTo>
                  <a:lnTo>
                    <a:pt x="1528647" y="1274675"/>
                  </a:lnTo>
                  <a:lnTo>
                    <a:pt x="1499442" y="1308872"/>
                  </a:lnTo>
                  <a:lnTo>
                    <a:pt x="1469485" y="1342394"/>
                  </a:lnTo>
                  <a:lnTo>
                    <a:pt x="1438788" y="1375230"/>
                  </a:lnTo>
                  <a:lnTo>
                    <a:pt x="1407366" y="1407366"/>
                  </a:lnTo>
                  <a:lnTo>
                    <a:pt x="1375230" y="1438788"/>
                  </a:lnTo>
                  <a:lnTo>
                    <a:pt x="1342394" y="1469485"/>
                  </a:lnTo>
                  <a:lnTo>
                    <a:pt x="1308872" y="1499442"/>
                  </a:lnTo>
                  <a:lnTo>
                    <a:pt x="1274675" y="1528647"/>
                  </a:lnTo>
                  <a:lnTo>
                    <a:pt x="1239817" y="1557086"/>
                  </a:lnTo>
                  <a:lnTo>
                    <a:pt x="1204311" y="1584748"/>
                  </a:lnTo>
                  <a:lnTo>
                    <a:pt x="1168170" y="1611618"/>
                  </a:lnTo>
                  <a:lnTo>
                    <a:pt x="1131408" y="1637683"/>
                  </a:lnTo>
                  <a:lnTo>
                    <a:pt x="1094036" y="1662931"/>
                  </a:lnTo>
                  <a:lnTo>
                    <a:pt x="1056069" y="1687349"/>
                  </a:lnTo>
                  <a:lnTo>
                    <a:pt x="1017519" y="1710923"/>
                  </a:lnTo>
                  <a:lnTo>
                    <a:pt x="978399" y="1733641"/>
                  </a:lnTo>
                  <a:lnTo>
                    <a:pt x="938722" y="1755489"/>
                  </a:lnTo>
                  <a:lnTo>
                    <a:pt x="898502" y="1776455"/>
                  </a:lnTo>
                  <a:lnTo>
                    <a:pt x="857751" y="1796524"/>
                  </a:lnTo>
                  <a:lnTo>
                    <a:pt x="816482" y="1815686"/>
                  </a:lnTo>
                  <a:lnTo>
                    <a:pt x="774709" y="1833925"/>
                  </a:lnTo>
                  <a:lnTo>
                    <a:pt x="732445" y="1851230"/>
                  </a:lnTo>
                  <a:lnTo>
                    <a:pt x="689702" y="1867587"/>
                  </a:lnTo>
                  <a:lnTo>
                    <a:pt x="646493" y="1882983"/>
                  </a:lnTo>
                  <a:lnTo>
                    <a:pt x="602832" y="1897405"/>
                  </a:lnTo>
                  <a:lnTo>
                    <a:pt x="558732" y="1910841"/>
                  </a:lnTo>
                  <a:lnTo>
                    <a:pt x="514205" y="1923276"/>
                  </a:lnTo>
                  <a:lnTo>
                    <a:pt x="469265" y="1934699"/>
                  </a:lnTo>
                  <a:lnTo>
                    <a:pt x="423925" y="1945095"/>
                  </a:lnTo>
                  <a:lnTo>
                    <a:pt x="378197" y="1954453"/>
                  </a:lnTo>
                  <a:lnTo>
                    <a:pt x="332095" y="1962758"/>
                  </a:lnTo>
                  <a:lnTo>
                    <a:pt x="285632" y="1969999"/>
                  </a:lnTo>
                  <a:lnTo>
                    <a:pt x="238821" y="1976161"/>
                  </a:lnTo>
                  <a:lnTo>
                    <a:pt x="191675" y="1981232"/>
                  </a:lnTo>
                  <a:lnTo>
                    <a:pt x="144207" y="1985199"/>
                  </a:lnTo>
                  <a:lnTo>
                    <a:pt x="96429" y="1988048"/>
                  </a:lnTo>
                  <a:lnTo>
                    <a:pt x="48356" y="1989767"/>
                  </a:lnTo>
                  <a:lnTo>
                    <a:pt x="0" y="1990343"/>
                  </a:lnTo>
                  <a:lnTo>
                    <a:pt x="0" y="0"/>
                  </a:lnTo>
                  <a:lnTo>
                    <a:pt x="1990344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23731" y="3745433"/>
            <a:ext cx="929005" cy="7556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39370">
              <a:lnSpc>
                <a:spcPts val="2750"/>
              </a:lnSpc>
              <a:spcBef>
                <a:spcPts val="395"/>
              </a:spcBef>
            </a:pP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Many- to-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94678" y="3450082"/>
            <a:ext cx="2004695" cy="2003425"/>
            <a:chOff x="6694678" y="3450082"/>
            <a:chExt cx="2004695" cy="2003425"/>
          </a:xfrm>
        </p:grpSpPr>
        <p:sp>
          <p:nvSpPr>
            <p:cNvPr id="16" name="object 16"/>
            <p:cNvSpPr/>
            <p:nvPr/>
          </p:nvSpPr>
          <p:spPr>
            <a:xfrm>
              <a:off x="6701028" y="3456432"/>
              <a:ext cx="1991995" cy="1990725"/>
            </a:xfrm>
            <a:custGeom>
              <a:avLst/>
              <a:gdLst/>
              <a:ahLst/>
              <a:cxnLst/>
              <a:rect l="l" t="t" r="r" b="b"/>
              <a:pathLst>
                <a:path w="1991995" h="1990725">
                  <a:moveTo>
                    <a:pt x="1991868" y="0"/>
                  </a:moveTo>
                  <a:lnTo>
                    <a:pt x="0" y="0"/>
                  </a:lnTo>
                  <a:lnTo>
                    <a:pt x="576" y="48356"/>
                  </a:lnTo>
                  <a:lnTo>
                    <a:pt x="2296" y="96429"/>
                  </a:lnTo>
                  <a:lnTo>
                    <a:pt x="5148" y="144207"/>
                  </a:lnTo>
                  <a:lnTo>
                    <a:pt x="9118" y="191675"/>
                  </a:lnTo>
                  <a:lnTo>
                    <a:pt x="14192" y="238821"/>
                  </a:lnTo>
                  <a:lnTo>
                    <a:pt x="20359" y="285632"/>
                  </a:lnTo>
                  <a:lnTo>
                    <a:pt x="27605" y="332095"/>
                  </a:lnTo>
                  <a:lnTo>
                    <a:pt x="35916" y="378197"/>
                  </a:lnTo>
                  <a:lnTo>
                    <a:pt x="45280" y="423925"/>
                  </a:lnTo>
                  <a:lnTo>
                    <a:pt x="55684" y="469265"/>
                  </a:lnTo>
                  <a:lnTo>
                    <a:pt x="67115" y="514205"/>
                  </a:lnTo>
                  <a:lnTo>
                    <a:pt x="79560" y="558732"/>
                  </a:lnTo>
                  <a:lnTo>
                    <a:pt x="93005" y="602832"/>
                  </a:lnTo>
                  <a:lnTo>
                    <a:pt x="107437" y="646493"/>
                  </a:lnTo>
                  <a:lnTo>
                    <a:pt x="122845" y="689702"/>
                  </a:lnTo>
                  <a:lnTo>
                    <a:pt x="139214" y="732445"/>
                  </a:lnTo>
                  <a:lnTo>
                    <a:pt x="156531" y="774709"/>
                  </a:lnTo>
                  <a:lnTo>
                    <a:pt x="174784" y="816482"/>
                  </a:lnTo>
                  <a:lnTo>
                    <a:pt x="193959" y="857751"/>
                  </a:lnTo>
                  <a:lnTo>
                    <a:pt x="214043" y="898502"/>
                  </a:lnTo>
                  <a:lnTo>
                    <a:pt x="235024" y="938722"/>
                  </a:lnTo>
                  <a:lnTo>
                    <a:pt x="256888" y="978399"/>
                  </a:lnTo>
                  <a:lnTo>
                    <a:pt x="279623" y="1017519"/>
                  </a:lnTo>
                  <a:lnTo>
                    <a:pt x="303214" y="1056069"/>
                  </a:lnTo>
                  <a:lnTo>
                    <a:pt x="327650" y="1094036"/>
                  </a:lnTo>
                  <a:lnTo>
                    <a:pt x="352917" y="1131408"/>
                  </a:lnTo>
                  <a:lnTo>
                    <a:pt x="379002" y="1168170"/>
                  </a:lnTo>
                  <a:lnTo>
                    <a:pt x="405892" y="1204311"/>
                  </a:lnTo>
                  <a:lnTo>
                    <a:pt x="433573" y="1239817"/>
                  </a:lnTo>
                  <a:lnTo>
                    <a:pt x="462034" y="1274675"/>
                  </a:lnTo>
                  <a:lnTo>
                    <a:pt x="491261" y="1308872"/>
                  </a:lnTo>
                  <a:lnTo>
                    <a:pt x="521240" y="1342394"/>
                  </a:lnTo>
                  <a:lnTo>
                    <a:pt x="551960" y="1375230"/>
                  </a:lnTo>
                  <a:lnTo>
                    <a:pt x="583406" y="1407366"/>
                  </a:lnTo>
                  <a:lnTo>
                    <a:pt x="615566" y="1438788"/>
                  </a:lnTo>
                  <a:lnTo>
                    <a:pt x="648426" y="1469485"/>
                  </a:lnTo>
                  <a:lnTo>
                    <a:pt x="681974" y="1499442"/>
                  </a:lnTo>
                  <a:lnTo>
                    <a:pt x="716197" y="1528647"/>
                  </a:lnTo>
                  <a:lnTo>
                    <a:pt x="751081" y="1557086"/>
                  </a:lnTo>
                  <a:lnTo>
                    <a:pt x="786614" y="1584748"/>
                  </a:lnTo>
                  <a:lnTo>
                    <a:pt x="822782" y="1611618"/>
                  </a:lnTo>
                  <a:lnTo>
                    <a:pt x="859572" y="1637683"/>
                  </a:lnTo>
                  <a:lnTo>
                    <a:pt x="896972" y="1662931"/>
                  </a:lnTo>
                  <a:lnTo>
                    <a:pt x="934969" y="1687349"/>
                  </a:lnTo>
                  <a:lnTo>
                    <a:pt x="973548" y="1710923"/>
                  </a:lnTo>
                  <a:lnTo>
                    <a:pt x="1012698" y="1733641"/>
                  </a:lnTo>
                  <a:lnTo>
                    <a:pt x="1052405" y="1755489"/>
                  </a:lnTo>
                  <a:lnTo>
                    <a:pt x="1092656" y="1776455"/>
                  </a:lnTo>
                  <a:lnTo>
                    <a:pt x="1133439" y="1796524"/>
                  </a:lnTo>
                  <a:lnTo>
                    <a:pt x="1174739" y="1815686"/>
                  </a:lnTo>
                  <a:lnTo>
                    <a:pt x="1216544" y="1833925"/>
                  </a:lnTo>
                  <a:lnTo>
                    <a:pt x="1258842" y="1851230"/>
                  </a:lnTo>
                  <a:lnTo>
                    <a:pt x="1301618" y="1867587"/>
                  </a:lnTo>
                  <a:lnTo>
                    <a:pt x="1344860" y="1882983"/>
                  </a:lnTo>
                  <a:lnTo>
                    <a:pt x="1388555" y="1897405"/>
                  </a:lnTo>
                  <a:lnTo>
                    <a:pt x="1432690" y="1910841"/>
                  </a:lnTo>
                  <a:lnTo>
                    <a:pt x="1477252" y="1923276"/>
                  </a:lnTo>
                  <a:lnTo>
                    <a:pt x="1522228" y="1934699"/>
                  </a:lnTo>
                  <a:lnTo>
                    <a:pt x="1567604" y="1945095"/>
                  </a:lnTo>
                  <a:lnTo>
                    <a:pt x="1613367" y="1954453"/>
                  </a:lnTo>
                  <a:lnTo>
                    <a:pt x="1659506" y="1962758"/>
                  </a:lnTo>
                  <a:lnTo>
                    <a:pt x="1706006" y="1969999"/>
                  </a:lnTo>
                  <a:lnTo>
                    <a:pt x="1752854" y="1976161"/>
                  </a:lnTo>
                  <a:lnTo>
                    <a:pt x="1800038" y="1981232"/>
                  </a:lnTo>
                  <a:lnTo>
                    <a:pt x="1847544" y="1985199"/>
                  </a:lnTo>
                  <a:lnTo>
                    <a:pt x="1895360" y="1988048"/>
                  </a:lnTo>
                  <a:lnTo>
                    <a:pt x="1943472" y="1989767"/>
                  </a:lnTo>
                  <a:lnTo>
                    <a:pt x="1991868" y="1990343"/>
                  </a:lnTo>
                  <a:lnTo>
                    <a:pt x="199186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01028" y="3456432"/>
              <a:ext cx="1991995" cy="1990725"/>
            </a:xfrm>
            <a:custGeom>
              <a:avLst/>
              <a:gdLst/>
              <a:ahLst/>
              <a:cxnLst/>
              <a:rect l="l" t="t" r="r" b="b"/>
              <a:pathLst>
                <a:path w="1991995" h="1990725">
                  <a:moveTo>
                    <a:pt x="1991868" y="1990343"/>
                  </a:moveTo>
                  <a:lnTo>
                    <a:pt x="1943472" y="1989767"/>
                  </a:lnTo>
                  <a:lnTo>
                    <a:pt x="1895360" y="1988048"/>
                  </a:lnTo>
                  <a:lnTo>
                    <a:pt x="1847544" y="1985199"/>
                  </a:lnTo>
                  <a:lnTo>
                    <a:pt x="1800038" y="1981232"/>
                  </a:lnTo>
                  <a:lnTo>
                    <a:pt x="1752854" y="1976161"/>
                  </a:lnTo>
                  <a:lnTo>
                    <a:pt x="1706006" y="1969999"/>
                  </a:lnTo>
                  <a:lnTo>
                    <a:pt x="1659506" y="1962758"/>
                  </a:lnTo>
                  <a:lnTo>
                    <a:pt x="1613367" y="1954453"/>
                  </a:lnTo>
                  <a:lnTo>
                    <a:pt x="1567604" y="1945095"/>
                  </a:lnTo>
                  <a:lnTo>
                    <a:pt x="1522228" y="1934699"/>
                  </a:lnTo>
                  <a:lnTo>
                    <a:pt x="1477252" y="1923276"/>
                  </a:lnTo>
                  <a:lnTo>
                    <a:pt x="1432690" y="1910841"/>
                  </a:lnTo>
                  <a:lnTo>
                    <a:pt x="1388555" y="1897405"/>
                  </a:lnTo>
                  <a:lnTo>
                    <a:pt x="1344860" y="1882983"/>
                  </a:lnTo>
                  <a:lnTo>
                    <a:pt x="1301618" y="1867587"/>
                  </a:lnTo>
                  <a:lnTo>
                    <a:pt x="1258842" y="1851230"/>
                  </a:lnTo>
                  <a:lnTo>
                    <a:pt x="1216544" y="1833925"/>
                  </a:lnTo>
                  <a:lnTo>
                    <a:pt x="1174739" y="1815686"/>
                  </a:lnTo>
                  <a:lnTo>
                    <a:pt x="1133439" y="1796524"/>
                  </a:lnTo>
                  <a:lnTo>
                    <a:pt x="1092656" y="1776455"/>
                  </a:lnTo>
                  <a:lnTo>
                    <a:pt x="1052405" y="1755489"/>
                  </a:lnTo>
                  <a:lnTo>
                    <a:pt x="1012698" y="1733641"/>
                  </a:lnTo>
                  <a:lnTo>
                    <a:pt x="973548" y="1710923"/>
                  </a:lnTo>
                  <a:lnTo>
                    <a:pt x="934969" y="1687349"/>
                  </a:lnTo>
                  <a:lnTo>
                    <a:pt x="896972" y="1662931"/>
                  </a:lnTo>
                  <a:lnTo>
                    <a:pt x="859572" y="1637683"/>
                  </a:lnTo>
                  <a:lnTo>
                    <a:pt x="822782" y="1611618"/>
                  </a:lnTo>
                  <a:lnTo>
                    <a:pt x="786614" y="1584748"/>
                  </a:lnTo>
                  <a:lnTo>
                    <a:pt x="751081" y="1557086"/>
                  </a:lnTo>
                  <a:lnTo>
                    <a:pt x="716197" y="1528647"/>
                  </a:lnTo>
                  <a:lnTo>
                    <a:pt x="681974" y="1499442"/>
                  </a:lnTo>
                  <a:lnTo>
                    <a:pt x="648426" y="1469485"/>
                  </a:lnTo>
                  <a:lnTo>
                    <a:pt x="615566" y="1438788"/>
                  </a:lnTo>
                  <a:lnTo>
                    <a:pt x="583406" y="1407366"/>
                  </a:lnTo>
                  <a:lnTo>
                    <a:pt x="551960" y="1375230"/>
                  </a:lnTo>
                  <a:lnTo>
                    <a:pt x="521240" y="1342394"/>
                  </a:lnTo>
                  <a:lnTo>
                    <a:pt x="491261" y="1308872"/>
                  </a:lnTo>
                  <a:lnTo>
                    <a:pt x="462034" y="1274675"/>
                  </a:lnTo>
                  <a:lnTo>
                    <a:pt x="433573" y="1239817"/>
                  </a:lnTo>
                  <a:lnTo>
                    <a:pt x="405892" y="1204311"/>
                  </a:lnTo>
                  <a:lnTo>
                    <a:pt x="379002" y="1168170"/>
                  </a:lnTo>
                  <a:lnTo>
                    <a:pt x="352917" y="1131408"/>
                  </a:lnTo>
                  <a:lnTo>
                    <a:pt x="327650" y="1094036"/>
                  </a:lnTo>
                  <a:lnTo>
                    <a:pt x="303214" y="1056069"/>
                  </a:lnTo>
                  <a:lnTo>
                    <a:pt x="279623" y="1017519"/>
                  </a:lnTo>
                  <a:lnTo>
                    <a:pt x="256888" y="978399"/>
                  </a:lnTo>
                  <a:lnTo>
                    <a:pt x="235024" y="938722"/>
                  </a:lnTo>
                  <a:lnTo>
                    <a:pt x="214043" y="898502"/>
                  </a:lnTo>
                  <a:lnTo>
                    <a:pt x="193959" y="857751"/>
                  </a:lnTo>
                  <a:lnTo>
                    <a:pt x="174784" y="816482"/>
                  </a:lnTo>
                  <a:lnTo>
                    <a:pt x="156531" y="774709"/>
                  </a:lnTo>
                  <a:lnTo>
                    <a:pt x="139214" y="732445"/>
                  </a:lnTo>
                  <a:lnTo>
                    <a:pt x="122845" y="689702"/>
                  </a:lnTo>
                  <a:lnTo>
                    <a:pt x="107437" y="646493"/>
                  </a:lnTo>
                  <a:lnTo>
                    <a:pt x="93005" y="602832"/>
                  </a:lnTo>
                  <a:lnTo>
                    <a:pt x="79560" y="558732"/>
                  </a:lnTo>
                  <a:lnTo>
                    <a:pt x="67115" y="514205"/>
                  </a:lnTo>
                  <a:lnTo>
                    <a:pt x="55684" y="469265"/>
                  </a:lnTo>
                  <a:lnTo>
                    <a:pt x="45280" y="423925"/>
                  </a:lnTo>
                  <a:lnTo>
                    <a:pt x="35916" y="378197"/>
                  </a:lnTo>
                  <a:lnTo>
                    <a:pt x="27605" y="332095"/>
                  </a:lnTo>
                  <a:lnTo>
                    <a:pt x="20359" y="285632"/>
                  </a:lnTo>
                  <a:lnTo>
                    <a:pt x="14192" y="238821"/>
                  </a:lnTo>
                  <a:lnTo>
                    <a:pt x="9118" y="191675"/>
                  </a:lnTo>
                  <a:lnTo>
                    <a:pt x="5148" y="144207"/>
                  </a:lnTo>
                  <a:lnTo>
                    <a:pt x="2296" y="96429"/>
                  </a:lnTo>
                  <a:lnTo>
                    <a:pt x="576" y="48356"/>
                  </a:lnTo>
                  <a:lnTo>
                    <a:pt x="0" y="0"/>
                  </a:lnTo>
                  <a:lnTo>
                    <a:pt x="1991868" y="0"/>
                  </a:lnTo>
                  <a:lnTo>
                    <a:pt x="1991868" y="199034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63357" y="3571494"/>
            <a:ext cx="849630" cy="11042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algn="ctr">
              <a:lnSpc>
                <a:spcPts val="2750"/>
              </a:lnSpc>
              <a:spcBef>
                <a:spcPts val="395"/>
              </a:spcBef>
            </a:pP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Many-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to- 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25180" y="3027172"/>
            <a:ext cx="642620" cy="274320"/>
            <a:chOff x="8425180" y="3027172"/>
            <a:chExt cx="642620" cy="274320"/>
          </a:xfrm>
        </p:grpSpPr>
        <p:sp>
          <p:nvSpPr>
            <p:cNvPr id="20" name="object 20"/>
            <p:cNvSpPr/>
            <p:nvPr/>
          </p:nvSpPr>
          <p:spPr>
            <a:xfrm>
              <a:off x="8431530" y="3033522"/>
              <a:ext cx="629920" cy="261620"/>
            </a:xfrm>
            <a:custGeom>
              <a:avLst/>
              <a:gdLst/>
              <a:ahLst/>
              <a:cxnLst/>
              <a:rect l="l" t="t" r="r" b="b"/>
              <a:pathLst>
                <a:path w="629920" h="261620">
                  <a:moveTo>
                    <a:pt x="306324" y="0"/>
                  </a:moveTo>
                  <a:lnTo>
                    <a:pt x="256640" y="3419"/>
                  </a:lnTo>
                  <a:lnTo>
                    <a:pt x="209507" y="13319"/>
                  </a:lnTo>
                  <a:lnTo>
                    <a:pt x="165556" y="29163"/>
                  </a:lnTo>
                  <a:lnTo>
                    <a:pt x="125419" y="50413"/>
                  </a:lnTo>
                  <a:lnTo>
                    <a:pt x="89725" y="76533"/>
                  </a:lnTo>
                  <a:lnTo>
                    <a:pt x="59106" y="106984"/>
                  </a:lnTo>
                  <a:lnTo>
                    <a:pt x="34193" y="141230"/>
                  </a:lnTo>
                  <a:lnTo>
                    <a:pt x="15617" y="178734"/>
                  </a:lnTo>
                  <a:lnTo>
                    <a:pt x="4009" y="218958"/>
                  </a:lnTo>
                  <a:lnTo>
                    <a:pt x="0" y="261365"/>
                  </a:lnTo>
                  <a:lnTo>
                    <a:pt x="74675" y="261365"/>
                  </a:lnTo>
                  <a:lnTo>
                    <a:pt x="80310" y="220378"/>
                  </a:lnTo>
                  <a:lnTo>
                    <a:pt x="96589" y="182061"/>
                  </a:lnTo>
                  <a:lnTo>
                    <a:pt x="122572" y="147651"/>
                  </a:lnTo>
                  <a:lnTo>
                    <a:pt x="157321" y="118386"/>
                  </a:lnTo>
                  <a:lnTo>
                    <a:pt x="199898" y="95503"/>
                  </a:lnTo>
                  <a:lnTo>
                    <a:pt x="249893" y="80222"/>
                  </a:lnTo>
                  <a:lnTo>
                    <a:pt x="301206" y="74657"/>
                  </a:lnTo>
                  <a:lnTo>
                    <a:pt x="351966" y="78325"/>
                  </a:lnTo>
                  <a:lnTo>
                    <a:pt x="400303" y="90742"/>
                  </a:lnTo>
                  <a:lnTo>
                    <a:pt x="444345" y="111423"/>
                  </a:lnTo>
                  <a:lnTo>
                    <a:pt x="482222" y="139884"/>
                  </a:lnTo>
                  <a:lnTo>
                    <a:pt x="512064" y="175640"/>
                  </a:lnTo>
                  <a:lnTo>
                    <a:pt x="480187" y="175640"/>
                  </a:lnTo>
                  <a:lnTo>
                    <a:pt x="575310" y="261365"/>
                  </a:lnTo>
                  <a:lnTo>
                    <a:pt x="629539" y="175640"/>
                  </a:lnTo>
                  <a:lnTo>
                    <a:pt x="595629" y="175640"/>
                  </a:lnTo>
                  <a:lnTo>
                    <a:pt x="572972" y="132801"/>
                  </a:lnTo>
                  <a:lnTo>
                    <a:pt x="542373" y="94833"/>
                  </a:lnTo>
                  <a:lnTo>
                    <a:pt x="504863" y="62364"/>
                  </a:lnTo>
                  <a:lnTo>
                    <a:pt x="461472" y="36019"/>
                  </a:lnTo>
                  <a:lnTo>
                    <a:pt x="413231" y="16426"/>
                  </a:lnTo>
                  <a:lnTo>
                    <a:pt x="361171" y="4210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31530" y="3033522"/>
              <a:ext cx="629920" cy="261620"/>
            </a:xfrm>
            <a:custGeom>
              <a:avLst/>
              <a:gdLst/>
              <a:ahLst/>
              <a:cxnLst/>
              <a:rect l="l" t="t" r="r" b="b"/>
              <a:pathLst>
                <a:path w="629920" h="261620">
                  <a:moveTo>
                    <a:pt x="0" y="261365"/>
                  </a:moveTo>
                  <a:lnTo>
                    <a:pt x="4009" y="218958"/>
                  </a:lnTo>
                  <a:lnTo>
                    <a:pt x="15617" y="178734"/>
                  </a:lnTo>
                  <a:lnTo>
                    <a:pt x="34193" y="141230"/>
                  </a:lnTo>
                  <a:lnTo>
                    <a:pt x="59106" y="106984"/>
                  </a:lnTo>
                  <a:lnTo>
                    <a:pt x="89725" y="76533"/>
                  </a:lnTo>
                  <a:lnTo>
                    <a:pt x="125419" y="50413"/>
                  </a:lnTo>
                  <a:lnTo>
                    <a:pt x="165556" y="29163"/>
                  </a:lnTo>
                  <a:lnTo>
                    <a:pt x="209507" y="13319"/>
                  </a:lnTo>
                  <a:lnTo>
                    <a:pt x="256640" y="3419"/>
                  </a:lnTo>
                  <a:lnTo>
                    <a:pt x="306324" y="0"/>
                  </a:lnTo>
                  <a:lnTo>
                    <a:pt x="361171" y="4210"/>
                  </a:lnTo>
                  <a:lnTo>
                    <a:pt x="413231" y="16426"/>
                  </a:lnTo>
                  <a:lnTo>
                    <a:pt x="461472" y="36019"/>
                  </a:lnTo>
                  <a:lnTo>
                    <a:pt x="504863" y="62364"/>
                  </a:lnTo>
                  <a:lnTo>
                    <a:pt x="542373" y="94833"/>
                  </a:lnTo>
                  <a:lnTo>
                    <a:pt x="572972" y="132801"/>
                  </a:lnTo>
                  <a:lnTo>
                    <a:pt x="595629" y="175640"/>
                  </a:lnTo>
                  <a:lnTo>
                    <a:pt x="629539" y="175640"/>
                  </a:lnTo>
                  <a:lnTo>
                    <a:pt x="575310" y="261365"/>
                  </a:lnTo>
                  <a:lnTo>
                    <a:pt x="480187" y="175640"/>
                  </a:lnTo>
                  <a:lnTo>
                    <a:pt x="512064" y="175640"/>
                  </a:lnTo>
                  <a:lnTo>
                    <a:pt x="482222" y="139884"/>
                  </a:lnTo>
                  <a:lnTo>
                    <a:pt x="444345" y="111423"/>
                  </a:lnTo>
                  <a:lnTo>
                    <a:pt x="400303" y="90742"/>
                  </a:lnTo>
                  <a:lnTo>
                    <a:pt x="351966" y="78325"/>
                  </a:lnTo>
                  <a:lnTo>
                    <a:pt x="301206" y="74657"/>
                  </a:lnTo>
                  <a:lnTo>
                    <a:pt x="249893" y="80222"/>
                  </a:lnTo>
                  <a:lnTo>
                    <a:pt x="199898" y="95503"/>
                  </a:lnTo>
                  <a:lnTo>
                    <a:pt x="157321" y="118386"/>
                  </a:lnTo>
                  <a:lnTo>
                    <a:pt x="122572" y="147651"/>
                  </a:lnTo>
                  <a:lnTo>
                    <a:pt x="96589" y="182061"/>
                  </a:lnTo>
                  <a:lnTo>
                    <a:pt x="80310" y="220378"/>
                  </a:lnTo>
                  <a:lnTo>
                    <a:pt x="74675" y="261365"/>
                  </a:lnTo>
                  <a:lnTo>
                    <a:pt x="0" y="26136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408289" y="3518661"/>
            <a:ext cx="642620" cy="274320"/>
            <a:chOff x="8408289" y="3518661"/>
            <a:chExt cx="642620" cy="274320"/>
          </a:xfrm>
        </p:grpSpPr>
        <p:sp>
          <p:nvSpPr>
            <p:cNvPr id="23" name="object 23"/>
            <p:cNvSpPr/>
            <p:nvPr/>
          </p:nvSpPr>
          <p:spPr>
            <a:xfrm>
              <a:off x="8414639" y="3525011"/>
              <a:ext cx="629920" cy="261620"/>
            </a:xfrm>
            <a:custGeom>
              <a:avLst/>
              <a:gdLst/>
              <a:ahLst/>
              <a:cxnLst/>
              <a:rect l="l" t="t" r="r" b="b"/>
              <a:pathLst>
                <a:path w="629920" h="261620">
                  <a:moveTo>
                    <a:pt x="629538" y="0"/>
                  </a:moveTo>
                  <a:lnTo>
                    <a:pt x="554862" y="0"/>
                  </a:lnTo>
                  <a:lnTo>
                    <a:pt x="549228" y="40987"/>
                  </a:lnTo>
                  <a:lnTo>
                    <a:pt x="532949" y="79304"/>
                  </a:lnTo>
                  <a:lnTo>
                    <a:pt x="506966" y="113714"/>
                  </a:lnTo>
                  <a:lnTo>
                    <a:pt x="472217" y="142979"/>
                  </a:lnTo>
                  <a:lnTo>
                    <a:pt x="429640" y="165862"/>
                  </a:lnTo>
                  <a:lnTo>
                    <a:pt x="379645" y="181143"/>
                  </a:lnTo>
                  <a:lnTo>
                    <a:pt x="328332" y="186708"/>
                  </a:lnTo>
                  <a:lnTo>
                    <a:pt x="277572" y="183040"/>
                  </a:lnTo>
                  <a:lnTo>
                    <a:pt x="229235" y="170623"/>
                  </a:lnTo>
                  <a:lnTo>
                    <a:pt x="185193" y="149942"/>
                  </a:lnTo>
                  <a:lnTo>
                    <a:pt x="147316" y="121481"/>
                  </a:lnTo>
                  <a:lnTo>
                    <a:pt x="117475" y="85725"/>
                  </a:lnTo>
                  <a:lnTo>
                    <a:pt x="149351" y="85725"/>
                  </a:lnTo>
                  <a:lnTo>
                    <a:pt x="54228" y="0"/>
                  </a:lnTo>
                  <a:lnTo>
                    <a:pt x="0" y="85725"/>
                  </a:lnTo>
                  <a:lnTo>
                    <a:pt x="33908" y="85725"/>
                  </a:lnTo>
                  <a:lnTo>
                    <a:pt x="56526" y="128564"/>
                  </a:lnTo>
                  <a:lnTo>
                    <a:pt x="87109" y="166532"/>
                  </a:lnTo>
                  <a:lnTo>
                    <a:pt x="124622" y="199001"/>
                  </a:lnTo>
                  <a:lnTo>
                    <a:pt x="168026" y="225346"/>
                  </a:lnTo>
                  <a:lnTo>
                    <a:pt x="216285" y="244939"/>
                  </a:lnTo>
                  <a:lnTo>
                    <a:pt x="268360" y="257155"/>
                  </a:lnTo>
                  <a:lnTo>
                    <a:pt x="323214" y="261365"/>
                  </a:lnTo>
                  <a:lnTo>
                    <a:pt x="372898" y="257946"/>
                  </a:lnTo>
                  <a:lnTo>
                    <a:pt x="420031" y="248046"/>
                  </a:lnTo>
                  <a:lnTo>
                    <a:pt x="463982" y="232202"/>
                  </a:lnTo>
                  <a:lnTo>
                    <a:pt x="504119" y="210952"/>
                  </a:lnTo>
                  <a:lnTo>
                    <a:pt x="539813" y="184832"/>
                  </a:lnTo>
                  <a:lnTo>
                    <a:pt x="570432" y="154381"/>
                  </a:lnTo>
                  <a:lnTo>
                    <a:pt x="595345" y="120135"/>
                  </a:lnTo>
                  <a:lnTo>
                    <a:pt x="613921" y="82631"/>
                  </a:lnTo>
                  <a:lnTo>
                    <a:pt x="625529" y="42407"/>
                  </a:lnTo>
                  <a:lnTo>
                    <a:pt x="629538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14639" y="3525011"/>
              <a:ext cx="629920" cy="261620"/>
            </a:xfrm>
            <a:custGeom>
              <a:avLst/>
              <a:gdLst/>
              <a:ahLst/>
              <a:cxnLst/>
              <a:rect l="l" t="t" r="r" b="b"/>
              <a:pathLst>
                <a:path w="629920" h="261620">
                  <a:moveTo>
                    <a:pt x="629538" y="0"/>
                  </a:moveTo>
                  <a:lnTo>
                    <a:pt x="625529" y="42407"/>
                  </a:lnTo>
                  <a:lnTo>
                    <a:pt x="613921" y="82631"/>
                  </a:lnTo>
                  <a:lnTo>
                    <a:pt x="595345" y="120135"/>
                  </a:lnTo>
                  <a:lnTo>
                    <a:pt x="570432" y="154381"/>
                  </a:lnTo>
                  <a:lnTo>
                    <a:pt x="539813" y="184832"/>
                  </a:lnTo>
                  <a:lnTo>
                    <a:pt x="504119" y="210952"/>
                  </a:lnTo>
                  <a:lnTo>
                    <a:pt x="463982" y="232202"/>
                  </a:lnTo>
                  <a:lnTo>
                    <a:pt x="420031" y="248046"/>
                  </a:lnTo>
                  <a:lnTo>
                    <a:pt x="372898" y="257946"/>
                  </a:lnTo>
                  <a:lnTo>
                    <a:pt x="323214" y="261365"/>
                  </a:lnTo>
                  <a:lnTo>
                    <a:pt x="268360" y="257155"/>
                  </a:lnTo>
                  <a:lnTo>
                    <a:pt x="216285" y="244939"/>
                  </a:lnTo>
                  <a:lnTo>
                    <a:pt x="168026" y="225346"/>
                  </a:lnTo>
                  <a:lnTo>
                    <a:pt x="124622" y="199001"/>
                  </a:lnTo>
                  <a:lnTo>
                    <a:pt x="87109" y="166532"/>
                  </a:lnTo>
                  <a:lnTo>
                    <a:pt x="56526" y="128564"/>
                  </a:lnTo>
                  <a:lnTo>
                    <a:pt x="33908" y="85725"/>
                  </a:lnTo>
                  <a:lnTo>
                    <a:pt x="0" y="85725"/>
                  </a:lnTo>
                  <a:lnTo>
                    <a:pt x="54228" y="0"/>
                  </a:lnTo>
                  <a:lnTo>
                    <a:pt x="149351" y="85725"/>
                  </a:lnTo>
                  <a:lnTo>
                    <a:pt x="117475" y="85725"/>
                  </a:lnTo>
                  <a:lnTo>
                    <a:pt x="147316" y="121481"/>
                  </a:lnTo>
                  <a:lnTo>
                    <a:pt x="185193" y="149942"/>
                  </a:lnTo>
                  <a:lnTo>
                    <a:pt x="229235" y="170623"/>
                  </a:lnTo>
                  <a:lnTo>
                    <a:pt x="277572" y="183040"/>
                  </a:lnTo>
                  <a:lnTo>
                    <a:pt x="328332" y="186708"/>
                  </a:lnTo>
                  <a:lnTo>
                    <a:pt x="379645" y="181143"/>
                  </a:lnTo>
                  <a:lnTo>
                    <a:pt x="429640" y="165862"/>
                  </a:lnTo>
                  <a:lnTo>
                    <a:pt x="472217" y="142979"/>
                  </a:lnTo>
                  <a:lnTo>
                    <a:pt x="506966" y="113714"/>
                  </a:lnTo>
                  <a:lnTo>
                    <a:pt x="532949" y="79304"/>
                  </a:lnTo>
                  <a:lnTo>
                    <a:pt x="549228" y="40987"/>
                  </a:lnTo>
                  <a:lnTo>
                    <a:pt x="554862" y="0"/>
                  </a:lnTo>
                  <a:lnTo>
                    <a:pt x="629538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58948"/>
            <a:ext cx="2453005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 </a:t>
            </a:r>
            <a:r>
              <a:rPr sz="3600" spc="-30" dirty="0">
                <a:latin typeface="Calibri Light"/>
                <a:cs typeface="Calibri Light"/>
              </a:rPr>
              <a:t>(One-</a:t>
            </a:r>
            <a:r>
              <a:rPr sz="3600" spc="-60" dirty="0">
                <a:latin typeface="Calibri Light"/>
                <a:cs typeface="Calibri Light"/>
              </a:rPr>
              <a:t>to-</a:t>
            </a:r>
            <a:r>
              <a:rPr sz="3600" spc="-20" dirty="0">
                <a:latin typeface="Calibri Light"/>
                <a:cs typeface="Calibri Light"/>
              </a:rPr>
              <a:t>One)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11097"/>
            <a:ext cx="5141595" cy="49034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016635" indent="-2286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cardinality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represented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1:1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symbol.</a:t>
            </a:r>
            <a:endParaRPr sz="2600">
              <a:latin typeface="Calibri"/>
              <a:cs typeface="Calibri"/>
            </a:endParaRPr>
          </a:p>
          <a:p>
            <a:pPr marL="241300" marR="819785" indent="-228600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6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most</a:t>
            </a:r>
            <a:r>
              <a:rPr sz="26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one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r>
              <a:rPr sz="26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6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6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6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2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2600" i="1" dirty="0">
                <a:solidFill>
                  <a:srgbClr val="FF0000"/>
                </a:solidFill>
                <a:latin typeface="Calibri"/>
                <a:cs typeface="Calibri"/>
              </a:rPr>
              <a:t>another</a:t>
            </a:r>
            <a:r>
              <a:rPr sz="26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i="1" spc="-10" dirty="0">
                <a:solidFill>
                  <a:srgbClr val="FF0000"/>
                </a:solidFill>
                <a:latin typeface="Calibri"/>
                <a:cs typeface="Calibri"/>
              </a:rPr>
              <a:t>entity.</a:t>
            </a:r>
            <a:endParaRPr sz="2600">
              <a:latin typeface="Calibri"/>
              <a:cs typeface="Calibri"/>
            </a:endParaRPr>
          </a:p>
          <a:p>
            <a:pPr marL="241300" marR="221615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one- </a:t>
            </a:r>
            <a:r>
              <a:rPr sz="2600" spc="-30" dirty="0">
                <a:latin typeface="Calibri"/>
                <a:cs typeface="Calibri"/>
              </a:rPr>
              <a:t>to-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cardinality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life </a:t>
            </a:r>
            <a:r>
              <a:rPr sz="2600" spc="-10" dirty="0">
                <a:latin typeface="Calibri"/>
                <a:cs typeface="Calibri"/>
              </a:rPr>
              <a:t>databases.</a:t>
            </a:r>
            <a:endParaRPr sz="2600">
              <a:latin typeface="Calibri"/>
              <a:cs typeface="Calibri"/>
            </a:endParaRPr>
          </a:p>
          <a:p>
            <a:pPr marL="698500" marR="5080" lvl="1" indent="-228600">
              <a:lnSpc>
                <a:spcPts val="211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example,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student</a:t>
            </a:r>
            <a:r>
              <a:rPr sz="2200" spc="-790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student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id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one </a:t>
            </a:r>
            <a:r>
              <a:rPr sz="2200" dirty="0">
                <a:latin typeface="Courier New"/>
                <a:cs typeface="Courier New"/>
              </a:rPr>
              <a:t>student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id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belong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one </a:t>
            </a:r>
            <a:r>
              <a:rPr sz="2200" spc="-10" dirty="0">
                <a:latin typeface="Courier New"/>
                <a:cs typeface="Courier New"/>
              </a:rPr>
              <a:t>student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698500" marR="113030" lvl="1" indent="-228600" algn="just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So,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relationship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mapping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between </a:t>
            </a:r>
            <a:r>
              <a:rPr sz="2200" spc="-95" dirty="0">
                <a:latin typeface="Courier New"/>
                <a:cs typeface="Courier New"/>
              </a:rPr>
              <a:t>student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dirty="0">
                <a:latin typeface="Courier New"/>
                <a:cs typeface="Courier New"/>
              </a:rPr>
              <a:t>student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id</a:t>
            </a:r>
            <a:r>
              <a:rPr sz="2200" spc="155" dirty="0">
                <a:latin typeface="Courier New"/>
                <a:cs typeface="Courier New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cardinality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mapping.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258948"/>
            <a:ext cx="2453005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pc="-25" dirty="0"/>
              <a:t>Types</a:t>
            </a:r>
            <a:r>
              <a:rPr spc="-185" dirty="0"/>
              <a:t> </a:t>
            </a:r>
            <a:r>
              <a:rPr spc="-25" dirty="0"/>
              <a:t>of </a:t>
            </a:r>
            <a:r>
              <a:rPr spc="-10" dirty="0"/>
              <a:t>Cardinality Mapping </a:t>
            </a:r>
            <a:r>
              <a:rPr sz="3600" spc="-30" dirty="0"/>
              <a:t>(One-</a:t>
            </a:r>
            <a:r>
              <a:rPr sz="3600" spc="-60" dirty="0"/>
              <a:t>to-</a:t>
            </a:r>
            <a:r>
              <a:rPr sz="3600" spc="-20" dirty="0"/>
              <a:t>One)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70167" y="991946"/>
            <a:ext cx="5033010" cy="20351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899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director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school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school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spc="-10" dirty="0">
                <a:latin typeface="Courier New"/>
                <a:cs typeface="Courier New"/>
              </a:rPr>
              <a:t>school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ourier New"/>
                <a:cs typeface="Courier New"/>
              </a:rPr>
              <a:t>director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director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belong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school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6280" y="6082131"/>
            <a:ext cx="800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50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447" y="6012281"/>
            <a:ext cx="54349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Note: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necessary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mapping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entities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entity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one-to-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cardinality.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entities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participate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mapping.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8846" y="3275872"/>
            <a:ext cx="6249494" cy="3515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58948"/>
            <a:ext cx="2718435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 </a:t>
            </a:r>
            <a:r>
              <a:rPr sz="3600" spc="-55" dirty="0">
                <a:latin typeface="Calibri Light"/>
                <a:cs typeface="Calibri Light"/>
              </a:rPr>
              <a:t>(Many-to-</a:t>
            </a:r>
            <a:r>
              <a:rPr sz="3600" spc="-20" dirty="0">
                <a:latin typeface="Calibri Light"/>
                <a:cs typeface="Calibri Light"/>
              </a:rPr>
              <a:t>One)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347596"/>
            <a:ext cx="5000625" cy="4065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8542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mapping,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libri"/>
                <a:cs typeface="Calibri"/>
              </a:rPr>
              <a:t>sets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make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relationships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a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set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2,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make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a 	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entity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32384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M:1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pc="-25" dirty="0"/>
              <a:t>Types</a:t>
            </a:r>
            <a:r>
              <a:rPr spc="-185" dirty="0"/>
              <a:t> </a:t>
            </a:r>
            <a:r>
              <a:rPr spc="-25" dirty="0"/>
              <a:t>of </a:t>
            </a:r>
            <a:r>
              <a:rPr spc="-10" dirty="0"/>
              <a:t>Cardinality Mapping </a:t>
            </a:r>
            <a:r>
              <a:rPr sz="3600" spc="-55" dirty="0"/>
              <a:t>(Many-to-</a:t>
            </a:r>
            <a:r>
              <a:rPr sz="3600" spc="-20" dirty="0"/>
              <a:t>One)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70167" y="991946"/>
            <a:ext cx="5123815" cy="20383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multiple 	</a:t>
            </a:r>
            <a:r>
              <a:rPr sz="2400" spc="-10" dirty="0">
                <a:latin typeface="Courier New"/>
                <a:cs typeface="Courier New"/>
              </a:rPr>
              <a:t>patients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hospital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served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doctor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patients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doctors</a:t>
            </a:r>
            <a:r>
              <a:rPr sz="2400" spc="-93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represented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1744" y="3174491"/>
            <a:ext cx="6544056" cy="36758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58948"/>
            <a:ext cx="2718435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 </a:t>
            </a:r>
            <a:r>
              <a:rPr sz="3600" spc="-30" dirty="0">
                <a:latin typeface="Calibri Light"/>
                <a:cs typeface="Calibri Light"/>
              </a:rPr>
              <a:t>(One-</a:t>
            </a:r>
            <a:r>
              <a:rPr sz="3600" spc="-55" dirty="0">
                <a:latin typeface="Calibri Light"/>
                <a:cs typeface="Calibri Light"/>
              </a:rPr>
              <a:t>to-</a:t>
            </a:r>
            <a:r>
              <a:rPr sz="3600" spc="-45" dirty="0">
                <a:latin typeface="Calibri Light"/>
                <a:cs typeface="Calibri Light"/>
              </a:rPr>
              <a:t>Many)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182446"/>
            <a:ext cx="5126355" cy="43948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One-</a:t>
            </a:r>
            <a:r>
              <a:rPr sz="2400" spc="-25" dirty="0">
                <a:latin typeface="Calibri"/>
                <a:cs typeface="Calibri"/>
              </a:rPr>
              <a:t>to-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mapping,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4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maximum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make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relationships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of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147955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set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2,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make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a 	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relationship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set 	1.</a:t>
            </a:r>
            <a:endParaRPr sz="2400">
              <a:latin typeface="Calibri"/>
              <a:cs typeface="Calibri"/>
            </a:endParaRPr>
          </a:p>
          <a:p>
            <a:pPr marL="240029" marR="194945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One-</a:t>
            </a:r>
            <a:r>
              <a:rPr sz="2400" spc="-25" dirty="0">
                <a:latin typeface="Calibri"/>
                <a:cs typeface="Calibri"/>
              </a:rPr>
              <a:t>to-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M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58948"/>
            <a:ext cx="2718435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 </a:t>
            </a:r>
            <a:r>
              <a:rPr sz="3600" spc="-30" dirty="0">
                <a:latin typeface="Calibri Light"/>
                <a:cs typeface="Calibri Light"/>
              </a:rPr>
              <a:t>(One-</a:t>
            </a:r>
            <a:r>
              <a:rPr sz="3600" spc="-55" dirty="0">
                <a:latin typeface="Calibri Light"/>
                <a:cs typeface="Calibri Light"/>
              </a:rPr>
              <a:t>to-</a:t>
            </a:r>
            <a:r>
              <a:rPr sz="3600" spc="-45" dirty="0">
                <a:latin typeface="Calibri Light"/>
                <a:cs typeface="Calibri Light"/>
              </a:rPr>
              <a:t>Many)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25829"/>
            <a:ext cx="5015230" cy="171132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029" marR="5080" indent="-227329">
              <a:lnSpc>
                <a:spcPct val="90200"/>
              </a:lnSpc>
              <a:spcBef>
                <a:spcPts val="3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hospital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 	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compounders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hospital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compounders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mapped 	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One-</a:t>
            </a:r>
            <a:r>
              <a:rPr sz="2400" spc="-20" dirty="0">
                <a:latin typeface="Calibri"/>
                <a:cs typeface="Calibri"/>
              </a:rPr>
              <a:t>to-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8820" y="3250292"/>
            <a:ext cx="6257925" cy="3514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58948"/>
            <a:ext cx="2981960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 </a:t>
            </a:r>
            <a:r>
              <a:rPr sz="3600" spc="-55" dirty="0">
                <a:latin typeface="Calibri Light"/>
                <a:cs typeface="Calibri Light"/>
              </a:rPr>
              <a:t>(Many-to-</a:t>
            </a:r>
            <a:r>
              <a:rPr sz="3600" spc="-40" dirty="0">
                <a:latin typeface="Calibri Light"/>
                <a:cs typeface="Calibri Light"/>
              </a:rPr>
              <a:t>Many)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17854"/>
            <a:ext cx="5059680" cy="47244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many-to-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cardinalities 	</a:t>
            </a:r>
            <a:r>
              <a:rPr sz="2400" dirty="0">
                <a:latin typeface="Calibri"/>
                <a:cs typeface="Calibri"/>
              </a:rPr>
              <a:t>mapping,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libri"/>
                <a:cs typeface="Calibri"/>
              </a:rPr>
              <a:t>more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associate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libri"/>
                <a:cs typeface="Calibri"/>
              </a:rPr>
              <a:t>with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8445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end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2,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libri"/>
                <a:cs typeface="Calibri"/>
              </a:rPr>
              <a:t>make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relation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one 	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entity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M: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M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1905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cardinality,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dirty="0">
                <a:latin typeface="Calibri"/>
                <a:cs typeface="Calibri"/>
              </a:rPr>
              <a:t>cardinalities,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cardinalities.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58948"/>
            <a:ext cx="2981960" cy="22294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560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Cardinality Mapping </a:t>
            </a:r>
            <a:r>
              <a:rPr sz="3600" spc="-55" dirty="0">
                <a:latin typeface="Calibri Light"/>
                <a:cs typeface="Calibri Light"/>
              </a:rPr>
              <a:t>(Many-to-</a:t>
            </a:r>
            <a:r>
              <a:rPr sz="3600" spc="-40" dirty="0">
                <a:latin typeface="Calibri Light"/>
                <a:cs typeface="Calibri Light"/>
              </a:rPr>
              <a:t>Many)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599694"/>
            <a:ext cx="4987925" cy="28244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0029" marR="5080" indent="-227329">
              <a:lnSpc>
                <a:spcPct val="89700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multiple 	</a:t>
            </a:r>
            <a:r>
              <a:rPr sz="2400" spc="-10" dirty="0">
                <a:latin typeface="Courier New"/>
                <a:cs typeface="Courier New"/>
              </a:rPr>
              <a:t>students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single 	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student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215265" indent="-227329">
              <a:lnSpc>
                <a:spcPct val="900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student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spc="-20" dirty="0">
                <a:latin typeface="Calibri"/>
                <a:cs typeface="Calibri"/>
              </a:rPr>
              <a:t>represented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spc="-10" dirty="0">
                <a:latin typeface="Calibri"/>
                <a:cs typeface="Calibri"/>
              </a:rPr>
              <a:t>cardinalities.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8671" y="3401566"/>
            <a:ext cx="6053328" cy="3451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505836"/>
            <a:ext cx="2470785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20" dirty="0">
                <a:latin typeface="Calibri Light"/>
                <a:cs typeface="Calibri Light"/>
              </a:rPr>
              <a:t>Appropriate </a:t>
            </a:r>
            <a:r>
              <a:rPr sz="4000" spc="-10" dirty="0">
                <a:latin typeface="Calibri Light"/>
                <a:cs typeface="Calibri Light"/>
              </a:rPr>
              <a:t>Mapping Cardinality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086103"/>
            <a:ext cx="4877435" cy="45916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0" dirty="0">
                <a:latin typeface="Calibri"/>
                <a:cs typeface="Calibri"/>
              </a:rPr>
              <a:t>Evidently,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context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modeled 	determines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Appropriate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Mapping 	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698500" marR="23495" lvl="1" indent="-228600">
              <a:lnSpc>
                <a:spcPts val="216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with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involved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Cardinality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one-</a:t>
            </a:r>
            <a:r>
              <a:rPr sz="2000" spc="-20" dirty="0">
                <a:latin typeface="Calibri"/>
                <a:cs typeface="Calibri"/>
              </a:rPr>
              <a:t>to-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many-</a:t>
            </a:r>
            <a:r>
              <a:rPr sz="2000" spc="-20" dirty="0">
                <a:latin typeface="Calibri"/>
                <a:cs typeface="Calibri"/>
              </a:rPr>
              <a:t>to-one.</a:t>
            </a:r>
            <a:endParaRPr sz="2000">
              <a:latin typeface="Calibri"/>
              <a:cs typeface="Calibri"/>
            </a:endParaRPr>
          </a:p>
          <a:p>
            <a:pPr marL="698500" marR="53975" lvl="1" indent="-228600">
              <a:lnSpc>
                <a:spcPct val="90000"/>
              </a:lnSpc>
              <a:spcBef>
                <a:spcPts val="4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one-</a:t>
            </a:r>
            <a:r>
              <a:rPr sz="2000" spc="-20" dirty="0">
                <a:latin typeface="Calibri"/>
                <a:cs typeface="Calibri"/>
              </a:rPr>
              <a:t>to-</a:t>
            </a:r>
            <a:r>
              <a:rPr sz="2000" spc="-25" dirty="0">
                <a:latin typeface="Calibri"/>
                <a:cs typeface="Calibri"/>
              </a:rPr>
              <a:t>one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participation,</a:t>
            </a:r>
            <a:r>
              <a:rPr sz="2000" spc="-25" dirty="0">
                <a:latin typeface="Calibri"/>
                <a:cs typeface="Calibri"/>
              </a:rPr>
              <a:t> and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entities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their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participation.</a:t>
            </a:r>
            <a:endParaRPr sz="2000">
              <a:latin typeface="Calibri"/>
              <a:cs typeface="Calibri"/>
            </a:endParaRPr>
          </a:p>
          <a:p>
            <a:pPr marL="698500" marR="473709" lvl="1" indent="-228600">
              <a:lnSpc>
                <a:spcPts val="216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mix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Cardinality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many-to-many.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311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One-to- One</vt:lpstr>
      <vt:lpstr>PowerPoint Presentation</vt:lpstr>
      <vt:lpstr>Types of Cardinality Mapping (One-to-One)</vt:lpstr>
      <vt:lpstr>PowerPoint Presentation</vt:lpstr>
      <vt:lpstr>Types of Cardinality Mapping (Many-to-One)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2025-06-30T07:20:01Z</dcterms:created>
  <dcterms:modified xsi:type="dcterms:W3CDTF">2025-06-30T07:29:11Z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