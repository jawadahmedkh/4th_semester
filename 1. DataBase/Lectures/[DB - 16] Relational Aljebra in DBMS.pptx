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7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5747E3-0359-4EB8-BD4F-55952BF86C7C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8DDD51-87E6-477E-8607-A52E1804D0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763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8DDD51-87E6-477E-8607-A52E1804D03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7395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A1279-3012-4DF2-8533-9B7F92784808}" type="datetime1">
              <a:rPr lang="en-US" smtClean="0"/>
              <a:t>7/18/2025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0BFD67B2-A085-47AC-8E42-41BA4906EF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2061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D2FFF-BB3D-4FC4-A679-9F059CB91E38}" type="datetime1">
              <a:rPr lang="en-US" smtClean="0"/>
              <a:t>7/18/2025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D67B2-A085-47AC-8E42-41BA4906EF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067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3FEDC-C9B1-4A4F-85D1-E84C45BB86A3}" type="datetime1">
              <a:rPr lang="en-US" smtClean="0"/>
              <a:t>7/18/2025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BFD67B2-A085-47AC-8E42-41BA4906EF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787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A1966-5ECB-4DD0-8E1F-8AC9F09C559E}" type="datetime1">
              <a:rPr lang="en-US" smtClean="0"/>
              <a:t>7/18/2025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0BFD67B2-A085-47AC-8E42-41BA4906EF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637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A660E-209E-4632-BC24-A81AB09E7905}" type="datetime1">
              <a:rPr lang="en-US" smtClean="0"/>
              <a:t>7/18/2025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0BFD67B2-A085-47AC-8E42-41BA4906EF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342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8BC54-A8E8-4939-B8E8-497F4EC4C577}" type="datetime1">
              <a:rPr lang="en-US" smtClean="0"/>
              <a:t>7/18/2025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D67B2-A085-47AC-8E42-41BA4906EF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623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8CFBA-33F8-4116-AEF3-21D704CAC356}" type="datetime1">
              <a:rPr lang="en-US" smtClean="0"/>
              <a:t>7/18/2025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D67B2-A085-47AC-8E42-41BA4906EF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8793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CE7C3-E8DC-4BFA-9AAC-0D48DB3BA428}" type="datetime1">
              <a:rPr lang="en-US" smtClean="0"/>
              <a:t>7/18/2025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D67B2-A085-47AC-8E42-41BA4906EF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726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0AAB0-26A6-4539-8DA2-6AC7C2AF24D3}" type="datetime1">
              <a:rPr lang="en-US" smtClean="0"/>
              <a:t>7/18/2025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BFD67B2-A085-47AC-8E42-41BA4906EF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321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80DD-F579-483D-9A15-E248EB58F14B}" type="datetime1">
              <a:rPr lang="en-US" smtClean="0"/>
              <a:t>7/18/2025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BFD67B2-A085-47AC-8E42-41BA4906EF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475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2CCD9-8522-46F1-953D-6B7F56888CED}" type="datetime1">
              <a:rPr lang="en-US" smtClean="0"/>
              <a:t>7/18/2025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BFD67B2-A085-47AC-8E42-41BA4906EF7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273040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C6396-1776-42CA-A525-75E2F0DF3437}" type="datetime1">
              <a:rPr lang="en-US" smtClean="0"/>
              <a:t>7/18/2025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BFD67B2-A085-47AC-8E42-41BA4906EF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4216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34BD-B3E8-4797-9EA8-A236C7BC3534}" type="datetime1">
              <a:rPr lang="en-US" smtClean="0"/>
              <a:t>7/18/2025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BFD67B2-A085-47AC-8E42-41BA4906EF73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387728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A271E-F876-4ED1-83AA-93E1ACEE436F}" type="datetime1">
              <a:rPr lang="en-US" smtClean="0"/>
              <a:t>7/18/2025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BFD67B2-A085-47AC-8E42-41BA4906EF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3838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EFD31-1A95-45BF-923E-E76D10F3E670}" type="datetime1">
              <a:rPr lang="en-US" smtClean="0"/>
              <a:t>7/18/2025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D67B2-A085-47AC-8E42-41BA4906EF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7183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A8316-2A98-4FB4-BF6C-FAF563150B9B}" type="datetime1">
              <a:rPr lang="en-US" smtClean="0"/>
              <a:t>7/18/2025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D67B2-A085-47AC-8E42-41BA4906EF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925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2ACDB6-E826-4ED4-B29E-178252277970}" type="datetime1">
              <a:rPr lang="en-US" smtClean="0"/>
              <a:t>7/18/2025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0BFD67B2-A085-47AC-8E42-41BA4906EF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481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Relational Algebra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dirty="0"/>
              <a:t>Relational algebra is a procedural query language. </a:t>
            </a:r>
            <a:endParaRPr lang="en-US" sz="3600" dirty="0" smtClean="0"/>
          </a:p>
          <a:p>
            <a:r>
              <a:rPr lang="en-US" sz="3600" dirty="0" smtClean="0"/>
              <a:t>It </a:t>
            </a:r>
            <a:r>
              <a:rPr lang="en-US" sz="3600" dirty="0"/>
              <a:t>gives a step by step process to obtain the result of the query. </a:t>
            </a:r>
            <a:endParaRPr lang="en-US" sz="3600" dirty="0" smtClean="0"/>
          </a:p>
          <a:p>
            <a:r>
              <a:rPr lang="en-US" sz="3600" dirty="0" smtClean="0"/>
              <a:t>It </a:t>
            </a:r>
            <a:r>
              <a:rPr lang="en-US" sz="3600" dirty="0"/>
              <a:t>uses operators to perform queries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D67B2-A085-47AC-8E42-41BA4906EF7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140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Relational operation</a:t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1690688"/>
            <a:ext cx="9560859" cy="3644292"/>
          </a:xfr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D67B2-A085-47AC-8E42-41BA4906EF7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180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 Operation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sz="3600" dirty="0"/>
              <a:t> </a:t>
            </a:r>
            <a:r>
              <a:rPr lang="en-US" sz="3600" dirty="0"/>
              <a:t>S</a:t>
            </a:r>
            <a:r>
              <a:rPr lang="en-US" sz="3600" dirty="0" smtClean="0"/>
              <a:t>elect </a:t>
            </a:r>
            <a:r>
              <a:rPr lang="en-US" sz="3600" dirty="0"/>
              <a:t>operation selects tuples that satisfy a given predicate.</a:t>
            </a:r>
          </a:p>
          <a:p>
            <a:r>
              <a:rPr lang="en-US" sz="3600" dirty="0"/>
              <a:t>It is denoted by sigma (σ).</a:t>
            </a:r>
          </a:p>
          <a:p>
            <a:r>
              <a:rPr lang="en-US" sz="3600" dirty="0"/>
              <a:t>Notation:  σ p(r)  </a:t>
            </a:r>
          </a:p>
          <a:p>
            <a:r>
              <a:rPr lang="en-US" sz="3600" dirty="0"/>
              <a:t>Where:</a:t>
            </a:r>
          </a:p>
          <a:p>
            <a:r>
              <a:rPr lang="en-US" sz="3600" dirty="0">
                <a:solidFill>
                  <a:srgbClr val="FF0000"/>
                </a:solidFill>
              </a:rPr>
              <a:t>σ</a:t>
            </a:r>
            <a:r>
              <a:rPr lang="en-US" sz="3600" dirty="0"/>
              <a:t> is used for selection </a:t>
            </a:r>
            <a:r>
              <a:rPr lang="en-US" sz="3600" dirty="0" smtClean="0"/>
              <a:t>prediction</a:t>
            </a:r>
          </a:p>
          <a:p>
            <a:r>
              <a:rPr lang="en-US" sz="3600" dirty="0" smtClean="0">
                <a:solidFill>
                  <a:srgbClr val="FF0000"/>
                </a:solidFill>
              </a:rPr>
              <a:t>r</a:t>
            </a:r>
            <a:r>
              <a:rPr lang="en-US" sz="3600" dirty="0"/>
              <a:t> is used for </a:t>
            </a:r>
            <a:r>
              <a:rPr lang="en-US" sz="3600" dirty="0" smtClean="0"/>
              <a:t>relation</a:t>
            </a:r>
          </a:p>
          <a:p>
            <a:r>
              <a:rPr lang="en-US" sz="3600" dirty="0" smtClean="0">
                <a:solidFill>
                  <a:srgbClr val="FF0000"/>
                </a:solidFill>
              </a:rPr>
              <a:t>p</a:t>
            </a:r>
            <a:r>
              <a:rPr lang="en-US" sz="3600" dirty="0"/>
              <a:t> is used as a propositional logic formula which may use connectors like: AND OR and NOT. </a:t>
            </a:r>
            <a:endParaRPr lang="en-US" sz="3600" dirty="0"/>
          </a:p>
          <a:p>
            <a:r>
              <a:rPr lang="en-US" sz="3600" dirty="0"/>
              <a:t>These </a:t>
            </a:r>
            <a:r>
              <a:rPr lang="en-US" sz="3600" dirty="0"/>
              <a:t>relational can use as relational operators like =, ≠, ≥, &lt;, &gt;, ≤.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D67B2-A085-47AC-8E42-41BA4906EF7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87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53648" y="256963"/>
            <a:ext cx="10515600" cy="992615"/>
          </a:xfrm>
        </p:spPr>
        <p:txBody>
          <a:bodyPr>
            <a:normAutofit/>
          </a:bodyPr>
          <a:lstStyle/>
          <a:p>
            <a:r>
              <a:rPr lang="en-US" dirty="0"/>
              <a:t>For </a:t>
            </a:r>
            <a:r>
              <a:rPr lang="en-US" dirty="0" smtClean="0"/>
              <a:t>example </a:t>
            </a:r>
            <a:r>
              <a:rPr lang="en-US" b="1" dirty="0" smtClean="0"/>
              <a:t>Loan Relation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30091520"/>
              </p:ext>
            </p:extLst>
          </p:nvPr>
        </p:nvGraphicFramePr>
        <p:xfrm>
          <a:off x="2044148" y="1249578"/>
          <a:ext cx="4043082" cy="4312920"/>
        </p:xfrm>
        <a:graphic>
          <a:graphicData uri="http://schemas.openxmlformats.org/drawingml/2006/table">
            <a:tbl>
              <a:tblPr firstRow="1" bandRow="1">
                <a:tableStyleId>{08FB837D-C827-4EFA-A057-4D05807E0F7C}</a:tableStyleId>
              </a:tblPr>
              <a:tblGrid>
                <a:gridCol w="1347694"/>
                <a:gridCol w="1347694"/>
                <a:gridCol w="1347694"/>
              </a:tblGrid>
              <a:tr h="697562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BRANCH_NAME</a:t>
                      </a:r>
                      <a:endParaRPr lang="en-US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14300" marR="114300" marT="114300" marB="1143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LOAN_NO</a:t>
                      </a:r>
                      <a:endParaRPr lang="en-US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14300" marR="114300" marT="114300" marB="1143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AMOUNT</a:t>
                      </a:r>
                      <a:endParaRPr lang="en-US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14300" marR="114300" marT="114300" marB="114300"/>
                </a:tc>
              </a:tr>
              <a:tr h="382975"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Downtown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L-17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1000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</a:tr>
              <a:tr h="382975"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Redwood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L-23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2000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</a:tr>
              <a:tr h="382975"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Perryride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L-15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1500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</a:tr>
              <a:tr h="382975"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Downtown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L-14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1500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</a:tr>
              <a:tr h="382975"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Mianus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L-13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500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</a:tr>
              <a:tr h="382975"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Roundhill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L-11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900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</a:tr>
              <a:tr h="382975"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Perryride</a:t>
                      </a:r>
                      <a:endParaRPr lang="en-U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L-16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dirty="0">
                          <a:effectLst/>
                        </a:rPr>
                        <a:t>1300</a:t>
                      </a:r>
                      <a:endParaRPr lang="en-US" dirty="0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</a:tr>
            </a:tbl>
          </a:graphicData>
        </a:graphic>
      </p:graphicFrame>
      <p:sp>
        <p:nvSpPr>
          <p:cNvPr id="5" name="Title 1"/>
          <p:cNvSpPr txBox="1">
            <a:spLocks/>
          </p:cNvSpPr>
          <p:nvPr/>
        </p:nvSpPr>
        <p:spPr>
          <a:xfrm>
            <a:off x="1955813" y="5659047"/>
            <a:ext cx="11111270" cy="10934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smtClean="0"/>
              <a:t>Input: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σ BRANCH_NAME="</a:t>
            </a:r>
            <a:r>
              <a:rPr lang="en-US" dirty="0" err="1" smtClean="0"/>
              <a:t>perryride</a:t>
            </a:r>
            <a:r>
              <a:rPr lang="en-US" dirty="0" smtClean="0"/>
              <a:t>" (LOAN)  </a:t>
            </a:r>
            <a:br>
              <a:rPr lang="en-US" dirty="0" smtClean="0"/>
            </a:br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5115413"/>
              </p:ext>
            </p:extLst>
          </p:nvPr>
        </p:nvGraphicFramePr>
        <p:xfrm>
          <a:off x="6872531" y="3054843"/>
          <a:ext cx="5184588" cy="16306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728196"/>
                <a:gridCol w="1728196"/>
                <a:gridCol w="1728196"/>
              </a:tblGrid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BRANCH_NAME</a:t>
                      </a:r>
                      <a:endParaRPr lang="en-US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14300" marR="114300" marT="114300" marB="1143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LOAN_NO</a:t>
                      </a:r>
                      <a:endParaRPr lang="en-US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14300" marR="114300" marT="114300" marB="1143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AMOUNT</a:t>
                      </a:r>
                      <a:endParaRPr lang="en-US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14300" marR="114300" marT="114300" marB="114300"/>
                </a:tc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US" dirty="0" err="1">
                          <a:effectLst/>
                        </a:rPr>
                        <a:t>Perryride</a:t>
                      </a:r>
                      <a:endParaRPr lang="en-US" dirty="0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L-15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1500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Perryride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L-16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dirty="0">
                          <a:effectLst/>
                        </a:rPr>
                        <a:t>1300</a:t>
                      </a:r>
                      <a:endParaRPr lang="en-US" dirty="0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</a:tr>
            </a:tbl>
          </a:graphicData>
        </a:graphic>
      </p:graphicFrame>
      <p:sp>
        <p:nvSpPr>
          <p:cNvPr id="7" name="Title 1"/>
          <p:cNvSpPr txBox="1">
            <a:spLocks/>
          </p:cNvSpPr>
          <p:nvPr/>
        </p:nvSpPr>
        <p:spPr>
          <a:xfrm>
            <a:off x="8714584" y="2001295"/>
            <a:ext cx="10515600" cy="14331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smtClean="0"/>
              <a:t>Output</a:t>
            </a:r>
          </a:p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 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D67B2-A085-47AC-8E42-41BA4906EF7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458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74571" y="455277"/>
            <a:ext cx="10515600" cy="1114051"/>
          </a:xfrm>
        </p:spPr>
        <p:txBody>
          <a:bodyPr/>
          <a:lstStyle/>
          <a:p>
            <a:r>
              <a:rPr lang="en-US" dirty="0"/>
              <a:t>Project </a:t>
            </a:r>
            <a:r>
              <a:rPr lang="en-US" dirty="0" smtClean="0"/>
              <a:t>Operation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6400" y="1664830"/>
            <a:ext cx="10515600" cy="4351338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z="2000" dirty="0"/>
              <a:t>This operation shows the list of those attributes that we wish to appear in the result. </a:t>
            </a:r>
            <a:endParaRPr lang="en-US" sz="2000" dirty="0"/>
          </a:p>
          <a:p>
            <a:pPr>
              <a:lnSpc>
                <a:spcPct val="80000"/>
              </a:lnSpc>
            </a:pPr>
            <a:r>
              <a:rPr lang="en-US" sz="2000" dirty="0"/>
              <a:t>Rest </a:t>
            </a:r>
            <a:r>
              <a:rPr lang="en-US" sz="2000" dirty="0"/>
              <a:t>of the attributes are eliminated from the table.</a:t>
            </a:r>
          </a:p>
          <a:p>
            <a:pPr>
              <a:lnSpc>
                <a:spcPct val="80000"/>
              </a:lnSpc>
            </a:pPr>
            <a:r>
              <a:rPr lang="en-US" sz="2000" dirty="0"/>
              <a:t>It is denoted by ∏.</a:t>
            </a:r>
          </a:p>
          <a:p>
            <a:pPr>
              <a:lnSpc>
                <a:spcPct val="80000"/>
              </a:lnSpc>
            </a:pPr>
            <a:r>
              <a:rPr lang="en-US" sz="2000" dirty="0"/>
              <a:t>Notation: ∏ A1, A2, An (r)   </a:t>
            </a:r>
          </a:p>
          <a:p>
            <a:pPr>
              <a:lnSpc>
                <a:spcPct val="80000"/>
              </a:lnSpc>
            </a:pPr>
            <a:r>
              <a:rPr lang="en-US" sz="2000" dirty="0"/>
              <a:t>Where</a:t>
            </a:r>
          </a:p>
          <a:p>
            <a:pPr>
              <a:lnSpc>
                <a:spcPct val="80000"/>
              </a:lnSpc>
            </a:pPr>
            <a:r>
              <a:rPr lang="en-US" sz="2000" dirty="0"/>
              <a:t>A1, A2, A3 is used as an attribute name of relation r.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D67B2-A085-47AC-8E42-41BA4906EF7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344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92757" y="324783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 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Relation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0624415"/>
              </p:ext>
            </p:extLst>
          </p:nvPr>
        </p:nvGraphicFramePr>
        <p:xfrm>
          <a:off x="1275522" y="1841488"/>
          <a:ext cx="4863354" cy="30632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621118"/>
                <a:gridCol w="1621118"/>
                <a:gridCol w="1621118"/>
              </a:tblGrid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NAME</a:t>
                      </a:r>
                      <a:endParaRPr lang="en-US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14300" marR="114300" marT="114300" marB="1143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STREET</a:t>
                      </a:r>
                      <a:endParaRPr lang="en-US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14300" marR="114300" marT="114300" marB="1143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CITY</a:t>
                      </a:r>
                      <a:endParaRPr lang="en-US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14300" marR="114300" marT="114300" marB="114300"/>
                </a:tc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Jones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Main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Harrison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Smith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North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Rye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Hays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Main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Harrison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Curry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North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Rye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Johnson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Alma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Brooklyn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Brooks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Senator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dirty="0">
                          <a:effectLst/>
                        </a:rPr>
                        <a:t>Brooklyn</a:t>
                      </a:r>
                      <a:endParaRPr lang="en-US" dirty="0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</a:tr>
            </a:tbl>
          </a:graphicData>
        </a:graphic>
      </p:graphicFrame>
      <p:sp>
        <p:nvSpPr>
          <p:cNvPr id="8" name="Title 1"/>
          <p:cNvSpPr txBox="1">
            <a:spLocks/>
          </p:cNvSpPr>
          <p:nvPr/>
        </p:nvSpPr>
        <p:spPr>
          <a:xfrm>
            <a:off x="1234206" y="5096435"/>
            <a:ext cx="10515600" cy="17615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/>
              <a:t>Input</a:t>
            </a:r>
            <a:r>
              <a:rPr lang="en-US" sz="3200" b="1" dirty="0" smtClean="0"/>
              <a:t>:</a:t>
            </a:r>
          </a:p>
          <a:p>
            <a:endParaRPr lang="en-US" sz="3200" dirty="0"/>
          </a:p>
          <a:p>
            <a:r>
              <a:rPr lang="en-US" sz="3200" dirty="0"/>
              <a:t>∏ NAME, CITY (CUSTOMER)  </a:t>
            </a:r>
          </a:p>
          <a:p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8435595" y="1159842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n-US" b="1" dirty="0" smtClean="0">
                <a:solidFill>
                  <a:srgbClr val="333333"/>
                </a:solidFill>
                <a:latin typeface="inter-bold"/>
              </a:rPr>
              <a:t>Output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inter-regular"/>
              </a:rPr>
              <a:t>  </a:t>
            </a:r>
            <a:endParaRPr lang="en-US" b="0" i="0" dirty="0">
              <a:solidFill>
                <a:srgbClr val="000000"/>
              </a:solidFill>
              <a:effectLst/>
              <a:latin typeface="inter-regular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5057755"/>
              </p:ext>
            </p:extLst>
          </p:nvPr>
        </p:nvGraphicFramePr>
        <p:xfrm>
          <a:off x="6630841" y="1852344"/>
          <a:ext cx="5418418" cy="30632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709209"/>
                <a:gridCol w="2709209"/>
              </a:tblGrid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NAME</a:t>
                      </a:r>
                      <a:endParaRPr lang="en-US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14300" marR="114300" marT="114300" marB="1143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CITY</a:t>
                      </a:r>
                      <a:endParaRPr lang="en-US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14300" marR="114300" marT="114300" marB="114300"/>
                </a:tc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Jones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Harrison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US" dirty="0">
                          <a:effectLst/>
                        </a:rPr>
                        <a:t>Smith</a:t>
                      </a:r>
                      <a:endParaRPr lang="en-US" dirty="0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Rye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Hays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Harrison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Curry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Rye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Johnson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Brooklyn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Brooks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dirty="0">
                          <a:effectLst/>
                        </a:rPr>
                        <a:t>Brooklyn</a:t>
                      </a:r>
                      <a:endParaRPr lang="en-US" dirty="0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D67B2-A085-47AC-8E42-41BA4906EF7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636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Union Operation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sz="2000" dirty="0"/>
              <a:t>Suppose there are two tuples R and S. The union operation contains all the tuples that are either in R or S or both in R &amp; S.</a:t>
            </a:r>
          </a:p>
          <a:p>
            <a:pPr>
              <a:lnSpc>
                <a:spcPct val="80000"/>
              </a:lnSpc>
            </a:pPr>
            <a:r>
              <a:rPr lang="en-US" sz="2000" dirty="0"/>
              <a:t>It eliminates the duplicate tuples. It is denoted by ∪.</a:t>
            </a:r>
          </a:p>
          <a:p>
            <a:pPr>
              <a:lnSpc>
                <a:spcPct val="80000"/>
              </a:lnSpc>
            </a:pPr>
            <a:r>
              <a:rPr lang="en-US" sz="2000" dirty="0"/>
              <a:t>Notation: R ∪ S   </a:t>
            </a:r>
          </a:p>
          <a:p>
            <a:pPr>
              <a:lnSpc>
                <a:spcPct val="80000"/>
              </a:lnSpc>
            </a:pPr>
            <a:r>
              <a:rPr lang="en-US" sz="2000" dirty="0"/>
              <a:t>A union operation must hold the following condition:</a:t>
            </a:r>
          </a:p>
          <a:p>
            <a:pPr>
              <a:lnSpc>
                <a:spcPct val="80000"/>
              </a:lnSpc>
            </a:pPr>
            <a:r>
              <a:rPr lang="en-US" sz="2000" dirty="0"/>
              <a:t>R and S must have the attribute of the same number.</a:t>
            </a:r>
          </a:p>
          <a:p>
            <a:pPr>
              <a:lnSpc>
                <a:spcPct val="80000"/>
              </a:lnSpc>
            </a:pPr>
            <a:r>
              <a:rPr lang="en-US" sz="2000" dirty="0"/>
              <a:t>Duplicate tuples are eliminated automatically.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D67B2-A085-47AC-8E42-41BA4906EF7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817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7313" y="365124"/>
            <a:ext cx="10515600" cy="1033369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Example</a:t>
            </a:r>
            <a:br>
              <a:rPr lang="en-US" dirty="0" smtClean="0"/>
            </a:br>
            <a:r>
              <a:rPr lang="en-US" dirty="0" smtClean="0"/>
              <a:t> </a:t>
            </a:r>
            <a:r>
              <a:rPr lang="en-US" b="1" dirty="0" smtClean="0"/>
              <a:t>Depositor And Borrow Relation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55119900"/>
              </p:ext>
            </p:extLst>
          </p:nvPr>
        </p:nvGraphicFramePr>
        <p:xfrm>
          <a:off x="1143000" y="1506683"/>
          <a:ext cx="3303494" cy="37642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651747"/>
                <a:gridCol w="1651747"/>
              </a:tblGrid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CUSTOMER_NAME</a:t>
                      </a:r>
                      <a:endParaRPr lang="en-US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14300" marR="114300" marT="114300" marB="1143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ACCOUNT_NO</a:t>
                      </a:r>
                      <a:endParaRPr lang="en-US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14300" marR="114300" marT="114300" marB="114300"/>
                </a:tc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Johnson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A-101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Smith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A-121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Mayes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dirty="0">
                          <a:effectLst/>
                        </a:rPr>
                        <a:t>A-321</a:t>
                      </a:r>
                      <a:endParaRPr lang="en-US" dirty="0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Turner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A-176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Johnson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A-273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Jones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A-472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Lindsay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dirty="0">
                          <a:effectLst/>
                        </a:rPr>
                        <a:t>A-284</a:t>
                      </a:r>
                      <a:endParaRPr lang="en-US" dirty="0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1295153"/>
              </p:ext>
            </p:extLst>
          </p:nvPr>
        </p:nvGraphicFramePr>
        <p:xfrm>
          <a:off x="4636245" y="1609471"/>
          <a:ext cx="3306484" cy="37642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653242"/>
                <a:gridCol w="1653242"/>
              </a:tblGrid>
              <a:tr h="676635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CUSTOMER_NAME</a:t>
                      </a:r>
                      <a:endParaRPr lang="en-US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14300" marR="114300" marT="114300" marB="1143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LOAN_NO</a:t>
                      </a:r>
                      <a:endParaRPr lang="en-US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14300" marR="114300" marT="114300" marB="114300"/>
                </a:tc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Jones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L-17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Smith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L-23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US" dirty="0">
                          <a:effectLst/>
                        </a:rPr>
                        <a:t>Hayes</a:t>
                      </a:r>
                      <a:endParaRPr lang="en-US" dirty="0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L-15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Jackson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L-14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Curry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L-93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Smith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L-11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Williams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dirty="0">
                          <a:effectLst/>
                        </a:rPr>
                        <a:t>L-17</a:t>
                      </a:r>
                      <a:endParaRPr lang="en-US" dirty="0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</a:tr>
            </a:tbl>
          </a:graphicData>
        </a:graphic>
      </p:graphicFrame>
      <p:sp>
        <p:nvSpPr>
          <p:cNvPr id="7" name="Title 1"/>
          <p:cNvSpPr txBox="1">
            <a:spLocks/>
          </p:cNvSpPr>
          <p:nvPr/>
        </p:nvSpPr>
        <p:spPr>
          <a:xfrm>
            <a:off x="9055911" y="365125"/>
            <a:ext cx="10515600" cy="10333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smtClean="0"/>
              <a:t>Output</a:t>
            </a:r>
            <a:r>
              <a:rPr lang="en-US" dirty="0"/>
              <a:t> 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568061"/>
              </p:ext>
            </p:extLst>
          </p:nvPr>
        </p:nvGraphicFramePr>
        <p:xfrm>
          <a:off x="8217647" y="1660960"/>
          <a:ext cx="3535082" cy="39166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535082"/>
              </a:tblGrid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CUSTOMER_NAME</a:t>
                      </a:r>
                      <a:endParaRPr lang="en-US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14300" marR="114300" marT="114300" marB="114300"/>
                </a:tc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Johnson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Smith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US" dirty="0">
                          <a:effectLst/>
                        </a:rPr>
                        <a:t>Hayes</a:t>
                      </a:r>
                      <a:endParaRPr lang="en-US" dirty="0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Turner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Jones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Lindsay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Jackson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US" dirty="0">
                          <a:effectLst/>
                        </a:rPr>
                        <a:t>Curry</a:t>
                      </a:r>
                      <a:endParaRPr lang="en-US" dirty="0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</a:tr>
            </a:tbl>
          </a:graphicData>
        </a:graphic>
      </p:graphicFrame>
      <p:sp>
        <p:nvSpPr>
          <p:cNvPr id="10" name="Title 1"/>
          <p:cNvSpPr txBox="1">
            <a:spLocks/>
          </p:cNvSpPr>
          <p:nvPr/>
        </p:nvSpPr>
        <p:spPr>
          <a:xfrm>
            <a:off x="1334962" y="5270963"/>
            <a:ext cx="10529047" cy="10333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/>
              <a:t>Input:</a:t>
            </a:r>
            <a:endParaRPr lang="en-US" sz="2400" dirty="0"/>
          </a:p>
          <a:p>
            <a:r>
              <a:rPr lang="en-US" sz="2400" dirty="0"/>
              <a:t>∏ CUSTOMER_NAME (BORROW) ∪ ∏ CUSTOMER_NAME (DEPOSITOR)  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D67B2-A085-47AC-8E42-41BA4906EF7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783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 Intersection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sz="2000" dirty="0"/>
              <a:t>Suppose there are two tuples R and S. The set intersection operation contains all tuples that are in both R &amp; S.</a:t>
            </a:r>
          </a:p>
          <a:p>
            <a:pPr>
              <a:lnSpc>
                <a:spcPct val="80000"/>
              </a:lnSpc>
            </a:pPr>
            <a:r>
              <a:rPr lang="en-US" sz="2000" dirty="0"/>
              <a:t>It is denoted by intersection ∩.</a:t>
            </a:r>
          </a:p>
          <a:p>
            <a:pPr>
              <a:lnSpc>
                <a:spcPct val="80000"/>
              </a:lnSpc>
            </a:pPr>
            <a:r>
              <a:rPr lang="en-US" sz="2000" dirty="0"/>
              <a:t>Notation: R ∩ S   </a:t>
            </a:r>
          </a:p>
          <a:p>
            <a:pPr>
              <a:lnSpc>
                <a:spcPct val="80000"/>
              </a:lnSpc>
            </a:pPr>
            <a:r>
              <a:rPr lang="en-US" sz="2000" dirty="0"/>
              <a:t>Example: Using the above DEPOSITOR table and BORROW table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D67B2-A085-47AC-8E42-41BA4906EF7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377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9017" y="153090"/>
            <a:ext cx="10515600" cy="1033369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Example </a:t>
            </a:r>
            <a:r>
              <a:rPr lang="en-US" b="1" dirty="0" smtClean="0"/>
              <a:t>Depositor And Borrow Relation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51272729"/>
              </p:ext>
            </p:extLst>
          </p:nvPr>
        </p:nvGraphicFramePr>
        <p:xfrm>
          <a:off x="1620078" y="881809"/>
          <a:ext cx="3303494" cy="37642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651747"/>
                <a:gridCol w="1651747"/>
              </a:tblGrid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CUSTOMER_NAME</a:t>
                      </a:r>
                      <a:endParaRPr lang="en-US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14300" marR="114300" marT="114300" marB="1143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ACCOUNT_NO</a:t>
                      </a:r>
                      <a:endParaRPr lang="en-US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14300" marR="114300" marT="114300" marB="114300"/>
                </a:tc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Johnson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A-101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Smith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A-121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Mayes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A-321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Turner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A-176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Johnson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A-273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Jones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A-472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Lindsay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dirty="0">
                          <a:effectLst/>
                        </a:rPr>
                        <a:t>A-284</a:t>
                      </a:r>
                      <a:endParaRPr lang="en-US" dirty="0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9638670"/>
              </p:ext>
            </p:extLst>
          </p:nvPr>
        </p:nvGraphicFramePr>
        <p:xfrm>
          <a:off x="5142575" y="881809"/>
          <a:ext cx="3306484" cy="37642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653242"/>
                <a:gridCol w="1653242"/>
              </a:tblGrid>
              <a:tr h="676635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CUSTOMER_NAME</a:t>
                      </a:r>
                      <a:endParaRPr lang="en-US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14300" marR="114300" marT="114300" marB="1143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LOAN_NO</a:t>
                      </a:r>
                      <a:endParaRPr lang="en-US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14300" marR="114300" marT="114300" marB="114300"/>
                </a:tc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Jones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L-17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Smith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L-23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US" dirty="0">
                          <a:effectLst/>
                        </a:rPr>
                        <a:t>Hayes</a:t>
                      </a:r>
                      <a:endParaRPr lang="en-US" dirty="0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L-15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Jackson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L-14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Curry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L-93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Smith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L-11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Williams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dirty="0">
                          <a:effectLst/>
                        </a:rPr>
                        <a:t>L-17</a:t>
                      </a:r>
                      <a:endParaRPr lang="en-US" dirty="0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</a:tr>
            </a:tbl>
          </a:graphicData>
        </a:graphic>
      </p:graphicFrame>
      <p:sp>
        <p:nvSpPr>
          <p:cNvPr id="7" name="Title 1"/>
          <p:cNvSpPr txBox="1">
            <a:spLocks/>
          </p:cNvSpPr>
          <p:nvPr/>
        </p:nvSpPr>
        <p:spPr>
          <a:xfrm>
            <a:off x="9214937" y="365125"/>
            <a:ext cx="10515600" cy="10333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smtClean="0"/>
              <a:t>Output</a:t>
            </a:r>
            <a:r>
              <a:rPr lang="en-US" dirty="0"/>
              <a:t> 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1055077" y="5310720"/>
            <a:ext cx="11481480" cy="5599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Input:</a:t>
            </a:r>
            <a:endParaRPr lang="en-US" dirty="0"/>
          </a:p>
          <a:p>
            <a:r>
              <a:rPr lang="en-US" dirty="0"/>
              <a:t>∏ CUSTOMER_NAME (BORROW) ∩ ∏ CUSTOMER_NAME (DEPOSITOR)  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3163410"/>
              </p:ext>
            </p:extLst>
          </p:nvPr>
        </p:nvGraphicFramePr>
        <p:xfrm>
          <a:off x="9197552" y="1519434"/>
          <a:ext cx="2708812" cy="13563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708812"/>
              </a:tblGrid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CUSTOMER_NAME</a:t>
                      </a:r>
                      <a:endParaRPr lang="en-US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14300" marR="114300" marT="114300" marB="114300"/>
                </a:tc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Johnson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US" dirty="0">
                          <a:effectLst/>
                        </a:rPr>
                        <a:t>Smith</a:t>
                      </a:r>
                      <a:endParaRPr lang="en-US" dirty="0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D67B2-A085-47AC-8E42-41BA4906EF7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772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 </a:t>
            </a:r>
            <a:r>
              <a:rPr lang="en-US" dirty="0" smtClean="0"/>
              <a:t>Difference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Suppose there are two tuples R and S. The set intersection operation contains all tuples that are in R but not in S.</a:t>
            </a:r>
          </a:p>
          <a:p>
            <a:r>
              <a:rPr lang="en-US" dirty="0"/>
              <a:t>It is denoted by intersection minus (-).</a:t>
            </a:r>
          </a:p>
          <a:p>
            <a:r>
              <a:rPr lang="en-US" dirty="0"/>
              <a:t>Notation: R - S  </a:t>
            </a:r>
          </a:p>
          <a:p>
            <a:r>
              <a:rPr lang="en-US" b="1" dirty="0"/>
              <a:t>Example:</a:t>
            </a:r>
            <a:r>
              <a:rPr lang="en-US" dirty="0"/>
              <a:t> Using the above DEPOSITOR table and BORROW table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D67B2-A085-47AC-8E42-41BA4906EF7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563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1296" y="271097"/>
            <a:ext cx="10515600" cy="1033369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Example </a:t>
            </a:r>
            <a:r>
              <a:rPr lang="en-US" b="1" dirty="0" smtClean="0"/>
              <a:t>Depositor And Borrow Relation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26456993"/>
              </p:ext>
            </p:extLst>
          </p:nvPr>
        </p:nvGraphicFramePr>
        <p:xfrm>
          <a:off x="1765852" y="1051996"/>
          <a:ext cx="3303494" cy="37642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651747"/>
                <a:gridCol w="1651747"/>
              </a:tblGrid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CUSTOMER_NAME</a:t>
                      </a:r>
                      <a:endParaRPr lang="en-US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14300" marR="114300" marT="114300" marB="1143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ACCOUNT_NO</a:t>
                      </a:r>
                      <a:endParaRPr lang="en-US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14300" marR="114300" marT="114300" marB="114300"/>
                </a:tc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Johnson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A-101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Smith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A-121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Mayes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A-321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Turner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A-176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Johnson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A-273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Jones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A-472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Lindsay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dirty="0">
                          <a:effectLst/>
                        </a:rPr>
                        <a:t>A-284</a:t>
                      </a:r>
                      <a:endParaRPr lang="en-US" dirty="0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1761166"/>
              </p:ext>
            </p:extLst>
          </p:nvPr>
        </p:nvGraphicFramePr>
        <p:xfrm>
          <a:off x="5525311" y="1089581"/>
          <a:ext cx="3306484" cy="37642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653242"/>
                <a:gridCol w="1653242"/>
              </a:tblGrid>
              <a:tr h="676635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CUSTOMER_NAME</a:t>
                      </a:r>
                      <a:endParaRPr lang="en-US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14300" marR="114300" marT="114300" marB="1143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LOAN_NO</a:t>
                      </a:r>
                      <a:endParaRPr lang="en-US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14300" marR="114300" marT="114300" marB="114300"/>
                </a:tc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US" dirty="0">
                          <a:effectLst/>
                        </a:rPr>
                        <a:t>Jones</a:t>
                      </a:r>
                      <a:endParaRPr lang="en-US" dirty="0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L-17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Smith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L-23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Hayes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L-15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Jackson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L-14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Curry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L-93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Smith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L-11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Williams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dirty="0">
                          <a:effectLst/>
                        </a:rPr>
                        <a:t>L-17</a:t>
                      </a:r>
                      <a:endParaRPr lang="en-US" dirty="0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</a:tr>
            </a:tbl>
          </a:graphicData>
        </a:graphic>
      </p:graphicFrame>
      <p:sp>
        <p:nvSpPr>
          <p:cNvPr id="7" name="Title 1"/>
          <p:cNvSpPr txBox="1">
            <a:spLocks/>
          </p:cNvSpPr>
          <p:nvPr/>
        </p:nvSpPr>
        <p:spPr>
          <a:xfrm>
            <a:off x="9506485" y="119538"/>
            <a:ext cx="10515600" cy="10333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smtClean="0"/>
              <a:t>Output</a:t>
            </a:r>
            <a:r>
              <a:rPr lang="en-US" dirty="0"/>
              <a:t> 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1175935" y="5125189"/>
            <a:ext cx="10529047" cy="10333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Input:</a:t>
            </a:r>
            <a:endParaRPr lang="en-US" dirty="0"/>
          </a:p>
          <a:p>
            <a:r>
              <a:rPr lang="en-US" dirty="0"/>
              <a:t>∏ CUSTOMER_NAME (BORROW) - ∏ CUSTOMER_NAME (DEPOSITOR)  </a:t>
            </a:r>
          </a:p>
          <a:p>
            <a:r>
              <a:rPr lang="en-US" dirty="0"/>
              <a:t>  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4515637"/>
              </p:ext>
            </p:extLst>
          </p:nvPr>
        </p:nvGraphicFramePr>
        <p:xfrm>
          <a:off x="9240572" y="1712259"/>
          <a:ext cx="2793218" cy="22098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793218"/>
              </a:tblGrid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CUSTOMER_NAME</a:t>
                      </a:r>
                      <a:endParaRPr lang="en-US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14300" marR="114300" marT="114300" marB="114300"/>
                </a:tc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US" dirty="0">
                          <a:effectLst/>
                        </a:rPr>
                        <a:t>Jackson</a:t>
                      </a:r>
                      <a:endParaRPr lang="en-US" dirty="0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US" dirty="0">
                          <a:effectLst/>
                        </a:rPr>
                        <a:t>Hayes</a:t>
                      </a:r>
                      <a:endParaRPr lang="en-US" dirty="0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Willians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US" dirty="0">
                          <a:effectLst/>
                        </a:rPr>
                        <a:t>Curry</a:t>
                      </a:r>
                      <a:endParaRPr lang="en-US" dirty="0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D67B2-A085-47AC-8E42-41BA4906EF7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244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Cartesian product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Cartesian product is used to combine each row in one table with each row in the other table. It is also known as a cross product.</a:t>
            </a:r>
          </a:p>
          <a:p>
            <a:r>
              <a:rPr lang="en-US" dirty="0"/>
              <a:t>It is denoted by X.</a:t>
            </a:r>
          </a:p>
          <a:p>
            <a:r>
              <a:rPr lang="en-US" dirty="0"/>
              <a:t>Notation: E X D  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D67B2-A085-47AC-8E42-41BA4906EF7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794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048871"/>
          </a:xfrm>
        </p:spPr>
        <p:txBody>
          <a:bodyPr/>
          <a:lstStyle/>
          <a:p>
            <a:r>
              <a:rPr lang="en-US" dirty="0" smtClean="0"/>
              <a:t>Example </a:t>
            </a:r>
            <a:r>
              <a:rPr lang="en-US" b="1" dirty="0" smtClean="0"/>
              <a:t>Employee and Department</a:t>
            </a:r>
            <a:endParaRPr lang="en-US" b="1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73392180"/>
              </p:ext>
            </p:extLst>
          </p:nvPr>
        </p:nvGraphicFramePr>
        <p:xfrm>
          <a:off x="2057400" y="883482"/>
          <a:ext cx="3747247" cy="20574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262635"/>
                <a:gridCol w="1262635"/>
                <a:gridCol w="1221977"/>
              </a:tblGrid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EMP_ID</a:t>
                      </a:r>
                      <a:endParaRPr lang="en-US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14300" marR="114300" marT="114300" marB="1143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EMP_NAME</a:t>
                      </a:r>
                      <a:endParaRPr lang="en-US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14300" marR="114300" marT="114300" marB="1143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EMP_DEPT</a:t>
                      </a:r>
                      <a:endParaRPr lang="en-US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14300" marR="114300" marT="114300" marB="114300"/>
                </a:tc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1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Smith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A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2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Harry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C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3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John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dirty="0">
                          <a:effectLst/>
                        </a:rPr>
                        <a:t>B</a:t>
                      </a:r>
                      <a:endParaRPr lang="en-US" dirty="0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7362173"/>
              </p:ext>
            </p:extLst>
          </p:nvPr>
        </p:nvGraphicFramePr>
        <p:xfrm>
          <a:off x="2083904" y="3417562"/>
          <a:ext cx="3801036" cy="17830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900518"/>
                <a:gridCol w="1900518"/>
              </a:tblGrid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DEPT_NO</a:t>
                      </a:r>
                      <a:endParaRPr lang="en-US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14300" marR="114300" marT="114300" marB="1143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DEPT_NAME</a:t>
                      </a:r>
                      <a:endParaRPr lang="en-US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14300" marR="114300" marT="114300" marB="114300"/>
                </a:tc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A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dirty="0">
                          <a:effectLst/>
                        </a:rPr>
                        <a:t>Marketing</a:t>
                      </a:r>
                      <a:endParaRPr lang="en-US" dirty="0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B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Sales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C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dirty="0">
                          <a:effectLst/>
                        </a:rPr>
                        <a:t>Legal</a:t>
                      </a:r>
                      <a:endParaRPr lang="en-US" dirty="0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</a:tr>
            </a:tbl>
          </a:graphicData>
        </a:graphic>
      </p:graphicFrame>
      <p:sp>
        <p:nvSpPr>
          <p:cNvPr id="6" name="Title 1"/>
          <p:cNvSpPr txBox="1">
            <a:spLocks/>
          </p:cNvSpPr>
          <p:nvPr/>
        </p:nvSpPr>
        <p:spPr>
          <a:xfrm>
            <a:off x="1556546" y="5384475"/>
            <a:ext cx="10515600" cy="10488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Input:</a:t>
            </a:r>
            <a:endParaRPr lang="en-US" dirty="0"/>
          </a:p>
          <a:p>
            <a:r>
              <a:rPr lang="en-US" sz="3200" dirty="0"/>
              <a:t>EMPLOYEE X DEPARTMENT</a:t>
            </a:r>
            <a:r>
              <a:rPr lang="en-US" dirty="0"/>
              <a:t>  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8358261" y="263346"/>
            <a:ext cx="10515600" cy="10488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smtClean="0"/>
              <a:t>Output</a:t>
            </a:r>
            <a:endParaRPr lang="en-US" b="1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8688817"/>
              </p:ext>
            </p:extLst>
          </p:nvPr>
        </p:nvGraphicFramePr>
        <p:xfrm>
          <a:off x="6625879" y="1072179"/>
          <a:ext cx="5402000" cy="54406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080400"/>
                <a:gridCol w="1080400"/>
                <a:gridCol w="1080400"/>
                <a:gridCol w="1080400"/>
                <a:gridCol w="1080400"/>
              </a:tblGrid>
              <a:tr h="710694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EMP_ID</a:t>
                      </a:r>
                      <a:endParaRPr lang="en-US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14300" marR="114300" marT="114300" marB="1143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EMP_NAME</a:t>
                      </a:r>
                      <a:endParaRPr lang="en-US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14300" marR="114300" marT="114300" marB="1143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EMP_DEPT</a:t>
                      </a:r>
                      <a:endParaRPr lang="en-US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14300" marR="114300" marT="114300" marB="1143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DEPT_NO</a:t>
                      </a:r>
                      <a:endParaRPr lang="en-US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14300" marR="114300" marT="114300" marB="1143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DEPT_NAME</a:t>
                      </a:r>
                      <a:endParaRPr lang="en-US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14300" marR="114300" marT="114300" marB="114300"/>
                </a:tc>
              </a:tr>
              <a:tr h="641018"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1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Smith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A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A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Marketing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</a:tr>
              <a:tr h="390185"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1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Smith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A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B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Sales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</a:tr>
              <a:tr h="390185"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1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Smith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A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C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Legal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</a:tr>
              <a:tr h="641018"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2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Harry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C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A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Marketing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</a:tr>
              <a:tr h="390185"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2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Harry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C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B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Sales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</a:tr>
              <a:tr h="390185"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2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Harry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C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C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Legal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</a:tr>
              <a:tr h="641018"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3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John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B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A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Marketing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</a:tr>
              <a:tr h="390185"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3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John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B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B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Sales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</a:tr>
              <a:tr h="390185"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3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John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B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effectLst/>
                        </a:rPr>
                        <a:t>C</a:t>
                      </a:r>
                      <a:endParaRPr lang="en-US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dirty="0">
                          <a:effectLst/>
                        </a:rPr>
                        <a:t>Legal</a:t>
                      </a:r>
                      <a:endParaRPr lang="en-US" dirty="0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6200" marR="76200" marT="76200" marB="76200"/>
                </a:tc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D67B2-A085-47AC-8E42-41BA4906EF7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037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Rename Operation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rename operation is used to rename the output relation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/>
              <a:t>It is denoted by </a:t>
            </a:r>
            <a:r>
              <a:rPr lang="en-US" b="1" dirty="0"/>
              <a:t>rho</a:t>
            </a:r>
            <a:r>
              <a:rPr lang="en-US" dirty="0"/>
              <a:t> (ρ).</a:t>
            </a:r>
          </a:p>
          <a:p>
            <a:r>
              <a:rPr lang="en-US" b="1" dirty="0"/>
              <a:t>Example:</a:t>
            </a:r>
            <a:r>
              <a:rPr lang="en-US" dirty="0"/>
              <a:t> </a:t>
            </a:r>
            <a:endParaRPr lang="en-US" dirty="0" smtClean="0"/>
          </a:p>
          <a:p>
            <a:pPr lvl="1"/>
            <a:r>
              <a:rPr lang="en-US" dirty="0" smtClean="0"/>
              <a:t>We </a:t>
            </a:r>
            <a:r>
              <a:rPr lang="en-US" dirty="0"/>
              <a:t>can use the rename operator to rename STUDENT relation to STUDENT1.</a:t>
            </a:r>
          </a:p>
          <a:p>
            <a:r>
              <a:rPr lang="en-US" dirty="0"/>
              <a:t>ρ(STUDENT1, STUDENT)  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D67B2-A085-47AC-8E42-41BA4906EF73}" type="slidenum">
              <a:rPr lang="en-US" smtClean="0"/>
              <a:t>15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6396863"/>
              </p:ext>
            </p:extLst>
          </p:nvPr>
        </p:nvGraphicFramePr>
        <p:xfrm>
          <a:off x="2032001" y="4732500"/>
          <a:ext cx="4716531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177"/>
                <a:gridCol w="1572177"/>
                <a:gridCol w="1572177"/>
              </a:tblGrid>
              <a:tr h="353484">
                <a:tc>
                  <a:txBody>
                    <a:bodyPr/>
                    <a:lstStyle/>
                    <a:p>
                      <a:r>
                        <a:rPr lang="en-US" dirty="0" smtClean="0"/>
                        <a:t>Roll No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Adress</a:t>
                      </a:r>
                      <a:endParaRPr lang="en-US" dirty="0"/>
                    </a:p>
                  </a:txBody>
                  <a:tcPr/>
                </a:tc>
              </a:tr>
              <a:tr h="35348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5348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5348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itle 1"/>
          <p:cNvSpPr txBox="1">
            <a:spLocks/>
          </p:cNvSpPr>
          <p:nvPr/>
        </p:nvSpPr>
        <p:spPr>
          <a:xfrm>
            <a:off x="3595331" y="4145825"/>
            <a:ext cx="1491824" cy="27913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dirty="0" smtClean="0"/>
              <a:t>Student</a:t>
            </a:r>
            <a:br>
              <a:rPr lang="en-US" sz="2400" dirty="0" smtClean="0"/>
            </a:br>
            <a:r>
              <a:rPr lang="en-US" sz="2400" dirty="0" smtClean="0"/>
              <a:t>				</a:t>
            </a:r>
            <a:endParaRPr lang="en-US" sz="2400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7056486"/>
              </p:ext>
            </p:extLst>
          </p:nvPr>
        </p:nvGraphicFramePr>
        <p:xfrm>
          <a:off x="6949584" y="4700876"/>
          <a:ext cx="4716531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177"/>
                <a:gridCol w="1572177"/>
                <a:gridCol w="1572177"/>
              </a:tblGrid>
              <a:tr h="353484">
                <a:tc>
                  <a:txBody>
                    <a:bodyPr/>
                    <a:lstStyle/>
                    <a:p>
                      <a:r>
                        <a:rPr lang="en-US" dirty="0" smtClean="0"/>
                        <a:t>Roll No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Adress</a:t>
                      </a:r>
                      <a:endParaRPr lang="en-US" dirty="0"/>
                    </a:p>
                  </a:txBody>
                  <a:tcPr/>
                </a:tc>
              </a:tr>
              <a:tr h="35348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5348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5348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itle 1"/>
          <p:cNvSpPr txBox="1">
            <a:spLocks/>
          </p:cNvSpPr>
          <p:nvPr/>
        </p:nvSpPr>
        <p:spPr>
          <a:xfrm>
            <a:off x="8512914" y="4114201"/>
            <a:ext cx="1491824" cy="27913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dirty="0" smtClean="0"/>
              <a:t>Student1</a:t>
            </a:r>
            <a:br>
              <a:rPr lang="en-US" sz="2400" dirty="0" smtClean="0"/>
            </a:br>
            <a:r>
              <a:rPr lang="en-US" sz="2400" dirty="0" smtClean="0"/>
              <a:t>				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716543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86</TotalTime>
  <Words>592</Words>
  <Application>Microsoft Office PowerPoint</Application>
  <PresentationFormat>Widescreen</PresentationFormat>
  <Paragraphs>350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Arial</vt:lpstr>
      <vt:lpstr>Calibri</vt:lpstr>
      <vt:lpstr>Century Gothic</vt:lpstr>
      <vt:lpstr>inter-bold</vt:lpstr>
      <vt:lpstr>inter-regular</vt:lpstr>
      <vt:lpstr>times new roman</vt:lpstr>
      <vt:lpstr>times new roman</vt:lpstr>
      <vt:lpstr>Wingdings 3</vt:lpstr>
      <vt:lpstr>Wisp</vt:lpstr>
      <vt:lpstr>Relational Algebra </vt:lpstr>
      <vt:lpstr>Types of Relational operation </vt:lpstr>
      <vt:lpstr>Select Operation </vt:lpstr>
      <vt:lpstr>For example Loan Relation</vt:lpstr>
      <vt:lpstr>Project Operation</vt:lpstr>
      <vt:lpstr>Example Customer Relation </vt:lpstr>
      <vt:lpstr>Union Operation </vt:lpstr>
      <vt:lpstr>Example  Depositor And Borrow Relation </vt:lpstr>
      <vt:lpstr>Set Intersection </vt:lpstr>
      <vt:lpstr>Example Depositor And Borrow Relation </vt:lpstr>
      <vt:lpstr>Set Difference</vt:lpstr>
      <vt:lpstr>Example Depositor And Borrow Relation </vt:lpstr>
      <vt:lpstr>Cartesian product </vt:lpstr>
      <vt:lpstr>Example Employee and Department</vt:lpstr>
      <vt:lpstr>Rename Operation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Windows User</cp:lastModifiedBy>
  <cp:revision>19</cp:revision>
  <dcterms:created xsi:type="dcterms:W3CDTF">2022-10-27T07:05:02Z</dcterms:created>
  <dcterms:modified xsi:type="dcterms:W3CDTF">2025-07-18T04:38:01Z</dcterms:modified>
</cp:coreProperties>
</file>