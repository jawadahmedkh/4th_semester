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2" d="100"/>
          <a:sy n="42" d="100"/>
        </p:scale>
        <p:origin x="918" y="5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8768" y="2016171"/>
            <a:ext cx="4671695" cy="41040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51828" y="2016171"/>
            <a:ext cx="4192270" cy="41040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303402"/>
            <a:ext cx="9222740" cy="1300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939" y="1791969"/>
            <a:ext cx="10205085" cy="3779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80057" y="1656079"/>
            <a:ext cx="8234045" cy="1763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" algn="ctr">
              <a:lnSpc>
                <a:spcPts val="6840"/>
              </a:lnSpc>
              <a:spcBef>
                <a:spcPts val="100"/>
              </a:spcBef>
            </a:pPr>
            <a:r>
              <a:rPr sz="6000" b="1" spc="-250" dirty="0">
                <a:latin typeface="Trebuchet MS"/>
                <a:cs typeface="Trebuchet MS"/>
              </a:rPr>
              <a:t>Computer</a:t>
            </a:r>
            <a:r>
              <a:rPr sz="6000" b="1" spc="-590" dirty="0">
                <a:latin typeface="Trebuchet MS"/>
                <a:cs typeface="Trebuchet MS"/>
              </a:rPr>
              <a:t> </a:t>
            </a:r>
            <a:r>
              <a:rPr sz="6000" b="1" spc="-75" dirty="0">
                <a:latin typeface="Trebuchet MS"/>
                <a:cs typeface="Trebuchet MS"/>
              </a:rPr>
              <a:t>Networks</a:t>
            </a:r>
            <a:endParaRPr sz="6000">
              <a:latin typeface="Trebuchet MS"/>
              <a:cs typeface="Trebuchet MS"/>
            </a:endParaRPr>
          </a:p>
          <a:p>
            <a:pPr algn="ctr">
              <a:lnSpc>
                <a:spcPts val="6840"/>
              </a:lnSpc>
            </a:pPr>
            <a:r>
              <a:rPr sz="6000" spc="-285" dirty="0"/>
              <a:t>[</a:t>
            </a:r>
            <a:r>
              <a:rPr sz="5300" i="1" spc="-285" dirty="0">
                <a:latin typeface="Trebuchet MS"/>
                <a:cs typeface="Trebuchet MS"/>
              </a:rPr>
              <a:t>Types</a:t>
            </a:r>
            <a:r>
              <a:rPr sz="5300" i="1" spc="-570" dirty="0">
                <a:latin typeface="Trebuchet MS"/>
                <a:cs typeface="Trebuchet MS"/>
              </a:rPr>
              <a:t> </a:t>
            </a:r>
            <a:r>
              <a:rPr sz="5300" i="1" spc="-405" dirty="0">
                <a:latin typeface="Trebuchet MS"/>
                <a:cs typeface="Trebuchet MS"/>
              </a:rPr>
              <a:t>of</a:t>
            </a:r>
            <a:r>
              <a:rPr sz="5300" i="1" spc="-555" dirty="0">
                <a:latin typeface="Trebuchet MS"/>
                <a:cs typeface="Trebuchet MS"/>
              </a:rPr>
              <a:t> </a:t>
            </a:r>
            <a:r>
              <a:rPr sz="5300" i="1" spc="-235" dirty="0">
                <a:latin typeface="Trebuchet MS"/>
                <a:cs typeface="Trebuchet MS"/>
              </a:rPr>
              <a:t>Transmission</a:t>
            </a:r>
            <a:r>
              <a:rPr sz="5300" i="1" spc="-540" dirty="0">
                <a:latin typeface="Trebuchet MS"/>
                <a:cs typeface="Trebuchet MS"/>
              </a:rPr>
              <a:t> </a:t>
            </a:r>
            <a:r>
              <a:rPr sz="5300" i="1" spc="-300" dirty="0">
                <a:latin typeface="Trebuchet MS"/>
                <a:cs typeface="Trebuchet MS"/>
              </a:rPr>
              <a:t>Media</a:t>
            </a:r>
            <a:r>
              <a:rPr sz="6000" spc="-300" dirty="0"/>
              <a:t>]</a:t>
            </a:r>
            <a:endParaRPr sz="6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5155"/>
            <a:ext cx="3878579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10" dirty="0"/>
              <a:t>Network</a:t>
            </a:r>
            <a:r>
              <a:rPr spc="-445" dirty="0"/>
              <a:t> </a:t>
            </a:r>
            <a:r>
              <a:rPr spc="-65" dirty="0"/>
              <a:t>Devices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6542"/>
            <a:ext cx="10359390" cy="1492885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241300" marR="5080" indent="-229235" algn="just">
              <a:lnSpc>
                <a:spcPct val="90000"/>
              </a:lnSpc>
              <a:spcBef>
                <a:spcPts val="41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Trebuchet MS"/>
                <a:cs typeface="Trebuchet MS"/>
              </a:rPr>
              <a:t>Transmission</a:t>
            </a:r>
            <a:r>
              <a:rPr sz="2600" spc="31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media</a:t>
            </a:r>
            <a:r>
              <a:rPr sz="2600" spc="31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is</a:t>
            </a:r>
            <a:r>
              <a:rPr sz="2600" spc="30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the</a:t>
            </a:r>
            <a:r>
              <a:rPr sz="2600" spc="30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physical</a:t>
            </a:r>
            <a:r>
              <a:rPr sz="2600" spc="31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medium</a:t>
            </a:r>
            <a:r>
              <a:rPr sz="2600" spc="31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through</a:t>
            </a:r>
            <a:r>
              <a:rPr sz="2600" spc="31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which</a:t>
            </a:r>
            <a:r>
              <a:rPr sz="2600" spc="31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data</a:t>
            </a:r>
            <a:r>
              <a:rPr sz="2600" spc="310" dirty="0">
                <a:latin typeface="Trebuchet MS"/>
                <a:cs typeface="Trebuchet MS"/>
              </a:rPr>
              <a:t> </a:t>
            </a:r>
            <a:r>
              <a:rPr sz="2600" spc="25" dirty="0">
                <a:latin typeface="Trebuchet MS"/>
                <a:cs typeface="Trebuchet MS"/>
              </a:rPr>
              <a:t>is </a:t>
            </a:r>
            <a:r>
              <a:rPr sz="2600" spc="-70" dirty="0">
                <a:latin typeface="Trebuchet MS"/>
                <a:cs typeface="Trebuchet MS"/>
              </a:rPr>
              <a:t>transmitted</a:t>
            </a:r>
            <a:r>
              <a:rPr sz="2600" spc="-130" dirty="0">
                <a:latin typeface="Trebuchet MS"/>
                <a:cs typeface="Trebuchet MS"/>
              </a:rPr>
              <a:t> </a:t>
            </a:r>
            <a:r>
              <a:rPr sz="2600" spc="-80" dirty="0">
                <a:latin typeface="Trebuchet MS"/>
                <a:cs typeface="Trebuchet MS"/>
              </a:rPr>
              <a:t>from</a:t>
            </a:r>
            <a:r>
              <a:rPr sz="2600" spc="-114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one</a:t>
            </a:r>
            <a:r>
              <a:rPr sz="2600" spc="-110" dirty="0">
                <a:latin typeface="Trebuchet MS"/>
                <a:cs typeface="Trebuchet MS"/>
              </a:rPr>
              <a:t> </a:t>
            </a:r>
            <a:r>
              <a:rPr sz="2600" spc="-30" dirty="0">
                <a:latin typeface="Trebuchet MS"/>
                <a:cs typeface="Trebuchet MS"/>
              </a:rPr>
              <a:t>device</a:t>
            </a:r>
            <a:r>
              <a:rPr sz="2600" spc="-120" dirty="0">
                <a:latin typeface="Trebuchet MS"/>
                <a:cs typeface="Trebuchet MS"/>
              </a:rPr>
              <a:t> </a:t>
            </a:r>
            <a:r>
              <a:rPr sz="2600" spc="-90" dirty="0">
                <a:latin typeface="Trebuchet MS"/>
                <a:cs typeface="Trebuchet MS"/>
              </a:rPr>
              <a:t>to</a:t>
            </a:r>
            <a:r>
              <a:rPr sz="2600" spc="-105" dirty="0">
                <a:latin typeface="Trebuchet MS"/>
                <a:cs typeface="Trebuchet MS"/>
              </a:rPr>
              <a:t> </a:t>
            </a:r>
            <a:r>
              <a:rPr sz="2600" spc="-45" dirty="0">
                <a:latin typeface="Trebuchet MS"/>
                <a:cs typeface="Trebuchet MS"/>
              </a:rPr>
              <a:t>another</a:t>
            </a:r>
            <a:r>
              <a:rPr sz="2600" spc="-110" dirty="0">
                <a:latin typeface="Trebuchet MS"/>
                <a:cs typeface="Trebuchet MS"/>
              </a:rPr>
              <a:t> </a:t>
            </a:r>
            <a:r>
              <a:rPr sz="2600" spc="-95" dirty="0">
                <a:latin typeface="Trebuchet MS"/>
                <a:cs typeface="Trebuchet MS"/>
              </a:rPr>
              <a:t>within</a:t>
            </a:r>
            <a:r>
              <a:rPr sz="2600" spc="-10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a</a:t>
            </a:r>
            <a:r>
              <a:rPr sz="2600" spc="-114" dirty="0">
                <a:latin typeface="Trebuchet MS"/>
                <a:cs typeface="Trebuchet MS"/>
              </a:rPr>
              <a:t> </a:t>
            </a:r>
            <a:r>
              <a:rPr sz="2600" spc="-95" dirty="0">
                <a:latin typeface="Trebuchet MS"/>
                <a:cs typeface="Trebuchet MS"/>
              </a:rPr>
              <a:t>network.</a:t>
            </a:r>
            <a:r>
              <a:rPr sz="2600" spc="-105" dirty="0">
                <a:latin typeface="Trebuchet MS"/>
                <a:cs typeface="Trebuchet MS"/>
              </a:rPr>
              <a:t> </a:t>
            </a:r>
            <a:r>
              <a:rPr sz="2600" spc="-20" dirty="0">
                <a:latin typeface="Trebuchet MS"/>
                <a:cs typeface="Trebuchet MS"/>
              </a:rPr>
              <a:t>These</a:t>
            </a:r>
            <a:r>
              <a:rPr sz="2600" spc="-110" dirty="0">
                <a:latin typeface="Trebuchet MS"/>
                <a:cs typeface="Trebuchet MS"/>
              </a:rPr>
              <a:t> </a:t>
            </a:r>
            <a:r>
              <a:rPr sz="2600" spc="-10" dirty="0">
                <a:latin typeface="Trebuchet MS"/>
                <a:cs typeface="Trebuchet MS"/>
              </a:rPr>
              <a:t>media </a:t>
            </a:r>
            <a:r>
              <a:rPr sz="2600" dirty="0">
                <a:latin typeface="Trebuchet MS"/>
                <a:cs typeface="Trebuchet MS"/>
              </a:rPr>
              <a:t>can</a:t>
            </a:r>
            <a:r>
              <a:rPr sz="2600" spc="-200" dirty="0">
                <a:latin typeface="Trebuchet MS"/>
                <a:cs typeface="Trebuchet MS"/>
              </a:rPr>
              <a:t> </a:t>
            </a:r>
            <a:r>
              <a:rPr sz="2600" spc="-90" dirty="0">
                <a:latin typeface="Trebuchet MS"/>
                <a:cs typeface="Trebuchet MS"/>
              </a:rPr>
              <a:t>be</a:t>
            </a:r>
            <a:r>
              <a:rPr sz="2600" spc="-105" dirty="0">
                <a:latin typeface="Trebuchet MS"/>
                <a:cs typeface="Trebuchet MS"/>
              </a:rPr>
              <a:t> </a:t>
            </a:r>
            <a:r>
              <a:rPr sz="2600" spc="-120" dirty="0">
                <a:latin typeface="Trebuchet MS"/>
                <a:cs typeface="Trebuchet MS"/>
              </a:rPr>
              <a:t>wired</a:t>
            </a:r>
            <a:r>
              <a:rPr sz="2600" spc="-80" dirty="0">
                <a:latin typeface="Trebuchet MS"/>
                <a:cs typeface="Trebuchet MS"/>
              </a:rPr>
              <a:t> </a:t>
            </a:r>
            <a:r>
              <a:rPr sz="2600" spc="-170" dirty="0">
                <a:latin typeface="Trebuchet MS"/>
                <a:cs typeface="Trebuchet MS"/>
              </a:rPr>
              <a:t>or</a:t>
            </a:r>
            <a:r>
              <a:rPr sz="2600" spc="-25" dirty="0">
                <a:latin typeface="Trebuchet MS"/>
                <a:cs typeface="Trebuchet MS"/>
              </a:rPr>
              <a:t> </a:t>
            </a:r>
            <a:r>
              <a:rPr sz="2600" spc="-60" dirty="0">
                <a:latin typeface="Trebuchet MS"/>
                <a:cs typeface="Trebuchet MS"/>
              </a:rPr>
              <a:t>wireless.</a:t>
            </a:r>
            <a:r>
              <a:rPr sz="2600" spc="-135" dirty="0">
                <a:latin typeface="Trebuchet MS"/>
                <a:cs typeface="Trebuchet MS"/>
              </a:rPr>
              <a:t> </a:t>
            </a:r>
            <a:r>
              <a:rPr sz="2600" spc="-180" dirty="0">
                <a:latin typeface="Trebuchet MS"/>
                <a:cs typeface="Trebuchet MS"/>
              </a:rPr>
              <a:t>The</a:t>
            </a:r>
            <a:r>
              <a:rPr sz="2600" spc="-20" dirty="0">
                <a:latin typeface="Trebuchet MS"/>
                <a:cs typeface="Trebuchet MS"/>
              </a:rPr>
              <a:t> </a:t>
            </a:r>
            <a:r>
              <a:rPr sz="2600" spc="-10" dirty="0">
                <a:latin typeface="Trebuchet MS"/>
                <a:cs typeface="Trebuchet MS"/>
              </a:rPr>
              <a:t>choice</a:t>
            </a:r>
            <a:r>
              <a:rPr sz="2600" spc="-185" dirty="0">
                <a:latin typeface="Trebuchet MS"/>
                <a:cs typeface="Trebuchet MS"/>
              </a:rPr>
              <a:t> </a:t>
            </a:r>
            <a:r>
              <a:rPr sz="2600" spc="-204" dirty="0">
                <a:latin typeface="Trebuchet MS"/>
                <a:cs typeface="Trebuchet MS"/>
              </a:rPr>
              <a:t>of</a:t>
            </a:r>
            <a:r>
              <a:rPr sz="2600" spc="10" dirty="0">
                <a:latin typeface="Trebuchet MS"/>
                <a:cs typeface="Trebuchet MS"/>
              </a:rPr>
              <a:t> </a:t>
            </a:r>
            <a:r>
              <a:rPr sz="2600" spc="-30" dirty="0">
                <a:latin typeface="Trebuchet MS"/>
                <a:cs typeface="Trebuchet MS"/>
              </a:rPr>
              <a:t>medium</a:t>
            </a:r>
            <a:r>
              <a:rPr sz="2600" spc="-17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depends</a:t>
            </a:r>
            <a:r>
              <a:rPr sz="2600" spc="-100" dirty="0">
                <a:latin typeface="Trebuchet MS"/>
                <a:cs typeface="Trebuchet MS"/>
              </a:rPr>
              <a:t> </a:t>
            </a:r>
            <a:r>
              <a:rPr sz="2600" spc="-20" dirty="0">
                <a:latin typeface="Trebuchet MS"/>
                <a:cs typeface="Trebuchet MS"/>
              </a:rPr>
              <a:t>on</a:t>
            </a:r>
            <a:r>
              <a:rPr sz="2600" spc="-90" dirty="0">
                <a:latin typeface="Trebuchet MS"/>
                <a:cs typeface="Trebuchet MS"/>
              </a:rPr>
              <a:t> </a:t>
            </a:r>
            <a:r>
              <a:rPr sz="2600" spc="-70" dirty="0">
                <a:latin typeface="Trebuchet MS"/>
                <a:cs typeface="Trebuchet MS"/>
              </a:rPr>
              <a:t>factors</a:t>
            </a:r>
            <a:r>
              <a:rPr sz="2600" spc="-114" dirty="0">
                <a:latin typeface="Trebuchet MS"/>
                <a:cs typeface="Trebuchet MS"/>
              </a:rPr>
              <a:t> </a:t>
            </a:r>
            <a:r>
              <a:rPr sz="2600" spc="-20" dirty="0">
                <a:latin typeface="Trebuchet MS"/>
                <a:cs typeface="Trebuchet MS"/>
              </a:rPr>
              <a:t>like </a:t>
            </a:r>
            <a:r>
              <a:rPr sz="2600" spc="-50" dirty="0">
                <a:latin typeface="Trebuchet MS"/>
                <a:cs typeface="Trebuchet MS"/>
              </a:rPr>
              <a:t>distance,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25" dirty="0">
                <a:latin typeface="Trebuchet MS"/>
                <a:cs typeface="Trebuchet MS"/>
              </a:rPr>
              <a:t>speed,</a:t>
            </a:r>
            <a:r>
              <a:rPr sz="2600" spc="-21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and</a:t>
            </a:r>
            <a:r>
              <a:rPr sz="2600" spc="-215" dirty="0">
                <a:latin typeface="Trebuchet MS"/>
                <a:cs typeface="Trebuchet MS"/>
              </a:rPr>
              <a:t> </a:t>
            </a:r>
            <a:r>
              <a:rPr sz="2600" spc="-20" dirty="0">
                <a:latin typeface="Trebuchet MS"/>
                <a:cs typeface="Trebuchet MS"/>
              </a:rPr>
              <a:t>interference.</a:t>
            </a:r>
            <a:endParaRPr sz="2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0"/>
              </a:spcBef>
            </a:pPr>
            <a:r>
              <a:rPr spc="-185" dirty="0"/>
              <a:t>What</a:t>
            </a:r>
            <a:r>
              <a:rPr spc="-459" dirty="0"/>
              <a:t> </a:t>
            </a:r>
            <a:r>
              <a:rPr spc="-40" dirty="0"/>
              <a:t>is</a:t>
            </a:r>
            <a:r>
              <a:rPr spc="-440" dirty="0"/>
              <a:t> </a:t>
            </a:r>
            <a:r>
              <a:rPr spc="-155" dirty="0"/>
              <a:t>Transmission</a:t>
            </a:r>
            <a:r>
              <a:rPr spc="-475" dirty="0"/>
              <a:t> </a:t>
            </a:r>
            <a:r>
              <a:rPr spc="-150" dirty="0"/>
              <a:t>Media</a:t>
            </a:r>
            <a:r>
              <a:rPr spc="-440" dirty="0"/>
              <a:t> </a:t>
            </a:r>
            <a:r>
              <a:rPr spc="-260" dirty="0"/>
              <a:t>in</a:t>
            </a:r>
            <a:r>
              <a:rPr spc="-434" dirty="0"/>
              <a:t> </a:t>
            </a:r>
            <a:r>
              <a:rPr spc="-140" dirty="0"/>
              <a:t>Computer </a:t>
            </a:r>
            <a:r>
              <a:rPr spc="-10" dirty="0"/>
              <a:t>Networks?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1969"/>
            <a:ext cx="10170160" cy="173101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029" marR="164465" indent="-227965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25" dirty="0">
                <a:latin typeface="Trebuchet MS"/>
                <a:cs typeface="Trebuchet MS"/>
              </a:rPr>
              <a:t>A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transmission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35" dirty="0">
                <a:latin typeface="Trebuchet MS"/>
                <a:cs typeface="Trebuchet MS"/>
              </a:rPr>
              <a:t>media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is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physical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65" dirty="0">
                <a:latin typeface="Trebuchet MS"/>
                <a:cs typeface="Trebuchet MS"/>
              </a:rPr>
              <a:t>path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80" dirty="0">
                <a:latin typeface="Trebuchet MS"/>
                <a:cs typeface="Trebuchet MS"/>
              </a:rPr>
              <a:t>between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the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55" dirty="0">
                <a:latin typeface="Trebuchet MS"/>
                <a:cs typeface="Trebuchet MS"/>
              </a:rPr>
              <a:t>transmitter 	</a:t>
            </a:r>
            <a:r>
              <a:rPr sz="2800" dirty="0">
                <a:latin typeface="Trebuchet MS"/>
                <a:cs typeface="Trebuchet MS"/>
              </a:rPr>
              <a:t>and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the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receiver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215" dirty="0">
                <a:latin typeface="Trebuchet MS"/>
                <a:cs typeface="Trebuchet MS"/>
              </a:rPr>
              <a:t>i.e.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180" dirty="0">
                <a:latin typeface="Trebuchet MS"/>
                <a:cs typeface="Trebuchet MS"/>
              </a:rPr>
              <a:t>it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is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the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path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30" dirty="0">
                <a:latin typeface="Trebuchet MS"/>
                <a:cs typeface="Trebuchet MS"/>
              </a:rPr>
              <a:t>along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40" dirty="0">
                <a:latin typeface="Trebuchet MS"/>
                <a:cs typeface="Trebuchet MS"/>
              </a:rPr>
              <a:t>which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data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is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sent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from 	</a:t>
            </a:r>
            <a:r>
              <a:rPr sz="2800" dirty="0">
                <a:latin typeface="Trebuchet MS"/>
                <a:cs typeface="Trebuchet MS"/>
              </a:rPr>
              <a:t>one</a:t>
            </a:r>
            <a:r>
              <a:rPr sz="2800" spc="-265" dirty="0">
                <a:latin typeface="Trebuchet MS"/>
                <a:cs typeface="Trebuchet MS"/>
              </a:rPr>
              <a:t> </a:t>
            </a:r>
            <a:r>
              <a:rPr sz="2800" spc="-50" dirty="0">
                <a:latin typeface="Trebuchet MS"/>
                <a:cs typeface="Trebuchet MS"/>
              </a:rPr>
              <a:t>device</a:t>
            </a:r>
            <a:r>
              <a:rPr sz="2800" spc="-260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to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another.</a:t>
            </a:r>
            <a:endParaRPr sz="2800">
              <a:latin typeface="Trebuchet MS"/>
              <a:cs typeface="Trebuchet MS"/>
            </a:endParaRPr>
          </a:p>
          <a:p>
            <a:pPr marL="314325" indent="-301625">
              <a:lnSpc>
                <a:spcPct val="100000"/>
              </a:lnSpc>
              <a:spcBef>
                <a:spcPts val="625"/>
              </a:spcBef>
              <a:buFont typeface="Arial MT"/>
              <a:buChar char="•"/>
              <a:tabLst>
                <a:tab pos="314325" algn="l"/>
              </a:tabLst>
            </a:pPr>
            <a:r>
              <a:rPr sz="2800" spc="-25" dirty="0">
                <a:latin typeface="Trebuchet MS"/>
                <a:cs typeface="Trebuchet MS"/>
              </a:rPr>
              <a:t>Transmission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Media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is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broadly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classified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95" dirty="0">
                <a:latin typeface="Trebuchet MS"/>
                <a:cs typeface="Trebuchet MS"/>
              </a:rPr>
              <a:t>into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the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following</a:t>
            </a:r>
            <a:r>
              <a:rPr sz="2800" spc="-20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types.</a:t>
            </a:r>
            <a:endParaRPr sz="28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71721" y="3862006"/>
            <a:ext cx="4039108" cy="23149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5155"/>
            <a:ext cx="315468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95" dirty="0"/>
              <a:t>Guided</a:t>
            </a:r>
            <a:r>
              <a:rPr spc="-420" dirty="0"/>
              <a:t> </a:t>
            </a:r>
            <a:r>
              <a:rPr spc="-110" dirty="0"/>
              <a:t>Media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1969"/>
            <a:ext cx="9872980" cy="3424554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029" marR="1504950" indent="-227965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20" dirty="0">
                <a:latin typeface="Trebuchet MS"/>
                <a:cs typeface="Trebuchet MS"/>
              </a:rPr>
              <a:t>Guided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Media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is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also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spc="-130" dirty="0">
                <a:latin typeface="Trebuchet MS"/>
                <a:cs typeface="Trebuchet MS"/>
              </a:rPr>
              <a:t>referred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to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spc="100" dirty="0">
                <a:latin typeface="Trebuchet MS"/>
                <a:cs typeface="Trebuchet MS"/>
              </a:rPr>
              <a:t>as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Wired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75" dirty="0">
                <a:latin typeface="Trebuchet MS"/>
                <a:cs typeface="Trebuchet MS"/>
              </a:rPr>
              <a:t>or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Bounded 	</a:t>
            </a:r>
            <a:r>
              <a:rPr sz="2800" dirty="0">
                <a:latin typeface="Trebuchet MS"/>
                <a:cs typeface="Trebuchet MS"/>
              </a:rPr>
              <a:t>transmission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media.</a:t>
            </a:r>
            <a:endParaRPr sz="2800">
              <a:latin typeface="Trebuchet MS"/>
              <a:cs typeface="Trebuchet MS"/>
            </a:endParaRPr>
          </a:p>
          <a:p>
            <a:pPr marL="240029" marR="5080" indent="-227965">
              <a:lnSpc>
                <a:spcPts val="302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Trebuchet MS"/>
                <a:cs typeface="Trebuchet MS"/>
              </a:rPr>
              <a:t>Signals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being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transmitted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are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directed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and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50" dirty="0">
                <a:latin typeface="Trebuchet MS"/>
                <a:cs typeface="Trebuchet MS"/>
              </a:rPr>
              <a:t>confined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65" dirty="0">
                <a:latin typeface="Trebuchet MS"/>
                <a:cs typeface="Trebuchet MS"/>
              </a:rPr>
              <a:t>in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narrow 	</a:t>
            </a:r>
            <a:r>
              <a:rPr sz="2800" spc="-70" dirty="0">
                <a:latin typeface="Trebuchet MS"/>
                <a:cs typeface="Trebuchet MS"/>
              </a:rPr>
              <a:t>pathway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75" dirty="0">
                <a:latin typeface="Trebuchet MS"/>
                <a:cs typeface="Trebuchet MS"/>
              </a:rPr>
              <a:t>by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using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physical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links.</a:t>
            </a:r>
            <a:endParaRPr sz="2800">
              <a:latin typeface="Trebuchet MS"/>
              <a:cs typeface="Trebuchet MS"/>
            </a:endParaRPr>
          </a:p>
          <a:p>
            <a:pPr marL="314325" indent="-301625">
              <a:lnSpc>
                <a:spcPct val="100000"/>
              </a:lnSpc>
              <a:spcBef>
                <a:spcPts val="630"/>
              </a:spcBef>
              <a:buFont typeface="Arial MT"/>
              <a:buChar char="•"/>
              <a:tabLst>
                <a:tab pos="314325" algn="l"/>
              </a:tabLst>
            </a:pPr>
            <a:r>
              <a:rPr sz="2800" spc="-10" dirty="0">
                <a:latin typeface="Trebuchet MS"/>
                <a:cs typeface="Trebuchet MS"/>
              </a:rPr>
              <a:t>Features:</a:t>
            </a:r>
            <a:endParaRPr sz="2800">
              <a:latin typeface="Trebuchet MS"/>
              <a:cs typeface="Trebuchet MS"/>
            </a:endParaRPr>
          </a:p>
          <a:p>
            <a:pPr marL="760730" lvl="1" indent="-290830">
              <a:lnSpc>
                <a:spcPct val="100000"/>
              </a:lnSpc>
              <a:spcBef>
                <a:spcPts val="235"/>
              </a:spcBef>
              <a:buFont typeface="Arial MT"/>
              <a:buChar char="•"/>
              <a:tabLst>
                <a:tab pos="760730" algn="l"/>
              </a:tabLst>
            </a:pPr>
            <a:r>
              <a:rPr sz="2400" spc="-25" dirty="0">
                <a:latin typeface="Trebuchet MS"/>
                <a:cs typeface="Trebuchet MS"/>
              </a:rPr>
              <a:t>High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Speed</a:t>
            </a:r>
            <a:endParaRPr sz="2400">
              <a:latin typeface="Trebuchet MS"/>
              <a:cs typeface="Trebuchet MS"/>
            </a:endParaRPr>
          </a:p>
          <a:p>
            <a:pPr marL="760730" lvl="1" indent="-290830">
              <a:lnSpc>
                <a:spcPct val="100000"/>
              </a:lnSpc>
              <a:spcBef>
                <a:spcPts val="219"/>
              </a:spcBef>
              <a:buFont typeface="Arial MT"/>
              <a:buChar char="•"/>
              <a:tabLst>
                <a:tab pos="760730" algn="l"/>
              </a:tabLst>
            </a:pPr>
            <a:r>
              <a:rPr sz="2400" spc="-10" dirty="0">
                <a:latin typeface="Trebuchet MS"/>
                <a:cs typeface="Trebuchet MS"/>
              </a:rPr>
              <a:t>Secure</a:t>
            </a:r>
            <a:endParaRPr sz="2400">
              <a:latin typeface="Trebuchet MS"/>
              <a:cs typeface="Trebuchet MS"/>
            </a:endParaRPr>
          </a:p>
          <a:p>
            <a:pPr marL="760730" lvl="1" indent="-290830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760730" algn="l"/>
              </a:tabLst>
            </a:pPr>
            <a:r>
              <a:rPr sz="2400" dirty="0">
                <a:latin typeface="Trebuchet MS"/>
                <a:cs typeface="Trebuchet MS"/>
              </a:rPr>
              <a:t>Used</a:t>
            </a:r>
            <a:r>
              <a:rPr sz="2400" spc="-155" dirty="0">
                <a:latin typeface="Trebuchet MS"/>
                <a:cs typeface="Trebuchet MS"/>
              </a:rPr>
              <a:t> </a:t>
            </a:r>
            <a:r>
              <a:rPr sz="2400" spc="-114" dirty="0">
                <a:latin typeface="Trebuchet MS"/>
                <a:cs typeface="Trebuchet MS"/>
              </a:rPr>
              <a:t>for</a:t>
            </a:r>
            <a:r>
              <a:rPr sz="2400" spc="-140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comparatively</a:t>
            </a:r>
            <a:r>
              <a:rPr sz="2400" spc="-135" dirty="0">
                <a:latin typeface="Trebuchet MS"/>
                <a:cs typeface="Trebuchet MS"/>
              </a:rPr>
              <a:t> </a:t>
            </a:r>
            <a:r>
              <a:rPr sz="2400" spc="-55" dirty="0">
                <a:latin typeface="Trebuchet MS"/>
                <a:cs typeface="Trebuchet MS"/>
              </a:rPr>
              <a:t>shorter</a:t>
            </a:r>
            <a:r>
              <a:rPr sz="2400" spc="-15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distances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5155"/>
            <a:ext cx="919607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20" dirty="0"/>
              <a:t>There</a:t>
            </a:r>
            <a:r>
              <a:rPr spc="-465" dirty="0"/>
              <a:t> </a:t>
            </a:r>
            <a:r>
              <a:rPr spc="-275" dirty="0"/>
              <a:t>are</a:t>
            </a:r>
            <a:r>
              <a:rPr spc="-459" dirty="0"/>
              <a:t> </a:t>
            </a:r>
            <a:r>
              <a:rPr spc="-30" dirty="0"/>
              <a:t>3</a:t>
            </a:r>
            <a:r>
              <a:rPr spc="-475" dirty="0"/>
              <a:t> </a:t>
            </a:r>
            <a:r>
              <a:rPr spc="-290" dirty="0"/>
              <a:t>major</a:t>
            </a:r>
            <a:r>
              <a:rPr spc="-480" dirty="0"/>
              <a:t> </a:t>
            </a:r>
            <a:r>
              <a:rPr spc="-175" dirty="0"/>
              <a:t>types</a:t>
            </a:r>
            <a:r>
              <a:rPr spc="-459" dirty="0"/>
              <a:t> </a:t>
            </a:r>
            <a:r>
              <a:rPr spc="-265" dirty="0"/>
              <a:t>of</a:t>
            </a:r>
            <a:r>
              <a:rPr spc="-459" dirty="0"/>
              <a:t> </a:t>
            </a:r>
            <a:r>
              <a:rPr spc="-195" dirty="0"/>
              <a:t>Guided</a:t>
            </a:r>
            <a:r>
              <a:rPr spc="-455" dirty="0"/>
              <a:t> </a:t>
            </a:r>
            <a:r>
              <a:rPr spc="-130" dirty="0"/>
              <a:t>Media: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07917"/>
            <a:ext cx="3283585" cy="15589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spc="-110" dirty="0">
                <a:latin typeface="Trebuchet MS"/>
                <a:cs typeface="Trebuchet MS"/>
              </a:rPr>
              <a:t>Twisted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Pair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Cable</a:t>
            </a:r>
            <a:endParaRPr sz="2800">
              <a:latin typeface="Trebuchet MS"/>
              <a:cs typeface="Trebuchet MS"/>
            </a:endParaRPr>
          </a:p>
          <a:p>
            <a:pPr marL="314325" indent="-301625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314325" algn="l"/>
              </a:tabLst>
            </a:pPr>
            <a:r>
              <a:rPr sz="2800" spc="-25" dirty="0">
                <a:latin typeface="Trebuchet MS"/>
                <a:cs typeface="Trebuchet MS"/>
              </a:rPr>
              <a:t>Coaxial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Cable</a:t>
            </a:r>
            <a:endParaRPr sz="2800">
              <a:latin typeface="Trebuchet MS"/>
              <a:cs typeface="Trebuchet MS"/>
            </a:endParaRPr>
          </a:p>
          <a:p>
            <a:pPr marL="314325" indent="-301625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314325" algn="l"/>
              </a:tabLst>
            </a:pPr>
            <a:r>
              <a:rPr sz="2800" spc="-40" dirty="0">
                <a:latin typeface="Trebuchet MS"/>
                <a:cs typeface="Trebuchet MS"/>
              </a:rPr>
              <a:t>Optical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Fiber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Cable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25144" y="605155"/>
            <a:ext cx="419989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0" dirty="0"/>
              <a:t>Twisted</a:t>
            </a:r>
            <a:r>
              <a:rPr spc="-450" dirty="0"/>
              <a:t> </a:t>
            </a:r>
            <a:r>
              <a:rPr spc="-254" dirty="0"/>
              <a:t>Pair</a:t>
            </a:r>
            <a:r>
              <a:rPr spc="-459" dirty="0"/>
              <a:t> </a:t>
            </a:r>
            <a:r>
              <a:rPr spc="-75" dirty="0"/>
              <a:t>Cable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1969"/>
            <a:ext cx="10357485" cy="303149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029" marR="5080" indent="-227965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  <a:tab pos="641985" algn="l"/>
                <a:tab pos="2127885" algn="l"/>
                <a:tab pos="2626360" algn="l"/>
                <a:tab pos="3010535" algn="l"/>
                <a:tab pos="4799965" algn="l"/>
                <a:tab pos="6423025" algn="l"/>
                <a:tab pos="8209915" algn="l"/>
                <a:tab pos="9218295" algn="l"/>
              </a:tabLst>
            </a:pPr>
            <a:r>
              <a:rPr sz="2800" spc="-25" dirty="0">
                <a:latin typeface="Trebuchet MS"/>
                <a:cs typeface="Trebuchet MS"/>
              </a:rPr>
              <a:t>It</a:t>
            </a:r>
            <a:r>
              <a:rPr sz="2800" dirty="0">
                <a:latin typeface="Trebuchet MS"/>
                <a:cs typeface="Trebuchet MS"/>
              </a:rPr>
              <a:t>	</a:t>
            </a:r>
            <a:r>
              <a:rPr sz="2800" spc="-10" dirty="0">
                <a:latin typeface="Trebuchet MS"/>
                <a:cs typeface="Trebuchet MS"/>
              </a:rPr>
              <a:t>consists</a:t>
            </a:r>
            <a:r>
              <a:rPr sz="2800" dirty="0">
                <a:latin typeface="Trebuchet MS"/>
                <a:cs typeface="Trebuchet MS"/>
              </a:rPr>
              <a:t>	</a:t>
            </a:r>
            <a:r>
              <a:rPr sz="2800" spc="-25" dirty="0">
                <a:latin typeface="Trebuchet MS"/>
                <a:cs typeface="Trebuchet MS"/>
              </a:rPr>
              <a:t>of</a:t>
            </a:r>
            <a:r>
              <a:rPr sz="2800" dirty="0">
                <a:latin typeface="Trebuchet MS"/>
                <a:cs typeface="Trebuchet MS"/>
              </a:rPr>
              <a:t>	</a:t>
            </a:r>
            <a:r>
              <a:rPr sz="2800" spc="-50" dirty="0">
                <a:latin typeface="Trebuchet MS"/>
                <a:cs typeface="Trebuchet MS"/>
              </a:rPr>
              <a:t>2</a:t>
            </a:r>
            <a:r>
              <a:rPr sz="2800" dirty="0">
                <a:latin typeface="Trebuchet MS"/>
                <a:cs typeface="Trebuchet MS"/>
              </a:rPr>
              <a:t>	</a:t>
            </a:r>
            <a:r>
              <a:rPr sz="2800" spc="-10" dirty="0">
                <a:latin typeface="Trebuchet MS"/>
                <a:cs typeface="Trebuchet MS"/>
              </a:rPr>
              <a:t>separately</a:t>
            </a:r>
            <a:r>
              <a:rPr sz="2800" dirty="0">
                <a:latin typeface="Trebuchet MS"/>
                <a:cs typeface="Trebuchet MS"/>
              </a:rPr>
              <a:t>	</a:t>
            </a:r>
            <a:r>
              <a:rPr sz="2800" spc="-10" dirty="0">
                <a:latin typeface="Trebuchet MS"/>
                <a:cs typeface="Trebuchet MS"/>
              </a:rPr>
              <a:t>insulated</a:t>
            </a:r>
            <a:r>
              <a:rPr sz="2800" dirty="0">
                <a:latin typeface="Trebuchet MS"/>
                <a:cs typeface="Trebuchet MS"/>
              </a:rPr>
              <a:t>	</a:t>
            </a:r>
            <a:r>
              <a:rPr sz="2800" spc="-10" dirty="0">
                <a:latin typeface="Trebuchet MS"/>
                <a:cs typeface="Trebuchet MS"/>
              </a:rPr>
              <a:t>conductor</a:t>
            </a:r>
            <a:r>
              <a:rPr sz="2800" dirty="0">
                <a:latin typeface="Trebuchet MS"/>
                <a:cs typeface="Trebuchet MS"/>
              </a:rPr>
              <a:t>	</a:t>
            </a:r>
            <a:r>
              <a:rPr sz="2800" spc="-10" dirty="0">
                <a:latin typeface="Trebuchet MS"/>
                <a:cs typeface="Trebuchet MS"/>
              </a:rPr>
              <a:t>wires</a:t>
            </a:r>
            <a:r>
              <a:rPr sz="2800" dirty="0">
                <a:latin typeface="Trebuchet MS"/>
                <a:cs typeface="Trebuchet MS"/>
              </a:rPr>
              <a:t>	</a:t>
            </a:r>
            <a:r>
              <a:rPr sz="2800" spc="-80" dirty="0">
                <a:latin typeface="Trebuchet MS"/>
                <a:cs typeface="Trebuchet MS"/>
              </a:rPr>
              <a:t>twisted 	</a:t>
            </a:r>
            <a:r>
              <a:rPr sz="2800" spc="-35" dirty="0">
                <a:latin typeface="Trebuchet MS"/>
                <a:cs typeface="Trebuchet MS"/>
              </a:rPr>
              <a:t>about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each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other.</a:t>
            </a:r>
            <a:endParaRPr sz="2800">
              <a:latin typeface="Trebuchet MS"/>
              <a:cs typeface="Trebuchet MS"/>
            </a:endParaRPr>
          </a:p>
          <a:p>
            <a:pPr marL="240029" marR="5715" indent="-227965">
              <a:lnSpc>
                <a:spcPts val="302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105" dirty="0">
                <a:latin typeface="Trebuchet MS"/>
                <a:cs typeface="Trebuchet MS"/>
              </a:rPr>
              <a:t>Generally,</a:t>
            </a:r>
            <a:r>
              <a:rPr sz="2800" spc="-114" dirty="0">
                <a:latin typeface="Trebuchet MS"/>
                <a:cs typeface="Trebuchet MS"/>
              </a:rPr>
              <a:t> </a:t>
            </a:r>
            <a:r>
              <a:rPr sz="2800" spc="-40" dirty="0">
                <a:latin typeface="Trebuchet MS"/>
                <a:cs typeface="Trebuchet MS"/>
              </a:rPr>
              <a:t>several</a:t>
            </a:r>
            <a:r>
              <a:rPr sz="2800" spc="-130" dirty="0">
                <a:latin typeface="Trebuchet MS"/>
                <a:cs typeface="Trebuchet MS"/>
              </a:rPr>
              <a:t> </a:t>
            </a:r>
            <a:r>
              <a:rPr sz="2800" spc="85" dirty="0">
                <a:latin typeface="Trebuchet MS"/>
                <a:cs typeface="Trebuchet MS"/>
              </a:rPr>
              <a:t>such</a:t>
            </a:r>
            <a:r>
              <a:rPr sz="2800" spc="-114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pairs</a:t>
            </a:r>
            <a:r>
              <a:rPr sz="2800" spc="-114" dirty="0">
                <a:latin typeface="Trebuchet MS"/>
                <a:cs typeface="Trebuchet MS"/>
              </a:rPr>
              <a:t> </a:t>
            </a:r>
            <a:r>
              <a:rPr sz="2800" spc="-55" dirty="0">
                <a:latin typeface="Trebuchet MS"/>
                <a:cs typeface="Trebuchet MS"/>
              </a:rPr>
              <a:t>are</a:t>
            </a:r>
            <a:r>
              <a:rPr sz="2800" spc="-12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bundled</a:t>
            </a:r>
            <a:r>
              <a:rPr sz="2800" spc="-114" dirty="0">
                <a:latin typeface="Trebuchet MS"/>
                <a:cs typeface="Trebuchet MS"/>
              </a:rPr>
              <a:t> </a:t>
            </a:r>
            <a:r>
              <a:rPr sz="2800" spc="-95" dirty="0">
                <a:latin typeface="Trebuchet MS"/>
                <a:cs typeface="Trebuchet MS"/>
              </a:rPr>
              <a:t>together</a:t>
            </a:r>
            <a:r>
              <a:rPr sz="2800" spc="-11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in</a:t>
            </a:r>
            <a:r>
              <a:rPr sz="2800" spc="-12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</a:t>
            </a:r>
            <a:r>
              <a:rPr sz="2800" spc="-114" dirty="0">
                <a:latin typeface="Trebuchet MS"/>
                <a:cs typeface="Trebuchet MS"/>
              </a:rPr>
              <a:t> </a:t>
            </a:r>
            <a:r>
              <a:rPr sz="2800" spc="-55" dirty="0">
                <a:latin typeface="Trebuchet MS"/>
                <a:cs typeface="Trebuchet MS"/>
              </a:rPr>
              <a:t>protective 	sheath.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130" dirty="0">
                <a:latin typeface="Trebuchet MS"/>
                <a:cs typeface="Trebuchet MS"/>
              </a:rPr>
              <a:t>They</a:t>
            </a:r>
            <a:r>
              <a:rPr sz="2800" spc="-190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are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the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most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95" dirty="0">
                <a:latin typeface="Trebuchet MS"/>
                <a:cs typeface="Trebuchet MS"/>
              </a:rPr>
              <a:t>widely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used</a:t>
            </a:r>
            <a:r>
              <a:rPr sz="2800" spc="-200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Transmission</a:t>
            </a:r>
            <a:r>
              <a:rPr sz="2800" spc="-19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Media.</a:t>
            </a:r>
            <a:endParaRPr sz="2800">
              <a:latin typeface="Trebuchet MS"/>
              <a:cs typeface="Trebuchet MS"/>
            </a:endParaRPr>
          </a:p>
          <a:p>
            <a:pPr marL="240665" indent="-227965">
              <a:lnSpc>
                <a:spcPct val="100000"/>
              </a:lnSpc>
              <a:spcBef>
                <a:spcPts val="630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spc="-110" dirty="0">
                <a:latin typeface="Trebuchet MS"/>
                <a:cs typeface="Trebuchet MS"/>
              </a:rPr>
              <a:t>Twisted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Pair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is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95" dirty="0">
                <a:latin typeface="Trebuchet MS"/>
                <a:cs typeface="Trebuchet MS"/>
              </a:rPr>
              <a:t>of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two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types:</a:t>
            </a:r>
            <a:endParaRPr sz="2800">
              <a:latin typeface="Trebuchet MS"/>
              <a:cs typeface="Trebuchet MS"/>
            </a:endParaRPr>
          </a:p>
          <a:p>
            <a:pPr marL="697230" lvl="1" indent="-227329">
              <a:lnSpc>
                <a:spcPct val="100000"/>
              </a:lnSpc>
              <a:spcBef>
                <a:spcPts val="235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spc="-10" dirty="0">
                <a:latin typeface="Trebuchet MS"/>
                <a:cs typeface="Trebuchet MS"/>
              </a:rPr>
              <a:t>Unshielded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95" dirty="0">
                <a:latin typeface="Trebuchet MS"/>
                <a:cs typeface="Trebuchet MS"/>
              </a:rPr>
              <a:t>Twisted</a:t>
            </a:r>
            <a:r>
              <a:rPr sz="2400" spc="-220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Pair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(UTP)</a:t>
            </a:r>
            <a:endParaRPr sz="2400">
              <a:latin typeface="Trebuchet MS"/>
              <a:cs typeface="Trebuchet MS"/>
            </a:endParaRPr>
          </a:p>
          <a:p>
            <a:pPr marL="697230" lvl="1" indent="-227329">
              <a:lnSpc>
                <a:spcPct val="100000"/>
              </a:lnSpc>
              <a:spcBef>
                <a:spcPts val="219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spc="-25" dirty="0">
                <a:latin typeface="Trebuchet MS"/>
                <a:cs typeface="Trebuchet MS"/>
              </a:rPr>
              <a:t>Shielded</a:t>
            </a:r>
            <a:r>
              <a:rPr sz="2400" spc="-170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Twisted</a:t>
            </a:r>
            <a:r>
              <a:rPr sz="2400" spc="-204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Pair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(STP)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25144" y="605155"/>
            <a:ext cx="680529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0" dirty="0"/>
              <a:t>Unshielded</a:t>
            </a:r>
            <a:r>
              <a:rPr spc="-430" dirty="0"/>
              <a:t> </a:t>
            </a:r>
            <a:r>
              <a:rPr spc="-254" dirty="0"/>
              <a:t>Twisted</a:t>
            </a:r>
            <a:r>
              <a:rPr spc="-425" dirty="0"/>
              <a:t> </a:t>
            </a:r>
            <a:r>
              <a:rPr spc="-254" dirty="0"/>
              <a:t>Pair</a:t>
            </a:r>
            <a:r>
              <a:rPr spc="-440" dirty="0"/>
              <a:t> </a:t>
            </a:r>
            <a:r>
              <a:rPr spc="-180" dirty="0"/>
              <a:t>(UTP)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1969"/>
            <a:ext cx="10348595" cy="173101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029" marR="5080" indent="-227965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60" dirty="0">
                <a:latin typeface="Trebuchet MS"/>
                <a:cs typeface="Trebuchet MS"/>
              </a:rPr>
              <a:t>UTP</a:t>
            </a:r>
            <a:r>
              <a:rPr sz="2800" spc="-20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consists</a:t>
            </a:r>
            <a:r>
              <a:rPr sz="2800" spc="-180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of</a:t>
            </a:r>
            <a:r>
              <a:rPr sz="2800" spc="-195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two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45" dirty="0">
                <a:latin typeface="Trebuchet MS"/>
                <a:cs typeface="Trebuchet MS"/>
              </a:rPr>
              <a:t>insulated</a:t>
            </a:r>
            <a:r>
              <a:rPr sz="2800" spc="-195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copper</a:t>
            </a:r>
            <a:r>
              <a:rPr sz="2800" spc="-185" dirty="0">
                <a:latin typeface="Trebuchet MS"/>
                <a:cs typeface="Trebuchet MS"/>
              </a:rPr>
              <a:t> </a:t>
            </a:r>
            <a:r>
              <a:rPr sz="2800" spc="-55" dirty="0">
                <a:latin typeface="Trebuchet MS"/>
                <a:cs typeface="Trebuchet MS"/>
              </a:rPr>
              <a:t>wires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80" dirty="0">
                <a:latin typeface="Trebuchet MS"/>
                <a:cs typeface="Trebuchet MS"/>
              </a:rPr>
              <a:t>twisted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30" dirty="0">
                <a:latin typeface="Trebuchet MS"/>
                <a:cs typeface="Trebuchet MS"/>
              </a:rPr>
              <a:t>around</a:t>
            </a:r>
            <a:r>
              <a:rPr sz="2800" spc="-190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one 	</a:t>
            </a:r>
            <a:r>
              <a:rPr sz="2800" spc="-120" dirty="0">
                <a:latin typeface="Trebuchet MS"/>
                <a:cs typeface="Trebuchet MS"/>
              </a:rPr>
              <a:t>another.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65" dirty="0">
                <a:latin typeface="Trebuchet MS"/>
                <a:cs typeface="Trebuchet MS"/>
              </a:rPr>
              <a:t>This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type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of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30" dirty="0">
                <a:latin typeface="Trebuchet MS"/>
                <a:cs typeface="Trebuchet MS"/>
              </a:rPr>
              <a:t>cable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65" dirty="0">
                <a:latin typeface="Trebuchet MS"/>
                <a:cs typeface="Trebuchet MS"/>
              </a:rPr>
              <a:t>has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the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110" dirty="0">
                <a:latin typeface="Trebuchet MS"/>
                <a:cs typeface="Trebuchet MS"/>
              </a:rPr>
              <a:t>ability</a:t>
            </a:r>
            <a:r>
              <a:rPr sz="2800" spc="-270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to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block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interference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and 	</a:t>
            </a:r>
            <a:r>
              <a:rPr sz="2800" dirty="0">
                <a:latin typeface="Trebuchet MS"/>
                <a:cs typeface="Trebuchet MS"/>
              </a:rPr>
              <a:t>does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65" dirty="0">
                <a:latin typeface="Trebuchet MS"/>
                <a:cs typeface="Trebuchet MS"/>
              </a:rPr>
              <a:t>not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depend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on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physical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shield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130" dirty="0">
                <a:latin typeface="Trebuchet MS"/>
                <a:cs typeface="Trebuchet MS"/>
              </a:rPr>
              <a:t>for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45" dirty="0">
                <a:latin typeface="Trebuchet MS"/>
                <a:cs typeface="Trebuchet MS"/>
              </a:rPr>
              <a:t>this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purpose.</a:t>
            </a:r>
            <a:endParaRPr sz="2800">
              <a:latin typeface="Trebuchet MS"/>
              <a:cs typeface="Trebuchet MS"/>
            </a:endParaRPr>
          </a:p>
          <a:p>
            <a:pPr marL="240665" indent="-227965">
              <a:lnSpc>
                <a:spcPct val="100000"/>
              </a:lnSpc>
              <a:spcBef>
                <a:spcPts val="625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spc="-140" dirty="0">
                <a:latin typeface="Trebuchet MS"/>
                <a:cs typeface="Trebuchet MS"/>
              </a:rPr>
              <a:t>It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is</a:t>
            </a:r>
            <a:r>
              <a:rPr sz="2800" spc="-19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used</a:t>
            </a:r>
            <a:r>
              <a:rPr sz="2800" spc="-185" dirty="0">
                <a:latin typeface="Trebuchet MS"/>
                <a:cs typeface="Trebuchet MS"/>
              </a:rPr>
              <a:t> </a:t>
            </a:r>
            <a:r>
              <a:rPr sz="2800" spc="-130" dirty="0">
                <a:latin typeface="Trebuchet MS"/>
                <a:cs typeface="Trebuchet MS"/>
              </a:rPr>
              <a:t>for</a:t>
            </a:r>
            <a:r>
              <a:rPr sz="2800" spc="-195" dirty="0">
                <a:latin typeface="Trebuchet MS"/>
                <a:cs typeface="Trebuchet MS"/>
              </a:rPr>
              <a:t> </a:t>
            </a:r>
            <a:r>
              <a:rPr sz="2800" spc="-55" dirty="0">
                <a:latin typeface="Trebuchet MS"/>
                <a:cs typeface="Trebuchet MS"/>
              </a:rPr>
              <a:t>telephonic</a:t>
            </a:r>
            <a:r>
              <a:rPr sz="2800" spc="-18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applications.</a:t>
            </a:r>
            <a:endParaRPr sz="28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01188" y="3909643"/>
            <a:ext cx="3048377" cy="226731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5"/>
              </a:spcBef>
            </a:pPr>
            <a:r>
              <a:rPr spc="-160" dirty="0"/>
              <a:t>Unshielded</a:t>
            </a:r>
            <a:r>
              <a:rPr spc="-425" dirty="0"/>
              <a:t> </a:t>
            </a:r>
            <a:r>
              <a:rPr spc="-254" dirty="0"/>
              <a:t>Twisted</a:t>
            </a:r>
            <a:r>
              <a:rPr spc="-395" dirty="0"/>
              <a:t> </a:t>
            </a:r>
            <a:r>
              <a:rPr spc="-280" dirty="0"/>
              <a:t>Pair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8768" y="2016171"/>
            <a:ext cx="3406775" cy="1929764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2400" b="1" spc="-10" dirty="0">
                <a:latin typeface="Trebuchet MS"/>
                <a:cs typeface="Trebuchet MS"/>
              </a:rPr>
              <a:t>Advantages</a:t>
            </a:r>
            <a:endParaRPr sz="2400">
              <a:latin typeface="Trebuchet MS"/>
              <a:cs typeface="Trebuchet MS"/>
            </a:endParaRPr>
          </a:p>
          <a:p>
            <a:pPr marL="240029" indent="-227329">
              <a:lnSpc>
                <a:spcPct val="100000"/>
              </a:lnSpc>
              <a:spcBef>
                <a:spcPts val="37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spc="-30" dirty="0">
                <a:latin typeface="Trebuchet MS"/>
                <a:cs typeface="Trebuchet MS"/>
              </a:rPr>
              <a:t>Least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expensive</a:t>
            </a:r>
            <a:endParaRPr sz="2800">
              <a:latin typeface="Trebuchet MS"/>
              <a:cs typeface="Trebuchet MS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Trebuchet MS"/>
                <a:cs typeface="Trebuchet MS"/>
              </a:rPr>
              <a:t>Easy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to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install</a:t>
            </a:r>
            <a:endParaRPr sz="2800">
              <a:latin typeface="Trebuchet MS"/>
              <a:cs typeface="Trebuchet MS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spc="-40" dirty="0">
                <a:latin typeface="Trebuchet MS"/>
                <a:cs typeface="Trebuchet MS"/>
              </a:rPr>
              <a:t>High-</a:t>
            </a:r>
            <a:r>
              <a:rPr sz="2800" dirty="0">
                <a:latin typeface="Trebuchet MS"/>
                <a:cs typeface="Trebuchet MS"/>
              </a:rPr>
              <a:t>speed</a:t>
            </a:r>
            <a:r>
              <a:rPr sz="2800" spc="-15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capacity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51828" y="2016171"/>
            <a:ext cx="4889500" cy="257048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2400" b="1" spc="-10" dirty="0">
                <a:latin typeface="Trebuchet MS"/>
                <a:cs typeface="Trebuchet MS"/>
              </a:rPr>
              <a:t>Disadvantages</a:t>
            </a:r>
            <a:endParaRPr sz="2400">
              <a:latin typeface="Trebuchet MS"/>
              <a:cs typeface="Trebuchet MS"/>
            </a:endParaRPr>
          </a:p>
          <a:p>
            <a:pPr marL="240029" marR="5080" indent="-227329">
              <a:lnSpc>
                <a:spcPts val="3020"/>
              </a:lnSpc>
              <a:spcBef>
                <a:spcPts val="76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75" dirty="0">
                <a:latin typeface="Trebuchet MS"/>
                <a:cs typeface="Trebuchet MS"/>
              </a:rPr>
              <a:t>Lower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50" dirty="0">
                <a:latin typeface="Trebuchet MS"/>
                <a:cs typeface="Trebuchet MS"/>
              </a:rPr>
              <a:t>capacity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and 	</a:t>
            </a:r>
            <a:r>
              <a:rPr sz="2800" spc="-60" dirty="0">
                <a:latin typeface="Trebuchet MS"/>
                <a:cs typeface="Trebuchet MS"/>
              </a:rPr>
              <a:t>performance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in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comparison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to 	STP</a:t>
            </a:r>
            <a:endParaRPr sz="2800">
              <a:latin typeface="Trebuchet MS"/>
              <a:cs typeface="Trebuchet MS"/>
            </a:endParaRPr>
          </a:p>
          <a:p>
            <a:pPr marL="240029" marR="353060" indent="-227329">
              <a:lnSpc>
                <a:spcPts val="303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25" dirty="0">
                <a:latin typeface="Trebuchet MS"/>
                <a:cs typeface="Trebuchet MS"/>
              </a:rPr>
              <a:t>Short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distance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transmission 	</a:t>
            </a:r>
            <a:r>
              <a:rPr sz="2800" spc="-25" dirty="0">
                <a:latin typeface="Trebuchet MS"/>
                <a:cs typeface="Trebuchet MS"/>
              </a:rPr>
              <a:t>due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to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attenuation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5155"/>
            <a:ext cx="614108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75" dirty="0"/>
              <a:t>Shielded</a:t>
            </a:r>
            <a:r>
              <a:rPr spc="-430" dirty="0"/>
              <a:t> </a:t>
            </a:r>
            <a:r>
              <a:rPr spc="-250" dirty="0"/>
              <a:t>Twisted</a:t>
            </a:r>
            <a:r>
              <a:rPr spc="-434" dirty="0"/>
              <a:t> </a:t>
            </a:r>
            <a:r>
              <a:rPr spc="-260" dirty="0"/>
              <a:t>Pair</a:t>
            </a:r>
            <a:r>
              <a:rPr spc="-445" dirty="0"/>
              <a:t> </a:t>
            </a:r>
            <a:r>
              <a:rPr spc="-114" dirty="0"/>
              <a:t>(STP)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029" marR="407034" indent="-227965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</a:tabLst>
            </a:pPr>
            <a:r>
              <a:rPr spc="-25" dirty="0"/>
              <a:t>Shielded</a:t>
            </a:r>
            <a:r>
              <a:rPr spc="-220" dirty="0"/>
              <a:t> </a:t>
            </a:r>
            <a:r>
              <a:rPr spc="-110" dirty="0"/>
              <a:t>Twisted</a:t>
            </a:r>
            <a:r>
              <a:rPr spc="-195" dirty="0"/>
              <a:t> </a:t>
            </a:r>
            <a:r>
              <a:rPr spc="-100" dirty="0"/>
              <a:t>Pair</a:t>
            </a:r>
            <a:r>
              <a:rPr spc="-210" dirty="0"/>
              <a:t> </a:t>
            </a:r>
            <a:r>
              <a:rPr spc="-110" dirty="0"/>
              <a:t>(STP)</a:t>
            </a:r>
            <a:r>
              <a:rPr spc="-190" dirty="0"/>
              <a:t> </a:t>
            </a:r>
            <a:r>
              <a:rPr spc="-35" dirty="0"/>
              <a:t>cable</a:t>
            </a:r>
            <a:r>
              <a:rPr spc="-200" dirty="0"/>
              <a:t> </a:t>
            </a:r>
            <a:r>
              <a:rPr dirty="0"/>
              <a:t>consists</a:t>
            </a:r>
            <a:r>
              <a:rPr spc="-185" dirty="0"/>
              <a:t> </a:t>
            </a:r>
            <a:r>
              <a:rPr spc="-100" dirty="0"/>
              <a:t>of</a:t>
            </a:r>
            <a:r>
              <a:rPr spc="-175" dirty="0"/>
              <a:t> </a:t>
            </a:r>
            <a:r>
              <a:rPr dirty="0"/>
              <a:t>a</a:t>
            </a:r>
            <a:r>
              <a:rPr spc="-200" dirty="0"/>
              <a:t> </a:t>
            </a:r>
            <a:r>
              <a:rPr spc="-10" dirty="0"/>
              <a:t>special</a:t>
            </a:r>
            <a:r>
              <a:rPr spc="-195" dirty="0"/>
              <a:t> </a:t>
            </a:r>
            <a:r>
              <a:rPr spc="-125" dirty="0"/>
              <a:t>jacket</a:t>
            </a:r>
            <a:r>
              <a:rPr spc="-195" dirty="0"/>
              <a:t> </a:t>
            </a:r>
            <a:r>
              <a:rPr spc="-25" dirty="0"/>
              <a:t>(a 	</a:t>
            </a:r>
            <a:r>
              <a:rPr spc="-20" dirty="0"/>
              <a:t>copper</a:t>
            </a:r>
            <a:r>
              <a:rPr spc="-220" dirty="0"/>
              <a:t> </a:t>
            </a:r>
            <a:r>
              <a:rPr spc="-85" dirty="0"/>
              <a:t>braid</a:t>
            </a:r>
            <a:r>
              <a:rPr spc="-240" dirty="0"/>
              <a:t> </a:t>
            </a:r>
            <a:r>
              <a:rPr spc="-65" dirty="0"/>
              <a:t>covering</a:t>
            </a:r>
            <a:r>
              <a:rPr spc="-235" dirty="0"/>
              <a:t> </a:t>
            </a:r>
            <a:r>
              <a:rPr spc="-75" dirty="0"/>
              <a:t>or</a:t>
            </a:r>
            <a:r>
              <a:rPr spc="-240" dirty="0"/>
              <a:t> </a:t>
            </a:r>
            <a:r>
              <a:rPr dirty="0"/>
              <a:t>a</a:t>
            </a:r>
            <a:r>
              <a:rPr spc="-240" dirty="0"/>
              <a:t> </a:t>
            </a:r>
            <a:r>
              <a:rPr spc="-114" dirty="0"/>
              <a:t>foil</a:t>
            </a:r>
            <a:r>
              <a:rPr spc="-254" dirty="0"/>
              <a:t> </a:t>
            </a:r>
            <a:r>
              <a:rPr spc="-45" dirty="0"/>
              <a:t>shield)</a:t>
            </a:r>
            <a:r>
              <a:rPr spc="-225" dirty="0"/>
              <a:t> </a:t>
            </a:r>
            <a:r>
              <a:rPr spc="-105" dirty="0"/>
              <a:t>to</a:t>
            </a:r>
            <a:r>
              <a:rPr spc="-235" dirty="0"/>
              <a:t> </a:t>
            </a:r>
            <a:r>
              <a:rPr spc="-20" dirty="0"/>
              <a:t>block</a:t>
            </a:r>
            <a:r>
              <a:rPr spc="-195" dirty="0"/>
              <a:t> </a:t>
            </a:r>
            <a:r>
              <a:rPr spc="-10" dirty="0"/>
              <a:t>external 	</a:t>
            </a:r>
            <a:r>
              <a:rPr spc="-40" dirty="0"/>
              <a:t>interference.</a:t>
            </a:r>
          </a:p>
          <a:p>
            <a:pPr marL="240029" marR="5080" indent="-227965">
              <a:lnSpc>
                <a:spcPts val="302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pc="-140" dirty="0"/>
              <a:t>It</a:t>
            </a:r>
            <a:r>
              <a:rPr spc="-240" dirty="0"/>
              <a:t> </a:t>
            </a:r>
            <a:r>
              <a:rPr dirty="0"/>
              <a:t>is</a:t>
            </a:r>
            <a:r>
              <a:rPr spc="-229" dirty="0"/>
              <a:t> </a:t>
            </a:r>
            <a:r>
              <a:rPr dirty="0"/>
              <a:t>used</a:t>
            </a:r>
            <a:r>
              <a:rPr spc="-215" dirty="0"/>
              <a:t> </a:t>
            </a:r>
            <a:r>
              <a:rPr spc="-70" dirty="0"/>
              <a:t>in</a:t>
            </a:r>
            <a:r>
              <a:rPr spc="-240" dirty="0"/>
              <a:t> </a:t>
            </a:r>
            <a:r>
              <a:rPr spc="-75" dirty="0"/>
              <a:t>fast</a:t>
            </a:r>
            <a:r>
              <a:rPr spc="-240" dirty="0"/>
              <a:t> </a:t>
            </a:r>
            <a:r>
              <a:rPr spc="-75" dirty="0"/>
              <a:t>data</a:t>
            </a:r>
            <a:r>
              <a:rPr spc="-220" dirty="0"/>
              <a:t> </a:t>
            </a:r>
            <a:r>
              <a:rPr spc="-150" dirty="0"/>
              <a:t>rate</a:t>
            </a:r>
            <a:r>
              <a:rPr spc="-235" dirty="0"/>
              <a:t> </a:t>
            </a:r>
            <a:r>
              <a:rPr spc="-95" dirty="0"/>
              <a:t>Ethernet</a:t>
            </a:r>
            <a:r>
              <a:rPr spc="-225" dirty="0"/>
              <a:t> </a:t>
            </a:r>
            <a:r>
              <a:rPr dirty="0"/>
              <a:t>and</a:t>
            </a:r>
            <a:r>
              <a:rPr spc="-229" dirty="0"/>
              <a:t> </a:t>
            </a:r>
            <a:r>
              <a:rPr spc="-70" dirty="0"/>
              <a:t>in</a:t>
            </a:r>
            <a:r>
              <a:rPr spc="-240" dirty="0"/>
              <a:t> </a:t>
            </a:r>
            <a:r>
              <a:rPr spc="-60" dirty="0"/>
              <a:t>voice</a:t>
            </a:r>
            <a:r>
              <a:rPr spc="-220" dirty="0"/>
              <a:t> </a:t>
            </a:r>
            <a:r>
              <a:rPr dirty="0"/>
              <a:t>and</a:t>
            </a:r>
            <a:r>
              <a:rPr spc="-220" dirty="0"/>
              <a:t> </a:t>
            </a:r>
            <a:r>
              <a:rPr spc="-70" dirty="0"/>
              <a:t>data</a:t>
            </a:r>
            <a:r>
              <a:rPr spc="-200" dirty="0"/>
              <a:t> </a:t>
            </a:r>
            <a:r>
              <a:rPr spc="-10" dirty="0"/>
              <a:t>channels 	</a:t>
            </a:r>
            <a:r>
              <a:rPr spc="-100" dirty="0"/>
              <a:t>of</a:t>
            </a:r>
            <a:r>
              <a:rPr spc="-220" dirty="0"/>
              <a:t> </a:t>
            </a:r>
            <a:r>
              <a:rPr spc="-60" dirty="0"/>
              <a:t>telephone</a:t>
            </a:r>
            <a:r>
              <a:rPr spc="-215" dirty="0"/>
              <a:t> </a:t>
            </a:r>
            <a:r>
              <a:rPr spc="-10" dirty="0"/>
              <a:t>lines.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01619" y="4043117"/>
            <a:ext cx="6658864" cy="213384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5"/>
              </a:spcBef>
            </a:pPr>
            <a:r>
              <a:rPr spc="-170" dirty="0"/>
              <a:t>Shielded</a:t>
            </a:r>
            <a:r>
              <a:rPr spc="-400" dirty="0"/>
              <a:t> </a:t>
            </a:r>
            <a:r>
              <a:rPr spc="-254" dirty="0"/>
              <a:t>Twisted</a:t>
            </a:r>
            <a:r>
              <a:rPr spc="-409" dirty="0"/>
              <a:t> </a:t>
            </a:r>
            <a:r>
              <a:rPr spc="-280" dirty="0"/>
              <a:t>Pair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8768" y="2016171"/>
            <a:ext cx="4949825" cy="231457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2400" b="1" spc="-10" dirty="0">
                <a:latin typeface="Trebuchet MS"/>
                <a:cs typeface="Trebuchet MS"/>
              </a:rPr>
              <a:t>Advantages</a:t>
            </a:r>
            <a:endParaRPr sz="2400">
              <a:latin typeface="Trebuchet MS"/>
              <a:cs typeface="Trebuchet MS"/>
            </a:endParaRPr>
          </a:p>
          <a:p>
            <a:pPr marL="240029" marR="5080" indent="-227329">
              <a:lnSpc>
                <a:spcPts val="3020"/>
              </a:lnSpc>
              <a:spcBef>
                <a:spcPts val="76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114" dirty="0">
                <a:latin typeface="Trebuchet MS"/>
                <a:cs typeface="Trebuchet MS"/>
              </a:rPr>
              <a:t>Better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performance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25" dirty="0">
                <a:latin typeface="Trebuchet MS"/>
                <a:cs typeface="Trebuchet MS"/>
              </a:rPr>
              <a:t>at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higher 	</a:t>
            </a:r>
            <a:r>
              <a:rPr sz="2800" spc="-70" dirty="0">
                <a:latin typeface="Trebuchet MS"/>
                <a:cs typeface="Trebuchet MS"/>
              </a:rPr>
              <a:t>data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150" dirty="0">
                <a:latin typeface="Trebuchet MS"/>
                <a:cs typeface="Trebuchet MS"/>
              </a:rPr>
              <a:t>rate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in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comparison</a:t>
            </a:r>
            <a:r>
              <a:rPr sz="2800" spc="-200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to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UTP</a:t>
            </a:r>
            <a:endParaRPr sz="2800">
              <a:latin typeface="Trebuchet MS"/>
              <a:cs typeface="Trebuchet MS"/>
            </a:endParaRPr>
          </a:p>
          <a:p>
            <a:pPr marL="240029" indent="-227329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spc="-45" dirty="0">
                <a:latin typeface="Trebuchet MS"/>
                <a:cs typeface="Trebuchet MS"/>
              </a:rPr>
              <a:t>Eliminates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crosstalk</a:t>
            </a:r>
            <a:endParaRPr sz="2800">
              <a:latin typeface="Trebuchet MS"/>
              <a:cs typeface="Trebuchet MS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spc="-65" dirty="0">
                <a:latin typeface="Trebuchet MS"/>
                <a:cs typeface="Trebuchet MS"/>
              </a:rPr>
              <a:t>Comparatively</a:t>
            </a:r>
            <a:r>
              <a:rPr sz="2800" spc="-15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faster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51828" y="2016171"/>
            <a:ext cx="4104640" cy="231457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2400" b="1" spc="-10" dirty="0">
                <a:latin typeface="Trebuchet MS"/>
                <a:cs typeface="Trebuchet MS"/>
              </a:rPr>
              <a:t>Disadvantages</a:t>
            </a:r>
            <a:endParaRPr sz="2400">
              <a:latin typeface="Trebuchet MS"/>
              <a:cs typeface="Trebuchet MS"/>
            </a:endParaRPr>
          </a:p>
          <a:p>
            <a:pPr marL="240029" marR="5080" indent="-227329">
              <a:lnSpc>
                <a:spcPts val="3020"/>
              </a:lnSpc>
              <a:spcBef>
                <a:spcPts val="76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65" dirty="0">
                <a:latin typeface="Trebuchet MS"/>
                <a:cs typeface="Trebuchet MS"/>
              </a:rPr>
              <a:t>Comparatively</a:t>
            </a:r>
            <a:r>
              <a:rPr sz="2800" spc="-175" dirty="0">
                <a:latin typeface="Trebuchet MS"/>
                <a:cs typeface="Trebuchet MS"/>
              </a:rPr>
              <a:t> </a:t>
            </a:r>
            <a:r>
              <a:rPr sz="2800" spc="-114" dirty="0">
                <a:latin typeface="Trebuchet MS"/>
                <a:cs typeface="Trebuchet MS"/>
              </a:rPr>
              <a:t>difficult</a:t>
            </a:r>
            <a:r>
              <a:rPr sz="2800" spc="-175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to 	</a:t>
            </a:r>
            <a:r>
              <a:rPr sz="2800" spc="-55" dirty="0">
                <a:latin typeface="Trebuchet MS"/>
                <a:cs typeface="Trebuchet MS"/>
              </a:rPr>
              <a:t>install</a:t>
            </a:r>
            <a:r>
              <a:rPr sz="2800" spc="-26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and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manufacture</a:t>
            </a:r>
            <a:endParaRPr sz="2800">
              <a:latin typeface="Trebuchet MS"/>
              <a:cs typeface="Trebuchet MS"/>
            </a:endParaRPr>
          </a:p>
          <a:p>
            <a:pPr marL="240029" indent="-227329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spc="-10" dirty="0">
                <a:latin typeface="Trebuchet MS"/>
                <a:cs typeface="Trebuchet MS"/>
              </a:rPr>
              <a:t>More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expensive</a:t>
            </a:r>
            <a:endParaRPr sz="2800">
              <a:latin typeface="Trebuchet MS"/>
              <a:cs typeface="Trebuchet MS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spc="-10" dirty="0">
                <a:latin typeface="Trebuchet MS"/>
                <a:cs typeface="Trebuchet MS"/>
              </a:rPr>
              <a:t>Bulky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25144" y="605155"/>
            <a:ext cx="317627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60" dirty="0"/>
              <a:t>Coaxial</a:t>
            </a:r>
            <a:r>
              <a:rPr spc="-455" dirty="0"/>
              <a:t> </a:t>
            </a:r>
            <a:r>
              <a:rPr spc="-80" dirty="0"/>
              <a:t>Cable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1969"/>
            <a:ext cx="10346055" cy="285051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029" marR="356870" indent="-227965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20" dirty="0">
                <a:latin typeface="Trebuchet MS"/>
                <a:cs typeface="Trebuchet MS"/>
              </a:rPr>
              <a:t>Coaxial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35" dirty="0">
                <a:latin typeface="Trebuchet MS"/>
                <a:cs typeface="Trebuchet MS"/>
              </a:rPr>
              <a:t>cable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65" dirty="0">
                <a:latin typeface="Trebuchet MS"/>
                <a:cs typeface="Trebuchet MS"/>
              </a:rPr>
              <a:t>has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an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outer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30" dirty="0">
                <a:latin typeface="Trebuchet MS"/>
                <a:cs typeface="Trebuchet MS"/>
              </a:rPr>
              <a:t>plastic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65" dirty="0">
                <a:latin typeface="Trebuchet MS"/>
                <a:cs typeface="Trebuchet MS"/>
              </a:rPr>
              <a:t>covering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55" dirty="0">
                <a:latin typeface="Trebuchet MS"/>
                <a:cs typeface="Trebuchet MS"/>
              </a:rPr>
              <a:t>containing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an 	</a:t>
            </a:r>
            <a:r>
              <a:rPr sz="2800" spc="-45" dirty="0">
                <a:latin typeface="Trebuchet MS"/>
                <a:cs typeface="Trebuchet MS"/>
              </a:rPr>
              <a:t>insulation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layer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made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of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60" dirty="0">
                <a:latin typeface="Trebuchet MS"/>
                <a:cs typeface="Trebuchet MS"/>
              </a:rPr>
              <a:t>PVC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75" dirty="0">
                <a:latin typeface="Trebuchet MS"/>
                <a:cs typeface="Trebuchet MS"/>
              </a:rPr>
              <a:t>or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145" dirty="0">
                <a:latin typeface="Trebuchet MS"/>
                <a:cs typeface="Trebuchet MS"/>
              </a:rPr>
              <a:t>Teflon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and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2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parallel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conductors 	</a:t>
            </a:r>
            <a:r>
              <a:rPr sz="2800" dirty="0">
                <a:latin typeface="Trebuchet MS"/>
                <a:cs typeface="Trebuchet MS"/>
              </a:rPr>
              <a:t>each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having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separate</a:t>
            </a:r>
            <a:r>
              <a:rPr sz="2800" spc="-190" dirty="0">
                <a:latin typeface="Trebuchet MS"/>
                <a:cs typeface="Trebuchet MS"/>
              </a:rPr>
              <a:t> </a:t>
            </a:r>
            <a:r>
              <a:rPr sz="2800" spc="-45" dirty="0">
                <a:latin typeface="Trebuchet MS"/>
                <a:cs typeface="Trebuchet MS"/>
              </a:rPr>
              <a:t>insulated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80" dirty="0">
                <a:latin typeface="Trebuchet MS"/>
                <a:cs typeface="Trebuchet MS"/>
              </a:rPr>
              <a:t>protection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cover.</a:t>
            </a:r>
            <a:endParaRPr sz="2800">
              <a:latin typeface="Trebuchet MS"/>
              <a:cs typeface="Trebuchet MS"/>
            </a:endParaRPr>
          </a:p>
          <a:p>
            <a:pPr marL="240665" indent="-227965">
              <a:lnSpc>
                <a:spcPct val="100000"/>
              </a:lnSpc>
              <a:spcBef>
                <a:spcPts val="625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spc="-130" dirty="0">
                <a:latin typeface="Trebuchet MS"/>
                <a:cs typeface="Trebuchet MS"/>
              </a:rPr>
              <a:t>The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40" dirty="0">
                <a:latin typeface="Trebuchet MS"/>
                <a:cs typeface="Trebuchet MS"/>
              </a:rPr>
              <a:t>coaxial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35" dirty="0">
                <a:latin typeface="Trebuchet MS"/>
                <a:cs typeface="Trebuchet MS"/>
              </a:rPr>
              <a:t>cable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50" dirty="0">
                <a:latin typeface="Trebuchet MS"/>
                <a:cs typeface="Trebuchet MS"/>
              </a:rPr>
              <a:t>transmits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information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in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two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modes:</a:t>
            </a:r>
            <a:endParaRPr sz="2800">
              <a:latin typeface="Trebuchet MS"/>
              <a:cs typeface="Trebuchet MS"/>
            </a:endParaRPr>
          </a:p>
          <a:p>
            <a:pPr marL="697230" marR="5080" lvl="1" indent="-227329">
              <a:lnSpc>
                <a:spcPts val="2590"/>
              </a:lnSpc>
              <a:spcBef>
                <a:spcPts val="570"/>
              </a:spcBef>
              <a:buFont typeface="Arial MT"/>
              <a:buChar char="•"/>
              <a:tabLst>
                <a:tab pos="698500" algn="l"/>
              </a:tabLst>
            </a:pPr>
            <a:r>
              <a:rPr sz="2400" dirty="0">
                <a:latin typeface="Trebuchet MS"/>
                <a:cs typeface="Trebuchet MS"/>
              </a:rPr>
              <a:t>Baseband</a:t>
            </a:r>
            <a:r>
              <a:rPr sz="2400" spc="-145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mode(dedicated</a:t>
            </a:r>
            <a:r>
              <a:rPr sz="2400" spc="-130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cable</a:t>
            </a:r>
            <a:r>
              <a:rPr sz="2400" spc="-150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Trebuchet MS"/>
                <a:cs typeface="Trebuchet MS"/>
              </a:rPr>
              <a:t>bandwidth)</a:t>
            </a:r>
            <a:r>
              <a:rPr sz="2400" spc="-13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and</a:t>
            </a:r>
            <a:r>
              <a:rPr sz="2400" spc="-150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Broadband</a:t>
            </a:r>
            <a:r>
              <a:rPr sz="2400" spc="-13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mode(cable 	</a:t>
            </a:r>
            <a:r>
              <a:rPr sz="2400" spc="-55" dirty="0">
                <a:latin typeface="Trebuchet MS"/>
                <a:cs typeface="Trebuchet MS"/>
              </a:rPr>
              <a:t>bandwidth</a:t>
            </a:r>
            <a:r>
              <a:rPr sz="2400" spc="-17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is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split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into</a:t>
            </a:r>
            <a:r>
              <a:rPr sz="2400" spc="-185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separate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ranges).</a:t>
            </a:r>
            <a:endParaRPr sz="2400">
              <a:latin typeface="Trebuchet MS"/>
              <a:cs typeface="Trebuchet MS"/>
            </a:endParaRPr>
          </a:p>
          <a:p>
            <a:pPr marL="697230" lvl="1" indent="-227329">
              <a:lnSpc>
                <a:spcPct val="100000"/>
              </a:lnSpc>
              <a:spcBef>
                <a:spcPts val="185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dirty="0">
                <a:latin typeface="Trebuchet MS"/>
                <a:cs typeface="Trebuchet MS"/>
              </a:rPr>
              <a:t>Cable</a:t>
            </a:r>
            <a:r>
              <a:rPr sz="2400" spc="-170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TVs</a:t>
            </a:r>
            <a:r>
              <a:rPr sz="2400" spc="-19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and</a:t>
            </a:r>
            <a:r>
              <a:rPr sz="2400" spc="-165" dirty="0">
                <a:latin typeface="Trebuchet MS"/>
                <a:cs typeface="Trebuchet MS"/>
              </a:rPr>
              <a:t> </a:t>
            </a:r>
            <a:r>
              <a:rPr sz="2400" spc="-30" dirty="0">
                <a:latin typeface="Trebuchet MS"/>
                <a:cs typeface="Trebuchet MS"/>
              </a:rPr>
              <a:t>analog</a:t>
            </a:r>
            <a:r>
              <a:rPr sz="2400" spc="-160" dirty="0">
                <a:latin typeface="Trebuchet MS"/>
                <a:cs typeface="Trebuchet MS"/>
              </a:rPr>
              <a:t> </a:t>
            </a:r>
            <a:r>
              <a:rPr sz="2400" spc="-60" dirty="0">
                <a:latin typeface="Trebuchet MS"/>
                <a:cs typeface="Trebuchet MS"/>
              </a:rPr>
              <a:t>television</a:t>
            </a:r>
            <a:r>
              <a:rPr sz="2400" spc="-175" dirty="0">
                <a:latin typeface="Trebuchet MS"/>
                <a:cs typeface="Trebuchet MS"/>
              </a:rPr>
              <a:t> </a:t>
            </a:r>
            <a:r>
              <a:rPr sz="2400" spc="-55" dirty="0">
                <a:latin typeface="Trebuchet MS"/>
                <a:cs typeface="Trebuchet MS"/>
              </a:rPr>
              <a:t>networks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widely</a:t>
            </a:r>
            <a:r>
              <a:rPr sz="2400" spc="-1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use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spc="-30" dirty="0">
                <a:latin typeface="Trebuchet MS"/>
                <a:cs typeface="Trebuchet MS"/>
              </a:rPr>
              <a:t>Coaxial</a:t>
            </a:r>
            <a:r>
              <a:rPr sz="2400" spc="-14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cables.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68056" y="4593589"/>
            <a:ext cx="4623943" cy="226440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8768" y="605155"/>
            <a:ext cx="317373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5" dirty="0"/>
              <a:t>Coaxial</a:t>
            </a:r>
            <a:r>
              <a:rPr spc="-465" dirty="0"/>
              <a:t> </a:t>
            </a:r>
            <a:r>
              <a:rPr spc="-90" dirty="0"/>
              <a:t>Cable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8768" y="2057476"/>
            <a:ext cx="164147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Trebuchet MS"/>
                <a:cs typeface="Trebuchet MS"/>
              </a:rPr>
              <a:t>Advantages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8768" y="2416810"/>
            <a:ext cx="3605529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spc="-25" dirty="0">
                <a:latin typeface="Trebuchet MS"/>
                <a:cs typeface="Trebuchet MS"/>
              </a:rPr>
              <a:t>Coaxial</a:t>
            </a:r>
            <a:r>
              <a:rPr sz="2600" spc="-17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cables</a:t>
            </a:r>
            <a:r>
              <a:rPr sz="2600" spc="-175" dirty="0">
                <a:latin typeface="Trebuchet MS"/>
                <a:cs typeface="Trebuchet MS"/>
              </a:rPr>
              <a:t> </a:t>
            </a:r>
            <a:r>
              <a:rPr sz="2600" spc="70" dirty="0">
                <a:latin typeface="Trebuchet MS"/>
                <a:cs typeface="Trebuchet MS"/>
              </a:rPr>
              <a:t>has</a:t>
            </a:r>
            <a:r>
              <a:rPr sz="2600" spc="-190" dirty="0">
                <a:latin typeface="Trebuchet MS"/>
                <a:cs typeface="Trebuchet MS"/>
              </a:rPr>
              <a:t> </a:t>
            </a:r>
            <a:r>
              <a:rPr sz="2600" spc="-20" dirty="0">
                <a:latin typeface="Trebuchet MS"/>
                <a:cs typeface="Trebuchet MS"/>
              </a:rPr>
              <a:t>high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8768" y="2694177"/>
            <a:ext cx="2862580" cy="8261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>
              <a:lnSpc>
                <a:spcPct val="100000"/>
              </a:lnSpc>
              <a:spcBef>
                <a:spcPts val="105"/>
              </a:spcBef>
            </a:pPr>
            <a:r>
              <a:rPr sz="2600" spc="-55" dirty="0">
                <a:latin typeface="Trebuchet MS"/>
                <a:cs typeface="Trebuchet MS"/>
              </a:rPr>
              <a:t>bandwidth</a:t>
            </a:r>
            <a:r>
              <a:rPr sz="2600" spc="-175" dirty="0">
                <a:latin typeface="Trebuchet MS"/>
                <a:cs typeface="Trebuchet MS"/>
              </a:rPr>
              <a:t> </a:t>
            </a:r>
            <a:r>
              <a:rPr sz="2600" spc="-50" dirty="0">
                <a:latin typeface="Trebuchet MS"/>
                <a:cs typeface="Trebuchet MS"/>
              </a:rPr>
              <a:t>.</a:t>
            </a:r>
            <a:endParaRPr sz="26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60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spc="-125" dirty="0">
                <a:latin typeface="Trebuchet MS"/>
                <a:cs typeface="Trebuchet MS"/>
              </a:rPr>
              <a:t>It</a:t>
            </a:r>
            <a:r>
              <a:rPr sz="2600" spc="-24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is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easy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95" dirty="0">
                <a:latin typeface="Trebuchet MS"/>
                <a:cs typeface="Trebuchet MS"/>
              </a:rPr>
              <a:t>to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50" dirty="0">
                <a:latin typeface="Trebuchet MS"/>
                <a:cs typeface="Trebuchet MS"/>
              </a:rPr>
              <a:t>install.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8768" y="3501897"/>
            <a:ext cx="481838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spc="-25" dirty="0">
                <a:latin typeface="Trebuchet MS"/>
                <a:cs typeface="Trebuchet MS"/>
              </a:rPr>
              <a:t>Coaxial</a:t>
            </a:r>
            <a:r>
              <a:rPr sz="2600" spc="-18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cables</a:t>
            </a:r>
            <a:r>
              <a:rPr sz="2600" spc="-190" dirty="0">
                <a:latin typeface="Trebuchet MS"/>
                <a:cs typeface="Trebuchet MS"/>
              </a:rPr>
              <a:t> </a:t>
            </a:r>
            <a:r>
              <a:rPr sz="2600" spc="-80" dirty="0">
                <a:latin typeface="Trebuchet MS"/>
                <a:cs typeface="Trebuchet MS"/>
              </a:rPr>
              <a:t>are</a:t>
            </a:r>
            <a:r>
              <a:rPr sz="2600" spc="-185" dirty="0">
                <a:latin typeface="Trebuchet MS"/>
                <a:cs typeface="Trebuchet MS"/>
              </a:rPr>
              <a:t> </a:t>
            </a:r>
            <a:r>
              <a:rPr sz="2600" spc="-55" dirty="0">
                <a:latin typeface="Trebuchet MS"/>
                <a:cs typeface="Trebuchet MS"/>
              </a:rPr>
              <a:t>more</a:t>
            </a:r>
            <a:r>
              <a:rPr sz="2600" spc="-185" dirty="0">
                <a:latin typeface="Trebuchet MS"/>
                <a:cs typeface="Trebuchet MS"/>
              </a:rPr>
              <a:t> </a:t>
            </a:r>
            <a:r>
              <a:rPr sz="2600" spc="-40" dirty="0">
                <a:latin typeface="Trebuchet MS"/>
                <a:cs typeface="Trebuchet MS"/>
              </a:rPr>
              <a:t>reliable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47368" y="3778961"/>
            <a:ext cx="1812925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dirty="0">
                <a:latin typeface="Trebuchet MS"/>
                <a:cs typeface="Trebuchet MS"/>
              </a:rPr>
              <a:t>and</a:t>
            </a:r>
            <a:r>
              <a:rPr sz="2600" spc="-215" dirty="0">
                <a:latin typeface="Trebuchet MS"/>
                <a:cs typeface="Trebuchet MS"/>
              </a:rPr>
              <a:t> </a:t>
            </a:r>
            <a:r>
              <a:rPr sz="2600" spc="-70" dirty="0">
                <a:latin typeface="Trebuchet MS"/>
                <a:cs typeface="Trebuchet MS"/>
              </a:rPr>
              <a:t>durable.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18768" y="4185030"/>
            <a:ext cx="4735195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spc="80" dirty="0">
                <a:latin typeface="Trebuchet MS"/>
                <a:cs typeface="Trebuchet MS"/>
              </a:rPr>
              <a:t>Less</a:t>
            </a:r>
            <a:r>
              <a:rPr sz="2600" spc="-215" dirty="0">
                <a:latin typeface="Trebuchet MS"/>
                <a:cs typeface="Trebuchet MS"/>
              </a:rPr>
              <a:t> </a:t>
            </a:r>
            <a:r>
              <a:rPr sz="2600" spc="-90" dirty="0">
                <a:latin typeface="Trebuchet MS"/>
                <a:cs typeface="Trebuchet MS"/>
              </a:rPr>
              <a:t>affected</a:t>
            </a:r>
            <a:r>
              <a:rPr sz="2600" spc="-190" dirty="0">
                <a:latin typeface="Trebuchet MS"/>
                <a:cs typeface="Trebuchet MS"/>
              </a:rPr>
              <a:t> </a:t>
            </a:r>
            <a:r>
              <a:rPr sz="2600" spc="-80" dirty="0">
                <a:latin typeface="Trebuchet MS"/>
                <a:cs typeface="Trebuchet MS"/>
              </a:rPr>
              <a:t>by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noise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70" dirty="0">
                <a:latin typeface="Trebuchet MS"/>
                <a:cs typeface="Trebuchet MS"/>
              </a:rPr>
              <a:t>or</a:t>
            </a:r>
            <a:r>
              <a:rPr sz="2600" spc="-215" dirty="0">
                <a:latin typeface="Trebuchet MS"/>
                <a:cs typeface="Trebuchet MS"/>
              </a:rPr>
              <a:t> </a:t>
            </a:r>
            <a:r>
              <a:rPr sz="2600" spc="-10" dirty="0">
                <a:latin typeface="Trebuchet MS"/>
                <a:cs typeface="Trebuchet MS"/>
              </a:rPr>
              <a:t>cross-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47368" y="4462398"/>
            <a:ext cx="3315970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90" dirty="0">
                <a:latin typeface="Trebuchet MS"/>
                <a:cs typeface="Trebuchet MS"/>
              </a:rPr>
              <a:t>talk</a:t>
            </a:r>
            <a:r>
              <a:rPr sz="2600" spc="-240" dirty="0">
                <a:latin typeface="Trebuchet MS"/>
                <a:cs typeface="Trebuchet MS"/>
              </a:rPr>
              <a:t> </a:t>
            </a:r>
            <a:r>
              <a:rPr sz="2600" spc="-70" dirty="0">
                <a:latin typeface="Trebuchet MS"/>
                <a:cs typeface="Trebuchet MS"/>
              </a:rPr>
              <a:t>or</a:t>
            </a:r>
            <a:r>
              <a:rPr sz="2600" spc="-245" dirty="0">
                <a:latin typeface="Trebuchet MS"/>
                <a:cs typeface="Trebuchet MS"/>
              </a:rPr>
              <a:t> </a:t>
            </a:r>
            <a:r>
              <a:rPr sz="2600" spc="-45" dirty="0">
                <a:latin typeface="Trebuchet MS"/>
                <a:cs typeface="Trebuchet MS"/>
              </a:rPr>
              <a:t>electromagnetic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47368" y="4739766"/>
            <a:ext cx="1450340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85" dirty="0">
                <a:latin typeface="Trebuchet MS"/>
                <a:cs typeface="Trebuchet MS"/>
              </a:rPr>
              <a:t>inference.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18768" y="5143627"/>
            <a:ext cx="4782185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spc="-25" dirty="0">
                <a:latin typeface="Trebuchet MS"/>
                <a:cs typeface="Trebuchet MS"/>
              </a:rPr>
              <a:t>Coaxial</a:t>
            </a:r>
            <a:r>
              <a:rPr sz="2600" spc="-17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cables</a:t>
            </a:r>
            <a:r>
              <a:rPr sz="2600" spc="-175" dirty="0">
                <a:latin typeface="Trebuchet MS"/>
                <a:cs typeface="Trebuchet MS"/>
              </a:rPr>
              <a:t> </a:t>
            </a:r>
            <a:r>
              <a:rPr sz="2600" spc="-10" dirty="0">
                <a:latin typeface="Trebuchet MS"/>
                <a:cs typeface="Trebuchet MS"/>
              </a:rPr>
              <a:t>support</a:t>
            </a:r>
            <a:r>
              <a:rPr sz="2600" spc="-190" dirty="0">
                <a:latin typeface="Trebuchet MS"/>
                <a:cs typeface="Trebuchet MS"/>
              </a:rPr>
              <a:t> </a:t>
            </a:r>
            <a:r>
              <a:rPr sz="2600" spc="-35" dirty="0">
                <a:latin typeface="Trebuchet MS"/>
                <a:cs typeface="Trebuchet MS"/>
              </a:rPr>
              <a:t>multiple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47368" y="5420664"/>
            <a:ext cx="1432560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-10" dirty="0">
                <a:latin typeface="Trebuchet MS"/>
                <a:cs typeface="Trebuchet MS"/>
              </a:rPr>
              <a:t>channels.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251828" y="2057476"/>
            <a:ext cx="4506595" cy="7816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55"/>
              </a:lnSpc>
              <a:spcBef>
                <a:spcPts val="100"/>
              </a:spcBef>
            </a:pPr>
            <a:r>
              <a:rPr sz="2400" b="1" spc="-10" dirty="0">
                <a:latin typeface="Trebuchet MS"/>
                <a:cs typeface="Trebuchet MS"/>
              </a:rPr>
              <a:t>Disadvantages</a:t>
            </a:r>
            <a:endParaRPr sz="2400">
              <a:latin typeface="Trebuchet MS"/>
              <a:cs typeface="Trebuchet MS"/>
            </a:endParaRPr>
          </a:p>
          <a:p>
            <a:pPr marL="307975" indent="-295275">
              <a:lnSpc>
                <a:spcPts val="3095"/>
              </a:lnSpc>
              <a:buFont typeface="Arial MT"/>
              <a:buChar char="•"/>
              <a:tabLst>
                <a:tab pos="307975" algn="l"/>
              </a:tabLst>
            </a:pPr>
            <a:r>
              <a:rPr sz="2600" spc="-25" dirty="0">
                <a:latin typeface="Trebuchet MS"/>
                <a:cs typeface="Trebuchet MS"/>
              </a:rPr>
              <a:t>Coaxial</a:t>
            </a:r>
            <a:r>
              <a:rPr sz="2600" spc="-18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cables</a:t>
            </a:r>
            <a:r>
              <a:rPr sz="2600" spc="-190" dirty="0">
                <a:latin typeface="Trebuchet MS"/>
                <a:cs typeface="Trebuchet MS"/>
              </a:rPr>
              <a:t> </a:t>
            </a:r>
            <a:r>
              <a:rPr sz="2600" spc="-85" dirty="0">
                <a:latin typeface="Trebuchet MS"/>
                <a:cs typeface="Trebuchet MS"/>
              </a:rPr>
              <a:t>are</a:t>
            </a:r>
            <a:r>
              <a:rPr sz="2600" spc="-175" dirty="0">
                <a:latin typeface="Trebuchet MS"/>
                <a:cs typeface="Trebuchet MS"/>
              </a:rPr>
              <a:t> </a:t>
            </a:r>
            <a:r>
              <a:rPr sz="2600" spc="-45" dirty="0">
                <a:latin typeface="Trebuchet MS"/>
                <a:cs typeface="Trebuchet MS"/>
              </a:rPr>
              <a:t>expensive.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251828" y="2820670"/>
            <a:ext cx="393954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spc="-110" dirty="0">
                <a:latin typeface="Trebuchet MS"/>
                <a:cs typeface="Trebuchet MS"/>
              </a:rPr>
              <a:t>The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45" dirty="0">
                <a:latin typeface="Trebuchet MS"/>
                <a:cs typeface="Trebuchet MS"/>
              </a:rPr>
              <a:t>coaxial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10" dirty="0">
                <a:latin typeface="Trebuchet MS"/>
                <a:cs typeface="Trebuchet MS"/>
              </a:rPr>
              <a:t>cable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must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25" dirty="0">
                <a:latin typeface="Trebuchet MS"/>
                <a:cs typeface="Trebuchet MS"/>
              </a:rPr>
              <a:t>be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480428" y="3098038"/>
            <a:ext cx="4613275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-35" dirty="0">
                <a:latin typeface="Trebuchet MS"/>
                <a:cs typeface="Trebuchet MS"/>
              </a:rPr>
              <a:t>grounded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65" dirty="0">
                <a:latin typeface="Trebuchet MS"/>
                <a:cs typeface="Trebuchet MS"/>
              </a:rPr>
              <a:t>in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80" dirty="0">
                <a:latin typeface="Trebuchet MS"/>
                <a:cs typeface="Trebuchet MS"/>
              </a:rPr>
              <a:t>order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90" dirty="0">
                <a:latin typeface="Trebuchet MS"/>
                <a:cs typeface="Trebuchet MS"/>
              </a:rPr>
              <a:t>to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95" dirty="0">
                <a:latin typeface="Trebuchet MS"/>
                <a:cs typeface="Trebuchet MS"/>
              </a:rPr>
              <a:t>prevent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25" dirty="0">
                <a:latin typeface="Trebuchet MS"/>
                <a:cs typeface="Trebuchet MS"/>
              </a:rPr>
              <a:t>any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480428" y="3375405"/>
            <a:ext cx="143002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-20" dirty="0">
                <a:latin typeface="Trebuchet MS"/>
                <a:cs typeface="Trebuchet MS"/>
              </a:rPr>
              <a:t>crosstalk.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251828" y="3778961"/>
            <a:ext cx="4693285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spc="110" dirty="0">
                <a:latin typeface="Trebuchet MS"/>
                <a:cs typeface="Trebuchet MS"/>
              </a:rPr>
              <a:t>As</a:t>
            </a:r>
            <a:r>
              <a:rPr sz="2600" spc="-23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a</a:t>
            </a:r>
            <a:r>
              <a:rPr sz="2600" spc="-250" dirty="0">
                <a:latin typeface="Trebuchet MS"/>
                <a:cs typeface="Trebuchet MS"/>
              </a:rPr>
              <a:t> </a:t>
            </a:r>
            <a:r>
              <a:rPr sz="2600" spc="-25" dirty="0">
                <a:latin typeface="Trebuchet MS"/>
                <a:cs typeface="Trebuchet MS"/>
              </a:rPr>
              <a:t>Coaxial</a:t>
            </a:r>
            <a:r>
              <a:rPr sz="2600" spc="-235" dirty="0">
                <a:latin typeface="Trebuchet MS"/>
                <a:cs typeface="Trebuchet MS"/>
              </a:rPr>
              <a:t> </a:t>
            </a:r>
            <a:r>
              <a:rPr sz="2600" spc="-25" dirty="0">
                <a:latin typeface="Trebuchet MS"/>
                <a:cs typeface="Trebuchet MS"/>
              </a:rPr>
              <a:t>cable</a:t>
            </a:r>
            <a:r>
              <a:rPr sz="2600" spc="-235" dirty="0">
                <a:latin typeface="Trebuchet MS"/>
                <a:cs typeface="Trebuchet MS"/>
              </a:rPr>
              <a:t> </a:t>
            </a:r>
            <a:r>
              <a:rPr sz="2600" spc="75" dirty="0">
                <a:latin typeface="Trebuchet MS"/>
                <a:cs typeface="Trebuchet MS"/>
              </a:rPr>
              <a:t>has</a:t>
            </a:r>
            <a:r>
              <a:rPr sz="2600" spc="-245" dirty="0">
                <a:latin typeface="Trebuchet MS"/>
                <a:cs typeface="Trebuchet MS"/>
              </a:rPr>
              <a:t> </a:t>
            </a:r>
            <a:r>
              <a:rPr sz="2600" spc="-25" dirty="0">
                <a:latin typeface="Trebuchet MS"/>
                <a:cs typeface="Trebuchet MS"/>
              </a:rPr>
              <a:t>multiple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480428" y="4057015"/>
            <a:ext cx="2990215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50" dirty="0">
                <a:latin typeface="Trebuchet MS"/>
                <a:cs typeface="Trebuchet MS"/>
              </a:rPr>
              <a:t>layers</a:t>
            </a:r>
            <a:r>
              <a:rPr sz="2600" spc="-215" dirty="0">
                <a:latin typeface="Trebuchet MS"/>
                <a:cs typeface="Trebuchet MS"/>
              </a:rPr>
              <a:t> </a:t>
            </a:r>
            <a:r>
              <a:rPr sz="2600" spc="-160" dirty="0">
                <a:latin typeface="Trebuchet MS"/>
                <a:cs typeface="Trebuchet MS"/>
              </a:rPr>
              <a:t>it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is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110" dirty="0">
                <a:latin typeface="Trebuchet MS"/>
                <a:cs typeface="Trebuchet MS"/>
              </a:rPr>
              <a:t>very</a:t>
            </a:r>
            <a:r>
              <a:rPr sz="2600" spc="-210" dirty="0">
                <a:latin typeface="Trebuchet MS"/>
                <a:cs typeface="Trebuchet MS"/>
              </a:rPr>
              <a:t> </a:t>
            </a:r>
            <a:r>
              <a:rPr sz="2600" spc="-80" dirty="0">
                <a:latin typeface="Trebuchet MS"/>
                <a:cs typeface="Trebuchet MS"/>
              </a:rPr>
              <a:t>bulky.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251828" y="4462398"/>
            <a:ext cx="4899025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spc="-120" dirty="0">
                <a:latin typeface="Trebuchet MS"/>
                <a:cs typeface="Trebuchet MS"/>
              </a:rPr>
              <a:t>There</a:t>
            </a:r>
            <a:r>
              <a:rPr sz="2600" spc="-204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is</a:t>
            </a:r>
            <a:r>
              <a:rPr sz="2600" spc="-20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a</a:t>
            </a:r>
            <a:r>
              <a:rPr sz="2600" spc="-21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chance</a:t>
            </a:r>
            <a:r>
              <a:rPr sz="2600" spc="-200" dirty="0">
                <a:latin typeface="Trebuchet MS"/>
                <a:cs typeface="Trebuchet MS"/>
              </a:rPr>
              <a:t> </a:t>
            </a:r>
            <a:r>
              <a:rPr sz="2600" spc="-80" dirty="0">
                <a:latin typeface="Trebuchet MS"/>
                <a:cs typeface="Trebuchet MS"/>
              </a:rPr>
              <a:t>of</a:t>
            </a:r>
            <a:r>
              <a:rPr sz="2600" spc="-210" dirty="0">
                <a:latin typeface="Trebuchet MS"/>
                <a:cs typeface="Trebuchet MS"/>
              </a:rPr>
              <a:t> </a:t>
            </a:r>
            <a:r>
              <a:rPr sz="2600" spc="-60" dirty="0">
                <a:latin typeface="Trebuchet MS"/>
                <a:cs typeface="Trebuchet MS"/>
              </a:rPr>
              <a:t>breaking</a:t>
            </a:r>
            <a:r>
              <a:rPr sz="2600" spc="-204" dirty="0">
                <a:latin typeface="Trebuchet MS"/>
                <a:cs typeface="Trebuchet MS"/>
              </a:rPr>
              <a:t> </a:t>
            </a:r>
            <a:r>
              <a:rPr sz="2600" spc="-25" dirty="0">
                <a:latin typeface="Trebuchet MS"/>
                <a:cs typeface="Trebuchet MS"/>
              </a:rPr>
              <a:t>the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480428" y="4739766"/>
            <a:ext cx="4582795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45" dirty="0">
                <a:latin typeface="Trebuchet MS"/>
                <a:cs typeface="Trebuchet MS"/>
              </a:rPr>
              <a:t>coaxial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0" dirty="0">
                <a:latin typeface="Trebuchet MS"/>
                <a:cs typeface="Trebuchet MS"/>
              </a:rPr>
              <a:t>cable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and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60" dirty="0">
                <a:latin typeface="Trebuchet MS"/>
                <a:cs typeface="Trebuchet MS"/>
              </a:rPr>
              <a:t>attaching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a</a:t>
            </a:r>
            <a:r>
              <a:rPr sz="2600" spc="-345" dirty="0">
                <a:latin typeface="Trebuchet MS"/>
                <a:cs typeface="Trebuchet MS"/>
              </a:rPr>
              <a:t> </a:t>
            </a:r>
            <a:r>
              <a:rPr sz="2600" spc="-80" dirty="0">
                <a:latin typeface="Trebuchet MS"/>
                <a:cs typeface="Trebuchet MS"/>
              </a:rPr>
              <a:t>“t-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480428" y="5017134"/>
            <a:ext cx="3067050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140" dirty="0">
                <a:latin typeface="Trebuchet MS"/>
                <a:cs typeface="Trebuchet MS"/>
              </a:rPr>
              <a:t>joint”</a:t>
            </a:r>
            <a:r>
              <a:rPr sz="2600" spc="-365" dirty="0">
                <a:latin typeface="Trebuchet MS"/>
                <a:cs typeface="Trebuchet MS"/>
              </a:rPr>
              <a:t> </a:t>
            </a:r>
            <a:r>
              <a:rPr sz="2600" spc="-80" dirty="0">
                <a:latin typeface="Trebuchet MS"/>
                <a:cs typeface="Trebuchet MS"/>
              </a:rPr>
              <a:t>by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40" dirty="0">
                <a:latin typeface="Trebuchet MS"/>
                <a:cs typeface="Trebuchet MS"/>
              </a:rPr>
              <a:t>hackers,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20" dirty="0">
                <a:latin typeface="Trebuchet MS"/>
                <a:cs typeface="Trebuchet MS"/>
              </a:rPr>
              <a:t>this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480428" y="5294172"/>
            <a:ext cx="4606925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dirty="0">
                <a:latin typeface="Trebuchet MS"/>
                <a:cs typeface="Trebuchet MS"/>
              </a:rPr>
              <a:t>compromises</a:t>
            </a:r>
            <a:r>
              <a:rPr sz="2600" spc="-185" dirty="0">
                <a:latin typeface="Trebuchet MS"/>
                <a:cs typeface="Trebuchet MS"/>
              </a:rPr>
              <a:t> </a:t>
            </a:r>
            <a:r>
              <a:rPr sz="2600" spc="-85" dirty="0">
                <a:latin typeface="Trebuchet MS"/>
                <a:cs typeface="Trebuchet MS"/>
              </a:rPr>
              <a:t>the</a:t>
            </a:r>
            <a:r>
              <a:rPr sz="2600" spc="-180" dirty="0">
                <a:latin typeface="Trebuchet MS"/>
                <a:cs typeface="Trebuchet MS"/>
              </a:rPr>
              <a:t> </a:t>
            </a:r>
            <a:r>
              <a:rPr sz="2600" spc="-50" dirty="0">
                <a:latin typeface="Trebuchet MS"/>
                <a:cs typeface="Trebuchet MS"/>
              </a:rPr>
              <a:t>security</a:t>
            </a:r>
            <a:r>
              <a:rPr sz="2600" spc="-160" dirty="0">
                <a:latin typeface="Trebuchet MS"/>
                <a:cs typeface="Trebuchet MS"/>
              </a:rPr>
              <a:t> </a:t>
            </a:r>
            <a:r>
              <a:rPr sz="2600" spc="-80" dirty="0">
                <a:latin typeface="Trebuchet MS"/>
                <a:cs typeface="Trebuchet MS"/>
              </a:rPr>
              <a:t>of</a:t>
            </a:r>
            <a:r>
              <a:rPr sz="2600" spc="-175" dirty="0">
                <a:latin typeface="Trebuchet MS"/>
                <a:cs typeface="Trebuchet MS"/>
              </a:rPr>
              <a:t> </a:t>
            </a:r>
            <a:r>
              <a:rPr sz="2600" spc="-25" dirty="0">
                <a:latin typeface="Trebuchet MS"/>
                <a:cs typeface="Trebuchet MS"/>
              </a:rPr>
              <a:t>the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480428" y="5572150"/>
            <a:ext cx="664210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30" dirty="0">
                <a:latin typeface="Trebuchet MS"/>
                <a:cs typeface="Trebuchet MS"/>
              </a:rPr>
              <a:t>data</a:t>
            </a:r>
            <a:endParaRPr sz="2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90" dirty="0"/>
              <a:t>Optical</a:t>
            </a:r>
            <a:r>
              <a:rPr spc="-445" dirty="0"/>
              <a:t> </a:t>
            </a:r>
            <a:r>
              <a:rPr spc="-254" dirty="0"/>
              <a:t>Fiber</a:t>
            </a:r>
            <a:r>
              <a:rPr spc="-450" dirty="0"/>
              <a:t> </a:t>
            </a:r>
            <a:r>
              <a:rPr spc="-75" dirty="0"/>
              <a:t>Cable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029" marR="5080" indent="-227965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</a:tabLst>
            </a:pPr>
            <a:r>
              <a:rPr spc="-40" dirty="0"/>
              <a:t>Optical</a:t>
            </a:r>
            <a:r>
              <a:rPr spc="-235" dirty="0"/>
              <a:t> </a:t>
            </a:r>
            <a:r>
              <a:rPr spc="-105" dirty="0"/>
              <a:t>Fibre</a:t>
            </a:r>
            <a:r>
              <a:rPr spc="-210" dirty="0"/>
              <a:t> </a:t>
            </a:r>
            <a:r>
              <a:rPr dirty="0"/>
              <a:t>Cable</a:t>
            </a:r>
            <a:r>
              <a:rPr spc="-225" dirty="0"/>
              <a:t> </a:t>
            </a:r>
            <a:r>
              <a:rPr spc="105" dirty="0"/>
              <a:t>uses</a:t>
            </a:r>
            <a:r>
              <a:rPr spc="-220" dirty="0"/>
              <a:t> </a:t>
            </a:r>
            <a:r>
              <a:rPr spc="-90" dirty="0"/>
              <a:t>the</a:t>
            </a:r>
            <a:r>
              <a:rPr spc="-235" dirty="0"/>
              <a:t> </a:t>
            </a:r>
            <a:r>
              <a:rPr spc="-25" dirty="0"/>
              <a:t>concept</a:t>
            </a:r>
            <a:r>
              <a:rPr spc="-204" dirty="0"/>
              <a:t> </a:t>
            </a:r>
            <a:r>
              <a:rPr spc="-100" dirty="0"/>
              <a:t>of</a:t>
            </a:r>
            <a:r>
              <a:rPr spc="-225" dirty="0"/>
              <a:t> </a:t>
            </a:r>
            <a:r>
              <a:rPr spc="-114" dirty="0"/>
              <a:t>total</a:t>
            </a:r>
            <a:r>
              <a:rPr spc="-235" dirty="0"/>
              <a:t> </a:t>
            </a:r>
            <a:r>
              <a:rPr spc="-95" dirty="0"/>
              <a:t>internal</a:t>
            </a:r>
            <a:r>
              <a:rPr spc="-229" dirty="0"/>
              <a:t> </a:t>
            </a:r>
            <a:r>
              <a:rPr spc="-100" dirty="0"/>
              <a:t>reflection</a:t>
            </a:r>
            <a:r>
              <a:rPr spc="-235" dirty="0"/>
              <a:t> </a:t>
            </a:r>
            <a:r>
              <a:rPr spc="-25" dirty="0"/>
              <a:t>of 	</a:t>
            </a:r>
            <a:r>
              <a:rPr spc="-105" dirty="0"/>
              <a:t>light</a:t>
            </a:r>
            <a:r>
              <a:rPr spc="-260" dirty="0"/>
              <a:t> </a:t>
            </a:r>
            <a:r>
              <a:rPr spc="-70" dirty="0"/>
              <a:t>through</a:t>
            </a:r>
            <a:r>
              <a:rPr spc="-225" dirty="0"/>
              <a:t> </a:t>
            </a:r>
            <a:r>
              <a:rPr dirty="0"/>
              <a:t>a</a:t>
            </a:r>
            <a:r>
              <a:rPr spc="-245" dirty="0"/>
              <a:t> </a:t>
            </a:r>
            <a:r>
              <a:rPr spc="-45" dirty="0"/>
              <a:t>core</a:t>
            </a:r>
            <a:r>
              <a:rPr spc="-229" dirty="0"/>
              <a:t> </a:t>
            </a:r>
            <a:r>
              <a:rPr spc="-10" dirty="0"/>
              <a:t>made</a:t>
            </a:r>
            <a:r>
              <a:rPr spc="-240" dirty="0"/>
              <a:t> </a:t>
            </a:r>
            <a:r>
              <a:rPr dirty="0"/>
              <a:t>up</a:t>
            </a:r>
            <a:r>
              <a:rPr spc="-250" dirty="0"/>
              <a:t> </a:t>
            </a:r>
            <a:r>
              <a:rPr spc="-100" dirty="0"/>
              <a:t>of</a:t>
            </a:r>
            <a:r>
              <a:rPr spc="-240" dirty="0"/>
              <a:t> </a:t>
            </a:r>
            <a:r>
              <a:rPr spc="-10" dirty="0"/>
              <a:t>glass.</a:t>
            </a:r>
          </a:p>
          <a:p>
            <a:pPr marL="240029" marR="14604" indent="-227965">
              <a:lnSpc>
                <a:spcPts val="302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pc="-130" dirty="0"/>
              <a:t>The</a:t>
            </a:r>
            <a:r>
              <a:rPr spc="-229" dirty="0"/>
              <a:t> </a:t>
            </a:r>
            <a:r>
              <a:rPr spc="-45" dirty="0"/>
              <a:t>core</a:t>
            </a:r>
            <a:r>
              <a:rPr spc="-225" dirty="0"/>
              <a:t> </a:t>
            </a:r>
            <a:r>
              <a:rPr dirty="0"/>
              <a:t>is</a:t>
            </a:r>
            <a:r>
              <a:rPr spc="-235" dirty="0"/>
              <a:t> </a:t>
            </a:r>
            <a:r>
              <a:rPr spc="-20" dirty="0"/>
              <a:t>surrounded</a:t>
            </a:r>
            <a:r>
              <a:rPr spc="-200" dirty="0"/>
              <a:t> </a:t>
            </a:r>
            <a:r>
              <a:rPr spc="-80" dirty="0"/>
              <a:t>by</a:t>
            </a:r>
            <a:r>
              <a:rPr spc="-245" dirty="0"/>
              <a:t> </a:t>
            </a:r>
            <a:r>
              <a:rPr dirty="0"/>
              <a:t>a</a:t>
            </a:r>
            <a:r>
              <a:rPr spc="-229" dirty="0"/>
              <a:t> </a:t>
            </a:r>
            <a:r>
              <a:rPr spc="65" dirty="0"/>
              <a:t>less</a:t>
            </a:r>
            <a:r>
              <a:rPr spc="-235" dirty="0"/>
              <a:t> </a:t>
            </a:r>
            <a:r>
              <a:rPr dirty="0"/>
              <a:t>dense</a:t>
            </a:r>
            <a:r>
              <a:rPr spc="-220" dirty="0"/>
              <a:t> </a:t>
            </a:r>
            <a:r>
              <a:rPr spc="55" dirty="0"/>
              <a:t>glass</a:t>
            </a:r>
            <a:r>
              <a:rPr spc="-245" dirty="0"/>
              <a:t> </a:t>
            </a:r>
            <a:r>
              <a:rPr spc="-75" dirty="0"/>
              <a:t>or</a:t>
            </a:r>
            <a:r>
              <a:rPr spc="-185" dirty="0"/>
              <a:t> </a:t>
            </a:r>
            <a:r>
              <a:rPr spc="-30" dirty="0"/>
              <a:t>plastic</a:t>
            </a:r>
            <a:r>
              <a:rPr spc="-250" dirty="0"/>
              <a:t> </a:t>
            </a:r>
            <a:r>
              <a:rPr spc="-10" dirty="0"/>
              <a:t>covering 	</a:t>
            </a:r>
            <a:r>
              <a:rPr spc="-40" dirty="0"/>
              <a:t>called</a:t>
            </a:r>
            <a:r>
              <a:rPr spc="-229" dirty="0"/>
              <a:t> </a:t>
            </a:r>
            <a:r>
              <a:rPr spc="-90" dirty="0"/>
              <a:t>the</a:t>
            </a:r>
            <a:r>
              <a:rPr spc="-235" dirty="0"/>
              <a:t> </a:t>
            </a:r>
            <a:r>
              <a:rPr spc="-75" dirty="0"/>
              <a:t>coating.</a:t>
            </a:r>
            <a:r>
              <a:rPr spc="-215" dirty="0"/>
              <a:t> </a:t>
            </a:r>
            <a:r>
              <a:rPr spc="-140" dirty="0"/>
              <a:t>It</a:t>
            </a:r>
            <a:r>
              <a:rPr spc="-235" dirty="0"/>
              <a:t> </a:t>
            </a:r>
            <a:r>
              <a:rPr dirty="0"/>
              <a:t>is</a:t>
            </a:r>
            <a:r>
              <a:rPr spc="-235" dirty="0"/>
              <a:t> </a:t>
            </a:r>
            <a:r>
              <a:rPr dirty="0"/>
              <a:t>used</a:t>
            </a:r>
            <a:r>
              <a:rPr spc="-204" dirty="0"/>
              <a:t> </a:t>
            </a:r>
            <a:r>
              <a:rPr spc="-130" dirty="0"/>
              <a:t>for</a:t>
            </a:r>
            <a:r>
              <a:rPr spc="-225" dirty="0"/>
              <a:t> </a:t>
            </a:r>
            <a:r>
              <a:rPr spc="-90" dirty="0"/>
              <a:t>the</a:t>
            </a:r>
            <a:r>
              <a:rPr spc="-235" dirty="0"/>
              <a:t> </a:t>
            </a:r>
            <a:r>
              <a:rPr dirty="0"/>
              <a:t>transmission</a:t>
            </a:r>
            <a:r>
              <a:rPr spc="-229" dirty="0"/>
              <a:t> </a:t>
            </a:r>
            <a:r>
              <a:rPr spc="-100" dirty="0"/>
              <a:t>of</a:t>
            </a:r>
            <a:r>
              <a:rPr spc="-220" dirty="0"/>
              <a:t> </a:t>
            </a:r>
            <a:r>
              <a:rPr spc="-100" dirty="0"/>
              <a:t>large</a:t>
            </a:r>
            <a:r>
              <a:rPr spc="-225" dirty="0"/>
              <a:t> </a:t>
            </a:r>
            <a:r>
              <a:rPr spc="-10" dirty="0"/>
              <a:t>volumes 	</a:t>
            </a:r>
            <a:r>
              <a:rPr spc="-100" dirty="0"/>
              <a:t>of</a:t>
            </a:r>
            <a:r>
              <a:rPr spc="-229" dirty="0"/>
              <a:t> </a:t>
            </a:r>
            <a:r>
              <a:rPr spc="-105" dirty="0"/>
              <a:t>data.</a:t>
            </a:r>
            <a:r>
              <a:rPr spc="-225" dirty="0"/>
              <a:t> </a:t>
            </a:r>
            <a:r>
              <a:rPr spc="-130" dirty="0"/>
              <a:t>The</a:t>
            </a:r>
            <a:r>
              <a:rPr spc="-229" dirty="0"/>
              <a:t> </a:t>
            </a:r>
            <a:r>
              <a:rPr spc="-35" dirty="0"/>
              <a:t>cable</a:t>
            </a:r>
            <a:r>
              <a:rPr spc="-229" dirty="0"/>
              <a:t> </a:t>
            </a:r>
            <a:r>
              <a:rPr dirty="0"/>
              <a:t>can</a:t>
            </a:r>
            <a:r>
              <a:rPr spc="-215" dirty="0"/>
              <a:t> </a:t>
            </a:r>
            <a:r>
              <a:rPr spc="-40" dirty="0"/>
              <a:t>be</a:t>
            </a:r>
            <a:r>
              <a:rPr spc="-225" dirty="0"/>
              <a:t> </a:t>
            </a:r>
            <a:r>
              <a:rPr spc="-70" dirty="0"/>
              <a:t>unidirectional</a:t>
            </a:r>
            <a:r>
              <a:rPr spc="-240" dirty="0"/>
              <a:t> </a:t>
            </a:r>
            <a:r>
              <a:rPr spc="-75" dirty="0"/>
              <a:t>or</a:t>
            </a:r>
            <a:r>
              <a:rPr spc="-240" dirty="0"/>
              <a:t> </a:t>
            </a:r>
            <a:r>
              <a:rPr spc="-10" dirty="0"/>
              <a:t>bidirectional.</a:t>
            </a:r>
          </a:p>
          <a:p>
            <a:pPr marL="239395" marR="59690" indent="-227329">
              <a:lnSpc>
                <a:spcPts val="3030"/>
              </a:lnSpc>
              <a:spcBef>
                <a:spcPts val="1015"/>
              </a:spcBef>
              <a:buFont typeface="Arial MT"/>
              <a:buChar char="•"/>
              <a:tabLst>
                <a:tab pos="241300" algn="l"/>
              </a:tabLst>
            </a:pPr>
            <a:r>
              <a:rPr spc="-130" dirty="0"/>
              <a:t>The</a:t>
            </a:r>
            <a:r>
              <a:rPr spc="-229" dirty="0"/>
              <a:t> </a:t>
            </a:r>
            <a:r>
              <a:rPr spc="155" dirty="0"/>
              <a:t>WDM</a:t>
            </a:r>
            <a:r>
              <a:rPr spc="-204" dirty="0"/>
              <a:t> </a:t>
            </a:r>
            <a:r>
              <a:rPr spc="-90" dirty="0"/>
              <a:t>(Wavelength</a:t>
            </a:r>
            <a:r>
              <a:rPr spc="-190" dirty="0"/>
              <a:t> </a:t>
            </a:r>
            <a:r>
              <a:rPr spc="-25" dirty="0"/>
              <a:t>Division</a:t>
            </a:r>
            <a:r>
              <a:rPr spc="-225" dirty="0"/>
              <a:t> </a:t>
            </a:r>
            <a:r>
              <a:rPr spc="-95" dirty="0"/>
              <a:t>Multiplexer)</a:t>
            </a:r>
            <a:r>
              <a:rPr spc="-229" dirty="0"/>
              <a:t> </a:t>
            </a:r>
            <a:r>
              <a:rPr dirty="0"/>
              <a:t>supports</a:t>
            </a:r>
            <a:r>
              <a:rPr spc="-190" dirty="0"/>
              <a:t> </a:t>
            </a:r>
            <a:r>
              <a:rPr spc="-105" dirty="0"/>
              <a:t>two</a:t>
            </a:r>
            <a:r>
              <a:rPr spc="-220" dirty="0"/>
              <a:t> </a:t>
            </a:r>
            <a:r>
              <a:rPr spc="-10" dirty="0"/>
              <a:t>modes, 	</a:t>
            </a:r>
            <a:r>
              <a:rPr spc="-45" dirty="0"/>
              <a:t>namely</a:t>
            </a:r>
            <a:r>
              <a:rPr spc="-220" dirty="0"/>
              <a:t> </a:t>
            </a:r>
            <a:r>
              <a:rPr spc="-70" dirty="0"/>
              <a:t>unidirectional</a:t>
            </a:r>
            <a:r>
              <a:rPr spc="-185" dirty="0"/>
              <a:t> </a:t>
            </a:r>
            <a:r>
              <a:rPr dirty="0"/>
              <a:t>and</a:t>
            </a:r>
            <a:r>
              <a:rPr spc="-204" dirty="0"/>
              <a:t> </a:t>
            </a:r>
            <a:r>
              <a:rPr spc="-80" dirty="0"/>
              <a:t>bidirectional</a:t>
            </a:r>
            <a:r>
              <a:rPr spc="-220" dirty="0"/>
              <a:t> </a:t>
            </a:r>
            <a:r>
              <a:rPr spc="-10" dirty="0"/>
              <a:t>mode.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52771" y="4844796"/>
            <a:ext cx="2886455" cy="164807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8768" y="605155"/>
            <a:ext cx="436689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90" dirty="0"/>
              <a:t>Optical</a:t>
            </a:r>
            <a:r>
              <a:rPr spc="-450" dirty="0"/>
              <a:t> </a:t>
            </a:r>
            <a:r>
              <a:rPr spc="-254" dirty="0"/>
              <a:t>Fiber</a:t>
            </a:r>
            <a:r>
              <a:rPr spc="-455" dirty="0"/>
              <a:t> </a:t>
            </a:r>
            <a:r>
              <a:rPr spc="-75" dirty="0"/>
              <a:t>Cable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pc="-10" dirty="0"/>
              <a:t>Advantages</a:t>
            </a:r>
          </a:p>
          <a:p>
            <a:pPr marL="240029" marR="858519" indent="-227329">
              <a:lnSpc>
                <a:spcPts val="3020"/>
              </a:lnSpc>
              <a:spcBef>
                <a:spcPts val="76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b="0" spc="-20" dirty="0">
                <a:latin typeface="Trebuchet MS"/>
                <a:cs typeface="Trebuchet MS"/>
              </a:rPr>
              <a:t>Increased</a:t>
            </a:r>
            <a:r>
              <a:rPr sz="2800" b="0" spc="-195" dirty="0">
                <a:latin typeface="Trebuchet MS"/>
                <a:cs typeface="Trebuchet MS"/>
              </a:rPr>
              <a:t> </a:t>
            </a:r>
            <a:r>
              <a:rPr sz="2800" b="0" spc="-50" dirty="0">
                <a:latin typeface="Trebuchet MS"/>
                <a:cs typeface="Trebuchet MS"/>
              </a:rPr>
              <a:t>capacity</a:t>
            </a:r>
            <a:r>
              <a:rPr sz="2800" b="0" spc="-220" dirty="0">
                <a:latin typeface="Trebuchet MS"/>
                <a:cs typeface="Trebuchet MS"/>
              </a:rPr>
              <a:t> </a:t>
            </a:r>
            <a:r>
              <a:rPr sz="2800" b="0" spc="-25" dirty="0">
                <a:latin typeface="Trebuchet MS"/>
                <a:cs typeface="Trebuchet MS"/>
              </a:rPr>
              <a:t>and 	</a:t>
            </a:r>
            <a:r>
              <a:rPr sz="2800" b="0" spc="-10" dirty="0">
                <a:latin typeface="Trebuchet MS"/>
                <a:cs typeface="Trebuchet MS"/>
              </a:rPr>
              <a:t>bandwidth</a:t>
            </a:r>
            <a:endParaRPr sz="2800">
              <a:latin typeface="Trebuchet MS"/>
              <a:cs typeface="Trebuchet MS"/>
            </a:endParaRPr>
          </a:p>
          <a:p>
            <a:pPr marL="240029" indent="-227329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b="0" spc="-10" dirty="0">
                <a:latin typeface="Trebuchet MS"/>
                <a:cs typeface="Trebuchet MS"/>
              </a:rPr>
              <a:t>Lightweight</a:t>
            </a:r>
            <a:endParaRPr sz="2800">
              <a:latin typeface="Trebuchet MS"/>
              <a:cs typeface="Trebuchet MS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b="0" spc="85" dirty="0">
                <a:latin typeface="Trebuchet MS"/>
                <a:cs typeface="Trebuchet MS"/>
              </a:rPr>
              <a:t>Less</a:t>
            </a:r>
            <a:r>
              <a:rPr sz="2800" b="0" spc="-229" dirty="0">
                <a:latin typeface="Trebuchet MS"/>
                <a:cs typeface="Trebuchet MS"/>
              </a:rPr>
              <a:t> </a:t>
            </a:r>
            <a:r>
              <a:rPr sz="2800" b="0" spc="-25" dirty="0">
                <a:latin typeface="Trebuchet MS"/>
                <a:cs typeface="Trebuchet MS"/>
              </a:rPr>
              <a:t>signal</a:t>
            </a:r>
            <a:r>
              <a:rPr sz="2800" b="0" spc="-235" dirty="0">
                <a:latin typeface="Trebuchet MS"/>
                <a:cs typeface="Trebuchet MS"/>
              </a:rPr>
              <a:t> </a:t>
            </a:r>
            <a:r>
              <a:rPr sz="2800" b="0" spc="-10" dirty="0">
                <a:latin typeface="Trebuchet MS"/>
                <a:cs typeface="Trebuchet MS"/>
              </a:rPr>
              <a:t>attenuation</a:t>
            </a:r>
            <a:endParaRPr sz="2800">
              <a:latin typeface="Trebuchet MS"/>
              <a:cs typeface="Trebuchet MS"/>
            </a:endParaRPr>
          </a:p>
          <a:p>
            <a:pPr marL="240029" marR="5080" indent="-227329">
              <a:lnSpc>
                <a:spcPts val="3020"/>
              </a:lnSpc>
              <a:spcBef>
                <a:spcPts val="104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b="0" spc="-60" dirty="0">
                <a:latin typeface="Trebuchet MS"/>
                <a:cs typeface="Trebuchet MS"/>
              </a:rPr>
              <a:t>Immunity</a:t>
            </a:r>
            <a:r>
              <a:rPr sz="2800" b="0" spc="-254" dirty="0">
                <a:latin typeface="Trebuchet MS"/>
                <a:cs typeface="Trebuchet MS"/>
              </a:rPr>
              <a:t> </a:t>
            </a:r>
            <a:r>
              <a:rPr sz="2800" b="0" spc="-105" dirty="0">
                <a:latin typeface="Trebuchet MS"/>
                <a:cs typeface="Trebuchet MS"/>
              </a:rPr>
              <a:t>to</a:t>
            </a:r>
            <a:r>
              <a:rPr sz="2800" b="0" spc="-225" dirty="0">
                <a:latin typeface="Trebuchet MS"/>
                <a:cs typeface="Trebuchet MS"/>
              </a:rPr>
              <a:t> </a:t>
            </a:r>
            <a:r>
              <a:rPr sz="2800" b="0" spc="-50" dirty="0">
                <a:latin typeface="Trebuchet MS"/>
                <a:cs typeface="Trebuchet MS"/>
              </a:rPr>
              <a:t>electromagnetic 	</a:t>
            </a:r>
            <a:r>
              <a:rPr sz="2800" b="0" spc="-10" dirty="0">
                <a:latin typeface="Trebuchet MS"/>
                <a:cs typeface="Trebuchet MS"/>
              </a:rPr>
              <a:t>interference</a:t>
            </a:r>
            <a:endParaRPr sz="2800">
              <a:latin typeface="Trebuchet MS"/>
              <a:cs typeface="Trebuchet MS"/>
            </a:endParaRPr>
          </a:p>
          <a:p>
            <a:pPr marL="240029" marR="848360" indent="-227329">
              <a:lnSpc>
                <a:spcPts val="303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b="0" dirty="0">
                <a:latin typeface="Trebuchet MS"/>
                <a:cs typeface="Trebuchet MS"/>
              </a:rPr>
              <a:t>Resistance</a:t>
            </a:r>
            <a:r>
              <a:rPr sz="2800" b="0" spc="-215" dirty="0">
                <a:latin typeface="Trebuchet MS"/>
                <a:cs typeface="Trebuchet MS"/>
              </a:rPr>
              <a:t> </a:t>
            </a:r>
            <a:r>
              <a:rPr sz="2800" b="0" spc="-105" dirty="0">
                <a:latin typeface="Trebuchet MS"/>
                <a:cs typeface="Trebuchet MS"/>
              </a:rPr>
              <a:t>to</a:t>
            </a:r>
            <a:r>
              <a:rPr sz="2800" b="0" spc="-220" dirty="0">
                <a:latin typeface="Trebuchet MS"/>
                <a:cs typeface="Trebuchet MS"/>
              </a:rPr>
              <a:t> </a:t>
            </a:r>
            <a:r>
              <a:rPr sz="2800" b="0" spc="-25" dirty="0">
                <a:latin typeface="Trebuchet MS"/>
                <a:cs typeface="Trebuchet MS"/>
              </a:rPr>
              <a:t>corrosive 	</a:t>
            </a:r>
            <a:r>
              <a:rPr sz="2800" b="0" spc="-10" dirty="0">
                <a:latin typeface="Trebuchet MS"/>
                <a:cs typeface="Trebuchet MS"/>
              </a:rPr>
              <a:t>materials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51828" y="2016171"/>
            <a:ext cx="4946650" cy="141795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2400" b="1" spc="-10" dirty="0">
                <a:latin typeface="Trebuchet MS"/>
                <a:cs typeface="Trebuchet MS"/>
              </a:rPr>
              <a:t>Disadvantages</a:t>
            </a:r>
            <a:endParaRPr sz="2400">
              <a:latin typeface="Trebuchet MS"/>
              <a:cs typeface="Trebuchet MS"/>
            </a:endParaRPr>
          </a:p>
          <a:p>
            <a:pPr marL="240029" indent="-227329">
              <a:lnSpc>
                <a:spcPct val="100000"/>
              </a:lnSpc>
              <a:spcBef>
                <a:spcPts val="37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spc="-90" dirty="0">
                <a:latin typeface="Trebuchet MS"/>
                <a:cs typeface="Trebuchet MS"/>
              </a:rPr>
              <a:t>Difficult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110" dirty="0">
                <a:latin typeface="Trebuchet MS"/>
                <a:cs typeface="Trebuchet MS"/>
              </a:rPr>
              <a:t>to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55" dirty="0">
                <a:latin typeface="Trebuchet MS"/>
                <a:cs typeface="Trebuchet MS"/>
              </a:rPr>
              <a:t>install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and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maintain</a:t>
            </a:r>
            <a:endParaRPr sz="2800">
              <a:latin typeface="Trebuchet MS"/>
              <a:cs typeface="Trebuchet MS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spc="-10" dirty="0">
                <a:latin typeface="Trebuchet MS"/>
                <a:cs typeface="Trebuchet MS"/>
              </a:rPr>
              <a:t>High</a:t>
            </a:r>
            <a:r>
              <a:rPr sz="2800" spc="-280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cost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5155"/>
            <a:ext cx="783272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70" dirty="0"/>
              <a:t>Applications</a:t>
            </a:r>
            <a:r>
              <a:rPr spc="-445" dirty="0"/>
              <a:t> </a:t>
            </a:r>
            <a:r>
              <a:rPr spc="-265" dirty="0"/>
              <a:t>of</a:t>
            </a:r>
            <a:r>
              <a:rPr spc="-459" dirty="0"/>
              <a:t> </a:t>
            </a:r>
            <a:r>
              <a:rPr spc="-190" dirty="0"/>
              <a:t>Optical</a:t>
            </a:r>
            <a:r>
              <a:rPr spc="-480" dirty="0"/>
              <a:t> </a:t>
            </a:r>
            <a:r>
              <a:rPr spc="-270" dirty="0"/>
              <a:t>Fibre</a:t>
            </a:r>
            <a:r>
              <a:rPr spc="-430" dirty="0"/>
              <a:t> </a:t>
            </a:r>
            <a:r>
              <a:rPr spc="-45" dirty="0"/>
              <a:t>Cable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07917"/>
            <a:ext cx="10078085" cy="283781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b="1" dirty="0">
                <a:latin typeface="Trebuchet MS"/>
                <a:cs typeface="Trebuchet MS"/>
              </a:rPr>
              <a:t>Medical</a:t>
            </a:r>
            <a:r>
              <a:rPr sz="2800" b="1" spc="-204" dirty="0">
                <a:latin typeface="Trebuchet MS"/>
                <a:cs typeface="Trebuchet MS"/>
              </a:rPr>
              <a:t> </a:t>
            </a:r>
            <a:r>
              <a:rPr sz="2800" b="1" spc="-35" dirty="0">
                <a:latin typeface="Trebuchet MS"/>
                <a:cs typeface="Trebuchet MS"/>
              </a:rPr>
              <a:t>Purpose:</a:t>
            </a:r>
            <a:r>
              <a:rPr sz="2800" b="1" spc="-190" dirty="0">
                <a:latin typeface="Trebuchet MS"/>
                <a:cs typeface="Trebuchet MS"/>
              </a:rPr>
              <a:t> </a:t>
            </a:r>
            <a:r>
              <a:rPr sz="2800" spc="60" dirty="0">
                <a:latin typeface="Trebuchet MS"/>
                <a:cs typeface="Trebuchet MS"/>
              </a:rPr>
              <a:t>Used</a:t>
            </a:r>
            <a:r>
              <a:rPr sz="2800" spc="-195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in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65" dirty="0">
                <a:latin typeface="Trebuchet MS"/>
                <a:cs typeface="Trebuchet MS"/>
              </a:rPr>
              <a:t>several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50" dirty="0">
                <a:latin typeface="Trebuchet MS"/>
                <a:cs typeface="Trebuchet MS"/>
              </a:rPr>
              <a:t>types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of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30" dirty="0">
                <a:latin typeface="Trebuchet MS"/>
                <a:cs typeface="Trebuchet MS"/>
              </a:rPr>
              <a:t>medical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instruments.</a:t>
            </a:r>
            <a:endParaRPr sz="2800">
              <a:latin typeface="Trebuchet MS"/>
              <a:cs typeface="Trebuchet MS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b="1" spc="-20" dirty="0">
                <a:latin typeface="Trebuchet MS"/>
                <a:cs typeface="Trebuchet MS"/>
              </a:rPr>
              <a:t>Defence</a:t>
            </a:r>
            <a:r>
              <a:rPr sz="2800" b="1" spc="-229" dirty="0">
                <a:latin typeface="Trebuchet MS"/>
                <a:cs typeface="Trebuchet MS"/>
              </a:rPr>
              <a:t> </a:t>
            </a:r>
            <a:r>
              <a:rPr sz="2800" b="1" spc="-35" dirty="0">
                <a:latin typeface="Trebuchet MS"/>
                <a:cs typeface="Trebuchet MS"/>
              </a:rPr>
              <a:t>Purpose:</a:t>
            </a:r>
            <a:r>
              <a:rPr sz="2800" b="1" spc="-225" dirty="0">
                <a:latin typeface="Trebuchet MS"/>
                <a:cs typeface="Trebuchet MS"/>
              </a:rPr>
              <a:t> </a:t>
            </a:r>
            <a:r>
              <a:rPr sz="2800" spc="60" dirty="0">
                <a:latin typeface="Trebuchet MS"/>
                <a:cs typeface="Trebuchet MS"/>
              </a:rPr>
              <a:t>Used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in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transmission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of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75" dirty="0">
                <a:latin typeface="Trebuchet MS"/>
                <a:cs typeface="Trebuchet MS"/>
              </a:rPr>
              <a:t>data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in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aerospace.</a:t>
            </a:r>
            <a:endParaRPr sz="2800">
              <a:latin typeface="Trebuchet MS"/>
              <a:cs typeface="Trebuchet MS"/>
            </a:endParaRPr>
          </a:p>
          <a:p>
            <a:pPr marL="240029" marR="13970" indent="-227965">
              <a:lnSpc>
                <a:spcPts val="3020"/>
              </a:lnSpc>
              <a:spcBef>
                <a:spcPts val="106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b="1" spc="-120" dirty="0">
                <a:latin typeface="Trebuchet MS"/>
                <a:cs typeface="Trebuchet MS"/>
              </a:rPr>
              <a:t>For</a:t>
            </a:r>
            <a:r>
              <a:rPr sz="2800" b="1" spc="-210" dirty="0">
                <a:latin typeface="Trebuchet MS"/>
                <a:cs typeface="Trebuchet MS"/>
              </a:rPr>
              <a:t> </a:t>
            </a:r>
            <a:r>
              <a:rPr sz="2800" b="1" spc="-20" dirty="0">
                <a:latin typeface="Trebuchet MS"/>
                <a:cs typeface="Trebuchet MS"/>
              </a:rPr>
              <a:t>Communication:</a:t>
            </a:r>
            <a:r>
              <a:rPr sz="2800" b="1" spc="-180" dirty="0">
                <a:latin typeface="Trebuchet MS"/>
                <a:cs typeface="Trebuchet MS"/>
              </a:rPr>
              <a:t> </a:t>
            </a:r>
            <a:r>
              <a:rPr sz="2800" spc="-65" dirty="0">
                <a:latin typeface="Trebuchet MS"/>
                <a:cs typeface="Trebuchet MS"/>
              </a:rPr>
              <a:t>This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is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largely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used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in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80" dirty="0">
                <a:latin typeface="Trebuchet MS"/>
                <a:cs typeface="Trebuchet MS"/>
              </a:rPr>
              <a:t>formation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of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40" dirty="0">
                <a:latin typeface="Trebuchet MS"/>
                <a:cs typeface="Trebuchet MS"/>
              </a:rPr>
              <a:t>internet 	</a:t>
            </a:r>
            <a:r>
              <a:rPr sz="2800" spc="-10" dirty="0">
                <a:latin typeface="Trebuchet MS"/>
                <a:cs typeface="Trebuchet MS"/>
              </a:rPr>
              <a:t>cables.</a:t>
            </a:r>
            <a:endParaRPr sz="2800">
              <a:latin typeface="Trebuchet MS"/>
              <a:cs typeface="Trebuchet MS"/>
            </a:endParaRPr>
          </a:p>
          <a:p>
            <a:pPr marL="240029" marR="306705" indent="-227965">
              <a:lnSpc>
                <a:spcPts val="302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b="1" spc="-25" dirty="0">
                <a:latin typeface="Trebuchet MS"/>
                <a:cs typeface="Trebuchet MS"/>
              </a:rPr>
              <a:t>Industrial</a:t>
            </a:r>
            <a:r>
              <a:rPr sz="2800" b="1" spc="-165" dirty="0">
                <a:latin typeface="Trebuchet MS"/>
                <a:cs typeface="Trebuchet MS"/>
              </a:rPr>
              <a:t> </a:t>
            </a:r>
            <a:r>
              <a:rPr sz="2800" b="1" spc="-35" dirty="0">
                <a:latin typeface="Trebuchet MS"/>
                <a:cs typeface="Trebuchet MS"/>
              </a:rPr>
              <a:t>Purpose:</a:t>
            </a:r>
            <a:r>
              <a:rPr sz="2800" b="1" spc="-190" dirty="0">
                <a:latin typeface="Trebuchet MS"/>
                <a:cs typeface="Trebuchet MS"/>
              </a:rPr>
              <a:t> </a:t>
            </a:r>
            <a:r>
              <a:rPr sz="2800" spc="60" dirty="0">
                <a:latin typeface="Trebuchet MS"/>
                <a:cs typeface="Trebuchet MS"/>
              </a:rPr>
              <a:t>Used</a:t>
            </a:r>
            <a:r>
              <a:rPr sz="2800" spc="-180" dirty="0">
                <a:latin typeface="Trebuchet MS"/>
                <a:cs typeface="Trebuchet MS"/>
              </a:rPr>
              <a:t> </a:t>
            </a:r>
            <a:r>
              <a:rPr sz="2800" spc="-130" dirty="0">
                <a:latin typeface="Trebuchet MS"/>
                <a:cs typeface="Trebuchet MS"/>
              </a:rPr>
              <a:t>for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lighting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purposes</a:t>
            </a:r>
            <a:r>
              <a:rPr sz="2800" spc="-17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and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safety 	</a:t>
            </a:r>
            <a:r>
              <a:rPr sz="2800" dirty="0">
                <a:latin typeface="Trebuchet MS"/>
                <a:cs typeface="Trebuchet MS"/>
              </a:rPr>
              <a:t>measures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in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35" dirty="0">
                <a:latin typeface="Trebuchet MS"/>
                <a:cs typeface="Trebuchet MS"/>
              </a:rPr>
              <a:t>designing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the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110" dirty="0">
                <a:latin typeface="Trebuchet MS"/>
                <a:cs typeface="Trebuchet MS"/>
              </a:rPr>
              <a:t>interior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and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spc="-125" dirty="0">
                <a:latin typeface="Trebuchet MS"/>
                <a:cs typeface="Trebuchet MS"/>
              </a:rPr>
              <a:t>exterior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of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automobiles.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15" dirty="0"/>
              <a:t>Stripline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1969"/>
            <a:ext cx="10262235" cy="352171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029" marR="90805" indent="-227965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75" dirty="0">
                <a:latin typeface="Trebuchet MS"/>
                <a:cs typeface="Trebuchet MS"/>
              </a:rPr>
              <a:t>Stripline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is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transverse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65" dirty="0">
                <a:latin typeface="Trebuchet MS"/>
                <a:cs typeface="Trebuchet MS"/>
              </a:rPr>
              <a:t>electromagnetic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(TEM)</a:t>
            </a:r>
            <a:r>
              <a:rPr sz="2800" spc="-19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transmission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line 	</a:t>
            </a:r>
            <a:r>
              <a:rPr sz="2800" spc="-10" dirty="0">
                <a:latin typeface="Trebuchet MS"/>
                <a:cs typeface="Trebuchet MS"/>
              </a:rPr>
              <a:t>medium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invented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80" dirty="0">
                <a:latin typeface="Trebuchet MS"/>
                <a:cs typeface="Trebuchet MS"/>
              </a:rPr>
              <a:t>by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Robert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M.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114" dirty="0">
                <a:latin typeface="Trebuchet MS"/>
                <a:cs typeface="Trebuchet MS"/>
              </a:rPr>
              <a:t>Barrett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of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the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114" dirty="0">
                <a:latin typeface="Trebuchet MS"/>
                <a:cs typeface="Trebuchet MS"/>
              </a:rPr>
              <a:t>Air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50" dirty="0">
                <a:latin typeface="Trebuchet MS"/>
                <a:cs typeface="Trebuchet MS"/>
              </a:rPr>
              <a:t>Force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Cambridge 	</a:t>
            </a:r>
            <a:r>
              <a:rPr sz="2800" dirty="0">
                <a:latin typeface="Trebuchet MS"/>
                <a:cs typeface="Trebuchet MS"/>
              </a:rPr>
              <a:t>Research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Centre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in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the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1950s.</a:t>
            </a:r>
            <a:endParaRPr sz="2800">
              <a:latin typeface="Trebuchet MS"/>
              <a:cs typeface="Trebuchet MS"/>
            </a:endParaRPr>
          </a:p>
          <a:p>
            <a:pPr marL="240665" indent="-227965">
              <a:lnSpc>
                <a:spcPct val="100000"/>
              </a:lnSpc>
              <a:spcBef>
                <a:spcPts val="625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spc="-75" dirty="0">
                <a:latin typeface="Trebuchet MS"/>
                <a:cs typeface="Trebuchet MS"/>
              </a:rPr>
              <a:t>Stripline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is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the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75" dirty="0">
                <a:latin typeface="Trebuchet MS"/>
                <a:cs typeface="Trebuchet MS"/>
              </a:rPr>
              <a:t>earliest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95" dirty="0">
                <a:latin typeface="Trebuchet MS"/>
                <a:cs typeface="Trebuchet MS"/>
              </a:rPr>
              <a:t>form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of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the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55" dirty="0">
                <a:latin typeface="Trebuchet MS"/>
                <a:cs typeface="Trebuchet MS"/>
              </a:rPr>
              <a:t>planar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transmission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line.</a:t>
            </a:r>
            <a:endParaRPr sz="2800">
              <a:latin typeface="Trebuchet MS"/>
              <a:cs typeface="Trebuchet MS"/>
            </a:endParaRPr>
          </a:p>
          <a:p>
            <a:pPr marL="240029" marR="163195" indent="-227965">
              <a:lnSpc>
                <a:spcPts val="3020"/>
              </a:lnSpc>
              <a:spcBef>
                <a:spcPts val="105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140" dirty="0">
                <a:latin typeface="Trebuchet MS"/>
                <a:cs typeface="Trebuchet MS"/>
              </a:rPr>
              <a:t>It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105" dirty="0">
                <a:latin typeface="Trebuchet MS"/>
                <a:cs typeface="Trebuchet MS"/>
              </a:rPr>
              <a:t>uses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30" dirty="0">
                <a:latin typeface="Trebuchet MS"/>
                <a:cs typeface="Trebuchet MS"/>
              </a:rPr>
              <a:t>conducting</a:t>
            </a:r>
            <a:r>
              <a:rPr sz="2800" spc="-195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material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110" dirty="0">
                <a:latin typeface="Trebuchet MS"/>
                <a:cs typeface="Trebuchet MS"/>
              </a:rPr>
              <a:t>to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80" dirty="0">
                <a:latin typeface="Trebuchet MS"/>
                <a:cs typeface="Trebuchet MS"/>
              </a:rPr>
              <a:t>transmit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55" dirty="0">
                <a:latin typeface="Trebuchet MS"/>
                <a:cs typeface="Trebuchet MS"/>
              </a:rPr>
              <a:t>high-</a:t>
            </a:r>
            <a:r>
              <a:rPr sz="2800" spc="-65" dirty="0">
                <a:latin typeface="Trebuchet MS"/>
                <a:cs typeface="Trebuchet MS"/>
              </a:rPr>
              <a:t>frequency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waves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it 	</a:t>
            </a:r>
            <a:r>
              <a:rPr sz="2800" dirty="0">
                <a:latin typeface="Trebuchet MS"/>
                <a:cs typeface="Trebuchet MS"/>
              </a:rPr>
              <a:t>is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also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40" dirty="0">
                <a:latin typeface="Trebuchet MS"/>
                <a:cs typeface="Trebuchet MS"/>
              </a:rPr>
              <a:t>called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waveguide.</a:t>
            </a:r>
            <a:endParaRPr sz="2800">
              <a:latin typeface="Trebuchet MS"/>
              <a:cs typeface="Trebuchet MS"/>
            </a:endParaRPr>
          </a:p>
          <a:p>
            <a:pPr marL="240029" marR="5080" indent="-227965">
              <a:lnSpc>
                <a:spcPts val="302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65" dirty="0">
                <a:latin typeface="Trebuchet MS"/>
                <a:cs typeface="Trebuchet MS"/>
              </a:rPr>
              <a:t>This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30" dirty="0">
                <a:latin typeface="Trebuchet MS"/>
                <a:cs typeface="Trebuchet MS"/>
              </a:rPr>
              <a:t>conducting</a:t>
            </a:r>
            <a:r>
              <a:rPr sz="2800" spc="-185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material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is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sandwiched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80" dirty="0">
                <a:latin typeface="Trebuchet MS"/>
                <a:cs typeface="Trebuchet MS"/>
              </a:rPr>
              <a:t>between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two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55" dirty="0">
                <a:latin typeface="Trebuchet MS"/>
                <a:cs typeface="Trebuchet MS"/>
              </a:rPr>
              <a:t>layers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of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the 	</a:t>
            </a:r>
            <a:r>
              <a:rPr sz="2800" spc="-35" dirty="0">
                <a:latin typeface="Trebuchet MS"/>
                <a:cs typeface="Trebuchet MS"/>
              </a:rPr>
              <a:t>ground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35" dirty="0">
                <a:latin typeface="Trebuchet MS"/>
                <a:cs typeface="Trebuchet MS"/>
              </a:rPr>
              <a:t>plane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40" dirty="0">
                <a:latin typeface="Trebuchet MS"/>
                <a:cs typeface="Trebuchet MS"/>
              </a:rPr>
              <a:t>which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are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usually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40" dirty="0">
                <a:latin typeface="Trebuchet MS"/>
                <a:cs typeface="Trebuchet MS"/>
              </a:rPr>
              <a:t>shorted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to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80" dirty="0">
                <a:latin typeface="Trebuchet MS"/>
                <a:cs typeface="Trebuchet MS"/>
              </a:rPr>
              <a:t>provide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65" dirty="0">
                <a:latin typeface="Trebuchet MS"/>
                <a:cs typeface="Trebuchet MS"/>
              </a:rPr>
              <a:t>EMI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immunity.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85" dirty="0"/>
              <a:t>Microstripline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1969"/>
            <a:ext cx="10083800" cy="249872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029" marR="5080" indent="-227965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25" dirty="0">
                <a:latin typeface="Trebuchet MS"/>
                <a:cs typeface="Trebuchet MS"/>
              </a:rPr>
              <a:t>A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65" dirty="0">
                <a:latin typeface="Trebuchet MS"/>
                <a:cs typeface="Trebuchet MS"/>
              </a:rPr>
              <a:t>microstripline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is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type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of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transmission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35" dirty="0">
                <a:latin typeface="Trebuchet MS"/>
                <a:cs typeface="Trebuchet MS"/>
              </a:rPr>
              <a:t>media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used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to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carry 	</a:t>
            </a:r>
            <a:r>
              <a:rPr sz="2800" spc="-60" dirty="0">
                <a:latin typeface="Trebuchet MS"/>
                <a:cs typeface="Trebuchet MS"/>
              </a:rPr>
              <a:t>high-</a:t>
            </a:r>
            <a:r>
              <a:rPr sz="2800" spc="-70" dirty="0">
                <a:latin typeface="Trebuchet MS"/>
                <a:cs typeface="Trebuchet MS"/>
              </a:rPr>
              <a:t>frequency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signals,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commonly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45" dirty="0">
                <a:latin typeface="Trebuchet MS"/>
                <a:cs typeface="Trebuchet MS"/>
              </a:rPr>
              <a:t>found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in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65" dirty="0">
                <a:latin typeface="Trebuchet MS"/>
                <a:cs typeface="Trebuchet MS"/>
              </a:rPr>
              <a:t>microwave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and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radio 	</a:t>
            </a:r>
            <a:r>
              <a:rPr sz="2800" spc="-70" dirty="0">
                <a:latin typeface="Trebuchet MS"/>
                <a:cs typeface="Trebuchet MS"/>
              </a:rPr>
              <a:t>frequency</a:t>
            </a:r>
            <a:r>
              <a:rPr sz="2800" spc="-17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circuits.</a:t>
            </a:r>
            <a:endParaRPr sz="2800">
              <a:latin typeface="Trebuchet MS"/>
              <a:cs typeface="Trebuchet MS"/>
            </a:endParaRPr>
          </a:p>
          <a:p>
            <a:pPr marL="240029" marR="19050" indent="-227965">
              <a:lnSpc>
                <a:spcPts val="302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140" dirty="0">
                <a:latin typeface="Trebuchet MS"/>
                <a:cs typeface="Trebuchet MS"/>
              </a:rPr>
              <a:t>It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45" dirty="0">
                <a:latin typeface="Trebuchet MS"/>
                <a:cs typeface="Trebuchet MS"/>
              </a:rPr>
              <a:t>consists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of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165" dirty="0">
                <a:latin typeface="Trebuchet MS"/>
                <a:cs typeface="Trebuchet MS"/>
              </a:rPr>
              <a:t>flat,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80" dirty="0">
                <a:latin typeface="Trebuchet MS"/>
                <a:cs typeface="Trebuchet MS"/>
              </a:rPr>
              <a:t>narrow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30" dirty="0">
                <a:latin typeface="Trebuchet MS"/>
                <a:cs typeface="Trebuchet MS"/>
              </a:rPr>
              <a:t>conducting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strip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45" dirty="0">
                <a:latin typeface="Trebuchet MS"/>
                <a:cs typeface="Trebuchet MS"/>
              </a:rPr>
              <a:t>(usually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made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of 	</a:t>
            </a:r>
            <a:r>
              <a:rPr sz="2800" spc="-100" dirty="0">
                <a:latin typeface="Trebuchet MS"/>
                <a:cs typeface="Trebuchet MS"/>
              </a:rPr>
              <a:t>metal)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placed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on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75" dirty="0">
                <a:latin typeface="Trebuchet MS"/>
                <a:cs typeface="Trebuchet MS"/>
              </a:rPr>
              <a:t>top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of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75" dirty="0">
                <a:latin typeface="Trebuchet MS"/>
                <a:cs typeface="Trebuchet MS"/>
              </a:rPr>
              <a:t>dielectric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material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(an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55" dirty="0">
                <a:latin typeface="Trebuchet MS"/>
                <a:cs typeface="Trebuchet MS"/>
              </a:rPr>
              <a:t>insulating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layer), 	</a:t>
            </a:r>
            <a:r>
              <a:rPr sz="2800" spc="-120" dirty="0">
                <a:latin typeface="Trebuchet MS"/>
                <a:cs typeface="Trebuchet MS"/>
              </a:rPr>
              <a:t>with</a:t>
            </a:r>
            <a:r>
              <a:rPr sz="2800" spc="-27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metal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35" dirty="0">
                <a:latin typeface="Trebuchet MS"/>
                <a:cs typeface="Trebuchet MS"/>
              </a:rPr>
              <a:t>ground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45" dirty="0">
                <a:latin typeface="Trebuchet MS"/>
                <a:cs typeface="Trebuchet MS"/>
              </a:rPr>
              <a:t>plane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on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the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other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side.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5155"/>
            <a:ext cx="367157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10" dirty="0"/>
              <a:t>Unguided</a:t>
            </a:r>
            <a:r>
              <a:rPr spc="-420" dirty="0"/>
              <a:t> </a:t>
            </a:r>
            <a:r>
              <a:rPr spc="-90" dirty="0"/>
              <a:t>Media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19427"/>
            <a:ext cx="9838690" cy="4110990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470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spc="-125" dirty="0">
                <a:latin typeface="Trebuchet MS"/>
                <a:cs typeface="Trebuchet MS"/>
              </a:rPr>
              <a:t>It</a:t>
            </a:r>
            <a:r>
              <a:rPr sz="2600" spc="-21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is</a:t>
            </a:r>
            <a:r>
              <a:rPr sz="2600" spc="-21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also</a:t>
            </a:r>
            <a:r>
              <a:rPr sz="2600" spc="-200" dirty="0">
                <a:latin typeface="Trebuchet MS"/>
                <a:cs typeface="Trebuchet MS"/>
              </a:rPr>
              <a:t> </a:t>
            </a:r>
            <a:r>
              <a:rPr sz="2600" spc="-120" dirty="0">
                <a:latin typeface="Trebuchet MS"/>
                <a:cs typeface="Trebuchet MS"/>
              </a:rPr>
              <a:t>referred</a:t>
            </a:r>
            <a:r>
              <a:rPr sz="2600" spc="-170" dirty="0">
                <a:latin typeface="Trebuchet MS"/>
                <a:cs typeface="Trebuchet MS"/>
              </a:rPr>
              <a:t> </a:t>
            </a:r>
            <a:r>
              <a:rPr sz="2600" spc="-95" dirty="0">
                <a:latin typeface="Trebuchet MS"/>
                <a:cs typeface="Trebuchet MS"/>
              </a:rPr>
              <a:t>to</a:t>
            </a:r>
            <a:r>
              <a:rPr sz="2600" spc="-210" dirty="0">
                <a:latin typeface="Trebuchet MS"/>
                <a:cs typeface="Trebuchet MS"/>
              </a:rPr>
              <a:t> </a:t>
            </a:r>
            <a:r>
              <a:rPr sz="2600" spc="105" dirty="0">
                <a:latin typeface="Trebuchet MS"/>
                <a:cs typeface="Trebuchet MS"/>
              </a:rPr>
              <a:t>as</a:t>
            </a:r>
            <a:r>
              <a:rPr sz="2600" spc="-21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Wireless</a:t>
            </a:r>
            <a:r>
              <a:rPr sz="2600" spc="-185" dirty="0">
                <a:latin typeface="Trebuchet MS"/>
                <a:cs typeface="Trebuchet MS"/>
              </a:rPr>
              <a:t> </a:t>
            </a:r>
            <a:r>
              <a:rPr sz="2600" spc="-70" dirty="0">
                <a:latin typeface="Trebuchet MS"/>
                <a:cs typeface="Trebuchet MS"/>
              </a:rPr>
              <a:t>or</a:t>
            </a:r>
            <a:r>
              <a:rPr sz="2600" spc="-21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Unbounded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transmission</a:t>
            </a:r>
            <a:r>
              <a:rPr sz="2600" spc="-204" dirty="0">
                <a:latin typeface="Trebuchet MS"/>
                <a:cs typeface="Trebuchet MS"/>
              </a:rPr>
              <a:t> </a:t>
            </a:r>
            <a:r>
              <a:rPr sz="2600" spc="-25" dirty="0">
                <a:latin typeface="Trebuchet MS"/>
                <a:cs typeface="Trebuchet MS"/>
              </a:rPr>
              <a:t>media</a:t>
            </a:r>
            <a:r>
              <a:rPr sz="2600" spc="-204" dirty="0">
                <a:latin typeface="Trebuchet MS"/>
                <a:cs typeface="Trebuchet MS"/>
              </a:rPr>
              <a:t> </a:t>
            </a:r>
            <a:r>
              <a:rPr sz="2600" spc="-50" dirty="0">
                <a:latin typeface="Trebuchet MS"/>
                <a:cs typeface="Trebuchet MS"/>
              </a:rPr>
              <a:t>.</a:t>
            </a:r>
            <a:endParaRPr sz="2600">
              <a:latin typeface="Trebuchet MS"/>
              <a:cs typeface="Trebuchet MS"/>
            </a:endParaRPr>
          </a:p>
          <a:p>
            <a:pPr marL="241300" marR="1844039" indent="-229235">
              <a:lnSpc>
                <a:spcPts val="2500"/>
              </a:lnSpc>
              <a:spcBef>
                <a:spcPts val="969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spc="90" dirty="0">
                <a:latin typeface="Trebuchet MS"/>
                <a:cs typeface="Trebuchet MS"/>
              </a:rPr>
              <a:t>No</a:t>
            </a:r>
            <a:r>
              <a:rPr sz="2600" spc="-204" dirty="0">
                <a:latin typeface="Trebuchet MS"/>
                <a:cs typeface="Trebuchet MS"/>
              </a:rPr>
              <a:t> </a:t>
            </a:r>
            <a:r>
              <a:rPr sz="2600" spc="-20" dirty="0">
                <a:latin typeface="Trebuchet MS"/>
                <a:cs typeface="Trebuchet MS"/>
              </a:rPr>
              <a:t>physical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0" dirty="0">
                <a:latin typeface="Trebuchet MS"/>
                <a:cs typeface="Trebuchet MS"/>
              </a:rPr>
              <a:t>medium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is</a:t>
            </a:r>
            <a:r>
              <a:rPr sz="2600" spc="-200" dirty="0">
                <a:latin typeface="Trebuchet MS"/>
                <a:cs typeface="Trebuchet MS"/>
              </a:rPr>
              <a:t> </a:t>
            </a:r>
            <a:r>
              <a:rPr sz="2600" spc="-85" dirty="0">
                <a:latin typeface="Trebuchet MS"/>
                <a:cs typeface="Trebuchet MS"/>
              </a:rPr>
              <a:t>required</a:t>
            </a:r>
            <a:r>
              <a:rPr sz="2600" spc="-195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for</a:t>
            </a:r>
            <a:r>
              <a:rPr sz="2600" spc="-204" dirty="0">
                <a:latin typeface="Trebuchet MS"/>
                <a:cs typeface="Trebuchet MS"/>
              </a:rPr>
              <a:t> </a:t>
            </a:r>
            <a:r>
              <a:rPr sz="2600" spc="-85" dirty="0">
                <a:latin typeface="Trebuchet MS"/>
                <a:cs typeface="Trebuchet MS"/>
              </a:rPr>
              <a:t>the</a:t>
            </a:r>
            <a:r>
              <a:rPr sz="2600" spc="-200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transmission</a:t>
            </a:r>
            <a:r>
              <a:rPr sz="2600" spc="-210" dirty="0">
                <a:latin typeface="Trebuchet MS"/>
                <a:cs typeface="Trebuchet MS"/>
              </a:rPr>
              <a:t> </a:t>
            </a:r>
            <a:r>
              <a:rPr sz="2600" spc="-25" dirty="0">
                <a:latin typeface="Trebuchet MS"/>
                <a:cs typeface="Trebuchet MS"/>
              </a:rPr>
              <a:t>of </a:t>
            </a:r>
            <a:r>
              <a:rPr sz="2600" spc="-55" dirty="0">
                <a:latin typeface="Trebuchet MS"/>
                <a:cs typeface="Trebuchet MS"/>
              </a:rPr>
              <a:t>electromagnetic</a:t>
            </a:r>
            <a:r>
              <a:rPr sz="2600" spc="-180" dirty="0">
                <a:latin typeface="Trebuchet MS"/>
                <a:cs typeface="Trebuchet MS"/>
              </a:rPr>
              <a:t> </a:t>
            </a:r>
            <a:r>
              <a:rPr sz="2600" spc="-10" dirty="0">
                <a:latin typeface="Trebuchet MS"/>
                <a:cs typeface="Trebuchet MS"/>
              </a:rPr>
              <a:t>signals.</a:t>
            </a:r>
            <a:endParaRPr sz="2600">
              <a:latin typeface="Trebuchet MS"/>
              <a:cs typeface="Trebuchet MS"/>
            </a:endParaRPr>
          </a:p>
          <a:p>
            <a:pPr marL="241300" indent="-228600">
              <a:lnSpc>
                <a:spcPts val="3110"/>
              </a:lnSpc>
              <a:spcBef>
                <a:spcPts val="40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spc="-45" dirty="0">
                <a:latin typeface="Trebuchet MS"/>
                <a:cs typeface="Trebuchet MS"/>
              </a:rPr>
              <a:t>Features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80" dirty="0">
                <a:latin typeface="Trebuchet MS"/>
                <a:cs typeface="Trebuchet MS"/>
              </a:rPr>
              <a:t>of</a:t>
            </a:r>
            <a:r>
              <a:rPr sz="2600" spc="-215" dirty="0">
                <a:latin typeface="Trebuchet MS"/>
                <a:cs typeface="Trebuchet MS"/>
              </a:rPr>
              <a:t> </a:t>
            </a:r>
            <a:r>
              <a:rPr sz="2600" spc="-20" dirty="0">
                <a:latin typeface="Trebuchet MS"/>
                <a:cs typeface="Trebuchet MS"/>
              </a:rPr>
              <a:t>Unguided</a:t>
            </a:r>
            <a:r>
              <a:rPr sz="2600" spc="-210" dirty="0">
                <a:latin typeface="Trebuchet MS"/>
                <a:cs typeface="Trebuchet MS"/>
              </a:rPr>
              <a:t> </a:t>
            </a:r>
            <a:r>
              <a:rPr sz="2600" spc="-10" dirty="0">
                <a:latin typeface="Trebuchet MS"/>
                <a:cs typeface="Trebuchet MS"/>
              </a:rPr>
              <a:t>Media</a:t>
            </a:r>
            <a:endParaRPr sz="2600">
              <a:latin typeface="Trebuchet MS"/>
              <a:cs typeface="Trebuchet MS"/>
            </a:endParaRPr>
          </a:p>
          <a:p>
            <a:pPr marL="698500" lvl="1" indent="-228600">
              <a:lnSpc>
                <a:spcPts val="2620"/>
              </a:lnSpc>
              <a:buFont typeface="Arial MT"/>
              <a:buChar char="•"/>
              <a:tabLst>
                <a:tab pos="698500" algn="l"/>
              </a:tabLst>
            </a:pPr>
            <a:r>
              <a:rPr sz="2200" spc="-95" dirty="0">
                <a:latin typeface="Trebuchet MS"/>
                <a:cs typeface="Trebuchet MS"/>
              </a:rPr>
              <a:t>The</a:t>
            </a:r>
            <a:r>
              <a:rPr sz="2200" spc="-165" dirty="0">
                <a:latin typeface="Trebuchet MS"/>
                <a:cs typeface="Trebuchet MS"/>
              </a:rPr>
              <a:t> </a:t>
            </a:r>
            <a:r>
              <a:rPr sz="2200" spc="-10" dirty="0">
                <a:latin typeface="Trebuchet MS"/>
                <a:cs typeface="Trebuchet MS"/>
              </a:rPr>
              <a:t>signal</a:t>
            </a:r>
            <a:r>
              <a:rPr sz="2200" spc="-16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is</a:t>
            </a:r>
            <a:r>
              <a:rPr sz="2200" spc="-165" dirty="0">
                <a:latin typeface="Trebuchet MS"/>
                <a:cs typeface="Trebuchet MS"/>
              </a:rPr>
              <a:t> </a:t>
            </a:r>
            <a:r>
              <a:rPr sz="2200" spc="-20" dirty="0">
                <a:latin typeface="Trebuchet MS"/>
                <a:cs typeface="Trebuchet MS"/>
              </a:rPr>
              <a:t>broadcasted</a:t>
            </a:r>
            <a:r>
              <a:rPr sz="2200" spc="-125" dirty="0">
                <a:latin typeface="Trebuchet MS"/>
                <a:cs typeface="Trebuchet MS"/>
              </a:rPr>
              <a:t> </a:t>
            </a:r>
            <a:r>
              <a:rPr sz="2200" spc="-55" dirty="0">
                <a:latin typeface="Trebuchet MS"/>
                <a:cs typeface="Trebuchet MS"/>
              </a:rPr>
              <a:t>through</a:t>
            </a:r>
            <a:r>
              <a:rPr sz="2200" spc="-165" dirty="0">
                <a:latin typeface="Trebuchet MS"/>
                <a:cs typeface="Trebuchet MS"/>
              </a:rPr>
              <a:t> </a:t>
            </a:r>
            <a:r>
              <a:rPr sz="2200" spc="-25" dirty="0">
                <a:latin typeface="Trebuchet MS"/>
                <a:cs typeface="Trebuchet MS"/>
              </a:rPr>
              <a:t>air</a:t>
            </a:r>
            <a:endParaRPr sz="2200">
              <a:latin typeface="Trebuchet MS"/>
              <a:cs typeface="Trebuchet MS"/>
            </a:endParaRPr>
          </a:p>
          <a:p>
            <a:pPr marL="698500" lvl="1" indent="-228600">
              <a:lnSpc>
                <a:spcPts val="2615"/>
              </a:lnSpc>
              <a:buFont typeface="Arial MT"/>
              <a:buChar char="•"/>
              <a:tabLst>
                <a:tab pos="698500" algn="l"/>
              </a:tabLst>
            </a:pPr>
            <a:r>
              <a:rPr sz="2200" spc="65" dirty="0">
                <a:latin typeface="Trebuchet MS"/>
                <a:cs typeface="Trebuchet MS"/>
              </a:rPr>
              <a:t>Less</a:t>
            </a:r>
            <a:r>
              <a:rPr sz="2200" spc="-165" dirty="0">
                <a:latin typeface="Trebuchet MS"/>
                <a:cs typeface="Trebuchet MS"/>
              </a:rPr>
              <a:t> </a:t>
            </a:r>
            <a:r>
              <a:rPr sz="2200" spc="-10" dirty="0">
                <a:latin typeface="Trebuchet MS"/>
                <a:cs typeface="Trebuchet MS"/>
              </a:rPr>
              <a:t>Secure</a:t>
            </a:r>
            <a:endParaRPr sz="2200">
              <a:latin typeface="Trebuchet MS"/>
              <a:cs typeface="Trebuchet MS"/>
            </a:endParaRPr>
          </a:p>
          <a:p>
            <a:pPr marL="698500" lvl="1" indent="-228600">
              <a:lnSpc>
                <a:spcPts val="2630"/>
              </a:lnSpc>
              <a:buFont typeface="Arial MT"/>
              <a:buChar char="•"/>
              <a:tabLst>
                <a:tab pos="698500" algn="l"/>
              </a:tabLst>
            </a:pPr>
            <a:r>
              <a:rPr sz="2200" dirty="0">
                <a:latin typeface="Trebuchet MS"/>
                <a:cs typeface="Trebuchet MS"/>
              </a:rPr>
              <a:t>Used</a:t>
            </a:r>
            <a:r>
              <a:rPr sz="2200" spc="-114" dirty="0">
                <a:latin typeface="Trebuchet MS"/>
                <a:cs typeface="Trebuchet MS"/>
              </a:rPr>
              <a:t> </a:t>
            </a:r>
            <a:r>
              <a:rPr sz="2200" spc="-100" dirty="0">
                <a:latin typeface="Trebuchet MS"/>
                <a:cs typeface="Trebuchet MS"/>
              </a:rPr>
              <a:t>for</a:t>
            </a:r>
            <a:r>
              <a:rPr sz="2200" spc="-140" dirty="0">
                <a:latin typeface="Trebuchet MS"/>
                <a:cs typeface="Trebuchet MS"/>
              </a:rPr>
              <a:t> </a:t>
            </a:r>
            <a:r>
              <a:rPr sz="2200" spc="-80" dirty="0">
                <a:latin typeface="Trebuchet MS"/>
                <a:cs typeface="Trebuchet MS"/>
              </a:rPr>
              <a:t>larger</a:t>
            </a:r>
            <a:r>
              <a:rPr sz="2200" spc="-125" dirty="0">
                <a:latin typeface="Trebuchet MS"/>
                <a:cs typeface="Trebuchet MS"/>
              </a:rPr>
              <a:t> </a:t>
            </a:r>
            <a:r>
              <a:rPr sz="2200" spc="-10" dirty="0">
                <a:latin typeface="Trebuchet MS"/>
                <a:cs typeface="Trebuchet MS"/>
              </a:rPr>
              <a:t>distances</a:t>
            </a:r>
            <a:endParaRPr sz="2200">
              <a:latin typeface="Trebuchet MS"/>
              <a:cs typeface="Trebuchet MS"/>
            </a:endParaRPr>
          </a:p>
          <a:p>
            <a:pPr marL="241300" indent="-228600">
              <a:lnSpc>
                <a:spcPts val="3115"/>
              </a:lnSpc>
              <a:spcBef>
                <a:spcPts val="359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spc="-120" dirty="0">
                <a:latin typeface="Trebuchet MS"/>
                <a:cs typeface="Trebuchet MS"/>
              </a:rPr>
              <a:t>There</a:t>
            </a:r>
            <a:r>
              <a:rPr sz="2600" spc="-210" dirty="0">
                <a:latin typeface="Trebuchet MS"/>
                <a:cs typeface="Trebuchet MS"/>
              </a:rPr>
              <a:t> </a:t>
            </a:r>
            <a:r>
              <a:rPr sz="2600" spc="-80" dirty="0">
                <a:latin typeface="Trebuchet MS"/>
                <a:cs typeface="Trebuchet MS"/>
              </a:rPr>
              <a:t>are</a:t>
            </a:r>
            <a:r>
              <a:rPr sz="2600" spc="-204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3</a:t>
            </a:r>
            <a:r>
              <a:rPr sz="2600" spc="-215" dirty="0">
                <a:latin typeface="Trebuchet MS"/>
                <a:cs typeface="Trebuchet MS"/>
              </a:rPr>
              <a:t> </a:t>
            </a:r>
            <a:r>
              <a:rPr sz="2600" spc="-30" dirty="0">
                <a:latin typeface="Trebuchet MS"/>
                <a:cs typeface="Trebuchet MS"/>
              </a:rPr>
              <a:t>types</a:t>
            </a:r>
            <a:r>
              <a:rPr sz="2600" spc="-215" dirty="0">
                <a:latin typeface="Trebuchet MS"/>
                <a:cs typeface="Trebuchet MS"/>
              </a:rPr>
              <a:t> </a:t>
            </a:r>
            <a:r>
              <a:rPr sz="2600" spc="-80" dirty="0">
                <a:latin typeface="Trebuchet MS"/>
                <a:cs typeface="Trebuchet MS"/>
              </a:rPr>
              <a:t>of</a:t>
            </a:r>
            <a:r>
              <a:rPr sz="2600" spc="-215" dirty="0">
                <a:latin typeface="Trebuchet MS"/>
                <a:cs typeface="Trebuchet MS"/>
              </a:rPr>
              <a:t> </a:t>
            </a:r>
            <a:r>
              <a:rPr sz="2600" dirty="0">
                <a:latin typeface="Trebuchet MS"/>
                <a:cs typeface="Trebuchet MS"/>
              </a:rPr>
              <a:t>Signals</a:t>
            </a:r>
            <a:r>
              <a:rPr sz="2600" spc="-204" dirty="0">
                <a:latin typeface="Trebuchet MS"/>
                <a:cs typeface="Trebuchet MS"/>
              </a:rPr>
              <a:t> </a:t>
            </a:r>
            <a:r>
              <a:rPr sz="2600" spc="-75" dirty="0">
                <a:latin typeface="Trebuchet MS"/>
                <a:cs typeface="Trebuchet MS"/>
              </a:rPr>
              <a:t>transmitted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65" dirty="0">
                <a:latin typeface="Trebuchet MS"/>
                <a:cs typeface="Trebuchet MS"/>
              </a:rPr>
              <a:t>through</a:t>
            </a:r>
            <a:r>
              <a:rPr sz="2600" spc="-215" dirty="0">
                <a:latin typeface="Trebuchet MS"/>
                <a:cs typeface="Trebuchet MS"/>
              </a:rPr>
              <a:t> </a:t>
            </a:r>
            <a:r>
              <a:rPr sz="2600" spc="-20" dirty="0">
                <a:latin typeface="Trebuchet MS"/>
                <a:cs typeface="Trebuchet MS"/>
              </a:rPr>
              <a:t>unguided</a:t>
            </a:r>
            <a:r>
              <a:rPr sz="2600" spc="-210" dirty="0">
                <a:latin typeface="Trebuchet MS"/>
                <a:cs typeface="Trebuchet MS"/>
              </a:rPr>
              <a:t> </a:t>
            </a:r>
            <a:r>
              <a:rPr sz="2600" spc="-10" dirty="0">
                <a:latin typeface="Trebuchet MS"/>
                <a:cs typeface="Trebuchet MS"/>
              </a:rPr>
              <a:t>media:</a:t>
            </a:r>
            <a:endParaRPr sz="2600">
              <a:latin typeface="Trebuchet MS"/>
              <a:cs typeface="Trebuchet MS"/>
            </a:endParaRPr>
          </a:p>
          <a:p>
            <a:pPr marL="698500" lvl="1" indent="-228600">
              <a:lnSpc>
                <a:spcPts val="2620"/>
              </a:lnSpc>
              <a:buFont typeface="Arial MT"/>
              <a:buChar char="•"/>
              <a:tabLst>
                <a:tab pos="698500" algn="l"/>
              </a:tabLst>
            </a:pPr>
            <a:r>
              <a:rPr sz="2200" spc="-10" dirty="0">
                <a:latin typeface="Trebuchet MS"/>
                <a:cs typeface="Trebuchet MS"/>
              </a:rPr>
              <a:t>Radiowaves</a:t>
            </a:r>
            <a:endParaRPr sz="2200">
              <a:latin typeface="Trebuchet MS"/>
              <a:cs typeface="Trebuchet MS"/>
            </a:endParaRPr>
          </a:p>
          <a:p>
            <a:pPr marL="698500" lvl="1" indent="-228600">
              <a:lnSpc>
                <a:spcPts val="2610"/>
              </a:lnSpc>
              <a:buFont typeface="Arial MT"/>
              <a:buChar char="•"/>
              <a:tabLst>
                <a:tab pos="698500" algn="l"/>
              </a:tabLst>
            </a:pPr>
            <a:r>
              <a:rPr sz="2200" spc="-10" dirty="0">
                <a:latin typeface="Trebuchet MS"/>
                <a:cs typeface="Trebuchet MS"/>
              </a:rPr>
              <a:t>Microwaves</a:t>
            </a:r>
            <a:endParaRPr sz="2200">
              <a:latin typeface="Trebuchet MS"/>
              <a:cs typeface="Trebuchet MS"/>
            </a:endParaRPr>
          </a:p>
          <a:p>
            <a:pPr marL="698500" lvl="1" indent="-228600">
              <a:lnSpc>
                <a:spcPts val="2630"/>
              </a:lnSpc>
              <a:buFont typeface="Arial MT"/>
              <a:buChar char="•"/>
              <a:tabLst>
                <a:tab pos="698500" algn="l"/>
              </a:tabLst>
            </a:pPr>
            <a:r>
              <a:rPr sz="2200" spc="-10" dirty="0">
                <a:latin typeface="Trebuchet MS"/>
                <a:cs typeface="Trebuchet MS"/>
              </a:rPr>
              <a:t>infrared</a:t>
            </a:r>
            <a:endParaRPr sz="2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5155"/>
            <a:ext cx="295465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0" dirty="0"/>
              <a:t>Radio</a:t>
            </a:r>
            <a:r>
              <a:rPr spc="-430" dirty="0"/>
              <a:t> </a:t>
            </a:r>
            <a:r>
              <a:rPr spc="-80" dirty="0"/>
              <a:t>Waves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1969"/>
            <a:ext cx="9413240" cy="431927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029" marR="5080" indent="-227965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10" dirty="0">
                <a:latin typeface="Trebuchet MS"/>
                <a:cs typeface="Trebuchet MS"/>
              </a:rPr>
              <a:t>Radio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waves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are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easy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to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generate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and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can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penetrate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through 	</a:t>
            </a:r>
            <a:r>
              <a:rPr sz="2800" spc="-55" dirty="0">
                <a:latin typeface="Trebuchet MS"/>
                <a:cs typeface="Trebuchet MS"/>
              </a:rPr>
              <a:t>buildings.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130" dirty="0">
                <a:latin typeface="Trebuchet MS"/>
                <a:cs typeface="Trebuchet MS"/>
              </a:rPr>
              <a:t>The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sending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and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receiving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antennas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spc="-40" dirty="0">
                <a:latin typeface="Trebuchet MS"/>
                <a:cs typeface="Trebuchet MS"/>
              </a:rPr>
              <a:t>need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65" dirty="0">
                <a:latin typeface="Trebuchet MS"/>
                <a:cs typeface="Trebuchet MS"/>
              </a:rPr>
              <a:t>not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be 	</a:t>
            </a:r>
            <a:r>
              <a:rPr sz="2800" spc="-10" dirty="0">
                <a:latin typeface="Trebuchet MS"/>
                <a:cs typeface="Trebuchet MS"/>
              </a:rPr>
              <a:t>aligned.</a:t>
            </a:r>
            <a:endParaRPr sz="2800">
              <a:latin typeface="Trebuchet MS"/>
              <a:cs typeface="Trebuchet MS"/>
            </a:endParaRPr>
          </a:p>
          <a:p>
            <a:pPr marL="240665" indent="-227965">
              <a:lnSpc>
                <a:spcPct val="100000"/>
              </a:lnSpc>
              <a:spcBef>
                <a:spcPts val="625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b="1" spc="-80" dirty="0">
                <a:latin typeface="Trebuchet MS"/>
                <a:cs typeface="Trebuchet MS"/>
              </a:rPr>
              <a:t>Frequency</a:t>
            </a:r>
            <a:r>
              <a:rPr sz="2800" b="1" spc="-210" dirty="0">
                <a:latin typeface="Trebuchet MS"/>
                <a:cs typeface="Trebuchet MS"/>
              </a:rPr>
              <a:t> </a:t>
            </a:r>
            <a:r>
              <a:rPr sz="2800" b="1" spc="-40" dirty="0">
                <a:latin typeface="Trebuchet MS"/>
                <a:cs typeface="Trebuchet MS"/>
              </a:rPr>
              <a:t>Range:</a:t>
            </a:r>
            <a:r>
              <a:rPr sz="2800" b="1" spc="-20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3KHz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-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1GHz.</a:t>
            </a:r>
            <a:endParaRPr sz="2800">
              <a:latin typeface="Trebuchet MS"/>
              <a:cs typeface="Trebuchet MS"/>
            </a:endParaRPr>
          </a:p>
          <a:p>
            <a:pPr marL="240029" marR="64769" indent="-227965">
              <a:lnSpc>
                <a:spcPts val="3020"/>
              </a:lnSpc>
              <a:spcBef>
                <a:spcPts val="105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105" dirty="0">
                <a:latin typeface="Trebuchet MS"/>
                <a:cs typeface="Trebuchet MS"/>
              </a:rPr>
              <a:t>AM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and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100" dirty="0">
                <a:latin typeface="Trebuchet MS"/>
                <a:cs typeface="Trebuchet MS"/>
              </a:rPr>
              <a:t>FM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35" dirty="0">
                <a:latin typeface="Trebuchet MS"/>
                <a:cs typeface="Trebuchet MS"/>
              </a:rPr>
              <a:t>radios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and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cordless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phones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55" dirty="0">
                <a:latin typeface="Trebuchet MS"/>
                <a:cs typeface="Trebuchet MS"/>
              </a:rPr>
              <a:t>use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Radio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waves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for 	</a:t>
            </a:r>
            <a:r>
              <a:rPr sz="2800" spc="-10" dirty="0">
                <a:latin typeface="Trebuchet MS"/>
                <a:cs typeface="Trebuchet MS"/>
              </a:rPr>
              <a:t>transmission.</a:t>
            </a:r>
            <a:endParaRPr sz="2800">
              <a:latin typeface="Trebuchet MS"/>
              <a:cs typeface="Trebuchet MS"/>
            </a:endParaRPr>
          </a:p>
          <a:p>
            <a:pPr marL="301625" marR="5695315" indent="-301625" algn="r">
              <a:lnSpc>
                <a:spcPct val="100000"/>
              </a:lnSpc>
              <a:spcBef>
                <a:spcPts val="625"/>
              </a:spcBef>
              <a:buFont typeface="Arial MT"/>
              <a:buChar char="•"/>
              <a:tabLst>
                <a:tab pos="301625" algn="l"/>
              </a:tabLst>
            </a:pPr>
            <a:r>
              <a:rPr sz="2800" spc="-80" dirty="0">
                <a:latin typeface="Trebuchet MS"/>
                <a:cs typeface="Trebuchet MS"/>
              </a:rPr>
              <a:t>Types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of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Radio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Waves:</a:t>
            </a:r>
            <a:endParaRPr sz="2800">
              <a:latin typeface="Trebuchet MS"/>
              <a:cs typeface="Trebuchet MS"/>
            </a:endParaRPr>
          </a:p>
          <a:p>
            <a:pPr marL="227329" marR="5731510" lvl="1" indent="-227329" algn="r">
              <a:lnSpc>
                <a:spcPct val="100000"/>
              </a:lnSpc>
              <a:spcBef>
                <a:spcPts val="240"/>
              </a:spcBef>
              <a:buFont typeface="Arial MT"/>
              <a:buChar char="•"/>
              <a:tabLst>
                <a:tab pos="227329" algn="l"/>
              </a:tabLst>
            </a:pPr>
            <a:r>
              <a:rPr sz="2400" b="1" i="1" spc="-40" dirty="0">
                <a:latin typeface="Trebuchet MS"/>
                <a:cs typeface="Trebuchet MS"/>
              </a:rPr>
              <a:t>Short</a:t>
            </a:r>
            <a:r>
              <a:rPr sz="2400" b="1" i="1" spc="-235" dirty="0">
                <a:latin typeface="Trebuchet MS"/>
                <a:cs typeface="Trebuchet MS"/>
              </a:rPr>
              <a:t> </a:t>
            </a:r>
            <a:r>
              <a:rPr sz="2400" b="1" i="1" spc="-110" dirty="0">
                <a:latin typeface="Trebuchet MS"/>
                <a:cs typeface="Trebuchet MS"/>
              </a:rPr>
              <a:t>Wave:</a:t>
            </a:r>
            <a:r>
              <a:rPr sz="2400" b="1" i="1" spc="-180" dirty="0">
                <a:latin typeface="Trebuchet MS"/>
                <a:cs typeface="Trebuchet MS"/>
              </a:rPr>
              <a:t> </a:t>
            </a:r>
            <a:r>
              <a:rPr sz="2400" spc="90" dirty="0">
                <a:latin typeface="Trebuchet MS"/>
                <a:cs typeface="Trebuchet MS"/>
              </a:rPr>
              <a:t>AM</a:t>
            </a:r>
            <a:r>
              <a:rPr sz="2400" spc="-210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Radio</a:t>
            </a:r>
            <a:endParaRPr sz="2400">
              <a:latin typeface="Trebuchet MS"/>
              <a:cs typeface="Trebuchet MS"/>
            </a:endParaRPr>
          </a:p>
          <a:p>
            <a:pPr marL="697230" lvl="1" indent="-227329">
              <a:lnSpc>
                <a:spcPct val="100000"/>
              </a:lnSpc>
              <a:spcBef>
                <a:spcPts val="204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b="1" i="1" spc="-55" dirty="0">
                <a:latin typeface="Trebuchet MS"/>
                <a:cs typeface="Trebuchet MS"/>
              </a:rPr>
              <a:t>VHF</a:t>
            </a:r>
            <a:r>
              <a:rPr sz="2400" b="1" i="1" spc="-200" dirty="0">
                <a:latin typeface="Trebuchet MS"/>
                <a:cs typeface="Trebuchet MS"/>
              </a:rPr>
              <a:t> </a:t>
            </a:r>
            <a:r>
              <a:rPr sz="2400" b="1" i="1" spc="-170" dirty="0">
                <a:latin typeface="Trebuchet MS"/>
                <a:cs typeface="Trebuchet MS"/>
              </a:rPr>
              <a:t>(Very</a:t>
            </a:r>
            <a:r>
              <a:rPr sz="2400" b="1" i="1" spc="-225" dirty="0">
                <a:latin typeface="Trebuchet MS"/>
                <a:cs typeface="Trebuchet MS"/>
              </a:rPr>
              <a:t> </a:t>
            </a:r>
            <a:r>
              <a:rPr sz="2400" b="1" i="1" spc="-20" dirty="0">
                <a:latin typeface="Trebuchet MS"/>
                <a:cs typeface="Trebuchet MS"/>
              </a:rPr>
              <a:t>High</a:t>
            </a:r>
            <a:r>
              <a:rPr sz="2400" b="1" i="1" spc="-195" dirty="0">
                <a:latin typeface="Trebuchet MS"/>
                <a:cs typeface="Trebuchet MS"/>
              </a:rPr>
              <a:t> </a:t>
            </a:r>
            <a:r>
              <a:rPr sz="2400" b="1" i="1" spc="-65" dirty="0">
                <a:latin typeface="Trebuchet MS"/>
                <a:cs typeface="Trebuchet MS"/>
              </a:rPr>
              <a:t>Frequency):</a:t>
            </a:r>
            <a:r>
              <a:rPr sz="2400" b="1" i="1" spc="-195" dirty="0">
                <a:latin typeface="Trebuchet MS"/>
                <a:cs typeface="Trebuchet MS"/>
              </a:rPr>
              <a:t> </a:t>
            </a:r>
            <a:r>
              <a:rPr sz="2400" spc="85" dirty="0">
                <a:latin typeface="Trebuchet MS"/>
                <a:cs typeface="Trebuchet MS"/>
              </a:rPr>
              <a:t>FM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Radio/TV</a:t>
            </a:r>
            <a:endParaRPr sz="2400">
              <a:latin typeface="Trebuchet MS"/>
              <a:cs typeface="Trebuchet MS"/>
            </a:endParaRPr>
          </a:p>
          <a:p>
            <a:pPr marL="697230" lvl="1" indent="-227329">
              <a:lnSpc>
                <a:spcPct val="100000"/>
              </a:lnSpc>
              <a:spcBef>
                <a:spcPts val="219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b="1" i="1" dirty="0">
                <a:latin typeface="Trebuchet MS"/>
                <a:cs typeface="Trebuchet MS"/>
              </a:rPr>
              <a:t>UHF</a:t>
            </a:r>
            <a:r>
              <a:rPr sz="2400" b="1" i="1" spc="-160" dirty="0">
                <a:latin typeface="Trebuchet MS"/>
                <a:cs typeface="Trebuchet MS"/>
              </a:rPr>
              <a:t> </a:t>
            </a:r>
            <a:r>
              <a:rPr sz="2400" b="1" i="1" spc="-130" dirty="0">
                <a:latin typeface="Trebuchet MS"/>
                <a:cs typeface="Trebuchet MS"/>
              </a:rPr>
              <a:t>(Ultra</a:t>
            </a:r>
            <a:r>
              <a:rPr sz="2400" b="1" i="1" spc="-160" dirty="0">
                <a:latin typeface="Trebuchet MS"/>
                <a:cs typeface="Trebuchet MS"/>
              </a:rPr>
              <a:t> </a:t>
            </a:r>
            <a:r>
              <a:rPr sz="2400" b="1" i="1" spc="-35" dirty="0">
                <a:latin typeface="Trebuchet MS"/>
                <a:cs typeface="Trebuchet MS"/>
              </a:rPr>
              <a:t>High</a:t>
            </a:r>
            <a:r>
              <a:rPr sz="2400" b="1" i="1" spc="-160" dirty="0">
                <a:latin typeface="Trebuchet MS"/>
                <a:cs typeface="Trebuchet MS"/>
              </a:rPr>
              <a:t> </a:t>
            </a:r>
            <a:r>
              <a:rPr sz="2400" b="1" i="1" spc="-70" dirty="0">
                <a:latin typeface="Trebuchet MS"/>
                <a:cs typeface="Trebuchet MS"/>
              </a:rPr>
              <a:t>Frequency):</a:t>
            </a:r>
            <a:r>
              <a:rPr sz="2400" b="1" i="1" spc="-165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TV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0650">
              <a:lnSpc>
                <a:spcPct val="100000"/>
              </a:lnSpc>
              <a:spcBef>
                <a:spcPts val="105"/>
              </a:spcBef>
            </a:pPr>
            <a:r>
              <a:rPr spc="-150" dirty="0"/>
              <a:t>Radio</a:t>
            </a:r>
            <a:r>
              <a:rPr spc="-434" dirty="0"/>
              <a:t> </a:t>
            </a:r>
            <a:r>
              <a:rPr spc="-190" dirty="0"/>
              <a:t>Wave</a:t>
            </a:r>
            <a:r>
              <a:rPr spc="-459" dirty="0"/>
              <a:t> </a:t>
            </a:r>
            <a:r>
              <a:rPr spc="-90" dirty="0"/>
              <a:t>Components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07917"/>
            <a:ext cx="7834630" cy="1046480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b="1" spc="-105" dirty="0">
                <a:latin typeface="Trebuchet MS"/>
                <a:cs typeface="Trebuchet MS"/>
              </a:rPr>
              <a:t>Transmitter:</a:t>
            </a:r>
            <a:r>
              <a:rPr sz="2800" b="1" spc="-15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Responsible</a:t>
            </a:r>
            <a:r>
              <a:rPr sz="2800" spc="-185" dirty="0">
                <a:latin typeface="Trebuchet MS"/>
                <a:cs typeface="Trebuchet MS"/>
              </a:rPr>
              <a:t> </a:t>
            </a:r>
            <a:r>
              <a:rPr sz="2800" spc="-130" dirty="0">
                <a:latin typeface="Trebuchet MS"/>
                <a:cs typeface="Trebuchet MS"/>
              </a:rPr>
              <a:t>for</a:t>
            </a:r>
            <a:r>
              <a:rPr sz="2800" spc="-195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encoding</a:t>
            </a:r>
            <a:r>
              <a:rPr sz="2800" spc="-185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the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signal.</a:t>
            </a:r>
            <a:endParaRPr sz="2800">
              <a:latin typeface="Trebuchet MS"/>
              <a:cs typeface="Trebuchet MS"/>
            </a:endParaRPr>
          </a:p>
          <a:p>
            <a:pPr marL="314325" indent="-301625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314325" algn="l"/>
              </a:tabLst>
            </a:pPr>
            <a:r>
              <a:rPr sz="2800" b="1" spc="-80" dirty="0">
                <a:latin typeface="Trebuchet MS"/>
                <a:cs typeface="Trebuchet MS"/>
              </a:rPr>
              <a:t>Receiver:</a:t>
            </a:r>
            <a:r>
              <a:rPr sz="2800" b="1" spc="-17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Responsible</a:t>
            </a:r>
            <a:r>
              <a:rPr sz="2800" spc="-190" dirty="0">
                <a:latin typeface="Trebuchet MS"/>
                <a:cs typeface="Trebuchet MS"/>
              </a:rPr>
              <a:t> </a:t>
            </a:r>
            <a:r>
              <a:rPr sz="2800" spc="-130" dirty="0">
                <a:latin typeface="Trebuchet MS"/>
                <a:cs typeface="Trebuchet MS"/>
              </a:rPr>
              <a:t>for</a:t>
            </a:r>
            <a:r>
              <a:rPr sz="2800" spc="-200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decoding</a:t>
            </a:r>
            <a:r>
              <a:rPr sz="2800" spc="-190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the</a:t>
            </a:r>
            <a:r>
              <a:rPr sz="2800" spc="-20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signal</a:t>
            </a:r>
            <a:endParaRPr sz="28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23846" y="3139694"/>
            <a:ext cx="5563359" cy="317220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0" dirty="0"/>
              <a:t>Microwaves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1969"/>
            <a:ext cx="9948545" cy="313753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029" marR="537845" indent="-227965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140" dirty="0">
                <a:latin typeface="Trebuchet MS"/>
                <a:cs typeface="Trebuchet MS"/>
              </a:rPr>
              <a:t>It</a:t>
            </a:r>
            <a:r>
              <a:rPr sz="2800" spc="-26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is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80" dirty="0">
                <a:latin typeface="Trebuchet MS"/>
                <a:cs typeface="Trebuchet MS"/>
              </a:rPr>
              <a:t>line</a:t>
            </a:r>
            <a:r>
              <a:rPr sz="2800" spc="-270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of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45" dirty="0">
                <a:latin typeface="Trebuchet MS"/>
                <a:cs typeface="Trebuchet MS"/>
              </a:rPr>
              <a:t>sight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transmission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215" dirty="0">
                <a:latin typeface="Trebuchet MS"/>
                <a:cs typeface="Trebuchet MS"/>
              </a:rPr>
              <a:t>i.e.</a:t>
            </a:r>
            <a:r>
              <a:rPr sz="2800" spc="-265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the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sending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and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30" dirty="0">
                <a:latin typeface="Trebuchet MS"/>
                <a:cs typeface="Trebuchet MS"/>
              </a:rPr>
              <a:t>receiving 	</a:t>
            </a:r>
            <a:r>
              <a:rPr sz="2800" spc="-20" dirty="0">
                <a:latin typeface="Trebuchet MS"/>
                <a:cs typeface="Trebuchet MS"/>
              </a:rPr>
              <a:t>antennas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40" dirty="0">
                <a:latin typeface="Trebuchet MS"/>
                <a:cs typeface="Trebuchet MS"/>
              </a:rPr>
              <a:t>need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to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40" dirty="0">
                <a:latin typeface="Trebuchet MS"/>
                <a:cs typeface="Trebuchet MS"/>
              </a:rPr>
              <a:t>be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properly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aligned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120" dirty="0">
                <a:latin typeface="Trebuchet MS"/>
                <a:cs typeface="Trebuchet MS"/>
              </a:rPr>
              <a:t>with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each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other.</a:t>
            </a:r>
            <a:endParaRPr sz="2800">
              <a:latin typeface="Trebuchet MS"/>
              <a:cs typeface="Trebuchet MS"/>
            </a:endParaRPr>
          </a:p>
          <a:p>
            <a:pPr marL="240029" marR="5080" indent="-227965">
              <a:lnSpc>
                <a:spcPts val="302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130" dirty="0">
                <a:latin typeface="Trebuchet MS"/>
                <a:cs typeface="Trebuchet MS"/>
              </a:rPr>
              <a:t>The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30" dirty="0">
                <a:latin typeface="Trebuchet MS"/>
                <a:cs typeface="Trebuchet MS"/>
              </a:rPr>
              <a:t>distance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covered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80" dirty="0">
                <a:latin typeface="Trebuchet MS"/>
                <a:cs typeface="Trebuchet MS"/>
              </a:rPr>
              <a:t>by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the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signal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is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110" dirty="0">
                <a:latin typeface="Trebuchet MS"/>
                <a:cs typeface="Trebuchet MS"/>
              </a:rPr>
              <a:t>directly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65" dirty="0">
                <a:latin typeface="Trebuchet MS"/>
                <a:cs typeface="Trebuchet MS"/>
              </a:rPr>
              <a:t>proportional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110" dirty="0">
                <a:latin typeface="Trebuchet MS"/>
                <a:cs typeface="Trebuchet MS"/>
              </a:rPr>
              <a:t>to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the 	</a:t>
            </a:r>
            <a:r>
              <a:rPr sz="2800" spc="-90" dirty="0">
                <a:latin typeface="Trebuchet MS"/>
                <a:cs typeface="Trebuchet MS"/>
              </a:rPr>
              <a:t>height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of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the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antenna.</a:t>
            </a:r>
            <a:endParaRPr sz="2800">
              <a:latin typeface="Trebuchet MS"/>
              <a:cs typeface="Trebuchet MS"/>
            </a:endParaRPr>
          </a:p>
          <a:p>
            <a:pPr marL="240665" indent="-227965">
              <a:lnSpc>
                <a:spcPct val="100000"/>
              </a:lnSpc>
              <a:spcBef>
                <a:spcPts val="630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b="1" spc="-80" dirty="0">
                <a:latin typeface="Trebuchet MS"/>
                <a:cs typeface="Trebuchet MS"/>
              </a:rPr>
              <a:t>Frequency</a:t>
            </a:r>
            <a:r>
              <a:rPr sz="2800" b="1" spc="-185" dirty="0">
                <a:latin typeface="Trebuchet MS"/>
                <a:cs typeface="Trebuchet MS"/>
              </a:rPr>
              <a:t> </a:t>
            </a:r>
            <a:r>
              <a:rPr sz="2800" b="1" spc="-40" dirty="0">
                <a:latin typeface="Trebuchet MS"/>
                <a:cs typeface="Trebuchet MS"/>
              </a:rPr>
              <a:t>Range:</a:t>
            </a:r>
            <a:r>
              <a:rPr sz="2800" b="1" spc="-17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1GHz</a:t>
            </a:r>
            <a:r>
              <a:rPr sz="2800" spc="-180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-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300GHz.</a:t>
            </a:r>
            <a:endParaRPr sz="2800">
              <a:latin typeface="Trebuchet MS"/>
              <a:cs typeface="Trebuchet MS"/>
            </a:endParaRPr>
          </a:p>
          <a:p>
            <a:pPr marL="239395" marR="12065" indent="-227329">
              <a:lnSpc>
                <a:spcPts val="3030"/>
              </a:lnSpc>
              <a:spcBef>
                <a:spcPts val="104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10" dirty="0">
                <a:latin typeface="Trebuchet MS"/>
                <a:cs typeface="Trebuchet MS"/>
              </a:rPr>
              <a:t>Micro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waves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are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95" dirty="0">
                <a:latin typeface="Trebuchet MS"/>
                <a:cs typeface="Trebuchet MS"/>
              </a:rPr>
              <a:t>majorly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used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30" dirty="0">
                <a:latin typeface="Trebuchet MS"/>
                <a:cs typeface="Trebuchet MS"/>
              </a:rPr>
              <a:t>for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45" dirty="0">
                <a:latin typeface="Trebuchet MS"/>
                <a:cs typeface="Trebuchet MS"/>
              </a:rPr>
              <a:t>mobile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phone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communication 	</a:t>
            </a:r>
            <a:r>
              <a:rPr sz="2800" dirty="0">
                <a:latin typeface="Trebuchet MS"/>
                <a:cs typeface="Trebuchet MS"/>
              </a:rPr>
              <a:t>and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television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distribution.</a:t>
            </a:r>
            <a:endParaRPr sz="28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00202" y="4666705"/>
            <a:ext cx="6001627" cy="215950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5"/>
              </a:spcBef>
            </a:pPr>
            <a:r>
              <a:rPr spc="-120" dirty="0"/>
              <a:t>Microwaves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8768" y="2016171"/>
            <a:ext cx="4947920" cy="282511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2400" b="1" spc="-10" dirty="0">
                <a:latin typeface="Trebuchet MS"/>
                <a:cs typeface="Trebuchet MS"/>
              </a:rPr>
              <a:t>Advantages</a:t>
            </a:r>
            <a:endParaRPr sz="2400">
              <a:latin typeface="Trebuchet MS"/>
              <a:cs typeface="Trebuchet MS"/>
            </a:endParaRPr>
          </a:p>
          <a:p>
            <a:pPr marL="240029" indent="-227329">
              <a:lnSpc>
                <a:spcPct val="100000"/>
              </a:lnSpc>
              <a:spcBef>
                <a:spcPts val="37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spc="-10" dirty="0">
                <a:latin typeface="Trebuchet MS"/>
                <a:cs typeface="Trebuchet MS"/>
              </a:rPr>
              <a:t>Cheaper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55" dirty="0">
                <a:latin typeface="Trebuchet MS"/>
                <a:cs typeface="Trebuchet MS"/>
              </a:rPr>
              <a:t>than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using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cables</a:t>
            </a:r>
            <a:endParaRPr sz="2800">
              <a:latin typeface="Trebuchet MS"/>
              <a:cs typeface="Trebuchet MS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spc="-50" dirty="0">
                <a:latin typeface="Trebuchet MS"/>
                <a:cs typeface="Trebuchet MS"/>
              </a:rPr>
              <a:t>Freedom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from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35" dirty="0">
                <a:latin typeface="Trebuchet MS"/>
                <a:cs typeface="Trebuchet MS"/>
              </a:rPr>
              <a:t>land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acquisition</a:t>
            </a:r>
            <a:endParaRPr sz="2800">
              <a:latin typeface="Trebuchet MS"/>
              <a:cs typeface="Trebuchet MS"/>
            </a:endParaRPr>
          </a:p>
          <a:p>
            <a:pPr marL="240029" marR="718820" indent="-227329">
              <a:lnSpc>
                <a:spcPts val="3030"/>
              </a:lnSpc>
              <a:spcBef>
                <a:spcPts val="105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55" dirty="0">
                <a:latin typeface="Trebuchet MS"/>
                <a:cs typeface="Trebuchet MS"/>
              </a:rPr>
              <a:t>Ease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of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communication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in 	</a:t>
            </a:r>
            <a:r>
              <a:rPr sz="2800" spc="-114" dirty="0">
                <a:latin typeface="Trebuchet MS"/>
                <a:cs typeface="Trebuchet MS"/>
              </a:rPr>
              <a:t>difficult</a:t>
            </a:r>
            <a:r>
              <a:rPr sz="2800" spc="-19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terrains</a:t>
            </a:r>
            <a:endParaRPr sz="2800">
              <a:latin typeface="Trebuchet MS"/>
              <a:cs typeface="Trebuchet MS"/>
            </a:endParaRPr>
          </a:p>
          <a:p>
            <a:pPr marL="240029" indent="-227329">
              <a:lnSpc>
                <a:spcPct val="100000"/>
              </a:lnSpc>
              <a:spcBef>
                <a:spcPts val="610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Trebuchet MS"/>
                <a:cs typeface="Trebuchet MS"/>
              </a:rPr>
              <a:t>Communication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95" dirty="0">
                <a:latin typeface="Trebuchet MS"/>
                <a:cs typeface="Trebuchet MS"/>
              </a:rPr>
              <a:t>over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oceans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pc="-10" dirty="0"/>
              <a:t>Disadvantages</a:t>
            </a:r>
          </a:p>
          <a:p>
            <a:pPr marL="240029" indent="-227329">
              <a:lnSpc>
                <a:spcPct val="100000"/>
              </a:lnSpc>
              <a:spcBef>
                <a:spcPts val="37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b="0" spc="-10" dirty="0">
                <a:latin typeface="Trebuchet MS"/>
                <a:cs typeface="Trebuchet MS"/>
              </a:rPr>
              <a:t>Insecure</a:t>
            </a:r>
            <a:r>
              <a:rPr sz="2800" b="0" spc="-229" dirty="0">
                <a:latin typeface="Trebuchet MS"/>
                <a:cs typeface="Trebuchet MS"/>
              </a:rPr>
              <a:t> </a:t>
            </a:r>
            <a:r>
              <a:rPr sz="2800" b="0" spc="-20" dirty="0">
                <a:latin typeface="Trebuchet MS"/>
                <a:cs typeface="Trebuchet MS"/>
              </a:rPr>
              <a:t>communication.</a:t>
            </a:r>
            <a:endParaRPr sz="2800">
              <a:latin typeface="Trebuchet MS"/>
              <a:cs typeface="Trebuchet MS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b="0" spc="-25" dirty="0">
                <a:latin typeface="Trebuchet MS"/>
                <a:cs typeface="Trebuchet MS"/>
              </a:rPr>
              <a:t>Out</a:t>
            </a:r>
            <a:r>
              <a:rPr sz="2800" b="0" spc="-210" dirty="0">
                <a:latin typeface="Trebuchet MS"/>
                <a:cs typeface="Trebuchet MS"/>
              </a:rPr>
              <a:t> </a:t>
            </a:r>
            <a:r>
              <a:rPr sz="2800" b="0" spc="-90" dirty="0">
                <a:latin typeface="Trebuchet MS"/>
                <a:cs typeface="Trebuchet MS"/>
              </a:rPr>
              <a:t>of</a:t>
            </a:r>
            <a:r>
              <a:rPr sz="2800" b="0" spc="-210" dirty="0">
                <a:latin typeface="Trebuchet MS"/>
                <a:cs typeface="Trebuchet MS"/>
              </a:rPr>
              <a:t> </a:t>
            </a:r>
            <a:r>
              <a:rPr sz="2800" b="0" dirty="0">
                <a:latin typeface="Trebuchet MS"/>
                <a:cs typeface="Trebuchet MS"/>
              </a:rPr>
              <a:t>phase</a:t>
            </a:r>
            <a:r>
              <a:rPr sz="2800" b="0" spc="-190" dirty="0">
                <a:latin typeface="Trebuchet MS"/>
                <a:cs typeface="Trebuchet MS"/>
              </a:rPr>
              <a:t> </a:t>
            </a:r>
            <a:r>
              <a:rPr sz="2800" b="0" spc="-10" dirty="0">
                <a:latin typeface="Trebuchet MS"/>
                <a:cs typeface="Trebuchet MS"/>
              </a:rPr>
              <a:t>signal.</a:t>
            </a:r>
            <a:endParaRPr sz="2800">
              <a:latin typeface="Trebuchet MS"/>
              <a:cs typeface="Trebuchet MS"/>
            </a:endParaRPr>
          </a:p>
          <a:p>
            <a:pPr marL="240029" marR="421640" indent="-227329">
              <a:lnSpc>
                <a:spcPts val="3030"/>
              </a:lnSpc>
              <a:spcBef>
                <a:spcPts val="105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b="0" spc="-10" dirty="0">
                <a:latin typeface="Trebuchet MS"/>
                <a:cs typeface="Trebuchet MS"/>
              </a:rPr>
              <a:t>Susceptible</a:t>
            </a:r>
            <a:r>
              <a:rPr sz="2800" b="0" spc="-235" dirty="0">
                <a:latin typeface="Trebuchet MS"/>
                <a:cs typeface="Trebuchet MS"/>
              </a:rPr>
              <a:t> </a:t>
            </a:r>
            <a:r>
              <a:rPr sz="2800" b="0" spc="-110" dirty="0">
                <a:latin typeface="Trebuchet MS"/>
                <a:cs typeface="Trebuchet MS"/>
              </a:rPr>
              <a:t>to</a:t>
            </a:r>
            <a:r>
              <a:rPr sz="2800" b="0" spc="-245" dirty="0">
                <a:latin typeface="Trebuchet MS"/>
                <a:cs typeface="Trebuchet MS"/>
              </a:rPr>
              <a:t> </a:t>
            </a:r>
            <a:r>
              <a:rPr sz="2800" b="0" spc="-70" dirty="0">
                <a:latin typeface="Trebuchet MS"/>
                <a:cs typeface="Trebuchet MS"/>
              </a:rPr>
              <a:t>weather 	</a:t>
            </a:r>
            <a:r>
              <a:rPr sz="2800" b="0" spc="-10" dirty="0">
                <a:latin typeface="Trebuchet MS"/>
                <a:cs typeface="Trebuchet MS"/>
              </a:rPr>
              <a:t>conditions.</a:t>
            </a:r>
            <a:endParaRPr sz="2800">
              <a:latin typeface="Trebuchet MS"/>
              <a:cs typeface="Trebuchet MS"/>
            </a:endParaRPr>
          </a:p>
          <a:p>
            <a:pPr marL="240029" indent="-227329">
              <a:lnSpc>
                <a:spcPct val="100000"/>
              </a:lnSpc>
              <a:spcBef>
                <a:spcPts val="610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b="0" spc="-40" dirty="0">
                <a:latin typeface="Trebuchet MS"/>
                <a:cs typeface="Trebuchet MS"/>
              </a:rPr>
              <a:t>Bandwidth</a:t>
            </a:r>
            <a:r>
              <a:rPr sz="2800" b="0" spc="-215" dirty="0">
                <a:latin typeface="Trebuchet MS"/>
                <a:cs typeface="Trebuchet MS"/>
              </a:rPr>
              <a:t> </a:t>
            </a:r>
            <a:r>
              <a:rPr sz="2800" b="0" dirty="0">
                <a:latin typeface="Trebuchet MS"/>
                <a:cs typeface="Trebuchet MS"/>
              </a:rPr>
              <a:t>is</a:t>
            </a:r>
            <a:r>
              <a:rPr sz="2800" b="0" spc="-215" dirty="0">
                <a:latin typeface="Trebuchet MS"/>
                <a:cs typeface="Trebuchet MS"/>
              </a:rPr>
              <a:t> </a:t>
            </a:r>
            <a:r>
              <a:rPr sz="2800" b="0" spc="-10" dirty="0">
                <a:latin typeface="Trebuchet MS"/>
                <a:cs typeface="Trebuchet MS"/>
              </a:rPr>
              <a:t>limited.</a:t>
            </a:r>
            <a:endParaRPr sz="2800">
              <a:latin typeface="Trebuchet MS"/>
              <a:cs typeface="Trebuchet MS"/>
            </a:endParaRPr>
          </a:p>
          <a:p>
            <a:pPr marL="240029" marR="742315" indent="-227329">
              <a:lnSpc>
                <a:spcPct val="9000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b="0" spc="-10" dirty="0">
                <a:latin typeface="Trebuchet MS"/>
                <a:cs typeface="Trebuchet MS"/>
              </a:rPr>
              <a:t>High</a:t>
            </a:r>
            <a:r>
              <a:rPr sz="2800" b="0" spc="-254" dirty="0">
                <a:latin typeface="Trebuchet MS"/>
                <a:cs typeface="Trebuchet MS"/>
              </a:rPr>
              <a:t> </a:t>
            </a:r>
            <a:r>
              <a:rPr sz="2800" b="0" dirty="0">
                <a:latin typeface="Trebuchet MS"/>
                <a:cs typeface="Trebuchet MS"/>
              </a:rPr>
              <a:t>cost</a:t>
            </a:r>
            <a:r>
              <a:rPr sz="2800" b="0" spc="-225" dirty="0">
                <a:latin typeface="Trebuchet MS"/>
                <a:cs typeface="Trebuchet MS"/>
              </a:rPr>
              <a:t> </a:t>
            </a:r>
            <a:r>
              <a:rPr sz="2800" b="0" spc="-100" dirty="0">
                <a:latin typeface="Trebuchet MS"/>
                <a:cs typeface="Trebuchet MS"/>
              </a:rPr>
              <a:t>of</a:t>
            </a:r>
            <a:r>
              <a:rPr sz="2800" b="0" spc="-250" dirty="0">
                <a:latin typeface="Trebuchet MS"/>
                <a:cs typeface="Trebuchet MS"/>
              </a:rPr>
              <a:t> </a:t>
            </a:r>
            <a:r>
              <a:rPr sz="2800" b="0" spc="-10" dirty="0">
                <a:latin typeface="Trebuchet MS"/>
                <a:cs typeface="Trebuchet MS"/>
              </a:rPr>
              <a:t>design, 	</a:t>
            </a:r>
            <a:r>
              <a:rPr sz="2800" b="0" spc="-75" dirty="0">
                <a:latin typeface="Trebuchet MS"/>
                <a:cs typeface="Trebuchet MS"/>
              </a:rPr>
              <a:t>implementation,</a:t>
            </a:r>
            <a:r>
              <a:rPr sz="2800" b="0" spc="-195" dirty="0">
                <a:latin typeface="Trebuchet MS"/>
                <a:cs typeface="Trebuchet MS"/>
              </a:rPr>
              <a:t> </a:t>
            </a:r>
            <a:r>
              <a:rPr sz="2800" b="0" spc="-25" dirty="0">
                <a:latin typeface="Trebuchet MS"/>
                <a:cs typeface="Trebuchet MS"/>
              </a:rPr>
              <a:t>and 	</a:t>
            </a:r>
            <a:r>
              <a:rPr sz="2800" b="0" spc="-10" dirty="0">
                <a:latin typeface="Trebuchet MS"/>
                <a:cs typeface="Trebuchet MS"/>
              </a:rPr>
              <a:t>maintenance.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95" dirty="0"/>
              <a:t>Infrared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1969"/>
            <a:ext cx="9940925" cy="211518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029" marR="5080" indent="-227965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100" dirty="0">
                <a:latin typeface="Trebuchet MS"/>
                <a:cs typeface="Trebuchet MS"/>
              </a:rPr>
              <a:t>Infrared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waves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are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used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130" dirty="0">
                <a:latin typeface="Trebuchet MS"/>
                <a:cs typeface="Trebuchet MS"/>
              </a:rPr>
              <a:t>for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spc="-120" dirty="0">
                <a:latin typeface="Trebuchet MS"/>
                <a:cs typeface="Trebuchet MS"/>
              </a:rPr>
              <a:t>very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35" dirty="0">
                <a:latin typeface="Trebuchet MS"/>
                <a:cs typeface="Trebuchet MS"/>
              </a:rPr>
              <a:t>short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30" dirty="0">
                <a:latin typeface="Trebuchet MS"/>
                <a:cs typeface="Trebuchet MS"/>
              </a:rPr>
              <a:t>distance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communication. 	</a:t>
            </a:r>
            <a:r>
              <a:rPr sz="2800" spc="-130" dirty="0">
                <a:latin typeface="Trebuchet MS"/>
                <a:cs typeface="Trebuchet MS"/>
              </a:rPr>
              <a:t>They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cannot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110" dirty="0">
                <a:latin typeface="Trebuchet MS"/>
                <a:cs typeface="Trebuchet MS"/>
              </a:rPr>
              <a:t>penetrate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through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obstacles.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65" dirty="0">
                <a:latin typeface="Trebuchet MS"/>
                <a:cs typeface="Trebuchet MS"/>
              </a:rPr>
              <a:t>This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prevents 	</a:t>
            </a:r>
            <a:r>
              <a:rPr sz="2800" spc="-100" dirty="0">
                <a:latin typeface="Trebuchet MS"/>
                <a:cs typeface="Trebuchet MS"/>
              </a:rPr>
              <a:t>interference</a:t>
            </a:r>
            <a:r>
              <a:rPr sz="2800" spc="-200" dirty="0">
                <a:latin typeface="Trebuchet MS"/>
                <a:cs typeface="Trebuchet MS"/>
              </a:rPr>
              <a:t> </a:t>
            </a:r>
            <a:r>
              <a:rPr sz="2800" spc="-80" dirty="0">
                <a:latin typeface="Trebuchet MS"/>
                <a:cs typeface="Trebuchet MS"/>
              </a:rPr>
              <a:t>between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systems.</a:t>
            </a:r>
            <a:endParaRPr sz="2800">
              <a:latin typeface="Trebuchet MS"/>
              <a:cs typeface="Trebuchet MS"/>
            </a:endParaRPr>
          </a:p>
          <a:p>
            <a:pPr marL="240029" marR="250190" indent="-227965">
              <a:lnSpc>
                <a:spcPts val="302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b="1" spc="-80" dirty="0">
                <a:latin typeface="Trebuchet MS"/>
                <a:cs typeface="Trebuchet MS"/>
              </a:rPr>
              <a:t>Frequency</a:t>
            </a:r>
            <a:r>
              <a:rPr sz="2800" b="1" spc="-185" dirty="0">
                <a:latin typeface="Trebuchet MS"/>
                <a:cs typeface="Trebuchet MS"/>
              </a:rPr>
              <a:t> </a:t>
            </a:r>
            <a:r>
              <a:rPr sz="2800" b="1" spc="-40" dirty="0">
                <a:latin typeface="Trebuchet MS"/>
                <a:cs typeface="Trebuchet MS"/>
              </a:rPr>
              <a:t>Range:</a:t>
            </a:r>
            <a:r>
              <a:rPr sz="2800" b="1" spc="-17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300GHz</a:t>
            </a:r>
            <a:r>
              <a:rPr sz="2800" spc="-155" dirty="0">
                <a:latin typeface="Trebuchet MS"/>
                <a:cs typeface="Trebuchet MS"/>
              </a:rPr>
              <a:t> </a:t>
            </a:r>
            <a:r>
              <a:rPr sz="2800" spc="254" dirty="0">
                <a:latin typeface="Trebuchet MS"/>
                <a:cs typeface="Trebuchet MS"/>
              </a:rPr>
              <a:t>–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75" dirty="0">
                <a:latin typeface="Trebuchet MS"/>
                <a:cs typeface="Trebuchet MS"/>
              </a:rPr>
              <a:t>400THz.</a:t>
            </a:r>
            <a:r>
              <a:rPr sz="2800" spc="-160" dirty="0">
                <a:latin typeface="Trebuchet MS"/>
                <a:cs typeface="Trebuchet MS"/>
              </a:rPr>
              <a:t> </a:t>
            </a:r>
            <a:r>
              <a:rPr sz="2800" spc="-140" dirty="0">
                <a:latin typeface="Trebuchet MS"/>
                <a:cs typeface="Trebuchet MS"/>
              </a:rPr>
              <a:t>It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is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used</a:t>
            </a:r>
            <a:r>
              <a:rPr sz="2800" spc="-200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in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175" dirty="0">
                <a:latin typeface="Trebuchet MS"/>
                <a:cs typeface="Trebuchet MS"/>
              </a:rPr>
              <a:t>TV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remotes, 	</a:t>
            </a:r>
            <a:r>
              <a:rPr sz="2800" spc="-30" dirty="0">
                <a:latin typeface="Trebuchet MS"/>
                <a:cs typeface="Trebuchet MS"/>
              </a:rPr>
              <a:t>wireless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mouse,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keyboard,</a:t>
            </a:r>
            <a:r>
              <a:rPr sz="2800" spc="-195" dirty="0">
                <a:latin typeface="Trebuchet MS"/>
                <a:cs typeface="Trebuchet MS"/>
              </a:rPr>
              <a:t> </a:t>
            </a:r>
            <a:r>
              <a:rPr sz="2800" spc="-160" dirty="0">
                <a:latin typeface="Trebuchet MS"/>
                <a:cs typeface="Trebuchet MS"/>
              </a:rPr>
              <a:t>printer,</a:t>
            </a:r>
            <a:r>
              <a:rPr sz="2800" spc="-190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etc</a:t>
            </a:r>
            <a:endParaRPr sz="28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96742" y="3738892"/>
            <a:ext cx="2295893" cy="292455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80505" y="818896"/>
          <a:ext cx="11907520" cy="55035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46580"/>
                <a:gridCol w="3632200"/>
                <a:gridCol w="3469004"/>
                <a:gridCol w="2868929"/>
              </a:tblGrid>
              <a:tr h="37020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800" b="1" spc="4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Basis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55F82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Radiowave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55F82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Microwave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55F82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800" b="1" spc="-6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Infrared</a:t>
                      </a:r>
                      <a:r>
                        <a:rPr sz="1800" b="1" spc="-13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Wave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55F82"/>
                    </a:solidFill>
                  </a:tcPr>
                </a:tc>
              </a:tr>
              <a:tr h="63944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800" spc="-10" dirty="0">
                          <a:latin typeface="Trebuchet MS"/>
                          <a:cs typeface="Trebuchet MS"/>
                        </a:rPr>
                        <a:t>Direction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7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70421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800" spc="-35" dirty="0">
                          <a:latin typeface="Trebuchet MS"/>
                          <a:cs typeface="Trebuchet MS"/>
                        </a:rPr>
                        <a:t>These</a:t>
                      </a:r>
                      <a:r>
                        <a:rPr sz="1800" spc="-1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65" dirty="0">
                          <a:latin typeface="Trebuchet MS"/>
                          <a:cs typeface="Trebuchet MS"/>
                        </a:rPr>
                        <a:t>are</a:t>
                      </a:r>
                      <a:r>
                        <a:rPr sz="1800" spc="-1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0" dirty="0">
                          <a:latin typeface="Trebuchet MS"/>
                          <a:cs typeface="Trebuchet MS"/>
                        </a:rPr>
                        <a:t>omni</a:t>
                      </a:r>
                      <a:r>
                        <a:rPr sz="1800" spc="-1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50" dirty="0">
                          <a:latin typeface="Trebuchet MS"/>
                          <a:cs typeface="Trebuchet MS"/>
                        </a:rPr>
                        <a:t>directional</a:t>
                      </a:r>
                      <a:r>
                        <a:rPr sz="1800" spc="-1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25" dirty="0">
                          <a:latin typeface="Trebuchet MS"/>
                          <a:cs typeface="Trebuchet MS"/>
                        </a:rPr>
                        <a:t>in </a:t>
                      </a:r>
                      <a:r>
                        <a:rPr sz="1800" spc="-10" dirty="0">
                          <a:latin typeface="Trebuchet MS"/>
                          <a:cs typeface="Trebuchet MS"/>
                        </a:rPr>
                        <a:t>nature.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7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78613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800" spc="-40" dirty="0">
                          <a:latin typeface="Trebuchet MS"/>
                          <a:cs typeface="Trebuchet MS"/>
                        </a:rPr>
                        <a:t>These</a:t>
                      </a:r>
                      <a:r>
                        <a:rPr sz="1800" spc="-1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65" dirty="0">
                          <a:latin typeface="Trebuchet MS"/>
                          <a:cs typeface="Trebuchet MS"/>
                        </a:rPr>
                        <a:t>are</a:t>
                      </a:r>
                      <a:r>
                        <a:rPr sz="1800" spc="-114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50" dirty="0">
                          <a:latin typeface="Trebuchet MS"/>
                          <a:cs typeface="Trebuchet MS"/>
                        </a:rPr>
                        <a:t>unidirectional</a:t>
                      </a:r>
                      <a:r>
                        <a:rPr sz="1800" spc="-15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25" dirty="0">
                          <a:latin typeface="Trebuchet MS"/>
                          <a:cs typeface="Trebuchet MS"/>
                        </a:rPr>
                        <a:t>in </a:t>
                      </a:r>
                      <a:r>
                        <a:rPr sz="1800" spc="-10" dirty="0">
                          <a:latin typeface="Trebuchet MS"/>
                          <a:cs typeface="Trebuchet MS"/>
                        </a:rPr>
                        <a:t>nature.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7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18605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800" spc="-40" dirty="0">
                          <a:latin typeface="Trebuchet MS"/>
                          <a:cs typeface="Trebuchet MS"/>
                        </a:rPr>
                        <a:t>These</a:t>
                      </a:r>
                      <a:r>
                        <a:rPr sz="1800" spc="-1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65" dirty="0">
                          <a:latin typeface="Trebuchet MS"/>
                          <a:cs typeface="Trebuchet MS"/>
                        </a:rPr>
                        <a:t>are</a:t>
                      </a:r>
                      <a:r>
                        <a:rPr sz="1800" spc="-114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50" dirty="0">
                          <a:latin typeface="Trebuchet MS"/>
                          <a:cs typeface="Trebuchet MS"/>
                        </a:rPr>
                        <a:t>unidirectional</a:t>
                      </a:r>
                      <a:r>
                        <a:rPr sz="1800" spc="-15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25" dirty="0">
                          <a:latin typeface="Trebuchet MS"/>
                          <a:cs typeface="Trebuchet MS"/>
                        </a:rPr>
                        <a:t>in </a:t>
                      </a:r>
                      <a:r>
                        <a:rPr sz="1800" spc="-10" dirty="0">
                          <a:latin typeface="Trebuchet MS"/>
                          <a:cs typeface="Trebuchet MS"/>
                        </a:rPr>
                        <a:t>nature.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7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800" spc="-10" dirty="0">
                          <a:latin typeface="Trebuchet MS"/>
                          <a:cs typeface="Trebuchet MS"/>
                        </a:rPr>
                        <a:t>Penetration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25146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800" spc="-80" dirty="0">
                          <a:latin typeface="Trebuchet MS"/>
                          <a:cs typeface="Trebuchet MS"/>
                        </a:rPr>
                        <a:t>At</a:t>
                      </a:r>
                      <a:r>
                        <a:rPr sz="1800" spc="-1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35" dirty="0">
                          <a:latin typeface="Trebuchet MS"/>
                          <a:cs typeface="Trebuchet MS"/>
                        </a:rPr>
                        <a:t>low</a:t>
                      </a:r>
                      <a:r>
                        <a:rPr sz="1800" spc="-1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70" dirty="0">
                          <a:latin typeface="Trebuchet MS"/>
                          <a:cs typeface="Trebuchet MS"/>
                        </a:rPr>
                        <a:t>frequency,</a:t>
                      </a:r>
                      <a:r>
                        <a:rPr sz="1800" spc="-1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75" dirty="0">
                          <a:latin typeface="Trebuchet MS"/>
                          <a:cs typeface="Trebuchet MS"/>
                        </a:rPr>
                        <a:t>they</a:t>
                      </a:r>
                      <a:r>
                        <a:rPr sz="1800" spc="-1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25" dirty="0">
                          <a:latin typeface="Trebuchet MS"/>
                          <a:cs typeface="Trebuchet MS"/>
                        </a:rPr>
                        <a:t>can </a:t>
                      </a:r>
                      <a:r>
                        <a:rPr sz="1800" spc="-75" dirty="0">
                          <a:latin typeface="Trebuchet MS"/>
                          <a:cs typeface="Trebuchet MS"/>
                        </a:rPr>
                        <a:t>penetrate</a:t>
                      </a:r>
                      <a:r>
                        <a:rPr sz="1800" spc="-10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45" dirty="0">
                          <a:latin typeface="Trebuchet MS"/>
                          <a:cs typeface="Trebuchet MS"/>
                        </a:rPr>
                        <a:t>through</a:t>
                      </a:r>
                      <a:r>
                        <a:rPr sz="1800" spc="-1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solid</a:t>
                      </a:r>
                      <a:r>
                        <a:rPr sz="1800" spc="-1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0" dirty="0">
                          <a:latin typeface="Trebuchet MS"/>
                          <a:cs typeface="Trebuchet MS"/>
                        </a:rPr>
                        <a:t>objects 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and</a:t>
                      </a:r>
                      <a:r>
                        <a:rPr sz="1800" spc="-1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walls</a:t>
                      </a:r>
                      <a:r>
                        <a:rPr sz="1800" spc="-1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45" dirty="0">
                          <a:latin typeface="Trebuchet MS"/>
                          <a:cs typeface="Trebuchet MS"/>
                        </a:rPr>
                        <a:t>but</a:t>
                      </a:r>
                      <a:r>
                        <a:rPr sz="1800" spc="-15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35" dirty="0">
                          <a:latin typeface="Trebuchet MS"/>
                          <a:cs typeface="Trebuchet MS"/>
                        </a:rPr>
                        <a:t>high</a:t>
                      </a:r>
                      <a:r>
                        <a:rPr sz="1800" spc="-19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45" dirty="0">
                          <a:latin typeface="Trebuchet MS"/>
                          <a:cs typeface="Trebuchet MS"/>
                        </a:rPr>
                        <a:t>frequency</a:t>
                      </a:r>
                      <a:r>
                        <a:rPr sz="1800" spc="-1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35" dirty="0">
                          <a:latin typeface="Trebuchet MS"/>
                          <a:cs typeface="Trebuchet MS"/>
                        </a:rPr>
                        <a:t>they 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bounce</a:t>
                      </a:r>
                      <a:r>
                        <a:rPr sz="1800" spc="-1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85" dirty="0">
                          <a:latin typeface="Trebuchet MS"/>
                          <a:cs typeface="Trebuchet MS"/>
                        </a:rPr>
                        <a:t>off</a:t>
                      </a:r>
                      <a:r>
                        <a:rPr sz="1800" spc="-1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70" dirty="0">
                          <a:latin typeface="Trebuchet MS"/>
                          <a:cs typeface="Trebuchet MS"/>
                        </a:rPr>
                        <a:t>the</a:t>
                      </a:r>
                      <a:r>
                        <a:rPr sz="1800" spc="-1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0" dirty="0">
                          <a:latin typeface="Trebuchet MS"/>
                          <a:cs typeface="Trebuchet MS"/>
                        </a:rPr>
                        <a:t>obstacle.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116839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800" spc="-85" dirty="0">
                          <a:latin typeface="Trebuchet MS"/>
                          <a:cs typeface="Trebuchet MS"/>
                        </a:rPr>
                        <a:t>At</a:t>
                      </a:r>
                      <a:r>
                        <a:rPr sz="1800" spc="-1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35" dirty="0">
                          <a:latin typeface="Trebuchet MS"/>
                          <a:cs typeface="Trebuchet MS"/>
                        </a:rPr>
                        <a:t>low</a:t>
                      </a:r>
                      <a:r>
                        <a:rPr sz="1800" spc="-18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75" dirty="0">
                          <a:latin typeface="Trebuchet MS"/>
                          <a:cs typeface="Trebuchet MS"/>
                        </a:rPr>
                        <a:t>frequency,</a:t>
                      </a:r>
                      <a:r>
                        <a:rPr sz="1800" spc="-15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75" dirty="0">
                          <a:latin typeface="Trebuchet MS"/>
                          <a:cs typeface="Trebuchet MS"/>
                        </a:rPr>
                        <a:t>they</a:t>
                      </a:r>
                      <a:r>
                        <a:rPr sz="1800" spc="-1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25" dirty="0">
                          <a:latin typeface="Trebuchet MS"/>
                          <a:cs typeface="Trebuchet MS"/>
                        </a:rPr>
                        <a:t>can </a:t>
                      </a:r>
                      <a:r>
                        <a:rPr sz="1800" spc="-75" dirty="0">
                          <a:latin typeface="Trebuchet MS"/>
                          <a:cs typeface="Trebuchet MS"/>
                        </a:rPr>
                        <a:t>penetrate</a:t>
                      </a:r>
                      <a:r>
                        <a:rPr sz="1800" spc="-1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50" dirty="0">
                          <a:latin typeface="Trebuchet MS"/>
                          <a:cs typeface="Trebuchet MS"/>
                        </a:rPr>
                        <a:t>through</a:t>
                      </a:r>
                      <a:r>
                        <a:rPr sz="1800" spc="-1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solid</a:t>
                      </a:r>
                      <a:r>
                        <a:rPr sz="1800" spc="-1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0" dirty="0">
                          <a:latin typeface="Trebuchet MS"/>
                          <a:cs typeface="Trebuchet MS"/>
                        </a:rPr>
                        <a:t>objects 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and</a:t>
                      </a:r>
                      <a:r>
                        <a:rPr sz="1800" spc="-15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35" dirty="0">
                          <a:latin typeface="Trebuchet MS"/>
                          <a:cs typeface="Trebuchet MS"/>
                        </a:rPr>
                        <a:t>walls.</a:t>
                      </a:r>
                      <a:r>
                        <a:rPr sz="1800" spc="-1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80" dirty="0">
                          <a:latin typeface="Trebuchet MS"/>
                          <a:cs typeface="Trebuchet MS"/>
                        </a:rPr>
                        <a:t>at</a:t>
                      </a:r>
                      <a:r>
                        <a:rPr sz="1800" spc="-1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40" dirty="0">
                          <a:latin typeface="Trebuchet MS"/>
                          <a:cs typeface="Trebuchet MS"/>
                        </a:rPr>
                        <a:t>high</a:t>
                      </a:r>
                      <a:r>
                        <a:rPr sz="1800" spc="-1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70" dirty="0">
                          <a:latin typeface="Trebuchet MS"/>
                          <a:cs typeface="Trebuchet MS"/>
                        </a:rPr>
                        <a:t>frequency,</a:t>
                      </a:r>
                      <a:r>
                        <a:rPr sz="1800" spc="-1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40" dirty="0">
                          <a:latin typeface="Trebuchet MS"/>
                          <a:cs typeface="Trebuchet MS"/>
                        </a:rPr>
                        <a:t>they </a:t>
                      </a:r>
                      <a:r>
                        <a:rPr sz="1800" spc="-20" dirty="0">
                          <a:latin typeface="Trebuchet MS"/>
                          <a:cs typeface="Trebuchet MS"/>
                        </a:rPr>
                        <a:t>cannot</a:t>
                      </a:r>
                      <a:r>
                        <a:rPr sz="1800" spc="-1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0" dirty="0">
                          <a:latin typeface="Trebuchet MS"/>
                          <a:cs typeface="Trebuchet MS"/>
                        </a:rPr>
                        <a:t>penetrate.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41910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800" spc="-90" dirty="0">
                          <a:latin typeface="Trebuchet MS"/>
                          <a:cs typeface="Trebuchet MS"/>
                        </a:rPr>
                        <a:t>They</a:t>
                      </a:r>
                      <a:r>
                        <a:rPr sz="1800" spc="-1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20" dirty="0">
                          <a:latin typeface="Trebuchet MS"/>
                          <a:cs typeface="Trebuchet MS"/>
                        </a:rPr>
                        <a:t>cannot</a:t>
                      </a:r>
                      <a:r>
                        <a:rPr sz="1800" spc="-1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0" dirty="0">
                          <a:latin typeface="Trebuchet MS"/>
                          <a:cs typeface="Trebuchet MS"/>
                        </a:rPr>
                        <a:t>penetrate </a:t>
                      </a:r>
                      <a:r>
                        <a:rPr sz="1800" spc="-50" dirty="0">
                          <a:latin typeface="Trebuchet MS"/>
                          <a:cs typeface="Trebuchet MS"/>
                        </a:rPr>
                        <a:t>through</a:t>
                      </a:r>
                      <a:r>
                        <a:rPr sz="1800" spc="-1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40" dirty="0">
                          <a:latin typeface="Trebuchet MS"/>
                          <a:cs typeface="Trebuchet MS"/>
                        </a:rPr>
                        <a:t>any</a:t>
                      </a:r>
                      <a:r>
                        <a:rPr sz="1800" spc="-1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solid</a:t>
                      </a:r>
                      <a:r>
                        <a:rPr sz="1800" spc="-1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40" dirty="0">
                          <a:latin typeface="Trebuchet MS"/>
                          <a:cs typeface="Trebuchet MS"/>
                        </a:rPr>
                        <a:t>object 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and</a:t>
                      </a:r>
                      <a:r>
                        <a:rPr sz="1800" spc="-18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0" dirty="0">
                          <a:latin typeface="Trebuchet MS"/>
                          <a:cs typeface="Trebuchet MS"/>
                        </a:rPr>
                        <a:t>walls.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spc="-35" dirty="0">
                          <a:latin typeface="Trebuchet MS"/>
                          <a:cs typeface="Trebuchet MS"/>
                        </a:rPr>
                        <a:t>Frequency</a:t>
                      </a:r>
                      <a:r>
                        <a:rPr sz="1800" spc="-1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20" dirty="0">
                          <a:latin typeface="Trebuchet MS"/>
                          <a:cs typeface="Trebuchet MS"/>
                        </a:rPr>
                        <a:t>range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spc="-35" dirty="0">
                          <a:latin typeface="Trebuchet MS"/>
                          <a:cs typeface="Trebuchet MS"/>
                        </a:rPr>
                        <a:t>Frequency</a:t>
                      </a:r>
                      <a:r>
                        <a:rPr sz="1800" spc="-1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70" dirty="0">
                          <a:latin typeface="Trebuchet MS"/>
                          <a:cs typeface="Trebuchet MS"/>
                        </a:rPr>
                        <a:t>range:</a:t>
                      </a:r>
                      <a:r>
                        <a:rPr sz="1800" spc="-1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3</a:t>
                      </a:r>
                      <a:r>
                        <a:rPr sz="1800" spc="-18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KHz</a:t>
                      </a:r>
                      <a:r>
                        <a:rPr sz="1800" spc="-1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70" dirty="0">
                          <a:latin typeface="Trebuchet MS"/>
                          <a:cs typeface="Trebuchet MS"/>
                        </a:rPr>
                        <a:t>to</a:t>
                      </a:r>
                      <a:r>
                        <a:rPr sz="1800" spc="-15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20" dirty="0">
                          <a:latin typeface="Trebuchet MS"/>
                          <a:cs typeface="Trebuchet MS"/>
                        </a:rPr>
                        <a:t>1GHz.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spc="-35" dirty="0">
                          <a:latin typeface="Trebuchet MS"/>
                          <a:cs typeface="Trebuchet MS"/>
                        </a:rPr>
                        <a:t>Frequency</a:t>
                      </a:r>
                      <a:r>
                        <a:rPr sz="1800" spc="-1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75" dirty="0">
                          <a:latin typeface="Trebuchet MS"/>
                          <a:cs typeface="Trebuchet MS"/>
                        </a:rPr>
                        <a:t>range:</a:t>
                      </a:r>
                      <a:r>
                        <a:rPr sz="1800" spc="-1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1</a:t>
                      </a:r>
                      <a:r>
                        <a:rPr sz="1800" spc="-1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GHz</a:t>
                      </a:r>
                      <a:r>
                        <a:rPr sz="1800" spc="-1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70" dirty="0">
                          <a:latin typeface="Trebuchet MS"/>
                          <a:cs typeface="Trebuchet MS"/>
                        </a:rPr>
                        <a:t>to</a:t>
                      </a:r>
                      <a:r>
                        <a:rPr sz="1800" spc="-1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25" dirty="0">
                          <a:latin typeface="Trebuchet MS"/>
                          <a:cs typeface="Trebuchet MS"/>
                        </a:rPr>
                        <a:t>300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800" spc="-20" dirty="0">
                          <a:latin typeface="Trebuchet MS"/>
                          <a:cs typeface="Trebuchet MS"/>
                        </a:rPr>
                        <a:t>GHz.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spc="-35" dirty="0">
                          <a:latin typeface="Trebuchet MS"/>
                          <a:cs typeface="Trebuchet MS"/>
                        </a:rPr>
                        <a:t>Frequency</a:t>
                      </a:r>
                      <a:r>
                        <a:rPr sz="1800" spc="-1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75" dirty="0">
                          <a:latin typeface="Trebuchet MS"/>
                          <a:cs typeface="Trebuchet MS"/>
                        </a:rPr>
                        <a:t>range:</a:t>
                      </a:r>
                      <a:r>
                        <a:rPr sz="1800" spc="-1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300</a:t>
                      </a:r>
                      <a:r>
                        <a:rPr sz="1800" spc="-1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25" dirty="0">
                          <a:latin typeface="Trebuchet MS"/>
                          <a:cs typeface="Trebuchet MS"/>
                        </a:rPr>
                        <a:t>GHz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800" spc="-70" dirty="0">
                          <a:latin typeface="Trebuchet MS"/>
                          <a:cs typeface="Trebuchet MS"/>
                        </a:rPr>
                        <a:t>to</a:t>
                      </a:r>
                      <a:r>
                        <a:rPr sz="1800" spc="-1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400</a:t>
                      </a:r>
                      <a:r>
                        <a:rPr sz="1800" spc="-1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20" dirty="0">
                          <a:latin typeface="Trebuchet MS"/>
                          <a:cs typeface="Trebuchet MS"/>
                        </a:rPr>
                        <a:t>GHz.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7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spc="-10" dirty="0">
                          <a:latin typeface="Trebuchet MS"/>
                          <a:cs typeface="Trebuchet MS"/>
                        </a:rPr>
                        <a:t>Security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spc="-35" dirty="0">
                          <a:latin typeface="Trebuchet MS"/>
                          <a:cs typeface="Trebuchet MS"/>
                        </a:rPr>
                        <a:t>These</a:t>
                      </a:r>
                      <a:r>
                        <a:rPr sz="1800" spc="-1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55" dirty="0">
                          <a:latin typeface="Trebuchet MS"/>
                          <a:cs typeface="Trebuchet MS"/>
                        </a:rPr>
                        <a:t>offers</a:t>
                      </a:r>
                      <a:r>
                        <a:rPr sz="1800" spc="-1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20" dirty="0">
                          <a:latin typeface="Trebuchet MS"/>
                          <a:cs typeface="Trebuchet MS"/>
                        </a:rPr>
                        <a:t>poor</a:t>
                      </a:r>
                      <a:r>
                        <a:rPr sz="1800" spc="-1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0" dirty="0">
                          <a:latin typeface="Trebuchet MS"/>
                          <a:cs typeface="Trebuchet MS"/>
                        </a:rPr>
                        <a:t>security.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spc="-40" dirty="0">
                          <a:latin typeface="Trebuchet MS"/>
                          <a:cs typeface="Trebuchet MS"/>
                        </a:rPr>
                        <a:t>These</a:t>
                      </a:r>
                      <a:r>
                        <a:rPr sz="1800" spc="-1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60" dirty="0">
                          <a:latin typeface="Trebuchet MS"/>
                          <a:cs typeface="Trebuchet MS"/>
                        </a:rPr>
                        <a:t>offers</a:t>
                      </a:r>
                      <a:r>
                        <a:rPr sz="1800" spc="-1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20" dirty="0">
                          <a:latin typeface="Trebuchet MS"/>
                          <a:cs typeface="Trebuchet MS"/>
                        </a:rPr>
                        <a:t>medium</a:t>
                      </a:r>
                      <a:r>
                        <a:rPr sz="1800" spc="-1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0" dirty="0">
                          <a:latin typeface="Trebuchet MS"/>
                          <a:cs typeface="Trebuchet MS"/>
                        </a:rPr>
                        <a:t>security.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spc="-40" dirty="0">
                          <a:latin typeface="Trebuchet MS"/>
                          <a:cs typeface="Trebuchet MS"/>
                        </a:rPr>
                        <a:t>These</a:t>
                      </a:r>
                      <a:r>
                        <a:rPr sz="1800" spc="-1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60" dirty="0">
                          <a:latin typeface="Trebuchet MS"/>
                          <a:cs typeface="Trebuchet MS"/>
                        </a:rPr>
                        <a:t>offers</a:t>
                      </a:r>
                      <a:r>
                        <a:rPr sz="1800" spc="-1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40" dirty="0">
                          <a:latin typeface="Trebuchet MS"/>
                          <a:cs typeface="Trebuchet MS"/>
                        </a:rPr>
                        <a:t>high</a:t>
                      </a:r>
                      <a:r>
                        <a:rPr sz="1800" spc="-1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0" dirty="0">
                          <a:latin typeface="Trebuchet MS"/>
                          <a:cs typeface="Trebuchet MS"/>
                        </a:rPr>
                        <a:t>security.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C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10" dirty="0">
                          <a:latin typeface="Trebuchet MS"/>
                          <a:cs typeface="Trebuchet MS"/>
                        </a:rPr>
                        <a:t>Attenuation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60" dirty="0">
                          <a:latin typeface="Trebuchet MS"/>
                          <a:cs typeface="Trebuchet MS"/>
                        </a:rPr>
                        <a:t>Attenuation</a:t>
                      </a:r>
                      <a:r>
                        <a:rPr sz="1800" spc="-9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is</a:t>
                      </a:r>
                      <a:r>
                        <a:rPr sz="1800" spc="-1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0" dirty="0">
                          <a:latin typeface="Trebuchet MS"/>
                          <a:cs typeface="Trebuchet MS"/>
                        </a:rPr>
                        <a:t>high.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60" dirty="0">
                          <a:latin typeface="Trebuchet MS"/>
                          <a:cs typeface="Trebuchet MS"/>
                        </a:rPr>
                        <a:t>Attenuation</a:t>
                      </a:r>
                      <a:r>
                        <a:rPr sz="1800" spc="-1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is</a:t>
                      </a:r>
                      <a:r>
                        <a:rPr sz="1800" spc="-114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0" dirty="0">
                          <a:latin typeface="Trebuchet MS"/>
                          <a:cs typeface="Trebuchet MS"/>
                        </a:rPr>
                        <a:t>variable.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60" dirty="0">
                          <a:latin typeface="Trebuchet MS"/>
                          <a:cs typeface="Trebuchet MS"/>
                        </a:rPr>
                        <a:t>Attenuation</a:t>
                      </a:r>
                      <a:r>
                        <a:rPr sz="1800" spc="-1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is</a:t>
                      </a:r>
                      <a:r>
                        <a:rPr sz="1800" spc="-114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20" dirty="0">
                          <a:latin typeface="Trebuchet MS"/>
                          <a:cs typeface="Trebuchet MS"/>
                        </a:rPr>
                        <a:t>low.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7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spc="-10" dirty="0">
                          <a:latin typeface="Trebuchet MS"/>
                          <a:cs typeface="Trebuchet MS"/>
                        </a:rPr>
                        <a:t>Government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  <a:p>
                      <a:pPr marL="9080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10" dirty="0">
                          <a:latin typeface="Trebuchet MS"/>
                          <a:cs typeface="Trebuchet MS"/>
                        </a:rPr>
                        <a:t>License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18986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Some</a:t>
                      </a:r>
                      <a:r>
                        <a:rPr sz="1800" spc="-1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30" dirty="0">
                          <a:latin typeface="Trebuchet MS"/>
                          <a:cs typeface="Trebuchet MS"/>
                        </a:rPr>
                        <a:t>frequencies</a:t>
                      </a:r>
                      <a:r>
                        <a:rPr sz="1800" spc="-1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55" dirty="0">
                          <a:latin typeface="Trebuchet MS"/>
                          <a:cs typeface="Trebuchet MS"/>
                        </a:rPr>
                        <a:t>in</a:t>
                      </a:r>
                      <a:r>
                        <a:rPr sz="1800" spc="-1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70" dirty="0">
                          <a:latin typeface="Trebuchet MS"/>
                          <a:cs typeface="Trebuchet MS"/>
                        </a:rPr>
                        <a:t>the</a:t>
                      </a:r>
                      <a:r>
                        <a:rPr sz="1800" spc="-9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0" dirty="0">
                          <a:latin typeface="Trebuchet MS"/>
                          <a:cs typeface="Trebuchet MS"/>
                        </a:rPr>
                        <a:t>radio- waves</a:t>
                      </a:r>
                      <a:r>
                        <a:rPr sz="1800" spc="-1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65" dirty="0">
                          <a:latin typeface="Trebuchet MS"/>
                          <a:cs typeface="Trebuchet MS"/>
                        </a:rPr>
                        <a:t>require</a:t>
                      </a:r>
                      <a:r>
                        <a:rPr sz="1800" spc="-1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45" dirty="0">
                          <a:latin typeface="Trebuchet MS"/>
                          <a:cs typeface="Trebuchet MS"/>
                        </a:rPr>
                        <a:t>government</a:t>
                      </a:r>
                      <a:r>
                        <a:rPr sz="1800" spc="-18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0" dirty="0">
                          <a:latin typeface="Trebuchet MS"/>
                          <a:cs typeface="Trebuchet MS"/>
                        </a:rPr>
                        <a:t>license </a:t>
                      </a:r>
                      <a:r>
                        <a:rPr sz="1800" spc="-70" dirty="0">
                          <a:latin typeface="Trebuchet MS"/>
                          <a:cs typeface="Trebuchet MS"/>
                        </a:rPr>
                        <a:t>to</a:t>
                      </a:r>
                      <a:r>
                        <a:rPr sz="1800" spc="-10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use</a:t>
                      </a:r>
                      <a:r>
                        <a:rPr sz="1800" spc="-1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0" dirty="0">
                          <a:latin typeface="Trebuchet MS"/>
                          <a:cs typeface="Trebuchet MS"/>
                        </a:rPr>
                        <a:t>these.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22034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Some</a:t>
                      </a:r>
                      <a:r>
                        <a:rPr sz="1800" spc="-1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30" dirty="0">
                          <a:latin typeface="Trebuchet MS"/>
                          <a:cs typeface="Trebuchet MS"/>
                        </a:rPr>
                        <a:t>frequencies</a:t>
                      </a:r>
                      <a:r>
                        <a:rPr sz="1800" spc="-114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55" dirty="0">
                          <a:latin typeface="Trebuchet MS"/>
                          <a:cs typeface="Trebuchet MS"/>
                        </a:rPr>
                        <a:t>in</a:t>
                      </a:r>
                      <a:r>
                        <a:rPr sz="1800" spc="-1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25" dirty="0">
                          <a:latin typeface="Trebuchet MS"/>
                          <a:cs typeface="Trebuchet MS"/>
                        </a:rPr>
                        <a:t>the microwaves</a:t>
                      </a:r>
                      <a:r>
                        <a:rPr sz="1800" spc="-1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70" dirty="0">
                          <a:latin typeface="Trebuchet MS"/>
                          <a:cs typeface="Trebuchet MS"/>
                        </a:rPr>
                        <a:t>require</a:t>
                      </a:r>
                      <a:r>
                        <a:rPr sz="1800" spc="-1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35" dirty="0">
                          <a:latin typeface="Trebuchet MS"/>
                          <a:cs typeface="Trebuchet MS"/>
                        </a:rPr>
                        <a:t>government </a:t>
                      </a:r>
                      <a:r>
                        <a:rPr sz="1800" spc="-10" dirty="0">
                          <a:latin typeface="Trebuchet MS"/>
                          <a:cs typeface="Trebuchet MS"/>
                        </a:rPr>
                        <a:t>license</a:t>
                      </a:r>
                      <a:r>
                        <a:rPr sz="1800" spc="-1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70" dirty="0">
                          <a:latin typeface="Trebuchet MS"/>
                          <a:cs typeface="Trebuchet MS"/>
                        </a:rPr>
                        <a:t>to</a:t>
                      </a:r>
                      <a:r>
                        <a:rPr sz="1800" spc="-114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use</a:t>
                      </a:r>
                      <a:r>
                        <a:rPr sz="1800" spc="-1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0" dirty="0">
                          <a:latin typeface="Trebuchet MS"/>
                          <a:cs typeface="Trebuchet MS"/>
                        </a:rPr>
                        <a:t>these.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19050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spc="-90" dirty="0">
                          <a:latin typeface="Trebuchet MS"/>
                          <a:cs typeface="Trebuchet MS"/>
                        </a:rPr>
                        <a:t>There</a:t>
                      </a:r>
                      <a:r>
                        <a:rPr sz="1800" spc="-15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is</a:t>
                      </a:r>
                      <a:r>
                        <a:rPr sz="1800" spc="-1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no</a:t>
                      </a:r>
                      <a:r>
                        <a:rPr sz="1800" spc="-1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25" dirty="0">
                          <a:latin typeface="Trebuchet MS"/>
                          <a:cs typeface="Trebuchet MS"/>
                        </a:rPr>
                        <a:t>need</a:t>
                      </a:r>
                      <a:r>
                        <a:rPr sz="1800" spc="-1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25" dirty="0">
                          <a:latin typeface="Trebuchet MS"/>
                          <a:cs typeface="Trebuchet MS"/>
                        </a:rPr>
                        <a:t>of </a:t>
                      </a:r>
                      <a:r>
                        <a:rPr sz="1800" spc="-55" dirty="0">
                          <a:latin typeface="Trebuchet MS"/>
                          <a:cs typeface="Trebuchet MS"/>
                        </a:rPr>
                        <a:t>government</a:t>
                      </a:r>
                      <a:r>
                        <a:rPr sz="1800" spc="-1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0" dirty="0">
                          <a:latin typeface="Trebuchet MS"/>
                          <a:cs typeface="Trebuchet MS"/>
                        </a:rPr>
                        <a:t>license</a:t>
                      </a:r>
                      <a:r>
                        <a:rPr sz="1800" spc="-1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70" dirty="0">
                          <a:latin typeface="Trebuchet MS"/>
                          <a:cs typeface="Trebuchet MS"/>
                        </a:rPr>
                        <a:t>to</a:t>
                      </a:r>
                      <a:r>
                        <a:rPr sz="1800" spc="-1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25" dirty="0">
                          <a:latin typeface="Trebuchet MS"/>
                          <a:cs typeface="Trebuchet MS"/>
                        </a:rPr>
                        <a:t>use </a:t>
                      </a:r>
                      <a:r>
                        <a:rPr sz="1800" spc="-20" dirty="0">
                          <a:latin typeface="Trebuchet MS"/>
                          <a:cs typeface="Trebuchet MS"/>
                        </a:rPr>
                        <a:t>these</a:t>
                      </a:r>
                      <a:r>
                        <a:rPr sz="1800" spc="-1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0" dirty="0">
                          <a:latin typeface="Trebuchet MS"/>
                          <a:cs typeface="Trebuchet MS"/>
                        </a:rPr>
                        <a:t>waves.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C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Usage</a:t>
                      </a:r>
                      <a:r>
                        <a:rPr sz="1800" spc="-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20" dirty="0">
                          <a:latin typeface="Trebuchet MS"/>
                          <a:cs typeface="Trebuchet MS"/>
                        </a:rPr>
                        <a:t>Cost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10" dirty="0">
                          <a:latin typeface="Trebuchet MS"/>
                          <a:cs typeface="Trebuchet MS"/>
                        </a:rPr>
                        <a:t>Setup</a:t>
                      </a:r>
                      <a:r>
                        <a:rPr sz="1800" spc="-1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and</a:t>
                      </a:r>
                      <a:r>
                        <a:rPr sz="1800" spc="-10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usage</a:t>
                      </a:r>
                      <a:r>
                        <a:rPr sz="1800" spc="-1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Cost</a:t>
                      </a:r>
                      <a:r>
                        <a:rPr sz="1800" spc="-1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is</a:t>
                      </a:r>
                      <a:r>
                        <a:rPr sz="1800" spc="-1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0" dirty="0">
                          <a:latin typeface="Trebuchet MS"/>
                          <a:cs typeface="Trebuchet MS"/>
                        </a:rPr>
                        <a:t>moderate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10" dirty="0">
                          <a:latin typeface="Trebuchet MS"/>
                          <a:cs typeface="Trebuchet MS"/>
                        </a:rPr>
                        <a:t>Setup</a:t>
                      </a:r>
                      <a:r>
                        <a:rPr sz="1800" spc="-1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and</a:t>
                      </a:r>
                      <a:r>
                        <a:rPr sz="1800" spc="-114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usage</a:t>
                      </a:r>
                      <a:r>
                        <a:rPr sz="1800" spc="-114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Cost</a:t>
                      </a:r>
                      <a:r>
                        <a:rPr sz="1800" spc="-1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is</a:t>
                      </a:r>
                      <a:r>
                        <a:rPr sz="1800" spc="-1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20" dirty="0">
                          <a:latin typeface="Trebuchet MS"/>
                          <a:cs typeface="Trebuchet MS"/>
                        </a:rPr>
                        <a:t>high.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Usage</a:t>
                      </a:r>
                      <a:r>
                        <a:rPr sz="1800" spc="-9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Cost</a:t>
                      </a:r>
                      <a:r>
                        <a:rPr sz="1800" spc="-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is</a:t>
                      </a:r>
                      <a:r>
                        <a:rPr sz="1800" spc="-9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85" dirty="0">
                          <a:latin typeface="Trebuchet MS"/>
                          <a:cs typeface="Trebuchet MS"/>
                        </a:rPr>
                        <a:t>very</a:t>
                      </a:r>
                      <a:r>
                        <a:rPr sz="1800" spc="-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20" dirty="0">
                          <a:latin typeface="Trebuchet MS"/>
                          <a:cs typeface="Trebuchet MS"/>
                        </a:rPr>
                        <a:t>less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10" dirty="0">
                          <a:latin typeface="Trebuchet MS"/>
                          <a:cs typeface="Trebuchet MS"/>
                        </a:rPr>
                        <a:t>Communication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45529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35" dirty="0">
                          <a:latin typeface="Trebuchet MS"/>
                          <a:cs typeface="Trebuchet MS"/>
                        </a:rPr>
                        <a:t>These</a:t>
                      </a:r>
                      <a:r>
                        <a:rPr sz="1800" spc="-1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65" dirty="0">
                          <a:latin typeface="Trebuchet MS"/>
                          <a:cs typeface="Trebuchet MS"/>
                        </a:rPr>
                        <a:t>are</a:t>
                      </a:r>
                      <a:r>
                        <a:rPr sz="1800" spc="-1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used</a:t>
                      </a:r>
                      <a:r>
                        <a:rPr sz="1800" spc="-1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55" dirty="0">
                          <a:latin typeface="Trebuchet MS"/>
                          <a:cs typeface="Trebuchet MS"/>
                        </a:rPr>
                        <a:t>in</a:t>
                      </a:r>
                      <a:r>
                        <a:rPr sz="1800" spc="-1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25" dirty="0">
                          <a:latin typeface="Trebuchet MS"/>
                          <a:cs typeface="Trebuchet MS"/>
                        </a:rPr>
                        <a:t>long</a:t>
                      </a:r>
                      <a:r>
                        <a:rPr sz="1800" spc="-1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0" dirty="0">
                          <a:latin typeface="Trebuchet MS"/>
                          <a:cs typeface="Trebuchet MS"/>
                        </a:rPr>
                        <a:t>distance communication.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29654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40" dirty="0">
                          <a:latin typeface="Trebuchet MS"/>
                          <a:cs typeface="Trebuchet MS"/>
                        </a:rPr>
                        <a:t>These</a:t>
                      </a:r>
                      <a:r>
                        <a:rPr sz="1800" spc="-1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65" dirty="0">
                          <a:latin typeface="Trebuchet MS"/>
                          <a:cs typeface="Trebuchet MS"/>
                        </a:rPr>
                        <a:t>are</a:t>
                      </a:r>
                      <a:r>
                        <a:rPr sz="1800" spc="-1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used</a:t>
                      </a:r>
                      <a:r>
                        <a:rPr sz="1800" spc="-1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55" dirty="0">
                          <a:latin typeface="Trebuchet MS"/>
                          <a:cs typeface="Trebuchet MS"/>
                        </a:rPr>
                        <a:t>in</a:t>
                      </a:r>
                      <a:r>
                        <a:rPr sz="1800" spc="-15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25" dirty="0">
                          <a:latin typeface="Trebuchet MS"/>
                          <a:cs typeface="Trebuchet MS"/>
                        </a:rPr>
                        <a:t>long</a:t>
                      </a:r>
                      <a:r>
                        <a:rPr sz="1800" spc="-1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0" dirty="0">
                          <a:latin typeface="Trebuchet MS"/>
                          <a:cs typeface="Trebuchet MS"/>
                        </a:rPr>
                        <a:t>distance communication.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22161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40" dirty="0">
                          <a:latin typeface="Trebuchet MS"/>
                          <a:cs typeface="Trebuchet MS"/>
                        </a:rPr>
                        <a:t>These</a:t>
                      </a:r>
                      <a:r>
                        <a:rPr sz="1800" spc="-1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65" dirty="0">
                          <a:latin typeface="Trebuchet MS"/>
                          <a:cs typeface="Trebuchet MS"/>
                        </a:rPr>
                        <a:t>are</a:t>
                      </a:r>
                      <a:r>
                        <a:rPr sz="1800" spc="-1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45" dirty="0">
                          <a:latin typeface="Trebuchet MS"/>
                          <a:cs typeface="Trebuchet MS"/>
                        </a:rPr>
                        <a:t>not</a:t>
                      </a:r>
                      <a:r>
                        <a:rPr sz="1800" spc="-1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used</a:t>
                      </a:r>
                      <a:r>
                        <a:rPr sz="1800" spc="-1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55" dirty="0">
                          <a:latin typeface="Trebuchet MS"/>
                          <a:cs typeface="Trebuchet MS"/>
                        </a:rPr>
                        <a:t>in</a:t>
                      </a:r>
                      <a:r>
                        <a:rPr sz="1800" spc="-1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20" dirty="0">
                          <a:latin typeface="Trebuchet MS"/>
                          <a:cs typeface="Trebuchet MS"/>
                        </a:rPr>
                        <a:t>long distance</a:t>
                      </a:r>
                      <a:r>
                        <a:rPr sz="1800" spc="-114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0" dirty="0">
                          <a:latin typeface="Trebuchet MS"/>
                          <a:cs typeface="Trebuchet MS"/>
                        </a:rPr>
                        <a:t>communication.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C"/>
                    </a:solidFill>
                  </a:tcPr>
                </a:tc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2835401" y="169290"/>
            <a:ext cx="65417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5" dirty="0">
                <a:latin typeface="Trebuchet MS"/>
                <a:cs typeface="Trebuchet MS"/>
              </a:rPr>
              <a:t>Difference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spc="-45" dirty="0">
                <a:latin typeface="Trebuchet MS"/>
                <a:cs typeface="Trebuchet MS"/>
              </a:rPr>
              <a:t>Between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Radio</a:t>
            </a:r>
            <a:r>
              <a:rPr sz="1800" spc="-140" dirty="0">
                <a:latin typeface="Trebuchet MS"/>
                <a:cs typeface="Trebuchet MS"/>
              </a:rPr>
              <a:t> </a:t>
            </a:r>
            <a:r>
              <a:rPr sz="1800" spc="-35" dirty="0">
                <a:latin typeface="Trebuchet MS"/>
                <a:cs typeface="Trebuchet MS"/>
              </a:rPr>
              <a:t>Waves,</a:t>
            </a:r>
            <a:r>
              <a:rPr sz="1800" spc="-160" dirty="0">
                <a:latin typeface="Trebuchet MS"/>
                <a:cs typeface="Trebuchet MS"/>
              </a:rPr>
              <a:t> </a:t>
            </a:r>
            <a:r>
              <a:rPr sz="1800" spc="-30" dirty="0">
                <a:latin typeface="Trebuchet MS"/>
                <a:cs typeface="Trebuchet MS"/>
              </a:rPr>
              <a:t>Microwaves,</a:t>
            </a:r>
            <a:r>
              <a:rPr sz="1800" spc="-15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and</a:t>
            </a:r>
            <a:r>
              <a:rPr sz="1800" spc="-135" dirty="0">
                <a:latin typeface="Trebuchet MS"/>
                <a:cs typeface="Trebuchet MS"/>
              </a:rPr>
              <a:t> </a:t>
            </a:r>
            <a:r>
              <a:rPr sz="1800" spc="-70" dirty="0">
                <a:latin typeface="Trebuchet MS"/>
                <a:cs typeface="Trebuchet MS"/>
              </a:rPr>
              <a:t>Infrared</a:t>
            </a:r>
            <a:r>
              <a:rPr sz="1800" spc="-15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Waves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Causes</a:t>
            </a:r>
            <a:r>
              <a:rPr spc="-400" dirty="0"/>
              <a:t> </a:t>
            </a:r>
            <a:r>
              <a:rPr spc="-265" dirty="0"/>
              <a:t>of</a:t>
            </a:r>
            <a:r>
              <a:rPr spc="-409" dirty="0"/>
              <a:t> </a:t>
            </a:r>
            <a:r>
              <a:rPr spc="-155" dirty="0"/>
              <a:t>Transmission</a:t>
            </a:r>
            <a:r>
              <a:rPr spc="-434" dirty="0"/>
              <a:t> </a:t>
            </a:r>
            <a:r>
              <a:rPr spc="-200" dirty="0"/>
              <a:t>Impairment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029" marR="26034" indent="-227965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</a:tabLst>
            </a:pPr>
            <a:r>
              <a:rPr spc="-25" dirty="0"/>
              <a:t>Transmission</a:t>
            </a:r>
            <a:r>
              <a:rPr spc="-235" dirty="0"/>
              <a:t> </a:t>
            </a:r>
            <a:r>
              <a:rPr spc="-70" dirty="0"/>
              <a:t>impairment</a:t>
            </a:r>
            <a:r>
              <a:rPr spc="-235" dirty="0"/>
              <a:t> </a:t>
            </a:r>
            <a:r>
              <a:rPr spc="-95" dirty="0"/>
              <a:t>refers</a:t>
            </a:r>
            <a:r>
              <a:rPr spc="-240" dirty="0"/>
              <a:t> </a:t>
            </a:r>
            <a:r>
              <a:rPr spc="-105" dirty="0"/>
              <a:t>to</a:t>
            </a:r>
            <a:r>
              <a:rPr spc="-220" dirty="0"/>
              <a:t> </a:t>
            </a:r>
            <a:r>
              <a:rPr spc="-90" dirty="0"/>
              <a:t>the</a:t>
            </a:r>
            <a:r>
              <a:rPr spc="-235" dirty="0"/>
              <a:t> </a:t>
            </a:r>
            <a:r>
              <a:rPr spc="90" dirty="0"/>
              <a:t>loss</a:t>
            </a:r>
            <a:r>
              <a:rPr spc="-235" dirty="0"/>
              <a:t> </a:t>
            </a:r>
            <a:r>
              <a:rPr spc="-75" dirty="0"/>
              <a:t>or</a:t>
            </a:r>
            <a:r>
              <a:rPr spc="-210" dirty="0"/>
              <a:t> </a:t>
            </a:r>
            <a:r>
              <a:rPr spc="-65" dirty="0"/>
              <a:t>distortion</a:t>
            </a:r>
            <a:r>
              <a:rPr spc="-240" dirty="0"/>
              <a:t> </a:t>
            </a:r>
            <a:r>
              <a:rPr spc="-100" dirty="0"/>
              <a:t>of</a:t>
            </a:r>
            <a:r>
              <a:rPr spc="-235" dirty="0"/>
              <a:t> </a:t>
            </a:r>
            <a:r>
              <a:rPr spc="-10" dirty="0"/>
              <a:t>signals 	</a:t>
            </a:r>
            <a:r>
              <a:rPr spc="-65" dirty="0"/>
              <a:t>during</a:t>
            </a:r>
            <a:r>
              <a:rPr spc="-229" dirty="0"/>
              <a:t> </a:t>
            </a:r>
            <a:r>
              <a:rPr spc="-70" dirty="0"/>
              <a:t>data</a:t>
            </a:r>
            <a:r>
              <a:rPr spc="-220" dirty="0"/>
              <a:t> </a:t>
            </a:r>
            <a:r>
              <a:rPr spc="-20" dirty="0"/>
              <a:t>transmission,</a:t>
            </a:r>
            <a:r>
              <a:rPr spc="-220" dirty="0"/>
              <a:t> </a:t>
            </a:r>
            <a:r>
              <a:rPr spc="-55" dirty="0"/>
              <a:t>leading</a:t>
            </a:r>
            <a:r>
              <a:rPr spc="-240" dirty="0"/>
              <a:t> </a:t>
            </a:r>
            <a:r>
              <a:rPr spc="-105" dirty="0"/>
              <a:t>to</a:t>
            </a:r>
            <a:r>
              <a:rPr spc="-220" dirty="0"/>
              <a:t> </a:t>
            </a:r>
            <a:r>
              <a:rPr spc="-65" dirty="0"/>
              <a:t>errors</a:t>
            </a:r>
            <a:r>
              <a:rPr spc="-240" dirty="0"/>
              <a:t> </a:t>
            </a:r>
            <a:r>
              <a:rPr spc="-70" dirty="0"/>
              <a:t>or</a:t>
            </a:r>
            <a:r>
              <a:rPr spc="-215" dirty="0"/>
              <a:t> </a:t>
            </a:r>
            <a:r>
              <a:rPr spc="-35" dirty="0"/>
              <a:t>reduced</a:t>
            </a:r>
            <a:r>
              <a:rPr spc="-215" dirty="0"/>
              <a:t> </a:t>
            </a:r>
            <a:r>
              <a:rPr spc="-85" dirty="0"/>
              <a:t>quality</a:t>
            </a:r>
            <a:r>
              <a:rPr spc="-240" dirty="0"/>
              <a:t> </a:t>
            </a:r>
            <a:r>
              <a:rPr spc="-25" dirty="0"/>
              <a:t>in 	</a:t>
            </a:r>
            <a:r>
              <a:rPr spc="-10" dirty="0"/>
              <a:t>communication.</a:t>
            </a:r>
          </a:p>
          <a:p>
            <a:pPr marL="240029" marR="5080" indent="-227965">
              <a:lnSpc>
                <a:spcPts val="302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pc="80" dirty="0"/>
              <a:t>Common</a:t>
            </a:r>
            <a:r>
              <a:rPr spc="-229" dirty="0"/>
              <a:t> </a:t>
            </a:r>
            <a:r>
              <a:rPr spc="75" dirty="0"/>
              <a:t>causes</a:t>
            </a:r>
            <a:r>
              <a:rPr spc="-225" dirty="0"/>
              <a:t> </a:t>
            </a:r>
            <a:r>
              <a:rPr spc="-35" dirty="0"/>
              <a:t>include</a:t>
            </a:r>
            <a:r>
              <a:rPr spc="-235" dirty="0"/>
              <a:t> </a:t>
            </a:r>
            <a:r>
              <a:rPr spc="-25" dirty="0"/>
              <a:t>signal</a:t>
            </a:r>
            <a:r>
              <a:rPr spc="-225" dirty="0"/>
              <a:t> </a:t>
            </a:r>
            <a:r>
              <a:rPr spc="-80" dirty="0"/>
              <a:t>distortion,</a:t>
            </a:r>
            <a:r>
              <a:rPr spc="-240" dirty="0"/>
              <a:t> </a:t>
            </a:r>
            <a:r>
              <a:rPr spc="-95" dirty="0"/>
              <a:t>attenuation,</a:t>
            </a:r>
            <a:r>
              <a:rPr spc="-240" dirty="0"/>
              <a:t> </a:t>
            </a:r>
            <a:r>
              <a:rPr dirty="0"/>
              <a:t>and</a:t>
            </a:r>
            <a:r>
              <a:rPr spc="-229" dirty="0"/>
              <a:t> </a:t>
            </a:r>
            <a:r>
              <a:rPr spc="-10" dirty="0"/>
              <a:t>noise 	</a:t>
            </a:r>
            <a:r>
              <a:rPr spc="-75" dirty="0"/>
              <a:t>all</a:t>
            </a:r>
            <a:r>
              <a:rPr spc="-235" dirty="0"/>
              <a:t> </a:t>
            </a:r>
            <a:r>
              <a:rPr spc="-100" dirty="0"/>
              <a:t>of</a:t>
            </a:r>
            <a:r>
              <a:rPr spc="-245" dirty="0"/>
              <a:t> </a:t>
            </a:r>
            <a:r>
              <a:rPr spc="-40" dirty="0"/>
              <a:t>which</a:t>
            </a:r>
            <a:r>
              <a:rPr spc="-245" dirty="0"/>
              <a:t> </a:t>
            </a:r>
            <a:r>
              <a:rPr dirty="0"/>
              <a:t>can</a:t>
            </a:r>
            <a:r>
              <a:rPr spc="-240" dirty="0"/>
              <a:t> </a:t>
            </a:r>
            <a:r>
              <a:rPr spc="-114" dirty="0"/>
              <a:t>affect</a:t>
            </a:r>
            <a:r>
              <a:rPr spc="-245" dirty="0"/>
              <a:t> </a:t>
            </a:r>
            <a:r>
              <a:rPr spc="-90" dirty="0"/>
              <a:t>the</a:t>
            </a:r>
            <a:r>
              <a:rPr spc="-245" dirty="0"/>
              <a:t> </a:t>
            </a:r>
            <a:r>
              <a:rPr spc="-105" dirty="0"/>
              <a:t>clarity</a:t>
            </a:r>
            <a:r>
              <a:rPr spc="-240" dirty="0"/>
              <a:t> </a:t>
            </a:r>
            <a:r>
              <a:rPr dirty="0"/>
              <a:t>and</a:t>
            </a:r>
            <a:r>
              <a:rPr spc="-240" dirty="0"/>
              <a:t> </a:t>
            </a:r>
            <a:r>
              <a:rPr spc="-114" dirty="0"/>
              <a:t>reliability</a:t>
            </a:r>
            <a:r>
              <a:rPr spc="-275" dirty="0"/>
              <a:t> </a:t>
            </a:r>
            <a:r>
              <a:rPr spc="-100" dirty="0"/>
              <a:t>of</a:t>
            </a:r>
            <a:r>
              <a:rPr spc="-235" dirty="0"/>
              <a:t> </a:t>
            </a:r>
            <a:r>
              <a:rPr spc="-10" dirty="0"/>
              <a:t>transmitted 	data.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Causes</a:t>
            </a:r>
            <a:r>
              <a:rPr spc="-400" dirty="0"/>
              <a:t> </a:t>
            </a:r>
            <a:r>
              <a:rPr spc="-265" dirty="0"/>
              <a:t>of</a:t>
            </a:r>
            <a:r>
              <a:rPr spc="-409" dirty="0"/>
              <a:t> </a:t>
            </a:r>
            <a:r>
              <a:rPr spc="-155" dirty="0"/>
              <a:t>Transmission</a:t>
            </a:r>
            <a:r>
              <a:rPr spc="-434" dirty="0"/>
              <a:t> </a:t>
            </a:r>
            <a:r>
              <a:rPr spc="-200" dirty="0"/>
              <a:t>Impairment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1969"/>
            <a:ext cx="10325100" cy="249872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0029" marR="5080" indent="-227965">
              <a:lnSpc>
                <a:spcPct val="90000"/>
              </a:lnSpc>
              <a:spcBef>
                <a:spcPts val="43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b="1" spc="-80" dirty="0">
                <a:latin typeface="Trebuchet MS"/>
                <a:cs typeface="Trebuchet MS"/>
              </a:rPr>
              <a:t>Attenuation:</a:t>
            </a:r>
            <a:r>
              <a:rPr sz="2800" b="1" spc="-185" dirty="0">
                <a:latin typeface="Trebuchet MS"/>
                <a:cs typeface="Trebuchet MS"/>
              </a:rPr>
              <a:t> </a:t>
            </a:r>
            <a:r>
              <a:rPr sz="2800" spc="-140" dirty="0">
                <a:latin typeface="Trebuchet MS"/>
                <a:cs typeface="Trebuchet MS"/>
              </a:rPr>
              <a:t>It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means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90" dirty="0">
                <a:latin typeface="Trebuchet MS"/>
                <a:cs typeface="Trebuchet MS"/>
              </a:rPr>
              <a:t>loss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of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45" dirty="0">
                <a:latin typeface="Trebuchet MS"/>
                <a:cs typeface="Trebuchet MS"/>
              </a:rPr>
              <a:t>energy.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30" dirty="0">
                <a:latin typeface="Trebuchet MS"/>
                <a:cs typeface="Trebuchet MS"/>
              </a:rPr>
              <a:t>The</a:t>
            </a:r>
            <a:r>
              <a:rPr sz="2800" spc="-200" dirty="0">
                <a:latin typeface="Trebuchet MS"/>
                <a:cs typeface="Trebuchet MS"/>
              </a:rPr>
              <a:t> </a:t>
            </a:r>
            <a:r>
              <a:rPr sz="2800" spc="-75" dirty="0">
                <a:latin typeface="Trebuchet MS"/>
                <a:cs typeface="Trebuchet MS"/>
              </a:rPr>
              <a:t>strength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of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signal 	</a:t>
            </a:r>
            <a:r>
              <a:rPr sz="2800" dirty="0">
                <a:latin typeface="Trebuchet MS"/>
                <a:cs typeface="Trebuchet MS"/>
              </a:rPr>
              <a:t>decreases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120" dirty="0">
                <a:latin typeface="Trebuchet MS"/>
                <a:cs typeface="Trebuchet MS"/>
              </a:rPr>
              <a:t>with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35" dirty="0">
                <a:latin typeface="Trebuchet MS"/>
                <a:cs typeface="Trebuchet MS"/>
              </a:rPr>
              <a:t>increasing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30" dirty="0">
                <a:latin typeface="Trebuchet MS"/>
                <a:cs typeface="Trebuchet MS"/>
              </a:rPr>
              <a:t>distance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40" dirty="0">
                <a:latin typeface="Trebuchet MS"/>
                <a:cs typeface="Trebuchet MS"/>
              </a:rPr>
              <a:t>which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75" dirty="0">
                <a:latin typeface="Trebuchet MS"/>
                <a:cs typeface="Trebuchet MS"/>
              </a:rPr>
              <a:t>causes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90" dirty="0">
                <a:latin typeface="Trebuchet MS"/>
                <a:cs typeface="Trebuchet MS"/>
              </a:rPr>
              <a:t>loss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of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energy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in 	</a:t>
            </a:r>
            <a:r>
              <a:rPr sz="2800" spc="-50" dirty="0">
                <a:latin typeface="Trebuchet MS"/>
                <a:cs typeface="Trebuchet MS"/>
              </a:rPr>
              <a:t>overcoming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resistance</a:t>
            </a:r>
            <a:r>
              <a:rPr sz="2800" spc="-185" dirty="0"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of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55" dirty="0">
                <a:latin typeface="Trebuchet MS"/>
                <a:cs typeface="Trebuchet MS"/>
              </a:rPr>
              <a:t>medium.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65" dirty="0">
                <a:latin typeface="Trebuchet MS"/>
                <a:cs typeface="Trebuchet MS"/>
              </a:rPr>
              <a:t>This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is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also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30" dirty="0">
                <a:latin typeface="Trebuchet MS"/>
                <a:cs typeface="Trebuchet MS"/>
              </a:rPr>
              <a:t>known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75" dirty="0">
                <a:latin typeface="Trebuchet MS"/>
                <a:cs typeface="Trebuchet MS"/>
              </a:rPr>
              <a:t>as 	</a:t>
            </a:r>
            <a:r>
              <a:rPr sz="2800" spc="-90" dirty="0">
                <a:latin typeface="Trebuchet MS"/>
                <a:cs typeface="Trebuchet MS"/>
              </a:rPr>
              <a:t>attenuated</a:t>
            </a:r>
            <a:r>
              <a:rPr sz="2800" spc="-18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signal.</a:t>
            </a:r>
            <a:endParaRPr sz="2800">
              <a:latin typeface="Trebuchet MS"/>
              <a:cs typeface="Trebuchet MS"/>
            </a:endParaRPr>
          </a:p>
          <a:p>
            <a:pPr marL="240029" marR="392430" indent="-227965">
              <a:lnSpc>
                <a:spcPts val="3020"/>
              </a:lnSpc>
              <a:spcBef>
                <a:spcPts val="104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65" dirty="0">
                <a:latin typeface="Trebuchet MS"/>
                <a:cs typeface="Trebuchet MS"/>
              </a:rPr>
              <a:t>Amplifiers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95" dirty="0">
                <a:latin typeface="Trebuchet MS"/>
                <a:cs typeface="Trebuchet MS"/>
              </a:rPr>
              <a:t>are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used</a:t>
            </a:r>
            <a:r>
              <a:rPr sz="2800" spc="-200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to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75" dirty="0">
                <a:latin typeface="Trebuchet MS"/>
                <a:cs typeface="Trebuchet MS"/>
              </a:rPr>
              <a:t>amplify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the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attenuated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signal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40" dirty="0">
                <a:latin typeface="Trebuchet MS"/>
                <a:cs typeface="Trebuchet MS"/>
              </a:rPr>
              <a:t>which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gives 	</a:t>
            </a:r>
            <a:r>
              <a:rPr sz="2800" spc="-105" dirty="0">
                <a:latin typeface="Trebuchet MS"/>
                <a:cs typeface="Trebuchet MS"/>
              </a:rPr>
              <a:t>the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75" dirty="0">
                <a:latin typeface="Trebuchet MS"/>
                <a:cs typeface="Trebuchet MS"/>
              </a:rPr>
              <a:t>original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signal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back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and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compensate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30" dirty="0">
                <a:latin typeface="Trebuchet MS"/>
                <a:cs typeface="Trebuchet MS"/>
              </a:rPr>
              <a:t>for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45" dirty="0">
                <a:latin typeface="Trebuchet MS"/>
                <a:cs typeface="Trebuchet MS"/>
              </a:rPr>
              <a:t>this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loss.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Causes</a:t>
            </a:r>
            <a:r>
              <a:rPr spc="-400" dirty="0"/>
              <a:t> </a:t>
            </a:r>
            <a:r>
              <a:rPr spc="-265" dirty="0"/>
              <a:t>of</a:t>
            </a:r>
            <a:r>
              <a:rPr spc="-409" dirty="0"/>
              <a:t> </a:t>
            </a:r>
            <a:r>
              <a:rPr spc="-155" dirty="0"/>
              <a:t>Transmission</a:t>
            </a:r>
            <a:r>
              <a:rPr spc="-434" dirty="0"/>
              <a:t> </a:t>
            </a:r>
            <a:r>
              <a:rPr spc="-200" dirty="0"/>
              <a:t>Impairment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029" marR="5080" indent="-227965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</a:tabLst>
            </a:pPr>
            <a:r>
              <a:rPr b="1" spc="-50" dirty="0">
                <a:latin typeface="Trebuchet MS"/>
                <a:cs typeface="Trebuchet MS"/>
              </a:rPr>
              <a:t>Distortion:</a:t>
            </a:r>
            <a:r>
              <a:rPr b="1" spc="-185" dirty="0">
                <a:latin typeface="Trebuchet MS"/>
                <a:cs typeface="Trebuchet MS"/>
              </a:rPr>
              <a:t> </a:t>
            </a:r>
            <a:r>
              <a:rPr spc="-140" dirty="0"/>
              <a:t>It</a:t>
            </a:r>
            <a:r>
              <a:rPr spc="-200" dirty="0"/>
              <a:t> </a:t>
            </a:r>
            <a:r>
              <a:rPr dirty="0"/>
              <a:t>means</a:t>
            </a:r>
            <a:r>
              <a:rPr spc="-215" dirty="0"/>
              <a:t> </a:t>
            </a:r>
            <a:r>
              <a:rPr dirty="0"/>
              <a:t>changes</a:t>
            </a:r>
            <a:r>
              <a:rPr spc="-175" dirty="0"/>
              <a:t> </a:t>
            </a:r>
            <a:r>
              <a:rPr spc="-70" dirty="0"/>
              <a:t>in</a:t>
            </a:r>
            <a:r>
              <a:rPr spc="-215" dirty="0"/>
              <a:t> </a:t>
            </a:r>
            <a:r>
              <a:rPr spc="-90" dirty="0"/>
              <a:t>the</a:t>
            </a:r>
            <a:r>
              <a:rPr spc="-200" dirty="0"/>
              <a:t> </a:t>
            </a:r>
            <a:r>
              <a:rPr spc="-95" dirty="0"/>
              <a:t>form</a:t>
            </a:r>
            <a:r>
              <a:rPr spc="-195" dirty="0"/>
              <a:t> </a:t>
            </a:r>
            <a:r>
              <a:rPr spc="-75" dirty="0"/>
              <a:t>or</a:t>
            </a:r>
            <a:r>
              <a:rPr spc="-200" dirty="0"/>
              <a:t> </a:t>
            </a:r>
            <a:r>
              <a:rPr dirty="0"/>
              <a:t>shape</a:t>
            </a:r>
            <a:r>
              <a:rPr spc="-190" dirty="0"/>
              <a:t> </a:t>
            </a:r>
            <a:r>
              <a:rPr spc="-100" dirty="0"/>
              <a:t>of</a:t>
            </a:r>
            <a:r>
              <a:rPr spc="-215" dirty="0"/>
              <a:t> </a:t>
            </a:r>
            <a:r>
              <a:rPr spc="-90" dirty="0"/>
              <a:t>the</a:t>
            </a:r>
            <a:r>
              <a:rPr spc="-210" dirty="0"/>
              <a:t> </a:t>
            </a:r>
            <a:r>
              <a:rPr spc="-10" dirty="0"/>
              <a:t>signal. 	</a:t>
            </a:r>
            <a:r>
              <a:rPr spc="-65" dirty="0"/>
              <a:t>This</a:t>
            </a:r>
            <a:r>
              <a:rPr spc="-215" dirty="0"/>
              <a:t> </a:t>
            </a:r>
            <a:r>
              <a:rPr dirty="0"/>
              <a:t>is</a:t>
            </a:r>
            <a:r>
              <a:rPr spc="-215" dirty="0"/>
              <a:t> </a:t>
            </a:r>
            <a:r>
              <a:rPr spc="-95" dirty="0"/>
              <a:t>generally</a:t>
            </a:r>
            <a:r>
              <a:rPr spc="-225" dirty="0"/>
              <a:t> </a:t>
            </a:r>
            <a:r>
              <a:rPr dirty="0"/>
              <a:t>seen</a:t>
            </a:r>
            <a:r>
              <a:rPr spc="-215" dirty="0"/>
              <a:t> </a:t>
            </a:r>
            <a:r>
              <a:rPr spc="-70" dirty="0"/>
              <a:t>in</a:t>
            </a:r>
            <a:r>
              <a:rPr spc="-225" dirty="0"/>
              <a:t> </a:t>
            </a:r>
            <a:r>
              <a:rPr dirty="0"/>
              <a:t>composite</a:t>
            </a:r>
            <a:r>
              <a:rPr spc="-204" dirty="0"/>
              <a:t> </a:t>
            </a:r>
            <a:r>
              <a:rPr dirty="0"/>
              <a:t>signals</a:t>
            </a:r>
            <a:r>
              <a:rPr spc="-200" dirty="0"/>
              <a:t> </a:t>
            </a:r>
            <a:r>
              <a:rPr spc="-10" dirty="0"/>
              <a:t>made</a:t>
            </a:r>
            <a:r>
              <a:rPr spc="-210" dirty="0"/>
              <a:t> </a:t>
            </a:r>
            <a:r>
              <a:rPr dirty="0"/>
              <a:t>up</a:t>
            </a:r>
            <a:r>
              <a:rPr spc="-220" dirty="0"/>
              <a:t> </a:t>
            </a:r>
            <a:r>
              <a:rPr spc="-120" dirty="0"/>
              <a:t>with</a:t>
            </a:r>
            <a:r>
              <a:rPr spc="-225" dirty="0"/>
              <a:t> </a:t>
            </a:r>
            <a:r>
              <a:rPr spc="-75" dirty="0"/>
              <a:t>different 	</a:t>
            </a:r>
            <a:r>
              <a:rPr spc="-10" dirty="0"/>
              <a:t>frequencies.</a:t>
            </a:r>
          </a:p>
          <a:p>
            <a:pPr marL="240029" marR="278130" indent="-227965">
              <a:lnSpc>
                <a:spcPct val="90000"/>
              </a:lnSpc>
              <a:spcBef>
                <a:spcPts val="96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/>
              <a:t>Each</a:t>
            </a:r>
            <a:r>
              <a:rPr spc="-210" dirty="0"/>
              <a:t> </a:t>
            </a:r>
            <a:r>
              <a:rPr spc="-70" dirty="0"/>
              <a:t>frequency</a:t>
            </a:r>
            <a:r>
              <a:rPr spc="-204" dirty="0"/>
              <a:t> </a:t>
            </a:r>
            <a:r>
              <a:rPr spc="-20" dirty="0"/>
              <a:t>component</a:t>
            </a:r>
            <a:r>
              <a:rPr spc="-200" dirty="0"/>
              <a:t> </a:t>
            </a:r>
            <a:r>
              <a:rPr spc="65" dirty="0"/>
              <a:t>has</a:t>
            </a:r>
            <a:r>
              <a:rPr spc="-220" dirty="0"/>
              <a:t> </a:t>
            </a:r>
            <a:r>
              <a:rPr spc="-50" dirty="0"/>
              <a:t>its</a:t>
            </a:r>
            <a:r>
              <a:rPr spc="-225" dirty="0"/>
              <a:t> </a:t>
            </a:r>
            <a:r>
              <a:rPr spc="-30" dirty="0"/>
              <a:t>own</a:t>
            </a:r>
            <a:r>
              <a:rPr spc="-220" dirty="0"/>
              <a:t> </a:t>
            </a:r>
            <a:r>
              <a:rPr spc="-60" dirty="0"/>
              <a:t>propagation</a:t>
            </a:r>
            <a:r>
              <a:rPr spc="-215" dirty="0"/>
              <a:t> </a:t>
            </a:r>
            <a:r>
              <a:rPr spc="-10" dirty="0"/>
              <a:t>speed 	</a:t>
            </a:r>
            <a:r>
              <a:rPr spc="-114" dirty="0"/>
              <a:t>travelling</a:t>
            </a:r>
            <a:r>
              <a:rPr spc="-265" dirty="0"/>
              <a:t> </a:t>
            </a:r>
            <a:r>
              <a:rPr spc="-70" dirty="0"/>
              <a:t>through</a:t>
            </a:r>
            <a:r>
              <a:rPr spc="-225" dirty="0"/>
              <a:t> </a:t>
            </a:r>
            <a:r>
              <a:rPr dirty="0"/>
              <a:t>a</a:t>
            </a:r>
            <a:r>
              <a:rPr spc="-240" dirty="0"/>
              <a:t> </a:t>
            </a:r>
            <a:r>
              <a:rPr spc="-45" dirty="0"/>
              <a:t>medium.</a:t>
            </a:r>
            <a:r>
              <a:rPr spc="-240" dirty="0"/>
              <a:t> </a:t>
            </a:r>
            <a:r>
              <a:rPr dirty="0"/>
              <a:t>And</a:t>
            </a:r>
            <a:r>
              <a:rPr spc="-204" dirty="0"/>
              <a:t> </a:t>
            </a:r>
            <a:r>
              <a:rPr spc="-60" dirty="0"/>
              <a:t>thats</a:t>
            </a:r>
            <a:r>
              <a:rPr spc="-225" dirty="0"/>
              <a:t> </a:t>
            </a:r>
            <a:r>
              <a:rPr spc="-75" dirty="0"/>
              <a:t>why</a:t>
            </a:r>
            <a:r>
              <a:rPr spc="-250" dirty="0"/>
              <a:t> </a:t>
            </a:r>
            <a:r>
              <a:rPr spc="-180" dirty="0"/>
              <a:t>it</a:t>
            </a:r>
            <a:r>
              <a:rPr spc="-245" dirty="0"/>
              <a:t> </a:t>
            </a:r>
            <a:r>
              <a:rPr spc="-65" dirty="0"/>
              <a:t>delay</a:t>
            </a:r>
            <a:r>
              <a:rPr spc="-250" dirty="0"/>
              <a:t> </a:t>
            </a:r>
            <a:r>
              <a:rPr spc="-70" dirty="0"/>
              <a:t>in</a:t>
            </a:r>
            <a:r>
              <a:rPr spc="-245" dirty="0"/>
              <a:t> </a:t>
            </a:r>
            <a:r>
              <a:rPr spc="-105" dirty="0"/>
              <a:t>arriving</a:t>
            </a:r>
            <a:r>
              <a:rPr spc="-250" dirty="0"/>
              <a:t> </a:t>
            </a:r>
            <a:r>
              <a:rPr spc="-25" dirty="0"/>
              <a:t>at 	</a:t>
            </a:r>
            <a:r>
              <a:rPr spc="-105" dirty="0"/>
              <a:t>the</a:t>
            </a:r>
            <a:r>
              <a:rPr spc="-225" dirty="0"/>
              <a:t> </a:t>
            </a:r>
            <a:r>
              <a:rPr spc="-90" dirty="0"/>
              <a:t>final</a:t>
            </a:r>
            <a:r>
              <a:rPr spc="-250" dirty="0"/>
              <a:t> </a:t>
            </a:r>
            <a:r>
              <a:rPr spc="-70" dirty="0"/>
              <a:t>destination.</a:t>
            </a:r>
            <a:r>
              <a:rPr spc="-235" dirty="0"/>
              <a:t> </a:t>
            </a:r>
            <a:r>
              <a:rPr spc="-80" dirty="0"/>
              <a:t>Every</a:t>
            </a:r>
            <a:r>
              <a:rPr spc="-240" dirty="0"/>
              <a:t> </a:t>
            </a:r>
            <a:r>
              <a:rPr spc="-10" dirty="0"/>
              <a:t>component</a:t>
            </a:r>
            <a:r>
              <a:rPr spc="-220" dirty="0"/>
              <a:t> </a:t>
            </a:r>
            <a:r>
              <a:rPr spc="-120" dirty="0"/>
              <a:t>arrive</a:t>
            </a:r>
            <a:r>
              <a:rPr spc="-235" dirty="0"/>
              <a:t> </a:t>
            </a:r>
            <a:r>
              <a:rPr spc="-130" dirty="0"/>
              <a:t>at</a:t>
            </a:r>
            <a:r>
              <a:rPr spc="-240" dirty="0"/>
              <a:t> </a:t>
            </a:r>
            <a:r>
              <a:rPr spc="-130" dirty="0"/>
              <a:t>different</a:t>
            </a:r>
            <a:r>
              <a:rPr spc="-240" dirty="0"/>
              <a:t> </a:t>
            </a:r>
            <a:r>
              <a:rPr spc="-20" dirty="0"/>
              <a:t>time 	</a:t>
            </a:r>
            <a:r>
              <a:rPr spc="-40" dirty="0"/>
              <a:t>which</a:t>
            </a:r>
            <a:r>
              <a:rPr spc="-250" dirty="0"/>
              <a:t> </a:t>
            </a:r>
            <a:r>
              <a:rPr dirty="0"/>
              <a:t>leads</a:t>
            </a:r>
            <a:r>
              <a:rPr spc="-235" dirty="0"/>
              <a:t> </a:t>
            </a:r>
            <a:r>
              <a:rPr spc="-105" dirty="0"/>
              <a:t>to</a:t>
            </a:r>
            <a:r>
              <a:rPr spc="-225" dirty="0"/>
              <a:t> </a:t>
            </a:r>
            <a:r>
              <a:rPr spc="-10" dirty="0"/>
              <a:t>distortion.</a:t>
            </a:r>
          </a:p>
          <a:p>
            <a:pPr marL="240029" marR="384175" indent="-227965">
              <a:lnSpc>
                <a:spcPts val="3020"/>
              </a:lnSpc>
              <a:spcBef>
                <a:spcPts val="1055"/>
              </a:spcBef>
              <a:buFont typeface="Arial MT"/>
              <a:buChar char="•"/>
              <a:tabLst>
                <a:tab pos="241300" algn="l"/>
              </a:tabLst>
            </a:pPr>
            <a:r>
              <a:rPr spc="-140" dirty="0"/>
              <a:t>Therefore,</a:t>
            </a:r>
            <a:r>
              <a:rPr spc="-235" dirty="0"/>
              <a:t> </a:t>
            </a:r>
            <a:r>
              <a:rPr spc="-110" dirty="0"/>
              <a:t>they</a:t>
            </a:r>
            <a:r>
              <a:rPr spc="-245" dirty="0"/>
              <a:t> </a:t>
            </a:r>
            <a:r>
              <a:rPr spc="-55" dirty="0"/>
              <a:t>have</a:t>
            </a:r>
            <a:r>
              <a:rPr spc="-250" dirty="0"/>
              <a:t> </a:t>
            </a:r>
            <a:r>
              <a:rPr spc="-130" dirty="0"/>
              <a:t>different</a:t>
            </a:r>
            <a:r>
              <a:rPr spc="-250" dirty="0"/>
              <a:t> </a:t>
            </a:r>
            <a:r>
              <a:rPr spc="65" dirty="0"/>
              <a:t>phases</a:t>
            </a:r>
            <a:r>
              <a:rPr spc="-225" dirty="0"/>
              <a:t> </a:t>
            </a:r>
            <a:r>
              <a:rPr spc="-125" dirty="0"/>
              <a:t>at</a:t>
            </a:r>
            <a:r>
              <a:rPr spc="-250" dirty="0"/>
              <a:t> </a:t>
            </a:r>
            <a:r>
              <a:rPr spc="-105" dirty="0"/>
              <a:t>receiver</a:t>
            </a:r>
            <a:r>
              <a:rPr spc="-235" dirty="0"/>
              <a:t> </a:t>
            </a:r>
            <a:r>
              <a:rPr spc="-25" dirty="0"/>
              <a:t>end</a:t>
            </a:r>
            <a:r>
              <a:rPr spc="-235" dirty="0"/>
              <a:t> </a:t>
            </a:r>
            <a:r>
              <a:rPr spc="-90" dirty="0"/>
              <a:t>from</a:t>
            </a:r>
            <a:r>
              <a:rPr spc="-229" dirty="0"/>
              <a:t> </a:t>
            </a:r>
            <a:r>
              <a:rPr spc="-20" dirty="0"/>
              <a:t>what 	</a:t>
            </a:r>
            <a:r>
              <a:rPr spc="-110" dirty="0"/>
              <a:t>they</a:t>
            </a:r>
            <a:r>
              <a:rPr spc="-250" dirty="0"/>
              <a:t> </a:t>
            </a:r>
            <a:r>
              <a:rPr dirty="0"/>
              <a:t>had</a:t>
            </a:r>
            <a:r>
              <a:rPr spc="-235" dirty="0"/>
              <a:t> </a:t>
            </a:r>
            <a:r>
              <a:rPr spc="-125" dirty="0"/>
              <a:t>at</a:t>
            </a:r>
            <a:r>
              <a:rPr spc="-245" dirty="0"/>
              <a:t> </a:t>
            </a:r>
            <a:r>
              <a:rPr dirty="0"/>
              <a:t>senders</a:t>
            </a:r>
            <a:r>
              <a:rPr spc="-215" dirty="0"/>
              <a:t> </a:t>
            </a:r>
            <a:r>
              <a:rPr spc="-20" dirty="0"/>
              <a:t>end.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0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Causes</a:t>
            </a:r>
            <a:r>
              <a:rPr spc="-400" dirty="0"/>
              <a:t> </a:t>
            </a:r>
            <a:r>
              <a:rPr spc="-265" dirty="0"/>
              <a:t>of</a:t>
            </a:r>
            <a:r>
              <a:rPr spc="-409" dirty="0"/>
              <a:t> </a:t>
            </a:r>
            <a:r>
              <a:rPr spc="-155" dirty="0"/>
              <a:t>Transmission</a:t>
            </a:r>
            <a:r>
              <a:rPr spc="-434" dirty="0"/>
              <a:t> </a:t>
            </a:r>
            <a:r>
              <a:rPr spc="-200" dirty="0"/>
              <a:t>Impairment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1969"/>
            <a:ext cx="9577705" cy="160464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0029" marR="5080" indent="-227965">
              <a:lnSpc>
                <a:spcPct val="90000"/>
              </a:lnSpc>
              <a:spcBef>
                <a:spcPts val="43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b="1" dirty="0">
                <a:latin typeface="Trebuchet MS"/>
                <a:cs typeface="Trebuchet MS"/>
              </a:rPr>
              <a:t>Noise:</a:t>
            </a:r>
            <a:r>
              <a:rPr sz="2800" b="1" spc="-235" dirty="0">
                <a:latin typeface="Trebuchet MS"/>
                <a:cs typeface="Trebuchet MS"/>
              </a:rPr>
              <a:t> </a:t>
            </a:r>
            <a:r>
              <a:rPr sz="2800" spc="-130" dirty="0">
                <a:latin typeface="Trebuchet MS"/>
                <a:cs typeface="Trebuchet MS"/>
              </a:rPr>
              <a:t>The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40" dirty="0">
                <a:latin typeface="Trebuchet MS"/>
                <a:cs typeface="Trebuchet MS"/>
              </a:rPr>
              <a:t>random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75" dirty="0">
                <a:latin typeface="Trebuchet MS"/>
                <a:cs typeface="Trebuchet MS"/>
              </a:rPr>
              <a:t>or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55" dirty="0">
                <a:latin typeface="Trebuchet MS"/>
                <a:cs typeface="Trebuchet MS"/>
              </a:rPr>
              <a:t>unwanted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signal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120" dirty="0">
                <a:latin typeface="Trebuchet MS"/>
                <a:cs typeface="Trebuchet MS"/>
              </a:rPr>
              <a:t>that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35" dirty="0">
                <a:latin typeface="Trebuchet MS"/>
                <a:cs typeface="Trebuchet MS"/>
              </a:rPr>
              <a:t>mixes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up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120" dirty="0">
                <a:latin typeface="Trebuchet MS"/>
                <a:cs typeface="Trebuchet MS"/>
              </a:rPr>
              <a:t>with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the 	</a:t>
            </a:r>
            <a:r>
              <a:rPr sz="2800" spc="-80" dirty="0">
                <a:latin typeface="Trebuchet MS"/>
                <a:cs typeface="Trebuchet MS"/>
              </a:rPr>
              <a:t>original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signal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is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40" dirty="0">
                <a:latin typeface="Trebuchet MS"/>
                <a:cs typeface="Trebuchet MS"/>
              </a:rPr>
              <a:t>called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50" dirty="0">
                <a:latin typeface="Trebuchet MS"/>
                <a:cs typeface="Trebuchet MS"/>
              </a:rPr>
              <a:t>noise.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spc="-130" dirty="0">
                <a:latin typeface="Trebuchet MS"/>
                <a:cs typeface="Trebuchet MS"/>
              </a:rPr>
              <a:t>There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are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65" dirty="0">
                <a:latin typeface="Trebuchet MS"/>
                <a:cs typeface="Trebuchet MS"/>
              </a:rPr>
              <a:t>several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50" dirty="0">
                <a:latin typeface="Trebuchet MS"/>
                <a:cs typeface="Trebuchet MS"/>
              </a:rPr>
              <a:t>types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of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noise 	</a:t>
            </a:r>
            <a:r>
              <a:rPr sz="2800" spc="80" dirty="0">
                <a:latin typeface="Trebuchet MS"/>
                <a:cs typeface="Trebuchet MS"/>
              </a:rPr>
              <a:t>such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spc="100" dirty="0">
                <a:latin typeface="Trebuchet MS"/>
                <a:cs typeface="Trebuchet MS"/>
              </a:rPr>
              <a:t>as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induced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50" dirty="0">
                <a:latin typeface="Trebuchet MS"/>
                <a:cs typeface="Trebuchet MS"/>
              </a:rPr>
              <a:t>noise,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crosstalk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50" dirty="0">
                <a:latin typeface="Trebuchet MS"/>
                <a:cs typeface="Trebuchet MS"/>
              </a:rPr>
              <a:t>noise,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thermal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noise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and 	</a:t>
            </a:r>
            <a:r>
              <a:rPr sz="2800" dirty="0">
                <a:latin typeface="Trebuchet MS"/>
                <a:cs typeface="Trebuchet MS"/>
              </a:rPr>
              <a:t>impulse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noise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40" dirty="0">
                <a:latin typeface="Trebuchet MS"/>
                <a:cs typeface="Trebuchet MS"/>
              </a:rPr>
              <a:t>which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30" dirty="0">
                <a:latin typeface="Trebuchet MS"/>
                <a:cs typeface="Trebuchet MS"/>
              </a:rPr>
              <a:t>may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65" dirty="0">
                <a:latin typeface="Trebuchet MS"/>
                <a:cs typeface="Trebuchet MS"/>
              </a:rPr>
              <a:t>corrupt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the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signal.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0"/>
              </a:spcBef>
            </a:pPr>
            <a:r>
              <a:rPr spc="-160" dirty="0"/>
              <a:t>Factors</a:t>
            </a:r>
            <a:r>
              <a:rPr spc="-470" dirty="0"/>
              <a:t> </a:t>
            </a:r>
            <a:r>
              <a:rPr spc="-150" dirty="0"/>
              <a:t>Considered</a:t>
            </a:r>
            <a:r>
              <a:rPr spc="-430" dirty="0"/>
              <a:t> </a:t>
            </a:r>
            <a:r>
              <a:rPr spc="-320" dirty="0"/>
              <a:t>for</a:t>
            </a:r>
            <a:r>
              <a:rPr spc="-434" dirty="0"/>
              <a:t> </a:t>
            </a:r>
            <a:r>
              <a:rPr spc="-175" dirty="0"/>
              <a:t>Designing</a:t>
            </a:r>
            <a:r>
              <a:rPr spc="-434" dirty="0"/>
              <a:t> </a:t>
            </a:r>
            <a:r>
              <a:rPr spc="-315" dirty="0"/>
              <a:t>the </a:t>
            </a:r>
            <a:r>
              <a:rPr spc="-155" dirty="0"/>
              <a:t>Transmission</a:t>
            </a:r>
            <a:r>
              <a:rPr spc="-409" dirty="0"/>
              <a:t> </a:t>
            </a:r>
            <a:r>
              <a:rPr spc="-10" dirty="0"/>
              <a:t>Media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1969"/>
            <a:ext cx="10182225" cy="416369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029" marR="215265" indent="-227965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b="1" spc="-55" dirty="0">
                <a:latin typeface="Trebuchet MS"/>
                <a:cs typeface="Trebuchet MS"/>
              </a:rPr>
              <a:t>Bandwidth:</a:t>
            </a:r>
            <a:r>
              <a:rPr sz="2800" b="1" spc="-15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Assuming</a:t>
            </a:r>
            <a:r>
              <a:rPr sz="2800" spc="-155" dirty="0">
                <a:latin typeface="Trebuchet MS"/>
                <a:cs typeface="Trebuchet MS"/>
              </a:rPr>
              <a:t> </a:t>
            </a:r>
            <a:r>
              <a:rPr sz="2800" spc="-75" dirty="0">
                <a:latin typeface="Trebuchet MS"/>
                <a:cs typeface="Trebuchet MS"/>
              </a:rPr>
              <a:t>all</a:t>
            </a:r>
            <a:r>
              <a:rPr sz="2800" spc="-185" dirty="0"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other</a:t>
            </a:r>
            <a:r>
              <a:rPr sz="2800" spc="-195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conditions</a:t>
            </a:r>
            <a:r>
              <a:rPr sz="2800" spc="-175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remain</a:t>
            </a:r>
            <a:r>
              <a:rPr sz="2800" spc="-195" dirty="0">
                <a:latin typeface="Trebuchet MS"/>
                <a:cs typeface="Trebuchet MS"/>
              </a:rPr>
              <a:t> </a:t>
            </a:r>
            <a:r>
              <a:rPr sz="2800" spc="-45" dirty="0">
                <a:latin typeface="Trebuchet MS"/>
                <a:cs typeface="Trebuchet MS"/>
              </a:rPr>
              <a:t>constant,</a:t>
            </a:r>
            <a:r>
              <a:rPr sz="2800" spc="-175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the 	</a:t>
            </a:r>
            <a:r>
              <a:rPr sz="2800" spc="-114" dirty="0">
                <a:latin typeface="Trebuchet MS"/>
                <a:cs typeface="Trebuchet MS"/>
              </a:rPr>
              <a:t>greater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55" dirty="0">
                <a:latin typeface="Trebuchet MS"/>
                <a:cs typeface="Trebuchet MS"/>
              </a:rPr>
              <a:t>medium’s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80" dirty="0">
                <a:latin typeface="Trebuchet MS"/>
                <a:cs typeface="Trebuchet MS"/>
              </a:rPr>
              <a:t>bandwidth,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the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faster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50" dirty="0">
                <a:latin typeface="Trebuchet MS"/>
                <a:cs typeface="Trebuchet MS"/>
              </a:rPr>
              <a:t>signal’s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data 	</a:t>
            </a:r>
            <a:r>
              <a:rPr sz="2800" dirty="0">
                <a:latin typeface="Trebuchet MS"/>
                <a:cs typeface="Trebuchet MS"/>
              </a:rPr>
              <a:t>transmission</a:t>
            </a:r>
            <a:r>
              <a:rPr sz="2800" spc="-275" dirty="0">
                <a:latin typeface="Trebuchet MS"/>
                <a:cs typeface="Trebuchet MS"/>
              </a:rPr>
              <a:t> </a:t>
            </a:r>
            <a:r>
              <a:rPr sz="2800" spc="-20" dirty="0">
                <a:latin typeface="Trebuchet MS"/>
                <a:cs typeface="Trebuchet MS"/>
              </a:rPr>
              <a:t>rate.</a:t>
            </a:r>
            <a:endParaRPr sz="2800">
              <a:latin typeface="Trebuchet MS"/>
              <a:cs typeface="Trebuchet MS"/>
            </a:endParaRPr>
          </a:p>
          <a:p>
            <a:pPr marL="240029" marR="534670" indent="-227965">
              <a:lnSpc>
                <a:spcPct val="90000"/>
              </a:lnSpc>
              <a:spcBef>
                <a:spcPts val="96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b="1" spc="-20" dirty="0">
                <a:latin typeface="Trebuchet MS"/>
                <a:cs typeface="Trebuchet MS"/>
              </a:rPr>
              <a:t>Transmission</a:t>
            </a:r>
            <a:r>
              <a:rPr sz="2800" b="1" spc="-160" dirty="0">
                <a:latin typeface="Trebuchet MS"/>
                <a:cs typeface="Trebuchet MS"/>
              </a:rPr>
              <a:t> </a:t>
            </a:r>
            <a:r>
              <a:rPr sz="2800" b="1" spc="-40" dirty="0">
                <a:latin typeface="Trebuchet MS"/>
                <a:cs typeface="Trebuchet MS"/>
              </a:rPr>
              <a:t>Impairment</a:t>
            </a:r>
            <a:r>
              <a:rPr sz="2800" b="1" spc="-155" dirty="0">
                <a:latin typeface="Trebuchet MS"/>
                <a:cs typeface="Trebuchet MS"/>
              </a:rPr>
              <a:t> </a:t>
            </a:r>
            <a:r>
              <a:rPr sz="2800" b="1" spc="-200" dirty="0">
                <a:latin typeface="Trebuchet MS"/>
                <a:cs typeface="Trebuchet MS"/>
              </a:rPr>
              <a:t>: </a:t>
            </a:r>
            <a:r>
              <a:rPr sz="2800" spc="-25" dirty="0">
                <a:latin typeface="Trebuchet MS"/>
                <a:cs typeface="Trebuchet MS"/>
              </a:rPr>
              <a:t>Transmission</a:t>
            </a:r>
            <a:r>
              <a:rPr sz="2800" spc="-185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Impairment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occurs 	</a:t>
            </a:r>
            <a:r>
              <a:rPr sz="2800" spc="-45" dirty="0">
                <a:latin typeface="Trebuchet MS"/>
                <a:cs typeface="Trebuchet MS"/>
              </a:rPr>
              <a:t>when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the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received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signal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95" dirty="0">
                <a:latin typeface="Trebuchet MS"/>
                <a:cs typeface="Trebuchet MS"/>
              </a:rPr>
              <a:t>differs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from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the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transmitted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signal. 	</a:t>
            </a:r>
            <a:r>
              <a:rPr sz="2800" spc="-25" dirty="0">
                <a:latin typeface="Trebuchet MS"/>
                <a:cs typeface="Trebuchet MS"/>
              </a:rPr>
              <a:t>Signal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80" dirty="0">
                <a:latin typeface="Trebuchet MS"/>
                <a:cs typeface="Trebuchet MS"/>
              </a:rPr>
              <a:t>quality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114" dirty="0">
                <a:latin typeface="Trebuchet MS"/>
                <a:cs typeface="Trebuchet MS"/>
              </a:rPr>
              <a:t>will</a:t>
            </a:r>
            <a:r>
              <a:rPr sz="2800" spc="-275" dirty="0">
                <a:latin typeface="Trebuchet MS"/>
                <a:cs typeface="Trebuchet MS"/>
              </a:rPr>
              <a:t> </a:t>
            </a:r>
            <a:r>
              <a:rPr sz="2800" spc="-40" dirty="0">
                <a:latin typeface="Trebuchet MS"/>
                <a:cs typeface="Trebuchet MS"/>
              </a:rPr>
              <a:t>be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55" dirty="0">
                <a:latin typeface="Trebuchet MS"/>
                <a:cs typeface="Trebuchet MS"/>
              </a:rPr>
              <a:t>impacted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100" dirty="0">
                <a:latin typeface="Trebuchet MS"/>
                <a:cs typeface="Trebuchet MS"/>
              </a:rPr>
              <a:t>as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55" dirty="0">
                <a:latin typeface="Trebuchet MS"/>
                <a:cs typeface="Trebuchet MS"/>
              </a:rPr>
              <a:t>result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of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transmission 	impairment.</a:t>
            </a:r>
            <a:endParaRPr sz="2800">
              <a:latin typeface="Trebuchet MS"/>
              <a:cs typeface="Trebuchet MS"/>
            </a:endParaRPr>
          </a:p>
          <a:p>
            <a:pPr marL="240029" marR="5080" indent="-227965">
              <a:lnSpc>
                <a:spcPts val="3020"/>
              </a:lnSpc>
              <a:spcBef>
                <a:spcPts val="105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b="1" spc="-90" dirty="0">
                <a:latin typeface="Trebuchet MS"/>
                <a:cs typeface="Trebuchet MS"/>
              </a:rPr>
              <a:t>Interference:</a:t>
            </a:r>
            <a:r>
              <a:rPr sz="2800" b="1" spc="-130" dirty="0">
                <a:latin typeface="Trebuchet MS"/>
                <a:cs typeface="Trebuchet MS"/>
              </a:rPr>
              <a:t> </a:t>
            </a:r>
            <a:r>
              <a:rPr sz="2800" spc="-95" dirty="0">
                <a:latin typeface="Trebuchet MS"/>
                <a:cs typeface="Trebuchet MS"/>
              </a:rPr>
              <a:t>Interference</a:t>
            </a:r>
            <a:r>
              <a:rPr sz="2800" spc="-18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is</a:t>
            </a:r>
            <a:r>
              <a:rPr sz="2800" spc="-190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defined</a:t>
            </a:r>
            <a:r>
              <a:rPr sz="2800" spc="-200" dirty="0">
                <a:latin typeface="Trebuchet MS"/>
                <a:cs typeface="Trebuchet MS"/>
              </a:rPr>
              <a:t> </a:t>
            </a:r>
            <a:r>
              <a:rPr sz="2800" spc="100" dirty="0">
                <a:latin typeface="Trebuchet MS"/>
                <a:cs typeface="Trebuchet MS"/>
              </a:rPr>
              <a:t>as</a:t>
            </a:r>
            <a:r>
              <a:rPr sz="2800" spc="-185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the</a:t>
            </a:r>
            <a:r>
              <a:rPr sz="2800" spc="-19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process</a:t>
            </a:r>
            <a:r>
              <a:rPr sz="2800" spc="-155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of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disturbing 	</a:t>
            </a:r>
            <a:r>
              <a:rPr sz="2800" dirty="0">
                <a:latin typeface="Trebuchet MS"/>
                <a:cs typeface="Trebuchet MS"/>
              </a:rPr>
              <a:t>a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signal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100" dirty="0">
                <a:latin typeface="Trebuchet MS"/>
                <a:cs typeface="Trebuchet MS"/>
              </a:rPr>
              <a:t>as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spc="-180" dirty="0">
                <a:latin typeface="Trebuchet MS"/>
                <a:cs typeface="Trebuchet MS"/>
              </a:rPr>
              <a:t>it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travels</a:t>
            </a:r>
            <a:r>
              <a:rPr sz="2800" spc="-235" dirty="0">
                <a:latin typeface="Trebuchet MS"/>
                <a:cs typeface="Trebuchet MS"/>
              </a:rPr>
              <a:t> </a:t>
            </a:r>
            <a:r>
              <a:rPr sz="2800" spc="-95" dirty="0">
                <a:latin typeface="Trebuchet MS"/>
                <a:cs typeface="Trebuchet MS"/>
              </a:rPr>
              <a:t>over</a:t>
            </a:r>
            <a:r>
              <a:rPr sz="2800" spc="-24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communication</a:t>
            </a:r>
            <a:r>
              <a:rPr sz="2800" spc="-225" dirty="0">
                <a:latin typeface="Trebuchet MS"/>
                <a:cs typeface="Trebuchet MS"/>
              </a:rPr>
              <a:t> </a:t>
            </a:r>
            <a:r>
              <a:rPr sz="2800" spc="-35" dirty="0">
                <a:latin typeface="Trebuchet MS"/>
                <a:cs typeface="Trebuchet MS"/>
              </a:rPr>
              <a:t>media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120" dirty="0">
                <a:latin typeface="Trebuchet MS"/>
                <a:cs typeface="Trebuchet MS"/>
              </a:rPr>
              <a:t>with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the 	</a:t>
            </a:r>
            <a:r>
              <a:rPr sz="2800" spc="-60" dirty="0">
                <a:latin typeface="Trebuchet MS"/>
                <a:cs typeface="Trebuchet MS"/>
              </a:rPr>
              <a:t>addition</a:t>
            </a:r>
            <a:r>
              <a:rPr sz="2800" spc="-250" dirty="0"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of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an</a:t>
            </a:r>
            <a:r>
              <a:rPr sz="2800" spc="-245" dirty="0">
                <a:latin typeface="Trebuchet MS"/>
                <a:cs typeface="Trebuchet MS"/>
              </a:rPr>
              <a:t> </a:t>
            </a:r>
            <a:r>
              <a:rPr sz="2800" spc="-30" dirty="0">
                <a:latin typeface="Trebuchet MS"/>
                <a:cs typeface="Trebuchet MS"/>
              </a:rPr>
              <a:t>undesired</a:t>
            </a:r>
            <a:r>
              <a:rPr sz="2800" spc="-229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signal.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 marR="5080" indent="107950">
              <a:lnSpc>
                <a:spcPts val="4750"/>
              </a:lnSpc>
              <a:spcBef>
                <a:spcPts val="700"/>
              </a:spcBef>
            </a:pPr>
            <a:r>
              <a:rPr spc="-170" dirty="0"/>
              <a:t>Applications</a:t>
            </a:r>
            <a:r>
              <a:rPr spc="-440" dirty="0"/>
              <a:t> </a:t>
            </a:r>
            <a:r>
              <a:rPr spc="-265" dirty="0"/>
              <a:t>of</a:t>
            </a:r>
            <a:r>
              <a:rPr spc="-425" dirty="0"/>
              <a:t> </a:t>
            </a:r>
            <a:r>
              <a:rPr spc="-160" dirty="0"/>
              <a:t>Transmission</a:t>
            </a:r>
            <a:r>
              <a:rPr spc="-465" dirty="0"/>
              <a:t> </a:t>
            </a:r>
            <a:r>
              <a:rPr spc="-150" dirty="0"/>
              <a:t>Media</a:t>
            </a:r>
            <a:r>
              <a:rPr spc="-430" dirty="0"/>
              <a:t> </a:t>
            </a:r>
            <a:r>
              <a:rPr spc="-285" dirty="0"/>
              <a:t>in </a:t>
            </a:r>
            <a:r>
              <a:rPr spc="-185" dirty="0"/>
              <a:t>Computer</a:t>
            </a:r>
            <a:r>
              <a:rPr spc="-434" dirty="0"/>
              <a:t> </a:t>
            </a:r>
            <a:r>
              <a:rPr spc="-20" dirty="0"/>
              <a:t>Networks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1969"/>
            <a:ext cx="10053955" cy="83566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029" marR="5080" indent="-227965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25" dirty="0">
                <a:latin typeface="Trebuchet MS"/>
                <a:cs typeface="Trebuchet MS"/>
              </a:rPr>
              <a:t>Transmission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35" dirty="0">
                <a:latin typeface="Trebuchet MS"/>
                <a:cs typeface="Trebuchet MS"/>
              </a:rPr>
              <a:t>media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in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-40" dirty="0">
                <a:latin typeface="Trebuchet MS"/>
                <a:cs typeface="Trebuchet MS"/>
              </a:rPr>
              <a:t>computer</a:t>
            </a:r>
            <a:r>
              <a:rPr sz="2800" spc="-195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networks</a:t>
            </a:r>
            <a:r>
              <a:rPr sz="2800" spc="-200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are</a:t>
            </a:r>
            <a:r>
              <a:rPr sz="2800" spc="-22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used</a:t>
            </a:r>
            <a:r>
              <a:rPr sz="2800" spc="-195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to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connect 	</a:t>
            </a:r>
            <a:r>
              <a:rPr sz="2800" spc="-20" dirty="0">
                <a:latin typeface="Trebuchet MS"/>
                <a:cs typeface="Trebuchet MS"/>
              </a:rPr>
              <a:t>devices</a:t>
            </a:r>
            <a:r>
              <a:rPr sz="2800" spc="-19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and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95" dirty="0">
                <a:latin typeface="Trebuchet MS"/>
                <a:cs typeface="Trebuchet MS"/>
              </a:rPr>
              <a:t>transfer</a:t>
            </a:r>
            <a:r>
              <a:rPr sz="2800" spc="-190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data.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55" dirty="0">
                <a:latin typeface="Trebuchet MS"/>
                <a:cs typeface="Trebuchet MS"/>
              </a:rPr>
              <a:t>Here</a:t>
            </a:r>
            <a:r>
              <a:rPr sz="2800" spc="-204" dirty="0">
                <a:latin typeface="Trebuchet MS"/>
                <a:cs typeface="Trebuchet MS"/>
              </a:rPr>
              <a:t> </a:t>
            </a:r>
            <a:r>
              <a:rPr sz="2800" spc="-90" dirty="0">
                <a:latin typeface="Trebuchet MS"/>
                <a:cs typeface="Trebuchet MS"/>
              </a:rPr>
              <a:t>are</a:t>
            </a:r>
            <a:r>
              <a:rPr sz="2800" spc="-215" dirty="0">
                <a:latin typeface="Trebuchet MS"/>
                <a:cs typeface="Trebuchet MS"/>
              </a:rPr>
              <a:t> </a:t>
            </a:r>
            <a:r>
              <a:rPr sz="2800" spc="60" dirty="0">
                <a:latin typeface="Trebuchet MS"/>
                <a:cs typeface="Trebuchet MS"/>
              </a:rPr>
              <a:t>some</a:t>
            </a:r>
            <a:r>
              <a:rPr sz="2800" spc="-19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common</a:t>
            </a:r>
            <a:r>
              <a:rPr sz="2800" spc="-20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applications:</a:t>
            </a:r>
            <a:endParaRPr sz="2800">
              <a:latin typeface="Trebuchet MS"/>
              <a:cs typeface="Trebuchet MS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185506" y="2885820"/>
          <a:ext cx="9897745" cy="37045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64000"/>
                <a:gridCol w="5744209"/>
              </a:tblGrid>
              <a:tr h="370205"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Transmission</a:t>
                      </a:r>
                      <a:r>
                        <a:rPr sz="1800" b="1" spc="-8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Media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55F82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Application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55F82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spc="-10" dirty="0">
                          <a:latin typeface="Trebuchet MS"/>
                          <a:cs typeface="Trebuchet MS"/>
                        </a:rPr>
                        <a:t>Unshielded</a:t>
                      </a:r>
                      <a:r>
                        <a:rPr sz="1800" spc="-1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70" dirty="0">
                          <a:latin typeface="Trebuchet MS"/>
                          <a:cs typeface="Trebuchet MS"/>
                        </a:rPr>
                        <a:t>Twisted</a:t>
                      </a:r>
                      <a:r>
                        <a:rPr sz="1800" spc="-1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60" dirty="0">
                          <a:latin typeface="Trebuchet MS"/>
                          <a:cs typeface="Trebuchet MS"/>
                        </a:rPr>
                        <a:t>Pair</a:t>
                      </a:r>
                      <a:r>
                        <a:rPr sz="1800" spc="-1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0" dirty="0">
                          <a:latin typeface="Trebuchet MS"/>
                          <a:cs typeface="Trebuchet MS"/>
                        </a:rPr>
                        <a:t>(UTP)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spc="-10" dirty="0">
                          <a:latin typeface="Trebuchet MS"/>
                          <a:cs typeface="Trebuchet MS"/>
                        </a:rPr>
                        <a:t>Local</a:t>
                      </a:r>
                      <a:r>
                        <a:rPr sz="1800" spc="-1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55" dirty="0">
                          <a:latin typeface="Trebuchet MS"/>
                          <a:cs typeface="Trebuchet MS"/>
                        </a:rPr>
                        <a:t>Area</a:t>
                      </a:r>
                      <a:r>
                        <a:rPr sz="1800" spc="-1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25" dirty="0">
                          <a:latin typeface="Trebuchet MS"/>
                          <a:cs typeface="Trebuchet MS"/>
                        </a:rPr>
                        <a:t>Networks</a:t>
                      </a:r>
                      <a:r>
                        <a:rPr sz="1800" spc="-1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60" dirty="0">
                          <a:latin typeface="Trebuchet MS"/>
                          <a:cs typeface="Trebuchet MS"/>
                        </a:rPr>
                        <a:t>(LAN),</a:t>
                      </a:r>
                      <a:r>
                        <a:rPr sz="1800" spc="-1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0" dirty="0">
                          <a:latin typeface="Trebuchet MS"/>
                          <a:cs typeface="Trebuchet MS"/>
                        </a:rPr>
                        <a:t>telephones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7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spc="-10" dirty="0">
                          <a:latin typeface="Trebuchet MS"/>
                          <a:cs typeface="Trebuchet MS"/>
                        </a:rPr>
                        <a:t>Shielded</a:t>
                      </a:r>
                      <a:r>
                        <a:rPr sz="1800" spc="-19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70" dirty="0">
                          <a:latin typeface="Trebuchet MS"/>
                          <a:cs typeface="Trebuchet MS"/>
                        </a:rPr>
                        <a:t>Twisted</a:t>
                      </a:r>
                      <a:r>
                        <a:rPr sz="1800" spc="-1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55" dirty="0">
                          <a:latin typeface="Trebuchet MS"/>
                          <a:cs typeface="Trebuchet MS"/>
                        </a:rPr>
                        <a:t>Pair</a:t>
                      </a:r>
                      <a:r>
                        <a:rPr sz="1800" spc="-1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0" dirty="0">
                          <a:latin typeface="Trebuchet MS"/>
                          <a:cs typeface="Trebuchet MS"/>
                        </a:rPr>
                        <a:t>(STP)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spc="-35" dirty="0">
                          <a:latin typeface="Trebuchet MS"/>
                          <a:cs typeface="Trebuchet MS"/>
                        </a:rPr>
                        <a:t>Industrial</a:t>
                      </a:r>
                      <a:r>
                        <a:rPr sz="1800" spc="-1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50" dirty="0">
                          <a:latin typeface="Trebuchet MS"/>
                          <a:cs typeface="Trebuchet MS"/>
                        </a:rPr>
                        <a:t>networks,</a:t>
                      </a:r>
                      <a:r>
                        <a:rPr sz="1800" spc="-1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40" dirty="0">
                          <a:latin typeface="Trebuchet MS"/>
                          <a:cs typeface="Trebuchet MS"/>
                        </a:rPr>
                        <a:t>environments</a:t>
                      </a:r>
                      <a:r>
                        <a:rPr sz="1800" spc="-1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75" dirty="0">
                          <a:latin typeface="Trebuchet MS"/>
                          <a:cs typeface="Trebuchet MS"/>
                        </a:rPr>
                        <a:t>with</a:t>
                      </a:r>
                      <a:r>
                        <a:rPr sz="1800" spc="-1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35" dirty="0">
                          <a:latin typeface="Trebuchet MS"/>
                          <a:cs typeface="Trebuchet MS"/>
                        </a:rPr>
                        <a:t>high</a:t>
                      </a:r>
                      <a:r>
                        <a:rPr sz="1800" spc="-1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0" dirty="0">
                          <a:latin typeface="Trebuchet MS"/>
                          <a:cs typeface="Trebuchet MS"/>
                        </a:rPr>
                        <a:t>interference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C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spc="-30" dirty="0">
                          <a:latin typeface="Trebuchet MS"/>
                          <a:cs typeface="Trebuchet MS"/>
                        </a:rPr>
                        <a:t>Optical</a:t>
                      </a:r>
                      <a:r>
                        <a:rPr sz="1800" spc="-1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60" dirty="0">
                          <a:latin typeface="Trebuchet MS"/>
                          <a:cs typeface="Trebuchet MS"/>
                        </a:rPr>
                        <a:t>Fiber</a:t>
                      </a:r>
                      <a:r>
                        <a:rPr sz="1800" spc="-1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20" dirty="0">
                          <a:latin typeface="Trebuchet MS"/>
                          <a:cs typeface="Trebuchet MS"/>
                        </a:rPr>
                        <a:t>Cable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spc="-30" dirty="0">
                          <a:latin typeface="Trebuchet MS"/>
                          <a:cs typeface="Trebuchet MS"/>
                        </a:rPr>
                        <a:t>Long-</a:t>
                      </a:r>
                      <a:r>
                        <a:rPr sz="1800" spc="-20" dirty="0">
                          <a:latin typeface="Trebuchet MS"/>
                          <a:cs typeface="Trebuchet MS"/>
                        </a:rPr>
                        <a:t>distance</a:t>
                      </a:r>
                      <a:r>
                        <a:rPr sz="1800" spc="-8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25" dirty="0">
                          <a:latin typeface="Trebuchet MS"/>
                          <a:cs typeface="Trebuchet MS"/>
                        </a:rPr>
                        <a:t>communication,</a:t>
                      </a:r>
                      <a:r>
                        <a:rPr sz="1800" spc="-114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80" dirty="0">
                          <a:latin typeface="Trebuchet MS"/>
                          <a:cs typeface="Trebuchet MS"/>
                        </a:rPr>
                        <a:t>internet </a:t>
                      </a:r>
                      <a:r>
                        <a:rPr sz="1800" spc="-10" dirty="0">
                          <a:latin typeface="Trebuchet MS"/>
                          <a:cs typeface="Trebuchet MS"/>
                        </a:rPr>
                        <a:t>backbones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7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spc="-20" dirty="0">
                          <a:latin typeface="Trebuchet MS"/>
                          <a:cs typeface="Trebuchet MS"/>
                        </a:rPr>
                        <a:t>Coaxial</a:t>
                      </a:r>
                      <a:r>
                        <a:rPr sz="1800" spc="-1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20" dirty="0">
                          <a:latin typeface="Trebuchet MS"/>
                          <a:cs typeface="Trebuchet MS"/>
                        </a:rPr>
                        <a:t>Cable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Cable</a:t>
                      </a:r>
                      <a:r>
                        <a:rPr sz="1800" spc="-1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95" dirty="0">
                          <a:latin typeface="Trebuchet MS"/>
                          <a:cs typeface="Trebuchet MS"/>
                        </a:rPr>
                        <a:t>TV,</a:t>
                      </a:r>
                      <a:r>
                        <a:rPr sz="1800" spc="-1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20" dirty="0">
                          <a:latin typeface="Trebuchet MS"/>
                          <a:cs typeface="Trebuchet MS"/>
                        </a:rPr>
                        <a:t>broadband</a:t>
                      </a:r>
                      <a:r>
                        <a:rPr sz="1800" spc="-114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85" dirty="0">
                          <a:latin typeface="Trebuchet MS"/>
                          <a:cs typeface="Trebuchet MS"/>
                        </a:rPr>
                        <a:t>internet,</a:t>
                      </a:r>
                      <a:r>
                        <a:rPr sz="1800" spc="-1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20" dirty="0">
                          <a:latin typeface="Trebuchet MS"/>
                          <a:cs typeface="Trebuchet MS"/>
                        </a:rPr>
                        <a:t>CCTV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C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spc="-10" dirty="0">
                          <a:latin typeface="Trebuchet MS"/>
                          <a:cs typeface="Trebuchet MS"/>
                        </a:rPr>
                        <a:t>Stripline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spc="-60" dirty="0">
                          <a:latin typeface="Trebuchet MS"/>
                          <a:cs typeface="Trebuchet MS"/>
                        </a:rPr>
                        <a:t>Printed</a:t>
                      </a:r>
                      <a:r>
                        <a:rPr sz="1800" spc="-1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40" dirty="0">
                          <a:latin typeface="Trebuchet MS"/>
                          <a:cs typeface="Trebuchet MS"/>
                        </a:rPr>
                        <a:t>Circuit</a:t>
                      </a:r>
                      <a:r>
                        <a:rPr sz="1800" spc="-1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Boards</a:t>
                      </a:r>
                      <a:r>
                        <a:rPr sz="1800" spc="-10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0" dirty="0">
                          <a:latin typeface="Trebuchet MS"/>
                          <a:cs typeface="Trebuchet MS"/>
                        </a:rPr>
                        <a:t>(PCBs),</a:t>
                      </a:r>
                      <a:r>
                        <a:rPr sz="1800" spc="-1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40" dirty="0">
                          <a:latin typeface="Trebuchet MS"/>
                          <a:cs typeface="Trebuchet MS"/>
                        </a:rPr>
                        <a:t>microwave</a:t>
                      </a:r>
                      <a:r>
                        <a:rPr sz="1800" spc="-1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0" dirty="0">
                          <a:latin typeface="Trebuchet MS"/>
                          <a:cs typeface="Trebuchet MS"/>
                        </a:rPr>
                        <a:t>circuits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7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spc="-10" dirty="0">
                          <a:latin typeface="Trebuchet MS"/>
                          <a:cs typeface="Trebuchet MS"/>
                        </a:rPr>
                        <a:t>Microstripline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spc="-35" dirty="0">
                          <a:latin typeface="Trebuchet MS"/>
                          <a:cs typeface="Trebuchet MS"/>
                        </a:rPr>
                        <a:t>Antennas,</a:t>
                      </a:r>
                      <a:r>
                        <a:rPr sz="1800" spc="-1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65" dirty="0">
                          <a:latin typeface="Trebuchet MS"/>
                          <a:cs typeface="Trebuchet MS"/>
                        </a:rPr>
                        <a:t>satellite</a:t>
                      </a:r>
                      <a:r>
                        <a:rPr sz="1800" spc="-9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30" dirty="0">
                          <a:latin typeface="Trebuchet MS"/>
                          <a:cs typeface="Trebuchet MS"/>
                        </a:rPr>
                        <a:t>communication,</a:t>
                      </a:r>
                      <a:r>
                        <a:rPr sz="1800" spc="-1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RF</a:t>
                      </a:r>
                      <a:r>
                        <a:rPr sz="1800" spc="-9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0" dirty="0">
                          <a:latin typeface="Trebuchet MS"/>
                          <a:cs typeface="Trebuchet MS"/>
                        </a:rPr>
                        <a:t>circuits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C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10" dirty="0">
                          <a:latin typeface="Trebuchet MS"/>
                          <a:cs typeface="Trebuchet MS"/>
                        </a:rPr>
                        <a:t>Radio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10" dirty="0">
                          <a:latin typeface="Trebuchet MS"/>
                          <a:cs typeface="Trebuchet MS"/>
                        </a:rPr>
                        <a:t>Wireless</a:t>
                      </a:r>
                      <a:r>
                        <a:rPr sz="1800" spc="-1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30" dirty="0">
                          <a:latin typeface="Trebuchet MS"/>
                          <a:cs typeface="Trebuchet MS"/>
                        </a:rPr>
                        <a:t>communication,</a:t>
                      </a:r>
                      <a:r>
                        <a:rPr sz="1800" spc="-1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25" dirty="0">
                          <a:latin typeface="Trebuchet MS"/>
                          <a:cs typeface="Trebuchet MS"/>
                        </a:rPr>
                        <a:t>AM/FM</a:t>
                      </a:r>
                      <a:r>
                        <a:rPr sz="1800" spc="-1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80" dirty="0">
                          <a:latin typeface="Trebuchet MS"/>
                          <a:cs typeface="Trebuchet MS"/>
                        </a:rPr>
                        <a:t>radio,</a:t>
                      </a:r>
                      <a:r>
                        <a:rPr sz="1800" spc="-10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25" dirty="0">
                          <a:latin typeface="Trebuchet MS"/>
                          <a:cs typeface="Trebuchet MS"/>
                        </a:rPr>
                        <a:t>mobile</a:t>
                      </a:r>
                      <a:r>
                        <a:rPr sz="1800" spc="-1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0" dirty="0">
                          <a:latin typeface="Trebuchet MS"/>
                          <a:cs typeface="Trebuchet MS"/>
                        </a:rPr>
                        <a:t>phones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7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10" dirty="0">
                          <a:latin typeface="Trebuchet MS"/>
                          <a:cs typeface="Trebuchet MS"/>
                        </a:rPr>
                        <a:t>Infrared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35" dirty="0">
                          <a:latin typeface="Trebuchet MS"/>
                          <a:cs typeface="Trebuchet MS"/>
                        </a:rPr>
                        <a:t>Remote</a:t>
                      </a:r>
                      <a:r>
                        <a:rPr sz="1800" spc="-1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35" dirty="0">
                          <a:latin typeface="Trebuchet MS"/>
                          <a:cs typeface="Trebuchet MS"/>
                        </a:rPr>
                        <a:t>controls,</a:t>
                      </a:r>
                      <a:r>
                        <a:rPr sz="1800" spc="-15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30" dirty="0">
                          <a:latin typeface="Trebuchet MS"/>
                          <a:cs typeface="Trebuchet MS"/>
                        </a:rPr>
                        <a:t>short-</a:t>
                      </a:r>
                      <a:r>
                        <a:rPr sz="1800" spc="-55" dirty="0">
                          <a:latin typeface="Trebuchet MS"/>
                          <a:cs typeface="Trebuchet MS"/>
                        </a:rPr>
                        <a:t>range</a:t>
                      </a:r>
                      <a:r>
                        <a:rPr sz="1800" spc="-1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0" dirty="0">
                          <a:latin typeface="Trebuchet MS"/>
                          <a:cs typeface="Trebuchet MS"/>
                        </a:rPr>
                        <a:t>communication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C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10" dirty="0">
                          <a:latin typeface="Trebuchet MS"/>
                          <a:cs typeface="Trebuchet MS"/>
                        </a:rPr>
                        <a:t>Microwave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65" dirty="0">
                          <a:latin typeface="Trebuchet MS"/>
                          <a:cs typeface="Trebuchet MS"/>
                        </a:rPr>
                        <a:t>Satellite</a:t>
                      </a:r>
                      <a:r>
                        <a:rPr sz="1800" spc="-8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30" dirty="0">
                          <a:latin typeface="Trebuchet MS"/>
                          <a:cs typeface="Trebuchet MS"/>
                        </a:rPr>
                        <a:t>communication,</a:t>
                      </a:r>
                      <a:r>
                        <a:rPr sz="1800" spc="-9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00" dirty="0">
                          <a:latin typeface="Trebuchet MS"/>
                          <a:cs typeface="Trebuchet MS"/>
                        </a:rPr>
                        <a:t>radar,</a:t>
                      </a:r>
                      <a:r>
                        <a:rPr sz="1800" spc="-114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30" dirty="0">
                          <a:latin typeface="Trebuchet MS"/>
                          <a:cs typeface="Trebuchet MS"/>
                        </a:rPr>
                        <a:t>long-</a:t>
                      </a:r>
                      <a:r>
                        <a:rPr sz="1800" spc="-20" dirty="0">
                          <a:latin typeface="Trebuchet MS"/>
                          <a:cs typeface="Trebuchet MS"/>
                        </a:rPr>
                        <a:t>distance</a:t>
                      </a:r>
                      <a:r>
                        <a:rPr sz="1800" spc="-1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0" dirty="0">
                          <a:latin typeface="Trebuchet MS"/>
                          <a:cs typeface="Trebuchet MS"/>
                        </a:rPr>
                        <a:t>links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67885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916</Words>
  <Application>Microsoft Office PowerPoint</Application>
  <PresentationFormat>Widescreen</PresentationFormat>
  <Paragraphs>223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 MT</vt:lpstr>
      <vt:lpstr>Trebuchet MS</vt:lpstr>
      <vt:lpstr>Office Theme</vt:lpstr>
      <vt:lpstr>Computer Networks [Types of Transmission Media]</vt:lpstr>
      <vt:lpstr>Network Devices</vt:lpstr>
      <vt:lpstr>What is Transmission Media in Computer Networks?</vt:lpstr>
      <vt:lpstr>Guided Media</vt:lpstr>
      <vt:lpstr>There are 3 major types of Guided Media:</vt:lpstr>
      <vt:lpstr>Twisted Pair Cable</vt:lpstr>
      <vt:lpstr>Unshielded Twisted Pair (UTP)</vt:lpstr>
      <vt:lpstr>Unshielded Twisted Pair</vt:lpstr>
      <vt:lpstr>Shielded Twisted Pair (STP)</vt:lpstr>
      <vt:lpstr>Shielded Twisted Pair</vt:lpstr>
      <vt:lpstr>Coaxial Cable</vt:lpstr>
      <vt:lpstr>Coaxial Cable</vt:lpstr>
      <vt:lpstr>Optical Fiber Cable</vt:lpstr>
      <vt:lpstr>Optical Fiber Cable</vt:lpstr>
      <vt:lpstr>Applications of Optical Fibre Cable</vt:lpstr>
      <vt:lpstr>Stripline</vt:lpstr>
      <vt:lpstr>Microstripline</vt:lpstr>
      <vt:lpstr>Unguided Media</vt:lpstr>
      <vt:lpstr>Radio Waves</vt:lpstr>
      <vt:lpstr>Radio Wave Components</vt:lpstr>
      <vt:lpstr>Microwaves</vt:lpstr>
      <vt:lpstr>Microwaves</vt:lpstr>
      <vt:lpstr>Infrared</vt:lpstr>
      <vt:lpstr>PowerPoint Presentation</vt:lpstr>
      <vt:lpstr>Causes of Transmission Impairment</vt:lpstr>
      <vt:lpstr>Causes of Transmission Impairment</vt:lpstr>
      <vt:lpstr>Causes of Transmission Impairment</vt:lpstr>
      <vt:lpstr>Causes of Transmission Impairment</vt:lpstr>
      <vt:lpstr>Factors Considered for Designing the Transmission Media</vt:lpstr>
      <vt:lpstr>Applications of Transmission Media in Computer Networks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Networks [Types of Transmission Media]</dc:title>
  <dc:creator>Muhammad Hammad Waseem</dc:creator>
  <cp:lastModifiedBy>Windows User</cp:lastModifiedBy>
  <cp:revision>1</cp:revision>
  <dcterms:created xsi:type="dcterms:W3CDTF">2025-06-30T07:12:18Z</dcterms:created>
  <dcterms:modified xsi:type="dcterms:W3CDTF">2025-06-30T07:23:04Z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2025-05-14T00:00:00Z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2025-06-30T00:00:00Z</vt:filetime>
  </property>
  <property fmtid="{D5CDD505-2E9C-101B-9397-08002B2CF9AE}" pid="5" name="Producer">
    <vt:lpwstr>Microsoft® PowerPoint® for Microsoft 365</vt:lpwstr>
  </property>
</Properties>
</file>