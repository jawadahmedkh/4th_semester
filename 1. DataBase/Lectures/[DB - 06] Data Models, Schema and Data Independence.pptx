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411" y="2779852"/>
            <a:ext cx="2952115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4254500" cy="145680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ts val="3535"/>
              </a:lnSpc>
              <a:spcBef>
                <a:spcPts val="284"/>
              </a:spcBef>
            </a:pPr>
            <a:r>
              <a:rPr sz="3100" smtClean="0">
                <a:latin typeface="Calibri Light"/>
                <a:cs typeface="Calibri Light"/>
              </a:rPr>
              <a:t>Database</a:t>
            </a:r>
            <a:r>
              <a:rPr sz="3100" spc="-175" smtClean="0">
                <a:latin typeface="Calibri Light"/>
                <a:cs typeface="Calibri Light"/>
              </a:rPr>
              <a:t> </a:t>
            </a:r>
            <a:r>
              <a:rPr sz="3100" spc="-10" dirty="0">
                <a:latin typeface="Calibri Light"/>
                <a:cs typeface="Calibri Light"/>
              </a:rPr>
              <a:t>Systems</a:t>
            </a:r>
            <a:endParaRPr sz="3100" dirty="0">
              <a:latin typeface="Calibri Light"/>
              <a:cs typeface="Calibri Light"/>
            </a:endParaRPr>
          </a:p>
          <a:p>
            <a:pPr marL="12700" marR="5080">
              <a:lnSpc>
                <a:spcPts val="3350"/>
              </a:lnSpc>
              <a:spcBef>
                <a:spcPts val="229"/>
              </a:spcBef>
            </a:pPr>
            <a:r>
              <a:rPr sz="3100" dirty="0">
                <a:latin typeface="Calibri Light"/>
                <a:cs typeface="Calibri Light"/>
              </a:rPr>
              <a:t>[</a:t>
            </a:r>
            <a:r>
              <a:rPr sz="3100" i="1" dirty="0">
                <a:latin typeface="Calibri Light"/>
                <a:cs typeface="Calibri Light"/>
              </a:rPr>
              <a:t>Data</a:t>
            </a:r>
            <a:r>
              <a:rPr sz="3100" i="1" spc="-65" dirty="0">
                <a:latin typeface="Calibri Light"/>
                <a:cs typeface="Calibri Light"/>
              </a:rPr>
              <a:t> </a:t>
            </a:r>
            <a:r>
              <a:rPr sz="3100" i="1" dirty="0">
                <a:latin typeface="Calibri Light"/>
                <a:cs typeface="Calibri Light"/>
              </a:rPr>
              <a:t>Models,</a:t>
            </a:r>
            <a:r>
              <a:rPr sz="3100" i="1" spc="-65" dirty="0">
                <a:latin typeface="Calibri Light"/>
                <a:cs typeface="Calibri Light"/>
              </a:rPr>
              <a:t> </a:t>
            </a:r>
            <a:r>
              <a:rPr sz="3100" i="1" dirty="0">
                <a:latin typeface="Calibri Light"/>
                <a:cs typeface="Calibri Light"/>
              </a:rPr>
              <a:t>Schema</a:t>
            </a:r>
            <a:r>
              <a:rPr sz="3100" i="1" spc="-60" dirty="0">
                <a:latin typeface="Calibri Light"/>
                <a:cs typeface="Calibri Light"/>
              </a:rPr>
              <a:t> </a:t>
            </a:r>
            <a:r>
              <a:rPr sz="3100" i="1" spc="-25" dirty="0">
                <a:latin typeface="Calibri Light"/>
                <a:cs typeface="Calibri Light"/>
              </a:rPr>
              <a:t>and </a:t>
            </a:r>
            <a:r>
              <a:rPr sz="3100" i="1" dirty="0">
                <a:latin typeface="Calibri Light"/>
                <a:cs typeface="Calibri Light"/>
              </a:rPr>
              <a:t>Data</a:t>
            </a:r>
            <a:r>
              <a:rPr sz="3100" i="1" spc="-100" dirty="0">
                <a:latin typeface="Calibri Light"/>
                <a:cs typeface="Calibri Light"/>
              </a:rPr>
              <a:t> </a:t>
            </a:r>
            <a:r>
              <a:rPr sz="3100" i="1" spc="-10" dirty="0">
                <a:latin typeface="Calibri Light"/>
                <a:cs typeface="Calibri Light"/>
              </a:rPr>
              <a:t>Independence</a:t>
            </a:r>
            <a:r>
              <a:rPr sz="3100" spc="-10" dirty="0">
                <a:latin typeface="Calibri Light"/>
                <a:cs typeface="Calibri Light"/>
              </a:rPr>
              <a:t>]</a:t>
            </a:r>
            <a:endParaRPr sz="31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599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382981"/>
            <a:ext cx="5089525" cy="32804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dirty="0">
                <a:latin typeface="Calibri"/>
                <a:cs typeface="Calibri"/>
              </a:rPr>
              <a:t>description,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semantics,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10" dirty="0">
                <a:latin typeface="Calibri"/>
                <a:cs typeface="Calibri"/>
              </a:rPr>
              <a:t>consistency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constraints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40029" marR="169545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	</a:t>
            </a:r>
            <a:r>
              <a:rPr sz="2400" dirty="0">
                <a:latin typeface="Calibri"/>
                <a:cs typeface="Calibri"/>
              </a:rPr>
              <a:t>describing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at 	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abstraction.</a:t>
            </a:r>
            <a:endParaRPr sz="2400">
              <a:latin typeface="Calibri"/>
              <a:cs typeface="Calibri"/>
            </a:endParaRPr>
          </a:p>
          <a:p>
            <a:pPr marL="240029" marR="378460" indent="-227329">
              <a:lnSpc>
                <a:spcPct val="901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Therefore,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four 	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understanding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35397" y="3916426"/>
            <a:ext cx="6248400" cy="1588135"/>
            <a:chOff x="4835397" y="3916426"/>
            <a:chExt cx="6248400" cy="1588135"/>
          </a:xfrm>
        </p:grpSpPr>
        <p:sp>
          <p:nvSpPr>
            <p:cNvPr id="5" name="object 5"/>
            <p:cNvSpPr/>
            <p:nvPr/>
          </p:nvSpPr>
          <p:spPr>
            <a:xfrm>
              <a:off x="4841747" y="5003292"/>
              <a:ext cx="6235700" cy="494665"/>
            </a:xfrm>
            <a:custGeom>
              <a:avLst/>
              <a:gdLst/>
              <a:ahLst/>
              <a:cxnLst/>
              <a:rect l="l" t="t" r="r" b="b"/>
              <a:pathLst>
                <a:path w="6235700" h="494664">
                  <a:moveTo>
                    <a:pt x="3118104" y="0"/>
                  </a:moveTo>
                  <a:lnTo>
                    <a:pt x="3118104" y="336930"/>
                  </a:lnTo>
                  <a:lnTo>
                    <a:pt x="6235192" y="336930"/>
                  </a:lnTo>
                  <a:lnTo>
                    <a:pt x="6235192" y="494537"/>
                  </a:lnTo>
                </a:path>
                <a:path w="6235700" h="494664">
                  <a:moveTo>
                    <a:pt x="3118104" y="0"/>
                  </a:moveTo>
                  <a:lnTo>
                    <a:pt x="3118104" y="336930"/>
                  </a:lnTo>
                  <a:lnTo>
                    <a:pt x="4157091" y="336930"/>
                  </a:lnTo>
                  <a:lnTo>
                    <a:pt x="4157091" y="494537"/>
                  </a:lnTo>
                </a:path>
                <a:path w="6235700" h="494664">
                  <a:moveTo>
                    <a:pt x="3117723" y="0"/>
                  </a:moveTo>
                  <a:lnTo>
                    <a:pt x="3117723" y="336930"/>
                  </a:lnTo>
                  <a:lnTo>
                    <a:pt x="2078735" y="336930"/>
                  </a:lnTo>
                  <a:lnTo>
                    <a:pt x="2078735" y="494537"/>
                  </a:lnTo>
                </a:path>
                <a:path w="6235700" h="494664">
                  <a:moveTo>
                    <a:pt x="3117087" y="0"/>
                  </a:moveTo>
                  <a:lnTo>
                    <a:pt x="3117087" y="336930"/>
                  </a:lnTo>
                  <a:lnTo>
                    <a:pt x="0" y="336930"/>
                  </a:lnTo>
                  <a:lnTo>
                    <a:pt x="0" y="494537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9459" y="3922776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3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38"/>
                  </a:lnTo>
                  <a:lnTo>
                    <a:pt x="8493" y="1014507"/>
                  </a:lnTo>
                  <a:lnTo>
                    <a:pt x="31654" y="1048861"/>
                  </a:lnTo>
                  <a:lnTo>
                    <a:pt x="66008" y="1072022"/>
                  </a:lnTo>
                  <a:lnTo>
                    <a:pt x="108076" y="1080516"/>
                  </a:lnTo>
                  <a:lnTo>
                    <a:pt x="1591183" y="1080516"/>
                  </a:lnTo>
                  <a:lnTo>
                    <a:pt x="1633251" y="1072022"/>
                  </a:lnTo>
                  <a:lnTo>
                    <a:pt x="1667605" y="1048861"/>
                  </a:lnTo>
                  <a:lnTo>
                    <a:pt x="1690766" y="1014507"/>
                  </a:lnTo>
                  <a:lnTo>
                    <a:pt x="1699260" y="972438"/>
                  </a:lnTo>
                  <a:lnTo>
                    <a:pt x="1699260" y="108076"/>
                  </a:lnTo>
                  <a:lnTo>
                    <a:pt x="1690766" y="66008"/>
                  </a:lnTo>
                  <a:lnTo>
                    <a:pt x="1667605" y="31654"/>
                  </a:lnTo>
                  <a:lnTo>
                    <a:pt x="1633251" y="8493"/>
                  </a:lnTo>
                  <a:lnTo>
                    <a:pt x="159118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9459" y="3922776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1183" y="0"/>
                  </a:lnTo>
                  <a:lnTo>
                    <a:pt x="1633251" y="8493"/>
                  </a:lnTo>
                  <a:lnTo>
                    <a:pt x="1667605" y="31654"/>
                  </a:lnTo>
                  <a:lnTo>
                    <a:pt x="1690766" y="66008"/>
                  </a:lnTo>
                  <a:lnTo>
                    <a:pt x="1699260" y="108076"/>
                  </a:lnTo>
                  <a:lnTo>
                    <a:pt x="1699260" y="972438"/>
                  </a:lnTo>
                  <a:lnTo>
                    <a:pt x="1690766" y="1014507"/>
                  </a:lnTo>
                  <a:lnTo>
                    <a:pt x="1667605" y="1048861"/>
                  </a:lnTo>
                  <a:lnTo>
                    <a:pt x="1633251" y="1072022"/>
                  </a:lnTo>
                  <a:lnTo>
                    <a:pt x="1591183" y="1080516"/>
                  </a:lnTo>
                  <a:lnTo>
                    <a:pt x="108076" y="1080516"/>
                  </a:lnTo>
                  <a:lnTo>
                    <a:pt x="66008" y="1072022"/>
                  </a:lnTo>
                  <a:lnTo>
                    <a:pt x="31654" y="1048861"/>
                  </a:lnTo>
                  <a:lnTo>
                    <a:pt x="8493" y="1014507"/>
                  </a:lnTo>
                  <a:lnTo>
                    <a:pt x="0" y="972438"/>
                  </a:lnTo>
                  <a:lnTo>
                    <a:pt x="0" y="10807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98435" y="4102608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3" y="0"/>
                  </a:moveTo>
                  <a:lnTo>
                    <a:pt x="108077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7"/>
                  </a:lnTo>
                  <a:lnTo>
                    <a:pt x="0" y="972439"/>
                  </a:lnTo>
                  <a:lnTo>
                    <a:pt x="8493" y="1014507"/>
                  </a:lnTo>
                  <a:lnTo>
                    <a:pt x="31654" y="1048861"/>
                  </a:lnTo>
                  <a:lnTo>
                    <a:pt x="66008" y="1072022"/>
                  </a:lnTo>
                  <a:lnTo>
                    <a:pt x="108077" y="1080516"/>
                  </a:lnTo>
                  <a:lnTo>
                    <a:pt x="1591183" y="1080516"/>
                  </a:lnTo>
                  <a:lnTo>
                    <a:pt x="1633251" y="1072022"/>
                  </a:lnTo>
                  <a:lnTo>
                    <a:pt x="1667605" y="1048861"/>
                  </a:lnTo>
                  <a:lnTo>
                    <a:pt x="1690766" y="1014507"/>
                  </a:lnTo>
                  <a:lnTo>
                    <a:pt x="1699260" y="972439"/>
                  </a:lnTo>
                  <a:lnTo>
                    <a:pt x="1699260" y="108077"/>
                  </a:lnTo>
                  <a:lnTo>
                    <a:pt x="1690766" y="66008"/>
                  </a:lnTo>
                  <a:lnTo>
                    <a:pt x="1667605" y="31654"/>
                  </a:lnTo>
                  <a:lnTo>
                    <a:pt x="1633251" y="8493"/>
                  </a:lnTo>
                  <a:lnTo>
                    <a:pt x="159118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98435" y="4102608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77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7" y="0"/>
                  </a:lnTo>
                  <a:lnTo>
                    <a:pt x="1591183" y="0"/>
                  </a:lnTo>
                  <a:lnTo>
                    <a:pt x="1633251" y="8493"/>
                  </a:lnTo>
                  <a:lnTo>
                    <a:pt x="1667605" y="31654"/>
                  </a:lnTo>
                  <a:lnTo>
                    <a:pt x="1690766" y="66008"/>
                  </a:lnTo>
                  <a:lnTo>
                    <a:pt x="1699260" y="108077"/>
                  </a:lnTo>
                  <a:lnTo>
                    <a:pt x="1699260" y="972439"/>
                  </a:lnTo>
                  <a:lnTo>
                    <a:pt x="1690766" y="1014507"/>
                  </a:lnTo>
                  <a:lnTo>
                    <a:pt x="1667605" y="1048861"/>
                  </a:lnTo>
                  <a:lnTo>
                    <a:pt x="1633251" y="1072022"/>
                  </a:lnTo>
                  <a:lnTo>
                    <a:pt x="1591183" y="1080516"/>
                  </a:lnTo>
                  <a:lnTo>
                    <a:pt x="108077" y="1080516"/>
                  </a:lnTo>
                  <a:lnTo>
                    <a:pt x="66008" y="1072022"/>
                  </a:lnTo>
                  <a:lnTo>
                    <a:pt x="31654" y="1048861"/>
                  </a:lnTo>
                  <a:lnTo>
                    <a:pt x="8493" y="1014507"/>
                  </a:lnTo>
                  <a:lnTo>
                    <a:pt x="0" y="972439"/>
                  </a:lnTo>
                  <a:lnTo>
                    <a:pt x="0" y="108077"/>
                  </a:lnTo>
                  <a:close/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82585" y="4447413"/>
            <a:ext cx="1332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85005" y="5490717"/>
            <a:ext cx="1902460" cy="1273175"/>
            <a:chOff x="3985005" y="5490717"/>
            <a:chExt cx="1902460" cy="1273175"/>
          </a:xfrm>
        </p:grpSpPr>
        <p:sp>
          <p:nvSpPr>
            <p:cNvPr id="12" name="object 12"/>
            <p:cNvSpPr/>
            <p:nvPr/>
          </p:nvSpPr>
          <p:spPr>
            <a:xfrm>
              <a:off x="3991355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1592707" y="0"/>
                  </a:moveTo>
                  <a:lnTo>
                    <a:pt x="108077" y="0"/>
                  </a:lnTo>
                  <a:lnTo>
                    <a:pt x="66008" y="8492"/>
                  </a:lnTo>
                  <a:lnTo>
                    <a:pt x="31654" y="31651"/>
                  </a:lnTo>
                  <a:lnTo>
                    <a:pt x="8493" y="65997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7" y="1080515"/>
                  </a:lnTo>
                  <a:lnTo>
                    <a:pt x="1592707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51"/>
                  </a:lnTo>
                  <a:lnTo>
                    <a:pt x="1692290" y="65997"/>
                  </a:lnTo>
                  <a:lnTo>
                    <a:pt x="1669129" y="31651"/>
                  </a:lnTo>
                  <a:lnTo>
                    <a:pt x="1634775" y="8492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91355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0" y="108051"/>
                  </a:moveTo>
                  <a:lnTo>
                    <a:pt x="8493" y="65997"/>
                  </a:lnTo>
                  <a:lnTo>
                    <a:pt x="31654" y="31651"/>
                  </a:lnTo>
                  <a:lnTo>
                    <a:pt x="66008" y="8492"/>
                  </a:lnTo>
                  <a:lnTo>
                    <a:pt x="108077" y="0"/>
                  </a:lnTo>
                  <a:lnTo>
                    <a:pt x="1592707" y="0"/>
                  </a:lnTo>
                  <a:lnTo>
                    <a:pt x="1634775" y="8492"/>
                  </a:lnTo>
                  <a:lnTo>
                    <a:pt x="1669129" y="31651"/>
                  </a:lnTo>
                  <a:lnTo>
                    <a:pt x="1692290" y="65997"/>
                  </a:lnTo>
                  <a:lnTo>
                    <a:pt x="1700784" y="108051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5"/>
                  </a:lnTo>
                  <a:lnTo>
                    <a:pt x="108077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80331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0"/>
                  </a:lnTo>
                  <a:lnTo>
                    <a:pt x="31654" y="31646"/>
                  </a:lnTo>
                  <a:lnTo>
                    <a:pt x="8493" y="65992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2706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51"/>
                  </a:lnTo>
                  <a:lnTo>
                    <a:pt x="1692290" y="65992"/>
                  </a:lnTo>
                  <a:lnTo>
                    <a:pt x="1669129" y="31646"/>
                  </a:lnTo>
                  <a:lnTo>
                    <a:pt x="1634775" y="8490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80331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0" y="108051"/>
                  </a:moveTo>
                  <a:lnTo>
                    <a:pt x="8493" y="65992"/>
                  </a:lnTo>
                  <a:lnTo>
                    <a:pt x="31654" y="31646"/>
                  </a:lnTo>
                  <a:lnTo>
                    <a:pt x="66008" y="8490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0"/>
                  </a:lnTo>
                  <a:lnTo>
                    <a:pt x="1669129" y="31646"/>
                  </a:lnTo>
                  <a:lnTo>
                    <a:pt x="1692290" y="65992"/>
                  </a:lnTo>
                  <a:lnTo>
                    <a:pt x="1700783" y="108051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65116" y="5882436"/>
            <a:ext cx="1332230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38430">
              <a:lnSpc>
                <a:spcPts val="2210"/>
              </a:lnSpc>
              <a:spcBef>
                <a:spcPts val="335"/>
              </a:spcBef>
            </a:pPr>
            <a:r>
              <a:rPr sz="2000" spc="-10" dirty="0">
                <a:latin typeface="Calibri"/>
                <a:cs typeface="Calibri"/>
              </a:rPr>
              <a:t>Relational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63741" y="5490717"/>
            <a:ext cx="1902460" cy="1273175"/>
            <a:chOff x="6063741" y="5490717"/>
            <a:chExt cx="1902460" cy="1273175"/>
          </a:xfrm>
        </p:grpSpPr>
        <p:sp>
          <p:nvSpPr>
            <p:cNvPr id="18" name="object 18"/>
            <p:cNvSpPr/>
            <p:nvPr/>
          </p:nvSpPr>
          <p:spPr>
            <a:xfrm>
              <a:off x="6070091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7" y="0"/>
                  </a:moveTo>
                  <a:lnTo>
                    <a:pt x="108077" y="0"/>
                  </a:lnTo>
                  <a:lnTo>
                    <a:pt x="66008" y="8492"/>
                  </a:lnTo>
                  <a:lnTo>
                    <a:pt x="31654" y="31651"/>
                  </a:lnTo>
                  <a:lnTo>
                    <a:pt x="8493" y="65997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7" y="1080515"/>
                  </a:lnTo>
                  <a:lnTo>
                    <a:pt x="1592707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51"/>
                  </a:lnTo>
                  <a:lnTo>
                    <a:pt x="1692290" y="65997"/>
                  </a:lnTo>
                  <a:lnTo>
                    <a:pt x="1669129" y="31651"/>
                  </a:lnTo>
                  <a:lnTo>
                    <a:pt x="1634775" y="8492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70091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51"/>
                  </a:moveTo>
                  <a:lnTo>
                    <a:pt x="8493" y="65997"/>
                  </a:lnTo>
                  <a:lnTo>
                    <a:pt x="31654" y="31651"/>
                  </a:lnTo>
                  <a:lnTo>
                    <a:pt x="66008" y="8492"/>
                  </a:lnTo>
                  <a:lnTo>
                    <a:pt x="108077" y="0"/>
                  </a:lnTo>
                  <a:lnTo>
                    <a:pt x="1592707" y="0"/>
                  </a:lnTo>
                  <a:lnTo>
                    <a:pt x="1634775" y="8492"/>
                  </a:lnTo>
                  <a:lnTo>
                    <a:pt x="1669129" y="31651"/>
                  </a:lnTo>
                  <a:lnTo>
                    <a:pt x="1692290" y="65997"/>
                  </a:lnTo>
                  <a:lnTo>
                    <a:pt x="1700784" y="108051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5"/>
                  </a:lnTo>
                  <a:lnTo>
                    <a:pt x="108077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9067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7" y="0"/>
                  </a:moveTo>
                  <a:lnTo>
                    <a:pt x="108077" y="0"/>
                  </a:lnTo>
                  <a:lnTo>
                    <a:pt x="66008" y="8490"/>
                  </a:lnTo>
                  <a:lnTo>
                    <a:pt x="31654" y="31646"/>
                  </a:lnTo>
                  <a:lnTo>
                    <a:pt x="8493" y="65992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7" y="1080516"/>
                  </a:lnTo>
                  <a:lnTo>
                    <a:pt x="1592707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51"/>
                  </a:lnTo>
                  <a:lnTo>
                    <a:pt x="1692290" y="65992"/>
                  </a:lnTo>
                  <a:lnTo>
                    <a:pt x="1669129" y="31646"/>
                  </a:lnTo>
                  <a:lnTo>
                    <a:pt x="1634775" y="8490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9067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51"/>
                  </a:moveTo>
                  <a:lnTo>
                    <a:pt x="8493" y="65992"/>
                  </a:lnTo>
                  <a:lnTo>
                    <a:pt x="31654" y="31646"/>
                  </a:lnTo>
                  <a:lnTo>
                    <a:pt x="66008" y="8490"/>
                  </a:lnTo>
                  <a:lnTo>
                    <a:pt x="108077" y="0"/>
                  </a:lnTo>
                  <a:lnTo>
                    <a:pt x="1592707" y="0"/>
                  </a:lnTo>
                  <a:lnTo>
                    <a:pt x="1634775" y="8490"/>
                  </a:lnTo>
                  <a:lnTo>
                    <a:pt x="1669129" y="31646"/>
                  </a:lnTo>
                  <a:lnTo>
                    <a:pt x="1692290" y="65992"/>
                  </a:lnTo>
                  <a:lnTo>
                    <a:pt x="1700784" y="108051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6"/>
                  </a:lnTo>
                  <a:lnTo>
                    <a:pt x="108077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43217" y="5742838"/>
            <a:ext cx="1332230" cy="890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1270" algn="ctr">
              <a:lnSpc>
                <a:spcPct val="91800"/>
              </a:lnSpc>
              <a:spcBef>
                <a:spcPts val="300"/>
              </a:spcBef>
            </a:pPr>
            <a:r>
              <a:rPr sz="2000" spc="-10" dirty="0">
                <a:latin typeface="Calibri"/>
                <a:cs typeface="Calibri"/>
              </a:rPr>
              <a:t>Semi- structured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42478" y="5490717"/>
            <a:ext cx="1901189" cy="1273175"/>
            <a:chOff x="8142478" y="5490717"/>
            <a:chExt cx="1901189" cy="1273175"/>
          </a:xfrm>
        </p:grpSpPr>
        <p:sp>
          <p:nvSpPr>
            <p:cNvPr id="24" name="object 24"/>
            <p:cNvSpPr/>
            <p:nvPr/>
          </p:nvSpPr>
          <p:spPr>
            <a:xfrm>
              <a:off x="8148828" y="5497067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2" y="0"/>
                  </a:moveTo>
                  <a:lnTo>
                    <a:pt x="108076" y="0"/>
                  </a:lnTo>
                  <a:lnTo>
                    <a:pt x="66008" y="8492"/>
                  </a:lnTo>
                  <a:lnTo>
                    <a:pt x="31654" y="31651"/>
                  </a:lnTo>
                  <a:lnTo>
                    <a:pt x="8493" y="65997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5"/>
                  </a:lnTo>
                  <a:lnTo>
                    <a:pt x="1591182" y="1080515"/>
                  </a:lnTo>
                  <a:lnTo>
                    <a:pt x="1633251" y="1072025"/>
                  </a:lnTo>
                  <a:lnTo>
                    <a:pt x="1667605" y="1048869"/>
                  </a:lnTo>
                  <a:lnTo>
                    <a:pt x="1690766" y="1014523"/>
                  </a:lnTo>
                  <a:lnTo>
                    <a:pt x="1699260" y="972464"/>
                  </a:lnTo>
                  <a:lnTo>
                    <a:pt x="1699260" y="108051"/>
                  </a:lnTo>
                  <a:lnTo>
                    <a:pt x="1690766" y="65997"/>
                  </a:lnTo>
                  <a:lnTo>
                    <a:pt x="1667605" y="31651"/>
                  </a:lnTo>
                  <a:lnTo>
                    <a:pt x="1633251" y="8492"/>
                  </a:lnTo>
                  <a:lnTo>
                    <a:pt x="159118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48828" y="5497067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51"/>
                  </a:moveTo>
                  <a:lnTo>
                    <a:pt x="8493" y="65997"/>
                  </a:lnTo>
                  <a:lnTo>
                    <a:pt x="31654" y="31651"/>
                  </a:lnTo>
                  <a:lnTo>
                    <a:pt x="66008" y="8492"/>
                  </a:lnTo>
                  <a:lnTo>
                    <a:pt x="108076" y="0"/>
                  </a:lnTo>
                  <a:lnTo>
                    <a:pt x="1591182" y="0"/>
                  </a:lnTo>
                  <a:lnTo>
                    <a:pt x="1633251" y="8492"/>
                  </a:lnTo>
                  <a:lnTo>
                    <a:pt x="1667605" y="31651"/>
                  </a:lnTo>
                  <a:lnTo>
                    <a:pt x="1690766" y="65997"/>
                  </a:lnTo>
                  <a:lnTo>
                    <a:pt x="1699260" y="108051"/>
                  </a:lnTo>
                  <a:lnTo>
                    <a:pt x="1699260" y="972464"/>
                  </a:lnTo>
                  <a:lnTo>
                    <a:pt x="1690766" y="1014523"/>
                  </a:lnTo>
                  <a:lnTo>
                    <a:pt x="1667605" y="1048869"/>
                  </a:lnTo>
                  <a:lnTo>
                    <a:pt x="1633251" y="1072025"/>
                  </a:lnTo>
                  <a:lnTo>
                    <a:pt x="1591182" y="1080515"/>
                  </a:lnTo>
                  <a:lnTo>
                    <a:pt x="108076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37804" y="5676899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2" y="0"/>
                  </a:moveTo>
                  <a:lnTo>
                    <a:pt x="108076" y="0"/>
                  </a:lnTo>
                  <a:lnTo>
                    <a:pt x="66008" y="8490"/>
                  </a:lnTo>
                  <a:lnTo>
                    <a:pt x="31654" y="31646"/>
                  </a:lnTo>
                  <a:lnTo>
                    <a:pt x="8493" y="65992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1182" y="1080516"/>
                  </a:lnTo>
                  <a:lnTo>
                    <a:pt x="1633251" y="1072025"/>
                  </a:lnTo>
                  <a:lnTo>
                    <a:pt x="1667605" y="1048869"/>
                  </a:lnTo>
                  <a:lnTo>
                    <a:pt x="1690766" y="1014523"/>
                  </a:lnTo>
                  <a:lnTo>
                    <a:pt x="1699260" y="972464"/>
                  </a:lnTo>
                  <a:lnTo>
                    <a:pt x="1699260" y="108051"/>
                  </a:lnTo>
                  <a:lnTo>
                    <a:pt x="1690766" y="65992"/>
                  </a:lnTo>
                  <a:lnTo>
                    <a:pt x="1667605" y="31646"/>
                  </a:lnTo>
                  <a:lnTo>
                    <a:pt x="1633251" y="8490"/>
                  </a:lnTo>
                  <a:lnTo>
                    <a:pt x="159118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37804" y="5676899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51"/>
                  </a:moveTo>
                  <a:lnTo>
                    <a:pt x="8493" y="65992"/>
                  </a:lnTo>
                  <a:lnTo>
                    <a:pt x="31654" y="31646"/>
                  </a:lnTo>
                  <a:lnTo>
                    <a:pt x="66008" y="8490"/>
                  </a:lnTo>
                  <a:lnTo>
                    <a:pt x="108076" y="0"/>
                  </a:lnTo>
                  <a:lnTo>
                    <a:pt x="1591182" y="0"/>
                  </a:lnTo>
                  <a:lnTo>
                    <a:pt x="1633251" y="8490"/>
                  </a:lnTo>
                  <a:lnTo>
                    <a:pt x="1667605" y="31646"/>
                  </a:lnTo>
                  <a:lnTo>
                    <a:pt x="1690766" y="65992"/>
                  </a:lnTo>
                  <a:lnTo>
                    <a:pt x="1699260" y="108051"/>
                  </a:lnTo>
                  <a:lnTo>
                    <a:pt x="1699260" y="972464"/>
                  </a:lnTo>
                  <a:lnTo>
                    <a:pt x="1690766" y="1014523"/>
                  </a:lnTo>
                  <a:lnTo>
                    <a:pt x="1667605" y="1048869"/>
                  </a:lnTo>
                  <a:lnTo>
                    <a:pt x="1633251" y="1072025"/>
                  </a:lnTo>
                  <a:lnTo>
                    <a:pt x="1591182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521700" y="5742838"/>
            <a:ext cx="1332230" cy="890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635" algn="ctr">
              <a:lnSpc>
                <a:spcPct val="91800"/>
              </a:lnSpc>
              <a:spcBef>
                <a:spcPts val="300"/>
              </a:spcBef>
            </a:pPr>
            <a:r>
              <a:rPr sz="2000" spc="-10" dirty="0">
                <a:latin typeface="Calibri"/>
                <a:cs typeface="Calibri"/>
              </a:rPr>
              <a:t>Entity- Relationship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219690" y="5490717"/>
            <a:ext cx="1902460" cy="1273175"/>
            <a:chOff x="10219690" y="5490717"/>
            <a:chExt cx="1902460" cy="1273175"/>
          </a:xfrm>
        </p:grpSpPr>
        <p:sp>
          <p:nvSpPr>
            <p:cNvPr id="30" name="object 30"/>
            <p:cNvSpPr/>
            <p:nvPr/>
          </p:nvSpPr>
          <p:spPr>
            <a:xfrm>
              <a:off x="10226040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2"/>
                  </a:lnTo>
                  <a:lnTo>
                    <a:pt x="31654" y="31651"/>
                  </a:lnTo>
                  <a:lnTo>
                    <a:pt x="8493" y="65997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5"/>
                  </a:lnTo>
                  <a:lnTo>
                    <a:pt x="1592706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51"/>
                  </a:lnTo>
                  <a:lnTo>
                    <a:pt x="1692290" y="65997"/>
                  </a:lnTo>
                  <a:lnTo>
                    <a:pt x="1669129" y="31651"/>
                  </a:lnTo>
                  <a:lnTo>
                    <a:pt x="1634775" y="8492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226040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51"/>
                  </a:moveTo>
                  <a:lnTo>
                    <a:pt x="8493" y="65997"/>
                  </a:lnTo>
                  <a:lnTo>
                    <a:pt x="31654" y="31651"/>
                  </a:lnTo>
                  <a:lnTo>
                    <a:pt x="66008" y="8492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2"/>
                  </a:lnTo>
                  <a:lnTo>
                    <a:pt x="1669129" y="31651"/>
                  </a:lnTo>
                  <a:lnTo>
                    <a:pt x="1692290" y="65997"/>
                  </a:lnTo>
                  <a:lnTo>
                    <a:pt x="1700783" y="108051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5"/>
                  </a:lnTo>
                  <a:lnTo>
                    <a:pt x="108076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415016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0"/>
                  </a:lnTo>
                  <a:lnTo>
                    <a:pt x="31654" y="31646"/>
                  </a:lnTo>
                  <a:lnTo>
                    <a:pt x="8493" y="65992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2706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51"/>
                  </a:lnTo>
                  <a:lnTo>
                    <a:pt x="1692290" y="65992"/>
                  </a:lnTo>
                  <a:lnTo>
                    <a:pt x="1669129" y="31646"/>
                  </a:lnTo>
                  <a:lnTo>
                    <a:pt x="1634775" y="8490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415016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51"/>
                  </a:moveTo>
                  <a:lnTo>
                    <a:pt x="8493" y="65992"/>
                  </a:lnTo>
                  <a:lnTo>
                    <a:pt x="31654" y="31646"/>
                  </a:lnTo>
                  <a:lnTo>
                    <a:pt x="66008" y="8490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0"/>
                  </a:lnTo>
                  <a:lnTo>
                    <a:pt x="1669129" y="31646"/>
                  </a:lnTo>
                  <a:lnTo>
                    <a:pt x="1692290" y="65992"/>
                  </a:lnTo>
                  <a:lnTo>
                    <a:pt x="1700783" y="108051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564748" y="5882436"/>
            <a:ext cx="1403350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47625" marR="5080" indent="-35560">
              <a:lnSpc>
                <a:spcPts val="2210"/>
              </a:lnSpc>
              <a:spcBef>
                <a:spcPts val="335"/>
              </a:spcBef>
            </a:pPr>
            <a:r>
              <a:rPr sz="2000" spc="-10" dirty="0">
                <a:latin typeface="Calibri"/>
                <a:cs typeface="Calibri"/>
              </a:rPr>
              <a:t>Object-based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10197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Relational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Data </a:t>
            </a:r>
            <a:r>
              <a:rPr sz="4000" spc="-10" dirty="0">
                <a:latin typeface="Calibri Light"/>
                <a:cs typeface="Calibri Light"/>
              </a:rPr>
              <a:t>Model: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17854"/>
            <a:ext cx="5088255" cy="47244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71120" indent="-227329" algn="just">
              <a:lnSpc>
                <a:spcPts val="259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1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Thus,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	</a:t>
            </a:r>
            <a:r>
              <a:rPr sz="2400" spc="-10" dirty="0">
                <a:latin typeface="Calibri"/>
                <a:cs typeface="Calibri"/>
              </a:rPr>
              <a:t>representing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in-</a:t>
            </a:r>
            <a:r>
              <a:rPr sz="2400" spc="-10" dirty="0">
                <a:latin typeface="Calibri"/>
                <a:cs typeface="Calibri"/>
              </a:rPr>
              <a:t>between 	relationships.</a:t>
            </a:r>
            <a:endParaRPr sz="2400">
              <a:latin typeface="Calibri"/>
              <a:cs typeface="Calibri"/>
            </a:endParaRPr>
          </a:p>
          <a:p>
            <a:pPr marL="240029" marR="136525" indent="-227329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5" dirty="0">
                <a:latin typeface="Calibri"/>
                <a:cs typeface="Calibri"/>
              </a:rPr>
              <a:t>Tables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relations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This 	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described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Edgar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60"/>
              </a:lnSpc>
            </a:pPr>
            <a:r>
              <a:rPr sz="2400" spc="-105" dirty="0">
                <a:latin typeface="Calibri"/>
                <a:cs typeface="Calibri"/>
              </a:rPr>
              <a:t>F.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Codd,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1969.</a:t>
            </a:r>
            <a:endParaRPr sz="2400">
              <a:latin typeface="Calibri"/>
              <a:cs typeface="Calibri"/>
            </a:endParaRPr>
          </a:p>
          <a:p>
            <a:pPr marL="240029" marR="45085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widely 	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primarily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	</a:t>
            </a:r>
            <a:r>
              <a:rPr sz="2400" dirty="0">
                <a:latin typeface="Calibri"/>
                <a:cs typeface="Calibri"/>
              </a:rPr>
              <a:t>commercial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 	applications.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53682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10" dirty="0">
                <a:latin typeface="Calibri Light"/>
                <a:cs typeface="Calibri Light"/>
              </a:rPr>
              <a:t>Entity- Relationship </a:t>
            </a: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6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Model: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928878"/>
            <a:ext cx="5128260" cy="48831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41300" marR="43815" indent="-2286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representation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relationships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among them.</a:t>
            </a:r>
            <a:endParaRPr sz="2200">
              <a:latin typeface="Calibri"/>
              <a:cs typeface="Calibri"/>
            </a:endParaRPr>
          </a:p>
          <a:p>
            <a:pPr marL="241300" marR="95250" indent="-228600">
              <a:lnSpc>
                <a:spcPts val="211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These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entities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relationship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association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these entities.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375"/>
              </a:lnSpc>
              <a:spcBef>
                <a:spcPts val="5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Peter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Chen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published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1976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papers.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widely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database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designing.</a:t>
            </a:r>
            <a:r>
              <a:rPr sz="2200" spc="-50" dirty="0">
                <a:latin typeface="Calibri"/>
                <a:cs typeface="Calibri"/>
              </a:rPr>
              <a:t> A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attributes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describe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entities.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050"/>
              </a:lnSpc>
              <a:spcBef>
                <a:spcPts val="60"/>
              </a:spcBef>
              <a:buFont typeface="Arial MT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example,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student_name,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student_id</a:t>
            </a:r>
            <a:endParaRPr sz="1900">
              <a:latin typeface="Calibri"/>
              <a:cs typeface="Calibri"/>
            </a:endParaRPr>
          </a:p>
          <a:p>
            <a:pPr marL="698500">
              <a:lnSpc>
                <a:spcPts val="2050"/>
              </a:lnSpc>
            </a:pPr>
            <a:r>
              <a:rPr sz="1900" spc="-10" dirty="0">
                <a:latin typeface="Calibri"/>
                <a:cs typeface="Calibri"/>
              </a:rPr>
              <a:t>describes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'student'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entity.</a:t>
            </a:r>
            <a:endParaRPr sz="1900">
              <a:latin typeface="Calibri"/>
              <a:cs typeface="Calibri"/>
            </a:endParaRPr>
          </a:p>
          <a:p>
            <a:pPr marL="241300" marR="63500" indent="-228600">
              <a:lnSpc>
                <a:spcPct val="8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entities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known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'</a:t>
            </a:r>
            <a:r>
              <a:rPr sz="2200" b="1" dirty="0">
                <a:latin typeface="Calibri"/>
                <a:cs typeface="Calibri"/>
              </a:rPr>
              <a:t>Entity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35" dirty="0">
                <a:latin typeface="Calibri"/>
                <a:cs typeface="Calibri"/>
              </a:rPr>
              <a:t>set</a:t>
            </a:r>
            <a:r>
              <a:rPr sz="2200" spc="-35" dirty="0">
                <a:latin typeface="Calibri"/>
                <a:cs typeface="Calibri"/>
              </a:rPr>
              <a:t>’,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same </a:t>
            </a:r>
            <a:r>
              <a:rPr sz="2200" dirty="0">
                <a:latin typeface="Calibri"/>
                <a:cs typeface="Calibri"/>
              </a:rPr>
              <a:t>type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relationships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as </a:t>
            </a:r>
            <a:r>
              <a:rPr sz="2200" spc="-10" dirty="0">
                <a:latin typeface="Calibri"/>
                <a:cs typeface="Calibri"/>
              </a:rPr>
              <a:t>'</a:t>
            </a:r>
            <a:r>
              <a:rPr sz="2200" b="1" spc="-10" dirty="0">
                <a:latin typeface="Calibri"/>
                <a:cs typeface="Calibri"/>
              </a:rPr>
              <a:t>relationship </a:t>
            </a:r>
            <a:r>
              <a:rPr sz="2200" b="1" spc="-20" dirty="0">
                <a:latin typeface="Calibri"/>
                <a:cs typeface="Calibri"/>
              </a:rPr>
              <a:t>set</a:t>
            </a:r>
            <a:r>
              <a:rPr sz="2200" spc="-20" dirty="0">
                <a:latin typeface="Calibri"/>
                <a:cs typeface="Calibri"/>
              </a:rPr>
              <a:t>'.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74383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Object-based </a:t>
            </a: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6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Model: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347596"/>
            <a:ext cx="5057775" cy="4065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38036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extension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	</a:t>
            </a:r>
            <a:r>
              <a:rPr sz="2400" dirty="0">
                <a:latin typeface="Calibri"/>
                <a:cs typeface="Calibri"/>
              </a:rPr>
              <a:t>notions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encapsulation,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identity,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well.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collection 	types.</a:t>
            </a:r>
            <a:endParaRPr sz="2400">
              <a:latin typeface="Calibri"/>
              <a:cs typeface="Calibri"/>
            </a:endParaRPr>
          </a:p>
          <a:p>
            <a:pPr marL="240029" marR="149225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Thus,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1980s,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systems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object-oriented 	</a:t>
            </a:r>
            <a:r>
              <a:rPr sz="2400" dirty="0">
                <a:latin typeface="Calibri"/>
                <a:cs typeface="Calibri"/>
              </a:rPr>
              <a:t>approach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developed.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Here,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nothing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carrying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properties.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30136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5" dirty="0">
                <a:latin typeface="Calibri Light"/>
                <a:cs typeface="Calibri Light"/>
              </a:rPr>
              <a:t>Semi-</a:t>
            </a:r>
            <a:r>
              <a:rPr sz="4000" spc="-10" dirty="0">
                <a:latin typeface="Calibri Light"/>
                <a:cs typeface="Calibri Light"/>
              </a:rPr>
              <a:t>structured </a:t>
            </a: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6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Model: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930351"/>
            <a:ext cx="5118735" cy="48704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40029" marR="560705" indent="-227329">
              <a:lnSpc>
                <a:spcPts val="2310"/>
              </a:lnSpc>
              <a:spcBef>
                <a:spcPts val="65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 	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 	</a:t>
            </a:r>
            <a:r>
              <a:rPr sz="2400" dirty="0">
                <a:latin typeface="Calibri"/>
                <a:cs typeface="Calibri"/>
              </a:rPr>
              <a:t>(explained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above).</a:t>
            </a:r>
            <a:endParaRPr sz="2400">
              <a:latin typeface="Calibri"/>
              <a:cs typeface="Calibri"/>
            </a:endParaRPr>
          </a:p>
          <a:p>
            <a:pPr marL="240029" marR="16510" indent="-227329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semi-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allows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specifications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where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same 	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sets.</a:t>
            </a:r>
            <a:endParaRPr sz="2400">
              <a:latin typeface="Calibri"/>
              <a:cs typeface="Calibri"/>
            </a:endParaRPr>
          </a:p>
          <a:p>
            <a:pPr marL="240029" marR="43815" indent="-227329">
              <a:lnSpc>
                <a:spcPts val="231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Extensible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Markup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Language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also 	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XML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widely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	</a:t>
            </a:r>
            <a:r>
              <a:rPr sz="2400" spc="-10" dirty="0">
                <a:latin typeface="Calibri"/>
                <a:cs typeface="Calibri"/>
              </a:rPr>
              <a:t>representing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semi-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Although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XML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	</a:t>
            </a:r>
            <a:r>
              <a:rPr sz="2400" dirty="0">
                <a:latin typeface="Calibri"/>
                <a:cs typeface="Calibri"/>
              </a:rPr>
              <a:t>including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markup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document,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gains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importance 	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exchange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51015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6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 </a:t>
            </a:r>
            <a:r>
              <a:rPr sz="4000" dirty="0">
                <a:latin typeface="Calibri Light"/>
                <a:cs typeface="Calibri Light"/>
              </a:rPr>
              <a:t>Schema</a:t>
            </a:r>
            <a:r>
              <a:rPr sz="4000" spc="-13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and </a:t>
            </a:r>
            <a:r>
              <a:rPr sz="4000" spc="-10" dirty="0">
                <a:latin typeface="Calibri Light"/>
                <a:cs typeface="Calibri Light"/>
              </a:rPr>
              <a:t>Instance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788924"/>
            <a:ext cx="5146675" cy="514794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1300" marR="26670" indent="-228600">
              <a:lnSpc>
                <a:spcPct val="70000"/>
              </a:lnSpc>
              <a:spcBef>
                <a:spcPts val="82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particular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moment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instance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039"/>
              </a:lnSpc>
              <a:spcBef>
                <a:spcPts val="2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overall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called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sz="2000" b="1" spc="-10" dirty="0">
                <a:latin typeface="Calibri"/>
                <a:cs typeface="Calibri"/>
              </a:rPr>
              <a:t>schema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 marR="72390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schema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skeleton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structure</a:t>
            </a:r>
            <a:r>
              <a:rPr sz="2000" b="1" i="1" spc="-90" dirty="0">
                <a:latin typeface="Calibri"/>
                <a:cs typeface="Calibri"/>
              </a:rPr>
              <a:t> </a:t>
            </a:r>
            <a:r>
              <a:rPr sz="2000" b="1" i="1" spc="-25" dirty="0">
                <a:latin typeface="Calibri"/>
                <a:cs typeface="Calibri"/>
              </a:rPr>
              <a:t>of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database</a:t>
            </a:r>
            <a:r>
              <a:rPr sz="2000" spc="-10" dirty="0">
                <a:latin typeface="Calibri"/>
                <a:cs typeface="Calibri"/>
              </a:rPr>
              <a:t>.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represents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logical</a:t>
            </a:r>
            <a:r>
              <a:rPr sz="20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view</a:t>
            </a:r>
            <a:r>
              <a:rPr sz="20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marL="239395" marR="197485" indent="-226695" algn="just">
              <a:lnSpc>
                <a:spcPct val="701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schema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schema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table, 	foreign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5" dirty="0">
                <a:latin typeface="Calibri"/>
                <a:cs typeface="Calibri"/>
              </a:rPr>
              <a:t>key, </a:t>
            </a:r>
            <a:r>
              <a:rPr sz="2000" dirty="0">
                <a:latin typeface="Calibri"/>
                <a:cs typeface="Calibri"/>
              </a:rPr>
              <a:t>primary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5" dirty="0">
                <a:latin typeface="Calibri"/>
                <a:cs typeface="Calibri"/>
              </a:rPr>
              <a:t>key,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views,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columns,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	</a:t>
            </a:r>
            <a:r>
              <a:rPr sz="2000" dirty="0">
                <a:latin typeface="Calibri"/>
                <a:cs typeface="Calibri"/>
              </a:rPr>
              <a:t>types,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procedure,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241300" marR="218440" indent="-22860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schema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represented</a:t>
            </a:r>
            <a:r>
              <a:rPr sz="2000" spc="-25" dirty="0">
                <a:latin typeface="Calibri"/>
                <a:cs typeface="Calibri"/>
              </a:rPr>
              <a:t> by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visual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diagram.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diagram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shows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with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other.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schema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designers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programmers </a:t>
            </a:r>
            <a:r>
              <a:rPr sz="2000" dirty="0">
                <a:latin typeface="Calibri"/>
                <a:cs typeface="Calibri"/>
              </a:rPr>
              <a:t>whose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039"/>
              </a:lnSpc>
              <a:spcBef>
                <a:spcPts val="2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sz="2000" b="1" spc="-10" dirty="0">
                <a:latin typeface="Calibri"/>
                <a:cs typeface="Calibri"/>
              </a:rPr>
              <a:t>modeling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51015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6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model </a:t>
            </a:r>
            <a:r>
              <a:rPr sz="4000" dirty="0">
                <a:latin typeface="Calibri Light"/>
                <a:cs typeface="Calibri Light"/>
              </a:rPr>
              <a:t>Schema</a:t>
            </a:r>
            <a:r>
              <a:rPr sz="4000" spc="-13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and </a:t>
            </a:r>
            <a:r>
              <a:rPr sz="4000" spc="-10" dirty="0">
                <a:latin typeface="Calibri Light"/>
                <a:cs typeface="Calibri Light"/>
              </a:rPr>
              <a:t>Instance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808735"/>
            <a:ext cx="5096510" cy="51142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029" marR="28575" indent="-227329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display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only 	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aspects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10" dirty="0">
                <a:latin typeface="Calibri"/>
                <a:cs typeface="Calibri"/>
              </a:rPr>
              <a:t>constraints.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aspects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can't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diagram.</a:t>
            </a:r>
            <a:endParaRPr sz="2400">
              <a:latin typeface="Calibri"/>
              <a:cs typeface="Calibri"/>
            </a:endParaRPr>
          </a:p>
          <a:p>
            <a:pPr marL="696595" marR="194945" lvl="1" indent="-226695" algn="just">
              <a:lnSpc>
                <a:spcPct val="80000"/>
              </a:lnSpc>
              <a:spcBef>
                <a:spcPts val="52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example,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(next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slide) 	</a:t>
            </a:r>
            <a:r>
              <a:rPr sz="2000" dirty="0">
                <a:latin typeface="Calibri"/>
                <a:cs typeface="Calibri"/>
              </a:rPr>
              <a:t>neither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	</a:t>
            </a:r>
            <a:r>
              <a:rPr sz="2000" dirty="0">
                <a:latin typeface="Calibri"/>
                <a:cs typeface="Calibri"/>
              </a:rPr>
              <a:t>item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various 	files.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ts val="2595"/>
              </a:lnSpc>
              <a:spcBef>
                <a:spcPts val="4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quite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frequently.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2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(Next </a:t>
            </a:r>
            <a:r>
              <a:rPr sz="2000" dirty="0">
                <a:latin typeface="Calibri"/>
                <a:cs typeface="Calibri"/>
              </a:rPr>
              <a:t>Slide),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whenever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we </a:t>
            </a:r>
            <a:r>
              <a:rPr sz="2000" dirty="0">
                <a:latin typeface="Calibri"/>
                <a:cs typeface="Calibri"/>
              </a:rPr>
              <a:t>add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student.</a:t>
            </a:r>
            <a:endParaRPr sz="2000">
              <a:latin typeface="Calibri"/>
              <a:cs typeface="Calibri"/>
            </a:endParaRPr>
          </a:p>
          <a:p>
            <a:pPr marL="240029" marR="530860" indent="-227329">
              <a:lnSpc>
                <a:spcPct val="800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instance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of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the 	</a:t>
            </a:r>
            <a:r>
              <a:rPr sz="2400" b="1" i="1" spc="-10" dirty="0">
                <a:latin typeface="Calibri"/>
                <a:cs typeface="Calibri"/>
              </a:rPr>
              <a:t>database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505836"/>
            <a:ext cx="251015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75"/>
              </a:spcBef>
            </a:pPr>
            <a:r>
              <a:rPr dirty="0"/>
              <a:t>Data</a:t>
            </a:r>
            <a:r>
              <a:rPr spc="-165" dirty="0"/>
              <a:t> </a:t>
            </a:r>
            <a:r>
              <a:rPr spc="-10" dirty="0"/>
              <a:t>model </a:t>
            </a:r>
            <a:r>
              <a:rPr dirty="0"/>
              <a:t>Schema</a:t>
            </a:r>
            <a:r>
              <a:rPr spc="-130" dirty="0"/>
              <a:t> </a:t>
            </a:r>
            <a:r>
              <a:rPr spc="-25" dirty="0"/>
              <a:t>and </a:t>
            </a:r>
            <a:r>
              <a:rPr spc="-10" dirty="0"/>
              <a:t>Instance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8296" y="1087331"/>
            <a:ext cx="5650114" cy="43499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95211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latin typeface="Calibri Light"/>
                <a:cs typeface="Calibri Light"/>
              </a:rPr>
              <a:t>Data </a:t>
            </a:r>
            <a:r>
              <a:rPr sz="4000" spc="-10" dirty="0">
                <a:latin typeface="Calibri Light"/>
                <a:cs typeface="Calibri Light"/>
              </a:rPr>
              <a:t>Independence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402460"/>
            <a:ext cx="4843145" cy="39592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2794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explained 	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three-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independence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refers 	characteristic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modify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altering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  <a:p>
            <a:pPr marL="240029" marR="1184275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spc="-10" dirty="0">
                <a:latin typeface="Calibri"/>
                <a:cs typeface="Calibri"/>
              </a:rPr>
              <a:t>independence: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Independence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20" dirty="0"/>
              <a:t>Data </a:t>
            </a:r>
            <a:r>
              <a:rPr spc="-10" dirty="0"/>
              <a:t>Independence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3275" y="1308108"/>
            <a:ext cx="5080095" cy="43298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95211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Logical</a:t>
            </a:r>
            <a:r>
              <a:rPr sz="4000" spc="-12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Data </a:t>
            </a:r>
            <a:r>
              <a:rPr sz="4000" spc="-10" dirty="0">
                <a:latin typeface="Calibri Light"/>
                <a:cs typeface="Calibri Light"/>
              </a:rPr>
              <a:t>Independence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182446"/>
            <a:ext cx="5045710" cy="439483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889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i="1" dirty="0">
                <a:latin typeface="Calibri"/>
                <a:cs typeface="Calibri"/>
              </a:rPr>
              <a:t>Logical</a:t>
            </a:r>
            <a:r>
              <a:rPr sz="2400" b="1" i="1" spc="-9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independence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refers 	characteristic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having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schema.</a:t>
            </a:r>
            <a:endParaRPr sz="2400">
              <a:latin typeface="Calibri"/>
              <a:cs typeface="Calibri"/>
            </a:endParaRPr>
          </a:p>
          <a:p>
            <a:pPr marL="240029" marR="25209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Logical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spc="-10" dirty="0">
                <a:latin typeface="Calibri"/>
                <a:cs typeface="Calibri"/>
              </a:rPr>
              <a:t>separate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view.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conceptual 	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affected.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Logical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at</a:t>
            </a:r>
            <a:endParaRPr sz="2400">
              <a:latin typeface="Calibri"/>
              <a:cs typeface="Calibri"/>
            </a:endParaRPr>
          </a:p>
          <a:p>
            <a:pPr marL="2413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95211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Physical</a:t>
            </a:r>
            <a:r>
              <a:rPr sz="4000" spc="-20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Data </a:t>
            </a:r>
            <a:r>
              <a:rPr sz="4000" spc="-10" dirty="0">
                <a:latin typeface="Calibri Light"/>
                <a:cs typeface="Calibri Light"/>
              </a:rPr>
              <a:t>Independence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17854"/>
            <a:ext cx="5129530" cy="47244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267335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i="1" dirty="0">
                <a:latin typeface="Calibri"/>
                <a:cs typeface="Calibri"/>
              </a:rPr>
              <a:t>Physical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independence</a:t>
            </a:r>
            <a:r>
              <a:rPr sz="2400" b="1" i="1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capacity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schema.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server,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affected.</a:t>
            </a:r>
            <a:endParaRPr sz="2400">
              <a:latin typeface="Calibri"/>
              <a:cs typeface="Calibri"/>
            </a:endParaRPr>
          </a:p>
          <a:p>
            <a:pPr marL="240029" marR="20193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spc="-10" dirty="0">
                <a:latin typeface="Calibri"/>
                <a:cs typeface="Calibri"/>
              </a:rPr>
              <a:t>separate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levels.</a:t>
            </a:r>
            <a:endParaRPr sz="2400">
              <a:latin typeface="Calibri"/>
              <a:cs typeface="Calibri"/>
            </a:endParaRPr>
          </a:p>
          <a:p>
            <a:pPr marL="240029" marR="26797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independence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at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285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model Schema and Instance</vt:lpstr>
      <vt:lpstr>PowerPoint Presentation</vt:lpstr>
      <vt:lpstr>Data Independence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2025-06-30T07:18:39Z</dcterms:created>
  <dcterms:modified xsi:type="dcterms:W3CDTF">2025-06-30T07:27:45Z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