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71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303402"/>
            <a:ext cx="7597140" cy="9983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91969"/>
            <a:ext cx="10359390" cy="4065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96920" y="1656079"/>
            <a:ext cx="6598284" cy="1763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6840"/>
              </a:lnSpc>
              <a:spcBef>
                <a:spcPts val="100"/>
              </a:spcBef>
            </a:pPr>
            <a:r>
              <a:rPr sz="6000" b="1" spc="-254" dirty="0">
                <a:latin typeface="Trebuchet MS"/>
                <a:cs typeface="Trebuchet MS"/>
              </a:rPr>
              <a:t>Computer</a:t>
            </a:r>
            <a:r>
              <a:rPr sz="6000" b="1" spc="-650" dirty="0">
                <a:latin typeface="Trebuchet MS"/>
                <a:cs typeface="Trebuchet MS"/>
              </a:rPr>
              <a:t> </a:t>
            </a:r>
            <a:r>
              <a:rPr sz="6000" b="1" spc="-165" dirty="0">
                <a:latin typeface="Trebuchet MS"/>
                <a:cs typeface="Trebuchet MS"/>
              </a:rPr>
              <a:t>Networks</a:t>
            </a:r>
            <a:endParaRPr sz="6000">
              <a:latin typeface="Trebuchet MS"/>
              <a:cs typeface="Trebuchet MS"/>
            </a:endParaRPr>
          </a:p>
          <a:p>
            <a:pPr marL="1905" algn="ctr">
              <a:lnSpc>
                <a:spcPts val="6840"/>
              </a:lnSpc>
            </a:pPr>
            <a:r>
              <a:rPr sz="6000" spc="-300" dirty="0"/>
              <a:t>[</a:t>
            </a:r>
            <a:r>
              <a:rPr sz="5300" i="1" spc="-300" dirty="0">
                <a:latin typeface="Trebuchet MS"/>
                <a:cs typeface="Trebuchet MS"/>
              </a:rPr>
              <a:t>Network</a:t>
            </a:r>
            <a:r>
              <a:rPr sz="5300" i="1" spc="-560" dirty="0">
                <a:latin typeface="Trebuchet MS"/>
                <a:cs typeface="Trebuchet MS"/>
              </a:rPr>
              <a:t> </a:t>
            </a:r>
            <a:r>
              <a:rPr sz="5300" i="1" spc="-840" dirty="0">
                <a:latin typeface="Trebuchet MS"/>
                <a:cs typeface="Trebuchet MS"/>
              </a:rPr>
              <a:t>T</a:t>
            </a:r>
            <a:r>
              <a:rPr sz="5300" i="1" spc="-305" dirty="0">
                <a:latin typeface="Trebuchet MS"/>
                <a:cs typeface="Trebuchet MS"/>
              </a:rPr>
              <a:t>opol</a:t>
            </a:r>
            <a:r>
              <a:rPr sz="5300" i="1" spc="-325" dirty="0">
                <a:latin typeface="Trebuchet MS"/>
                <a:cs typeface="Trebuchet MS"/>
              </a:rPr>
              <a:t>o</a:t>
            </a:r>
            <a:r>
              <a:rPr sz="5300" i="1" spc="-265" dirty="0">
                <a:latin typeface="Trebuchet MS"/>
                <a:cs typeface="Trebuchet MS"/>
              </a:rPr>
              <a:t>g</a:t>
            </a:r>
            <a:r>
              <a:rPr sz="5300" i="1" spc="-300" dirty="0">
                <a:latin typeface="Trebuchet MS"/>
                <a:cs typeface="Trebuchet MS"/>
              </a:rPr>
              <a:t>y</a:t>
            </a:r>
            <a:r>
              <a:rPr sz="6000" spc="-305" dirty="0"/>
              <a:t>]</a:t>
            </a:r>
            <a:endParaRPr sz="6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85" dirty="0"/>
              <a:t>What</a:t>
            </a:r>
            <a:r>
              <a:rPr spc="-459" dirty="0"/>
              <a:t> </a:t>
            </a:r>
            <a:r>
              <a:rPr spc="-40" dirty="0"/>
              <a:t>is</a:t>
            </a:r>
            <a:r>
              <a:rPr spc="-434" dirty="0"/>
              <a:t> </a:t>
            </a:r>
            <a:r>
              <a:rPr spc="-215" dirty="0"/>
              <a:t>Network</a:t>
            </a:r>
            <a:r>
              <a:rPr spc="-440" dirty="0"/>
              <a:t> </a:t>
            </a:r>
            <a:r>
              <a:rPr spc="-145" dirty="0"/>
              <a:t>Topology?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  <a:tab pos="1853564" algn="l"/>
                <a:tab pos="3166110" algn="l"/>
                <a:tab pos="3839845" algn="l"/>
                <a:tab pos="5421630" algn="l"/>
                <a:tab pos="5901690" algn="l"/>
                <a:tab pos="6577330" algn="l"/>
                <a:tab pos="7991475" algn="l"/>
                <a:tab pos="8473440" algn="l"/>
                <a:tab pos="9296400" algn="l"/>
                <a:tab pos="9848215" algn="l"/>
              </a:tabLst>
            </a:pPr>
            <a:r>
              <a:rPr b="1" spc="-10" dirty="0">
                <a:latin typeface="Trebuchet MS"/>
                <a:cs typeface="Trebuchet MS"/>
              </a:rPr>
              <a:t>Topology</a:t>
            </a:r>
            <a:r>
              <a:rPr b="1" dirty="0">
                <a:latin typeface="Trebuchet MS"/>
                <a:cs typeface="Trebuchet MS"/>
              </a:rPr>
              <a:t>	</a:t>
            </a:r>
            <a:r>
              <a:rPr spc="-10" dirty="0"/>
              <a:t>defines</a:t>
            </a:r>
            <a:r>
              <a:rPr dirty="0"/>
              <a:t>	</a:t>
            </a:r>
            <a:r>
              <a:rPr spc="-25" dirty="0"/>
              <a:t>the</a:t>
            </a:r>
            <a:r>
              <a:rPr dirty="0"/>
              <a:t>	</a:t>
            </a:r>
            <a:r>
              <a:rPr spc="-10" dirty="0"/>
              <a:t>structure</a:t>
            </a:r>
            <a:r>
              <a:rPr dirty="0"/>
              <a:t>	</a:t>
            </a:r>
            <a:r>
              <a:rPr spc="-25" dirty="0"/>
              <a:t>of</a:t>
            </a:r>
            <a:r>
              <a:rPr dirty="0"/>
              <a:t>	</a:t>
            </a:r>
            <a:r>
              <a:rPr spc="-25" dirty="0"/>
              <a:t>the</a:t>
            </a:r>
            <a:r>
              <a:rPr dirty="0"/>
              <a:t>	</a:t>
            </a:r>
            <a:r>
              <a:rPr spc="-10" dirty="0"/>
              <a:t>network</a:t>
            </a:r>
            <a:r>
              <a:rPr dirty="0"/>
              <a:t>	</a:t>
            </a:r>
            <a:r>
              <a:rPr spc="-25" dirty="0"/>
              <a:t>of</a:t>
            </a:r>
            <a:r>
              <a:rPr dirty="0"/>
              <a:t>	</a:t>
            </a:r>
            <a:r>
              <a:rPr spc="-25" dirty="0"/>
              <a:t>how</a:t>
            </a:r>
            <a:r>
              <a:rPr dirty="0"/>
              <a:t>	</a:t>
            </a:r>
            <a:r>
              <a:rPr spc="-25" dirty="0"/>
              <a:t>all</a:t>
            </a:r>
            <a:r>
              <a:rPr dirty="0"/>
              <a:t>	</a:t>
            </a:r>
            <a:r>
              <a:rPr spc="-100" dirty="0"/>
              <a:t>the 	</a:t>
            </a:r>
            <a:r>
              <a:rPr dirty="0"/>
              <a:t>components</a:t>
            </a:r>
            <a:r>
              <a:rPr spc="-204" dirty="0"/>
              <a:t> </a:t>
            </a:r>
            <a:r>
              <a:rPr spc="-90" dirty="0"/>
              <a:t>are</a:t>
            </a:r>
            <a:r>
              <a:rPr spc="-225" dirty="0"/>
              <a:t> </a:t>
            </a:r>
            <a:r>
              <a:rPr spc="-65" dirty="0"/>
              <a:t>interconnected</a:t>
            </a:r>
            <a:r>
              <a:rPr spc="-200" dirty="0"/>
              <a:t> </a:t>
            </a:r>
            <a:r>
              <a:rPr spc="-105" dirty="0"/>
              <a:t>to</a:t>
            </a:r>
            <a:r>
              <a:rPr spc="-225" dirty="0"/>
              <a:t> </a:t>
            </a:r>
            <a:r>
              <a:rPr spc="-10" dirty="0"/>
              <a:t>each</a:t>
            </a:r>
            <a:r>
              <a:rPr spc="-220" dirty="0"/>
              <a:t> </a:t>
            </a:r>
            <a:r>
              <a:rPr spc="-10" dirty="0"/>
              <a:t>other.</a:t>
            </a:r>
          </a:p>
          <a:p>
            <a:pPr marL="240665" indent="-227965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665" algn="l"/>
              </a:tabLst>
            </a:pPr>
            <a:r>
              <a:rPr spc="-130" dirty="0"/>
              <a:t>There</a:t>
            </a:r>
            <a:r>
              <a:rPr spc="-240" dirty="0"/>
              <a:t> </a:t>
            </a:r>
            <a:r>
              <a:rPr spc="-90" dirty="0"/>
              <a:t>are</a:t>
            </a:r>
            <a:r>
              <a:rPr spc="-235" dirty="0"/>
              <a:t> </a:t>
            </a:r>
            <a:r>
              <a:rPr spc="-105" dirty="0"/>
              <a:t>two</a:t>
            </a:r>
            <a:r>
              <a:rPr spc="-250" dirty="0"/>
              <a:t> </a:t>
            </a:r>
            <a:r>
              <a:rPr spc="-50" dirty="0"/>
              <a:t>types</a:t>
            </a:r>
            <a:r>
              <a:rPr spc="-229" dirty="0"/>
              <a:t> </a:t>
            </a:r>
            <a:r>
              <a:rPr spc="-95" dirty="0"/>
              <a:t>of</a:t>
            </a:r>
            <a:r>
              <a:rPr spc="-245" dirty="0"/>
              <a:t> </a:t>
            </a:r>
            <a:r>
              <a:rPr spc="-10" dirty="0"/>
              <a:t>topology:</a:t>
            </a:r>
          </a:p>
          <a:p>
            <a:pPr marL="697230" lvl="1" indent="-227329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spc="-10" dirty="0">
                <a:latin typeface="Trebuchet MS"/>
                <a:cs typeface="Trebuchet MS"/>
              </a:rPr>
              <a:t>Physical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Topology</a:t>
            </a:r>
            <a:endParaRPr sz="2400">
              <a:latin typeface="Trebuchet MS"/>
              <a:cs typeface="Trebuchet MS"/>
            </a:endParaRPr>
          </a:p>
          <a:p>
            <a:pPr marL="697230" lvl="1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spc="-40" dirty="0">
                <a:latin typeface="Trebuchet MS"/>
                <a:cs typeface="Trebuchet MS"/>
              </a:rPr>
              <a:t>Logical</a:t>
            </a:r>
            <a:r>
              <a:rPr sz="2400" spc="-16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Topology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Types</a:t>
            </a:r>
            <a:r>
              <a:rPr spc="-440" dirty="0"/>
              <a:t> </a:t>
            </a:r>
            <a:r>
              <a:rPr spc="-265" dirty="0"/>
              <a:t>of</a:t>
            </a:r>
            <a:r>
              <a:rPr spc="-440" dirty="0"/>
              <a:t> </a:t>
            </a:r>
            <a:r>
              <a:rPr spc="-215" dirty="0"/>
              <a:t>Network</a:t>
            </a:r>
            <a:r>
              <a:rPr spc="-440" dirty="0"/>
              <a:t> </a:t>
            </a:r>
            <a:r>
              <a:rPr spc="-285" dirty="0"/>
              <a:t>Topology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  <a:tab pos="1807845" algn="l"/>
                <a:tab pos="3418840" algn="l"/>
                <a:tab pos="3876040" algn="l"/>
                <a:tab pos="4574540" algn="l"/>
                <a:tab pos="6322695" algn="l"/>
                <a:tab pos="8771890" algn="l"/>
                <a:tab pos="9274810" algn="l"/>
                <a:tab pos="9848215" algn="l"/>
              </a:tabLst>
            </a:pPr>
            <a:r>
              <a:rPr b="1" spc="-10" dirty="0">
                <a:latin typeface="Trebuchet MS"/>
                <a:cs typeface="Trebuchet MS"/>
              </a:rPr>
              <a:t>Physical</a:t>
            </a:r>
            <a:r>
              <a:rPr b="1" dirty="0">
                <a:latin typeface="Trebuchet MS"/>
                <a:cs typeface="Trebuchet MS"/>
              </a:rPr>
              <a:t>	</a:t>
            </a:r>
            <a:r>
              <a:rPr b="1" spc="-10" dirty="0">
                <a:latin typeface="Trebuchet MS"/>
                <a:cs typeface="Trebuchet MS"/>
              </a:rPr>
              <a:t>topology</a:t>
            </a:r>
            <a:r>
              <a:rPr b="1" dirty="0">
                <a:latin typeface="Trebuchet MS"/>
                <a:cs typeface="Trebuchet MS"/>
              </a:rPr>
              <a:t>	</a:t>
            </a:r>
            <a:r>
              <a:rPr spc="-25" dirty="0"/>
              <a:t>is</a:t>
            </a:r>
            <a:r>
              <a:rPr dirty="0"/>
              <a:t>	</a:t>
            </a:r>
            <a:r>
              <a:rPr spc="-25" dirty="0"/>
              <a:t>the</a:t>
            </a:r>
            <a:r>
              <a:rPr dirty="0"/>
              <a:t>	</a:t>
            </a:r>
            <a:r>
              <a:rPr spc="-10" dirty="0"/>
              <a:t>geometric</a:t>
            </a:r>
            <a:r>
              <a:rPr dirty="0"/>
              <a:t>	</a:t>
            </a:r>
            <a:r>
              <a:rPr spc="-10" dirty="0"/>
              <a:t>representation</a:t>
            </a:r>
            <a:r>
              <a:rPr dirty="0"/>
              <a:t>	</a:t>
            </a:r>
            <a:r>
              <a:rPr spc="-25" dirty="0"/>
              <a:t>of</a:t>
            </a:r>
            <a:r>
              <a:rPr dirty="0"/>
              <a:t>	</a:t>
            </a:r>
            <a:r>
              <a:rPr spc="-25" dirty="0"/>
              <a:t>all</a:t>
            </a:r>
            <a:r>
              <a:rPr dirty="0"/>
              <a:t>	</a:t>
            </a:r>
            <a:r>
              <a:rPr spc="-100" dirty="0"/>
              <a:t>the 	</a:t>
            </a:r>
            <a:r>
              <a:rPr dirty="0"/>
              <a:t>nodes</a:t>
            </a:r>
            <a:r>
              <a:rPr spc="-180" dirty="0"/>
              <a:t> </a:t>
            </a:r>
            <a:r>
              <a:rPr spc="-65" dirty="0"/>
              <a:t>in</a:t>
            </a:r>
            <a:r>
              <a:rPr spc="-210" dirty="0"/>
              <a:t> </a:t>
            </a:r>
            <a:r>
              <a:rPr dirty="0"/>
              <a:t>a</a:t>
            </a:r>
            <a:r>
              <a:rPr spc="-185" dirty="0"/>
              <a:t> </a:t>
            </a:r>
            <a:r>
              <a:rPr spc="-10" dirty="0"/>
              <a:t>network.</a:t>
            </a:r>
          </a:p>
          <a:p>
            <a:pPr marL="240665" indent="-227965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665" algn="l"/>
              </a:tabLst>
            </a:pPr>
            <a:r>
              <a:rPr spc="-130" dirty="0"/>
              <a:t>There</a:t>
            </a:r>
            <a:r>
              <a:rPr spc="-229" dirty="0"/>
              <a:t> </a:t>
            </a:r>
            <a:r>
              <a:rPr spc="-90" dirty="0"/>
              <a:t>are</a:t>
            </a:r>
            <a:r>
              <a:rPr spc="-229" dirty="0"/>
              <a:t> </a:t>
            </a:r>
            <a:r>
              <a:rPr spc="-45" dirty="0"/>
              <a:t>six</a:t>
            </a:r>
            <a:r>
              <a:rPr spc="-229" dirty="0"/>
              <a:t> </a:t>
            </a:r>
            <a:r>
              <a:rPr spc="-50" dirty="0"/>
              <a:t>types</a:t>
            </a:r>
            <a:r>
              <a:rPr spc="-220" dirty="0"/>
              <a:t> </a:t>
            </a:r>
            <a:r>
              <a:rPr spc="-95" dirty="0"/>
              <a:t>of</a:t>
            </a:r>
            <a:r>
              <a:rPr spc="-250" dirty="0"/>
              <a:t> </a:t>
            </a:r>
            <a:r>
              <a:rPr spc="-95" dirty="0"/>
              <a:t>network</a:t>
            </a:r>
            <a:r>
              <a:rPr spc="-229" dirty="0"/>
              <a:t> </a:t>
            </a:r>
            <a:r>
              <a:rPr spc="-55" dirty="0"/>
              <a:t>topology</a:t>
            </a:r>
            <a:r>
              <a:rPr spc="-229" dirty="0"/>
              <a:t> </a:t>
            </a:r>
            <a:r>
              <a:rPr spc="-40" dirty="0"/>
              <a:t>which</a:t>
            </a:r>
            <a:r>
              <a:rPr spc="-240" dirty="0"/>
              <a:t> </a:t>
            </a:r>
            <a:r>
              <a:rPr spc="-25" dirty="0"/>
              <a:t>are</a:t>
            </a:r>
          </a:p>
          <a:p>
            <a:pPr marL="697230" lvl="1" indent="-227329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spc="95" dirty="0">
                <a:latin typeface="Trebuchet MS"/>
                <a:cs typeface="Trebuchet MS"/>
              </a:rPr>
              <a:t>Bus</a:t>
            </a:r>
            <a:r>
              <a:rPr sz="2400" spc="-24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Topology</a:t>
            </a:r>
            <a:endParaRPr sz="2400">
              <a:latin typeface="Trebuchet MS"/>
              <a:cs typeface="Trebuchet MS"/>
            </a:endParaRPr>
          </a:p>
          <a:p>
            <a:pPr marL="697230" lvl="1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spc="-35" dirty="0">
                <a:latin typeface="Trebuchet MS"/>
                <a:cs typeface="Trebuchet MS"/>
              </a:rPr>
              <a:t>Ring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Topology</a:t>
            </a:r>
            <a:endParaRPr sz="2400">
              <a:latin typeface="Trebuchet MS"/>
              <a:cs typeface="Trebuchet MS"/>
            </a:endParaRPr>
          </a:p>
          <a:p>
            <a:pPr marL="697230" lvl="1" indent="-227329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spc="-165" dirty="0">
                <a:latin typeface="Trebuchet MS"/>
                <a:cs typeface="Trebuchet MS"/>
              </a:rPr>
              <a:t>Tree</a:t>
            </a:r>
            <a:r>
              <a:rPr sz="2400" spc="-22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Topology</a:t>
            </a:r>
            <a:endParaRPr sz="2400">
              <a:latin typeface="Trebuchet MS"/>
              <a:cs typeface="Trebuchet MS"/>
            </a:endParaRPr>
          </a:p>
          <a:p>
            <a:pPr marL="697230" lvl="1" indent="-227329">
              <a:lnSpc>
                <a:spcPct val="100000"/>
              </a:lnSpc>
              <a:spcBef>
                <a:spcPts val="220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spc="-40" dirty="0">
                <a:latin typeface="Trebuchet MS"/>
                <a:cs typeface="Trebuchet MS"/>
              </a:rPr>
              <a:t>Star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Topology</a:t>
            </a:r>
            <a:endParaRPr sz="2400">
              <a:latin typeface="Trebuchet MS"/>
              <a:cs typeface="Trebuchet MS"/>
            </a:endParaRPr>
          </a:p>
          <a:p>
            <a:pPr marL="697230" lvl="1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spc="75" dirty="0">
                <a:latin typeface="Trebuchet MS"/>
                <a:cs typeface="Trebuchet MS"/>
              </a:rPr>
              <a:t>Mesh</a:t>
            </a:r>
            <a:r>
              <a:rPr sz="2400" spc="-229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Topology</a:t>
            </a:r>
            <a:endParaRPr sz="2400">
              <a:latin typeface="Trebuchet MS"/>
              <a:cs typeface="Trebuchet MS"/>
            </a:endParaRPr>
          </a:p>
          <a:p>
            <a:pPr marL="697230" lvl="1" indent="-227329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spc="-55" dirty="0">
                <a:latin typeface="Trebuchet MS"/>
                <a:cs typeface="Trebuchet MS"/>
              </a:rPr>
              <a:t>Hybrid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Topology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9672" y="-1"/>
            <a:ext cx="9717913" cy="68579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Bus</a:t>
            </a:r>
            <a:r>
              <a:rPr spc="-350" dirty="0"/>
              <a:t> </a:t>
            </a:r>
            <a:r>
              <a:rPr spc="-285" dirty="0"/>
              <a:t>Topology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1969"/>
            <a:ext cx="10358120" cy="352171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6350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30" dirty="0">
                <a:latin typeface="Trebuchet MS"/>
                <a:cs typeface="Trebuchet MS"/>
              </a:rPr>
              <a:t>The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80" dirty="0">
                <a:latin typeface="Trebuchet MS"/>
                <a:cs typeface="Trebuchet MS"/>
              </a:rPr>
              <a:t>bus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topology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designed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in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75" dirty="0">
                <a:latin typeface="Trebuchet MS"/>
                <a:cs typeface="Trebuchet MS"/>
              </a:rPr>
              <a:t>such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way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that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all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stations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are 	</a:t>
            </a:r>
            <a:r>
              <a:rPr sz="2800" spc="-30" dirty="0">
                <a:latin typeface="Trebuchet MS"/>
                <a:cs typeface="Trebuchet MS"/>
              </a:rPr>
              <a:t>connected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through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single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cable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known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100" dirty="0">
                <a:latin typeface="Trebuchet MS"/>
                <a:cs typeface="Trebuchet MS"/>
              </a:rPr>
              <a:t>as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b="1" dirty="0">
                <a:latin typeface="Trebuchet MS"/>
                <a:cs typeface="Trebuchet MS"/>
              </a:rPr>
              <a:t>backbone</a:t>
            </a:r>
            <a:r>
              <a:rPr sz="2800" b="1" spc="-240" dirty="0">
                <a:latin typeface="Trebuchet MS"/>
                <a:cs typeface="Trebuchet MS"/>
              </a:rPr>
              <a:t> </a:t>
            </a:r>
            <a:r>
              <a:rPr sz="2800" b="1" spc="-10" dirty="0">
                <a:latin typeface="Trebuchet MS"/>
                <a:cs typeface="Trebuchet MS"/>
              </a:rPr>
              <a:t>cable</a:t>
            </a:r>
            <a:r>
              <a:rPr sz="2800" spc="-10" dirty="0">
                <a:latin typeface="Trebuchet MS"/>
                <a:cs typeface="Trebuchet MS"/>
              </a:rPr>
              <a:t>.</a:t>
            </a:r>
            <a:endParaRPr sz="2800">
              <a:latin typeface="Trebuchet MS"/>
              <a:cs typeface="Trebuchet MS"/>
            </a:endParaRPr>
          </a:p>
          <a:p>
            <a:pPr marL="240029" marR="6985" indent="-227965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rebuchet MS"/>
                <a:cs typeface="Trebuchet MS"/>
              </a:rPr>
              <a:t>Each</a:t>
            </a:r>
            <a:r>
              <a:rPr sz="2800" spc="22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node</a:t>
            </a:r>
            <a:r>
              <a:rPr sz="2800" spc="229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225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either</a:t>
            </a:r>
            <a:r>
              <a:rPr sz="2800" spc="2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connected</a:t>
            </a:r>
            <a:r>
              <a:rPr sz="2800" spc="229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to</a:t>
            </a:r>
            <a:r>
              <a:rPr sz="2800" spc="229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the</a:t>
            </a:r>
            <a:r>
              <a:rPr sz="2800" spc="229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backbone</a:t>
            </a:r>
            <a:r>
              <a:rPr sz="2800" spc="2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cable</a:t>
            </a:r>
            <a:r>
              <a:rPr sz="2800" spc="2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by</a:t>
            </a:r>
            <a:r>
              <a:rPr sz="2800" spc="220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drop 	</a:t>
            </a:r>
            <a:r>
              <a:rPr sz="2800" spc="-35" dirty="0">
                <a:latin typeface="Trebuchet MS"/>
                <a:cs typeface="Trebuchet MS"/>
              </a:rPr>
              <a:t>cable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or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directly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connected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to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backbone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cable.</a:t>
            </a:r>
            <a:endParaRPr sz="2800">
              <a:latin typeface="Trebuchet MS"/>
              <a:cs typeface="Trebuchet MS"/>
            </a:endParaRPr>
          </a:p>
          <a:p>
            <a:pPr marL="240029" marR="5080" indent="-227965">
              <a:lnSpc>
                <a:spcPts val="302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rebuchet MS"/>
                <a:cs typeface="Trebuchet MS"/>
              </a:rPr>
              <a:t>When</a:t>
            </a:r>
            <a:r>
              <a:rPr sz="2800" spc="-15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1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node</a:t>
            </a:r>
            <a:r>
              <a:rPr sz="2800" spc="-150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wants</a:t>
            </a:r>
            <a:r>
              <a:rPr sz="2800" spc="-155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to</a:t>
            </a:r>
            <a:r>
              <a:rPr sz="2800" spc="-1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send</a:t>
            </a:r>
            <a:r>
              <a:rPr sz="2800" spc="-1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160" dirty="0">
                <a:latin typeface="Trebuchet MS"/>
                <a:cs typeface="Trebuchet MS"/>
              </a:rPr>
              <a:t> </a:t>
            </a:r>
            <a:r>
              <a:rPr sz="2800" spc="50" dirty="0">
                <a:latin typeface="Trebuchet MS"/>
                <a:cs typeface="Trebuchet MS"/>
              </a:rPr>
              <a:t>message</a:t>
            </a:r>
            <a:r>
              <a:rPr sz="2800" spc="-170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over</a:t>
            </a:r>
            <a:r>
              <a:rPr sz="2800" spc="-14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155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network,</a:t>
            </a:r>
            <a:r>
              <a:rPr sz="2800" spc="-140" dirty="0">
                <a:latin typeface="Trebuchet MS"/>
                <a:cs typeface="Trebuchet MS"/>
              </a:rPr>
              <a:t> </a:t>
            </a:r>
            <a:r>
              <a:rPr sz="2800" spc="-180" dirty="0">
                <a:latin typeface="Trebuchet MS"/>
                <a:cs typeface="Trebuchet MS"/>
              </a:rPr>
              <a:t>it</a:t>
            </a:r>
            <a:r>
              <a:rPr sz="2800" spc="-16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puts</a:t>
            </a:r>
            <a:r>
              <a:rPr sz="2800" spc="-135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a 	</a:t>
            </a:r>
            <a:r>
              <a:rPr sz="2800" dirty="0">
                <a:latin typeface="Trebuchet MS"/>
                <a:cs typeface="Trebuchet MS"/>
              </a:rPr>
              <a:t>message</a:t>
            </a:r>
            <a:r>
              <a:rPr sz="2800" spc="-140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over</a:t>
            </a:r>
            <a:r>
              <a:rPr sz="2800" spc="-18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17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network.</a:t>
            </a:r>
            <a:endParaRPr sz="2800">
              <a:latin typeface="Trebuchet MS"/>
              <a:cs typeface="Trebuchet MS"/>
            </a:endParaRPr>
          </a:p>
          <a:p>
            <a:pPr marL="240029" marR="6350" indent="-227965">
              <a:lnSpc>
                <a:spcPts val="302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rebuchet MS"/>
                <a:cs typeface="Trebuchet MS"/>
              </a:rPr>
              <a:t>All</a:t>
            </a:r>
            <a:r>
              <a:rPr sz="2800" spc="-150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the</a:t>
            </a:r>
            <a:r>
              <a:rPr sz="2800" spc="-1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stations</a:t>
            </a:r>
            <a:r>
              <a:rPr sz="2800" spc="-140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available</a:t>
            </a:r>
            <a:r>
              <a:rPr sz="2800" spc="-1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in</a:t>
            </a:r>
            <a:r>
              <a:rPr sz="2800" spc="-145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the</a:t>
            </a:r>
            <a:r>
              <a:rPr sz="2800" spc="-140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network</a:t>
            </a:r>
            <a:r>
              <a:rPr sz="2800" spc="-135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will</a:t>
            </a:r>
            <a:r>
              <a:rPr sz="2800" spc="-130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receive</a:t>
            </a:r>
            <a:r>
              <a:rPr sz="2800" spc="-130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the</a:t>
            </a:r>
            <a:r>
              <a:rPr sz="2800" spc="-14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message 	</a:t>
            </a:r>
            <a:r>
              <a:rPr sz="2800" spc="-85" dirty="0">
                <a:latin typeface="Trebuchet MS"/>
                <a:cs typeface="Trebuchet MS"/>
              </a:rPr>
              <a:t>whether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180" dirty="0">
                <a:latin typeface="Trebuchet MS"/>
                <a:cs typeface="Trebuchet MS"/>
              </a:rPr>
              <a:t>it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65" dirty="0">
                <a:latin typeface="Trebuchet MS"/>
                <a:cs typeface="Trebuchet MS"/>
              </a:rPr>
              <a:t>has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been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addressed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or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not.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Bus</a:t>
            </a:r>
            <a:r>
              <a:rPr spc="-350" dirty="0"/>
              <a:t> </a:t>
            </a:r>
            <a:r>
              <a:rPr spc="-285" dirty="0"/>
              <a:t>Topology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1969"/>
            <a:ext cx="10357485" cy="352171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rebuchet MS"/>
                <a:cs typeface="Trebuchet MS"/>
              </a:rPr>
              <a:t>The</a:t>
            </a:r>
            <a:r>
              <a:rPr sz="2800" spc="204" dirty="0">
                <a:latin typeface="Trebuchet MS"/>
                <a:cs typeface="Trebuchet MS"/>
              </a:rPr>
              <a:t> </a:t>
            </a:r>
            <a:r>
              <a:rPr sz="2800" spc="80" dirty="0">
                <a:latin typeface="Trebuchet MS"/>
                <a:cs typeface="Trebuchet MS"/>
              </a:rPr>
              <a:t>bus</a:t>
            </a:r>
            <a:r>
              <a:rPr sz="2800" spc="204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topology</a:t>
            </a:r>
            <a:r>
              <a:rPr sz="2800" spc="21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20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mainly</a:t>
            </a:r>
            <a:r>
              <a:rPr sz="2800" spc="20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used</a:t>
            </a:r>
            <a:r>
              <a:rPr sz="2800" spc="21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in</a:t>
            </a:r>
            <a:r>
              <a:rPr sz="2800" spc="204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802.3</a:t>
            </a:r>
            <a:r>
              <a:rPr sz="2800" spc="200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(ethernet)</a:t>
            </a:r>
            <a:r>
              <a:rPr sz="2800" spc="204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21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802.4 	</a:t>
            </a:r>
            <a:r>
              <a:rPr sz="2800" spc="-35" dirty="0">
                <a:latin typeface="Trebuchet MS"/>
                <a:cs typeface="Trebuchet MS"/>
              </a:rPr>
              <a:t>standard</a:t>
            </a:r>
            <a:r>
              <a:rPr sz="2800" spc="-19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networks.</a:t>
            </a:r>
            <a:endParaRPr sz="2800">
              <a:latin typeface="Trebuchet MS"/>
              <a:cs typeface="Trebuchet MS"/>
            </a:endParaRPr>
          </a:p>
          <a:p>
            <a:pPr marL="240029" marR="5715" indent="-227965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14" dirty="0">
                <a:latin typeface="Trebuchet MS"/>
                <a:cs typeface="Trebuchet MS"/>
              </a:rPr>
              <a:t>The</a:t>
            </a:r>
            <a:r>
              <a:rPr sz="2800" spc="-90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configuration</a:t>
            </a:r>
            <a:r>
              <a:rPr sz="2800" spc="-90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of</a:t>
            </a:r>
            <a:r>
              <a:rPr sz="2800" spc="-10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95" dirty="0">
                <a:latin typeface="Trebuchet MS"/>
                <a:cs typeface="Trebuchet MS"/>
              </a:rPr>
              <a:t> </a:t>
            </a:r>
            <a:r>
              <a:rPr sz="2800" spc="80" dirty="0">
                <a:latin typeface="Trebuchet MS"/>
                <a:cs typeface="Trebuchet MS"/>
              </a:rPr>
              <a:t>bus</a:t>
            </a:r>
            <a:r>
              <a:rPr sz="2800" spc="-90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topology</a:t>
            </a:r>
            <a:r>
              <a:rPr sz="2800" spc="-8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8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quite</a:t>
            </a:r>
            <a:r>
              <a:rPr sz="2800" spc="-95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simpler</a:t>
            </a:r>
            <a:r>
              <a:rPr sz="2800" spc="-85" dirty="0">
                <a:latin typeface="Trebuchet MS"/>
                <a:cs typeface="Trebuchet MS"/>
              </a:rPr>
              <a:t> </a:t>
            </a:r>
            <a:r>
              <a:rPr sz="2800" spc="100" dirty="0">
                <a:latin typeface="Trebuchet MS"/>
                <a:cs typeface="Trebuchet MS"/>
              </a:rPr>
              <a:t>as</a:t>
            </a:r>
            <a:r>
              <a:rPr sz="2800" spc="-9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compared 	</a:t>
            </a:r>
            <a:r>
              <a:rPr sz="2800" spc="-105" dirty="0">
                <a:latin typeface="Trebuchet MS"/>
                <a:cs typeface="Trebuchet MS"/>
              </a:rPr>
              <a:t>to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other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topologies.</a:t>
            </a:r>
            <a:endParaRPr sz="2800">
              <a:latin typeface="Trebuchet MS"/>
              <a:cs typeface="Trebuchet MS"/>
            </a:endParaRPr>
          </a:p>
          <a:p>
            <a:pPr marL="240029" marR="5080" indent="-227965">
              <a:lnSpc>
                <a:spcPts val="302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  <a:tab pos="972819" algn="l"/>
                <a:tab pos="2684780" algn="l"/>
                <a:tab pos="3719195" algn="l"/>
                <a:tab pos="4156710" algn="l"/>
                <a:tab pos="6063615" algn="l"/>
                <a:tab pos="6605905" algn="l"/>
                <a:tab pos="6976109" algn="l"/>
                <a:tab pos="8187055" algn="l"/>
                <a:tab pos="9157335" algn="l"/>
              </a:tabLst>
            </a:pPr>
            <a:r>
              <a:rPr sz="2800" spc="-25" dirty="0">
                <a:latin typeface="Trebuchet MS"/>
                <a:cs typeface="Trebuchet MS"/>
              </a:rPr>
              <a:t>The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10" dirty="0">
                <a:latin typeface="Trebuchet MS"/>
                <a:cs typeface="Trebuchet MS"/>
              </a:rPr>
              <a:t>backbone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10" dirty="0">
                <a:latin typeface="Trebuchet MS"/>
                <a:cs typeface="Trebuchet MS"/>
              </a:rPr>
              <a:t>cable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25" dirty="0">
                <a:latin typeface="Trebuchet MS"/>
                <a:cs typeface="Trebuchet MS"/>
              </a:rPr>
              <a:t>is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10" dirty="0">
                <a:latin typeface="Trebuchet MS"/>
                <a:cs typeface="Trebuchet MS"/>
              </a:rPr>
              <a:t>considered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85" dirty="0">
                <a:latin typeface="Trebuchet MS"/>
                <a:cs typeface="Trebuchet MS"/>
              </a:rPr>
              <a:t>as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50" dirty="0">
                <a:latin typeface="Trebuchet MS"/>
                <a:cs typeface="Trebuchet MS"/>
              </a:rPr>
              <a:t>a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10" dirty="0">
                <a:latin typeface="Trebuchet MS"/>
                <a:cs typeface="Trebuchet MS"/>
              </a:rPr>
              <a:t>"single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10" dirty="0">
                <a:latin typeface="Trebuchet MS"/>
                <a:cs typeface="Trebuchet MS"/>
              </a:rPr>
              <a:t>lane"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60" dirty="0">
                <a:latin typeface="Trebuchet MS"/>
                <a:cs typeface="Trebuchet MS"/>
              </a:rPr>
              <a:t>through 	</a:t>
            </a:r>
            <a:r>
              <a:rPr sz="2800" spc="-30" dirty="0">
                <a:latin typeface="Trebuchet MS"/>
                <a:cs typeface="Trebuchet MS"/>
              </a:rPr>
              <a:t>which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the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message</a:t>
            </a:r>
            <a:r>
              <a:rPr sz="2800" spc="-16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broadcast</a:t>
            </a:r>
            <a:r>
              <a:rPr sz="2800" spc="-195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to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all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the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stations.</a:t>
            </a:r>
            <a:endParaRPr sz="2800">
              <a:latin typeface="Trebuchet MS"/>
              <a:cs typeface="Trebuchet MS"/>
            </a:endParaRPr>
          </a:p>
          <a:p>
            <a:pPr marL="240665" indent="-227965">
              <a:lnSpc>
                <a:spcPts val="3190"/>
              </a:lnSpc>
              <a:spcBef>
                <a:spcPts val="62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spc="-130" dirty="0">
                <a:latin typeface="Trebuchet MS"/>
                <a:cs typeface="Trebuchet MS"/>
              </a:rPr>
              <a:t>The</a:t>
            </a:r>
            <a:r>
              <a:rPr sz="2800" spc="-114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most</a:t>
            </a:r>
            <a:r>
              <a:rPr sz="2800" spc="-9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common</a:t>
            </a:r>
            <a:r>
              <a:rPr sz="2800" spc="-90" dirty="0">
                <a:latin typeface="Trebuchet MS"/>
                <a:cs typeface="Trebuchet MS"/>
              </a:rPr>
              <a:t> </a:t>
            </a:r>
            <a:r>
              <a:rPr sz="2800" spc="90" dirty="0">
                <a:latin typeface="Trebuchet MS"/>
                <a:cs typeface="Trebuchet MS"/>
              </a:rPr>
              <a:t>access</a:t>
            </a:r>
            <a:r>
              <a:rPr sz="2800" spc="-9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method</a:t>
            </a:r>
            <a:r>
              <a:rPr sz="2800" spc="-100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of</a:t>
            </a:r>
            <a:r>
              <a:rPr sz="2800" spc="-120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the</a:t>
            </a:r>
            <a:r>
              <a:rPr sz="2800" spc="-114" dirty="0">
                <a:latin typeface="Trebuchet MS"/>
                <a:cs typeface="Trebuchet MS"/>
              </a:rPr>
              <a:t> </a:t>
            </a:r>
            <a:r>
              <a:rPr sz="2800" spc="80" dirty="0">
                <a:latin typeface="Trebuchet MS"/>
                <a:cs typeface="Trebuchet MS"/>
              </a:rPr>
              <a:t>bus</a:t>
            </a:r>
            <a:r>
              <a:rPr sz="2800" spc="-105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topologies</a:t>
            </a:r>
            <a:r>
              <a:rPr sz="2800" spc="-11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105" dirty="0">
                <a:latin typeface="Trebuchet MS"/>
                <a:cs typeface="Trebuchet MS"/>
              </a:rPr>
              <a:t> </a:t>
            </a:r>
            <a:r>
              <a:rPr sz="2800" b="1" i="1" spc="130" dirty="0">
                <a:latin typeface="Trebuchet MS"/>
                <a:cs typeface="Trebuchet MS"/>
              </a:rPr>
              <a:t>CSMA</a:t>
            </a:r>
            <a:endParaRPr sz="2800">
              <a:latin typeface="Trebuchet MS"/>
              <a:cs typeface="Trebuchet MS"/>
            </a:endParaRPr>
          </a:p>
          <a:p>
            <a:pPr marL="241300">
              <a:lnSpc>
                <a:spcPts val="3190"/>
              </a:lnSpc>
            </a:pPr>
            <a:r>
              <a:rPr sz="2800" spc="-85" dirty="0">
                <a:latin typeface="Trebuchet MS"/>
                <a:cs typeface="Trebuchet MS"/>
              </a:rPr>
              <a:t>(Carrier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70" dirty="0">
                <a:latin typeface="Trebuchet MS"/>
                <a:cs typeface="Trebuchet MS"/>
              </a:rPr>
              <a:t>Sense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Multiple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Access).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Bus</a:t>
            </a:r>
            <a:r>
              <a:rPr spc="-350" dirty="0"/>
              <a:t> </a:t>
            </a:r>
            <a:r>
              <a:rPr spc="-285" dirty="0"/>
              <a:t>Topology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01897" y="2059751"/>
            <a:ext cx="6665086" cy="285756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028428" y="4274286"/>
            <a:ext cx="1508760" cy="64643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L="130810" marR="120014" indent="50165">
              <a:lnSpc>
                <a:spcPct val="100000"/>
              </a:lnSpc>
              <a:spcBef>
                <a:spcPts val="220"/>
              </a:spcBef>
            </a:pPr>
            <a:r>
              <a:rPr sz="1800" b="1" spc="-10" dirty="0">
                <a:latin typeface="Trebuchet MS"/>
                <a:cs typeface="Trebuchet MS"/>
              </a:rPr>
              <a:t>Droplines</a:t>
            </a:r>
            <a:r>
              <a:rPr sz="1800" b="1" spc="-105" dirty="0">
                <a:latin typeface="Trebuchet MS"/>
                <a:cs typeface="Trebuchet MS"/>
              </a:rPr>
              <a:t> </a:t>
            </a:r>
            <a:r>
              <a:rPr sz="1800" b="1" spc="-50" dirty="0">
                <a:latin typeface="Trebuchet MS"/>
                <a:cs typeface="Trebuchet MS"/>
              </a:rPr>
              <a:t>/ </a:t>
            </a:r>
            <a:r>
              <a:rPr sz="1800" b="1" spc="-10" dirty="0">
                <a:latin typeface="Trebuchet MS"/>
                <a:cs typeface="Trebuchet MS"/>
              </a:rPr>
              <a:t>Drop</a:t>
            </a:r>
            <a:r>
              <a:rPr sz="1800" b="1" spc="-175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cables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441431" y="2385428"/>
            <a:ext cx="1321435" cy="36957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L="99695">
              <a:lnSpc>
                <a:spcPct val="100000"/>
              </a:lnSpc>
              <a:spcBef>
                <a:spcPts val="220"/>
              </a:spcBef>
            </a:pPr>
            <a:r>
              <a:rPr sz="1800" b="1" spc="-10" dirty="0">
                <a:latin typeface="Trebuchet MS"/>
                <a:cs typeface="Trebuchet MS"/>
              </a:rPr>
              <a:t>Terminator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227198" y="2754757"/>
            <a:ext cx="8884285" cy="1519555"/>
            <a:chOff x="2227198" y="2754757"/>
            <a:chExt cx="8884285" cy="1519555"/>
          </a:xfrm>
        </p:grpSpPr>
        <p:sp>
          <p:nvSpPr>
            <p:cNvPr id="7" name="object 7"/>
            <p:cNvSpPr/>
            <p:nvPr/>
          </p:nvSpPr>
          <p:spPr>
            <a:xfrm>
              <a:off x="8219821" y="3500005"/>
              <a:ext cx="2572385" cy="774700"/>
            </a:xfrm>
            <a:custGeom>
              <a:avLst/>
              <a:gdLst/>
              <a:ahLst/>
              <a:cxnLst/>
              <a:rect l="l" t="t" r="r" b="b"/>
              <a:pathLst>
                <a:path w="2572384" h="774700">
                  <a:moveTo>
                    <a:pt x="79756" y="352412"/>
                  </a:moveTo>
                  <a:lnTo>
                    <a:pt x="76200" y="352412"/>
                  </a:lnTo>
                  <a:lnTo>
                    <a:pt x="76200" y="323837"/>
                  </a:lnTo>
                  <a:lnTo>
                    <a:pt x="0" y="361937"/>
                  </a:lnTo>
                  <a:lnTo>
                    <a:pt x="76200" y="400037"/>
                  </a:lnTo>
                  <a:lnTo>
                    <a:pt x="76200" y="371462"/>
                  </a:lnTo>
                  <a:lnTo>
                    <a:pt x="79756" y="371462"/>
                  </a:lnTo>
                  <a:lnTo>
                    <a:pt x="79756" y="352412"/>
                  </a:lnTo>
                  <a:close/>
                </a:path>
                <a:path w="2572384" h="774700">
                  <a:moveTo>
                    <a:pt x="155956" y="352412"/>
                  </a:moveTo>
                  <a:lnTo>
                    <a:pt x="98806" y="352412"/>
                  </a:lnTo>
                  <a:lnTo>
                    <a:pt x="98806" y="371462"/>
                  </a:lnTo>
                  <a:lnTo>
                    <a:pt x="155956" y="371462"/>
                  </a:lnTo>
                  <a:lnTo>
                    <a:pt x="155956" y="352412"/>
                  </a:lnTo>
                  <a:close/>
                </a:path>
                <a:path w="2572384" h="774700">
                  <a:moveTo>
                    <a:pt x="232156" y="352412"/>
                  </a:moveTo>
                  <a:lnTo>
                    <a:pt x="175006" y="352412"/>
                  </a:lnTo>
                  <a:lnTo>
                    <a:pt x="175006" y="371462"/>
                  </a:lnTo>
                  <a:lnTo>
                    <a:pt x="232156" y="371462"/>
                  </a:lnTo>
                  <a:lnTo>
                    <a:pt x="232156" y="352412"/>
                  </a:lnTo>
                  <a:close/>
                </a:path>
                <a:path w="2572384" h="774700">
                  <a:moveTo>
                    <a:pt x="308356" y="352412"/>
                  </a:moveTo>
                  <a:lnTo>
                    <a:pt x="251206" y="352412"/>
                  </a:lnTo>
                  <a:lnTo>
                    <a:pt x="251206" y="371462"/>
                  </a:lnTo>
                  <a:lnTo>
                    <a:pt x="308356" y="371462"/>
                  </a:lnTo>
                  <a:lnTo>
                    <a:pt x="308356" y="352412"/>
                  </a:lnTo>
                  <a:close/>
                </a:path>
                <a:path w="2572384" h="774700">
                  <a:moveTo>
                    <a:pt x="384556" y="352412"/>
                  </a:moveTo>
                  <a:lnTo>
                    <a:pt x="327406" y="352412"/>
                  </a:lnTo>
                  <a:lnTo>
                    <a:pt x="327406" y="371462"/>
                  </a:lnTo>
                  <a:lnTo>
                    <a:pt x="384556" y="371462"/>
                  </a:lnTo>
                  <a:lnTo>
                    <a:pt x="384556" y="352412"/>
                  </a:lnTo>
                  <a:close/>
                </a:path>
                <a:path w="2572384" h="774700">
                  <a:moveTo>
                    <a:pt x="460756" y="352412"/>
                  </a:moveTo>
                  <a:lnTo>
                    <a:pt x="403606" y="352412"/>
                  </a:lnTo>
                  <a:lnTo>
                    <a:pt x="403606" y="371462"/>
                  </a:lnTo>
                  <a:lnTo>
                    <a:pt x="460756" y="371462"/>
                  </a:lnTo>
                  <a:lnTo>
                    <a:pt x="460756" y="352412"/>
                  </a:lnTo>
                  <a:close/>
                </a:path>
                <a:path w="2572384" h="774700">
                  <a:moveTo>
                    <a:pt x="536956" y="352412"/>
                  </a:moveTo>
                  <a:lnTo>
                    <a:pt x="479806" y="352412"/>
                  </a:lnTo>
                  <a:lnTo>
                    <a:pt x="479806" y="371462"/>
                  </a:lnTo>
                  <a:lnTo>
                    <a:pt x="536956" y="371462"/>
                  </a:lnTo>
                  <a:lnTo>
                    <a:pt x="536956" y="352412"/>
                  </a:lnTo>
                  <a:close/>
                </a:path>
                <a:path w="2572384" h="774700">
                  <a:moveTo>
                    <a:pt x="613156" y="352412"/>
                  </a:moveTo>
                  <a:lnTo>
                    <a:pt x="556006" y="352412"/>
                  </a:lnTo>
                  <a:lnTo>
                    <a:pt x="556006" y="371462"/>
                  </a:lnTo>
                  <a:lnTo>
                    <a:pt x="613156" y="371462"/>
                  </a:lnTo>
                  <a:lnTo>
                    <a:pt x="613156" y="352412"/>
                  </a:lnTo>
                  <a:close/>
                </a:path>
                <a:path w="2572384" h="774700">
                  <a:moveTo>
                    <a:pt x="689356" y="352412"/>
                  </a:moveTo>
                  <a:lnTo>
                    <a:pt x="632206" y="352412"/>
                  </a:lnTo>
                  <a:lnTo>
                    <a:pt x="632206" y="371462"/>
                  </a:lnTo>
                  <a:lnTo>
                    <a:pt x="689356" y="371462"/>
                  </a:lnTo>
                  <a:lnTo>
                    <a:pt x="689356" y="352412"/>
                  </a:lnTo>
                  <a:close/>
                </a:path>
                <a:path w="2572384" h="774700">
                  <a:moveTo>
                    <a:pt x="765556" y="352412"/>
                  </a:moveTo>
                  <a:lnTo>
                    <a:pt x="708406" y="352412"/>
                  </a:lnTo>
                  <a:lnTo>
                    <a:pt x="708406" y="371462"/>
                  </a:lnTo>
                  <a:lnTo>
                    <a:pt x="765556" y="371462"/>
                  </a:lnTo>
                  <a:lnTo>
                    <a:pt x="765556" y="352412"/>
                  </a:lnTo>
                  <a:close/>
                </a:path>
                <a:path w="2572384" h="774700">
                  <a:moveTo>
                    <a:pt x="841756" y="352412"/>
                  </a:moveTo>
                  <a:lnTo>
                    <a:pt x="784606" y="352412"/>
                  </a:lnTo>
                  <a:lnTo>
                    <a:pt x="784606" y="371462"/>
                  </a:lnTo>
                  <a:lnTo>
                    <a:pt x="841756" y="371462"/>
                  </a:lnTo>
                  <a:lnTo>
                    <a:pt x="841756" y="352412"/>
                  </a:lnTo>
                  <a:close/>
                </a:path>
                <a:path w="2572384" h="774700">
                  <a:moveTo>
                    <a:pt x="917956" y="352412"/>
                  </a:moveTo>
                  <a:lnTo>
                    <a:pt x="860806" y="352412"/>
                  </a:lnTo>
                  <a:lnTo>
                    <a:pt x="860806" y="371462"/>
                  </a:lnTo>
                  <a:lnTo>
                    <a:pt x="917956" y="371462"/>
                  </a:lnTo>
                  <a:lnTo>
                    <a:pt x="917956" y="352412"/>
                  </a:lnTo>
                  <a:close/>
                </a:path>
                <a:path w="2572384" h="774700">
                  <a:moveTo>
                    <a:pt x="994156" y="352412"/>
                  </a:moveTo>
                  <a:lnTo>
                    <a:pt x="937006" y="352412"/>
                  </a:lnTo>
                  <a:lnTo>
                    <a:pt x="937006" y="371462"/>
                  </a:lnTo>
                  <a:lnTo>
                    <a:pt x="994156" y="371462"/>
                  </a:lnTo>
                  <a:lnTo>
                    <a:pt x="994156" y="352412"/>
                  </a:lnTo>
                  <a:close/>
                </a:path>
                <a:path w="2572384" h="774700">
                  <a:moveTo>
                    <a:pt x="1070356" y="352412"/>
                  </a:moveTo>
                  <a:lnTo>
                    <a:pt x="1013206" y="352412"/>
                  </a:lnTo>
                  <a:lnTo>
                    <a:pt x="1013206" y="371462"/>
                  </a:lnTo>
                  <a:lnTo>
                    <a:pt x="1070356" y="371462"/>
                  </a:lnTo>
                  <a:lnTo>
                    <a:pt x="1070356" y="352412"/>
                  </a:lnTo>
                  <a:close/>
                </a:path>
                <a:path w="2572384" h="774700">
                  <a:moveTo>
                    <a:pt x="1146556" y="352412"/>
                  </a:moveTo>
                  <a:lnTo>
                    <a:pt x="1089406" y="352412"/>
                  </a:lnTo>
                  <a:lnTo>
                    <a:pt x="1089406" y="371462"/>
                  </a:lnTo>
                  <a:lnTo>
                    <a:pt x="1146556" y="371462"/>
                  </a:lnTo>
                  <a:lnTo>
                    <a:pt x="1146556" y="352412"/>
                  </a:lnTo>
                  <a:close/>
                </a:path>
                <a:path w="2572384" h="774700">
                  <a:moveTo>
                    <a:pt x="1222756" y="352412"/>
                  </a:moveTo>
                  <a:lnTo>
                    <a:pt x="1165606" y="352412"/>
                  </a:lnTo>
                  <a:lnTo>
                    <a:pt x="1165606" y="371462"/>
                  </a:lnTo>
                  <a:lnTo>
                    <a:pt x="1222756" y="371462"/>
                  </a:lnTo>
                  <a:lnTo>
                    <a:pt x="1222756" y="352412"/>
                  </a:lnTo>
                  <a:close/>
                </a:path>
                <a:path w="2572384" h="774700">
                  <a:moveTo>
                    <a:pt x="1298956" y="352412"/>
                  </a:moveTo>
                  <a:lnTo>
                    <a:pt x="1241806" y="352412"/>
                  </a:lnTo>
                  <a:lnTo>
                    <a:pt x="1241806" y="371462"/>
                  </a:lnTo>
                  <a:lnTo>
                    <a:pt x="1298956" y="371462"/>
                  </a:lnTo>
                  <a:lnTo>
                    <a:pt x="1298956" y="352412"/>
                  </a:lnTo>
                  <a:close/>
                </a:path>
                <a:path w="2572384" h="774700">
                  <a:moveTo>
                    <a:pt x="1375156" y="352412"/>
                  </a:moveTo>
                  <a:lnTo>
                    <a:pt x="1318006" y="352412"/>
                  </a:lnTo>
                  <a:lnTo>
                    <a:pt x="1318006" y="371462"/>
                  </a:lnTo>
                  <a:lnTo>
                    <a:pt x="1375156" y="371462"/>
                  </a:lnTo>
                  <a:lnTo>
                    <a:pt x="1375156" y="352412"/>
                  </a:lnTo>
                  <a:close/>
                </a:path>
                <a:path w="2572384" h="774700">
                  <a:moveTo>
                    <a:pt x="1451356" y="352412"/>
                  </a:moveTo>
                  <a:lnTo>
                    <a:pt x="1394206" y="352412"/>
                  </a:lnTo>
                  <a:lnTo>
                    <a:pt x="1394206" y="371462"/>
                  </a:lnTo>
                  <a:lnTo>
                    <a:pt x="1451356" y="371462"/>
                  </a:lnTo>
                  <a:lnTo>
                    <a:pt x="1451356" y="352412"/>
                  </a:lnTo>
                  <a:close/>
                </a:path>
                <a:path w="2572384" h="774700">
                  <a:moveTo>
                    <a:pt x="1527556" y="352412"/>
                  </a:moveTo>
                  <a:lnTo>
                    <a:pt x="1470406" y="352412"/>
                  </a:lnTo>
                  <a:lnTo>
                    <a:pt x="1470406" y="371462"/>
                  </a:lnTo>
                  <a:lnTo>
                    <a:pt x="1527556" y="371462"/>
                  </a:lnTo>
                  <a:lnTo>
                    <a:pt x="1527556" y="352412"/>
                  </a:lnTo>
                  <a:close/>
                </a:path>
                <a:path w="2572384" h="774700">
                  <a:moveTo>
                    <a:pt x="1603756" y="352412"/>
                  </a:moveTo>
                  <a:lnTo>
                    <a:pt x="1546606" y="352412"/>
                  </a:lnTo>
                  <a:lnTo>
                    <a:pt x="1546606" y="371462"/>
                  </a:lnTo>
                  <a:lnTo>
                    <a:pt x="1603756" y="371462"/>
                  </a:lnTo>
                  <a:lnTo>
                    <a:pt x="1603756" y="352412"/>
                  </a:lnTo>
                  <a:close/>
                </a:path>
                <a:path w="2572384" h="774700">
                  <a:moveTo>
                    <a:pt x="1679956" y="352412"/>
                  </a:moveTo>
                  <a:lnTo>
                    <a:pt x="1622806" y="352412"/>
                  </a:lnTo>
                  <a:lnTo>
                    <a:pt x="1622806" y="371462"/>
                  </a:lnTo>
                  <a:lnTo>
                    <a:pt x="1679956" y="371462"/>
                  </a:lnTo>
                  <a:lnTo>
                    <a:pt x="1679956" y="352412"/>
                  </a:lnTo>
                  <a:close/>
                </a:path>
                <a:path w="2572384" h="774700">
                  <a:moveTo>
                    <a:pt x="1756156" y="352412"/>
                  </a:moveTo>
                  <a:lnTo>
                    <a:pt x="1699006" y="352412"/>
                  </a:lnTo>
                  <a:lnTo>
                    <a:pt x="1699006" y="371462"/>
                  </a:lnTo>
                  <a:lnTo>
                    <a:pt x="1756156" y="371462"/>
                  </a:lnTo>
                  <a:lnTo>
                    <a:pt x="1756156" y="352412"/>
                  </a:lnTo>
                  <a:close/>
                </a:path>
                <a:path w="2572384" h="774700">
                  <a:moveTo>
                    <a:pt x="1832356" y="352412"/>
                  </a:moveTo>
                  <a:lnTo>
                    <a:pt x="1775206" y="352412"/>
                  </a:lnTo>
                  <a:lnTo>
                    <a:pt x="1775206" y="371462"/>
                  </a:lnTo>
                  <a:lnTo>
                    <a:pt x="1832356" y="371462"/>
                  </a:lnTo>
                  <a:lnTo>
                    <a:pt x="1832356" y="352412"/>
                  </a:lnTo>
                  <a:close/>
                </a:path>
                <a:path w="2572384" h="774700">
                  <a:moveTo>
                    <a:pt x="1837753" y="0"/>
                  </a:moveTo>
                  <a:lnTo>
                    <a:pt x="1779397" y="0"/>
                  </a:lnTo>
                  <a:lnTo>
                    <a:pt x="1779397" y="243192"/>
                  </a:lnTo>
                  <a:lnTo>
                    <a:pt x="1837753" y="243192"/>
                  </a:lnTo>
                  <a:lnTo>
                    <a:pt x="1837753" y="0"/>
                  </a:lnTo>
                  <a:close/>
                </a:path>
                <a:path w="2572384" h="774700">
                  <a:moveTo>
                    <a:pt x="1908556" y="352412"/>
                  </a:moveTo>
                  <a:lnTo>
                    <a:pt x="1851406" y="352412"/>
                  </a:lnTo>
                  <a:lnTo>
                    <a:pt x="1851406" y="371462"/>
                  </a:lnTo>
                  <a:lnTo>
                    <a:pt x="1908556" y="371462"/>
                  </a:lnTo>
                  <a:lnTo>
                    <a:pt x="1908556" y="352412"/>
                  </a:lnTo>
                  <a:close/>
                </a:path>
                <a:path w="2572384" h="774700">
                  <a:moveTo>
                    <a:pt x="1984756" y="352412"/>
                  </a:moveTo>
                  <a:lnTo>
                    <a:pt x="1927606" y="352412"/>
                  </a:lnTo>
                  <a:lnTo>
                    <a:pt x="1927606" y="371462"/>
                  </a:lnTo>
                  <a:lnTo>
                    <a:pt x="1984756" y="371462"/>
                  </a:lnTo>
                  <a:lnTo>
                    <a:pt x="1984756" y="352412"/>
                  </a:lnTo>
                  <a:close/>
                </a:path>
                <a:path w="2572384" h="774700">
                  <a:moveTo>
                    <a:pt x="2060956" y="352412"/>
                  </a:moveTo>
                  <a:lnTo>
                    <a:pt x="2003806" y="352412"/>
                  </a:lnTo>
                  <a:lnTo>
                    <a:pt x="2003806" y="371462"/>
                  </a:lnTo>
                  <a:lnTo>
                    <a:pt x="2060956" y="371462"/>
                  </a:lnTo>
                  <a:lnTo>
                    <a:pt x="2060956" y="352412"/>
                  </a:lnTo>
                  <a:close/>
                </a:path>
                <a:path w="2572384" h="774700">
                  <a:moveTo>
                    <a:pt x="2137156" y="352412"/>
                  </a:moveTo>
                  <a:lnTo>
                    <a:pt x="2080006" y="352412"/>
                  </a:lnTo>
                  <a:lnTo>
                    <a:pt x="2080006" y="371462"/>
                  </a:lnTo>
                  <a:lnTo>
                    <a:pt x="2137156" y="371462"/>
                  </a:lnTo>
                  <a:lnTo>
                    <a:pt x="2137156" y="352412"/>
                  </a:lnTo>
                  <a:close/>
                </a:path>
                <a:path w="2572384" h="774700">
                  <a:moveTo>
                    <a:pt x="2213356" y="352412"/>
                  </a:moveTo>
                  <a:lnTo>
                    <a:pt x="2156206" y="352412"/>
                  </a:lnTo>
                  <a:lnTo>
                    <a:pt x="2156206" y="371462"/>
                  </a:lnTo>
                  <a:lnTo>
                    <a:pt x="2213356" y="371462"/>
                  </a:lnTo>
                  <a:lnTo>
                    <a:pt x="2213356" y="352412"/>
                  </a:lnTo>
                  <a:close/>
                </a:path>
                <a:path w="2572384" h="774700">
                  <a:moveTo>
                    <a:pt x="2289556" y="352412"/>
                  </a:moveTo>
                  <a:lnTo>
                    <a:pt x="2232406" y="352412"/>
                  </a:lnTo>
                  <a:lnTo>
                    <a:pt x="2232406" y="371462"/>
                  </a:lnTo>
                  <a:lnTo>
                    <a:pt x="2289556" y="371462"/>
                  </a:lnTo>
                  <a:lnTo>
                    <a:pt x="2289556" y="352412"/>
                  </a:lnTo>
                  <a:close/>
                </a:path>
                <a:path w="2572384" h="774700">
                  <a:moveTo>
                    <a:pt x="2365756" y="352412"/>
                  </a:moveTo>
                  <a:lnTo>
                    <a:pt x="2308606" y="352412"/>
                  </a:lnTo>
                  <a:lnTo>
                    <a:pt x="2308606" y="371462"/>
                  </a:lnTo>
                  <a:lnTo>
                    <a:pt x="2365756" y="371462"/>
                  </a:lnTo>
                  <a:lnTo>
                    <a:pt x="2365756" y="352412"/>
                  </a:lnTo>
                  <a:close/>
                </a:path>
                <a:path w="2572384" h="774700">
                  <a:moveTo>
                    <a:pt x="2441956" y="352412"/>
                  </a:moveTo>
                  <a:lnTo>
                    <a:pt x="2384806" y="352412"/>
                  </a:lnTo>
                  <a:lnTo>
                    <a:pt x="2384806" y="371462"/>
                  </a:lnTo>
                  <a:lnTo>
                    <a:pt x="2441956" y="371462"/>
                  </a:lnTo>
                  <a:lnTo>
                    <a:pt x="2441956" y="352412"/>
                  </a:lnTo>
                  <a:close/>
                </a:path>
                <a:path w="2572384" h="774700">
                  <a:moveTo>
                    <a:pt x="2518156" y="352412"/>
                  </a:moveTo>
                  <a:lnTo>
                    <a:pt x="2461006" y="352412"/>
                  </a:lnTo>
                  <a:lnTo>
                    <a:pt x="2461006" y="371462"/>
                  </a:lnTo>
                  <a:lnTo>
                    <a:pt x="2518156" y="371462"/>
                  </a:lnTo>
                  <a:lnTo>
                    <a:pt x="2518156" y="352412"/>
                  </a:lnTo>
                  <a:close/>
                </a:path>
                <a:path w="2572384" h="774700">
                  <a:moveTo>
                    <a:pt x="2572385" y="717156"/>
                  </a:moveTo>
                  <a:lnTo>
                    <a:pt x="2553335" y="717156"/>
                  </a:lnTo>
                  <a:lnTo>
                    <a:pt x="2553335" y="774306"/>
                  </a:lnTo>
                  <a:lnTo>
                    <a:pt x="2572385" y="774306"/>
                  </a:lnTo>
                  <a:lnTo>
                    <a:pt x="2572385" y="717156"/>
                  </a:lnTo>
                  <a:close/>
                </a:path>
                <a:path w="2572384" h="774700">
                  <a:moveTo>
                    <a:pt x="2572385" y="640956"/>
                  </a:moveTo>
                  <a:lnTo>
                    <a:pt x="2553335" y="640956"/>
                  </a:lnTo>
                  <a:lnTo>
                    <a:pt x="2553335" y="698106"/>
                  </a:lnTo>
                  <a:lnTo>
                    <a:pt x="2572385" y="698106"/>
                  </a:lnTo>
                  <a:lnTo>
                    <a:pt x="2572385" y="640956"/>
                  </a:lnTo>
                  <a:close/>
                </a:path>
                <a:path w="2572384" h="774700">
                  <a:moveTo>
                    <a:pt x="2572385" y="564756"/>
                  </a:moveTo>
                  <a:lnTo>
                    <a:pt x="2553335" y="564756"/>
                  </a:lnTo>
                  <a:lnTo>
                    <a:pt x="2553335" y="621906"/>
                  </a:lnTo>
                  <a:lnTo>
                    <a:pt x="2572385" y="621906"/>
                  </a:lnTo>
                  <a:lnTo>
                    <a:pt x="2572385" y="564756"/>
                  </a:lnTo>
                  <a:close/>
                </a:path>
                <a:path w="2572384" h="774700">
                  <a:moveTo>
                    <a:pt x="2572385" y="488556"/>
                  </a:moveTo>
                  <a:lnTo>
                    <a:pt x="2553335" y="488556"/>
                  </a:lnTo>
                  <a:lnTo>
                    <a:pt x="2553335" y="545706"/>
                  </a:lnTo>
                  <a:lnTo>
                    <a:pt x="2572385" y="545706"/>
                  </a:lnTo>
                  <a:lnTo>
                    <a:pt x="2572385" y="488556"/>
                  </a:lnTo>
                  <a:close/>
                </a:path>
                <a:path w="2572384" h="774700">
                  <a:moveTo>
                    <a:pt x="2572385" y="412356"/>
                  </a:moveTo>
                  <a:lnTo>
                    <a:pt x="2553335" y="412356"/>
                  </a:lnTo>
                  <a:lnTo>
                    <a:pt x="2553335" y="469506"/>
                  </a:lnTo>
                  <a:lnTo>
                    <a:pt x="2572385" y="469506"/>
                  </a:lnTo>
                  <a:lnTo>
                    <a:pt x="2572385" y="412356"/>
                  </a:lnTo>
                  <a:close/>
                </a:path>
                <a:path w="2572384" h="774700">
                  <a:moveTo>
                    <a:pt x="2572385" y="352412"/>
                  </a:moveTo>
                  <a:lnTo>
                    <a:pt x="2537206" y="352412"/>
                  </a:lnTo>
                  <a:lnTo>
                    <a:pt x="2537206" y="371462"/>
                  </a:lnTo>
                  <a:lnTo>
                    <a:pt x="2553335" y="371462"/>
                  </a:lnTo>
                  <a:lnTo>
                    <a:pt x="2553335" y="393306"/>
                  </a:lnTo>
                  <a:lnTo>
                    <a:pt x="2572385" y="393306"/>
                  </a:lnTo>
                  <a:lnTo>
                    <a:pt x="2572385" y="371462"/>
                  </a:lnTo>
                  <a:lnTo>
                    <a:pt x="2572385" y="361937"/>
                  </a:lnTo>
                  <a:lnTo>
                    <a:pt x="2572385" y="3524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999217" y="3500005"/>
              <a:ext cx="58419" cy="243204"/>
            </a:xfrm>
            <a:custGeom>
              <a:avLst/>
              <a:gdLst/>
              <a:ahLst/>
              <a:cxnLst/>
              <a:rect l="l" t="t" r="r" b="b"/>
              <a:pathLst>
                <a:path w="58420" h="243204">
                  <a:moveTo>
                    <a:pt x="0" y="243192"/>
                  </a:moveTo>
                  <a:lnTo>
                    <a:pt x="58366" y="243192"/>
                  </a:lnTo>
                  <a:lnTo>
                    <a:pt x="58366" y="0"/>
                  </a:lnTo>
                  <a:lnTo>
                    <a:pt x="0" y="0"/>
                  </a:lnTo>
                  <a:lnTo>
                    <a:pt x="0" y="243192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702176" y="3521976"/>
              <a:ext cx="58419" cy="243204"/>
            </a:xfrm>
            <a:custGeom>
              <a:avLst/>
              <a:gdLst/>
              <a:ahLst/>
              <a:cxnLst/>
              <a:rect l="l" t="t" r="r" b="b"/>
              <a:pathLst>
                <a:path w="58420" h="243204">
                  <a:moveTo>
                    <a:pt x="58365" y="0"/>
                  </a:moveTo>
                  <a:lnTo>
                    <a:pt x="0" y="0"/>
                  </a:lnTo>
                  <a:lnTo>
                    <a:pt x="0" y="243192"/>
                  </a:lnTo>
                  <a:lnTo>
                    <a:pt x="58365" y="243192"/>
                  </a:lnTo>
                  <a:lnTo>
                    <a:pt x="5836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02176" y="3521976"/>
              <a:ext cx="58419" cy="243204"/>
            </a:xfrm>
            <a:custGeom>
              <a:avLst/>
              <a:gdLst/>
              <a:ahLst/>
              <a:cxnLst/>
              <a:rect l="l" t="t" r="r" b="b"/>
              <a:pathLst>
                <a:path w="58420" h="243204">
                  <a:moveTo>
                    <a:pt x="0" y="243192"/>
                  </a:moveTo>
                  <a:lnTo>
                    <a:pt x="58365" y="243192"/>
                  </a:lnTo>
                  <a:lnTo>
                    <a:pt x="58365" y="0"/>
                  </a:lnTo>
                  <a:lnTo>
                    <a:pt x="0" y="0"/>
                  </a:lnTo>
                  <a:lnTo>
                    <a:pt x="0" y="243192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057638" y="2754757"/>
              <a:ext cx="1054100" cy="905510"/>
            </a:xfrm>
            <a:custGeom>
              <a:avLst/>
              <a:gdLst/>
              <a:ahLst/>
              <a:cxnLst/>
              <a:rect l="l" t="t" r="r" b="b"/>
              <a:pathLst>
                <a:path w="1054100" h="905510">
                  <a:moveTo>
                    <a:pt x="1053845" y="0"/>
                  </a:moveTo>
                  <a:lnTo>
                    <a:pt x="1034795" y="0"/>
                  </a:lnTo>
                  <a:lnTo>
                    <a:pt x="1034795" y="57150"/>
                  </a:lnTo>
                  <a:lnTo>
                    <a:pt x="1053845" y="57150"/>
                  </a:lnTo>
                  <a:lnTo>
                    <a:pt x="1053845" y="0"/>
                  </a:lnTo>
                  <a:close/>
                </a:path>
                <a:path w="1054100" h="905510">
                  <a:moveTo>
                    <a:pt x="1053845" y="76200"/>
                  </a:moveTo>
                  <a:lnTo>
                    <a:pt x="1034795" y="76200"/>
                  </a:lnTo>
                  <a:lnTo>
                    <a:pt x="1034795" y="133350"/>
                  </a:lnTo>
                  <a:lnTo>
                    <a:pt x="1053845" y="133350"/>
                  </a:lnTo>
                  <a:lnTo>
                    <a:pt x="1053845" y="76200"/>
                  </a:lnTo>
                  <a:close/>
                </a:path>
                <a:path w="1054100" h="905510">
                  <a:moveTo>
                    <a:pt x="1053845" y="152400"/>
                  </a:moveTo>
                  <a:lnTo>
                    <a:pt x="1034795" y="152400"/>
                  </a:lnTo>
                  <a:lnTo>
                    <a:pt x="1034795" y="209550"/>
                  </a:lnTo>
                  <a:lnTo>
                    <a:pt x="1053845" y="209550"/>
                  </a:lnTo>
                  <a:lnTo>
                    <a:pt x="1053845" y="152400"/>
                  </a:lnTo>
                  <a:close/>
                </a:path>
                <a:path w="1054100" h="905510">
                  <a:moveTo>
                    <a:pt x="1053845" y="228600"/>
                  </a:moveTo>
                  <a:lnTo>
                    <a:pt x="1034795" y="228600"/>
                  </a:lnTo>
                  <a:lnTo>
                    <a:pt x="1034795" y="285750"/>
                  </a:lnTo>
                  <a:lnTo>
                    <a:pt x="1053845" y="285750"/>
                  </a:lnTo>
                  <a:lnTo>
                    <a:pt x="1053845" y="228600"/>
                  </a:lnTo>
                  <a:close/>
                </a:path>
                <a:path w="1054100" h="905510">
                  <a:moveTo>
                    <a:pt x="1053845" y="304800"/>
                  </a:moveTo>
                  <a:lnTo>
                    <a:pt x="1034795" y="304800"/>
                  </a:lnTo>
                  <a:lnTo>
                    <a:pt x="1034795" y="361950"/>
                  </a:lnTo>
                  <a:lnTo>
                    <a:pt x="1053845" y="361950"/>
                  </a:lnTo>
                  <a:lnTo>
                    <a:pt x="1053845" y="304800"/>
                  </a:lnTo>
                  <a:close/>
                </a:path>
                <a:path w="1054100" h="905510">
                  <a:moveTo>
                    <a:pt x="1053845" y="381000"/>
                  </a:moveTo>
                  <a:lnTo>
                    <a:pt x="1034795" y="381000"/>
                  </a:lnTo>
                  <a:lnTo>
                    <a:pt x="1034795" y="438150"/>
                  </a:lnTo>
                  <a:lnTo>
                    <a:pt x="1053845" y="438150"/>
                  </a:lnTo>
                  <a:lnTo>
                    <a:pt x="1053845" y="381000"/>
                  </a:lnTo>
                  <a:close/>
                </a:path>
                <a:path w="1054100" h="905510">
                  <a:moveTo>
                    <a:pt x="1053845" y="457200"/>
                  </a:moveTo>
                  <a:lnTo>
                    <a:pt x="1034795" y="457200"/>
                  </a:lnTo>
                  <a:lnTo>
                    <a:pt x="1034795" y="514350"/>
                  </a:lnTo>
                  <a:lnTo>
                    <a:pt x="1053845" y="514350"/>
                  </a:lnTo>
                  <a:lnTo>
                    <a:pt x="1053845" y="457200"/>
                  </a:lnTo>
                  <a:close/>
                </a:path>
                <a:path w="1054100" h="905510">
                  <a:moveTo>
                    <a:pt x="1053845" y="533400"/>
                  </a:moveTo>
                  <a:lnTo>
                    <a:pt x="1034795" y="533400"/>
                  </a:lnTo>
                  <a:lnTo>
                    <a:pt x="1034795" y="590550"/>
                  </a:lnTo>
                  <a:lnTo>
                    <a:pt x="1053845" y="590550"/>
                  </a:lnTo>
                  <a:lnTo>
                    <a:pt x="1053845" y="533400"/>
                  </a:lnTo>
                  <a:close/>
                </a:path>
                <a:path w="1054100" h="905510">
                  <a:moveTo>
                    <a:pt x="1053845" y="609600"/>
                  </a:moveTo>
                  <a:lnTo>
                    <a:pt x="1034795" y="609600"/>
                  </a:lnTo>
                  <a:lnTo>
                    <a:pt x="1034795" y="666750"/>
                  </a:lnTo>
                  <a:lnTo>
                    <a:pt x="1053845" y="666750"/>
                  </a:lnTo>
                  <a:lnTo>
                    <a:pt x="1053845" y="609600"/>
                  </a:lnTo>
                  <a:close/>
                </a:path>
                <a:path w="1054100" h="905510">
                  <a:moveTo>
                    <a:pt x="1053845" y="685800"/>
                  </a:moveTo>
                  <a:lnTo>
                    <a:pt x="1034795" y="685800"/>
                  </a:lnTo>
                  <a:lnTo>
                    <a:pt x="1034795" y="742950"/>
                  </a:lnTo>
                  <a:lnTo>
                    <a:pt x="1053845" y="742950"/>
                  </a:lnTo>
                  <a:lnTo>
                    <a:pt x="1053845" y="685800"/>
                  </a:lnTo>
                  <a:close/>
                </a:path>
                <a:path w="1054100" h="905510">
                  <a:moveTo>
                    <a:pt x="1053845" y="762000"/>
                  </a:moveTo>
                  <a:lnTo>
                    <a:pt x="1034795" y="762000"/>
                  </a:lnTo>
                  <a:lnTo>
                    <a:pt x="1034795" y="819150"/>
                  </a:lnTo>
                  <a:lnTo>
                    <a:pt x="1053845" y="819150"/>
                  </a:lnTo>
                  <a:lnTo>
                    <a:pt x="1053845" y="762000"/>
                  </a:lnTo>
                  <a:close/>
                </a:path>
                <a:path w="1054100" h="905510">
                  <a:moveTo>
                    <a:pt x="1034795" y="857376"/>
                  </a:moveTo>
                  <a:lnTo>
                    <a:pt x="1015872" y="857376"/>
                  </a:lnTo>
                  <a:lnTo>
                    <a:pt x="1015872" y="876426"/>
                  </a:lnTo>
                  <a:lnTo>
                    <a:pt x="1053845" y="876426"/>
                  </a:lnTo>
                  <a:lnTo>
                    <a:pt x="1053845" y="866901"/>
                  </a:lnTo>
                  <a:lnTo>
                    <a:pt x="1034795" y="866901"/>
                  </a:lnTo>
                  <a:lnTo>
                    <a:pt x="1034795" y="857376"/>
                  </a:lnTo>
                  <a:close/>
                </a:path>
                <a:path w="1054100" h="905510">
                  <a:moveTo>
                    <a:pt x="1053845" y="838200"/>
                  </a:moveTo>
                  <a:lnTo>
                    <a:pt x="1034795" y="838200"/>
                  </a:lnTo>
                  <a:lnTo>
                    <a:pt x="1034795" y="866901"/>
                  </a:lnTo>
                  <a:lnTo>
                    <a:pt x="1044320" y="857376"/>
                  </a:lnTo>
                  <a:lnTo>
                    <a:pt x="1053845" y="857376"/>
                  </a:lnTo>
                  <a:lnTo>
                    <a:pt x="1053845" y="838200"/>
                  </a:lnTo>
                  <a:close/>
                </a:path>
                <a:path w="1054100" h="905510">
                  <a:moveTo>
                    <a:pt x="1053845" y="857376"/>
                  </a:moveTo>
                  <a:lnTo>
                    <a:pt x="1044320" y="857376"/>
                  </a:lnTo>
                  <a:lnTo>
                    <a:pt x="1034795" y="866901"/>
                  </a:lnTo>
                  <a:lnTo>
                    <a:pt x="1053845" y="866901"/>
                  </a:lnTo>
                  <a:lnTo>
                    <a:pt x="1053845" y="857376"/>
                  </a:lnTo>
                  <a:close/>
                </a:path>
                <a:path w="1054100" h="905510">
                  <a:moveTo>
                    <a:pt x="996822" y="857376"/>
                  </a:moveTo>
                  <a:lnTo>
                    <a:pt x="939672" y="857376"/>
                  </a:lnTo>
                  <a:lnTo>
                    <a:pt x="939672" y="876426"/>
                  </a:lnTo>
                  <a:lnTo>
                    <a:pt x="996822" y="876426"/>
                  </a:lnTo>
                  <a:lnTo>
                    <a:pt x="996822" y="857376"/>
                  </a:lnTo>
                  <a:close/>
                </a:path>
                <a:path w="1054100" h="905510">
                  <a:moveTo>
                    <a:pt x="920622" y="857376"/>
                  </a:moveTo>
                  <a:lnTo>
                    <a:pt x="863472" y="857376"/>
                  </a:lnTo>
                  <a:lnTo>
                    <a:pt x="863472" y="876426"/>
                  </a:lnTo>
                  <a:lnTo>
                    <a:pt x="920622" y="876426"/>
                  </a:lnTo>
                  <a:lnTo>
                    <a:pt x="920622" y="857376"/>
                  </a:lnTo>
                  <a:close/>
                </a:path>
                <a:path w="1054100" h="905510">
                  <a:moveTo>
                    <a:pt x="844422" y="857376"/>
                  </a:moveTo>
                  <a:lnTo>
                    <a:pt x="787272" y="857376"/>
                  </a:lnTo>
                  <a:lnTo>
                    <a:pt x="787272" y="876426"/>
                  </a:lnTo>
                  <a:lnTo>
                    <a:pt x="844422" y="876426"/>
                  </a:lnTo>
                  <a:lnTo>
                    <a:pt x="844422" y="857376"/>
                  </a:lnTo>
                  <a:close/>
                </a:path>
                <a:path w="1054100" h="905510">
                  <a:moveTo>
                    <a:pt x="768222" y="857376"/>
                  </a:moveTo>
                  <a:lnTo>
                    <a:pt x="711072" y="857376"/>
                  </a:lnTo>
                  <a:lnTo>
                    <a:pt x="711072" y="876426"/>
                  </a:lnTo>
                  <a:lnTo>
                    <a:pt x="768222" y="876426"/>
                  </a:lnTo>
                  <a:lnTo>
                    <a:pt x="768222" y="857376"/>
                  </a:lnTo>
                  <a:close/>
                </a:path>
                <a:path w="1054100" h="905510">
                  <a:moveTo>
                    <a:pt x="692022" y="857376"/>
                  </a:moveTo>
                  <a:lnTo>
                    <a:pt x="634872" y="857376"/>
                  </a:lnTo>
                  <a:lnTo>
                    <a:pt x="634872" y="876426"/>
                  </a:lnTo>
                  <a:lnTo>
                    <a:pt x="692022" y="876426"/>
                  </a:lnTo>
                  <a:lnTo>
                    <a:pt x="692022" y="857376"/>
                  </a:lnTo>
                  <a:close/>
                </a:path>
                <a:path w="1054100" h="905510">
                  <a:moveTo>
                    <a:pt x="615822" y="857376"/>
                  </a:moveTo>
                  <a:lnTo>
                    <a:pt x="558672" y="857376"/>
                  </a:lnTo>
                  <a:lnTo>
                    <a:pt x="558672" y="876426"/>
                  </a:lnTo>
                  <a:lnTo>
                    <a:pt x="615822" y="876426"/>
                  </a:lnTo>
                  <a:lnTo>
                    <a:pt x="615822" y="857376"/>
                  </a:lnTo>
                  <a:close/>
                </a:path>
                <a:path w="1054100" h="905510">
                  <a:moveTo>
                    <a:pt x="539622" y="857376"/>
                  </a:moveTo>
                  <a:lnTo>
                    <a:pt x="482472" y="857376"/>
                  </a:lnTo>
                  <a:lnTo>
                    <a:pt x="482472" y="876426"/>
                  </a:lnTo>
                  <a:lnTo>
                    <a:pt x="539622" y="876426"/>
                  </a:lnTo>
                  <a:lnTo>
                    <a:pt x="539622" y="857376"/>
                  </a:lnTo>
                  <a:close/>
                </a:path>
                <a:path w="1054100" h="905510">
                  <a:moveTo>
                    <a:pt x="463422" y="857376"/>
                  </a:moveTo>
                  <a:lnTo>
                    <a:pt x="406272" y="857376"/>
                  </a:lnTo>
                  <a:lnTo>
                    <a:pt x="406272" y="876426"/>
                  </a:lnTo>
                  <a:lnTo>
                    <a:pt x="463422" y="876426"/>
                  </a:lnTo>
                  <a:lnTo>
                    <a:pt x="463422" y="857376"/>
                  </a:lnTo>
                  <a:close/>
                </a:path>
                <a:path w="1054100" h="905510">
                  <a:moveTo>
                    <a:pt x="387222" y="857376"/>
                  </a:moveTo>
                  <a:lnTo>
                    <a:pt x="330072" y="857376"/>
                  </a:lnTo>
                  <a:lnTo>
                    <a:pt x="330072" y="876426"/>
                  </a:lnTo>
                  <a:lnTo>
                    <a:pt x="387222" y="876426"/>
                  </a:lnTo>
                  <a:lnTo>
                    <a:pt x="387222" y="857376"/>
                  </a:lnTo>
                  <a:close/>
                </a:path>
                <a:path w="1054100" h="905510">
                  <a:moveTo>
                    <a:pt x="311022" y="857376"/>
                  </a:moveTo>
                  <a:lnTo>
                    <a:pt x="253872" y="857376"/>
                  </a:lnTo>
                  <a:lnTo>
                    <a:pt x="253872" y="876426"/>
                  </a:lnTo>
                  <a:lnTo>
                    <a:pt x="311022" y="876426"/>
                  </a:lnTo>
                  <a:lnTo>
                    <a:pt x="311022" y="857376"/>
                  </a:lnTo>
                  <a:close/>
                </a:path>
                <a:path w="1054100" h="905510">
                  <a:moveTo>
                    <a:pt x="234822" y="857376"/>
                  </a:moveTo>
                  <a:lnTo>
                    <a:pt x="177672" y="857376"/>
                  </a:lnTo>
                  <a:lnTo>
                    <a:pt x="177672" y="876426"/>
                  </a:lnTo>
                  <a:lnTo>
                    <a:pt x="234822" y="876426"/>
                  </a:lnTo>
                  <a:lnTo>
                    <a:pt x="234822" y="857376"/>
                  </a:lnTo>
                  <a:close/>
                </a:path>
                <a:path w="1054100" h="905510">
                  <a:moveTo>
                    <a:pt x="158622" y="857376"/>
                  </a:moveTo>
                  <a:lnTo>
                    <a:pt x="101472" y="857376"/>
                  </a:lnTo>
                  <a:lnTo>
                    <a:pt x="101472" y="876426"/>
                  </a:lnTo>
                  <a:lnTo>
                    <a:pt x="158622" y="876426"/>
                  </a:lnTo>
                  <a:lnTo>
                    <a:pt x="158622" y="857376"/>
                  </a:lnTo>
                  <a:close/>
                </a:path>
                <a:path w="1054100" h="905510">
                  <a:moveTo>
                    <a:pt x="76200" y="828801"/>
                  </a:moveTo>
                  <a:lnTo>
                    <a:pt x="0" y="866901"/>
                  </a:lnTo>
                  <a:lnTo>
                    <a:pt x="76200" y="905001"/>
                  </a:lnTo>
                  <a:lnTo>
                    <a:pt x="76200" y="876426"/>
                  </a:lnTo>
                  <a:lnTo>
                    <a:pt x="63500" y="876426"/>
                  </a:lnTo>
                  <a:lnTo>
                    <a:pt x="63500" y="857376"/>
                  </a:lnTo>
                  <a:lnTo>
                    <a:pt x="76200" y="857376"/>
                  </a:lnTo>
                  <a:lnTo>
                    <a:pt x="76200" y="828801"/>
                  </a:lnTo>
                  <a:close/>
                </a:path>
                <a:path w="1054100" h="905510">
                  <a:moveTo>
                    <a:pt x="76200" y="857376"/>
                  </a:moveTo>
                  <a:lnTo>
                    <a:pt x="63500" y="857376"/>
                  </a:lnTo>
                  <a:lnTo>
                    <a:pt x="63500" y="876426"/>
                  </a:lnTo>
                  <a:lnTo>
                    <a:pt x="76200" y="876426"/>
                  </a:lnTo>
                  <a:lnTo>
                    <a:pt x="76200" y="857376"/>
                  </a:lnTo>
                  <a:close/>
                </a:path>
                <a:path w="1054100" h="905510">
                  <a:moveTo>
                    <a:pt x="82422" y="857376"/>
                  </a:moveTo>
                  <a:lnTo>
                    <a:pt x="76200" y="857376"/>
                  </a:lnTo>
                  <a:lnTo>
                    <a:pt x="76200" y="876426"/>
                  </a:lnTo>
                  <a:lnTo>
                    <a:pt x="82422" y="876426"/>
                  </a:lnTo>
                  <a:lnTo>
                    <a:pt x="82422" y="8573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227198" y="3563721"/>
              <a:ext cx="1456055" cy="646430"/>
            </a:xfrm>
            <a:custGeom>
              <a:avLst/>
              <a:gdLst/>
              <a:ahLst/>
              <a:cxnLst/>
              <a:rect l="l" t="t" r="r" b="b"/>
              <a:pathLst>
                <a:path w="1456054" h="646429">
                  <a:moveTo>
                    <a:pt x="1455547" y="0"/>
                  </a:moveTo>
                  <a:lnTo>
                    <a:pt x="0" y="0"/>
                  </a:lnTo>
                  <a:lnTo>
                    <a:pt x="0" y="646328"/>
                  </a:lnTo>
                  <a:lnTo>
                    <a:pt x="1455547" y="646328"/>
                  </a:lnTo>
                  <a:lnTo>
                    <a:pt x="14555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227198" y="3563721"/>
            <a:ext cx="1456055" cy="64643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L="207645" marR="200025" indent="78740">
              <a:lnSpc>
                <a:spcPct val="100000"/>
              </a:lnSpc>
              <a:spcBef>
                <a:spcPts val="220"/>
              </a:spcBef>
            </a:pPr>
            <a:r>
              <a:rPr sz="1800" b="1" spc="-10" dirty="0">
                <a:latin typeface="Trebuchet MS"/>
                <a:cs typeface="Trebuchet MS"/>
              </a:rPr>
              <a:t>Network Backbone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682746" y="3643503"/>
            <a:ext cx="1032510" cy="253365"/>
          </a:xfrm>
          <a:custGeom>
            <a:avLst/>
            <a:gdLst/>
            <a:ahLst/>
            <a:cxnLst/>
            <a:rect l="l" t="t" r="r" b="b"/>
            <a:pathLst>
              <a:path w="1032510" h="253364">
                <a:moveTo>
                  <a:pt x="57150" y="233934"/>
                </a:moveTo>
                <a:lnTo>
                  <a:pt x="0" y="233934"/>
                </a:lnTo>
                <a:lnTo>
                  <a:pt x="0" y="252984"/>
                </a:lnTo>
                <a:lnTo>
                  <a:pt x="57150" y="252984"/>
                </a:lnTo>
                <a:lnTo>
                  <a:pt x="57150" y="233934"/>
                </a:lnTo>
                <a:close/>
              </a:path>
              <a:path w="1032510" h="253364">
                <a:moveTo>
                  <a:pt x="133350" y="233934"/>
                </a:moveTo>
                <a:lnTo>
                  <a:pt x="76200" y="233934"/>
                </a:lnTo>
                <a:lnTo>
                  <a:pt x="76200" y="252984"/>
                </a:lnTo>
                <a:lnTo>
                  <a:pt x="133350" y="252984"/>
                </a:lnTo>
                <a:lnTo>
                  <a:pt x="133350" y="233934"/>
                </a:lnTo>
                <a:close/>
              </a:path>
              <a:path w="1032510" h="253364">
                <a:moveTo>
                  <a:pt x="209550" y="233934"/>
                </a:moveTo>
                <a:lnTo>
                  <a:pt x="152400" y="233934"/>
                </a:lnTo>
                <a:lnTo>
                  <a:pt x="152400" y="252984"/>
                </a:lnTo>
                <a:lnTo>
                  <a:pt x="209550" y="252984"/>
                </a:lnTo>
                <a:lnTo>
                  <a:pt x="209550" y="233934"/>
                </a:lnTo>
                <a:close/>
              </a:path>
              <a:path w="1032510" h="253364">
                <a:moveTo>
                  <a:pt x="285750" y="233934"/>
                </a:moveTo>
                <a:lnTo>
                  <a:pt x="228600" y="233934"/>
                </a:lnTo>
                <a:lnTo>
                  <a:pt x="228600" y="252984"/>
                </a:lnTo>
                <a:lnTo>
                  <a:pt x="285750" y="252984"/>
                </a:lnTo>
                <a:lnTo>
                  <a:pt x="285750" y="233934"/>
                </a:lnTo>
                <a:close/>
              </a:path>
              <a:path w="1032510" h="253364">
                <a:moveTo>
                  <a:pt x="361950" y="233934"/>
                </a:moveTo>
                <a:lnTo>
                  <a:pt x="304800" y="233934"/>
                </a:lnTo>
                <a:lnTo>
                  <a:pt x="304800" y="252984"/>
                </a:lnTo>
                <a:lnTo>
                  <a:pt x="361950" y="252984"/>
                </a:lnTo>
                <a:lnTo>
                  <a:pt x="361950" y="233934"/>
                </a:lnTo>
                <a:close/>
              </a:path>
              <a:path w="1032510" h="253364">
                <a:moveTo>
                  <a:pt x="438150" y="233934"/>
                </a:moveTo>
                <a:lnTo>
                  <a:pt x="381000" y="233934"/>
                </a:lnTo>
                <a:lnTo>
                  <a:pt x="381000" y="252984"/>
                </a:lnTo>
                <a:lnTo>
                  <a:pt x="438150" y="252984"/>
                </a:lnTo>
                <a:lnTo>
                  <a:pt x="438150" y="233934"/>
                </a:lnTo>
                <a:close/>
              </a:path>
              <a:path w="1032510" h="253364">
                <a:moveTo>
                  <a:pt x="514350" y="233934"/>
                </a:moveTo>
                <a:lnTo>
                  <a:pt x="457200" y="233934"/>
                </a:lnTo>
                <a:lnTo>
                  <a:pt x="457200" y="252984"/>
                </a:lnTo>
                <a:lnTo>
                  <a:pt x="514350" y="252984"/>
                </a:lnTo>
                <a:lnTo>
                  <a:pt x="514350" y="233934"/>
                </a:lnTo>
                <a:close/>
              </a:path>
              <a:path w="1032510" h="253364">
                <a:moveTo>
                  <a:pt x="590550" y="233934"/>
                </a:moveTo>
                <a:lnTo>
                  <a:pt x="533400" y="233934"/>
                </a:lnTo>
                <a:lnTo>
                  <a:pt x="533400" y="252984"/>
                </a:lnTo>
                <a:lnTo>
                  <a:pt x="590550" y="252984"/>
                </a:lnTo>
                <a:lnTo>
                  <a:pt x="590550" y="233934"/>
                </a:lnTo>
                <a:close/>
              </a:path>
              <a:path w="1032510" h="253364">
                <a:moveTo>
                  <a:pt x="666750" y="233934"/>
                </a:moveTo>
                <a:lnTo>
                  <a:pt x="609600" y="233934"/>
                </a:lnTo>
                <a:lnTo>
                  <a:pt x="609600" y="252984"/>
                </a:lnTo>
                <a:lnTo>
                  <a:pt x="666750" y="252984"/>
                </a:lnTo>
                <a:lnTo>
                  <a:pt x="666750" y="233934"/>
                </a:lnTo>
                <a:close/>
              </a:path>
              <a:path w="1032510" h="253364">
                <a:moveTo>
                  <a:pt x="742950" y="233934"/>
                </a:moveTo>
                <a:lnTo>
                  <a:pt x="685800" y="233934"/>
                </a:lnTo>
                <a:lnTo>
                  <a:pt x="685800" y="252984"/>
                </a:lnTo>
                <a:lnTo>
                  <a:pt x="742950" y="252984"/>
                </a:lnTo>
                <a:lnTo>
                  <a:pt x="742950" y="233934"/>
                </a:lnTo>
                <a:close/>
              </a:path>
              <a:path w="1032510" h="253364">
                <a:moveTo>
                  <a:pt x="819150" y="233934"/>
                </a:moveTo>
                <a:lnTo>
                  <a:pt x="762000" y="233934"/>
                </a:lnTo>
                <a:lnTo>
                  <a:pt x="762000" y="252984"/>
                </a:lnTo>
                <a:lnTo>
                  <a:pt x="819150" y="252984"/>
                </a:lnTo>
                <a:lnTo>
                  <a:pt x="819150" y="233934"/>
                </a:lnTo>
                <a:close/>
              </a:path>
              <a:path w="1032510" h="253364">
                <a:moveTo>
                  <a:pt x="895350" y="233934"/>
                </a:moveTo>
                <a:lnTo>
                  <a:pt x="838200" y="233934"/>
                </a:lnTo>
                <a:lnTo>
                  <a:pt x="838200" y="252984"/>
                </a:lnTo>
                <a:lnTo>
                  <a:pt x="895350" y="252984"/>
                </a:lnTo>
                <a:lnTo>
                  <a:pt x="895350" y="233934"/>
                </a:lnTo>
                <a:close/>
              </a:path>
              <a:path w="1032510" h="253364">
                <a:moveTo>
                  <a:pt x="971550" y="233934"/>
                </a:moveTo>
                <a:lnTo>
                  <a:pt x="914400" y="233934"/>
                </a:lnTo>
                <a:lnTo>
                  <a:pt x="914400" y="252984"/>
                </a:lnTo>
                <a:lnTo>
                  <a:pt x="971550" y="252984"/>
                </a:lnTo>
                <a:lnTo>
                  <a:pt x="971550" y="233934"/>
                </a:lnTo>
                <a:close/>
              </a:path>
              <a:path w="1032510" h="253364">
                <a:moveTo>
                  <a:pt x="1003807" y="233934"/>
                </a:moveTo>
                <a:lnTo>
                  <a:pt x="994282" y="233934"/>
                </a:lnTo>
                <a:lnTo>
                  <a:pt x="990600" y="237616"/>
                </a:lnTo>
                <a:lnTo>
                  <a:pt x="990600" y="252984"/>
                </a:lnTo>
                <a:lnTo>
                  <a:pt x="1003807" y="252984"/>
                </a:lnTo>
                <a:lnTo>
                  <a:pt x="1003807" y="233934"/>
                </a:lnTo>
                <a:close/>
              </a:path>
              <a:path w="1032510" h="253364">
                <a:moveTo>
                  <a:pt x="1003807" y="189865"/>
                </a:moveTo>
                <a:lnTo>
                  <a:pt x="984757" y="189865"/>
                </a:lnTo>
                <a:lnTo>
                  <a:pt x="984757" y="243459"/>
                </a:lnTo>
                <a:lnTo>
                  <a:pt x="990600" y="237616"/>
                </a:lnTo>
                <a:lnTo>
                  <a:pt x="990600" y="233934"/>
                </a:lnTo>
                <a:lnTo>
                  <a:pt x="1003807" y="233934"/>
                </a:lnTo>
                <a:lnTo>
                  <a:pt x="1003807" y="189865"/>
                </a:lnTo>
                <a:close/>
              </a:path>
              <a:path w="1032510" h="253364">
                <a:moveTo>
                  <a:pt x="994282" y="233934"/>
                </a:moveTo>
                <a:lnTo>
                  <a:pt x="990600" y="233934"/>
                </a:lnTo>
                <a:lnTo>
                  <a:pt x="990600" y="237616"/>
                </a:lnTo>
                <a:lnTo>
                  <a:pt x="994282" y="233934"/>
                </a:lnTo>
                <a:close/>
              </a:path>
              <a:path w="1032510" h="253364">
                <a:moveTo>
                  <a:pt x="1004062" y="113665"/>
                </a:moveTo>
                <a:lnTo>
                  <a:pt x="985012" y="113665"/>
                </a:lnTo>
                <a:lnTo>
                  <a:pt x="984884" y="170815"/>
                </a:lnTo>
                <a:lnTo>
                  <a:pt x="1003934" y="170815"/>
                </a:lnTo>
                <a:lnTo>
                  <a:pt x="1004062" y="113665"/>
                </a:lnTo>
                <a:close/>
              </a:path>
              <a:path w="1032510" h="253364">
                <a:moveTo>
                  <a:pt x="985012" y="75952"/>
                </a:moveTo>
                <a:lnTo>
                  <a:pt x="985012" y="94615"/>
                </a:lnTo>
                <a:lnTo>
                  <a:pt x="1004062" y="94615"/>
                </a:lnTo>
                <a:lnTo>
                  <a:pt x="1004062" y="76460"/>
                </a:lnTo>
                <a:lnTo>
                  <a:pt x="985012" y="75952"/>
                </a:lnTo>
                <a:close/>
              </a:path>
              <a:path w="1032510" h="253364">
                <a:moveTo>
                  <a:pt x="1025976" y="63500"/>
                </a:moveTo>
                <a:lnTo>
                  <a:pt x="1004062" y="63500"/>
                </a:lnTo>
                <a:lnTo>
                  <a:pt x="1004062" y="76460"/>
                </a:lnTo>
                <a:lnTo>
                  <a:pt x="1032382" y="77216"/>
                </a:lnTo>
                <a:lnTo>
                  <a:pt x="1025976" y="63500"/>
                </a:lnTo>
                <a:close/>
              </a:path>
              <a:path w="1032510" h="253364">
                <a:moveTo>
                  <a:pt x="1004062" y="63500"/>
                </a:moveTo>
                <a:lnTo>
                  <a:pt x="985012" y="63500"/>
                </a:lnTo>
                <a:lnTo>
                  <a:pt x="985012" y="75952"/>
                </a:lnTo>
                <a:lnTo>
                  <a:pt x="1004062" y="76460"/>
                </a:lnTo>
                <a:lnTo>
                  <a:pt x="1004062" y="63500"/>
                </a:lnTo>
                <a:close/>
              </a:path>
              <a:path w="1032510" h="253364">
                <a:moveTo>
                  <a:pt x="996314" y="0"/>
                </a:moveTo>
                <a:lnTo>
                  <a:pt x="956182" y="75184"/>
                </a:lnTo>
                <a:lnTo>
                  <a:pt x="985012" y="75952"/>
                </a:lnTo>
                <a:lnTo>
                  <a:pt x="985012" y="63500"/>
                </a:lnTo>
                <a:lnTo>
                  <a:pt x="1025976" y="63500"/>
                </a:lnTo>
                <a:lnTo>
                  <a:pt x="99631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55" dirty="0"/>
              <a:t>CSMA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81301"/>
            <a:ext cx="10360660" cy="373507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240029" marR="5080" indent="-227965" algn="just">
              <a:lnSpc>
                <a:spcPct val="90000"/>
              </a:lnSpc>
              <a:spcBef>
                <a:spcPts val="484"/>
              </a:spcBef>
              <a:buFont typeface="Arial MT"/>
              <a:buChar char="•"/>
              <a:tabLst>
                <a:tab pos="241300" algn="l"/>
              </a:tabLst>
            </a:pPr>
            <a:r>
              <a:rPr sz="3200" spc="-204" dirty="0">
                <a:latin typeface="Trebuchet MS"/>
                <a:cs typeface="Trebuchet MS"/>
              </a:rPr>
              <a:t>It</a:t>
            </a:r>
            <a:r>
              <a:rPr sz="3200" spc="-4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is</a:t>
            </a:r>
            <a:r>
              <a:rPr sz="3200" spc="-1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media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100" dirty="0">
                <a:latin typeface="Trebuchet MS"/>
                <a:cs typeface="Trebuchet MS"/>
              </a:rPr>
              <a:t>access</a:t>
            </a:r>
            <a:r>
              <a:rPr sz="3200" spc="-114" dirty="0">
                <a:latin typeface="Trebuchet MS"/>
                <a:cs typeface="Trebuchet MS"/>
              </a:rPr>
              <a:t> </a:t>
            </a:r>
            <a:r>
              <a:rPr sz="3200" spc="-70" dirty="0">
                <a:latin typeface="Trebuchet MS"/>
                <a:cs typeface="Trebuchet MS"/>
              </a:rPr>
              <a:t>control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used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114" dirty="0">
                <a:latin typeface="Trebuchet MS"/>
                <a:cs typeface="Trebuchet MS"/>
              </a:rPr>
              <a:t>to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-60" dirty="0">
                <a:latin typeface="Trebuchet MS"/>
                <a:cs typeface="Trebuchet MS"/>
              </a:rPr>
              <a:t>control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-95" dirty="0">
                <a:latin typeface="Trebuchet MS"/>
                <a:cs typeface="Trebuchet MS"/>
              </a:rPr>
              <a:t>the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-55" dirty="0">
                <a:latin typeface="Trebuchet MS"/>
                <a:cs typeface="Trebuchet MS"/>
              </a:rPr>
              <a:t>data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flow 	</a:t>
            </a:r>
            <a:r>
              <a:rPr sz="3200" spc="150" dirty="0">
                <a:latin typeface="Trebuchet MS"/>
                <a:cs typeface="Trebuchet MS"/>
              </a:rPr>
              <a:t>so</a:t>
            </a:r>
            <a:r>
              <a:rPr sz="3200" spc="-20" dirty="0">
                <a:latin typeface="Trebuchet MS"/>
                <a:cs typeface="Trebuchet MS"/>
              </a:rPr>
              <a:t> </a:t>
            </a:r>
            <a:r>
              <a:rPr sz="3200" spc="-30" dirty="0">
                <a:latin typeface="Trebuchet MS"/>
                <a:cs typeface="Trebuchet MS"/>
              </a:rPr>
              <a:t>that</a:t>
            </a:r>
            <a:r>
              <a:rPr sz="3200" spc="-1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data</a:t>
            </a:r>
            <a:r>
              <a:rPr sz="3200" spc="-10" dirty="0">
                <a:latin typeface="Trebuchet MS"/>
                <a:cs typeface="Trebuchet MS"/>
              </a:rPr>
              <a:t> </a:t>
            </a:r>
            <a:r>
              <a:rPr sz="3200" spc="-110" dirty="0">
                <a:latin typeface="Trebuchet MS"/>
                <a:cs typeface="Trebuchet MS"/>
              </a:rPr>
              <a:t>integrity</a:t>
            </a:r>
            <a:r>
              <a:rPr sz="3200" spc="-15" dirty="0">
                <a:latin typeface="Trebuchet MS"/>
                <a:cs typeface="Trebuchet MS"/>
              </a:rPr>
              <a:t> </a:t>
            </a:r>
            <a:r>
              <a:rPr sz="3200" spc="55" dirty="0">
                <a:latin typeface="Trebuchet MS"/>
                <a:cs typeface="Trebuchet MS"/>
              </a:rPr>
              <a:t>is</a:t>
            </a:r>
            <a:r>
              <a:rPr sz="3200" spc="-10" dirty="0">
                <a:latin typeface="Trebuchet MS"/>
                <a:cs typeface="Trebuchet MS"/>
              </a:rPr>
              <a:t> </a:t>
            </a:r>
            <a:r>
              <a:rPr sz="3200" spc="-45" dirty="0">
                <a:latin typeface="Trebuchet MS"/>
                <a:cs typeface="Trebuchet MS"/>
              </a:rPr>
              <a:t>maintained,</a:t>
            </a:r>
            <a:r>
              <a:rPr sz="3200" spc="-10" dirty="0">
                <a:latin typeface="Trebuchet MS"/>
                <a:cs typeface="Trebuchet MS"/>
              </a:rPr>
              <a:t> </a:t>
            </a:r>
            <a:r>
              <a:rPr sz="3200" spc="-210" dirty="0">
                <a:latin typeface="Trebuchet MS"/>
                <a:cs typeface="Trebuchet MS"/>
              </a:rPr>
              <a:t>i.e.,</a:t>
            </a:r>
            <a:r>
              <a:rPr sz="3200" spc="-1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the</a:t>
            </a:r>
            <a:r>
              <a:rPr sz="3200" spc="-1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packets</a:t>
            </a:r>
            <a:r>
              <a:rPr sz="3200" spc="-10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do 	</a:t>
            </a:r>
            <a:r>
              <a:rPr sz="3200" spc="-75" dirty="0">
                <a:latin typeface="Trebuchet MS"/>
                <a:cs typeface="Trebuchet MS"/>
              </a:rPr>
              <a:t>not</a:t>
            </a:r>
            <a:r>
              <a:rPr sz="3200" spc="-305" dirty="0">
                <a:latin typeface="Trebuchet MS"/>
                <a:cs typeface="Trebuchet MS"/>
              </a:rPr>
              <a:t> </a:t>
            </a:r>
            <a:r>
              <a:rPr sz="3200" spc="-140" dirty="0">
                <a:latin typeface="Trebuchet MS"/>
                <a:cs typeface="Trebuchet MS"/>
              </a:rPr>
              <a:t>get</a:t>
            </a:r>
            <a:r>
              <a:rPr sz="3200" spc="-285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lost.</a:t>
            </a:r>
            <a:endParaRPr sz="3200">
              <a:latin typeface="Trebuchet MS"/>
              <a:cs typeface="Trebuchet MS"/>
            </a:endParaRPr>
          </a:p>
          <a:p>
            <a:pPr marL="240029" marR="6350" indent="-227965" algn="just">
              <a:lnSpc>
                <a:spcPct val="9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3200" spc="-100" dirty="0">
                <a:latin typeface="Trebuchet MS"/>
                <a:cs typeface="Trebuchet MS"/>
              </a:rPr>
              <a:t>There</a:t>
            </a:r>
            <a:r>
              <a:rPr sz="3200" spc="-13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are</a:t>
            </a:r>
            <a:r>
              <a:rPr sz="3200" spc="-13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two</a:t>
            </a:r>
            <a:r>
              <a:rPr sz="3200" spc="-135" dirty="0">
                <a:latin typeface="Trebuchet MS"/>
                <a:cs typeface="Trebuchet MS"/>
              </a:rPr>
              <a:t> </a:t>
            </a:r>
            <a:r>
              <a:rPr sz="3200" spc="-105" dirty="0">
                <a:latin typeface="Trebuchet MS"/>
                <a:cs typeface="Trebuchet MS"/>
              </a:rPr>
              <a:t>alternative</a:t>
            </a:r>
            <a:r>
              <a:rPr sz="3200" spc="-13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ways</a:t>
            </a:r>
            <a:r>
              <a:rPr sz="3200" spc="-13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of</a:t>
            </a:r>
            <a:r>
              <a:rPr sz="3200" spc="-135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handling</a:t>
            </a:r>
            <a:r>
              <a:rPr sz="3200" spc="-13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the</a:t>
            </a:r>
            <a:r>
              <a:rPr sz="3200" spc="-13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problems 	</a:t>
            </a:r>
            <a:r>
              <a:rPr sz="3200" dirty="0">
                <a:latin typeface="Trebuchet MS"/>
                <a:cs typeface="Trebuchet MS"/>
              </a:rPr>
              <a:t>that</a:t>
            </a:r>
            <a:r>
              <a:rPr sz="3200" spc="375" dirty="0">
                <a:latin typeface="Trebuchet MS"/>
                <a:cs typeface="Trebuchet MS"/>
              </a:rPr>
              <a:t>  </a:t>
            </a:r>
            <a:r>
              <a:rPr sz="3200" dirty="0">
                <a:latin typeface="Trebuchet MS"/>
                <a:cs typeface="Trebuchet MS"/>
              </a:rPr>
              <a:t>occur</a:t>
            </a:r>
            <a:r>
              <a:rPr sz="3200" spc="380" dirty="0">
                <a:latin typeface="Trebuchet MS"/>
                <a:cs typeface="Trebuchet MS"/>
              </a:rPr>
              <a:t>  </a:t>
            </a:r>
            <a:r>
              <a:rPr sz="3200" dirty="0">
                <a:latin typeface="Trebuchet MS"/>
                <a:cs typeface="Trebuchet MS"/>
              </a:rPr>
              <a:t>when</a:t>
            </a:r>
            <a:r>
              <a:rPr sz="3200" spc="380" dirty="0">
                <a:latin typeface="Trebuchet MS"/>
                <a:cs typeface="Trebuchet MS"/>
              </a:rPr>
              <a:t>  </a:t>
            </a:r>
            <a:r>
              <a:rPr sz="3200" dirty="0">
                <a:latin typeface="Trebuchet MS"/>
                <a:cs typeface="Trebuchet MS"/>
              </a:rPr>
              <a:t>two</a:t>
            </a:r>
            <a:r>
              <a:rPr sz="3200" spc="385" dirty="0">
                <a:latin typeface="Trebuchet MS"/>
                <a:cs typeface="Trebuchet MS"/>
              </a:rPr>
              <a:t>  </a:t>
            </a:r>
            <a:r>
              <a:rPr sz="3200" dirty="0">
                <a:latin typeface="Trebuchet MS"/>
                <a:cs typeface="Trebuchet MS"/>
              </a:rPr>
              <a:t>nodes</a:t>
            </a:r>
            <a:r>
              <a:rPr sz="3200" spc="375" dirty="0">
                <a:latin typeface="Trebuchet MS"/>
                <a:cs typeface="Trebuchet MS"/>
              </a:rPr>
              <a:t>  </a:t>
            </a:r>
            <a:r>
              <a:rPr sz="3200" dirty="0">
                <a:latin typeface="Trebuchet MS"/>
                <a:cs typeface="Trebuchet MS"/>
              </a:rPr>
              <a:t>send</a:t>
            </a:r>
            <a:r>
              <a:rPr sz="3200" spc="370" dirty="0">
                <a:latin typeface="Trebuchet MS"/>
                <a:cs typeface="Trebuchet MS"/>
              </a:rPr>
              <a:t>  </a:t>
            </a:r>
            <a:r>
              <a:rPr sz="3200" dirty="0">
                <a:latin typeface="Trebuchet MS"/>
                <a:cs typeface="Trebuchet MS"/>
              </a:rPr>
              <a:t>the</a:t>
            </a:r>
            <a:r>
              <a:rPr sz="3200" spc="375" dirty="0">
                <a:latin typeface="Trebuchet MS"/>
                <a:cs typeface="Trebuchet MS"/>
              </a:rPr>
              <a:t>  </a:t>
            </a:r>
            <a:r>
              <a:rPr sz="3200" spc="55" dirty="0">
                <a:latin typeface="Trebuchet MS"/>
                <a:cs typeface="Trebuchet MS"/>
              </a:rPr>
              <a:t>messages 	</a:t>
            </a:r>
            <a:r>
              <a:rPr sz="3200" spc="-10" dirty="0">
                <a:latin typeface="Trebuchet MS"/>
                <a:cs typeface="Trebuchet MS"/>
              </a:rPr>
              <a:t>simultaneously.</a:t>
            </a:r>
            <a:endParaRPr sz="3200">
              <a:latin typeface="Trebuchet MS"/>
              <a:cs typeface="Trebuchet MS"/>
            </a:endParaRPr>
          </a:p>
          <a:p>
            <a:pPr marL="697230" lvl="1" indent="-227329" algn="just">
              <a:lnSpc>
                <a:spcPct val="100000"/>
              </a:lnSpc>
              <a:spcBef>
                <a:spcPts val="200"/>
              </a:spcBef>
              <a:buFont typeface="Arial MT"/>
              <a:buChar char="•"/>
              <a:tabLst>
                <a:tab pos="697230" algn="l"/>
              </a:tabLst>
            </a:pPr>
            <a:r>
              <a:rPr sz="2800" spc="160" dirty="0">
                <a:latin typeface="Trebuchet MS"/>
                <a:cs typeface="Trebuchet MS"/>
              </a:rPr>
              <a:t>CSMA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215" dirty="0">
                <a:latin typeface="Trebuchet MS"/>
                <a:cs typeface="Trebuchet MS"/>
              </a:rPr>
              <a:t>CD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(Collision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Detection)</a:t>
            </a:r>
            <a:endParaRPr sz="2800">
              <a:latin typeface="Trebuchet MS"/>
              <a:cs typeface="Trebuchet MS"/>
            </a:endParaRPr>
          </a:p>
          <a:p>
            <a:pPr marL="697230" lvl="1" indent="-227329" algn="just">
              <a:lnSpc>
                <a:spcPct val="100000"/>
              </a:lnSpc>
              <a:spcBef>
                <a:spcPts val="165"/>
              </a:spcBef>
              <a:buFont typeface="Arial MT"/>
              <a:buChar char="•"/>
              <a:tabLst>
                <a:tab pos="697230" algn="l"/>
              </a:tabLst>
            </a:pPr>
            <a:r>
              <a:rPr sz="2800" spc="160" dirty="0">
                <a:latin typeface="Trebuchet MS"/>
                <a:cs typeface="Trebuchet MS"/>
              </a:rPr>
              <a:t>CSMA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105" dirty="0">
                <a:latin typeface="Trebuchet MS"/>
                <a:cs typeface="Trebuchet MS"/>
              </a:rPr>
              <a:t>CA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(Collision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Avoidance)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55" dirty="0"/>
              <a:t>CSMA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6363" y="1716023"/>
            <a:ext cx="10936986" cy="74142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6363" y="3663696"/>
            <a:ext cx="10936986" cy="74142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67587" y="1570242"/>
            <a:ext cx="10535285" cy="4683760"/>
          </a:xfrm>
          <a:prstGeom prst="rect">
            <a:avLst/>
          </a:prstGeom>
        </p:spPr>
        <p:txBody>
          <a:bodyPr vert="horz" wrap="square" lIns="0" tIns="24002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89"/>
              </a:spcBef>
            </a:pPr>
            <a:r>
              <a:rPr sz="3000" b="1" spc="165" dirty="0">
                <a:latin typeface="Trebuchet MS"/>
                <a:cs typeface="Trebuchet MS"/>
              </a:rPr>
              <a:t>CSMA</a:t>
            </a:r>
            <a:r>
              <a:rPr sz="3000" b="1" spc="-305" dirty="0">
                <a:latin typeface="Trebuchet MS"/>
                <a:cs typeface="Trebuchet MS"/>
              </a:rPr>
              <a:t> </a:t>
            </a:r>
            <a:r>
              <a:rPr sz="3000" b="1" spc="185" dirty="0">
                <a:latin typeface="Trebuchet MS"/>
                <a:cs typeface="Trebuchet MS"/>
              </a:rPr>
              <a:t>CD</a:t>
            </a:r>
            <a:endParaRPr sz="3000">
              <a:latin typeface="Trebuchet MS"/>
              <a:cs typeface="Trebuchet MS"/>
            </a:endParaRPr>
          </a:p>
          <a:p>
            <a:pPr marL="436880" indent="-227329">
              <a:lnSpc>
                <a:spcPct val="100000"/>
              </a:lnSpc>
              <a:spcBef>
                <a:spcPts val="1385"/>
              </a:spcBef>
              <a:buChar char="•"/>
              <a:tabLst>
                <a:tab pos="436880" algn="l"/>
              </a:tabLst>
            </a:pPr>
            <a:r>
              <a:rPr sz="2300" spc="145" dirty="0">
                <a:latin typeface="Trebuchet MS"/>
                <a:cs typeface="Trebuchet MS"/>
              </a:rPr>
              <a:t>CSMA</a:t>
            </a:r>
            <a:r>
              <a:rPr sz="2300" spc="-210" dirty="0">
                <a:latin typeface="Trebuchet MS"/>
                <a:cs typeface="Trebuchet MS"/>
              </a:rPr>
              <a:t> </a:t>
            </a:r>
            <a:r>
              <a:rPr sz="2300" spc="190" dirty="0">
                <a:latin typeface="Trebuchet MS"/>
                <a:cs typeface="Trebuchet MS"/>
              </a:rPr>
              <a:t>CD</a:t>
            </a:r>
            <a:r>
              <a:rPr sz="2300" spc="-180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(Collision</a:t>
            </a:r>
            <a:r>
              <a:rPr sz="2300" spc="-210" dirty="0">
                <a:latin typeface="Trebuchet MS"/>
                <a:cs typeface="Trebuchet MS"/>
              </a:rPr>
              <a:t> </a:t>
            </a:r>
            <a:r>
              <a:rPr sz="2300" spc="-50" dirty="0">
                <a:latin typeface="Trebuchet MS"/>
                <a:cs typeface="Trebuchet MS"/>
              </a:rPr>
              <a:t>Detection)</a:t>
            </a:r>
            <a:r>
              <a:rPr sz="2300" spc="-21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is</a:t>
            </a:r>
            <a:r>
              <a:rPr sz="2300" spc="-180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an</a:t>
            </a:r>
            <a:r>
              <a:rPr sz="2300" spc="-190" dirty="0">
                <a:latin typeface="Trebuchet MS"/>
                <a:cs typeface="Trebuchet MS"/>
              </a:rPr>
              <a:t> </a:t>
            </a:r>
            <a:r>
              <a:rPr sz="2300" spc="75" dirty="0">
                <a:latin typeface="Trebuchet MS"/>
                <a:cs typeface="Trebuchet MS"/>
              </a:rPr>
              <a:t>access</a:t>
            </a:r>
            <a:r>
              <a:rPr sz="2300" spc="-200" dirty="0">
                <a:latin typeface="Trebuchet MS"/>
                <a:cs typeface="Trebuchet MS"/>
              </a:rPr>
              <a:t> </a:t>
            </a:r>
            <a:r>
              <a:rPr sz="2300" spc="-35" dirty="0">
                <a:latin typeface="Trebuchet MS"/>
                <a:cs typeface="Trebuchet MS"/>
              </a:rPr>
              <a:t>method</a:t>
            </a:r>
            <a:r>
              <a:rPr sz="2300" spc="-21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used</a:t>
            </a:r>
            <a:r>
              <a:rPr sz="2300" spc="-180" dirty="0">
                <a:latin typeface="Trebuchet MS"/>
                <a:cs typeface="Trebuchet MS"/>
              </a:rPr>
              <a:t> </a:t>
            </a:r>
            <a:r>
              <a:rPr sz="2300" spc="-90" dirty="0">
                <a:latin typeface="Trebuchet MS"/>
                <a:cs typeface="Trebuchet MS"/>
              </a:rPr>
              <a:t>to</a:t>
            </a:r>
            <a:r>
              <a:rPr sz="2300" spc="-200" dirty="0">
                <a:latin typeface="Trebuchet MS"/>
                <a:cs typeface="Trebuchet MS"/>
              </a:rPr>
              <a:t> </a:t>
            </a:r>
            <a:r>
              <a:rPr sz="2300" spc="-70" dirty="0">
                <a:latin typeface="Trebuchet MS"/>
                <a:cs typeface="Trebuchet MS"/>
              </a:rPr>
              <a:t>detect</a:t>
            </a:r>
            <a:r>
              <a:rPr sz="2300" spc="-204" dirty="0">
                <a:latin typeface="Trebuchet MS"/>
                <a:cs typeface="Trebuchet MS"/>
              </a:rPr>
              <a:t> </a:t>
            </a:r>
            <a:r>
              <a:rPr sz="2300" spc="-75" dirty="0">
                <a:latin typeface="Trebuchet MS"/>
                <a:cs typeface="Trebuchet MS"/>
              </a:rPr>
              <a:t>the</a:t>
            </a:r>
            <a:r>
              <a:rPr sz="2300" spc="-180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collision.</a:t>
            </a:r>
            <a:endParaRPr sz="2300">
              <a:latin typeface="Trebuchet MS"/>
              <a:cs typeface="Trebuchet MS"/>
            </a:endParaRPr>
          </a:p>
          <a:p>
            <a:pPr marL="436245" indent="-226695">
              <a:lnSpc>
                <a:spcPct val="100000"/>
              </a:lnSpc>
              <a:spcBef>
                <a:spcPts val="325"/>
              </a:spcBef>
              <a:buChar char="•"/>
              <a:tabLst>
                <a:tab pos="436245" algn="l"/>
              </a:tabLst>
            </a:pPr>
            <a:r>
              <a:rPr sz="2300" dirty="0">
                <a:latin typeface="Trebuchet MS"/>
                <a:cs typeface="Trebuchet MS"/>
              </a:rPr>
              <a:t>Once</a:t>
            </a:r>
            <a:r>
              <a:rPr sz="2300" spc="-190" dirty="0">
                <a:latin typeface="Trebuchet MS"/>
                <a:cs typeface="Trebuchet MS"/>
              </a:rPr>
              <a:t> </a:t>
            </a:r>
            <a:r>
              <a:rPr sz="2300" spc="-75" dirty="0">
                <a:latin typeface="Trebuchet MS"/>
                <a:cs typeface="Trebuchet MS"/>
              </a:rPr>
              <a:t>the</a:t>
            </a:r>
            <a:r>
              <a:rPr sz="2300" spc="-190" dirty="0">
                <a:latin typeface="Trebuchet MS"/>
                <a:cs typeface="Trebuchet MS"/>
              </a:rPr>
              <a:t> </a:t>
            </a:r>
            <a:r>
              <a:rPr sz="2300" spc="-20" dirty="0">
                <a:latin typeface="Trebuchet MS"/>
                <a:cs typeface="Trebuchet MS"/>
              </a:rPr>
              <a:t>collision</a:t>
            </a:r>
            <a:r>
              <a:rPr sz="2300" spc="-19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is</a:t>
            </a:r>
            <a:r>
              <a:rPr sz="2300" spc="-170" dirty="0">
                <a:latin typeface="Trebuchet MS"/>
                <a:cs typeface="Trebuchet MS"/>
              </a:rPr>
              <a:t> </a:t>
            </a:r>
            <a:r>
              <a:rPr sz="2300" spc="-75" dirty="0">
                <a:latin typeface="Trebuchet MS"/>
                <a:cs typeface="Trebuchet MS"/>
              </a:rPr>
              <a:t>detected,</a:t>
            </a:r>
            <a:r>
              <a:rPr sz="2300" spc="-200" dirty="0">
                <a:latin typeface="Trebuchet MS"/>
                <a:cs typeface="Trebuchet MS"/>
              </a:rPr>
              <a:t> </a:t>
            </a:r>
            <a:r>
              <a:rPr sz="2300" spc="-75" dirty="0">
                <a:latin typeface="Trebuchet MS"/>
                <a:cs typeface="Trebuchet MS"/>
              </a:rPr>
              <a:t>the</a:t>
            </a:r>
            <a:r>
              <a:rPr sz="2300" spc="-170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sender</a:t>
            </a:r>
            <a:r>
              <a:rPr sz="2300" spc="-195" dirty="0">
                <a:latin typeface="Trebuchet MS"/>
                <a:cs typeface="Trebuchet MS"/>
              </a:rPr>
              <a:t> </a:t>
            </a:r>
            <a:r>
              <a:rPr sz="2300" spc="-95" dirty="0">
                <a:latin typeface="Trebuchet MS"/>
                <a:cs typeface="Trebuchet MS"/>
              </a:rPr>
              <a:t>will</a:t>
            </a:r>
            <a:r>
              <a:rPr sz="2300" spc="-18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stop</a:t>
            </a:r>
            <a:r>
              <a:rPr sz="2300" spc="-180" dirty="0">
                <a:latin typeface="Trebuchet MS"/>
                <a:cs typeface="Trebuchet MS"/>
              </a:rPr>
              <a:t> </a:t>
            </a:r>
            <a:r>
              <a:rPr sz="2300" spc="-70" dirty="0">
                <a:latin typeface="Trebuchet MS"/>
                <a:cs typeface="Trebuchet MS"/>
              </a:rPr>
              <a:t>transmitting</a:t>
            </a:r>
            <a:r>
              <a:rPr sz="2300" spc="-195" dirty="0">
                <a:latin typeface="Trebuchet MS"/>
                <a:cs typeface="Trebuchet MS"/>
              </a:rPr>
              <a:t> </a:t>
            </a:r>
            <a:r>
              <a:rPr sz="2300" spc="-75" dirty="0">
                <a:latin typeface="Trebuchet MS"/>
                <a:cs typeface="Trebuchet MS"/>
              </a:rPr>
              <a:t>the</a:t>
            </a:r>
            <a:r>
              <a:rPr sz="2300" spc="-170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data.</a:t>
            </a:r>
            <a:endParaRPr sz="2300">
              <a:latin typeface="Trebuchet MS"/>
              <a:cs typeface="Trebuchet MS"/>
            </a:endParaRPr>
          </a:p>
          <a:p>
            <a:pPr marL="436245" indent="-226695">
              <a:lnSpc>
                <a:spcPct val="100000"/>
              </a:lnSpc>
              <a:spcBef>
                <a:spcPts val="335"/>
              </a:spcBef>
              <a:buChar char="•"/>
              <a:tabLst>
                <a:tab pos="436245" algn="l"/>
              </a:tabLst>
            </a:pPr>
            <a:r>
              <a:rPr sz="2300" spc="-125" dirty="0">
                <a:latin typeface="Trebuchet MS"/>
                <a:cs typeface="Trebuchet MS"/>
              </a:rPr>
              <a:t>Therefore,</a:t>
            </a:r>
            <a:r>
              <a:rPr sz="2300" spc="-204" dirty="0">
                <a:latin typeface="Trebuchet MS"/>
                <a:cs typeface="Trebuchet MS"/>
              </a:rPr>
              <a:t> </a:t>
            </a:r>
            <a:r>
              <a:rPr sz="2300" spc="-150" dirty="0">
                <a:latin typeface="Trebuchet MS"/>
                <a:cs typeface="Trebuchet MS"/>
              </a:rPr>
              <a:t>it</a:t>
            </a:r>
            <a:r>
              <a:rPr sz="2300" spc="-180" dirty="0">
                <a:latin typeface="Trebuchet MS"/>
                <a:cs typeface="Trebuchet MS"/>
              </a:rPr>
              <a:t> </a:t>
            </a:r>
            <a:r>
              <a:rPr sz="2300" b="1" spc="-25" dirty="0">
                <a:latin typeface="Trebuchet MS"/>
                <a:cs typeface="Trebuchet MS"/>
              </a:rPr>
              <a:t>works</a:t>
            </a:r>
            <a:r>
              <a:rPr sz="2300" b="1" spc="-204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on</a:t>
            </a:r>
            <a:r>
              <a:rPr sz="2300" spc="-200" dirty="0">
                <a:latin typeface="Trebuchet MS"/>
                <a:cs typeface="Trebuchet MS"/>
              </a:rPr>
              <a:t> </a:t>
            </a:r>
            <a:r>
              <a:rPr sz="2300" spc="-55" dirty="0">
                <a:latin typeface="Trebuchet MS"/>
                <a:cs typeface="Trebuchet MS"/>
              </a:rPr>
              <a:t>"recovery</a:t>
            </a:r>
            <a:r>
              <a:rPr sz="2300" spc="-195" dirty="0">
                <a:latin typeface="Trebuchet MS"/>
                <a:cs typeface="Trebuchet MS"/>
              </a:rPr>
              <a:t> </a:t>
            </a:r>
            <a:r>
              <a:rPr sz="2300" spc="-110" dirty="0">
                <a:latin typeface="Trebuchet MS"/>
                <a:cs typeface="Trebuchet MS"/>
              </a:rPr>
              <a:t>after</a:t>
            </a:r>
            <a:r>
              <a:rPr sz="2300" spc="-190" dirty="0">
                <a:latin typeface="Trebuchet MS"/>
                <a:cs typeface="Trebuchet MS"/>
              </a:rPr>
              <a:t> </a:t>
            </a:r>
            <a:r>
              <a:rPr sz="2300" spc="-75" dirty="0">
                <a:latin typeface="Trebuchet MS"/>
                <a:cs typeface="Trebuchet MS"/>
              </a:rPr>
              <a:t>the</a:t>
            </a:r>
            <a:r>
              <a:rPr sz="2300" spc="-18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collision".</a:t>
            </a:r>
            <a:endParaRPr sz="2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415"/>
              </a:spcBef>
            </a:pPr>
            <a:r>
              <a:rPr sz="3000" b="1" spc="165" dirty="0">
                <a:latin typeface="Trebuchet MS"/>
                <a:cs typeface="Trebuchet MS"/>
              </a:rPr>
              <a:t>CSMA</a:t>
            </a:r>
            <a:r>
              <a:rPr sz="3000" b="1" spc="-305" dirty="0">
                <a:latin typeface="Trebuchet MS"/>
                <a:cs typeface="Trebuchet MS"/>
              </a:rPr>
              <a:t> </a:t>
            </a:r>
            <a:r>
              <a:rPr sz="3000" b="1" spc="70" dirty="0">
                <a:latin typeface="Trebuchet MS"/>
                <a:cs typeface="Trebuchet MS"/>
              </a:rPr>
              <a:t>CA</a:t>
            </a:r>
            <a:endParaRPr sz="3000">
              <a:latin typeface="Trebuchet MS"/>
              <a:cs typeface="Trebuchet MS"/>
            </a:endParaRPr>
          </a:p>
          <a:p>
            <a:pPr marL="436245" marR="180975" indent="-226695">
              <a:lnSpc>
                <a:spcPts val="2530"/>
              </a:lnSpc>
              <a:spcBef>
                <a:spcPts val="1665"/>
              </a:spcBef>
              <a:buChar char="•"/>
              <a:tabLst>
                <a:tab pos="438150" algn="l"/>
              </a:tabLst>
            </a:pPr>
            <a:r>
              <a:rPr sz="2300" spc="135" dirty="0">
                <a:latin typeface="Trebuchet MS"/>
                <a:cs typeface="Trebuchet MS"/>
              </a:rPr>
              <a:t>CSMA</a:t>
            </a:r>
            <a:r>
              <a:rPr sz="2300" spc="-215" dirty="0">
                <a:latin typeface="Trebuchet MS"/>
                <a:cs typeface="Trebuchet MS"/>
              </a:rPr>
              <a:t> </a:t>
            </a:r>
            <a:r>
              <a:rPr sz="2300" spc="95" dirty="0">
                <a:latin typeface="Trebuchet MS"/>
                <a:cs typeface="Trebuchet MS"/>
              </a:rPr>
              <a:t>CA</a:t>
            </a:r>
            <a:r>
              <a:rPr sz="2300" spc="-185" dirty="0">
                <a:latin typeface="Trebuchet MS"/>
                <a:cs typeface="Trebuchet MS"/>
              </a:rPr>
              <a:t> </a:t>
            </a:r>
            <a:r>
              <a:rPr sz="2300" spc="-20" dirty="0">
                <a:latin typeface="Trebuchet MS"/>
                <a:cs typeface="Trebuchet MS"/>
              </a:rPr>
              <a:t>(Collision</a:t>
            </a:r>
            <a:r>
              <a:rPr sz="2300" spc="-204" dirty="0">
                <a:latin typeface="Trebuchet MS"/>
                <a:cs typeface="Trebuchet MS"/>
              </a:rPr>
              <a:t> </a:t>
            </a:r>
            <a:r>
              <a:rPr sz="2300" spc="-45" dirty="0">
                <a:latin typeface="Trebuchet MS"/>
                <a:cs typeface="Trebuchet MS"/>
              </a:rPr>
              <a:t>Avoidance)</a:t>
            </a:r>
            <a:r>
              <a:rPr sz="2300" spc="-21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is</a:t>
            </a:r>
            <a:r>
              <a:rPr sz="2300" spc="-180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an</a:t>
            </a:r>
            <a:r>
              <a:rPr sz="2300" spc="-185" dirty="0">
                <a:latin typeface="Trebuchet MS"/>
                <a:cs typeface="Trebuchet MS"/>
              </a:rPr>
              <a:t> </a:t>
            </a:r>
            <a:r>
              <a:rPr sz="2300" spc="75" dirty="0">
                <a:latin typeface="Trebuchet MS"/>
                <a:cs typeface="Trebuchet MS"/>
              </a:rPr>
              <a:t>access</a:t>
            </a:r>
            <a:r>
              <a:rPr sz="2300" spc="-195" dirty="0">
                <a:latin typeface="Trebuchet MS"/>
                <a:cs typeface="Trebuchet MS"/>
              </a:rPr>
              <a:t> </a:t>
            </a:r>
            <a:r>
              <a:rPr sz="2300" spc="-35" dirty="0">
                <a:latin typeface="Trebuchet MS"/>
                <a:cs typeface="Trebuchet MS"/>
              </a:rPr>
              <a:t>method</a:t>
            </a:r>
            <a:r>
              <a:rPr sz="2300" spc="-20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used</a:t>
            </a:r>
            <a:r>
              <a:rPr sz="2300" spc="-180" dirty="0">
                <a:latin typeface="Trebuchet MS"/>
                <a:cs typeface="Trebuchet MS"/>
              </a:rPr>
              <a:t> </a:t>
            </a:r>
            <a:r>
              <a:rPr sz="2300" spc="-90" dirty="0">
                <a:latin typeface="Trebuchet MS"/>
                <a:cs typeface="Trebuchet MS"/>
              </a:rPr>
              <a:t>to</a:t>
            </a:r>
            <a:r>
              <a:rPr sz="2300" spc="-195" dirty="0">
                <a:latin typeface="Trebuchet MS"/>
                <a:cs typeface="Trebuchet MS"/>
              </a:rPr>
              <a:t> </a:t>
            </a:r>
            <a:r>
              <a:rPr sz="2300" spc="-45" dirty="0">
                <a:latin typeface="Trebuchet MS"/>
                <a:cs typeface="Trebuchet MS"/>
              </a:rPr>
              <a:t>avoid</a:t>
            </a:r>
            <a:r>
              <a:rPr sz="2300" spc="-180" dirty="0">
                <a:latin typeface="Trebuchet MS"/>
                <a:cs typeface="Trebuchet MS"/>
              </a:rPr>
              <a:t> </a:t>
            </a:r>
            <a:r>
              <a:rPr sz="2300" spc="-85" dirty="0">
                <a:latin typeface="Trebuchet MS"/>
                <a:cs typeface="Trebuchet MS"/>
              </a:rPr>
              <a:t>the</a:t>
            </a:r>
            <a:r>
              <a:rPr sz="2300" spc="-19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collision 	</a:t>
            </a:r>
            <a:r>
              <a:rPr sz="2300" spc="-70" dirty="0">
                <a:latin typeface="Trebuchet MS"/>
                <a:cs typeface="Trebuchet MS"/>
              </a:rPr>
              <a:t>by</a:t>
            </a:r>
            <a:r>
              <a:rPr sz="2300" spc="-195" dirty="0">
                <a:latin typeface="Trebuchet MS"/>
                <a:cs typeface="Trebuchet MS"/>
              </a:rPr>
              <a:t> </a:t>
            </a:r>
            <a:r>
              <a:rPr sz="2300" spc="-25" dirty="0">
                <a:latin typeface="Trebuchet MS"/>
                <a:cs typeface="Trebuchet MS"/>
              </a:rPr>
              <a:t>checking</a:t>
            </a:r>
            <a:r>
              <a:rPr sz="2300" spc="-190" dirty="0">
                <a:latin typeface="Trebuchet MS"/>
                <a:cs typeface="Trebuchet MS"/>
              </a:rPr>
              <a:t> </a:t>
            </a:r>
            <a:r>
              <a:rPr sz="2300" spc="-75" dirty="0">
                <a:latin typeface="Trebuchet MS"/>
                <a:cs typeface="Trebuchet MS"/>
              </a:rPr>
              <a:t>whether</a:t>
            </a:r>
            <a:r>
              <a:rPr sz="2300" spc="-200" dirty="0">
                <a:latin typeface="Trebuchet MS"/>
                <a:cs typeface="Trebuchet MS"/>
              </a:rPr>
              <a:t> </a:t>
            </a:r>
            <a:r>
              <a:rPr sz="2300" spc="-75" dirty="0">
                <a:latin typeface="Trebuchet MS"/>
                <a:cs typeface="Trebuchet MS"/>
              </a:rPr>
              <a:t>the</a:t>
            </a:r>
            <a:r>
              <a:rPr sz="2300" spc="-18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transmission</a:t>
            </a:r>
            <a:r>
              <a:rPr sz="2300" spc="-204" dirty="0">
                <a:latin typeface="Trebuchet MS"/>
                <a:cs typeface="Trebuchet MS"/>
              </a:rPr>
              <a:t> </a:t>
            </a:r>
            <a:r>
              <a:rPr sz="2300" spc="-35" dirty="0">
                <a:latin typeface="Trebuchet MS"/>
                <a:cs typeface="Trebuchet MS"/>
              </a:rPr>
              <a:t>media</a:t>
            </a:r>
            <a:r>
              <a:rPr sz="2300" spc="-18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is</a:t>
            </a:r>
            <a:r>
              <a:rPr sz="2300" spc="-21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busy</a:t>
            </a:r>
            <a:r>
              <a:rPr sz="2300" spc="-190" dirty="0">
                <a:latin typeface="Trebuchet MS"/>
                <a:cs typeface="Trebuchet MS"/>
              </a:rPr>
              <a:t> </a:t>
            </a:r>
            <a:r>
              <a:rPr sz="2300" spc="-65" dirty="0">
                <a:latin typeface="Trebuchet MS"/>
                <a:cs typeface="Trebuchet MS"/>
              </a:rPr>
              <a:t>or</a:t>
            </a:r>
            <a:r>
              <a:rPr sz="2300" spc="-185" dirty="0">
                <a:latin typeface="Trebuchet MS"/>
                <a:cs typeface="Trebuchet MS"/>
              </a:rPr>
              <a:t> </a:t>
            </a:r>
            <a:r>
              <a:rPr sz="2300" spc="-20" dirty="0">
                <a:latin typeface="Trebuchet MS"/>
                <a:cs typeface="Trebuchet MS"/>
              </a:rPr>
              <a:t>not.</a:t>
            </a:r>
            <a:endParaRPr sz="2300">
              <a:latin typeface="Trebuchet MS"/>
              <a:cs typeface="Trebuchet MS"/>
            </a:endParaRPr>
          </a:p>
          <a:p>
            <a:pPr marL="436880" indent="-227329">
              <a:lnSpc>
                <a:spcPct val="100000"/>
              </a:lnSpc>
              <a:spcBef>
                <a:spcPts val="280"/>
              </a:spcBef>
              <a:buChar char="•"/>
              <a:tabLst>
                <a:tab pos="436880" algn="l"/>
              </a:tabLst>
            </a:pPr>
            <a:r>
              <a:rPr sz="2300" spc="-105" dirty="0">
                <a:latin typeface="Trebuchet MS"/>
                <a:cs typeface="Trebuchet MS"/>
              </a:rPr>
              <a:t>If</a:t>
            </a:r>
            <a:r>
              <a:rPr sz="2300" spc="-170" dirty="0">
                <a:latin typeface="Trebuchet MS"/>
                <a:cs typeface="Trebuchet MS"/>
              </a:rPr>
              <a:t> </a:t>
            </a:r>
            <a:r>
              <a:rPr sz="2300" spc="-65" dirty="0">
                <a:latin typeface="Trebuchet MS"/>
                <a:cs typeface="Trebuchet MS"/>
              </a:rPr>
              <a:t>busy,</a:t>
            </a:r>
            <a:r>
              <a:rPr sz="2300" spc="-195" dirty="0">
                <a:latin typeface="Trebuchet MS"/>
                <a:cs typeface="Trebuchet MS"/>
              </a:rPr>
              <a:t> </a:t>
            </a:r>
            <a:r>
              <a:rPr sz="2300" spc="-60" dirty="0">
                <a:latin typeface="Trebuchet MS"/>
                <a:cs typeface="Trebuchet MS"/>
              </a:rPr>
              <a:t>then</a:t>
            </a:r>
            <a:r>
              <a:rPr sz="2300" spc="-170" dirty="0">
                <a:latin typeface="Trebuchet MS"/>
                <a:cs typeface="Trebuchet MS"/>
              </a:rPr>
              <a:t> </a:t>
            </a:r>
            <a:r>
              <a:rPr sz="2300" spc="-75" dirty="0">
                <a:latin typeface="Trebuchet MS"/>
                <a:cs typeface="Trebuchet MS"/>
              </a:rPr>
              <a:t>the</a:t>
            </a:r>
            <a:r>
              <a:rPr sz="2300" spc="-185" dirty="0">
                <a:latin typeface="Trebuchet MS"/>
                <a:cs typeface="Trebuchet MS"/>
              </a:rPr>
              <a:t> </a:t>
            </a:r>
            <a:r>
              <a:rPr sz="2300" spc="-20" dirty="0">
                <a:latin typeface="Trebuchet MS"/>
                <a:cs typeface="Trebuchet MS"/>
              </a:rPr>
              <a:t>sender</a:t>
            </a:r>
            <a:r>
              <a:rPr sz="2300" spc="-185" dirty="0">
                <a:latin typeface="Trebuchet MS"/>
                <a:cs typeface="Trebuchet MS"/>
              </a:rPr>
              <a:t> </a:t>
            </a:r>
            <a:r>
              <a:rPr sz="2300" spc="-45" dirty="0">
                <a:latin typeface="Trebuchet MS"/>
                <a:cs typeface="Trebuchet MS"/>
              </a:rPr>
              <a:t>waits</a:t>
            </a:r>
            <a:r>
              <a:rPr sz="2300" spc="-165" dirty="0">
                <a:latin typeface="Trebuchet MS"/>
                <a:cs typeface="Trebuchet MS"/>
              </a:rPr>
              <a:t> </a:t>
            </a:r>
            <a:r>
              <a:rPr sz="2300" spc="-80" dirty="0">
                <a:latin typeface="Trebuchet MS"/>
                <a:cs typeface="Trebuchet MS"/>
              </a:rPr>
              <a:t>until</a:t>
            </a:r>
            <a:r>
              <a:rPr sz="2300" spc="-175" dirty="0">
                <a:latin typeface="Trebuchet MS"/>
                <a:cs typeface="Trebuchet MS"/>
              </a:rPr>
              <a:t> </a:t>
            </a:r>
            <a:r>
              <a:rPr sz="2300" spc="-75" dirty="0">
                <a:latin typeface="Trebuchet MS"/>
                <a:cs typeface="Trebuchet MS"/>
              </a:rPr>
              <a:t>the</a:t>
            </a:r>
            <a:r>
              <a:rPr sz="2300" spc="-185" dirty="0">
                <a:latin typeface="Trebuchet MS"/>
                <a:cs typeface="Trebuchet MS"/>
              </a:rPr>
              <a:t> </a:t>
            </a:r>
            <a:r>
              <a:rPr sz="2300" spc="-25" dirty="0">
                <a:latin typeface="Trebuchet MS"/>
                <a:cs typeface="Trebuchet MS"/>
              </a:rPr>
              <a:t>media</a:t>
            </a:r>
            <a:r>
              <a:rPr sz="2300" spc="-18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becomes</a:t>
            </a:r>
            <a:r>
              <a:rPr sz="2300" spc="-204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idle.</a:t>
            </a:r>
            <a:endParaRPr sz="2300">
              <a:latin typeface="Trebuchet MS"/>
              <a:cs typeface="Trebuchet MS"/>
            </a:endParaRPr>
          </a:p>
          <a:p>
            <a:pPr marL="436245" indent="-226695">
              <a:lnSpc>
                <a:spcPct val="100000"/>
              </a:lnSpc>
              <a:spcBef>
                <a:spcPts val="325"/>
              </a:spcBef>
              <a:buChar char="•"/>
              <a:tabLst>
                <a:tab pos="436245" algn="l"/>
              </a:tabLst>
            </a:pPr>
            <a:r>
              <a:rPr sz="2300" spc="-50" dirty="0">
                <a:latin typeface="Trebuchet MS"/>
                <a:cs typeface="Trebuchet MS"/>
              </a:rPr>
              <a:t>This</a:t>
            </a:r>
            <a:r>
              <a:rPr sz="2300" spc="-195" dirty="0">
                <a:latin typeface="Trebuchet MS"/>
                <a:cs typeface="Trebuchet MS"/>
              </a:rPr>
              <a:t> </a:t>
            </a:r>
            <a:r>
              <a:rPr sz="2300" spc="-40" dirty="0">
                <a:latin typeface="Trebuchet MS"/>
                <a:cs typeface="Trebuchet MS"/>
              </a:rPr>
              <a:t>technique</a:t>
            </a:r>
            <a:r>
              <a:rPr sz="2300" spc="-210" dirty="0">
                <a:latin typeface="Trebuchet MS"/>
                <a:cs typeface="Trebuchet MS"/>
              </a:rPr>
              <a:t> </a:t>
            </a:r>
            <a:r>
              <a:rPr sz="2300" spc="-100" dirty="0">
                <a:latin typeface="Trebuchet MS"/>
                <a:cs typeface="Trebuchet MS"/>
              </a:rPr>
              <a:t>effectively</a:t>
            </a:r>
            <a:r>
              <a:rPr sz="2300" spc="-204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reduces</a:t>
            </a:r>
            <a:r>
              <a:rPr sz="2300" spc="-175" dirty="0">
                <a:latin typeface="Trebuchet MS"/>
                <a:cs typeface="Trebuchet MS"/>
              </a:rPr>
              <a:t> </a:t>
            </a:r>
            <a:r>
              <a:rPr sz="2300" spc="-75" dirty="0">
                <a:latin typeface="Trebuchet MS"/>
                <a:cs typeface="Trebuchet MS"/>
              </a:rPr>
              <a:t>the</a:t>
            </a:r>
            <a:r>
              <a:rPr sz="2300" spc="-200" dirty="0">
                <a:latin typeface="Trebuchet MS"/>
                <a:cs typeface="Trebuchet MS"/>
              </a:rPr>
              <a:t> </a:t>
            </a:r>
            <a:r>
              <a:rPr sz="2300" spc="-30" dirty="0">
                <a:latin typeface="Trebuchet MS"/>
                <a:cs typeface="Trebuchet MS"/>
              </a:rPr>
              <a:t>possibility</a:t>
            </a:r>
            <a:r>
              <a:rPr sz="2300" spc="-200" dirty="0">
                <a:latin typeface="Trebuchet MS"/>
                <a:cs typeface="Trebuchet MS"/>
              </a:rPr>
              <a:t> </a:t>
            </a:r>
            <a:r>
              <a:rPr sz="2300" spc="-75" dirty="0">
                <a:latin typeface="Trebuchet MS"/>
                <a:cs typeface="Trebuchet MS"/>
              </a:rPr>
              <a:t>of</a:t>
            </a:r>
            <a:r>
              <a:rPr sz="2300" spc="-190" dirty="0">
                <a:latin typeface="Trebuchet MS"/>
                <a:cs typeface="Trebuchet MS"/>
              </a:rPr>
              <a:t> </a:t>
            </a:r>
            <a:r>
              <a:rPr sz="2300" spc="-75" dirty="0">
                <a:latin typeface="Trebuchet MS"/>
                <a:cs typeface="Trebuchet MS"/>
              </a:rPr>
              <a:t>the</a:t>
            </a:r>
            <a:r>
              <a:rPr sz="2300" spc="-17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collision.</a:t>
            </a:r>
            <a:endParaRPr sz="2300">
              <a:latin typeface="Trebuchet MS"/>
              <a:cs typeface="Trebuchet MS"/>
            </a:endParaRPr>
          </a:p>
          <a:p>
            <a:pPr marL="436245" indent="-226695">
              <a:lnSpc>
                <a:spcPct val="100000"/>
              </a:lnSpc>
              <a:spcBef>
                <a:spcPts val="335"/>
              </a:spcBef>
              <a:buChar char="•"/>
              <a:tabLst>
                <a:tab pos="436245" algn="l"/>
              </a:tabLst>
            </a:pPr>
            <a:r>
              <a:rPr sz="2300" spc="-120" dirty="0">
                <a:latin typeface="Trebuchet MS"/>
                <a:cs typeface="Trebuchet MS"/>
              </a:rPr>
              <a:t>It</a:t>
            </a:r>
            <a:r>
              <a:rPr sz="2300" spc="-18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does</a:t>
            </a:r>
            <a:r>
              <a:rPr sz="2300" spc="-190" dirty="0">
                <a:latin typeface="Trebuchet MS"/>
                <a:cs typeface="Trebuchet MS"/>
              </a:rPr>
              <a:t> </a:t>
            </a:r>
            <a:r>
              <a:rPr sz="2300" b="1" spc="-45" dirty="0">
                <a:latin typeface="Trebuchet MS"/>
                <a:cs typeface="Trebuchet MS"/>
              </a:rPr>
              <a:t>not</a:t>
            </a:r>
            <a:r>
              <a:rPr sz="2300" b="1" spc="-180" dirty="0">
                <a:latin typeface="Trebuchet MS"/>
                <a:cs typeface="Trebuchet MS"/>
              </a:rPr>
              <a:t> </a:t>
            </a:r>
            <a:r>
              <a:rPr sz="2300" b="1" spc="-75" dirty="0">
                <a:latin typeface="Trebuchet MS"/>
                <a:cs typeface="Trebuchet MS"/>
              </a:rPr>
              <a:t>work</a:t>
            </a:r>
            <a:r>
              <a:rPr sz="2300" b="1" spc="-17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on</a:t>
            </a:r>
            <a:r>
              <a:rPr sz="2300" spc="-190" dirty="0">
                <a:latin typeface="Trebuchet MS"/>
                <a:cs typeface="Trebuchet MS"/>
              </a:rPr>
              <a:t> </a:t>
            </a:r>
            <a:r>
              <a:rPr sz="2300" spc="-55" dirty="0">
                <a:latin typeface="Trebuchet MS"/>
                <a:cs typeface="Trebuchet MS"/>
              </a:rPr>
              <a:t>"recovery</a:t>
            </a:r>
            <a:r>
              <a:rPr sz="2300" spc="-185" dirty="0">
                <a:latin typeface="Trebuchet MS"/>
                <a:cs typeface="Trebuchet MS"/>
              </a:rPr>
              <a:t> </a:t>
            </a:r>
            <a:r>
              <a:rPr sz="2300" spc="-110" dirty="0">
                <a:latin typeface="Trebuchet MS"/>
                <a:cs typeface="Trebuchet MS"/>
              </a:rPr>
              <a:t>after</a:t>
            </a:r>
            <a:r>
              <a:rPr sz="2300" spc="-180" dirty="0">
                <a:latin typeface="Trebuchet MS"/>
                <a:cs typeface="Trebuchet MS"/>
              </a:rPr>
              <a:t> </a:t>
            </a:r>
            <a:r>
              <a:rPr sz="2300" spc="-75" dirty="0">
                <a:latin typeface="Trebuchet MS"/>
                <a:cs typeface="Trebuchet MS"/>
              </a:rPr>
              <a:t>the</a:t>
            </a:r>
            <a:r>
              <a:rPr sz="2300" spc="-17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collision".</a:t>
            </a:r>
            <a:endParaRPr sz="2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80" dirty="0"/>
              <a:t>Advantages</a:t>
            </a:r>
            <a:r>
              <a:rPr spc="-425" dirty="0"/>
              <a:t> </a:t>
            </a:r>
            <a:r>
              <a:rPr spc="-265" dirty="0"/>
              <a:t>of</a:t>
            </a:r>
            <a:r>
              <a:rPr spc="-405" dirty="0"/>
              <a:t> </a:t>
            </a:r>
            <a:r>
              <a:rPr dirty="0"/>
              <a:t>Bus</a:t>
            </a:r>
            <a:r>
              <a:rPr spc="-405" dirty="0"/>
              <a:t> </a:t>
            </a:r>
            <a:r>
              <a:rPr spc="-285" dirty="0"/>
              <a:t>Topology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35799" y="1824393"/>
            <a:ext cx="2390140" cy="779780"/>
            <a:chOff x="835799" y="1824393"/>
            <a:chExt cx="2390140" cy="7797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2149" y="1830743"/>
              <a:ext cx="2377313" cy="76704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42149" y="1830743"/>
              <a:ext cx="2377440" cy="767080"/>
            </a:xfrm>
            <a:custGeom>
              <a:avLst/>
              <a:gdLst/>
              <a:ahLst/>
              <a:cxnLst/>
              <a:rect l="l" t="t" r="r" b="b"/>
              <a:pathLst>
                <a:path w="2377440" h="767080">
                  <a:moveTo>
                    <a:pt x="0" y="767041"/>
                  </a:moveTo>
                  <a:lnTo>
                    <a:pt x="2377313" y="767041"/>
                  </a:lnTo>
                  <a:lnTo>
                    <a:pt x="2377313" y="0"/>
                  </a:lnTo>
                  <a:lnTo>
                    <a:pt x="0" y="0"/>
                  </a:lnTo>
                  <a:lnTo>
                    <a:pt x="0" y="767041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48499" y="2007489"/>
            <a:ext cx="236474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8760">
              <a:lnSpc>
                <a:spcPct val="100000"/>
              </a:lnSpc>
              <a:spcBef>
                <a:spcPts val="100"/>
              </a:spcBef>
            </a:pPr>
            <a:r>
              <a:rPr sz="2100" b="1" spc="-65" dirty="0">
                <a:latin typeface="Trebuchet MS"/>
                <a:cs typeface="Trebuchet MS"/>
              </a:rPr>
              <a:t>Low-</a:t>
            </a:r>
            <a:r>
              <a:rPr sz="2100" b="1" dirty="0">
                <a:latin typeface="Trebuchet MS"/>
                <a:cs typeface="Trebuchet MS"/>
              </a:rPr>
              <a:t>cost</a:t>
            </a:r>
            <a:r>
              <a:rPr sz="2100" b="1" spc="-35" dirty="0">
                <a:latin typeface="Trebuchet MS"/>
                <a:cs typeface="Trebuchet MS"/>
              </a:rPr>
              <a:t> </a:t>
            </a:r>
            <a:r>
              <a:rPr sz="2100" b="1" spc="-10" dirty="0">
                <a:latin typeface="Trebuchet MS"/>
                <a:cs typeface="Trebuchet MS"/>
              </a:rPr>
              <a:t>Cable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42149" y="2597772"/>
            <a:ext cx="2377440" cy="3574415"/>
          </a:xfrm>
          <a:custGeom>
            <a:avLst/>
            <a:gdLst/>
            <a:ahLst/>
            <a:cxnLst/>
            <a:rect l="l" t="t" r="r" b="b"/>
            <a:pathLst>
              <a:path w="2377440" h="3574415">
                <a:moveTo>
                  <a:pt x="0" y="3574034"/>
                </a:moveTo>
                <a:lnTo>
                  <a:pt x="2377313" y="3574034"/>
                </a:lnTo>
                <a:lnTo>
                  <a:pt x="2377313" y="0"/>
                </a:lnTo>
                <a:lnTo>
                  <a:pt x="0" y="0"/>
                </a:lnTo>
                <a:lnTo>
                  <a:pt x="0" y="3574034"/>
                </a:lnTo>
                <a:close/>
              </a:path>
            </a:pathLst>
          </a:custGeom>
          <a:ln w="12700">
            <a:solidFill>
              <a:srgbClr val="F7D4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35799" y="2591422"/>
            <a:ext cx="2390140" cy="3587115"/>
          </a:xfrm>
          <a:prstGeom prst="rect">
            <a:avLst/>
          </a:prstGeom>
          <a:solidFill>
            <a:srgbClr val="F7D4CD">
              <a:alpha val="90194"/>
            </a:srgbClr>
          </a:solidFill>
        </p:spPr>
        <p:txBody>
          <a:bodyPr vert="horz" wrap="square" lIns="0" tIns="98425" rIns="0" bIns="0" rtlCol="0">
            <a:spAutoFit/>
          </a:bodyPr>
          <a:lstStyle/>
          <a:p>
            <a:pPr marL="346710" marR="219710" indent="-228600">
              <a:lnSpc>
                <a:spcPct val="91600"/>
              </a:lnSpc>
              <a:spcBef>
                <a:spcPts val="775"/>
              </a:spcBef>
              <a:buChar char="•"/>
              <a:tabLst>
                <a:tab pos="346710" algn="l"/>
              </a:tabLst>
            </a:pPr>
            <a:r>
              <a:rPr sz="2100" spc="-25" dirty="0">
                <a:latin typeface="Trebuchet MS"/>
                <a:cs typeface="Trebuchet MS"/>
              </a:rPr>
              <a:t>In</a:t>
            </a:r>
            <a:r>
              <a:rPr sz="2100" spc="-200" dirty="0">
                <a:latin typeface="Trebuchet MS"/>
                <a:cs typeface="Trebuchet MS"/>
              </a:rPr>
              <a:t> </a:t>
            </a:r>
            <a:r>
              <a:rPr sz="2100" spc="60" dirty="0">
                <a:latin typeface="Trebuchet MS"/>
                <a:cs typeface="Trebuchet MS"/>
              </a:rPr>
              <a:t>bus</a:t>
            </a:r>
            <a:r>
              <a:rPr sz="2100" spc="-204" dirty="0">
                <a:latin typeface="Trebuchet MS"/>
                <a:cs typeface="Trebuchet MS"/>
              </a:rPr>
              <a:t> </a:t>
            </a:r>
            <a:r>
              <a:rPr sz="2100" spc="-65" dirty="0">
                <a:latin typeface="Trebuchet MS"/>
                <a:cs typeface="Trebuchet MS"/>
              </a:rPr>
              <a:t>topology, </a:t>
            </a:r>
            <a:r>
              <a:rPr sz="2100" dirty="0">
                <a:latin typeface="Trebuchet MS"/>
                <a:cs typeface="Trebuchet MS"/>
              </a:rPr>
              <a:t>nodes</a:t>
            </a:r>
            <a:r>
              <a:rPr sz="2100" spc="-50" dirty="0">
                <a:latin typeface="Trebuchet MS"/>
                <a:cs typeface="Trebuchet MS"/>
              </a:rPr>
              <a:t> </a:t>
            </a:r>
            <a:r>
              <a:rPr sz="2100" spc="-25" dirty="0">
                <a:latin typeface="Trebuchet MS"/>
                <a:cs typeface="Trebuchet MS"/>
              </a:rPr>
              <a:t>are </a:t>
            </a:r>
            <a:r>
              <a:rPr sz="2100" spc="-10" dirty="0">
                <a:latin typeface="Trebuchet MS"/>
                <a:cs typeface="Trebuchet MS"/>
              </a:rPr>
              <a:t>directly </a:t>
            </a:r>
            <a:r>
              <a:rPr sz="2100" spc="-25" dirty="0">
                <a:latin typeface="Trebuchet MS"/>
                <a:cs typeface="Trebuchet MS"/>
              </a:rPr>
              <a:t>connected</a:t>
            </a:r>
            <a:r>
              <a:rPr sz="2100" spc="-140" dirty="0">
                <a:latin typeface="Trebuchet MS"/>
                <a:cs typeface="Trebuchet MS"/>
              </a:rPr>
              <a:t> </a:t>
            </a:r>
            <a:r>
              <a:rPr sz="2100" spc="-25" dirty="0">
                <a:latin typeface="Trebuchet MS"/>
                <a:cs typeface="Trebuchet MS"/>
              </a:rPr>
              <a:t>to </a:t>
            </a:r>
            <a:r>
              <a:rPr sz="2100" spc="-80" dirty="0">
                <a:latin typeface="Trebuchet MS"/>
                <a:cs typeface="Trebuchet MS"/>
              </a:rPr>
              <a:t>the</a:t>
            </a:r>
            <a:r>
              <a:rPr sz="2100" spc="-190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cable </a:t>
            </a:r>
            <a:r>
              <a:rPr sz="2100" spc="-75" dirty="0">
                <a:latin typeface="Trebuchet MS"/>
                <a:cs typeface="Trebuchet MS"/>
              </a:rPr>
              <a:t>without</a:t>
            </a:r>
            <a:r>
              <a:rPr sz="2100" spc="-165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passing </a:t>
            </a:r>
            <a:r>
              <a:rPr sz="2100" spc="-50" dirty="0">
                <a:latin typeface="Trebuchet MS"/>
                <a:cs typeface="Trebuchet MS"/>
              </a:rPr>
              <a:t>through</a:t>
            </a:r>
            <a:r>
              <a:rPr sz="2100" spc="-204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a</a:t>
            </a:r>
            <a:r>
              <a:rPr sz="2100" spc="-180" dirty="0">
                <a:latin typeface="Trebuchet MS"/>
                <a:cs typeface="Trebuchet MS"/>
              </a:rPr>
              <a:t> </a:t>
            </a:r>
            <a:r>
              <a:rPr sz="2100" spc="-20" dirty="0">
                <a:latin typeface="Trebuchet MS"/>
                <a:cs typeface="Trebuchet MS"/>
              </a:rPr>
              <a:t>hub.</a:t>
            </a:r>
            <a:endParaRPr sz="2100">
              <a:latin typeface="Trebuchet MS"/>
              <a:cs typeface="Trebuchet MS"/>
            </a:endParaRPr>
          </a:p>
          <a:p>
            <a:pPr marL="346710" marR="448945" indent="-228600">
              <a:lnSpc>
                <a:spcPct val="91600"/>
              </a:lnSpc>
              <a:spcBef>
                <a:spcPts val="380"/>
              </a:spcBef>
              <a:buChar char="•"/>
              <a:tabLst>
                <a:tab pos="346710" algn="l"/>
              </a:tabLst>
            </a:pPr>
            <a:r>
              <a:rPr sz="2100" spc="-110" dirty="0">
                <a:latin typeface="Trebuchet MS"/>
                <a:cs typeface="Trebuchet MS"/>
              </a:rPr>
              <a:t>Therefore,</a:t>
            </a:r>
            <a:r>
              <a:rPr sz="2100" spc="-180" dirty="0">
                <a:latin typeface="Trebuchet MS"/>
                <a:cs typeface="Trebuchet MS"/>
              </a:rPr>
              <a:t> </a:t>
            </a:r>
            <a:r>
              <a:rPr sz="2100" spc="-65" dirty="0">
                <a:latin typeface="Trebuchet MS"/>
                <a:cs typeface="Trebuchet MS"/>
              </a:rPr>
              <a:t>the </a:t>
            </a:r>
            <a:r>
              <a:rPr sz="2100" spc="-85" dirty="0">
                <a:latin typeface="Trebuchet MS"/>
                <a:cs typeface="Trebuchet MS"/>
              </a:rPr>
              <a:t>initial</a:t>
            </a:r>
            <a:r>
              <a:rPr sz="2100" spc="-15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cost</a:t>
            </a:r>
            <a:r>
              <a:rPr sz="2100" spc="-135" dirty="0">
                <a:latin typeface="Trebuchet MS"/>
                <a:cs typeface="Trebuchet MS"/>
              </a:rPr>
              <a:t> </a:t>
            </a:r>
            <a:r>
              <a:rPr sz="2100" spc="-25" dirty="0">
                <a:latin typeface="Trebuchet MS"/>
                <a:cs typeface="Trebuchet MS"/>
              </a:rPr>
              <a:t>of </a:t>
            </a:r>
            <a:r>
              <a:rPr sz="2100" spc="-50" dirty="0">
                <a:latin typeface="Trebuchet MS"/>
                <a:cs typeface="Trebuchet MS"/>
              </a:rPr>
              <a:t>installation</a:t>
            </a:r>
            <a:r>
              <a:rPr sz="2100" spc="-140" dirty="0">
                <a:latin typeface="Trebuchet MS"/>
                <a:cs typeface="Trebuchet MS"/>
              </a:rPr>
              <a:t> </a:t>
            </a:r>
            <a:r>
              <a:rPr sz="2100" spc="-35" dirty="0">
                <a:latin typeface="Trebuchet MS"/>
                <a:cs typeface="Trebuchet MS"/>
              </a:rPr>
              <a:t>is </a:t>
            </a:r>
            <a:r>
              <a:rPr sz="2100" spc="-20" dirty="0">
                <a:latin typeface="Trebuchet MS"/>
                <a:cs typeface="Trebuchet MS"/>
              </a:rPr>
              <a:t>low.</a:t>
            </a:r>
            <a:endParaRPr sz="21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545966" y="1824393"/>
            <a:ext cx="2390140" cy="779780"/>
            <a:chOff x="3545966" y="1824393"/>
            <a:chExt cx="2390140" cy="77978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52316" y="1830743"/>
              <a:ext cx="2377313" cy="76704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552316" y="1830743"/>
              <a:ext cx="2377440" cy="767080"/>
            </a:xfrm>
            <a:custGeom>
              <a:avLst/>
              <a:gdLst/>
              <a:ahLst/>
              <a:cxnLst/>
              <a:rect l="l" t="t" r="r" b="b"/>
              <a:pathLst>
                <a:path w="2377440" h="767080">
                  <a:moveTo>
                    <a:pt x="0" y="767041"/>
                  </a:moveTo>
                  <a:lnTo>
                    <a:pt x="2377313" y="767041"/>
                  </a:lnTo>
                  <a:lnTo>
                    <a:pt x="2377313" y="0"/>
                  </a:lnTo>
                  <a:lnTo>
                    <a:pt x="0" y="0"/>
                  </a:lnTo>
                  <a:lnTo>
                    <a:pt x="0" y="767041"/>
                  </a:lnTo>
                  <a:close/>
                </a:path>
              </a:pathLst>
            </a:custGeom>
            <a:ln w="1270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558666" y="1860930"/>
            <a:ext cx="2364740" cy="63817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728345" marR="282575" indent="-439420">
              <a:lnSpc>
                <a:spcPts val="2300"/>
              </a:lnSpc>
              <a:spcBef>
                <a:spcPts val="360"/>
              </a:spcBef>
            </a:pPr>
            <a:r>
              <a:rPr sz="2100" b="1" spc="-30" dirty="0">
                <a:latin typeface="Trebuchet MS"/>
                <a:cs typeface="Trebuchet MS"/>
              </a:rPr>
              <a:t>Moderate</a:t>
            </a:r>
            <a:r>
              <a:rPr sz="2100" b="1" spc="-180" dirty="0">
                <a:latin typeface="Trebuchet MS"/>
                <a:cs typeface="Trebuchet MS"/>
              </a:rPr>
              <a:t> </a:t>
            </a:r>
            <a:r>
              <a:rPr sz="2100" b="1" spc="-20" dirty="0">
                <a:latin typeface="Trebuchet MS"/>
                <a:cs typeface="Trebuchet MS"/>
              </a:rPr>
              <a:t>Data </a:t>
            </a:r>
            <a:r>
              <a:rPr sz="2100" b="1" spc="-10" dirty="0">
                <a:latin typeface="Trebuchet MS"/>
                <a:cs typeface="Trebuchet MS"/>
              </a:rPr>
              <a:t>Speeds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552316" y="2597772"/>
            <a:ext cx="2377440" cy="3574415"/>
          </a:xfrm>
          <a:custGeom>
            <a:avLst/>
            <a:gdLst/>
            <a:ahLst/>
            <a:cxnLst/>
            <a:rect l="l" t="t" r="r" b="b"/>
            <a:pathLst>
              <a:path w="2377440" h="3574415">
                <a:moveTo>
                  <a:pt x="0" y="3574034"/>
                </a:moveTo>
                <a:lnTo>
                  <a:pt x="2377313" y="3574034"/>
                </a:lnTo>
                <a:lnTo>
                  <a:pt x="2377313" y="0"/>
                </a:lnTo>
                <a:lnTo>
                  <a:pt x="0" y="0"/>
                </a:lnTo>
                <a:lnTo>
                  <a:pt x="0" y="3574034"/>
                </a:lnTo>
                <a:close/>
              </a:path>
            </a:pathLst>
          </a:custGeom>
          <a:ln w="12700">
            <a:solidFill>
              <a:srgbClr val="CCD3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545966" y="2591422"/>
            <a:ext cx="2390140" cy="3587115"/>
          </a:xfrm>
          <a:prstGeom prst="rect">
            <a:avLst/>
          </a:prstGeom>
          <a:solidFill>
            <a:srgbClr val="CCD3CC">
              <a:alpha val="90194"/>
            </a:srgbClr>
          </a:solidFill>
        </p:spPr>
        <p:txBody>
          <a:bodyPr vert="horz" wrap="square" lIns="0" tIns="98425" rIns="0" bIns="0" rtlCol="0">
            <a:spAutoFit/>
          </a:bodyPr>
          <a:lstStyle/>
          <a:p>
            <a:pPr marL="347345" marR="157480" indent="-228600">
              <a:lnSpc>
                <a:spcPct val="91600"/>
              </a:lnSpc>
              <a:spcBef>
                <a:spcPts val="775"/>
              </a:spcBef>
              <a:buChar char="•"/>
              <a:tabLst>
                <a:tab pos="347345" algn="l"/>
              </a:tabLst>
            </a:pPr>
            <a:r>
              <a:rPr sz="2100" spc="-20" dirty="0">
                <a:latin typeface="Trebuchet MS"/>
                <a:cs typeface="Trebuchet MS"/>
              </a:rPr>
              <a:t>Coaxial</a:t>
            </a:r>
            <a:r>
              <a:rPr sz="2100" spc="-170" dirty="0">
                <a:latin typeface="Trebuchet MS"/>
                <a:cs typeface="Trebuchet MS"/>
              </a:rPr>
              <a:t> </a:t>
            </a:r>
            <a:r>
              <a:rPr sz="2100" spc="-25" dirty="0">
                <a:latin typeface="Trebuchet MS"/>
                <a:cs typeface="Trebuchet MS"/>
              </a:rPr>
              <a:t>or </a:t>
            </a:r>
            <a:r>
              <a:rPr sz="2100" spc="-65" dirty="0">
                <a:latin typeface="Trebuchet MS"/>
                <a:cs typeface="Trebuchet MS"/>
              </a:rPr>
              <a:t>twisted</a:t>
            </a:r>
            <a:r>
              <a:rPr sz="2100" spc="-155" dirty="0">
                <a:latin typeface="Trebuchet MS"/>
                <a:cs typeface="Trebuchet MS"/>
              </a:rPr>
              <a:t> </a:t>
            </a:r>
            <a:r>
              <a:rPr sz="2100" spc="-20" dirty="0">
                <a:latin typeface="Trebuchet MS"/>
                <a:cs typeface="Trebuchet MS"/>
              </a:rPr>
              <a:t>pair </a:t>
            </a:r>
            <a:r>
              <a:rPr sz="2100" dirty="0">
                <a:latin typeface="Trebuchet MS"/>
                <a:cs typeface="Trebuchet MS"/>
              </a:rPr>
              <a:t>cables</a:t>
            </a:r>
            <a:r>
              <a:rPr sz="2100" spc="-114" dirty="0">
                <a:latin typeface="Trebuchet MS"/>
                <a:cs typeface="Trebuchet MS"/>
              </a:rPr>
              <a:t> </a:t>
            </a:r>
            <a:r>
              <a:rPr sz="2100" spc="-25" dirty="0">
                <a:latin typeface="Trebuchet MS"/>
                <a:cs typeface="Trebuchet MS"/>
              </a:rPr>
              <a:t>are </a:t>
            </a:r>
            <a:r>
              <a:rPr sz="2100" spc="-55" dirty="0">
                <a:latin typeface="Trebuchet MS"/>
                <a:cs typeface="Trebuchet MS"/>
              </a:rPr>
              <a:t>mainly</a:t>
            </a:r>
            <a:r>
              <a:rPr sz="2100" spc="-10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used</a:t>
            </a:r>
            <a:r>
              <a:rPr sz="2100" spc="-114" dirty="0">
                <a:latin typeface="Trebuchet MS"/>
                <a:cs typeface="Trebuchet MS"/>
              </a:rPr>
              <a:t> </a:t>
            </a:r>
            <a:r>
              <a:rPr sz="2100" spc="-25" dirty="0">
                <a:latin typeface="Trebuchet MS"/>
                <a:cs typeface="Trebuchet MS"/>
              </a:rPr>
              <a:t>in </a:t>
            </a:r>
            <a:r>
              <a:rPr sz="2100" dirty="0">
                <a:latin typeface="Trebuchet MS"/>
                <a:cs typeface="Trebuchet MS"/>
              </a:rPr>
              <a:t>bus-</a:t>
            </a:r>
            <a:r>
              <a:rPr sz="2100" spc="-10" dirty="0">
                <a:latin typeface="Trebuchet MS"/>
                <a:cs typeface="Trebuchet MS"/>
              </a:rPr>
              <a:t>based </a:t>
            </a:r>
            <a:r>
              <a:rPr sz="2100" spc="-40" dirty="0">
                <a:latin typeface="Trebuchet MS"/>
                <a:cs typeface="Trebuchet MS"/>
              </a:rPr>
              <a:t>networks</a:t>
            </a:r>
            <a:r>
              <a:rPr sz="2100" spc="-165" dirty="0">
                <a:latin typeface="Trebuchet MS"/>
                <a:cs typeface="Trebuchet MS"/>
              </a:rPr>
              <a:t> </a:t>
            </a:r>
            <a:r>
              <a:rPr sz="2100" spc="-20" dirty="0">
                <a:latin typeface="Trebuchet MS"/>
                <a:cs typeface="Trebuchet MS"/>
              </a:rPr>
              <a:t>that </a:t>
            </a:r>
            <a:r>
              <a:rPr sz="2100" spc="-25" dirty="0">
                <a:latin typeface="Trebuchet MS"/>
                <a:cs typeface="Trebuchet MS"/>
              </a:rPr>
              <a:t>support</a:t>
            </a:r>
            <a:r>
              <a:rPr sz="2100" spc="-19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up</a:t>
            </a:r>
            <a:r>
              <a:rPr sz="2100" spc="-180" dirty="0">
                <a:latin typeface="Trebuchet MS"/>
                <a:cs typeface="Trebuchet MS"/>
              </a:rPr>
              <a:t> </a:t>
            </a:r>
            <a:r>
              <a:rPr sz="2100" spc="-75" dirty="0">
                <a:latin typeface="Trebuchet MS"/>
                <a:cs typeface="Trebuchet MS"/>
              </a:rPr>
              <a:t>to</a:t>
            </a:r>
            <a:r>
              <a:rPr sz="2100" spc="-180" dirty="0">
                <a:latin typeface="Trebuchet MS"/>
                <a:cs typeface="Trebuchet MS"/>
              </a:rPr>
              <a:t> </a:t>
            </a:r>
            <a:r>
              <a:rPr sz="2100" spc="-25" dirty="0">
                <a:latin typeface="Trebuchet MS"/>
                <a:cs typeface="Trebuchet MS"/>
              </a:rPr>
              <a:t>10 </a:t>
            </a:r>
            <a:r>
              <a:rPr sz="2100" spc="-10" dirty="0">
                <a:latin typeface="Trebuchet MS"/>
                <a:cs typeface="Trebuchet MS"/>
              </a:rPr>
              <a:t>Mbps.</a:t>
            </a:r>
            <a:endParaRPr sz="210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256020" y="1824393"/>
            <a:ext cx="2390140" cy="779780"/>
            <a:chOff x="6256020" y="1824393"/>
            <a:chExt cx="2390140" cy="779780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62370" y="1830743"/>
              <a:ext cx="2377312" cy="767041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262370" y="1830743"/>
              <a:ext cx="2377440" cy="767080"/>
            </a:xfrm>
            <a:custGeom>
              <a:avLst/>
              <a:gdLst/>
              <a:ahLst/>
              <a:cxnLst/>
              <a:rect l="l" t="t" r="r" b="b"/>
              <a:pathLst>
                <a:path w="2377440" h="767080">
                  <a:moveTo>
                    <a:pt x="0" y="767041"/>
                  </a:moveTo>
                  <a:lnTo>
                    <a:pt x="2377312" y="767041"/>
                  </a:lnTo>
                  <a:lnTo>
                    <a:pt x="2377312" y="0"/>
                  </a:lnTo>
                  <a:lnTo>
                    <a:pt x="0" y="0"/>
                  </a:lnTo>
                  <a:lnTo>
                    <a:pt x="0" y="767041"/>
                  </a:lnTo>
                  <a:close/>
                </a:path>
              </a:pathLst>
            </a:custGeom>
            <a:ln w="12699">
              <a:solidFill>
                <a:srgbClr val="0E9E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268720" y="1860930"/>
            <a:ext cx="2364740" cy="63817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498475" marR="488315" indent="187325">
              <a:lnSpc>
                <a:spcPts val="2300"/>
              </a:lnSpc>
              <a:spcBef>
                <a:spcPts val="360"/>
              </a:spcBef>
            </a:pPr>
            <a:r>
              <a:rPr sz="2100" b="1" spc="-10" dirty="0">
                <a:latin typeface="Trebuchet MS"/>
                <a:cs typeface="Trebuchet MS"/>
              </a:rPr>
              <a:t>Familiar </a:t>
            </a:r>
            <a:r>
              <a:rPr sz="2100" b="1" spc="-55" dirty="0">
                <a:latin typeface="Trebuchet MS"/>
                <a:cs typeface="Trebuchet MS"/>
              </a:rPr>
              <a:t>Technology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262370" y="2597772"/>
            <a:ext cx="2377440" cy="3574415"/>
          </a:xfrm>
          <a:custGeom>
            <a:avLst/>
            <a:gdLst/>
            <a:ahLst/>
            <a:cxnLst/>
            <a:rect l="l" t="t" r="r" b="b"/>
            <a:pathLst>
              <a:path w="2377440" h="3574415">
                <a:moveTo>
                  <a:pt x="0" y="3574034"/>
                </a:moveTo>
                <a:lnTo>
                  <a:pt x="2377312" y="3574034"/>
                </a:lnTo>
                <a:lnTo>
                  <a:pt x="2377312" y="0"/>
                </a:lnTo>
                <a:lnTo>
                  <a:pt x="0" y="0"/>
                </a:lnTo>
                <a:lnTo>
                  <a:pt x="0" y="3574034"/>
                </a:lnTo>
                <a:close/>
              </a:path>
            </a:pathLst>
          </a:custGeom>
          <a:ln w="12700">
            <a:solidFill>
              <a:srgbClr val="CCDF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256020" y="2591422"/>
            <a:ext cx="2390140" cy="3587115"/>
          </a:xfrm>
          <a:prstGeom prst="rect">
            <a:avLst/>
          </a:prstGeom>
          <a:solidFill>
            <a:srgbClr val="CCDFEE">
              <a:alpha val="90194"/>
            </a:srgbClr>
          </a:solidFill>
        </p:spPr>
        <p:txBody>
          <a:bodyPr vert="horz" wrap="square" lIns="0" tIns="98425" rIns="0" bIns="0" rtlCol="0">
            <a:spAutoFit/>
          </a:bodyPr>
          <a:lstStyle/>
          <a:p>
            <a:pPr marL="347345" marR="150495" indent="-228600">
              <a:lnSpc>
                <a:spcPct val="91600"/>
              </a:lnSpc>
              <a:spcBef>
                <a:spcPts val="775"/>
              </a:spcBef>
              <a:buChar char="•"/>
              <a:tabLst>
                <a:tab pos="347345" algn="l"/>
              </a:tabLst>
            </a:pPr>
            <a:r>
              <a:rPr sz="2100" spc="85" dirty="0">
                <a:latin typeface="Trebuchet MS"/>
                <a:cs typeface="Trebuchet MS"/>
              </a:rPr>
              <a:t>Bus</a:t>
            </a:r>
            <a:r>
              <a:rPr sz="2100" spc="-180" dirty="0">
                <a:latin typeface="Trebuchet MS"/>
                <a:cs typeface="Trebuchet MS"/>
              </a:rPr>
              <a:t> </a:t>
            </a:r>
            <a:r>
              <a:rPr sz="2100" spc="-45" dirty="0">
                <a:latin typeface="Trebuchet MS"/>
                <a:cs typeface="Trebuchet MS"/>
              </a:rPr>
              <a:t>topology</a:t>
            </a:r>
            <a:r>
              <a:rPr sz="2100" spc="-210" dirty="0">
                <a:latin typeface="Trebuchet MS"/>
                <a:cs typeface="Trebuchet MS"/>
              </a:rPr>
              <a:t> </a:t>
            </a:r>
            <a:r>
              <a:rPr sz="2100" spc="-25" dirty="0">
                <a:latin typeface="Trebuchet MS"/>
                <a:cs typeface="Trebuchet MS"/>
              </a:rPr>
              <a:t>is </a:t>
            </a:r>
            <a:r>
              <a:rPr sz="2100" dirty="0">
                <a:latin typeface="Trebuchet MS"/>
                <a:cs typeface="Trebuchet MS"/>
              </a:rPr>
              <a:t>a</a:t>
            </a:r>
            <a:r>
              <a:rPr sz="2100" spc="-200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familiar </a:t>
            </a:r>
            <a:r>
              <a:rPr sz="2100" spc="-40" dirty="0">
                <a:latin typeface="Trebuchet MS"/>
                <a:cs typeface="Trebuchet MS"/>
              </a:rPr>
              <a:t>technology</a:t>
            </a:r>
            <a:r>
              <a:rPr sz="2100" spc="-140" dirty="0">
                <a:latin typeface="Trebuchet MS"/>
                <a:cs typeface="Trebuchet MS"/>
              </a:rPr>
              <a:t> </a:t>
            </a:r>
            <a:r>
              <a:rPr sz="2100" spc="50" dirty="0">
                <a:latin typeface="Trebuchet MS"/>
                <a:cs typeface="Trebuchet MS"/>
              </a:rPr>
              <a:t>as </a:t>
            </a:r>
            <a:r>
              <a:rPr sz="2100" spc="-80" dirty="0">
                <a:latin typeface="Trebuchet MS"/>
                <a:cs typeface="Trebuchet MS"/>
              </a:rPr>
              <a:t>the</a:t>
            </a:r>
            <a:r>
              <a:rPr sz="2100" spc="-190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installation </a:t>
            </a:r>
            <a:r>
              <a:rPr sz="2100" spc="-25" dirty="0">
                <a:latin typeface="Trebuchet MS"/>
                <a:cs typeface="Trebuchet MS"/>
              </a:rPr>
              <a:t>and </a:t>
            </a:r>
            <a:r>
              <a:rPr sz="2100" spc="-10" dirty="0">
                <a:latin typeface="Trebuchet MS"/>
                <a:cs typeface="Trebuchet MS"/>
              </a:rPr>
              <a:t>troubleshooting </a:t>
            </a:r>
            <a:r>
              <a:rPr sz="2100" spc="-20" dirty="0">
                <a:latin typeface="Trebuchet MS"/>
                <a:cs typeface="Trebuchet MS"/>
              </a:rPr>
              <a:t>techniques</a:t>
            </a:r>
            <a:r>
              <a:rPr sz="2100" spc="-145" dirty="0">
                <a:latin typeface="Trebuchet MS"/>
                <a:cs typeface="Trebuchet MS"/>
              </a:rPr>
              <a:t> </a:t>
            </a:r>
            <a:r>
              <a:rPr sz="2100" spc="-25" dirty="0">
                <a:latin typeface="Trebuchet MS"/>
                <a:cs typeface="Trebuchet MS"/>
              </a:rPr>
              <a:t>are </a:t>
            </a:r>
            <a:r>
              <a:rPr sz="2100" spc="-85" dirty="0">
                <a:latin typeface="Trebuchet MS"/>
                <a:cs typeface="Trebuchet MS"/>
              </a:rPr>
              <a:t>well</a:t>
            </a:r>
            <a:r>
              <a:rPr sz="2100" spc="-170" dirty="0">
                <a:latin typeface="Trebuchet MS"/>
                <a:cs typeface="Trebuchet MS"/>
              </a:rPr>
              <a:t> </a:t>
            </a:r>
            <a:r>
              <a:rPr sz="2100" spc="-60" dirty="0">
                <a:latin typeface="Trebuchet MS"/>
                <a:cs typeface="Trebuchet MS"/>
              </a:rPr>
              <a:t>known,</a:t>
            </a:r>
            <a:r>
              <a:rPr sz="2100" spc="-155" dirty="0">
                <a:latin typeface="Trebuchet MS"/>
                <a:cs typeface="Trebuchet MS"/>
              </a:rPr>
              <a:t> </a:t>
            </a:r>
            <a:r>
              <a:rPr sz="2100" spc="-25" dirty="0">
                <a:latin typeface="Trebuchet MS"/>
                <a:cs typeface="Trebuchet MS"/>
              </a:rPr>
              <a:t>and </a:t>
            </a:r>
            <a:r>
              <a:rPr sz="2100" spc="-10" dirty="0">
                <a:latin typeface="Trebuchet MS"/>
                <a:cs typeface="Trebuchet MS"/>
              </a:rPr>
              <a:t>hardware </a:t>
            </a:r>
            <a:r>
              <a:rPr sz="2100" dirty="0">
                <a:latin typeface="Trebuchet MS"/>
                <a:cs typeface="Trebuchet MS"/>
              </a:rPr>
              <a:t>components</a:t>
            </a:r>
            <a:r>
              <a:rPr sz="2100" spc="-145" dirty="0">
                <a:latin typeface="Trebuchet MS"/>
                <a:cs typeface="Trebuchet MS"/>
              </a:rPr>
              <a:t> </a:t>
            </a:r>
            <a:r>
              <a:rPr sz="2100" spc="-40" dirty="0">
                <a:latin typeface="Trebuchet MS"/>
                <a:cs typeface="Trebuchet MS"/>
              </a:rPr>
              <a:t>are easily</a:t>
            </a:r>
            <a:r>
              <a:rPr sz="2100" spc="-165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available.</a:t>
            </a:r>
            <a:endParaRPr sz="2100">
              <a:latin typeface="Trebuchet MS"/>
              <a:cs typeface="Trebuchet M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8966200" y="1824393"/>
            <a:ext cx="2390140" cy="779780"/>
            <a:chOff x="8966200" y="1824393"/>
            <a:chExt cx="2390140" cy="779780"/>
          </a:xfrm>
        </p:grpSpPr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972550" y="1830743"/>
              <a:ext cx="2377313" cy="767041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8972550" y="1830743"/>
              <a:ext cx="2377440" cy="767080"/>
            </a:xfrm>
            <a:custGeom>
              <a:avLst/>
              <a:gdLst/>
              <a:ahLst/>
              <a:cxnLst/>
              <a:rect l="l" t="t" r="r" b="b"/>
              <a:pathLst>
                <a:path w="2377440" h="767080">
                  <a:moveTo>
                    <a:pt x="0" y="767041"/>
                  </a:moveTo>
                  <a:lnTo>
                    <a:pt x="2377313" y="767041"/>
                  </a:lnTo>
                  <a:lnTo>
                    <a:pt x="2377313" y="0"/>
                  </a:lnTo>
                  <a:lnTo>
                    <a:pt x="0" y="0"/>
                  </a:lnTo>
                  <a:lnTo>
                    <a:pt x="0" y="767041"/>
                  </a:lnTo>
                  <a:close/>
                </a:path>
              </a:pathLst>
            </a:custGeom>
            <a:ln w="12700">
              <a:solidFill>
                <a:srgbClr val="9F2B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8978900" y="2007489"/>
            <a:ext cx="236474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9400">
              <a:lnSpc>
                <a:spcPct val="100000"/>
              </a:lnSpc>
              <a:spcBef>
                <a:spcPts val="100"/>
              </a:spcBef>
            </a:pPr>
            <a:r>
              <a:rPr sz="2100" b="1" spc="-55" dirty="0">
                <a:latin typeface="Trebuchet MS"/>
                <a:cs typeface="Trebuchet MS"/>
              </a:rPr>
              <a:t>Limited</a:t>
            </a:r>
            <a:r>
              <a:rPr sz="2100" b="1" spc="-165" dirty="0">
                <a:latin typeface="Trebuchet MS"/>
                <a:cs typeface="Trebuchet MS"/>
              </a:rPr>
              <a:t> </a:t>
            </a:r>
            <a:r>
              <a:rPr sz="2100" b="1" spc="-10" dirty="0">
                <a:latin typeface="Trebuchet MS"/>
                <a:cs typeface="Trebuchet MS"/>
              </a:rPr>
              <a:t>Failure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972550" y="2597772"/>
            <a:ext cx="2377440" cy="3574415"/>
          </a:xfrm>
          <a:custGeom>
            <a:avLst/>
            <a:gdLst/>
            <a:ahLst/>
            <a:cxnLst/>
            <a:rect l="l" t="t" r="r" b="b"/>
            <a:pathLst>
              <a:path w="2377440" h="3574415">
                <a:moveTo>
                  <a:pt x="0" y="3574034"/>
                </a:moveTo>
                <a:lnTo>
                  <a:pt x="2377313" y="3574034"/>
                </a:lnTo>
                <a:lnTo>
                  <a:pt x="2377313" y="0"/>
                </a:lnTo>
                <a:lnTo>
                  <a:pt x="0" y="0"/>
                </a:lnTo>
                <a:lnTo>
                  <a:pt x="0" y="3574034"/>
                </a:lnTo>
                <a:close/>
              </a:path>
            </a:pathLst>
          </a:custGeom>
          <a:ln w="12699">
            <a:solidFill>
              <a:srgbClr val="DFCDD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8966200" y="2591422"/>
            <a:ext cx="2390140" cy="3587115"/>
          </a:xfrm>
          <a:prstGeom prst="rect">
            <a:avLst/>
          </a:prstGeom>
          <a:solidFill>
            <a:srgbClr val="DFCDDC">
              <a:alpha val="90194"/>
            </a:srgbClr>
          </a:solidFill>
        </p:spPr>
        <p:txBody>
          <a:bodyPr vert="horz" wrap="square" lIns="0" tIns="98425" rIns="0" bIns="0" rtlCol="0">
            <a:spAutoFit/>
          </a:bodyPr>
          <a:lstStyle/>
          <a:p>
            <a:pPr marL="347980" marR="236220" indent="-228600">
              <a:lnSpc>
                <a:spcPct val="91600"/>
              </a:lnSpc>
              <a:spcBef>
                <a:spcPts val="775"/>
              </a:spcBef>
              <a:buChar char="•"/>
              <a:tabLst>
                <a:tab pos="347980" algn="l"/>
              </a:tabLst>
            </a:pPr>
            <a:r>
              <a:rPr sz="2100" dirty="0">
                <a:latin typeface="Trebuchet MS"/>
                <a:cs typeface="Trebuchet MS"/>
              </a:rPr>
              <a:t>A</a:t>
            </a:r>
            <a:r>
              <a:rPr sz="2100" spc="-200" dirty="0">
                <a:latin typeface="Trebuchet MS"/>
                <a:cs typeface="Trebuchet MS"/>
              </a:rPr>
              <a:t> </a:t>
            </a:r>
            <a:r>
              <a:rPr sz="2100" spc="-80" dirty="0">
                <a:latin typeface="Trebuchet MS"/>
                <a:cs typeface="Trebuchet MS"/>
              </a:rPr>
              <a:t>failure</a:t>
            </a:r>
            <a:r>
              <a:rPr sz="2100" spc="-229" dirty="0">
                <a:latin typeface="Trebuchet MS"/>
                <a:cs typeface="Trebuchet MS"/>
              </a:rPr>
              <a:t> </a:t>
            </a:r>
            <a:r>
              <a:rPr sz="2100" spc="-55" dirty="0">
                <a:latin typeface="Trebuchet MS"/>
                <a:cs typeface="Trebuchet MS"/>
              </a:rPr>
              <a:t>in</a:t>
            </a:r>
            <a:r>
              <a:rPr sz="2100" spc="-195" dirty="0">
                <a:latin typeface="Trebuchet MS"/>
                <a:cs typeface="Trebuchet MS"/>
              </a:rPr>
              <a:t> </a:t>
            </a:r>
            <a:r>
              <a:rPr sz="2100" spc="-25" dirty="0">
                <a:latin typeface="Trebuchet MS"/>
                <a:cs typeface="Trebuchet MS"/>
              </a:rPr>
              <a:t>one </a:t>
            </a:r>
            <a:r>
              <a:rPr sz="2100" spc="-20" dirty="0">
                <a:latin typeface="Trebuchet MS"/>
                <a:cs typeface="Trebuchet MS"/>
              </a:rPr>
              <a:t>node</a:t>
            </a:r>
            <a:r>
              <a:rPr sz="2100" spc="-185" dirty="0">
                <a:latin typeface="Trebuchet MS"/>
                <a:cs typeface="Trebuchet MS"/>
              </a:rPr>
              <a:t> </a:t>
            </a:r>
            <a:r>
              <a:rPr sz="2100" spc="-95" dirty="0">
                <a:latin typeface="Trebuchet MS"/>
                <a:cs typeface="Trebuchet MS"/>
              </a:rPr>
              <a:t>will</a:t>
            </a:r>
            <a:r>
              <a:rPr sz="2100" spc="-180" dirty="0">
                <a:latin typeface="Trebuchet MS"/>
                <a:cs typeface="Trebuchet MS"/>
              </a:rPr>
              <a:t> </a:t>
            </a:r>
            <a:r>
              <a:rPr sz="2100" spc="-25" dirty="0">
                <a:latin typeface="Trebuchet MS"/>
                <a:cs typeface="Trebuchet MS"/>
              </a:rPr>
              <a:t>not </a:t>
            </a:r>
            <a:r>
              <a:rPr sz="2100" spc="-45" dirty="0">
                <a:latin typeface="Trebuchet MS"/>
                <a:cs typeface="Trebuchet MS"/>
              </a:rPr>
              <a:t>have</a:t>
            </a:r>
            <a:r>
              <a:rPr sz="2100" spc="-185" dirty="0">
                <a:latin typeface="Trebuchet MS"/>
                <a:cs typeface="Trebuchet MS"/>
              </a:rPr>
              <a:t> </a:t>
            </a:r>
            <a:r>
              <a:rPr sz="2100" spc="-40" dirty="0">
                <a:latin typeface="Trebuchet MS"/>
                <a:cs typeface="Trebuchet MS"/>
              </a:rPr>
              <a:t>any</a:t>
            </a:r>
            <a:r>
              <a:rPr sz="2100" spc="-165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effect </a:t>
            </a:r>
            <a:r>
              <a:rPr sz="2100" dirty="0">
                <a:latin typeface="Trebuchet MS"/>
                <a:cs typeface="Trebuchet MS"/>
              </a:rPr>
              <a:t>on</a:t>
            </a:r>
            <a:r>
              <a:rPr sz="2100" spc="-180" dirty="0">
                <a:latin typeface="Trebuchet MS"/>
                <a:cs typeface="Trebuchet MS"/>
              </a:rPr>
              <a:t> </a:t>
            </a:r>
            <a:r>
              <a:rPr sz="2100" spc="-70" dirty="0">
                <a:latin typeface="Trebuchet MS"/>
                <a:cs typeface="Trebuchet MS"/>
              </a:rPr>
              <a:t>other</a:t>
            </a:r>
            <a:r>
              <a:rPr sz="2100" spc="-195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nodes.</a:t>
            </a:r>
            <a:endParaRPr sz="2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40" dirty="0"/>
              <a:t>Disadvantages</a:t>
            </a:r>
            <a:r>
              <a:rPr spc="-430" dirty="0"/>
              <a:t> </a:t>
            </a:r>
            <a:r>
              <a:rPr spc="-265" dirty="0"/>
              <a:t>of</a:t>
            </a:r>
            <a:r>
              <a:rPr spc="-409" dirty="0"/>
              <a:t> </a:t>
            </a:r>
            <a:r>
              <a:rPr dirty="0"/>
              <a:t>Bus</a:t>
            </a:r>
            <a:r>
              <a:rPr spc="-409" dirty="0"/>
              <a:t> </a:t>
            </a:r>
            <a:r>
              <a:rPr spc="-285" dirty="0"/>
              <a:t>Topology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5319" y="2042541"/>
            <a:ext cx="218313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5" dirty="0">
                <a:latin typeface="Trebuchet MS"/>
                <a:cs typeface="Trebuchet MS"/>
              </a:rPr>
              <a:t>Extensive</a:t>
            </a:r>
            <a:r>
              <a:rPr sz="2200" spc="-125" dirty="0">
                <a:latin typeface="Trebuchet MS"/>
                <a:cs typeface="Trebuchet MS"/>
              </a:rPr>
              <a:t> </a:t>
            </a:r>
            <a:r>
              <a:rPr sz="2200" spc="-30" dirty="0">
                <a:latin typeface="Trebuchet MS"/>
                <a:cs typeface="Trebuchet MS"/>
              </a:rPr>
              <a:t>cabling: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81755" y="1863217"/>
            <a:ext cx="542925" cy="789940"/>
          </a:xfrm>
          <a:custGeom>
            <a:avLst/>
            <a:gdLst/>
            <a:ahLst/>
            <a:cxnLst/>
            <a:rect l="l" t="t" r="r" b="b"/>
            <a:pathLst>
              <a:path w="542925" h="789939">
                <a:moveTo>
                  <a:pt x="542925" y="789559"/>
                </a:moveTo>
                <a:lnTo>
                  <a:pt x="488195" y="785697"/>
                </a:lnTo>
                <a:lnTo>
                  <a:pt x="437223" y="774624"/>
                </a:lnTo>
                <a:lnTo>
                  <a:pt x="391100" y="757104"/>
                </a:lnTo>
                <a:lnTo>
                  <a:pt x="350916" y="733901"/>
                </a:lnTo>
                <a:lnTo>
                  <a:pt x="317764" y="705781"/>
                </a:lnTo>
                <a:lnTo>
                  <a:pt x="292733" y="673508"/>
                </a:lnTo>
                <a:lnTo>
                  <a:pt x="276914" y="637849"/>
                </a:lnTo>
                <a:lnTo>
                  <a:pt x="271399" y="599567"/>
                </a:lnTo>
                <a:lnTo>
                  <a:pt x="271399" y="584835"/>
                </a:lnTo>
                <a:lnTo>
                  <a:pt x="265889" y="546552"/>
                </a:lnTo>
                <a:lnTo>
                  <a:pt x="250084" y="510893"/>
                </a:lnTo>
                <a:lnTo>
                  <a:pt x="225074" y="478620"/>
                </a:lnTo>
                <a:lnTo>
                  <a:pt x="191944" y="450500"/>
                </a:lnTo>
                <a:lnTo>
                  <a:pt x="151784" y="427297"/>
                </a:lnTo>
                <a:lnTo>
                  <a:pt x="105681" y="409777"/>
                </a:lnTo>
                <a:lnTo>
                  <a:pt x="54724" y="398704"/>
                </a:lnTo>
                <a:lnTo>
                  <a:pt x="0" y="394843"/>
                </a:lnTo>
                <a:lnTo>
                  <a:pt x="54724" y="390981"/>
                </a:lnTo>
                <a:lnTo>
                  <a:pt x="105681" y="379908"/>
                </a:lnTo>
                <a:lnTo>
                  <a:pt x="151784" y="362388"/>
                </a:lnTo>
                <a:lnTo>
                  <a:pt x="191944" y="339185"/>
                </a:lnTo>
                <a:lnTo>
                  <a:pt x="225074" y="311065"/>
                </a:lnTo>
                <a:lnTo>
                  <a:pt x="250084" y="278792"/>
                </a:lnTo>
                <a:lnTo>
                  <a:pt x="265889" y="243133"/>
                </a:lnTo>
                <a:lnTo>
                  <a:pt x="271399" y="204850"/>
                </a:lnTo>
                <a:lnTo>
                  <a:pt x="271399" y="189992"/>
                </a:lnTo>
                <a:lnTo>
                  <a:pt x="276914" y="151709"/>
                </a:lnTo>
                <a:lnTo>
                  <a:pt x="292733" y="116050"/>
                </a:lnTo>
                <a:lnTo>
                  <a:pt x="317764" y="83777"/>
                </a:lnTo>
                <a:lnTo>
                  <a:pt x="350916" y="55657"/>
                </a:lnTo>
                <a:lnTo>
                  <a:pt x="391100" y="32454"/>
                </a:lnTo>
                <a:lnTo>
                  <a:pt x="437223" y="14934"/>
                </a:lnTo>
                <a:lnTo>
                  <a:pt x="488195" y="3861"/>
                </a:lnTo>
                <a:lnTo>
                  <a:pt x="542925" y="0"/>
                </a:lnTo>
              </a:path>
            </a:pathLst>
          </a:custGeom>
          <a:ln w="19050">
            <a:solidFill>
              <a:srgbClr val="155F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37659" y="1859267"/>
            <a:ext cx="7387590" cy="79477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24483" y="2914649"/>
            <a:ext cx="2014220" cy="668020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12700" marR="5080" indent="1029969">
              <a:lnSpc>
                <a:spcPts val="2420"/>
              </a:lnSpc>
              <a:spcBef>
                <a:spcPts val="359"/>
              </a:spcBef>
            </a:pPr>
            <a:r>
              <a:rPr sz="2200" spc="-65" dirty="0">
                <a:latin typeface="Trebuchet MS"/>
                <a:cs typeface="Trebuchet MS"/>
              </a:rPr>
              <a:t>Difficult </a:t>
            </a:r>
            <a:r>
              <a:rPr sz="2200" spc="-45" dirty="0">
                <a:latin typeface="Trebuchet MS"/>
                <a:cs typeface="Trebuchet MS"/>
              </a:rPr>
              <a:t>troubleshooting: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381755" y="2732023"/>
            <a:ext cx="542925" cy="1102995"/>
          </a:xfrm>
          <a:custGeom>
            <a:avLst/>
            <a:gdLst/>
            <a:ahLst/>
            <a:cxnLst/>
            <a:rect l="l" t="t" r="r" b="b"/>
            <a:pathLst>
              <a:path w="542925" h="1102995">
                <a:moveTo>
                  <a:pt x="542925" y="1102614"/>
                </a:moveTo>
                <a:lnTo>
                  <a:pt x="488195" y="1098752"/>
                </a:lnTo>
                <a:lnTo>
                  <a:pt x="437223" y="1087679"/>
                </a:lnTo>
                <a:lnTo>
                  <a:pt x="391100" y="1070159"/>
                </a:lnTo>
                <a:lnTo>
                  <a:pt x="350916" y="1046956"/>
                </a:lnTo>
                <a:lnTo>
                  <a:pt x="317764" y="1018836"/>
                </a:lnTo>
                <a:lnTo>
                  <a:pt x="292733" y="986563"/>
                </a:lnTo>
                <a:lnTo>
                  <a:pt x="276914" y="950904"/>
                </a:lnTo>
                <a:lnTo>
                  <a:pt x="271399" y="912621"/>
                </a:lnTo>
                <a:lnTo>
                  <a:pt x="271526" y="741299"/>
                </a:lnTo>
                <a:lnTo>
                  <a:pt x="266010" y="702980"/>
                </a:lnTo>
                <a:lnTo>
                  <a:pt x="250191" y="667303"/>
                </a:lnTo>
                <a:lnTo>
                  <a:pt x="225160" y="635029"/>
                </a:lnTo>
                <a:lnTo>
                  <a:pt x="192008" y="606917"/>
                </a:lnTo>
                <a:lnTo>
                  <a:pt x="151824" y="583728"/>
                </a:lnTo>
                <a:lnTo>
                  <a:pt x="105701" y="566223"/>
                </a:lnTo>
                <a:lnTo>
                  <a:pt x="54729" y="555162"/>
                </a:lnTo>
                <a:lnTo>
                  <a:pt x="0" y="551306"/>
                </a:lnTo>
                <a:lnTo>
                  <a:pt x="54729" y="547445"/>
                </a:lnTo>
                <a:lnTo>
                  <a:pt x="105701" y="536372"/>
                </a:lnTo>
                <a:lnTo>
                  <a:pt x="151824" y="518852"/>
                </a:lnTo>
                <a:lnTo>
                  <a:pt x="192008" y="495649"/>
                </a:lnTo>
                <a:lnTo>
                  <a:pt x="225160" y="467529"/>
                </a:lnTo>
                <a:lnTo>
                  <a:pt x="250191" y="435256"/>
                </a:lnTo>
                <a:lnTo>
                  <a:pt x="266010" y="399597"/>
                </a:lnTo>
                <a:lnTo>
                  <a:pt x="271526" y="361314"/>
                </a:lnTo>
                <a:lnTo>
                  <a:pt x="271526" y="189991"/>
                </a:lnTo>
                <a:lnTo>
                  <a:pt x="277035" y="151673"/>
                </a:lnTo>
                <a:lnTo>
                  <a:pt x="292840" y="115996"/>
                </a:lnTo>
                <a:lnTo>
                  <a:pt x="317850" y="83722"/>
                </a:lnTo>
                <a:lnTo>
                  <a:pt x="350980" y="55610"/>
                </a:lnTo>
                <a:lnTo>
                  <a:pt x="391140" y="32421"/>
                </a:lnTo>
                <a:lnTo>
                  <a:pt x="437243" y="14916"/>
                </a:lnTo>
                <a:lnTo>
                  <a:pt x="488200" y="3855"/>
                </a:lnTo>
                <a:lnTo>
                  <a:pt x="542925" y="0"/>
                </a:lnTo>
              </a:path>
            </a:pathLst>
          </a:custGeom>
          <a:ln w="19050">
            <a:solidFill>
              <a:srgbClr val="155F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37659" y="2727947"/>
            <a:ext cx="7387590" cy="110872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83107" y="4093590"/>
            <a:ext cx="235585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latin typeface="Trebuchet MS"/>
                <a:cs typeface="Trebuchet MS"/>
              </a:rPr>
              <a:t>Signal</a:t>
            </a:r>
            <a:r>
              <a:rPr sz="2200" spc="-220" dirty="0">
                <a:latin typeface="Trebuchet MS"/>
                <a:cs typeface="Trebuchet MS"/>
              </a:rPr>
              <a:t> </a:t>
            </a:r>
            <a:r>
              <a:rPr sz="2200" spc="-75" dirty="0">
                <a:latin typeface="Trebuchet MS"/>
                <a:cs typeface="Trebuchet MS"/>
              </a:rPr>
              <a:t>interference: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381755" y="3913759"/>
            <a:ext cx="542925" cy="789940"/>
          </a:xfrm>
          <a:custGeom>
            <a:avLst/>
            <a:gdLst/>
            <a:ahLst/>
            <a:cxnLst/>
            <a:rect l="l" t="t" r="r" b="b"/>
            <a:pathLst>
              <a:path w="542925" h="789939">
                <a:moveTo>
                  <a:pt x="542925" y="789559"/>
                </a:moveTo>
                <a:lnTo>
                  <a:pt x="488195" y="785697"/>
                </a:lnTo>
                <a:lnTo>
                  <a:pt x="437223" y="774624"/>
                </a:lnTo>
                <a:lnTo>
                  <a:pt x="391100" y="757104"/>
                </a:lnTo>
                <a:lnTo>
                  <a:pt x="350916" y="733901"/>
                </a:lnTo>
                <a:lnTo>
                  <a:pt x="317764" y="705781"/>
                </a:lnTo>
                <a:lnTo>
                  <a:pt x="292733" y="673508"/>
                </a:lnTo>
                <a:lnTo>
                  <a:pt x="276914" y="637849"/>
                </a:lnTo>
                <a:lnTo>
                  <a:pt x="271399" y="599567"/>
                </a:lnTo>
                <a:lnTo>
                  <a:pt x="271399" y="584835"/>
                </a:lnTo>
                <a:lnTo>
                  <a:pt x="265889" y="546516"/>
                </a:lnTo>
                <a:lnTo>
                  <a:pt x="250084" y="510839"/>
                </a:lnTo>
                <a:lnTo>
                  <a:pt x="225074" y="478565"/>
                </a:lnTo>
                <a:lnTo>
                  <a:pt x="191944" y="450453"/>
                </a:lnTo>
                <a:lnTo>
                  <a:pt x="151784" y="427264"/>
                </a:lnTo>
                <a:lnTo>
                  <a:pt x="105681" y="409759"/>
                </a:lnTo>
                <a:lnTo>
                  <a:pt x="54724" y="398698"/>
                </a:lnTo>
                <a:lnTo>
                  <a:pt x="0" y="394843"/>
                </a:lnTo>
                <a:lnTo>
                  <a:pt x="54724" y="390981"/>
                </a:lnTo>
                <a:lnTo>
                  <a:pt x="105681" y="379908"/>
                </a:lnTo>
                <a:lnTo>
                  <a:pt x="151784" y="362388"/>
                </a:lnTo>
                <a:lnTo>
                  <a:pt x="191944" y="339185"/>
                </a:lnTo>
                <a:lnTo>
                  <a:pt x="225074" y="311065"/>
                </a:lnTo>
                <a:lnTo>
                  <a:pt x="250084" y="278792"/>
                </a:lnTo>
                <a:lnTo>
                  <a:pt x="265889" y="243133"/>
                </a:lnTo>
                <a:lnTo>
                  <a:pt x="271399" y="204851"/>
                </a:lnTo>
                <a:lnTo>
                  <a:pt x="271399" y="189992"/>
                </a:lnTo>
                <a:lnTo>
                  <a:pt x="276914" y="151709"/>
                </a:lnTo>
                <a:lnTo>
                  <a:pt x="292733" y="116050"/>
                </a:lnTo>
                <a:lnTo>
                  <a:pt x="317764" y="83777"/>
                </a:lnTo>
                <a:lnTo>
                  <a:pt x="350916" y="55657"/>
                </a:lnTo>
                <a:lnTo>
                  <a:pt x="391100" y="32454"/>
                </a:lnTo>
                <a:lnTo>
                  <a:pt x="437223" y="14934"/>
                </a:lnTo>
                <a:lnTo>
                  <a:pt x="488195" y="3861"/>
                </a:lnTo>
                <a:lnTo>
                  <a:pt x="542925" y="0"/>
                </a:lnTo>
              </a:path>
            </a:pathLst>
          </a:custGeom>
          <a:ln w="19050">
            <a:solidFill>
              <a:srgbClr val="155F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37659" y="3910571"/>
            <a:ext cx="7387590" cy="794778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306830" y="4815662"/>
            <a:ext cx="1933575" cy="6686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6985" algn="r">
              <a:lnSpc>
                <a:spcPts val="2535"/>
              </a:lnSpc>
              <a:spcBef>
                <a:spcPts val="95"/>
              </a:spcBef>
            </a:pPr>
            <a:r>
              <a:rPr sz="2200" spc="-40" dirty="0">
                <a:latin typeface="Trebuchet MS"/>
                <a:cs typeface="Trebuchet MS"/>
              </a:rPr>
              <a:t>Reconfiguration</a:t>
            </a:r>
            <a:endParaRPr sz="2200">
              <a:latin typeface="Trebuchet MS"/>
              <a:cs typeface="Trebuchet MS"/>
            </a:endParaRPr>
          </a:p>
          <a:p>
            <a:pPr marR="5080" algn="r">
              <a:lnSpc>
                <a:spcPts val="2535"/>
              </a:lnSpc>
            </a:pPr>
            <a:r>
              <a:rPr sz="2200" spc="-10" dirty="0">
                <a:latin typeface="Trebuchet MS"/>
                <a:cs typeface="Trebuchet MS"/>
              </a:rPr>
              <a:t>difficult: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381755" y="4782565"/>
            <a:ext cx="542925" cy="803910"/>
          </a:xfrm>
          <a:custGeom>
            <a:avLst/>
            <a:gdLst/>
            <a:ahLst/>
            <a:cxnLst/>
            <a:rect l="l" t="t" r="r" b="b"/>
            <a:pathLst>
              <a:path w="542925" h="803910">
                <a:moveTo>
                  <a:pt x="542925" y="803909"/>
                </a:moveTo>
                <a:lnTo>
                  <a:pt x="488195" y="800048"/>
                </a:lnTo>
                <a:lnTo>
                  <a:pt x="437223" y="788975"/>
                </a:lnTo>
                <a:lnTo>
                  <a:pt x="391100" y="771455"/>
                </a:lnTo>
                <a:lnTo>
                  <a:pt x="350916" y="748252"/>
                </a:lnTo>
                <a:lnTo>
                  <a:pt x="317764" y="720132"/>
                </a:lnTo>
                <a:lnTo>
                  <a:pt x="292733" y="687859"/>
                </a:lnTo>
                <a:lnTo>
                  <a:pt x="276914" y="652200"/>
                </a:lnTo>
                <a:lnTo>
                  <a:pt x="271399" y="613917"/>
                </a:lnTo>
                <a:lnTo>
                  <a:pt x="271399" y="591946"/>
                </a:lnTo>
                <a:lnTo>
                  <a:pt x="265889" y="553664"/>
                </a:lnTo>
                <a:lnTo>
                  <a:pt x="250084" y="518005"/>
                </a:lnTo>
                <a:lnTo>
                  <a:pt x="225074" y="485732"/>
                </a:lnTo>
                <a:lnTo>
                  <a:pt x="191944" y="457612"/>
                </a:lnTo>
                <a:lnTo>
                  <a:pt x="151784" y="434409"/>
                </a:lnTo>
                <a:lnTo>
                  <a:pt x="105681" y="416889"/>
                </a:lnTo>
                <a:lnTo>
                  <a:pt x="54724" y="405816"/>
                </a:lnTo>
                <a:lnTo>
                  <a:pt x="0" y="401954"/>
                </a:lnTo>
                <a:lnTo>
                  <a:pt x="54724" y="398093"/>
                </a:lnTo>
                <a:lnTo>
                  <a:pt x="105681" y="387020"/>
                </a:lnTo>
                <a:lnTo>
                  <a:pt x="151784" y="369500"/>
                </a:lnTo>
                <a:lnTo>
                  <a:pt x="191944" y="346297"/>
                </a:lnTo>
                <a:lnTo>
                  <a:pt x="225074" y="318177"/>
                </a:lnTo>
                <a:lnTo>
                  <a:pt x="250084" y="285904"/>
                </a:lnTo>
                <a:lnTo>
                  <a:pt x="265889" y="250245"/>
                </a:lnTo>
                <a:lnTo>
                  <a:pt x="271399" y="211962"/>
                </a:lnTo>
                <a:lnTo>
                  <a:pt x="271399" y="189991"/>
                </a:lnTo>
                <a:lnTo>
                  <a:pt x="276914" y="151673"/>
                </a:lnTo>
                <a:lnTo>
                  <a:pt x="292733" y="115996"/>
                </a:lnTo>
                <a:lnTo>
                  <a:pt x="317764" y="83722"/>
                </a:lnTo>
                <a:lnTo>
                  <a:pt x="350916" y="55610"/>
                </a:lnTo>
                <a:lnTo>
                  <a:pt x="391100" y="32421"/>
                </a:lnTo>
                <a:lnTo>
                  <a:pt x="437223" y="14916"/>
                </a:lnTo>
                <a:lnTo>
                  <a:pt x="488195" y="3855"/>
                </a:lnTo>
                <a:lnTo>
                  <a:pt x="542925" y="0"/>
                </a:lnTo>
              </a:path>
            </a:pathLst>
          </a:custGeom>
          <a:ln w="19050">
            <a:solidFill>
              <a:srgbClr val="155F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37659" y="4779251"/>
            <a:ext cx="7387590" cy="808494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725929" y="5845860"/>
            <a:ext cx="151384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65" dirty="0">
                <a:latin typeface="Trebuchet MS"/>
                <a:cs typeface="Trebuchet MS"/>
              </a:rPr>
              <a:t>Attenuation: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381755" y="5665711"/>
            <a:ext cx="542925" cy="789940"/>
          </a:xfrm>
          <a:custGeom>
            <a:avLst/>
            <a:gdLst/>
            <a:ahLst/>
            <a:cxnLst/>
            <a:rect l="l" t="t" r="r" b="b"/>
            <a:pathLst>
              <a:path w="542925" h="789939">
                <a:moveTo>
                  <a:pt x="542925" y="789520"/>
                </a:moveTo>
                <a:lnTo>
                  <a:pt x="488195" y="785660"/>
                </a:lnTo>
                <a:lnTo>
                  <a:pt x="437223" y="774590"/>
                </a:lnTo>
                <a:lnTo>
                  <a:pt x="391100" y="757072"/>
                </a:lnTo>
                <a:lnTo>
                  <a:pt x="350916" y="733872"/>
                </a:lnTo>
                <a:lnTo>
                  <a:pt x="317764" y="705754"/>
                </a:lnTo>
                <a:lnTo>
                  <a:pt x="292733" y="673481"/>
                </a:lnTo>
                <a:lnTo>
                  <a:pt x="276914" y="637818"/>
                </a:lnTo>
                <a:lnTo>
                  <a:pt x="271399" y="599528"/>
                </a:lnTo>
                <a:lnTo>
                  <a:pt x="271399" y="584758"/>
                </a:lnTo>
                <a:lnTo>
                  <a:pt x="265889" y="546469"/>
                </a:lnTo>
                <a:lnTo>
                  <a:pt x="250084" y="510806"/>
                </a:lnTo>
                <a:lnTo>
                  <a:pt x="225074" y="478533"/>
                </a:lnTo>
                <a:lnTo>
                  <a:pt x="191944" y="450415"/>
                </a:lnTo>
                <a:lnTo>
                  <a:pt x="151784" y="427215"/>
                </a:lnTo>
                <a:lnTo>
                  <a:pt x="105681" y="409697"/>
                </a:lnTo>
                <a:lnTo>
                  <a:pt x="54724" y="398626"/>
                </a:lnTo>
                <a:lnTo>
                  <a:pt x="0" y="394766"/>
                </a:lnTo>
                <a:lnTo>
                  <a:pt x="54724" y="390906"/>
                </a:lnTo>
                <a:lnTo>
                  <a:pt x="105681" y="379835"/>
                </a:lnTo>
                <a:lnTo>
                  <a:pt x="151784" y="362318"/>
                </a:lnTo>
                <a:lnTo>
                  <a:pt x="191944" y="339118"/>
                </a:lnTo>
                <a:lnTo>
                  <a:pt x="225074" y="311000"/>
                </a:lnTo>
                <a:lnTo>
                  <a:pt x="250084" y="278727"/>
                </a:lnTo>
                <a:lnTo>
                  <a:pt x="265889" y="243064"/>
                </a:lnTo>
                <a:lnTo>
                  <a:pt x="271399" y="204774"/>
                </a:lnTo>
                <a:lnTo>
                  <a:pt x="271399" y="189991"/>
                </a:lnTo>
                <a:lnTo>
                  <a:pt x="276914" y="151702"/>
                </a:lnTo>
                <a:lnTo>
                  <a:pt x="292733" y="116039"/>
                </a:lnTo>
                <a:lnTo>
                  <a:pt x="317764" y="83766"/>
                </a:lnTo>
                <a:lnTo>
                  <a:pt x="350916" y="55648"/>
                </a:lnTo>
                <a:lnTo>
                  <a:pt x="391100" y="32448"/>
                </a:lnTo>
                <a:lnTo>
                  <a:pt x="437223" y="14930"/>
                </a:lnTo>
                <a:lnTo>
                  <a:pt x="488195" y="3860"/>
                </a:lnTo>
                <a:lnTo>
                  <a:pt x="542925" y="0"/>
                </a:lnTo>
              </a:path>
            </a:pathLst>
          </a:custGeom>
          <a:ln w="19050">
            <a:solidFill>
              <a:srgbClr val="155F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137659" y="5661659"/>
            <a:ext cx="7387590" cy="794778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4213352" y="1888998"/>
            <a:ext cx="7112000" cy="44716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ts val="2530"/>
              </a:lnSpc>
              <a:spcBef>
                <a:spcPts val="95"/>
              </a:spcBef>
              <a:buChar char="•"/>
              <a:tabLst>
                <a:tab pos="240665" algn="l"/>
              </a:tabLst>
            </a:pPr>
            <a:r>
              <a:rPr sz="2200" spc="-20" dirty="0">
                <a:latin typeface="Trebuchet MS"/>
                <a:cs typeface="Trebuchet MS"/>
              </a:rPr>
              <a:t>A</a:t>
            </a:r>
            <a:r>
              <a:rPr sz="2200" spc="-190" dirty="0">
                <a:latin typeface="Trebuchet MS"/>
                <a:cs typeface="Trebuchet MS"/>
              </a:rPr>
              <a:t> </a:t>
            </a:r>
            <a:r>
              <a:rPr sz="2200" spc="65" dirty="0">
                <a:latin typeface="Trebuchet MS"/>
                <a:cs typeface="Trebuchet MS"/>
              </a:rPr>
              <a:t>bus</a:t>
            </a:r>
            <a:r>
              <a:rPr sz="2200" spc="-175" dirty="0">
                <a:latin typeface="Trebuchet MS"/>
                <a:cs typeface="Trebuchet MS"/>
              </a:rPr>
              <a:t> </a:t>
            </a:r>
            <a:r>
              <a:rPr sz="2200" spc="-40" dirty="0">
                <a:latin typeface="Trebuchet MS"/>
                <a:cs typeface="Trebuchet MS"/>
              </a:rPr>
              <a:t>topology</a:t>
            </a:r>
            <a:r>
              <a:rPr sz="2200" spc="-18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is</a:t>
            </a:r>
            <a:r>
              <a:rPr sz="2200" spc="-185" dirty="0">
                <a:latin typeface="Trebuchet MS"/>
                <a:cs typeface="Trebuchet MS"/>
              </a:rPr>
              <a:t> </a:t>
            </a:r>
            <a:r>
              <a:rPr sz="2200" spc="-70" dirty="0">
                <a:latin typeface="Trebuchet MS"/>
                <a:cs typeface="Trebuchet MS"/>
              </a:rPr>
              <a:t>quite</a:t>
            </a:r>
            <a:r>
              <a:rPr sz="2200" spc="-190" dirty="0">
                <a:latin typeface="Trebuchet MS"/>
                <a:cs typeface="Trebuchet MS"/>
              </a:rPr>
              <a:t> </a:t>
            </a:r>
            <a:r>
              <a:rPr sz="2200" spc="-70" dirty="0">
                <a:latin typeface="Trebuchet MS"/>
                <a:cs typeface="Trebuchet MS"/>
              </a:rPr>
              <a:t>simpler,</a:t>
            </a:r>
            <a:r>
              <a:rPr sz="2200" spc="-170" dirty="0">
                <a:latin typeface="Trebuchet MS"/>
                <a:cs typeface="Trebuchet MS"/>
              </a:rPr>
              <a:t> </a:t>
            </a:r>
            <a:r>
              <a:rPr sz="2200" spc="-55" dirty="0">
                <a:latin typeface="Trebuchet MS"/>
                <a:cs typeface="Trebuchet MS"/>
              </a:rPr>
              <a:t>but</a:t>
            </a:r>
            <a:r>
              <a:rPr sz="2200" spc="-180" dirty="0">
                <a:latin typeface="Trebuchet MS"/>
                <a:cs typeface="Trebuchet MS"/>
              </a:rPr>
              <a:t> </a:t>
            </a:r>
            <a:r>
              <a:rPr sz="2200" spc="-65" dirty="0">
                <a:latin typeface="Trebuchet MS"/>
                <a:cs typeface="Trebuchet MS"/>
              </a:rPr>
              <a:t>still</a:t>
            </a:r>
            <a:r>
              <a:rPr sz="2200" spc="-185" dirty="0">
                <a:latin typeface="Trebuchet MS"/>
                <a:cs typeface="Trebuchet MS"/>
              </a:rPr>
              <a:t> </a:t>
            </a:r>
            <a:r>
              <a:rPr sz="2200" spc="-145" dirty="0">
                <a:latin typeface="Trebuchet MS"/>
                <a:cs typeface="Trebuchet MS"/>
              </a:rPr>
              <a:t>it</a:t>
            </a:r>
            <a:r>
              <a:rPr sz="2200" spc="-185" dirty="0">
                <a:latin typeface="Trebuchet MS"/>
                <a:cs typeface="Trebuchet MS"/>
              </a:rPr>
              <a:t> </a:t>
            </a:r>
            <a:r>
              <a:rPr sz="2200" spc="-50" dirty="0">
                <a:latin typeface="Trebuchet MS"/>
                <a:cs typeface="Trebuchet MS"/>
              </a:rPr>
              <a:t>requires</a:t>
            </a:r>
            <a:r>
              <a:rPr sz="2200" spc="-18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a</a:t>
            </a:r>
            <a:r>
              <a:rPr sz="2200" spc="-180" dirty="0">
                <a:latin typeface="Trebuchet MS"/>
                <a:cs typeface="Trebuchet MS"/>
              </a:rPr>
              <a:t> </a:t>
            </a:r>
            <a:r>
              <a:rPr sz="2200" spc="-85" dirty="0">
                <a:latin typeface="Trebuchet MS"/>
                <a:cs typeface="Trebuchet MS"/>
              </a:rPr>
              <a:t>lot</a:t>
            </a:r>
            <a:r>
              <a:rPr sz="2200" spc="-185" dirty="0">
                <a:latin typeface="Trebuchet MS"/>
                <a:cs typeface="Trebuchet MS"/>
              </a:rPr>
              <a:t> </a:t>
            </a:r>
            <a:r>
              <a:rPr sz="2200" spc="-25" dirty="0">
                <a:latin typeface="Trebuchet MS"/>
                <a:cs typeface="Trebuchet MS"/>
              </a:rPr>
              <a:t>of</a:t>
            </a:r>
            <a:endParaRPr sz="2200">
              <a:latin typeface="Trebuchet MS"/>
              <a:cs typeface="Trebuchet MS"/>
            </a:endParaRPr>
          </a:p>
          <a:p>
            <a:pPr marL="241300">
              <a:lnSpc>
                <a:spcPts val="2530"/>
              </a:lnSpc>
            </a:pPr>
            <a:r>
              <a:rPr sz="2200" spc="-10" dirty="0">
                <a:latin typeface="Trebuchet MS"/>
                <a:cs typeface="Trebuchet MS"/>
              </a:rPr>
              <a:t>cabling.</a:t>
            </a:r>
            <a:endParaRPr sz="2200">
              <a:latin typeface="Trebuchet MS"/>
              <a:cs typeface="Trebuchet MS"/>
            </a:endParaRPr>
          </a:p>
          <a:p>
            <a:pPr marL="241300" marR="60960" indent="-228600">
              <a:lnSpc>
                <a:spcPct val="91600"/>
              </a:lnSpc>
              <a:spcBef>
                <a:spcPts val="2025"/>
              </a:spcBef>
              <a:buChar char="•"/>
              <a:tabLst>
                <a:tab pos="241300" algn="l"/>
              </a:tabLst>
            </a:pPr>
            <a:r>
              <a:rPr sz="2200" spc="-114" dirty="0">
                <a:latin typeface="Trebuchet MS"/>
                <a:cs typeface="Trebuchet MS"/>
              </a:rPr>
              <a:t>It</a:t>
            </a:r>
            <a:r>
              <a:rPr sz="2200" spc="-180" dirty="0">
                <a:latin typeface="Trebuchet MS"/>
                <a:cs typeface="Trebuchet MS"/>
              </a:rPr>
              <a:t> </a:t>
            </a:r>
            <a:r>
              <a:rPr sz="2200" spc="-50" dirty="0">
                <a:latin typeface="Trebuchet MS"/>
                <a:cs typeface="Trebuchet MS"/>
              </a:rPr>
              <a:t>requires</a:t>
            </a:r>
            <a:r>
              <a:rPr sz="2200" spc="-175" dirty="0">
                <a:latin typeface="Trebuchet MS"/>
                <a:cs typeface="Trebuchet MS"/>
              </a:rPr>
              <a:t> </a:t>
            </a:r>
            <a:r>
              <a:rPr sz="2200" spc="-35" dirty="0">
                <a:latin typeface="Trebuchet MS"/>
                <a:cs typeface="Trebuchet MS"/>
              </a:rPr>
              <a:t>specialized</a:t>
            </a:r>
            <a:r>
              <a:rPr sz="2200" spc="-155" dirty="0">
                <a:latin typeface="Trebuchet MS"/>
                <a:cs typeface="Trebuchet MS"/>
              </a:rPr>
              <a:t> </a:t>
            </a:r>
            <a:r>
              <a:rPr sz="2200" spc="-70" dirty="0">
                <a:latin typeface="Trebuchet MS"/>
                <a:cs typeface="Trebuchet MS"/>
              </a:rPr>
              <a:t>test</a:t>
            </a:r>
            <a:r>
              <a:rPr sz="2200" spc="-170" dirty="0">
                <a:latin typeface="Trebuchet MS"/>
                <a:cs typeface="Trebuchet MS"/>
              </a:rPr>
              <a:t> </a:t>
            </a:r>
            <a:r>
              <a:rPr sz="2200" spc="-45" dirty="0">
                <a:latin typeface="Trebuchet MS"/>
                <a:cs typeface="Trebuchet MS"/>
              </a:rPr>
              <a:t>equipment</a:t>
            </a:r>
            <a:r>
              <a:rPr sz="2200" spc="-150" dirty="0">
                <a:latin typeface="Trebuchet MS"/>
                <a:cs typeface="Trebuchet MS"/>
              </a:rPr>
              <a:t> </a:t>
            </a:r>
            <a:r>
              <a:rPr sz="2200" spc="-80" dirty="0">
                <a:latin typeface="Trebuchet MS"/>
                <a:cs typeface="Trebuchet MS"/>
              </a:rPr>
              <a:t>to</a:t>
            </a:r>
            <a:r>
              <a:rPr sz="2200" spc="-165" dirty="0">
                <a:latin typeface="Trebuchet MS"/>
                <a:cs typeface="Trebuchet MS"/>
              </a:rPr>
              <a:t> </a:t>
            </a:r>
            <a:r>
              <a:rPr sz="2200" spc="-65" dirty="0">
                <a:latin typeface="Trebuchet MS"/>
                <a:cs typeface="Trebuchet MS"/>
              </a:rPr>
              <a:t>determine</a:t>
            </a:r>
            <a:r>
              <a:rPr sz="2200" spc="-140" dirty="0">
                <a:latin typeface="Trebuchet MS"/>
                <a:cs typeface="Trebuchet MS"/>
              </a:rPr>
              <a:t> </a:t>
            </a:r>
            <a:r>
              <a:rPr sz="2200" spc="-25" dirty="0">
                <a:latin typeface="Trebuchet MS"/>
                <a:cs typeface="Trebuchet MS"/>
              </a:rPr>
              <a:t>the cable</a:t>
            </a:r>
            <a:r>
              <a:rPr sz="2200" spc="-180" dirty="0">
                <a:latin typeface="Trebuchet MS"/>
                <a:cs typeface="Trebuchet MS"/>
              </a:rPr>
              <a:t> </a:t>
            </a:r>
            <a:r>
              <a:rPr sz="2200" spc="-75" dirty="0">
                <a:latin typeface="Trebuchet MS"/>
                <a:cs typeface="Trebuchet MS"/>
              </a:rPr>
              <a:t>faults.</a:t>
            </a:r>
            <a:r>
              <a:rPr sz="2200" spc="-180" dirty="0">
                <a:latin typeface="Trebuchet MS"/>
                <a:cs typeface="Trebuchet MS"/>
              </a:rPr>
              <a:t> </a:t>
            </a:r>
            <a:r>
              <a:rPr sz="2200" spc="-105" dirty="0">
                <a:latin typeface="Trebuchet MS"/>
                <a:cs typeface="Trebuchet MS"/>
              </a:rPr>
              <a:t>If</a:t>
            </a:r>
            <a:r>
              <a:rPr sz="2200" spc="-180" dirty="0">
                <a:latin typeface="Trebuchet MS"/>
                <a:cs typeface="Trebuchet MS"/>
              </a:rPr>
              <a:t> </a:t>
            </a:r>
            <a:r>
              <a:rPr sz="2200" spc="-40" dirty="0">
                <a:latin typeface="Trebuchet MS"/>
                <a:cs typeface="Trebuchet MS"/>
              </a:rPr>
              <a:t>any</a:t>
            </a:r>
            <a:r>
              <a:rPr sz="2200" spc="-170" dirty="0">
                <a:latin typeface="Trebuchet MS"/>
                <a:cs typeface="Trebuchet MS"/>
              </a:rPr>
              <a:t> </a:t>
            </a:r>
            <a:r>
              <a:rPr sz="2200" spc="-95" dirty="0">
                <a:latin typeface="Trebuchet MS"/>
                <a:cs typeface="Trebuchet MS"/>
              </a:rPr>
              <a:t>fault</a:t>
            </a:r>
            <a:r>
              <a:rPr sz="2200" spc="-17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occurs</a:t>
            </a:r>
            <a:r>
              <a:rPr sz="2200" spc="-155" dirty="0">
                <a:latin typeface="Trebuchet MS"/>
                <a:cs typeface="Trebuchet MS"/>
              </a:rPr>
              <a:t> </a:t>
            </a:r>
            <a:r>
              <a:rPr sz="2200" spc="-55" dirty="0">
                <a:latin typeface="Trebuchet MS"/>
                <a:cs typeface="Trebuchet MS"/>
              </a:rPr>
              <a:t>in</a:t>
            </a:r>
            <a:r>
              <a:rPr sz="2200" spc="-180" dirty="0">
                <a:latin typeface="Trebuchet MS"/>
                <a:cs typeface="Trebuchet MS"/>
              </a:rPr>
              <a:t> </a:t>
            </a:r>
            <a:r>
              <a:rPr sz="2200" spc="-85" dirty="0">
                <a:latin typeface="Trebuchet MS"/>
                <a:cs typeface="Trebuchet MS"/>
              </a:rPr>
              <a:t>the</a:t>
            </a:r>
            <a:r>
              <a:rPr sz="2200" spc="-175" dirty="0">
                <a:latin typeface="Trebuchet MS"/>
                <a:cs typeface="Trebuchet MS"/>
              </a:rPr>
              <a:t> </a:t>
            </a:r>
            <a:r>
              <a:rPr sz="2200" spc="-65" dirty="0">
                <a:latin typeface="Trebuchet MS"/>
                <a:cs typeface="Trebuchet MS"/>
              </a:rPr>
              <a:t>cable,</a:t>
            </a:r>
            <a:r>
              <a:rPr sz="2200" spc="-160" dirty="0">
                <a:latin typeface="Trebuchet MS"/>
                <a:cs typeface="Trebuchet MS"/>
              </a:rPr>
              <a:t> </a:t>
            </a:r>
            <a:r>
              <a:rPr sz="2200" spc="-65" dirty="0">
                <a:latin typeface="Trebuchet MS"/>
                <a:cs typeface="Trebuchet MS"/>
              </a:rPr>
              <a:t>then</a:t>
            </a:r>
            <a:r>
              <a:rPr sz="2200" spc="-175" dirty="0">
                <a:latin typeface="Trebuchet MS"/>
                <a:cs typeface="Trebuchet MS"/>
              </a:rPr>
              <a:t> </a:t>
            </a:r>
            <a:r>
              <a:rPr sz="2200" spc="-145" dirty="0">
                <a:latin typeface="Trebuchet MS"/>
                <a:cs typeface="Trebuchet MS"/>
              </a:rPr>
              <a:t>it</a:t>
            </a:r>
            <a:r>
              <a:rPr sz="2200" spc="-180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would </a:t>
            </a:r>
            <a:r>
              <a:rPr sz="2200" spc="-40" dirty="0">
                <a:latin typeface="Trebuchet MS"/>
                <a:cs typeface="Trebuchet MS"/>
              </a:rPr>
              <a:t>disrupt</a:t>
            </a:r>
            <a:r>
              <a:rPr sz="2200" spc="-190" dirty="0">
                <a:latin typeface="Trebuchet MS"/>
                <a:cs typeface="Trebuchet MS"/>
              </a:rPr>
              <a:t> </a:t>
            </a:r>
            <a:r>
              <a:rPr sz="2200" spc="-75" dirty="0">
                <a:latin typeface="Trebuchet MS"/>
                <a:cs typeface="Trebuchet MS"/>
              </a:rPr>
              <a:t>the</a:t>
            </a:r>
            <a:r>
              <a:rPr sz="2200" spc="-190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communication</a:t>
            </a:r>
            <a:r>
              <a:rPr sz="2200" spc="-160" dirty="0">
                <a:latin typeface="Trebuchet MS"/>
                <a:cs typeface="Trebuchet MS"/>
              </a:rPr>
              <a:t> </a:t>
            </a:r>
            <a:r>
              <a:rPr sz="2200" spc="-100" dirty="0">
                <a:latin typeface="Trebuchet MS"/>
                <a:cs typeface="Trebuchet MS"/>
              </a:rPr>
              <a:t>for</a:t>
            </a:r>
            <a:r>
              <a:rPr sz="2200" spc="-190" dirty="0">
                <a:latin typeface="Trebuchet MS"/>
                <a:cs typeface="Trebuchet MS"/>
              </a:rPr>
              <a:t> </a:t>
            </a:r>
            <a:r>
              <a:rPr sz="2200" spc="-60" dirty="0">
                <a:latin typeface="Trebuchet MS"/>
                <a:cs typeface="Trebuchet MS"/>
              </a:rPr>
              <a:t>all</a:t>
            </a:r>
            <a:r>
              <a:rPr sz="2200" spc="-195" dirty="0">
                <a:latin typeface="Trebuchet MS"/>
                <a:cs typeface="Trebuchet MS"/>
              </a:rPr>
              <a:t> </a:t>
            </a:r>
            <a:r>
              <a:rPr sz="2200" spc="-75" dirty="0">
                <a:latin typeface="Trebuchet MS"/>
                <a:cs typeface="Trebuchet MS"/>
              </a:rPr>
              <a:t>the</a:t>
            </a:r>
            <a:r>
              <a:rPr sz="2200" spc="-190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nodes.</a:t>
            </a:r>
            <a:endParaRPr sz="2200">
              <a:latin typeface="Trebuchet MS"/>
              <a:cs typeface="Trebuchet MS"/>
            </a:endParaRPr>
          </a:p>
          <a:p>
            <a:pPr marL="241300" marR="5080" indent="-228600">
              <a:lnSpc>
                <a:spcPts val="2420"/>
              </a:lnSpc>
              <a:spcBef>
                <a:spcPts val="2070"/>
              </a:spcBef>
              <a:buChar char="•"/>
              <a:tabLst>
                <a:tab pos="241300" algn="l"/>
              </a:tabLst>
            </a:pPr>
            <a:r>
              <a:rPr sz="2200" spc="-110" dirty="0">
                <a:latin typeface="Trebuchet MS"/>
                <a:cs typeface="Trebuchet MS"/>
              </a:rPr>
              <a:t>If</a:t>
            </a:r>
            <a:r>
              <a:rPr sz="2200" spc="-114" dirty="0">
                <a:latin typeface="Trebuchet MS"/>
                <a:cs typeface="Trebuchet MS"/>
              </a:rPr>
              <a:t> </a:t>
            </a:r>
            <a:r>
              <a:rPr sz="2200" spc="-80" dirty="0">
                <a:latin typeface="Trebuchet MS"/>
                <a:cs typeface="Trebuchet MS"/>
              </a:rPr>
              <a:t>two</a:t>
            </a:r>
            <a:r>
              <a:rPr sz="2200" spc="-10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nodes</a:t>
            </a:r>
            <a:r>
              <a:rPr sz="2200" spc="-10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send</a:t>
            </a:r>
            <a:r>
              <a:rPr sz="2200" spc="-105" dirty="0">
                <a:latin typeface="Trebuchet MS"/>
                <a:cs typeface="Trebuchet MS"/>
              </a:rPr>
              <a:t> </a:t>
            </a:r>
            <a:r>
              <a:rPr sz="2200" spc="-85" dirty="0">
                <a:latin typeface="Trebuchet MS"/>
                <a:cs typeface="Trebuchet MS"/>
              </a:rPr>
              <a:t>the</a:t>
            </a:r>
            <a:r>
              <a:rPr sz="2200" spc="-114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messages</a:t>
            </a:r>
            <a:r>
              <a:rPr sz="2200" spc="-95" dirty="0">
                <a:latin typeface="Trebuchet MS"/>
                <a:cs typeface="Trebuchet MS"/>
              </a:rPr>
              <a:t> </a:t>
            </a:r>
            <a:r>
              <a:rPr sz="2200" spc="-40" dirty="0">
                <a:latin typeface="Trebuchet MS"/>
                <a:cs typeface="Trebuchet MS"/>
              </a:rPr>
              <a:t>simultaneously,</a:t>
            </a:r>
            <a:r>
              <a:rPr sz="2200" spc="-75" dirty="0">
                <a:latin typeface="Trebuchet MS"/>
                <a:cs typeface="Trebuchet MS"/>
              </a:rPr>
              <a:t> </a:t>
            </a:r>
            <a:r>
              <a:rPr sz="2200" spc="-65" dirty="0">
                <a:latin typeface="Trebuchet MS"/>
                <a:cs typeface="Trebuchet MS"/>
              </a:rPr>
              <a:t>then</a:t>
            </a:r>
            <a:r>
              <a:rPr sz="2200" spc="-110" dirty="0">
                <a:latin typeface="Trebuchet MS"/>
                <a:cs typeface="Trebuchet MS"/>
              </a:rPr>
              <a:t> </a:t>
            </a:r>
            <a:r>
              <a:rPr sz="2200" spc="-25" dirty="0">
                <a:latin typeface="Trebuchet MS"/>
                <a:cs typeface="Trebuchet MS"/>
              </a:rPr>
              <a:t>the </a:t>
            </a:r>
            <a:r>
              <a:rPr sz="2200" dirty="0">
                <a:latin typeface="Trebuchet MS"/>
                <a:cs typeface="Trebuchet MS"/>
              </a:rPr>
              <a:t>signals</a:t>
            </a:r>
            <a:r>
              <a:rPr sz="2200" spc="-165" dirty="0">
                <a:latin typeface="Trebuchet MS"/>
                <a:cs typeface="Trebuchet MS"/>
              </a:rPr>
              <a:t> </a:t>
            </a:r>
            <a:r>
              <a:rPr sz="2200" spc="-70" dirty="0">
                <a:latin typeface="Trebuchet MS"/>
                <a:cs typeface="Trebuchet MS"/>
              </a:rPr>
              <a:t>of</a:t>
            </a:r>
            <a:r>
              <a:rPr sz="2200" spc="-155" dirty="0">
                <a:latin typeface="Trebuchet MS"/>
                <a:cs typeface="Trebuchet MS"/>
              </a:rPr>
              <a:t> </a:t>
            </a:r>
            <a:r>
              <a:rPr sz="2200" spc="-45" dirty="0">
                <a:latin typeface="Trebuchet MS"/>
                <a:cs typeface="Trebuchet MS"/>
              </a:rPr>
              <a:t>both</a:t>
            </a:r>
            <a:r>
              <a:rPr sz="2200" spc="-145" dirty="0">
                <a:latin typeface="Trebuchet MS"/>
                <a:cs typeface="Trebuchet MS"/>
              </a:rPr>
              <a:t> </a:t>
            </a:r>
            <a:r>
              <a:rPr sz="2200" spc="-85" dirty="0">
                <a:latin typeface="Trebuchet MS"/>
                <a:cs typeface="Trebuchet MS"/>
              </a:rPr>
              <a:t>the</a:t>
            </a:r>
            <a:r>
              <a:rPr sz="2200" spc="-16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nodes</a:t>
            </a:r>
            <a:r>
              <a:rPr sz="2200" spc="-155" dirty="0">
                <a:latin typeface="Trebuchet MS"/>
                <a:cs typeface="Trebuchet MS"/>
              </a:rPr>
              <a:t> </a:t>
            </a:r>
            <a:r>
              <a:rPr sz="2200" spc="-40" dirty="0">
                <a:latin typeface="Trebuchet MS"/>
                <a:cs typeface="Trebuchet MS"/>
              </a:rPr>
              <a:t>collide</a:t>
            </a:r>
            <a:r>
              <a:rPr sz="2200" spc="-170" dirty="0">
                <a:latin typeface="Trebuchet MS"/>
                <a:cs typeface="Trebuchet MS"/>
              </a:rPr>
              <a:t> </a:t>
            </a:r>
            <a:r>
              <a:rPr sz="2200" spc="-100" dirty="0">
                <a:latin typeface="Trebuchet MS"/>
                <a:cs typeface="Trebuchet MS"/>
              </a:rPr>
              <a:t>with</a:t>
            </a:r>
            <a:r>
              <a:rPr sz="2200" spc="-16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each</a:t>
            </a:r>
            <a:r>
              <a:rPr sz="2200" spc="-140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other.</a:t>
            </a:r>
            <a:endParaRPr sz="2200">
              <a:latin typeface="Trebuchet MS"/>
              <a:cs typeface="Trebuchet MS"/>
            </a:endParaRPr>
          </a:p>
          <a:p>
            <a:pPr marL="240665" indent="-227965">
              <a:lnSpc>
                <a:spcPts val="2535"/>
              </a:lnSpc>
              <a:spcBef>
                <a:spcPts val="1795"/>
              </a:spcBef>
              <a:buChar char="•"/>
              <a:tabLst>
                <a:tab pos="240665" algn="l"/>
              </a:tabLst>
            </a:pPr>
            <a:r>
              <a:rPr sz="2200" spc="-35" dirty="0">
                <a:latin typeface="Trebuchet MS"/>
                <a:cs typeface="Trebuchet MS"/>
              </a:rPr>
              <a:t>Adding</a:t>
            </a:r>
            <a:r>
              <a:rPr sz="2200" spc="-195" dirty="0">
                <a:latin typeface="Trebuchet MS"/>
                <a:cs typeface="Trebuchet MS"/>
              </a:rPr>
              <a:t> </a:t>
            </a:r>
            <a:r>
              <a:rPr sz="2200" spc="-50" dirty="0">
                <a:latin typeface="Trebuchet MS"/>
                <a:cs typeface="Trebuchet MS"/>
              </a:rPr>
              <a:t>new</a:t>
            </a:r>
            <a:r>
              <a:rPr sz="2200" spc="-185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devices</a:t>
            </a:r>
            <a:r>
              <a:rPr sz="2200" spc="-175" dirty="0">
                <a:latin typeface="Trebuchet MS"/>
                <a:cs typeface="Trebuchet MS"/>
              </a:rPr>
              <a:t> </a:t>
            </a:r>
            <a:r>
              <a:rPr sz="2200" spc="-80" dirty="0">
                <a:latin typeface="Trebuchet MS"/>
                <a:cs typeface="Trebuchet MS"/>
              </a:rPr>
              <a:t>to</a:t>
            </a:r>
            <a:r>
              <a:rPr sz="2200" spc="-170" dirty="0">
                <a:latin typeface="Trebuchet MS"/>
                <a:cs typeface="Trebuchet MS"/>
              </a:rPr>
              <a:t> </a:t>
            </a:r>
            <a:r>
              <a:rPr sz="2200" spc="-75" dirty="0">
                <a:latin typeface="Trebuchet MS"/>
                <a:cs typeface="Trebuchet MS"/>
              </a:rPr>
              <a:t>the</a:t>
            </a:r>
            <a:r>
              <a:rPr sz="2200" spc="-185" dirty="0">
                <a:latin typeface="Trebuchet MS"/>
                <a:cs typeface="Trebuchet MS"/>
              </a:rPr>
              <a:t> </a:t>
            </a:r>
            <a:r>
              <a:rPr sz="2200" spc="-70" dirty="0">
                <a:latin typeface="Trebuchet MS"/>
                <a:cs typeface="Trebuchet MS"/>
              </a:rPr>
              <a:t>network</a:t>
            </a:r>
            <a:r>
              <a:rPr sz="2200" spc="-155" dirty="0">
                <a:latin typeface="Trebuchet MS"/>
                <a:cs typeface="Trebuchet MS"/>
              </a:rPr>
              <a:t> </a:t>
            </a:r>
            <a:r>
              <a:rPr sz="2200" spc="-35" dirty="0">
                <a:latin typeface="Trebuchet MS"/>
                <a:cs typeface="Trebuchet MS"/>
              </a:rPr>
              <a:t>would</a:t>
            </a:r>
            <a:r>
              <a:rPr sz="2200" spc="-18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slow</a:t>
            </a:r>
            <a:r>
              <a:rPr sz="2200" spc="-175" dirty="0">
                <a:latin typeface="Trebuchet MS"/>
                <a:cs typeface="Trebuchet MS"/>
              </a:rPr>
              <a:t> </a:t>
            </a:r>
            <a:r>
              <a:rPr sz="2200" spc="-25" dirty="0">
                <a:latin typeface="Trebuchet MS"/>
                <a:cs typeface="Trebuchet MS"/>
              </a:rPr>
              <a:t>down</a:t>
            </a:r>
            <a:r>
              <a:rPr sz="2200" spc="-180" dirty="0">
                <a:latin typeface="Trebuchet MS"/>
                <a:cs typeface="Trebuchet MS"/>
              </a:rPr>
              <a:t> </a:t>
            </a:r>
            <a:r>
              <a:rPr sz="2200" spc="-25" dirty="0">
                <a:latin typeface="Trebuchet MS"/>
                <a:cs typeface="Trebuchet MS"/>
              </a:rPr>
              <a:t>the</a:t>
            </a:r>
            <a:endParaRPr sz="2200">
              <a:latin typeface="Trebuchet MS"/>
              <a:cs typeface="Trebuchet MS"/>
            </a:endParaRPr>
          </a:p>
          <a:p>
            <a:pPr marL="241300">
              <a:lnSpc>
                <a:spcPts val="2535"/>
              </a:lnSpc>
            </a:pPr>
            <a:r>
              <a:rPr sz="2200" spc="-10" dirty="0">
                <a:latin typeface="Trebuchet MS"/>
                <a:cs typeface="Trebuchet MS"/>
              </a:rPr>
              <a:t>network.</a:t>
            </a:r>
            <a:endParaRPr sz="2200">
              <a:latin typeface="Trebuchet MS"/>
              <a:cs typeface="Trebuchet MS"/>
            </a:endParaRPr>
          </a:p>
          <a:p>
            <a:pPr marL="241300" marR="387350" indent="-228600">
              <a:lnSpc>
                <a:spcPts val="2420"/>
              </a:lnSpc>
              <a:spcBef>
                <a:spcPts val="2095"/>
              </a:spcBef>
              <a:buChar char="•"/>
              <a:tabLst>
                <a:tab pos="241300" algn="l"/>
              </a:tabLst>
            </a:pPr>
            <a:r>
              <a:rPr sz="2200" spc="-70" dirty="0">
                <a:latin typeface="Trebuchet MS"/>
                <a:cs typeface="Trebuchet MS"/>
              </a:rPr>
              <a:t>Attenuation</a:t>
            </a:r>
            <a:r>
              <a:rPr sz="2200" spc="-15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is</a:t>
            </a:r>
            <a:r>
              <a:rPr sz="2200" spc="-19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a</a:t>
            </a:r>
            <a:r>
              <a:rPr sz="2200" spc="-180" dirty="0">
                <a:latin typeface="Trebuchet MS"/>
                <a:cs typeface="Trebuchet MS"/>
              </a:rPr>
              <a:t> </a:t>
            </a:r>
            <a:r>
              <a:rPr sz="2200" spc="70" dirty="0">
                <a:latin typeface="Trebuchet MS"/>
                <a:cs typeface="Trebuchet MS"/>
              </a:rPr>
              <a:t>loss</a:t>
            </a:r>
            <a:r>
              <a:rPr sz="2200" spc="-190" dirty="0">
                <a:latin typeface="Trebuchet MS"/>
                <a:cs typeface="Trebuchet MS"/>
              </a:rPr>
              <a:t> </a:t>
            </a:r>
            <a:r>
              <a:rPr sz="2200" spc="-70" dirty="0">
                <a:latin typeface="Trebuchet MS"/>
                <a:cs typeface="Trebuchet MS"/>
              </a:rPr>
              <a:t>of</a:t>
            </a:r>
            <a:r>
              <a:rPr sz="2200" spc="-185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signal</a:t>
            </a:r>
            <a:r>
              <a:rPr sz="2200" spc="-19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leads</a:t>
            </a:r>
            <a:r>
              <a:rPr sz="2200" spc="-175" dirty="0">
                <a:latin typeface="Trebuchet MS"/>
                <a:cs typeface="Trebuchet MS"/>
              </a:rPr>
              <a:t> </a:t>
            </a:r>
            <a:r>
              <a:rPr sz="2200" spc="-80" dirty="0">
                <a:latin typeface="Trebuchet MS"/>
                <a:cs typeface="Trebuchet MS"/>
              </a:rPr>
              <a:t>to</a:t>
            </a:r>
            <a:r>
              <a:rPr sz="2200" spc="-190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communication </a:t>
            </a:r>
            <a:r>
              <a:rPr sz="2200" dirty="0">
                <a:latin typeface="Trebuchet MS"/>
                <a:cs typeface="Trebuchet MS"/>
              </a:rPr>
              <a:t>issues.</a:t>
            </a:r>
            <a:r>
              <a:rPr sz="2200" spc="-150" dirty="0">
                <a:latin typeface="Trebuchet MS"/>
                <a:cs typeface="Trebuchet MS"/>
              </a:rPr>
              <a:t> </a:t>
            </a:r>
            <a:r>
              <a:rPr sz="2200" spc="-40" dirty="0">
                <a:latin typeface="Trebuchet MS"/>
                <a:cs typeface="Trebuchet MS"/>
              </a:rPr>
              <a:t>Repeaters</a:t>
            </a:r>
            <a:r>
              <a:rPr sz="2200" spc="-95" dirty="0">
                <a:latin typeface="Trebuchet MS"/>
                <a:cs typeface="Trebuchet MS"/>
              </a:rPr>
              <a:t> </a:t>
            </a:r>
            <a:r>
              <a:rPr sz="2200" spc="-70" dirty="0">
                <a:latin typeface="Trebuchet MS"/>
                <a:cs typeface="Trebuchet MS"/>
              </a:rPr>
              <a:t>are</a:t>
            </a:r>
            <a:r>
              <a:rPr sz="2200" spc="-14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used</a:t>
            </a:r>
            <a:r>
              <a:rPr sz="2200" spc="-135" dirty="0">
                <a:latin typeface="Trebuchet MS"/>
                <a:cs typeface="Trebuchet MS"/>
              </a:rPr>
              <a:t> </a:t>
            </a:r>
            <a:r>
              <a:rPr sz="2200" spc="-80" dirty="0">
                <a:latin typeface="Trebuchet MS"/>
                <a:cs typeface="Trebuchet MS"/>
              </a:rPr>
              <a:t>to</a:t>
            </a:r>
            <a:r>
              <a:rPr sz="2200" spc="-135" dirty="0">
                <a:latin typeface="Trebuchet MS"/>
                <a:cs typeface="Trebuchet MS"/>
              </a:rPr>
              <a:t> </a:t>
            </a:r>
            <a:r>
              <a:rPr sz="2200" spc="-90" dirty="0">
                <a:latin typeface="Trebuchet MS"/>
                <a:cs typeface="Trebuchet MS"/>
              </a:rPr>
              <a:t>regenerate</a:t>
            </a:r>
            <a:r>
              <a:rPr sz="2200" spc="-114" dirty="0">
                <a:latin typeface="Trebuchet MS"/>
                <a:cs typeface="Trebuchet MS"/>
              </a:rPr>
              <a:t> </a:t>
            </a:r>
            <a:r>
              <a:rPr sz="2200" spc="-85" dirty="0">
                <a:latin typeface="Trebuchet MS"/>
                <a:cs typeface="Trebuchet MS"/>
              </a:rPr>
              <a:t>the</a:t>
            </a:r>
            <a:r>
              <a:rPr sz="2200" spc="-145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signal.</a:t>
            </a:r>
            <a:endParaRPr sz="2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0" dirty="0"/>
              <a:t>Ring</a:t>
            </a:r>
            <a:r>
              <a:rPr spc="-445" dirty="0"/>
              <a:t> </a:t>
            </a:r>
            <a:r>
              <a:rPr spc="-285" dirty="0"/>
              <a:t>Topology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46250"/>
            <a:ext cx="82613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sz="2400" spc="-35" dirty="0">
                <a:latin typeface="Trebuchet MS"/>
                <a:cs typeface="Trebuchet MS"/>
              </a:rPr>
              <a:t>Ring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topology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like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70" dirty="0">
                <a:latin typeface="Trebuchet MS"/>
                <a:cs typeface="Trebuchet MS"/>
              </a:rPr>
              <a:t>bus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topology,</a:t>
            </a:r>
            <a:r>
              <a:rPr sz="2400" spc="-17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but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with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connected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ends.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2128773"/>
            <a:ext cx="10359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  <a:tab pos="897890" algn="l"/>
                <a:tab pos="1748155" algn="l"/>
                <a:tab pos="2455545" algn="l"/>
                <a:tab pos="3733165" algn="l"/>
                <a:tab pos="4342765" algn="l"/>
                <a:tab pos="5708650" algn="l"/>
                <a:tab pos="6508750" algn="l"/>
                <a:tab pos="7118350" algn="l"/>
                <a:tab pos="8424545" algn="l"/>
                <a:tab pos="9897110" algn="l"/>
              </a:tabLst>
            </a:pPr>
            <a:r>
              <a:rPr sz="2400" spc="-25" dirty="0">
                <a:latin typeface="Trebuchet MS"/>
                <a:cs typeface="Trebuchet MS"/>
              </a:rPr>
              <a:t>The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0" dirty="0">
                <a:latin typeface="Trebuchet MS"/>
                <a:cs typeface="Trebuchet MS"/>
              </a:rPr>
              <a:t>node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0" dirty="0">
                <a:latin typeface="Trebuchet MS"/>
                <a:cs typeface="Trebuchet MS"/>
              </a:rPr>
              <a:t>that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receives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5" dirty="0">
                <a:latin typeface="Trebuchet MS"/>
                <a:cs typeface="Trebuchet MS"/>
              </a:rPr>
              <a:t>the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message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0" dirty="0">
                <a:latin typeface="Trebuchet MS"/>
                <a:cs typeface="Trebuchet MS"/>
              </a:rPr>
              <a:t>from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5" dirty="0">
                <a:latin typeface="Trebuchet MS"/>
                <a:cs typeface="Trebuchet MS"/>
              </a:rPr>
              <a:t>the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previous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computer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85" dirty="0">
                <a:latin typeface="Trebuchet MS"/>
                <a:cs typeface="Trebuchet MS"/>
              </a:rPr>
              <a:t>will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939" y="2365874"/>
            <a:ext cx="9555480" cy="117729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250"/>
              </a:spcBef>
            </a:pPr>
            <a:r>
              <a:rPr sz="2400" spc="-80" dirty="0">
                <a:latin typeface="Trebuchet MS"/>
                <a:cs typeface="Trebuchet MS"/>
              </a:rPr>
              <a:t>retransmit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to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the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spc="-114" dirty="0">
                <a:latin typeface="Trebuchet MS"/>
                <a:cs typeface="Trebuchet MS"/>
              </a:rPr>
              <a:t>next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node.</a:t>
            </a:r>
            <a:endParaRPr sz="24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145"/>
              </a:spcBef>
              <a:buFont typeface="Arial MT"/>
              <a:buChar char="•"/>
              <a:tabLst>
                <a:tab pos="240665" algn="l"/>
              </a:tabLst>
            </a:pPr>
            <a:r>
              <a:rPr sz="2400" spc="-100" dirty="0">
                <a:latin typeface="Trebuchet MS"/>
                <a:cs typeface="Trebuchet MS"/>
              </a:rPr>
              <a:t>The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data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flows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in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one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direction,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195" dirty="0">
                <a:latin typeface="Trebuchet MS"/>
                <a:cs typeface="Trebuchet MS"/>
              </a:rPr>
              <a:t>i.e.,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it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unidirectional.</a:t>
            </a:r>
            <a:endParaRPr sz="24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240665" algn="l"/>
              </a:tabLst>
            </a:pPr>
            <a:r>
              <a:rPr sz="2400" spc="-100" dirty="0">
                <a:latin typeface="Trebuchet MS"/>
                <a:cs typeface="Trebuchet MS"/>
              </a:rPr>
              <a:t>The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data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flows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in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single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loop</a:t>
            </a:r>
            <a:r>
              <a:rPr sz="2400" spc="-17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continuously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known</a:t>
            </a:r>
            <a:r>
              <a:rPr sz="2400" spc="-175" dirty="0">
                <a:latin typeface="Trebuchet MS"/>
                <a:cs typeface="Trebuchet MS"/>
              </a:rPr>
              <a:t> </a:t>
            </a:r>
            <a:r>
              <a:rPr sz="2400" spc="95" dirty="0">
                <a:latin typeface="Trebuchet MS"/>
                <a:cs typeface="Trebuchet MS"/>
              </a:rPr>
              <a:t>as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an</a:t>
            </a:r>
            <a:r>
              <a:rPr sz="2400" spc="-175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endless</a:t>
            </a:r>
            <a:r>
              <a:rPr sz="2400" b="1" spc="-180" dirty="0">
                <a:latin typeface="Trebuchet MS"/>
                <a:cs typeface="Trebuchet MS"/>
              </a:rPr>
              <a:t> </a:t>
            </a:r>
            <a:r>
              <a:rPr sz="2400" b="1" spc="-10" dirty="0">
                <a:latin typeface="Trebuchet MS"/>
                <a:cs typeface="Trebuchet MS"/>
              </a:rPr>
              <a:t>loop</a:t>
            </a:r>
            <a:r>
              <a:rPr sz="2400" spc="-10" dirty="0"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6939" y="3534282"/>
            <a:ext cx="103581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sz="2400" dirty="0">
                <a:latin typeface="Trebuchet MS"/>
                <a:cs typeface="Trebuchet MS"/>
              </a:rPr>
              <a:t>It</a:t>
            </a:r>
            <a:r>
              <a:rPr sz="2400" spc="10" dirty="0">
                <a:latin typeface="Trebuchet MS"/>
                <a:cs typeface="Trebuchet MS"/>
              </a:rPr>
              <a:t> </a:t>
            </a:r>
            <a:r>
              <a:rPr sz="2400" spc="65" dirty="0">
                <a:latin typeface="Trebuchet MS"/>
                <a:cs typeface="Trebuchet MS"/>
              </a:rPr>
              <a:t>has</a:t>
            </a:r>
            <a:r>
              <a:rPr sz="2400" spc="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no</a:t>
            </a:r>
            <a:r>
              <a:rPr sz="2400" spc="5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terminated</a:t>
            </a:r>
            <a:r>
              <a:rPr sz="2400" spc="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ends,</a:t>
            </a:r>
            <a:r>
              <a:rPr sz="2400" spc="15" dirty="0">
                <a:latin typeface="Trebuchet MS"/>
                <a:cs typeface="Trebuchet MS"/>
              </a:rPr>
              <a:t> </a:t>
            </a:r>
            <a:r>
              <a:rPr sz="2400" spc="-160" dirty="0">
                <a:latin typeface="Trebuchet MS"/>
                <a:cs typeface="Trebuchet MS"/>
              </a:rPr>
              <a:t>i.e.,</a:t>
            </a:r>
            <a:r>
              <a:rPr sz="2400" spc="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each</a:t>
            </a:r>
            <a:r>
              <a:rPr sz="2400" spc="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node</a:t>
            </a:r>
            <a:r>
              <a:rPr sz="2400" spc="2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connected</a:t>
            </a:r>
            <a:r>
              <a:rPr sz="2400" spc="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to</a:t>
            </a:r>
            <a:r>
              <a:rPr sz="2400" spc="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other</a:t>
            </a:r>
            <a:r>
              <a:rPr sz="2400" spc="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node</a:t>
            </a:r>
            <a:r>
              <a:rPr sz="2400" spc="1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and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6939" y="3771772"/>
            <a:ext cx="9613265" cy="1176655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245"/>
              </a:spcBef>
            </a:pPr>
            <a:r>
              <a:rPr sz="2400" spc="-50" dirty="0">
                <a:latin typeface="Trebuchet MS"/>
                <a:cs typeface="Trebuchet MS"/>
              </a:rPr>
              <a:t>having</a:t>
            </a:r>
            <a:r>
              <a:rPr sz="2400" spc="-1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no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termination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point.</a:t>
            </a:r>
            <a:endParaRPr sz="24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145"/>
              </a:spcBef>
              <a:buFont typeface="Arial MT"/>
              <a:buChar char="•"/>
              <a:tabLst>
                <a:tab pos="240665" algn="l"/>
              </a:tabLst>
            </a:pPr>
            <a:r>
              <a:rPr sz="2400" spc="-100" dirty="0">
                <a:latin typeface="Trebuchet MS"/>
                <a:cs typeface="Trebuchet MS"/>
              </a:rPr>
              <a:t>The</a:t>
            </a:r>
            <a:r>
              <a:rPr sz="2400" spc="-22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data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in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ring</a:t>
            </a:r>
            <a:r>
              <a:rPr sz="2400" spc="-225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topology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flow</a:t>
            </a:r>
            <a:r>
              <a:rPr sz="2400" spc="-22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in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clockwise</a:t>
            </a:r>
            <a:r>
              <a:rPr sz="2400" spc="-23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direction.</a:t>
            </a:r>
            <a:endParaRPr sz="24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135"/>
              </a:spcBef>
              <a:buFont typeface="Arial MT"/>
              <a:buChar char="•"/>
              <a:tabLst>
                <a:tab pos="240665" algn="l"/>
              </a:tabLst>
            </a:pPr>
            <a:r>
              <a:rPr sz="2400" spc="-100" dirty="0">
                <a:latin typeface="Trebuchet MS"/>
                <a:cs typeface="Trebuchet MS"/>
              </a:rPr>
              <a:t>The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most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common</a:t>
            </a:r>
            <a:r>
              <a:rPr sz="2400" spc="-155" dirty="0">
                <a:latin typeface="Trebuchet MS"/>
                <a:cs typeface="Trebuchet MS"/>
              </a:rPr>
              <a:t> </a:t>
            </a:r>
            <a:r>
              <a:rPr sz="2400" spc="75" dirty="0">
                <a:latin typeface="Trebuchet MS"/>
                <a:cs typeface="Trebuchet MS"/>
              </a:rPr>
              <a:t>access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method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of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the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ring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topology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-175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token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passing.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74394" y="4895469"/>
            <a:ext cx="98996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b="1" spc="-114" dirty="0">
                <a:latin typeface="Trebuchet MS"/>
                <a:cs typeface="Trebuchet MS"/>
              </a:rPr>
              <a:t>Token</a:t>
            </a:r>
            <a:r>
              <a:rPr sz="2000" b="1" spc="-13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passing</a:t>
            </a:r>
            <a:r>
              <a:rPr sz="2000" dirty="0">
                <a:latin typeface="Trebuchet MS"/>
                <a:cs typeface="Trebuchet MS"/>
              </a:rPr>
              <a:t>:</a:t>
            </a:r>
            <a:r>
              <a:rPr sz="2000" spc="-125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It</a:t>
            </a:r>
            <a:r>
              <a:rPr sz="2000" spc="-1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is</a:t>
            </a:r>
            <a:r>
              <a:rPr sz="2000" spc="-1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spc="-125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network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60" dirty="0">
                <a:latin typeface="Trebuchet MS"/>
                <a:cs typeface="Trebuchet MS"/>
              </a:rPr>
              <a:t>access</a:t>
            </a:r>
            <a:r>
              <a:rPr sz="2000" spc="-135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method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in</a:t>
            </a:r>
            <a:r>
              <a:rPr sz="2000" spc="-135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which</a:t>
            </a:r>
            <a:r>
              <a:rPr sz="2000" spc="-125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token</a:t>
            </a:r>
            <a:r>
              <a:rPr sz="2000" spc="-1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is</a:t>
            </a:r>
            <a:r>
              <a:rPr sz="2000" spc="-1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passed</a:t>
            </a:r>
            <a:r>
              <a:rPr sz="2000" spc="-130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from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one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node</a:t>
            </a:r>
            <a:r>
              <a:rPr sz="2000" spc="-13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to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74394" y="5108828"/>
            <a:ext cx="6199505" cy="607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>
              <a:lnSpc>
                <a:spcPts val="2285"/>
              </a:lnSpc>
              <a:spcBef>
                <a:spcPts val="100"/>
              </a:spcBef>
            </a:pPr>
            <a:r>
              <a:rPr sz="2000" spc="-40" dirty="0">
                <a:latin typeface="Trebuchet MS"/>
                <a:cs typeface="Trebuchet MS"/>
              </a:rPr>
              <a:t>another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node.</a:t>
            </a:r>
            <a:endParaRPr sz="2000">
              <a:latin typeface="Trebuchet MS"/>
              <a:cs typeface="Trebuchet MS"/>
            </a:endParaRPr>
          </a:p>
          <a:p>
            <a:pPr marL="240665" indent="-227965">
              <a:lnSpc>
                <a:spcPts val="2285"/>
              </a:lnSpc>
              <a:buFont typeface="Arial MT"/>
              <a:buChar char="•"/>
              <a:tabLst>
                <a:tab pos="240665" algn="l"/>
              </a:tabLst>
            </a:pPr>
            <a:r>
              <a:rPr sz="2000" b="1" spc="-125" dirty="0">
                <a:latin typeface="Trebuchet MS"/>
                <a:cs typeface="Trebuchet MS"/>
              </a:rPr>
              <a:t>Token</a:t>
            </a:r>
            <a:r>
              <a:rPr sz="2000" spc="-125" dirty="0">
                <a:latin typeface="Trebuchet MS"/>
                <a:cs typeface="Trebuchet MS"/>
              </a:rPr>
              <a:t>: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It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is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70" dirty="0">
                <a:latin typeface="Trebuchet MS"/>
                <a:cs typeface="Trebuchet MS"/>
              </a:rPr>
              <a:t>frame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that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circulates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around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the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network.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0" dirty="0"/>
              <a:t>Ring</a:t>
            </a:r>
            <a:r>
              <a:rPr spc="-445" dirty="0"/>
              <a:t> </a:t>
            </a:r>
            <a:r>
              <a:rPr spc="-285" dirty="0"/>
              <a:t>Topology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85338" y="1564258"/>
            <a:ext cx="5915811" cy="49286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29" dirty="0"/>
              <a:t>Working</a:t>
            </a:r>
            <a:r>
              <a:rPr spc="-459" dirty="0"/>
              <a:t> </a:t>
            </a:r>
            <a:r>
              <a:rPr spc="-265" dirty="0"/>
              <a:t>of</a:t>
            </a:r>
            <a:r>
              <a:rPr spc="-455" dirty="0"/>
              <a:t> </a:t>
            </a:r>
            <a:r>
              <a:rPr spc="-355" dirty="0"/>
              <a:t>Token</a:t>
            </a:r>
            <a:r>
              <a:rPr spc="-470" dirty="0"/>
              <a:t> </a:t>
            </a:r>
            <a:r>
              <a:rPr spc="-40" dirty="0"/>
              <a:t>Passing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37106"/>
            <a:ext cx="1035685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Trebuchet MS"/>
                <a:cs typeface="Trebuchet MS"/>
              </a:rPr>
              <a:t>A</a:t>
            </a:r>
            <a:r>
              <a:rPr sz="2600" spc="-100" dirty="0">
                <a:latin typeface="Trebuchet MS"/>
                <a:cs typeface="Trebuchet MS"/>
              </a:rPr>
              <a:t> </a:t>
            </a:r>
            <a:r>
              <a:rPr sz="2600" spc="-65" dirty="0">
                <a:latin typeface="Trebuchet MS"/>
                <a:cs typeface="Trebuchet MS"/>
              </a:rPr>
              <a:t>token</a:t>
            </a:r>
            <a:r>
              <a:rPr sz="2600" spc="-8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moves</a:t>
            </a:r>
            <a:r>
              <a:rPr sz="2600" spc="-95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around</a:t>
            </a:r>
            <a:r>
              <a:rPr sz="2600" spc="-85" dirty="0">
                <a:latin typeface="Trebuchet MS"/>
                <a:cs typeface="Trebuchet MS"/>
              </a:rPr>
              <a:t> </a:t>
            </a:r>
            <a:r>
              <a:rPr sz="2600" spc="-60" dirty="0">
                <a:latin typeface="Trebuchet MS"/>
                <a:cs typeface="Trebuchet MS"/>
              </a:rPr>
              <a:t>the</a:t>
            </a:r>
            <a:r>
              <a:rPr sz="2600" spc="-90" dirty="0"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network,</a:t>
            </a:r>
            <a:r>
              <a:rPr sz="2600" spc="-8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and</a:t>
            </a:r>
            <a:r>
              <a:rPr sz="2600" spc="-95" dirty="0">
                <a:latin typeface="Trebuchet MS"/>
                <a:cs typeface="Trebuchet MS"/>
              </a:rPr>
              <a:t> </a:t>
            </a:r>
            <a:r>
              <a:rPr sz="2600" spc="-155" dirty="0">
                <a:latin typeface="Trebuchet MS"/>
                <a:cs typeface="Trebuchet MS"/>
              </a:rPr>
              <a:t>it</a:t>
            </a:r>
            <a:r>
              <a:rPr sz="2600" spc="-8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is</a:t>
            </a:r>
            <a:r>
              <a:rPr sz="2600" spc="-95" dirty="0">
                <a:latin typeface="Trebuchet MS"/>
                <a:cs typeface="Trebuchet MS"/>
              </a:rPr>
              <a:t> </a:t>
            </a:r>
            <a:r>
              <a:rPr sz="2600" spc="60" dirty="0">
                <a:latin typeface="Trebuchet MS"/>
                <a:cs typeface="Trebuchet MS"/>
              </a:rPr>
              <a:t>passed</a:t>
            </a:r>
            <a:r>
              <a:rPr sz="2600" spc="-75" dirty="0">
                <a:latin typeface="Trebuchet MS"/>
                <a:cs typeface="Trebuchet MS"/>
              </a:rPr>
              <a:t> </a:t>
            </a:r>
            <a:r>
              <a:rPr sz="2600" spc="-65" dirty="0">
                <a:latin typeface="Trebuchet MS"/>
                <a:cs typeface="Trebuchet MS"/>
              </a:rPr>
              <a:t>from</a:t>
            </a:r>
            <a:r>
              <a:rPr sz="2600" spc="-85" dirty="0">
                <a:latin typeface="Trebuchet MS"/>
                <a:cs typeface="Trebuchet MS"/>
              </a:rPr>
              <a:t> </a:t>
            </a:r>
            <a:r>
              <a:rPr sz="2600" spc="-25" dirty="0">
                <a:latin typeface="Trebuchet MS"/>
                <a:cs typeface="Trebuchet MS"/>
              </a:rPr>
              <a:t>computer</a:t>
            </a:r>
            <a:r>
              <a:rPr sz="2600" spc="-80" dirty="0">
                <a:latin typeface="Trebuchet MS"/>
                <a:cs typeface="Trebuchet MS"/>
              </a:rPr>
              <a:t> </a:t>
            </a:r>
            <a:r>
              <a:rPr sz="2600" spc="-25" dirty="0">
                <a:latin typeface="Trebuchet MS"/>
                <a:cs typeface="Trebuchet MS"/>
              </a:rPr>
              <a:t>to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5844" y="2014474"/>
            <a:ext cx="589851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35" dirty="0">
                <a:latin typeface="Trebuchet MS"/>
                <a:cs typeface="Trebuchet MS"/>
              </a:rPr>
              <a:t>computer</a:t>
            </a:r>
            <a:r>
              <a:rPr sz="2600" spc="-245" dirty="0">
                <a:latin typeface="Trebuchet MS"/>
                <a:cs typeface="Trebuchet MS"/>
              </a:rPr>
              <a:t> </a:t>
            </a:r>
            <a:r>
              <a:rPr sz="2600" spc="-85" dirty="0">
                <a:latin typeface="Trebuchet MS"/>
                <a:cs typeface="Trebuchet MS"/>
              </a:rPr>
              <a:t>until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55" dirty="0">
                <a:latin typeface="Trebuchet MS"/>
                <a:cs typeface="Trebuchet MS"/>
              </a:rPr>
              <a:t>it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reaches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85" dirty="0">
                <a:latin typeface="Trebuchet MS"/>
                <a:cs typeface="Trebuchet MS"/>
              </a:rPr>
              <a:t>the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40" dirty="0">
                <a:latin typeface="Trebuchet MS"/>
                <a:cs typeface="Trebuchet MS"/>
              </a:rPr>
              <a:t>destination.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939" y="2418029"/>
            <a:ext cx="10357485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Trebuchet MS"/>
                <a:cs typeface="Trebuchet MS"/>
              </a:rPr>
              <a:t>The</a:t>
            </a:r>
            <a:r>
              <a:rPr sz="2600" spc="-3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sender</a:t>
            </a:r>
            <a:r>
              <a:rPr sz="2600" spc="-2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modifies</a:t>
            </a:r>
            <a:r>
              <a:rPr sz="2600" spc="-3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the</a:t>
            </a:r>
            <a:r>
              <a:rPr sz="2600" spc="-30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token</a:t>
            </a:r>
            <a:r>
              <a:rPr sz="2600" spc="-3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by</a:t>
            </a:r>
            <a:r>
              <a:rPr sz="2600" spc="-25" dirty="0">
                <a:latin typeface="Trebuchet MS"/>
                <a:cs typeface="Trebuchet MS"/>
              </a:rPr>
              <a:t> </a:t>
            </a:r>
            <a:r>
              <a:rPr sz="2600" spc="-35" dirty="0">
                <a:latin typeface="Trebuchet MS"/>
                <a:cs typeface="Trebuchet MS"/>
              </a:rPr>
              <a:t>putting</a:t>
            </a:r>
            <a:r>
              <a:rPr sz="2600" spc="-3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the</a:t>
            </a:r>
            <a:r>
              <a:rPr sz="2600" spc="-3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address</a:t>
            </a:r>
            <a:r>
              <a:rPr sz="2600" spc="-2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along</a:t>
            </a:r>
            <a:r>
              <a:rPr sz="2600" spc="-25" dirty="0">
                <a:latin typeface="Trebuchet MS"/>
                <a:cs typeface="Trebuchet MS"/>
              </a:rPr>
              <a:t> with</a:t>
            </a:r>
            <a:r>
              <a:rPr sz="2600" spc="-20" dirty="0">
                <a:latin typeface="Trebuchet MS"/>
                <a:cs typeface="Trebuchet MS"/>
              </a:rPr>
              <a:t> </a:t>
            </a:r>
            <a:r>
              <a:rPr sz="2600" spc="-25" dirty="0">
                <a:latin typeface="Trebuchet MS"/>
                <a:cs typeface="Trebuchet MS"/>
              </a:rPr>
              <a:t>the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45844" y="2696082"/>
            <a:ext cx="75882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65" dirty="0">
                <a:latin typeface="Trebuchet MS"/>
                <a:cs typeface="Trebuchet MS"/>
              </a:rPr>
              <a:t>data.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6939" y="3099943"/>
            <a:ext cx="1036002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  <a:tab pos="945515" algn="l"/>
                <a:tab pos="1774189" algn="l"/>
                <a:tab pos="2202815" algn="l"/>
                <a:tab pos="3435985" algn="l"/>
                <a:tab pos="4295140" algn="l"/>
                <a:tab pos="5022850" algn="l"/>
                <a:tab pos="6148705" algn="l"/>
                <a:tab pos="6625590" algn="l"/>
                <a:tab pos="7930515" algn="l"/>
                <a:tab pos="9055735" algn="l"/>
                <a:tab pos="9883140" algn="l"/>
              </a:tabLst>
            </a:pPr>
            <a:r>
              <a:rPr sz="2600" spc="-25" dirty="0">
                <a:latin typeface="Trebuchet MS"/>
                <a:cs typeface="Trebuchet MS"/>
              </a:rPr>
              <a:t>The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20" dirty="0">
                <a:latin typeface="Trebuchet MS"/>
                <a:cs typeface="Trebuchet MS"/>
              </a:rPr>
              <a:t>data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25" dirty="0">
                <a:latin typeface="Trebuchet MS"/>
                <a:cs typeface="Trebuchet MS"/>
              </a:rPr>
              <a:t>is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50" dirty="0">
                <a:latin typeface="Trebuchet MS"/>
                <a:cs typeface="Trebuchet MS"/>
              </a:rPr>
              <a:t>passed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20" dirty="0">
                <a:latin typeface="Trebuchet MS"/>
                <a:cs typeface="Trebuchet MS"/>
              </a:rPr>
              <a:t>from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25" dirty="0">
                <a:latin typeface="Trebuchet MS"/>
                <a:cs typeface="Trebuchet MS"/>
              </a:rPr>
              <a:t>one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10" dirty="0">
                <a:latin typeface="Trebuchet MS"/>
                <a:cs typeface="Trebuchet MS"/>
              </a:rPr>
              <a:t>device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25" dirty="0">
                <a:latin typeface="Trebuchet MS"/>
                <a:cs typeface="Trebuchet MS"/>
              </a:rPr>
              <a:t>to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10" dirty="0">
                <a:latin typeface="Trebuchet MS"/>
                <a:cs typeface="Trebuchet MS"/>
              </a:rPr>
              <a:t>another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10" dirty="0">
                <a:latin typeface="Trebuchet MS"/>
                <a:cs typeface="Trebuchet MS"/>
              </a:rPr>
              <a:t>device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10" dirty="0">
                <a:latin typeface="Trebuchet MS"/>
                <a:cs typeface="Trebuchet MS"/>
              </a:rPr>
              <a:t>until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60" dirty="0">
                <a:latin typeface="Trebuchet MS"/>
                <a:cs typeface="Trebuchet MS"/>
              </a:rPr>
              <a:t>the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45844" y="3377310"/>
            <a:ext cx="425958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50" dirty="0">
                <a:latin typeface="Trebuchet MS"/>
                <a:cs typeface="Trebuchet MS"/>
              </a:rPr>
              <a:t>destination</a:t>
            </a:r>
            <a:r>
              <a:rPr sz="2600" spc="-9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address</a:t>
            </a:r>
            <a:r>
              <a:rPr sz="2600" spc="-85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matches.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6939" y="3782695"/>
            <a:ext cx="1035875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Trebuchet MS"/>
                <a:cs typeface="Trebuchet MS"/>
              </a:rPr>
              <a:t>Once</a:t>
            </a:r>
            <a:r>
              <a:rPr sz="2600" spc="-6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the</a:t>
            </a:r>
            <a:r>
              <a:rPr sz="2600" spc="-70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token</a:t>
            </a:r>
            <a:r>
              <a:rPr sz="2600" spc="-55" dirty="0">
                <a:latin typeface="Trebuchet MS"/>
                <a:cs typeface="Trebuchet MS"/>
              </a:rPr>
              <a:t> </a:t>
            </a:r>
            <a:r>
              <a:rPr sz="2600" spc="-35" dirty="0">
                <a:latin typeface="Trebuchet MS"/>
                <a:cs typeface="Trebuchet MS"/>
              </a:rPr>
              <a:t>received</a:t>
            </a:r>
            <a:r>
              <a:rPr sz="2600" spc="-6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by</a:t>
            </a:r>
            <a:r>
              <a:rPr sz="2600" spc="-6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the</a:t>
            </a:r>
            <a:r>
              <a:rPr sz="2600" spc="-55" dirty="0">
                <a:latin typeface="Trebuchet MS"/>
                <a:cs typeface="Trebuchet MS"/>
              </a:rPr>
              <a:t> </a:t>
            </a:r>
            <a:r>
              <a:rPr sz="2600" spc="-20" dirty="0">
                <a:latin typeface="Trebuchet MS"/>
                <a:cs typeface="Trebuchet MS"/>
              </a:rPr>
              <a:t>destination</a:t>
            </a:r>
            <a:r>
              <a:rPr sz="2600" spc="-50" dirty="0">
                <a:latin typeface="Trebuchet MS"/>
                <a:cs typeface="Trebuchet MS"/>
              </a:rPr>
              <a:t> </a:t>
            </a:r>
            <a:r>
              <a:rPr sz="2600" spc="-35" dirty="0">
                <a:latin typeface="Trebuchet MS"/>
                <a:cs typeface="Trebuchet MS"/>
              </a:rPr>
              <a:t>device,</a:t>
            </a:r>
            <a:r>
              <a:rPr sz="2600" spc="-5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then</a:t>
            </a:r>
            <a:r>
              <a:rPr sz="2600" spc="-5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it</a:t>
            </a:r>
            <a:r>
              <a:rPr sz="2600" spc="-60" dirty="0">
                <a:latin typeface="Trebuchet MS"/>
                <a:cs typeface="Trebuchet MS"/>
              </a:rPr>
              <a:t> </a:t>
            </a:r>
            <a:r>
              <a:rPr sz="2600" spc="75" dirty="0">
                <a:latin typeface="Trebuchet MS"/>
                <a:cs typeface="Trebuchet MS"/>
              </a:rPr>
              <a:t>sends</a:t>
            </a:r>
            <a:r>
              <a:rPr sz="2600" spc="-60" dirty="0">
                <a:latin typeface="Trebuchet MS"/>
                <a:cs typeface="Trebuchet MS"/>
              </a:rPr>
              <a:t> </a:t>
            </a:r>
            <a:r>
              <a:rPr sz="2600" spc="-25" dirty="0">
                <a:latin typeface="Trebuchet MS"/>
                <a:cs typeface="Trebuchet MS"/>
              </a:rPr>
              <a:t>the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6939" y="4059758"/>
            <a:ext cx="7105650" cy="1230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05"/>
              </a:spcBef>
            </a:pPr>
            <a:r>
              <a:rPr sz="2600" spc="-40" dirty="0">
                <a:latin typeface="Trebuchet MS"/>
                <a:cs typeface="Trebuchet MS"/>
              </a:rPr>
              <a:t>acknowledgment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90" dirty="0">
                <a:latin typeface="Trebuchet MS"/>
                <a:cs typeface="Trebuchet MS"/>
              </a:rPr>
              <a:t>to</a:t>
            </a:r>
            <a:r>
              <a:rPr sz="2600" spc="-210" dirty="0">
                <a:latin typeface="Trebuchet MS"/>
                <a:cs typeface="Trebuchet MS"/>
              </a:rPr>
              <a:t> </a:t>
            </a:r>
            <a:r>
              <a:rPr sz="2600" spc="-85" dirty="0">
                <a:latin typeface="Trebuchet MS"/>
                <a:cs typeface="Trebuchet MS"/>
              </a:rPr>
              <a:t>the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sender.</a:t>
            </a:r>
            <a:endParaRPr sz="26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35" dirty="0">
                <a:latin typeface="Trebuchet MS"/>
                <a:cs typeface="Trebuchet MS"/>
              </a:rPr>
              <a:t>In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85" dirty="0">
                <a:latin typeface="Trebuchet MS"/>
                <a:cs typeface="Trebuchet MS"/>
              </a:rPr>
              <a:t>ring</a:t>
            </a:r>
            <a:r>
              <a:rPr sz="2600" spc="-210" dirty="0"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topology,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75" dirty="0">
                <a:latin typeface="Trebuchet MS"/>
                <a:cs typeface="Trebuchet MS"/>
              </a:rPr>
              <a:t>token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is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used</a:t>
            </a:r>
            <a:r>
              <a:rPr sz="2600" spc="-210" dirty="0">
                <a:latin typeface="Trebuchet MS"/>
                <a:cs typeface="Trebuchet MS"/>
              </a:rPr>
              <a:t> </a:t>
            </a:r>
            <a:r>
              <a:rPr sz="2600" spc="105" dirty="0">
                <a:latin typeface="Trebuchet MS"/>
                <a:cs typeface="Trebuchet MS"/>
              </a:rPr>
              <a:t>as</a:t>
            </a:r>
            <a:r>
              <a:rPr sz="2600" spc="-204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b="1" spc="-10" dirty="0">
                <a:latin typeface="Trebuchet MS"/>
                <a:cs typeface="Trebuchet MS"/>
              </a:rPr>
              <a:t>carrier</a:t>
            </a:r>
            <a:r>
              <a:rPr sz="2600" spc="-10" dirty="0">
                <a:latin typeface="Trebuchet MS"/>
                <a:cs typeface="Trebuchet MS"/>
              </a:rPr>
              <a:t>.</a:t>
            </a:r>
            <a:endParaRPr sz="26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120" dirty="0">
                <a:latin typeface="Trebuchet MS"/>
                <a:cs typeface="Trebuchet MS"/>
              </a:rPr>
              <a:t>There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75" dirty="0">
                <a:latin typeface="Trebuchet MS"/>
                <a:cs typeface="Trebuchet MS"/>
              </a:rPr>
              <a:t>are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two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30" dirty="0">
                <a:latin typeface="Trebuchet MS"/>
                <a:cs typeface="Trebuchet MS"/>
              </a:rPr>
              <a:t>types</a:t>
            </a:r>
            <a:r>
              <a:rPr sz="2600" spc="-240" dirty="0">
                <a:latin typeface="Trebuchet MS"/>
                <a:cs typeface="Trebuchet MS"/>
              </a:rPr>
              <a:t> </a:t>
            </a:r>
            <a:r>
              <a:rPr sz="2600" spc="-80" dirty="0">
                <a:latin typeface="Trebuchet MS"/>
                <a:cs typeface="Trebuchet MS"/>
              </a:rPr>
              <a:t>of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75" dirty="0">
                <a:latin typeface="Trebuchet MS"/>
                <a:cs typeface="Trebuchet MS"/>
              </a:rPr>
              <a:t>token</a:t>
            </a:r>
            <a:r>
              <a:rPr sz="2600" spc="-250" dirty="0">
                <a:latin typeface="Trebuchet MS"/>
                <a:cs typeface="Trebuchet MS"/>
              </a:rPr>
              <a:t> </a:t>
            </a:r>
            <a:r>
              <a:rPr sz="2600" spc="-35" dirty="0">
                <a:latin typeface="Trebuchet MS"/>
                <a:cs typeface="Trebuchet MS"/>
              </a:rPr>
              <a:t>release</a:t>
            </a:r>
            <a:r>
              <a:rPr sz="2600" spc="-200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techniques: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74394" y="5229225"/>
            <a:ext cx="9897745" cy="8299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ts val="2245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  <a:tab pos="8241665" algn="l"/>
              </a:tabLst>
            </a:pPr>
            <a:r>
              <a:rPr sz="2200" b="1" dirty="0">
                <a:latin typeface="Trebuchet MS"/>
                <a:cs typeface="Trebuchet MS"/>
              </a:rPr>
              <a:t>Early</a:t>
            </a:r>
            <a:r>
              <a:rPr sz="2200" b="1" spc="125" dirty="0">
                <a:latin typeface="Trebuchet MS"/>
                <a:cs typeface="Trebuchet MS"/>
              </a:rPr>
              <a:t> </a:t>
            </a:r>
            <a:r>
              <a:rPr sz="2200" b="1" dirty="0">
                <a:latin typeface="Trebuchet MS"/>
                <a:cs typeface="Trebuchet MS"/>
              </a:rPr>
              <a:t>token</a:t>
            </a:r>
            <a:r>
              <a:rPr sz="2200" b="1" spc="125" dirty="0">
                <a:latin typeface="Trebuchet MS"/>
                <a:cs typeface="Trebuchet MS"/>
              </a:rPr>
              <a:t> </a:t>
            </a:r>
            <a:r>
              <a:rPr sz="2200" b="1" dirty="0">
                <a:latin typeface="Trebuchet MS"/>
                <a:cs typeface="Trebuchet MS"/>
              </a:rPr>
              <a:t>release</a:t>
            </a:r>
            <a:r>
              <a:rPr sz="2200" b="1" spc="12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releases</a:t>
            </a:r>
            <a:r>
              <a:rPr sz="2200" spc="12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the</a:t>
            </a:r>
            <a:r>
              <a:rPr sz="2200" spc="12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token</a:t>
            </a:r>
            <a:r>
              <a:rPr sz="2200" spc="114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just</a:t>
            </a:r>
            <a:r>
              <a:rPr sz="2200" spc="125" dirty="0">
                <a:latin typeface="Trebuchet MS"/>
                <a:cs typeface="Trebuchet MS"/>
              </a:rPr>
              <a:t> </a:t>
            </a:r>
            <a:r>
              <a:rPr sz="2200" spc="-35" dirty="0">
                <a:latin typeface="Trebuchet MS"/>
                <a:cs typeface="Trebuchet MS"/>
              </a:rPr>
              <a:t>after</a:t>
            </a:r>
            <a:r>
              <a:rPr sz="2200" spc="114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transmitting</a:t>
            </a:r>
            <a:r>
              <a:rPr sz="2200" dirty="0">
                <a:latin typeface="Trebuchet MS"/>
                <a:cs typeface="Trebuchet MS"/>
              </a:rPr>
              <a:t>	the</a:t>
            </a:r>
            <a:r>
              <a:rPr sz="2200" spc="12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data</a:t>
            </a:r>
            <a:r>
              <a:rPr sz="2200" spc="135" dirty="0">
                <a:latin typeface="Trebuchet MS"/>
                <a:cs typeface="Trebuchet MS"/>
              </a:rPr>
              <a:t> </a:t>
            </a:r>
            <a:r>
              <a:rPr sz="2200" spc="-25" dirty="0">
                <a:latin typeface="Trebuchet MS"/>
                <a:cs typeface="Trebuchet MS"/>
              </a:rPr>
              <a:t>and</a:t>
            </a:r>
            <a:endParaRPr sz="2200">
              <a:latin typeface="Trebuchet MS"/>
              <a:cs typeface="Trebuchet MS"/>
            </a:endParaRPr>
          </a:p>
          <a:p>
            <a:pPr marL="241300" marR="5080">
              <a:lnSpc>
                <a:spcPct val="70000"/>
              </a:lnSpc>
              <a:spcBef>
                <a:spcPts val="395"/>
              </a:spcBef>
            </a:pPr>
            <a:r>
              <a:rPr sz="2200" b="1" spc="-10" dirty="0">
                <a:latin typeface="Trebuchet MS"/>
                <a:cs typeface="Trebuchet MS"/>
              </a:rPr>
              <a:t>Delayed</a:t>
            </a:r>
            <a:r>
              <a:rPr sz="2200" b="1" spc="-195" dirty="0">
                <a:latin typeface="Trebuchet MS"/>
                <a:cs typeface="Trebuchet MS"/>
              </a:rPr>
              <a:t> </a:t>
            </a:r>
            <a:r>
              <a:rPr sz="2200" b="1" spc="-60" dirty="0">
                <a:latin typeface="Trebuchet MS"/>
                <a:cs typeface="Trebuchet MS"/>
              </a:rPr>
              <a:t>token</a:t>
            </a:r>
            <a:r>
              <a:rPr sz="2200" b="1" spc="-200" dirty="0">
                <a:latin typeface="Trebuchet MS"/>
                <a:cs typeface="Trebuchet MS"/>
              </a:rPr>
              <a:t> </a:t>
            </a:r>
            <a:r>
              <a:rPr sz="2200" b="1" spc="-10" dirty="0">
                <a:latin typeface="Trebuchet MS"/>
                <a:cs typeface="Trebuchet MS"/>
              </a:rPr>
              <a:t>release</a:t>
            </a:r>
            <a:r>
              <a:rPr sz="2200" b="1" spc="-20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releases</a:t>
            </a:r>
            <a:r>
              <a:rPr sz="2200" spc="-190" dirty="0">
                <a:latin typeface="Trebuchet MS"/>
                <a:cs typeface="Trebuchet MS"/>
              </a:rPr>
              <a:t> </a:t>
            </a:r>
            <a:r>
              <a:rPr sz="2200" spc="-75" dirty="0">
                <a:latin typeface="Trebuchet MS"/>
                <a:cs typeface="Trebuchet MS"/>
              </a:rPr>
              <a:t>the</a:t>
            </a:r>
            <a:r>
              <a:rPr sz="2200" spc="-190" dirty="0">
                <a:latin typeface="Trebuchet MS"/>
                <a:cs typeface="Trebuchet MS"/>
              </a:rPr>
              <a:t> </a:t>
            </a:r>
            <a:r>
              <a:rPr sz="2200" spc="-65" dirty="0">
                <a:latin typeface="Trebuchet MS"/>
                <a:cs typeface="Trebuchet MS"/>
              </a:rPr>
              <a:t>token</a:t>
            </a:r>
            <a:r>
              <a:rPr sz="2200" spc="-180" dirty="0">
                <a:latin typeface="Trebuchet MS"/>
                <a:cs typeface="Trebuchet MS"/>
              </a:rPr>
              <a:t> </a:t>
            </a:r>
            <a:r>
              <a:rPr sz="2200" spc="-100" dirty="0">
                <a:latin typeface="Trebuchet MS"/>
                <a:cs typeface="Trebuchet MS"/>
              </a:rPr>
              <a:t>after</a:t>
            </a:r>
            <a:r>
              <a:rPr sz="2200" spc="-185" dirty="0">
                <a:latin typeface="Trebuchet MS"/>
                <a:cs typeface="Trebuchet MS"/>
              </a:rPr>
              <a:t> </a:t>
            </a:r>
            <a:r>
              <a:rPr sz="2200" spc="-80" dirty="0">
                <a:latin typeface="Trebuchet MS"/>
                <a:cs typeface="Trebuchet MS"/>
              </a:rPr>
              <a:t>the</a:t>
            </a:r>
            <a:r>
              <a:rPr sz="2200" spc="-190" dirty="0">
                <a:latin typeface="Trebuchet MS"/>
                <a:cs typeface="Trebuchet MS"/>
              </a:rPr>
              <a:t> </a:t>
            </a:r>
            <a:r>
              <a:rPr sz="2200" spc="-25" dirty="0">
                <a:latin typeface="Trebuchet MS"/>
                <a:cs typeface="Trebuchet MS"/>
              </a:rPr>
              <a:t>acknowledgment</a:t>
            </a:r>
            <a:r>
              <a:rPr sz="2200" spc="-19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is</a:t>
            </a:r>
            <a:r>
              <a:rPr sz="2200" spc="-195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received </a:t>
            </a:r>
            <a:r>
              <a:rPr sz="2200" spc="-70" dirty="0">
                <a:latin typeface="Trebuchet MS"/>
                <a:cs typeface="Trebuchet MS"/>
              </a:rPr>
              <a:t>from</a:t>
            </a:r>
            <a:r>
              <a:rPr sz="2200" spc="-180" dirty="0">
                <a:latin typeface="Trebuchet MS"/>
                <a:cs typeface="Trebuchet MS"/>
              </a:rPr>
              <a:t> </a:t>
            </a:r>
            <a:r>
              <a:rPr sz="2200" spc="-75" dirty="0">
                <a:latin typeface="Trebuchet MS"/>
                <a:cs typeface="Trebuchet MS"/>
              </a:rPr>
              <a:t>the</a:t>
            </a:r>
            <a:r>
              <a:rPr sz="2200" spc="-175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receiver.</a:t>
            </a:r>
            <a:endParaRPr sz="2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80" dirty="0"/>
              <a:t>Advantages</a:t>
            </a:r>
            <a:r>
              <a:rPr spc="-459" dirty="0"/>
              <a:t> </a:t>
            </a:r>
            <a:r>
              <a:rPr spc="-265" dirty="0"/>
              <a:t>of</a:t>
            </a:r>
            <a:r>
              <a:rPr spc="-440" dirty="0"/>
              <a:t> </a:t>
            </a:r>
            <a:r>
              <a:rPr spc="-200" dirty="0"/>
              <a:t>Ring</a:t>
            </a:r>
            <a:r>
              <a:rPr spc="-440" dirty="0"/>
              <a:t> </a:t>
            </a:r>
            <a:r>
              <a:rPr spc="-285" dirty="0"/>
              <a:t>Topology</a:t>
            </a:r>
          </a:p>
        </p:txBody>
      </p:sp>
      <p:sp>
        <p:nvSpPr>
          <p:cNvPr id="3" name="object 3"/>
          <p:cNvSpPr/>
          <p:nvPr/>
        </p:nvSpPr>
        <p:spPr>
          <a:xfrm>
            <a:off x="553173" y="2706116"/>
            <a:ext cx="2415540" cy="1803400"/>
          </a:xfrm>
          <a:custGeom>
            <a:avLst/>
            <a:gdLst/>
            <a:ahLst/>
            <a:cxnLst/>
            <a:rect l="l" t="t" r="r" b="b"/>
            <a:pathLst>
              <a:path w="2415540" h="1803400">
                <a:moveTo>
                  <a:pt x="144233" y="0"/>
                </a:moveTo>
                <a:lnTo>
                  <a:pt x="2270798" y="0"/>
                </a:lnTo>
                <a:lnTo>
                  <a:pt x="2316428" y="7359"/>
                </a:lnTo>
                <a:lnTo>
                  <a:pt x="2356036" y="27850"/>
                </a:lnTo>
                <a:lnTo>
                  <a:pt x="2387256" y="59088"/>
                </a:lnTo>
                <a:lnTo>
                  <a:pt x="2407722" y="98690"/>
                </a:lnTo>
                <a:lnTo>
                  <a:pt x="2415070" y="144272"/>
                </a:lnTo>
                <a:lnTo>
                  <a:pt x="2415070" y="1802892"/>
                </a:lnTo>
                <a:lnTo>
                  <a:pt x="0" y="1802892"/>
                </a:lnTo>
                <a:lnTo>
                  <a:pt x="0" y="144272"/>
                </a:lnTo>
                <a:lnTo>
                  <a:pt x="7353" y="98690"/>
                </a:lnTo>
                <a:lnTo>
                  <a:pt x="27829" y="59088"/>
                </a:lnTo>
                <a:lnTo>
                  <a:pt x="59052" y="27850"/>
                </a:lnTo>
                <a:lnTo>
                  <a:pt x="98646" y="7359"/>
                </a:lnTo>
                <a:lnTo>
                  <a:pt x="144233" y="0"/>
                </a:lnTo>
                <a:close/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04519" y="2763138"/>
            <a:ext cx="2196465" cy="123317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83515" marR="5080" indent="-171450">
              <a:lnSpc>
                <a:spcPct val="91500"/>
              </a:lnSpc>
              <a:spcBef>
                <a:spcPts val="275"/>
              </a:spcBef>
              <a:buChar char="•"/>
              <a:tabLst>
                <a:tab pos="184785" algn="l"/>
              </a:tabLst>
            </a:pPr>
            <a:r>
              <a:rPr sz="1700" spc="-55" dirty="0">
                <a:latin typeface="Trebuchet MS"/>
                <a:cs typeface="Trebuchet MS"/>
              </a:rPr>
              <a:t>Faulty</a:t>
            </a:r>
            <a:r>
              <a:rPr sz="1700" spc="-114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devices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can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be 	</a:t>
            </a:r>
            <a:r>
              <a:rPr sz="1700" spc="-40" dirty="0">
                <a:latin typeface="Trebuchet MS"/>
                <a:cs typeface="Trebuchet MS"/>
              </a:rPr>
              <a:t>removed</a:t>
            </a:r>
            <a:r>
              <a:rPr sz="1700" spc="-150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from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the 	</a:t>
            </a:r>
            <a:r>
              <a:rPr sz="1700" spc="-55" dirty="0">
                <a:latin typeface="Trebuchet MS"/>
                <a:cs typeface="Trebuchet MS"/>
              </a:rPr>
              <a:t>network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without 	</a:t>
            </a:r>
            <a:r>
              <a:rPr sz="1700" spc="-50" dirty="0">
                <a:latin typeface="Trebuchet MS"/>
                <a:cs typeface="Trebuchet MS"/>
              </a:rPr>
              <a:t>bringing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the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network 	down.</a:t>
            </a:r>
            <a:endParaRPr sz="17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3173" y="4509008"/>
            <a:ext cx="2415031" cy="77520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53173" y="4509008"/>
            <a:ext cx="2415540" cy="775335"/>
          </a:xfrm>
          <a:prstGeom prst="rect">
            <a:avLst/>
          </a:prstGeom>
          <a:ln w="12700">
            <a:solidFill>
              <a:srgbClr val="E97031"/>
            </a:solidFill>
          </a:ln>
        </p:spPr>
        <p:txBody>
          <a:bodyPr vert="horz" wrap="square" lIns="0" tIns="80010" rIns="0" bIns="0" rtlCol="0">
            <a:spAutoFit/>
          </a:bodyPr>
          <a:lstStyle/>
          <a:p>
            <a:pPr marL="80010" marR="742950">
              <a:lnSpc>
                <a:spcPts val="2300"/>
              </a:lnSpc>
              <a:spcBef>
                <a:spcPts val="630"/>
              </a:spcBef>
            </a:pPr>
            <a:r>
              <a:rPr sz="2100" b="1" spc="-10" dirty="0">
                <a:latin typeface="Trebuchet MS"/>
                <a:cs typeface="Trebuchet MS"/>
              </a:rPr>
              <a:t>Network Management</a:t>
            </a:r>
            <a:endParaRPr sz="21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315845" y="4625721"/>
            <a:ext cx="858519" cy="858519"/>
            <a:chOff x="2315845" y="4625721"/>
            <a:chExt cx="858519" cy="858519"/>
          </a:xfrm>
        </p:grpSpPr>
        <p:sp>
          <p:nvSpPr>
            <p:cNvPr id="8" name="object 8"/>
            <p:cNvSpPr/>
            <p:nvPr/>
          </p:nvSpPr>
          <p:spPr>
            <a:xfrm>
              <a:off x="2322195" y="4632071"/>
              <a:ext cx="845819" cy="845819"/>
            </a:xfrm>
            <a:custGeom>
              <a:avLst/>
              <a:gdLst/>
              <a:ahLst/>
              <a:cxnLst/>
              <a:rect l="l" t="t" r="r" b="b"/>
              <a:pathLst>
                <a:path w="845819" h="845820">
                  <a:moveTo>
                    <a:pt x="422656" y="0"/>
                  </a:moveTo>
                  <a:lnTo>
                    <a:pt x="373365" y="2843"/>
                  </a:lnTo>
                  <a:lnTo>
                    <a:pt x="325745" y="11162"/>
                  </a:lnTo>
                  <a:lnTo>
                    <a:pt x="280111" y="24640"/>
                  </a:lnTo>
                  <a:lnTo>
                    <a:pt x="236782" y="42959"/>
                  </a:lnTo>
                  <a:lnTo>
                    <a:pt x="196075" y="65802"/>
                  </a:lnTo>
                  <a:lnTo>
                    <a:pt x="158306" y="92852"/>
                  </a:lnTo>
                  <a:lnTo>
                    <a:pt x="123793" y="123793"/>
                  </a:lnTo>
                  <a:lnTo>
                    <a:pt x="92852" y="158306"/>
                  </a:lnTo>
                  <a:lnTo>
                    <a:pt x="65802" y="196075"/>
                  </a:lnTo>
                  <a:lnTo>
                    <a:pt x="42959" y="236782"/>
                  </a:lnTo>
                  <a:lnTo>
                    <a:pt x="24640" y="280111"/>
                  </a:lnTo>
                  <a:lnTo>
                    <a:pt x="11162" y="325745"/>
                  </a:lnTo>
                  <a:lnTo>
                    <a:pt x="2843" y="373365"/>
                  </a:lnTo>
                  <a:lnTo>
                    <a:pt x="0" y="422655"/>
                  </a:lnTo>
                  <a:lnTo>
                    <a:pt x="2843" y="471946"/>
                  </a:lnTo>
                  <a:lnTo>
                    <a:pt x="11162" y="519566"/>
                  </a:lnTo>
                  <a:lnTo>
                    <a:pt x="24640" y="565200"/>
                  </a:lnTo>
                  <a:lnTo>
                    <a:pt x="42959" y="608529"/>
                  </a:lnTo>
                  <a:lnTo>
                    <a:pt x="65802" y="649236"/>
                  </a:lnTo>
                  <a:lnTo>
                    <a:pt x="92852" y="687005"/>
                  </a:lnTo>
                  <a:lnTo>
                    <a:pt x="123793" y="721518"/>
                  </a:lnTo>
                  <a:lnTo>
                    <a:pt x="158306" y="752459"/>
                  </a:lnTo>
                  <a:lnTo>
                    <a:pt x="196075" y="779509"/>
                  </a:lnTo>
                  <a:lnTo>
                    <a:pt x="236782" y="802352"/>
                  </a:lnTo>
                  <a:lnTo>
                    <a:pt x="280111" y="820671"/>
                  </a:lnTo>
                  <a:lnTo>
                    <a:pt x="325745" y="834149"/>
                  </a:lnTo>
                  <a:lnTo>
                    <a:pt x="373365" y="842468"/>
                  </a:lnTo>
                  <a:lnTo>
                    <a:pt x="422656" y="845311"/>
                  </a:lnTo>
                  <a:lnTo>
                    <a:pt x="471946" y="842468"/>
                  </a:lnTo>
                  <a:lnTo>
                    <a:pt x="519566" y="834149"/>
                  </a:lnTo>
                  <a:lnTo>
                    <a:pt x="565200" y="820671"/>
                  </a:lnTo>
                  <a:lnTo>
                    <a:pt x="608529" y="802352"/>
                  </a:lnTo>
                  <a:lnTo>
                    <a:pt x="649236" y="779509"/>
                  </a:lnTo>
                  <a:lnTo>
                    <a:pt x="687005" y="752459"/>
                  </a:lnTo>
                  <a:lnTo>
                    <a:pt x="721518" y="721518"/>
                  </a:lnTo>
                  <a:lnTo>
                    <a:pt x="752459" y="687005"/>
                  </a:lnTo>
                  <a:lnTo>
                    <a:pt x="779509" y="649236"/>
                  </a:lnTo>
                  <a:lnTo>
                    <a:pt x="802352" y="608529"/>
                  </a:lnTo>
                  <a:lnTo>
                    <a:pt x="820671" y="565200"/>
                  </a:lnTo>
                  <a:lnTo>
                    <a:pt x="834149" y="519566"/>
                  </a:lnTo>
                  <a:lnTo>
                    <a:pt x="842468" y="471946"/>
                  </a:lnTo>
                  <a:lnTo>
                    <a:pt x="845312" y="422655"/>
                  </a:lnTo>
                  <a:lnTo>
                    <a:pt x="842468" y="373365"/>
                  </a:lnTo>
                  <a:lnTo>
                    <a:pt x="834149" y="325745"/>
                  </a:lnTo>
                  <a:lnTo>
                    <a:pt x="820671" y="280111"/>
                  </a:lnTo>
                  <a:lnTo>
                    <a:pt x="802352" y="236782"/>
                  </a:lnTo>
                  <a:lnTo>
                    <a:pt x="779509" y="196075"/>
                  </a:lnTo>
                  <a:lnTo>
                    <a:pt x="752459" y="158306"/>
                  </a:lnTo>
                  <a:lnTo>
                    <a:pt x="721518" y="123793"/>
                  </a:lnTo>
                  <a:lnTo>
                    <a:pt x="687005" y="92852"/>
                  </a:lnTo>
                  <a:lnTo>
                    <a:pt x="649236" y="65802"/>
                  </a:lnTo>
                  <a:lnTo>
                    <a:pt x="608529" y="42959"/>
                  </a:lnTo>
                  <a:lnTo>
                    <a:pt x="565200" y="24640"/>
                  </a:lnTo>
                  <a:lnTo>
                    <a:pt x="519566" y="11162"/>
                  </a:lnTo>
                  <a:lnTo>
                    <a:pt x="471946" y="2843"/>
                  </a:lnTo>
                  <a:lnTo>
                    <a:pt x="422656" y="0"/>
                  </a:lnTo>
                  <a:close/>
                </a:path>
              </a:pathLst>
            </a:custGeom>
            <a:solidFill>
              <a:srgbClr val="F7D4CD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22195" y="4632071"/>
              <a:ext cx="845819" cy="845819"/>
            </a:xfrm>
            <a:custGeom>
              <a:avLst/>
              <a:gdLst/>
              <a:ahLst/>
              <a:cxnLst/>
              <a:rect l="l" t="t" r="r" b="b"/>
              <a:pathLst>
                <a:path w="845819" h="845820">
                  <a:moveTo>
                    <a:pt x="0" y="422655"/>
                  </a:moveTo>
                  <a:lnTo>
                    <a:pt x="2843" y="373365"/>
                  </a:lnTo>
                  <a:lnTo>
                    <a:pt x="11162" y="325745"/>
                  </a:lnTo>
                  <a:lnTo>
                    <a:pt x="24640" y="280111"/>
                  </a:lnTo>
                  <a:lnTo>
                    <a:pt x="42959" y="236782"/>
                  </a:lnTo>
                  <a:lnTo>
                    <a:pt x="65802" y="196075"/>
                  </a:lnTo>
                  <a:lnTo>
                    <a:pt x="92852" y="158306"/>
                  </a:lnTo>
                  <a:lnTo>
                    <a:pt x="123793" y="123793"/>
                  </a:lnTo>
                  <a:lnTo>
                    <a:pt x="158306" y="92852"/>
                  </a:lnTo>
                  <a:lnTo>
                    <a:pt x="196075" y="65802"/>
                  </a:lnTo>
                  <a:lnTo>
                    <a:pt x="236782" y="42959"/>
                  </a:lnTo>
                  <a:lnTo>
                    <a:pt x="280111" y="24640"/>
                  </a:lnTo>
                  <a:lnTo>
                    <a:pt x="325745" y="11162"/>
                  </a:lnTo>
                  <a:lnTo>
                    <a:pt x="373365" y="2843"/>
                  </a:lnTo>
                  <a:lnTo>
                    <a:pt x="422656" y="0"/>
                  </a:lnTo>
                  <a:lnTo>
                    <a:pt x="471946" y="2843"/>
                  </a:lnTo>
                  <a:lnTo>
                    <a:pt x="519566" y="11162"/>
                  </a:lnTo>
                  <a:lnTo>
                    <a:pt x="565200" y="24640"/>
                  </a:lnTo>
                  <a:lnTo>
                    <a:pt x="608529" y="42959"/>
                  </a:lnTo>
                  <a:lnTo>
                    <a:pt x="649236" y="65802"/>
                  </a:lnTo>
                  <a:lnTo>
                    <a:pt x="687005" y="92852"/>
                  </a:lnTo>
                  <a:lnTo>
                    <a:pt x="721518" y="123793"/>
                  </a:lnTo>
                  <a:lnTo>
                    <a:pt x="752459" y="158306"/>
                  </a:lnTo>
                  <a:lnTo>
                    <a:pt x="779509" y="196075"/>
                  </a:lnTo>
                  <a:lnTo>
                    <a:pt x="802352" y="236782"/>
                  </a:lnTo>
                  <a:lnTo>
                    <a:pt x="820671" y="280111"/>
                  </a:lnTo>
                  <a:lnTo>
                    <a:pt x="834149" y="325745"/>
                  </a:lnTo>
                  <a:lnTo>
                    <a:pt x="842468" y="373365"/>
                  </a:lnTo>
                  <a:lnTo>
                    <a:pt x="845312" y="422655"/>
                  </a:lnTo>
                  <a:lnTo>
                    <a:pt x="842468" y="471946"/>
                  </a:lnTo>
                  <a:lnTo>
                    <a:pt x="834149" y="519566"/>
                  </a:lnTo>
                  <a:lnTo>
                    <a:pt x="820671" y="565200"/>
                  </a:lnTo>
                  <a:lnTo>
                    <a:pt x="802352" y="608529"/>
                  </a:lnTo>
                  <a:lnTo>
                    <a:pt x="779509" y="649236"/>
                  </a:lnTo>
                  <a:lnTo>
                    <a:pt x="752459" y="687005"/>
                  </a:lnTo>
                  <a:lnTo>
                    <a:pt x="721518" y="721518"/>
                  </a:lnTo>
                  <a:lnTo>
                    <a:pt x="687005" y="752459"/>
                  </a:lnTo>
                  <a:lnTo>
                    <a:pt x="649236" y="779509"/>
                  </a:lnTo>
                  <a:lnTo>
                    <a:pt x="608529" y="802352"/>
                  </a:lnTo>
                  <a:lnTo>
                    <a:pt x="565200" y="820671"/>
                  </a:lnTo>
                  <a:lnTo>
                    <a:pt x="519566" y="834149"/>
                  </a:lnTo>
                  <a:lnTo>
                    <a:pt x="471946" y="842468"/>
                  </a:lnTo>
                  <a:lnTo>
                    <a:pt x="422656" y="845311"/>
                  </a:lnTo>
                  <a:lnTo>
                    <a:pt x="373365" y="842468"/>
                  </a:lnTo>
                  <a:lnTo>
                    <a:pt x="325745" y="834149"/>
                  </a:lnTo>
                  <a:lnTo>
                    <a:pt x="280111" y="820671"/>
                  </a:lnTo>
                  <a:lnTo>
                    <a:pt x="236782" y="802352"/>
                  </a:lnTo>
                  <a:lnTo>
                    <a:pt x="196075" y="779509"/>
                  </a:lnTo>
                  <a:lnTo>
                    <a:pt x="158306" y="752459"/>
                  </a:lnTo>
                  <a:lnTo>
                    <a:pt x="123793" y="721518"/>
                  </a:lnTo>
                  <a:lnTo>
                    <a:pt x="92852" y="687005"/>
                  </a:lnTo>
                  <a:lnTo>
                    <a:pt x="65802" y="649236"/>
                  </a:lnTo>
                  <a:lnTo>
                    <a:pt x="42959" y="608529"/>
                  </a:lnTo>
                  <a:lnTo>
                    <a:pt x="24640" y="565200"/>
                  </a:lnTo>
                  <a:lnTo>
                    <a:pt x="11162" y="519566"/>
                  </a:lnTo>
                  <a:lnTo>
                    <a:pt x="2843" y="471946"/>
                  </a:lnTo>
                  <a:lnTo>
                    <a:pt x="0" y="422655"/>
                  </a:lnTo>
                  <a:close/>
                </a:path>
              </a:pathLst>
            </a:custGeom>
            <a:ln w="12700">
              <a:solidFill>
                <a:srgbClr val="F7D4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3376929" y="2706116"/>
            <a:ext cx="2415540" cy="1803400"/>
          </a:xfrm>
          <a:custGeom>
            <a:avLst/>
            <a:gdLst/>
            <a:ahLst/>
            <a:cxnLst/>
            <a:rect l="l" t="t" r="r" b="b"/>
            <a:pathLst>
              <a:path w="2415540" h="1803400">
                <a:moveTo>
                  <a:pt x="144272" y="0"/>
                </a:moveTo>
                <a:lnTo>
                  <a:pt x="2270887" y="0"/>
                </a:lnTo>
                <a:lnTo>
                  <a:pt x="2316455" y="7359"/>
                </a:lnTo>
                <a:lnTo>
                  <a:pt x="2356025" y="27850"/>
                </a:lnTo>
                <a:lnTo>
                  <a:pt x="2387226" y="59088"/>
                </a:lnTo>
                <a:lnTo>
                  <a:pt x="2407685" y="98690"/>
                </a:lnTo>
                <a:lnTo>
                  <a:pt x="2415032" y="144272"/>
                </a:lnTo>
                <a:lnTo>
                  <a:pt x="2415032" y="1802892"/>
                </a:lnTo>
                <a:lnTo>
                  <a:pt x="0" y="1802892"/>
                </a:lnTo>
                <a:lnTo>
                  <a:pt x="0" y="144272"/>
                </a:lnTo>
                <a:lnTo>
                  <a:pt x="7359" y="98690"/>
                </a:lnTo>
                <a:lnTo>
                  <a:pt x="27850" y="59088"/>
                </a:lnTo>
                <a:lnTo>
                  <a:pt x="59088" y="27850"/>
                </a:lnTo>
                <a:lnTo>
                  <a:pt x="98690" y="7359"/>
                </a:lnTo>
                <a:lnTo>
                  <a:pt x="144272" y="0"/>
                </a:lnTo>
                <a:close/>
              </a:path>
            </a:pathLst>
          </a:custGeom>
          <a:ln w="12700">
            <a:solidFill>
              <a:srgbClr val="186B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428491" y="2763138"/>
            <a:ext cx="2284730" cy="123317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83515" marR="5080" indent="-171450">
              <a:lnSpc>
                <a:spcPct val="91500"/>
              </a:lnSpc>
              <a:spcBef>
                <a:spcPts val="275"/>
              </a:spcBef>
              <a:buChar char="•"/>
              <a:tabLst>
                <a:tab pos="184785" algn="l"/>
              </a:tabLst>
            </a:pPr>
            <a:r>
              <a:rPr sz="1700" dirty="0">
                <a:latin typeface="Trebuchet MS"/>
                <a:cs typeface="Trebuchet MS"/>
              </a:rPr>
              <a:t>Many</a:t>
            </a:r>
            <a:r>
              <a:rPr sz="1700" spc="-110" dirty="0">
                <a:latin typeface="Trebuchet MS"/>
                <a:cs typeface="Trebuchet MS"/>
              </a:rPr>
              <a:t> </a:t>
            </a:r>
            <a:r>
              <a:rPr sz="1700" spc="-50" dirty="0">
                <a:latin typeface="Trebuchet MS"/>
                <a:cs typeface="Trebuchet MS"/>
              </a:rPr>
              <a:t>hardware</a:t>
            </a:r>
            <a:r>
              <a:rPr sz="1700" spc="-110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and 	</a:t>
            </a:r>
            <a:r>
              <a:rPr sz="1700" spc="-40" dirty="0">
                <a:latin typeface="Trebuchet MS"/>
                <a:cs typeface="Trebuchet MS"/>
              </a:rPr>
              <a:t>software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tools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for 	</a:t>
            </a:r>
            <a:r>
              <a:rPr sz="1700" spc="-55" dirty="0">
                <a:latin typeface="Trebuchet MS"/>
                <a:cs typeface="Trebuchet MS"/>
              </a:rPr>
              <a:t>network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spc="-50" dirty="0">
                <a:latin typeface="Trebuchet MS"/>
                <a:cs typeface="Trebuchet MS"/>
              </a:rPr>
              <a:t>operation</a:t>
            </a:r>
            <a:r>
              <a:rPr sz="1700" spc="-110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and 	</a:t>
            </a:r>
            <a:r>
              <a:rPr sz="1700" spc="-50" dirty="0">
                <a:latin typeface="Trebuchet MS"/>
                <a:cs typeface="Trebuchet MS"/>
              </a:rPr>
              <a:t>monitoring</a:t>
            </a:r>
            <a:r>
              <a:rPr sz="1700" spc="-90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are 	</a:t>
            </a:r>
            <a:r>
              <a:rPr sz="1700" spc="-10" dirty="0">
                <a:latin typeface="Trebuchet MS"/>
                <a:cs typeface="Trebuchet MS"/>
              </a:rPr>
              <a:t>available.</a:t>
            </a:r>
            <a:endParaRPr sz="1700">
              <a:latin typeface="Trebuchet MS"/>
              <a:cs typeface="Trebuchet MS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76929" y="4509008"/>
            <a:ext cx="2415031" cy="775208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3376929" y="4509008"/>
            <a:ext cx="2415540" cy="775335"/>
          </a:xfrm>
          <a:prstGeom prst="rect">
            <a:avLst/>
          </a:prstGeom>
          <a:ln w="12700">
            <a:solidFill>
              <a:srgbClr val="186B23"/>
            </a:solidFill>
          </a:ln>
        </p:spPr>
        <p:txBody>
          <a:bodyPr vert="horz" wrap="square" lIns="0" tIns="80010" rIns="0" bIns="0" rtlCol="0">
            <a:spAutoFit/>
          </a:bodyPr>
          <a:lstStyle/>
          <a:p>
            <a:pPr marL="80010" marR="1000760">
              <a:lnSpc>
                <a:spcPts val="2300"/>
              </a:lnSpc>
              <a:spcBef>
                <a:spcPts val="630"/>
              </a:spcBef>
            </a:pPr>
            <a:r>
              <a:rPr sz="2100" b="1" spc="-10" dirty="0">
                <a:latin typeface="Trebuchet MS"/>
                <a:cs typeface="Trebuchet MS"/>
              </a:rPr>
              <a:t>Product </a:t>
            </a:r>
            <a:r>
              <a:rPr sz="2100" b="1" spc="-35" dirty="0">
                <a:latin typeface="Trebuchet MS"/>
                <a:cs typeface="Trebuchet MS"/>
              </a:rPr>
              <a:t>availability</a:t>
            </a:r>
            <a:endParaRPr sz="2100">
              <a:latin typeface="Trebuchet MS"/>
              <a:cs typeface="Trebuchet M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139690" y="4625721"/>
            <a:ext cx="858519" cy="858519"/>
            <a:chOff x="5139690" y="4625721"/>
            <a:chExt cx="858519" cy="858519"/>
          </a:xfrm>
        </p:grpSpPr>
        <p:sp>
          <p:nvSpPr>
            <p:cNvPr id="15" name="object 15"/>
            <p:cNvSpPr/>
            <p:nvPr/>
          </p:nvSpPr>
          <p:spPr>
            <a:xfrm>
              <a:off x="5146040" y="4632071"/>
              <a:ext cx="845819" cy="845819"/>
            </a:xfrm>
            <a:custGeom>
              <a:avLst/>
              <a:gdLst/>
              <a:ahLst/>
              <a:cxnLst/>
              <a:rect l="l" t="t" r="r" b="b"/>
              <a:pathLst>
                <a:path w="845820" h="845820">
                  <a:moveTo>
                    <a:pt x="422656" y="0"/>
                  </a:moveTo>
                  <a:lnTo>
                    <a:pt x="373365" y="2843"/>
                  </a:lnTo>
                  <a:lnTo>
                    <a:pt x="325745" y="11162"/>
                  </a:lnTo>
                  <a:lnTo>
                    <a:pt x="280111" y="24640"/>
                  </a:lnTo>
                  <a:lnTo>
                    <a:pt x="236782" y="42959"/>
                  </a:lnTo>
                  <a:lnTo>
                    <a:pt x="196075" y="65802"/>
                  </a:lnTo>
                  <a:lnTo>
                    <a:pt x="158306" y="92852"/>
                  </a:lnTo>
                  <a:lnTo>
                    <a:pt x="123793" y="123793"/>
                  </a:lnTo>
                  <a:lnTo>
                    <a:pt x="92852" y="158306"/>
                  </a:lnTo>
                  <a:lnTo>
                    <a:pt x="65802" y="196075"/>
                  </a:lnTo>
                  <a:lnTo>
                    <a:pt x="42959" y="236782"/>
                  </a:lnTo>
                  <a:lnTo>
                    <a:pt x="24640" y="280111"/>
                  </a:lnTo>
                  <a:lnTo>
                    <a:pt x="11162" y="325745"/>
                  </a:lnTo>
                  <a:lnTo>
                    <a:pt x="2843" y="373365"/>
                  </a:lnTo>
                  <a:lnTo>
                    <a:pt x="0" y="422655"/>
                  </a:lnTo>
                  <a:lnTo>
                    <a:pt x="2843" y="471946"/>
                  </a:lnTo>
                  <a:lnTo>
                    <a:pt x="11162" y="519566"/>
                  </a:lnTo>
                  <a:lnTo>
                    <a:pt x="24640" y="565200"/>
                  </a:lnTo>
                  <a:lnTo>
                    <a:pt x="42959" y="608529"/>
                  </a:lnTo>
                  <a:lnTo>
                    <a:pt x="65802" y="649236"/>
                  </a:lnTo>
                  <a:lnTo>
                    <a:pt x="92852" y="687005"/>
                  </a:lnTo>
                  <a:lnTo>
                    <a:pt x="123793" y="721518"/>
                  </a:lnTo>
                  <a:lnTo>
                    <a:pt x="158306" y="752459"/>
                  </a:lnTo>
                  <a:lnTo>
                    <a:pt x="196075" y="779509"/>
                  </a:lnTo>
                  <a:lnTo>
                    <a:pt x="236782" y="802352"/>
                  </a:lnTo>
                  <a:lnTo>
                    <a:pt x="280111" y="820671"/>
                  </a:lnTo>
                  <a:lnTo>
                    <a:pt x="325745" y="834149"/>
                  </a:lnTo>
                  <a:lnTo>
                    <a:pt x="373365" y="842468"/>
                  </a:lnTo>
                  <a:lnTo>
                    <a:pt x="422656" y="845311"/>
                  </a:lnTo>
                  <a:lnTo>
                    <a:pt x="471946" y="842468"/>
                  </a:lnTo>
                  <a:lnTo>
                    <a:pt x="519566" y="834149"/>
                  </a:lnTo>
                  <a:lnTo>
                    <a:pt x="565200" y="820671"/>
                  </a:lnTo>
                  <a:lnTo>
                    <a:pt x="608529" y="802352"/>
                  </a:lnTo>
                  <a:lnTo>
                    <a:pt x="649236" y="779509"/>
                  </a:lnTo>
                  <a:lnTo>
                    <a:pt x="687005" y="752459"/>
                  </a:lnTo>
                  <a:lnTo>
                    <a:pt x="721518" y="721518"/>
                  </a:lnTo>
                  <a:lnTo>
                    <a:pt x="752459" y="687005"/>
                  </a:lnTo>
                  <a:lnTo>
                    <a:pt x="779509" y="649236"/>
                  </a:lnTo>
                  <a:lnTo>
                    <a:pt x="802352" y="608529"/>
                  </a:lnTo>
                  <a:lnTo>
                    <a:pt x="820671" y="565200"/>
                  </a:lnTo>
                  <a:lnTo>
                    <a:pt x="834149" y="519566"/>
                  </a:lnTo>
                  <a:lnTo>
                    <a:pt x="842468" y="471946"/>
                  </a:lnTo>
                  <a:lnTo>
                    <a:pt x="845312" y="422655"/>
                  </a:lnTo>
                  <a:lnTo>
                    <a:pt x="842468" y="373365"/>
                  </a:lnTo>
                  <a:lnTo>
                    <a:pt x="834149" y="325745"/>
                  </a:lnTo>
                  <a:lnTo>
                    <a:pt x="820671" y="280111"/>
                  </a:lnTo>
                  <a:lnTo>
                    <a:pt x="802352" y="236782"/>
                  </a:lnTo>
                  <a:lnTo>
                    <a:pt x="779509" y="196075"/>
                  </a:lnTo>
                  <a:lnTo>
                    <a:pt x="752459" y="158306"/>
                  </a:lnTo>
                  <a:lnTo>
                    <a:pt x="721518" y="123793"/>
                  </a:lnTo>
                  <a:lnTo>
                    <a:pt x="687005" y="92852"/>
                  </a:lnTo>
                  <a:lnTo>
                    <a:pt x="649236" y="65802"/>
                  </a:lnTo>
                  <a:lnTo>
                    <a:pt x="608529" y="42959"/>
                  </a:lnTo>
                  <a:lnTo>
                    <a:pt x="565200" y="24640"/>
                  </a:lnTo>
                  <a:lnTo>
                    <a:pt x="519566" y="11162"/>
                  </a:lnTo>
                  <a:lnTo>
                    <a:pt x="471946" y="2843"/>
                  </a:lnTo>
                  <a:lnTo>
                    <a:pt x="422656" y="0"/>
                  </a:lnTo>
                  <a:close/>
                </a:path>
              </a:pathLst>
            </a:custGeom>
            <a:solidFill>
              <a:srgbClr val="CCD3CC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146040" y="4632071"/>
              <a:ext cx="845819" cy="845819"/>
            </a:xfrm>
            <a:custGeom>
              <a:avLst/>
              <a:gdLst/>
              <a:ahLst/>
              <a:cxnLst/>
              <a:rect l="l" t="t" r="r" b="b"/>
              <a:pathLst>
                <a:path w="845820" h="845820">
                  <a:moveTo>
                    <a:pt x="0" y="422655"/>
                  </a:moveTo>
                  <a:lnTo>
                    <a:pt x="2843" y="373365"/>
                  </a:lnTo>
                  <a:lnTo>
                    <a:pt x="11162" y="325745"/>
                  </a:lnTo>
                  <a:lnTo>
                    <a:pt x="24640" y="280111"/>
                  </a:lnTo>
                  <a:lnTo>
                    <a:pt x="42959" y="236782"/>
                  </a:lnTo>
                  <a:lnTo>
                    <a:pt x="65802" y="196075"/>
                  </a:lnTo>
                  <a:lnTo>
                    <a:pt x="92852" y="158306"/>
                  </a:lnTo>
                  <a:lnTo>
                    <a:pt x="123793" y="123793"/>
                  </a:lnTo>
                  <a:lnTo>
                    <a:pt x="158306" y="92852"/>
                  </a:lnTo>
                  <a:lnTo>
                    <a:pt x="196075" y="65802"/>
                  </a:lnTo>
                  <a:lnTo>
                    <a:pt x="236782" y="42959"/>
                  </a:lnTo>
                  <a:lnTo>
                    <a:pt x="280111" y="24640"/>
                  </a:lnTo>
                  <a:lnTo>
                    <a:pt x="325745" y="11162"/>
                  </a:lnTo>
                  <a:lnTo>
                    <a:pt x="373365" y="2843"/>
                  </a:lnTo>
                  <a:lnTo>
                    <a:pt x="422656" y="0"/>
                  </a:lnTo>
                  <a:lnTo>
                    <a:pt x="471946" y="2843"/>
                  </a:lnTo>
                  <a:lnTo>
                    <a:pt x="519566" y="11162"/>
                  </a:lnTo>
                  <a:lnTo>
                    <a:pt x="565200" y="24640"/>
                  </a:lnTo>
                  <a:lnTo>
                    <a:pt x="608529" y="42959"/>
                  </a:lnTo>
                  <a:lnTo>
                    <a:pt x="649236" y="65802"/>
                  </a:lnTo>
                  <a:lnTo>
                    <a:pt x="687005" y="92852"/>
                  </a:lnTo>
                  <a:lnTo>
                    <a:pt x="721518" y="123793"/>
                  </a:lnTo>
                  <a:lnTo>
                    <a:pt x="752459" y="158306"/>
                  </a:lnTo>
                  <a:lnTo>
                    <a:pt x="779509" y="196075"/>
                  </a:lnTo>
                  <a:lnTo>
                    <a:pt x="802352" y="236782"/>
                  </a:lnTo>
                  <a:lnTo>
                    <a:pt x="820671" y="280111"/>
                  </a:lnTo>
                  <a:lnTo>
                    <a:pt x="834149" y="325745"/>
                  </a:lnTo>
                  <a:lnTo>
                    <a:pt x="842468" y="373365"/>
                  </a:lnTo>
                  <a:lnTo>
                    <a:pt x="845312" y="422655"/>
                  </a:lnTo>
                  <a:lnTo>
                    <a:pt x="842468" y="471946"/>
                  </a:lnTo>
                  <a:lnTo>
                    <a:pt x="834149" y="519566"/>
                  </a:lnTo>
                  <a:lnTo>
                    <a:pt x="820671" y="565200"/>
                  </a:lnTo>
                  <a:lnTo>
                    <a:pt x="802352" y="608529"/>
                  </a:lnTo>
                  <a:lnTo>
                    <a:pt x="779509" y="649236"/>
                  </a:lnTo>
                  <a:lnTo>
                    <a:pt x="752459" y="687005"/>
                  </a:lnTo>
                  <a:lnTo>
                    <a:pt x="721518" y="721518"/>
                  </a:lnTo>
                  <a:lnTo>
                    <a:pt x="687005" y="752459"/>
                  </a:lnTo>
                  <a:lnTo>
                    <a:pt x="649236" y="779509"/>
                  </a:lnTo>
                  <a:lnTo>
                    <a:pt x="608529" y="802352"/>
                  </a:lnTo>
                  <a:lnTo>
                    <a:pt x="565200" y="820671"/>
                  </a:lnTo>
                  <a:lnTo>
                    <a:pt x="519566" y="834149"/>
                  </a:lnTo>
                  <a:lnTo>
                    <a:pt x="471946" y="842468"/>
                  </a:lnTo>
                  <a:lnTo>
                    <a:pt x="422656" y="845311"/>
                  </a:lnTo>
                  <a:lnTo>
                    <a:pt x="373365" y="842468"/>
                  </a:lnTo>
                  <a:lnTo>
                    <a:pt x="325745" y="834149"/>
                  </a:lnTo>
                  <a:lnTo>
                    <a:pt x="280111" y="820671"/>
                  </a:lnTo>
                  <a:lnTo>
                    <a:pt x="236782" y="802352"/>
                  </a:lnTo>
                  <a:lnTo>
                    <a:pt x="196075" y="779509"/>
                  </a:lnTo>
                  <a:lnTo>
                    <a:pt x="158306" y="752459"/>
                  </a:lnTo>
                  <a:lnTo>
                    <a:pt x="123793" y="721518"/>
                  </a:lnTo>
                  <a:lnTo>
                    <a:pt x="92852" y="687005"/>
                  </a:lnTo>
                  <a:lnTo>
                    <a:pt x="65802" y="649236"/>
                  </a:lnTo>
                  <a:lnTo>
                    <a:pt x="42959" y="608529"/>
                  </a:lnTo>
                  <a:lnTo>
                    <a:pt x="24640" y="565200"/>
                  </a:lnTo>
                  <a:lnTo>
                    <a:pt x="11162" y="519566"/>
                  </a:lnTo>
                  <a:lnTo>
                    <a:pt x="2843" y="471946"/>
                  </a:lnTo>
                  <a:lnTo>
                    <a:pt x="0" y="422655"/>
                  </a:lnTo>
                  <a:close/>
                </a:path>
              </a:pathLst>
            </a:custGeom>
            <a:ln w="12700">
              <a:solidFill>
                <a:srgbClr val="CCD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6200647" y="2706116"/>
            <a:ext cx="2415540" cy="1803400"/>
          </a:xfrm>
          <a:custGeom>
            <a:avLst/>
            <a:gdLst/>
            <a:ahLst/>
            <a:cxnLst/>
            <a:rect l="l" t="t" r="r" b="b"/>
            <a:pathLst>
              <a:path w="2415540" h="1803400">
                <a:moveTo>
                  <a:pt x="144272" y="0"/>
                </a:moveTo>
                <a:lnTo>
                  <a:pt x="2270886" y="0"/>
                </a:lnTo>
                <a:lnTo>
                  <a:pt x="2316468" y="7359"/>
                </a:lnTo>
                <a:lnTo>
                  <a:pt x="2356070" y="27850"/>
                </a:lnTo>
                <a:lnTo>
                  <a:pt x="2387308" y="59088"/>
                </a:lnTo>
                <a:lnTo>
                  <a:pt x="2407799" y="98690"/>
                </a:lnTo>
                <a:lnTo>
                  <a:pt x="2415158" y="144272"/>
                </a:lnTo>
                <a:lnTo>
                  <a:pt x="2415158" y="1802892"/>
                </a:lnTo>
                <a:lnTo>
                  <a:pt x="0" y="1802892"/>
                </a:lnTo>
                <a:lnTo>
                  <a:pt x="0" y="144272"/>
                </a:lnTo>
                <a:lnTo>
                  <a:pt x="7359" y="98690"/>
                </a:lnTo>
                <a:lnTo>
                  <a:pt x="27850" y="59088"/>
                </a:lnTo>
                <a:lnTo>
                  <a:pt x="59088" y="27850"/>
                </a:lnTo>
                <a:lnTo>
                  <a:pt x="98690" y="7359"/>
                </a:lnTo>
                <a:lnTo>
                  <a:pt x="144272" y="0"/>
                </a:lnTo>
                <a:close/>
              </a:path>
            </a:pathLst>
          </a:custGeom>
          <a:ln w="12700">
            <a:solidFill>
              <a:srgbClr val="0E9E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252717" y="2763138"/>
            <a:ext cx="2276475" cy="123317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83515" marR="5080" indent="-171450">
              <a:lnSpc>
                <a:spcPct val="91500"/>
              </a:lnSpc>
              <a:spcBef>
                <a:spcPts val="275"/>
              </a:spcBef>
              <a:buChar char="•"/>
              <a:tabLst>
                <a:tab pos="184785" algn="l"/>
              </a:tabLst>
            </a:pPr>
            <a:r>
              <a:rPr sz="1700" spc="-65" dirty="0">
                <a:latin typeface="Trebuchet MS"/>
                <a:cs typeface="Trebuchet MS"/>
              </a:rPr>
              <a:t>Twisted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pair</a:t>
            </a:r>
            <a:r>
              <a:rPr sz="1700" spc="-150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cabling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is 	</a:t>
            </a:r>
            <a:r>
              <a:rPr sz="1700" spc="-40" dirty="0">
                <a:latin typeface="Trebuchet MS"/>
                <a:cs typeface="Trebuchet MS"/>
              </a:rPr>
              <a:t>inexpensive</a:t>
            </a:r>
            <a:r>
              <a:rPr sz="1700" spc="-15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and</a:t>
            </a:r>
            <a:r>
              <a:rPr sz="1700" spc="-105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easily 	</a:t>
            </a:r>
            <a:r>
              <a:rPr sz="1700" spc="-55" dirty="0">
                <a:latin typeface="Trebuchet MS"/>
                <a:cs typeface="Trebuchet MS"/>
              </a:rPr>
              <a:t>available.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Therefore, 	</a:t>
            </a:r>
            <a:r>
              <a:rPr sz="1700" spc="-60" dirty="0">
                <a:latin typeface="Trebuchet MS"/>
                <a:cs typeface="Trebuchet MS"/>
              </a:rPr>
              <a:t>the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-40" dirty="0">
                <a:latin typeface="Trebuchet MS"/>
                <a:cs typeface="Trebuchet MS"/>
              </a:rPr>
              <a:t>installation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cost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is 	</a:t>
            </a:r>
            <a:r>
              <a:rPr sz="1700" spc="-80" dirty="0">
                <a:latin typeface="Trebuchet MS"/>
                <a:cs typeface="Trebuchet MS"/>
              </a:rPr>
              <a:t>very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20" dirty="0">
                <a:latin typeface="Trebuchet MS"/>
                <a:cs typeface="Trebuchet MS"/>
              </a:rPr>
              <a:t>low.</a:t>
            </a:r>
            <a:endParaRPr sz="1700">
              <a:latin typeface="Trebuchet MS"/>
              <a:cs typeface="Trebuchet MS"/>
            </a:endParaRPr>
          </a:p>
        </p:txBody>
      </p:sp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00647" y="4509008"/>
            <a:ext cx="2415031" cy="775208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6200647" y="4509008"/>
            <a:ext cx="2415540" cy="775335"/>
          </a:xfrm>
          <a:prstGeom prst="rect">
            <a:avLst/>
          </a:prstGeom>
          <a:ln w="12700">
            <a:solidFill>
              <a:srgbClr val="0E9ED4"/>
            </a:solidFill>
          </a:ln>
        </p:spPr>
        <p:txBody>
          <a:bodyPr vert="horz" wrap="square" lIns="0" tIns="193675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1525"/>
              </a:spcBef>
            </a:pPr>
            <a:r>
              <a:rPr sz="2100" b="1" spc="40" dirty="0">
                <a:latin typeface="Trebuchet MS"/>
                <a:cs typeface="Trebuchet MS"/>
              </a:rPr>
              <a:t>Cost</a:t>
            </a:r>
            <a:endParaRPr sz="2100">
              <a:latin typeface="Trebuchet MS"/>
              <a:cs typeface="Trebuchet M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963407" y="4625721"/>
            <a:ext cx="858519" cy="858519"/>
            <a:chOff x="7963407" y="4625721"/>
            <a:chExt cx="858519" cy="858519"/>
          </a:xfrm>
        </p:grpSpPr>
        <p:sp>
          <p:nvSpPr>
            <p:cNvPr id="22" name="object 22"/>
            <p:cNvSpPr/>
            <p:nvPr/>
          </p:nvSpPr>
          <p:spPr>
            <a:xfrm>
              <a:off x="7969757" y="4632071"/>
              <a:ext cx="845819" cy="845819"/>
            </a:xfrm>
            <a:custGeom>
              <a:avLst/>
              <a:gdLst/>
              <a:ahLst/>
              <a:cxnLst/>
              <a:rect l="l" t="t" r="r" b="b"/>
              <a:pathLst>
                <a:path w="845820" h="845820">
                  <a:moveTo>
                    <a:pt x="422656" y="0"/>
                  </a:moveTo>
                  <a:lnTo>
                    <a:pt x="373365" y="2843"/>
                  </a:lnTo>
                  <a:lnTo>
                    <a:pt x="325745" y="11162"/>
                  </a:lnTo>
                  <a:lnTo>
                    <a:pt x="280111" y="24640"/>
                  </a:lnTo>
                  <a:lnTo>
                    <a:pt x="236782" y="42959"/>
                  </a:lnTo>
                  <a:lnTo>
                    <a:pt x="196075" y="65802"/>
                  </a:lnTo>
                  <a:lnTo>
                    <a:pt x="158306" y="92852"/>
                  </a:lnTo>
                  <a:lnTo>
                    <a:pt x="123793" y="123793"/>
                  </a:lnTo>
                  <a:lnTo>
                    <a:pt x="92852" y="158306"/>
                  </a:lnTo>
                  <a:lnTo>
                    <a:pt x="65802" y="196075"/>
                  </a:lnTo>
                  <a:lnTo>
                    <a:pt x="42959" y="236782"/>
                  </a:lnTo>
                  <a:lnTo>
                    <a:pt x="24640" y="280111"/>
                  </a:lnTo>
                  <a:lnTo>
                    <a:pt x="11162" y="325745"/>
                  </a:lnTo>
                  <a:lnTo>
                    <a:pt x="2843" y="373365"/>
                  </a:lnTo>
                  <a:lnTo>
                    <a:pt x="0" y="422655"/>
                  </a:lnTo>
                  <a:lnTo>
                    <a:pt x="2843" y="471946"/>
                  </a:lnTo>
                  <a:lnTo>
                    <a:pt x="11162" y="519566"/>
                  </a:lnTo>
                  <a:lnTo>
                    <a:pt x="24640" y="565200"/>
                  </a:lnTo>
                  <a:lnTo>
                    <a:pt x="42959" y="608529"/>
                  </a:lnTo>
                  <a:lnTo>
                    <a:pt x="65802" y="649236"/>
                  </a:lnTo>
                  <a:lnTo>
                    <a:pt x="92852" y="687005"/>
                  </a:lnTo>
                  <a:lnTo>
                    <a:pt x="123793" y="721518"/>
                  </a:lnTo>
                  <a:lnTo>
                    <a:pt x="158306" y="752459"/>
                  </a:lnTo>
                  <a:lnTo>
                    <a:pt x="196075" y="779509"/>
                  </a:lnTo>
                  <a:lnTo>
                    <a:pt x="236782" y="802352"/>
                  </a:lnTo>
                  <a:lnTo>
                    <a:pt x="280111" y="820671"/>
                  </a:lnTo>
                  <a:lnTo>
                    <a:pt x="325745" y="834149"/>
                  </a:lnTo>
                  <a:lnTo>
                    <a:pt x="373365" y="842468"/>
                  </a:lnTo>
                  <a:lnTo>
                    <a:pt x="422656" y="845311"/>
                  </a:lnTo>
                  <a:lnTo>
                    <a:pt x="471946" y="842468"/>
                  </a:lnTo>
                  <a:lnTo>
                    <a:pt x="519566" y="834149"/>
                  </a:lnTo>
                  <a:lnTo>
                    <a:pt x="565200" y="820671"/>
                  </a:lnTo>
                  <a:lnTo>
                    <a:pt x="608529" y="802352"/>
                  </a:lnTo>
                  <a:lnTo>
                    <a:pt x="649236" y="779509"/>
                  </a:lnTo>
                  <a:lnTo>
                    <a:pt x="687005" y="752459"/>
                  </a:lnTo>
                  <a:lnTo>
                    <a:pt x="721518" y="721518"/>
                  </a:lnTo>
                  <a:lnTo>
                    <a:pt x="752459" y="687005"/>
                  </a:lnTo>
                  <a:lnTo>
                    <a:pt x="779509" y="649236"/>
                  </a:lnTo>
                  <a:lnTo>
                    <a:pt x="802352" y="608529"/>
                  </a:lnTo>
                  <a:lnTo>
                    <a:pt x="820671" y="565200"/>
                  </a:lnTo>
                  <a:lnTo>
                    <a:pt x="834149" y="519566"/>
                  </a:lnTo>
                  <a:lnTo>
                    <a:pt x="842468" y="471946"/>
                  </a:lnTo>
                  <a:lnTo>
                    <a:pt x="845312" y="422655"/>
                  </a:lnTo>
                  <a:lnTo>
                    <a:pt x="842468" y="373365"/>
                  </a:lnTo>
                  <a:lnTo>
                    <a:pt x="834149" y="325745"/>
                  </a:lnTo>
                  <a:lnTo>
                    <a:pt x="820671" y="280111"/>
                  </a:lnTo>
                  <a:lnTo>
                    <a:pt x="802352" y="236782"/>
                  </a:lnTo>
                  <a:lnTo>
                    <a:pt x="779509" y="196075"/>
                  </a:lnTo>
                  <a:lnTo>
                    <a:pt x="752459" y="158306"/>
                  </a:lnTo>
                  <a:lnTo>
                    <a:pt x="721518" y="123793"/>
                  </a:lnTo>
                  <a:lnTo>
                    <a:pt x="687005" y="92852"/>
                  </a:lnTo>
                  <a:lnTo>
                    <a:pt x="649236" y="65802"/>
                  </a:lnTo>
                  <a:lnTo>
                    <a:pt x="608529" y="42959"/>
                  </a:lnTo>
                  <a:lnTo>
                    <a:pt x="565200" y="24640"/>
                  </a:lnTo>
                  <a:lnTo>
                    <a:pt x="519566" y="11162"/>
                  </a:lnTo>
                  <a:lnTo>
                    <a:pt x="471946" y="2843"/>
                  </a:lnTo>
                  <a:lnTo>
                    <a:pt x="422656" y="0"/>
                  </a:lnTo>
                  <a:close/>
                </a:path>
              </a:pathLst>
            </a:custGeom>
            <a:solidFill>
              <a:srgbClr val="CCDFEE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969757" y="4632071"/>
              <a:ext cx="845819" cy="845819"/>
            </a:xfrm>
            <a:custGeom>
              <a:avLst/>
              <a:gdLst/>
              <a:ahLst/>
              <a:cxnLst/>
              <a:rect l="l" t="t" r="r" b="b"/>
              <a:pathLst>
                <a:path w="845820" h="845820">
                  <a:moveTo>
                    <a:pt x="0" y="422655"/>
                  </a:moveTo>
                  <a:lnTo>
                    <a:pt x="2843" y="373365"/>
                  </a:lnTo>
                  <a:lnTo>
                    <a:pt x="11162" y="325745"/>
                  </a:lnTo>
                  <a:lnTo>
                    <a:pt x="24640" y="280111"/>
                  </a:lnTo>
                  <a:lnTo>
                    <a:pt x="42959" y="236782"/>
                  </a:lnTo>
                  <a:lnTo>
                    <a:pt x="65802" y="196075"/>
                  </a:lnTo>
                  <a:lnTo>
                    <a:pt x="92852" y="158306"/>
                  </a:lnTo>
                  <a:lnTo>
                    <a:pt x="123793" y="123793"/>
                  </a:lnTo>
                  <a:lnTo>
                    <a:pt x="158306" y="92852"/>
                  </a:lnTo>
                  <a:lnTo>
                    <a:pt x="196075" y="65802"/>
                  </a:lnTo>
                  <a:lnTo>
                    <a:pt x="236782" y="42959"/>
                  </a:lnTo>
                  <a:lnTo>
                    <a:pt x="280111" y="24640"/>
                  </a:lnTo>
                  <a:lnTo>
                    <a:pt x="325745" y="11162"/>
                  </a:lnTo>
                  <a:lnTo>
                    <a:pt x="373365" y="2843"/>
                  </a:lnTo>
                  <a:lnTo>
                    <a:pt x="422656" y="0"/>
                  </a:lnTo>
                  <a:lnTo>
                    <a:pt x="471946" y="2843"/>
                  </a:lnTo>
                  <a:lnTo>
                    <a:pt x="519566" y="11162"/>
                  </a:lnTo>
                  <a:lnTo>
                    <a:pt x="565200" y="24640"/>
                  </a:lnTo>
                  <a:lnTo>
                    <a:pt x="608529" y="42959"/>
                  </a:lnTo>
                  <a:lnTo>
                    <a:pt x="649236" y="65802"/>
                  </a:lnTo>
                  <a:lnTo>
                    <a:pt x="687005" y="92852"/>
                  </a:lnTo>
                  <a:lnTo>
                    <a:pt x="721518" y="123793"/>
                  </a:lnTo>
                  <a:lnTo>
                    <a:pt x="752459" y="158306"/>
                  </a:lnTo>
                  <a:lnTo>
                    <a:pt x="779509" y="196075"/>
                  </a:lnTo>
                  <a:lnTo>
                    <a:pt x="802352" y="236782"/>
                  </a:lnTo>
                  <a:lnTo>
                    <a:pt x="820671" y="280111"/>
                  </a:lnTo>
                  <a:lnTo>
                    <a:pt x="834149" y="325745"/>
                  </a:lnTo>
                  <a:lnTo>
                    <a:pt x="842468" y="373365"/>
                  </a:lnTo>
                  <a:lnTo>
                    <a:pt x="845312" y="422655"/>
                  </a:lnTo>
                  <a:lnTo>
                    <a:pt x="842468" y="471946"/>
                  </a:lnTo>
                  <a:lnTo>
                    <a:pt x="834149" y="519566"/>
                  </a:lnTo>
                  <a:lnTo>
                    <a:pt x="820671" y="565200"/>
                  </a:lnTo>
                  <a:lnTo>
                    <a:pt x="802352" y="608529"/>
                  </a:lnTo>
                  <a:lnTo>
                    <a:pt x="779509" y="649236"/>
                  </a:lnTo>
                  <a:lnTo>
                    <a:pt x="752459" y="687005"/>
                  </a:lnTo>
                  <a:lnTo>
                    <a:pt x="721518" y="721518"/>
                  </a:lnTo>
                  <a:lnTo>
                    <a:pt x="687005" y="752459"/>
                  </a:lnTo>
                  <a:lnTo>
                    <a:pt x="649236" y="779509"/>
                  </a:lnTo>
                  <a:lnTo>
                    <a:pt x="608529" y="802352"/>
                  </a:lnTo>
                  <a:lnTo>
                    <a:pt x="565200" y="820671"/>
                  </a:lnTo>
                  <a:lnTo>
                    <a:pt x="519566" y="834149"/>
                  </a:lnTo>
                  <a:lnTo>
                    <a:pt x="471946" y="842468"/>
                  </a:lnTo>
                  <a:lnTo>
                    <a:pt x="422656" y="845311"/>
                  </a:lnTo>
                  <a:lnTo>
                    <a:pt x="373365" y="842468"/>
                  </a:lnTo>
                  <a:lnTo>
                    <a:pt x="325745" y="834149"/>
                  </a:lnTo>
                  <a:lnTo>
                    <a:pt x="280111" y="820671"/>
                  </a:lnTo>
                  <a:lnTo>
                    <a:pt x="236782" y="802352"/>
                  </a:lnTo>
                  <a:lnTo>
                    <a:pt x="196075" y="779509"/>
                  </a:lnTo>
                  <a:lnTo>
                    <a:pt x="158306" y="752459"/>
                  </a:lnTo>
                  <a:lnTo>
                    <a:pt x="123793" y="721518"/>
                  </a:lnTo>
                  <a:lnTo>
                    <a:pt x="92852" y="687005"/>
                  </a:lnTo>
                  <a:lnTo>
                    <a:pt x="65802" y="649236"/>
                  </a:lnTo>
                  <a:lnTo>
                    <a:pt x="42959" y="608529"/>
                  </a:lnTo>
                  <a:lnTo>
                    <a:pt x="24640" y="565200"/>
                  </a:lnTo>
                  <a:lnTo>
                    <a:pt x="11162" y="519566"/>
                  </a:lnTo>
                  <a:lnTo>
                    <a:pt x="2843" y="471946"/>
                  </a:lnTo>
                  <a:lnTo>
                    <a:pt x="0" y="422655"/>
                  </a:lnTo>
                  <a:close/>
                </a:path>
              </a:pathLst>
            </a:custGeom>
            <a:ln w="12700">
              <a:solidFill>
                <a:srgbClr val="CCDF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/>
          <p:nvPr/>
        </p:nvSpPr>
        <p:spPr>
          <a:xfrm>
            <a:off x="9024493" y="2706116"/>
            <a:ext cx="2415540" cy="1803400"/>
          </a:xfrm>
          <a:custGeom>
            <a:avLst/>
            <a:gdLst/>
            <a:ahLst/>
            <a:cxnLst/>
            <a:rect l="l" t="t" r="r" b="b"/>
            <a:pathLst>
              <a:path w="2415540" h="1803400">
                <a:moveTo>
                  <a:pt x="144145" y="0"/>
                </a:moveTo>
                <a:lnTo>
                  <a:pt x="2270886" y="0"/>
                </a:lnTo>
                <a:lnTo>
                  <a:pt x="2316455" y="7359"/>
                </a:lnTo>
                <a:lnTo>
                  <a:pt x="2356025" y="27850"/>
                </a:lnTo>
                <a:lnTo>
                  <a:pt x="2387226" y="59088"/>
                </a:lnTo>
                <a:lnTo>
                  <a:pt x="2407685" y="98690"/>
                </a:lnTo>
                <a:lnTo>
                  <a:pt x="2415031" y="144272"/>
                </a:lnTo>
                <a:lnTo>
                  <a:pt x="2415031" y="1802892"/>
                </a:lnTo>
                <a:lnTo>
                  <a:pt x="0" y="1802892"/>
                </a:lnTo>
                <a:lnTo>
                  <a:pt x="0" y="144272"/>
                </a:lnTo>
                <a:lnTo>
                  <a:pt x="7346" y="98690"/>
                </a:lnTo>
                <a:lnTo>
                  <a:pt x="27805" y="59088"/>
                </a:lnTo>
                <a:lnTo>
                  <a:pt x="59006" y="27850"/>
                </a:lnTo>
                <a:lnTo>
                  <a:pt x="98576" y="7359"/>
                </a:lnTo>
                <a:lnTo>
                  <a:pt x="144145" y="0"/>
                </a:lnTo>
                <a:close/>
              </a:path>
            </a:pathLst>
          </a:custGeom>
          <a:ln w="12700">
            <a:solidFill>
              <a:srgbClr val="9F2B9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9076690" y="2763138"/>
            <a:ext cx="2205990" cy="147129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83515" marR="5080" indent="-171450">
              <a:lnSpc>
                <a:spcPct val="91500"/>
              </a:lnSpc>
              <a:spcBef>
                <a:spcPts val="275"/>
              </a:spcBef>
              <a:buChar char="•"/>
              <a:tabLst>
                <a:tab pos="184785" algn="l"/>
              </a:tabLst>
            </a:pPr>
            <a:r>
              <a:rPr sz="1700" spc="-90" dirty="0">
                <a:latin typeface="Trebuchet MS"/>
                <a:cs typeface="Trebuchet MS"/>
              </a:rPr>
              <a:t>It</a:t>
            </a:r>
            <a:r>
              <a:rPr sz="1700" spc="-15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is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35" dirty="0">
                <a:latin typeface="Trebuchet MS"/>
                <a:cs typeface="Trebuchet MS"/>
              </a:rPr>
              <a:t>more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reliable 	</a:t>
            </a:r>
            <a:r>
              <a:rPr sz="1700" spc="-55" dirty="0">
                <a:latin typeface="Trebuchet MS"/>
                <a:cs typeface="Trebuchet MS"/>
              </a:rPr>
              <a:t>network</a:t>
            </a:r>
            <a:r>
              <a:rPr sz="1700" spc="-8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because</a:t>
            </a:r>
            <a:r>
              <a:rPr sz="1700" spc="-80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the 	</a:t>
            </a:r>
            <a:r>
              <a:rPr sz="1700" spc="-10" dirty="0">
                <a:latin typeface="Trebuchet MS"/>
                <a:cs typeface="Trebuchet MS"/>
              </a:rPr>
              <a:t>communication 	</a:t>
            </a:r>
            <a:r>
              <a:rPr sz="1700" dirty="0">
                <a:latin typeface="Trebuchet MS"/>
                <a:cs typeface="Trebuchet MS"/>
              </a:rPr>
              <a:t>system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is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not 	</a:t>
            </a:r>
            <a:r>
              <a:rPr sz="1700" spc="-30" dirty="0">
                <a:latin typeface="Trebuchet MS"/>
                <a:cs typeface="Trebuchet MS"/>
              </a:rPr>
              <a:t>dependent</a:t>
            </a:r>
            <a:r>
              <a:rPr sz="1700" spc="-16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on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the 	</a:t>
            </a:r>
            <a:r>
              <a:rPr sz="1700" spc="-10" dirty="0">
                <a:latin typeface="Trebuchet MS"/>
                <a:cs typeface="Trebuchet MS"/>
              </a:rPr>
              <a:t>single</a:t>
            </a:r>
            <a:r>
              <a:rPr sz="1700" spc="-16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host</a:t>
            </a:r>
            <a:r>
              <a:rPr sz="1700" spc="-160" dirty="0">
                <a:latin typeface="Trebuchet MS"/>
                <a:cs typeface="Trebuchet MS"/>
              </a:rPr>
              <a:t> </a:t>
            </a:r>
            <a:r>
              <a:rPr sz="1700" spc="-50" dirty="0">
                <a:latin typeface="Trebuchet MS"/>
                <a:cs typeface="Trebuchet MS"/>
              </a:rPr>
              <a:t>computer.</a:t>
            </a:r>
            <a:endParaRPr sz="1700">
              <a:latin typeface="Trebuchet MS"/>
              <a:cs typeface="Trebuchet MS"/>
            </a:endParaRPr>
          </a:p>
        </p:txBody>
      </p:sp>
      <p:pic>
        <p:nvPicPr>
          <p:cNvPr id="26" name="object 2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024493" y="4509008"/>
            <a:ext cx="2415031" cy="775208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9024493" y="4509008"/>
            <a:ext cx="2415540" cy="775335"/>
          </a:xfrm>
          <a:prstGeom prst="rect">
            <a:avLst/>
          </a:prstGeom>
          <a:ln w="12700">
            <a:solidFill>
              <a:srgbClr val="9F2B92"/>
            </a:solidFill>
          </a:ln>
        </p:spPr>
        <p:txBody>
          <a:bodyPr vert="horz" wrap="square" lIns="0" tIns="193675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1525"/>
              </a:spcBef>
            </a:pPr>
            <a:r>
              <a:rPr sz="2100" b="1" spc="-10" dirty="0">
                <a:latin typeface="Trebuchet MS"/>
                <a:cs typeface="Trebuchet MS"/>
              </a:rPr>
              <a:t>Reliable</a:t>
            </a:r>
            <a:endParaRPr sz="2100">
              <a:latin typeface="Trebuchet MS"/>
              <a:cs typeface="Trebuchet MS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0787253" y="4625721"/>
            <a:ext cx="857885" cy="858519"/>
            <a:chOff x="10787253" y="4625721"/>
            <a:chExt cx="857885" cy="858519"/>
          </a:xfrm>
        </p:grpSpPr>
        <p:sp>
          <p:nvSpPr>
            <p:cNvPr id="29" name="object 29"/>
            <p:cNvSpPr/>
            <p:nvPr/>
          </p:nvSpPr>
          <p:spPr>
            <a:xfrm>
              <a:off x="10793603" y="4632071"/>
              <a:ext cx="845185" cy="845819"/>
            </a:xfrm>
            <a:custGeom>
              <a:avLst/>
              <a:gdLst/>
              <a:ahLst/>
              <a:cxnLst/>
              <a:rect l="l" t="t" r="r" b="b"/>
              <a:pathLst>
                <a:path w="845184" h="845820">
                  <a:moveTo>
                    <a:pt x="422528" y="0"/>
                  </a:moveTo>
                  <a:lnTo>
                    <a:pt x="373240" y="2843"/>
                  </a:lnTo>
                  <a:lnTo>
                    <a:pt x="325625" y="11162"/>
                  </a:lnTo>
                  <a:lnTo>
                    <a:pt x="279999" y="24640"/>
                  </a:lnTo>
                  <a:lnTo>
                    <a:pt x="236680" y="42959"/>
                  </a:lnTo>
                  <a:lnTo>
                    <a:pt x="195985" y="65802"/>
                  </a:lnTo>
                  <a:lnTo>
                    <a:pt x="158229" y="92852"/>
                  </a:lnTo>
                  <a:lnTo>
                    <a:pt x="123729" y="123793"/>
                  </a:lnTo>
                  <a:lnTo>
                    <a:pt x="92802" y="158306"/>
                  </a:lnTo>
                  <a:lnTo>
                    <a:pt x="65765" y="196075"/>
                  </a:lnTo>
                  <a:lnTo>
                    <a:pt x="42934" y="236782"/>
                  </a:lnTo>
                  <a:lnTo>
                    <a:pt x="24625" y="280111"/>
                  </a:lnTo>
                  <a:lnTo>
                    <a:pt x="11155" y="325745"/>
                  </a:lnTo>
                  <a:lnTo>
                    <a:pt x="2841" y="373365"/>
                  </a:lnTo>
                  <a:lnTo>
                    <a:pt x="0" y="422655"/>
                  </a:lnTo>
                  <a:lnTo>
                    <a:pt x="2841" y="471946"/>
                  </a:lnTo>
                  <a:lnTo>
                    <a:pt x="11155" y="519566"/>
                  </a:lnTo>
                  <a:lnTo>
                    <a:pt x="24625" y="565200"/>
                  </a:lnTo>
                  <a:lnTo>
                    <a:pt x="42934" y="608529"/>
                  </a:lnTo>
                  <a:lnTo>
                    <a:pt x="65765" y="649236"/>
                  </a:lnTo>
                  <a:lnTo>
                    <a:pt x="92802" y="687005"/>
                  </a:lnTo>
                  <a:lnTo>
                    <a:pt x="123729" y="721518"/>
                  </a:lnTo>
                  <a:lnTo>
                    <a:pt x="158229" y="752459"/>
                  </a:lnTo>
                  <a:lnTo>
                    <a:pt x="195985" y="779509"/>
                  </a:lnTo>
                  <a:lnTo>
                    <a:pt x="236680" y="802352"/>
                  </a:lnTo>
                  <a:lnTo>
                    <a:pt x="279999" y="820671"/>
                  </a:lnTo>
                  <a:lnTo>
                    <a:pt x="325625" y="834149"/>
                  </a:lnTo>
                  <a:lnTo>
                    <a:pt x="373240" y="842468"/>
                  </a:lnTo>
                  <a:lnTo>
                    <a:pt x="422528" y="845311"/>
                  </a:lnTo>
                  <a:lnTo>
                    <a:pt x="471819" y="842468"/>
                  </a:lnTo>
                  <a:lnTo>
                    <a:pt x="519439" y="834149"/>
                  </a:lnTo>
                  <a:lnTo>
                    <a:pt x="565073" y="820671"/>
                  </a:lnTo>
                  <a:lnTo>
                    <a:pt x="608402" y="802352"/>
                  </a:lnTo>
                  <a:lnTo>
                    <a:pt x="649109" y="779509"/>
                  </a:lnTo>
                  <a:lnTo>
                    <a:pt x="686878" y="752459"/>
                  </a:lnTo>
                  <a:lnTo>
                    <a:pt x="721391" y="721518"/>
                  </a:lnTo>
                  <a:lnTo>
                    <a:pt x="752332" y="687005"/>
                  </a:lnTo>
                  <a:lnTo>
                    <a:pt x="779382" y="649236"/>
                  </a:lnTo>
                  <a:lnTo>
                    <a:pt x="802225" y="608529"/>
                  </a:lnTo>
                  <a:lnTo>
                    <a:pt x="820544" y="565200"/>
                  </a:lnTo>
                  <a:lnTo>
                    <a:pt x="834022" y="519566"/>
                  </a:lnTo>
                  <a:lnTo>
                    <a:pt x="842341" y="471946"/>
                  </a:lnTo>
                  <a:lnTo>
                    <a:pt x="845185" y="422655"/>
                  </a:lnTo>
                  <a:lnTo>
                    <a:pt x="842341" y="373365"/>
                  </a:lnTo>
                  <a:lnTo>
                    <a:pt x="834022" y="325745"/>
                  </a:lnTo>
                  <a:lnTo>
                    <a:pt x="820544" y="280111"/>
                  </a:lnTo>
                  <a:lnTo>
                    <a:pt x="802225" y="236782"/>
                  </a:lnTo>
                  <a:lnTo>
                    <a:pt x="779382" y="196075"/>
                  </a:lnTo>
                  <a:lnTo>
                    <a:pt x="752332" y="158306"/>
                  </a:lnTo>
                  <a:lnTo>
                    <a:pt x="721391" y="123793"/>
                  </a:lnTo>
                  <a:lnTo>
                    <a:pt x="686878" y="92852"/>
                  </a:lnTo>
                  <a:lnTo>
                    <a:pt x="649109" y="65802"/>
                  </a:lnTo>
                  <a:lnTo>
                    <a:pt x="608402" y="42959"/>
                  </a:lnTo>
                  <a:lnTo>
                    <a:pt x="565073" y="24640"/>
                  </a:lnTo>
                  <a:lnTo>
                    <a:pt x="519439" y="11162"/>
                  </a:lnTo>
                  <a:lnTo>
                    <a:pt x="471819" y="2843"/>
                  </a:lnTo>
                  <a:lnTo>
                    <a:pt x="422528" y="0"/>
                  </a:lnTo>
                  <a:close/>
                </a:path>
              </a:pathLst>
            </a:custGeom>
            <a:solidFill>
              <a:srgbClr val="DFCDDC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0793603" y="4632071"/>
              <a:ext cx="845185" cy="845819"/>
            </a:xfrm>
            <a:custGeom>
              <a:avLst/>
              <a:gdLst/>
              <a:ahLst/>
              <a:cxnLst/>
              <a:rect l="l" t="t" r="r" b="b"/>
              <a:pathLst>
                <a:path w="845184" h="845820">
                  <a:moveTo>
                    <a:pt x="0" y="422655"/>
                  </a:moveTo>
                  <a:lnTo>
                    <a:pt x="2841" y="373365"/>
                  </a:lnTo>
                  <a:lnTo>
                    <a:pt x="11155" y="325745"/>
                  </a:lnTo>
                  <a:lnTo>
                    <a:pt x="24625" y="280111"/>
                  </a:lnTo>
                  <a:lnTo>
                    <a:pt x="42934" y="236782"/>
                  </a:lnTo>
                  <a:lnTo>
                    <a:pt x="65765" y="196075"/>
                  </a:lnTo>
                  <a:lnTo>
                    <a:pt x="92802" y="158306"/>
                  </a:lnTo>
                  <a:lnTo>
                    <a:pt x="123729" y="123793"/>
                  </a:lnTo>
                  <a:lnTo>
                    <a:pt x="158229" y="92852"/>
                  </a:lnTo>
                  <a:lnTo>
                    <a:pt x="195985" y="65802"/>
                  </a:lnTo>
                  <a:lnTo>
                    <a:pt x="236680" y="42959"/>
                  </a:lnTo>
                  <a:lnTo>
                    <a:pt x="279999" y="24640"/>
                  </a:lnTo>
                  <a:lnTo>
                    <a:pt x="325625" y="11162"/>
                  </a:lnTo>
                  <a:lnTo>
                    <a:pt x="373240" y="2843"/>
                  </a:lnTo>
                  <a:lnTo>
                    <a:pt x="422528" y="0"/>
                  </a:lnTo>
                  <a:lnTo>
                    <a:pt x="471819" y="2843"/>
                  </a:lnTo>
                  <a:lnTo>
                    <a:pt x="519439" y="11162"/>
                  </a:lnTo>
                  <a:lnTo>
                    <a:pt x="565073" y="24640"/>
                  </a:lnTo>
                  <a:lnTo>
                    <a:pt x="608402" y="42959"/>
                  </a:lnTo>
                  <a:lnTo>
                    <a:pt x="649109" y="65802"/>
                  </a:lnTo>
                  <a:lnTo>
                    <a:pt x="686878" y="92852"/>
                  </a:lnTo>
                  <a:lnTo>
                    <a:pt x="721391" y="123793"/>
                  </a:lnTo>
                  <a:lnTo>
                    <a:pt x="752332" y="158306"/>
                  </a:lnTo>
                  <a:lnTo>
                    <a:pt x="779382" y="196075"/>
                  </a:lnTo>
                  <a:lnTo>
                    <a:pt x="802225" y="236782"/>
                  </a:lnTo>
                  <a:lnTo>
                    <a:pt x="820544" y="280111"/>
                  </a:lnTo>
                  <a:lnTo>
                    <a:pt x="834022" y="325745"/>
                  </a:lnTo>
                  <a:lnTo>
                    <a:pt x="842341" y="373365"/>
                  </a:lnTo>
                  <a:lnTo>
                    <a:pt x="845185" y="422655"/>
                  </a:lnTo>
                  <a:lnTo>
                    <a:pt x="842341" y="471946"/>
                  </a:lnTo>
                  <a:lnTo>
                    <a:pt x="834022" y="519566"/>
                  </a:lnTo>
                  <a:lnTo>
                    <a:pt x="820544" y="565200"/>
                  </a:lnTo>
                  <a:lnTo>
                    <a:pt x="802225" y="608529"/>
                  </a:lnTo>
                  <a:lnTo>
                    <a:pt x="779382" y="649236"/>
                  </a:lnTo>
                  <a:lnTo>
                    <a:pt x="752332" y="687005"/>
                  </a:lnTo>
                  <a:lnTo>
                    <a:pt x="721391" y="721518"/>
                  </a:lnTo>
                  <a:lnTo>
                    <a:pt x="686878" y="752459"/>
                  </a:lnTo>
                  <a:lnTo>
                    <a:pt x="649109" y="779509"/>
                  </a:lnTo>
                  <a:lnTo>
                    <a:pt x="608402" y="802352"/>
                  </a:lnTo>
                  <a:lnTo>
                    <a:pt x="565073" y="820671"/>
                  </a:lnTo>
                  <a:lnTo>
                    <a:pt x="519439" y="834149"/>
                  </a:lnTo>
                  <a:lnTo>
                    <a:pt x="471819" y="842468"/>
                  </a:lnTo>
                  <a:lnTo>
                    <a:pt x="422528" y="845311"/>
                  </a:lnTo>
                  <a:lnTo>
                    <a:pt x="373240" y="842468"/>
                  </a:lnTo>
                  <a:lnTo>
                    <a:pt x="325625" y="834149"/>
                  </a:lnTo>
                  <a:lnTo>
                    <a:pt x="279999" y="820671"/>
                  </a:lnTo>
                  <a:lnTo>
                    <a:pt x="236680" y="802352"/>
                  </a:lnTo>
                  <a:lnTo>
                    <a:pt x="195985" y="779509"/>
                  </a:lnTo>
                  <a:lnTo>
                    <a:pt x="158229" y="752459"/>
                  </a:lnTo>
                  <a:lnTo>
                    <a:pt x="123729" y="721518"/>
                  </a:lnTo>
                  <a:lnTo>
                    <a:pt x="92802" y="687005"/>
                  </a:lnTo>
                  <a:lnTo>
                    <a:pt x="65765" y="649236"/>
                  </a:lnTo>
                  <a:lnTo>
                    <a:pt x="42934" y="608529"/>
                  </a:lnTo>
                  <a:lnTo>
                    <a:pt x="24625" y="565200"/>
                  </a:lnTo>
                  <a:lnTo>
                    <a:pt x="11155" y="519566"/>
                  </a:lnTo>
                  <a:lnTo>
                    <a:pt x="2841" y="471946"/>
                  </a:lnTo>
                  <a:lnTo>
                    <a:pt x="0" y="422655"/>
                  </a:lnTo>
                  <a:close/>
                </a:path>
              </a:pathLst>
            </a:custGeom>
            <a:ln w="12700">
              <a:solidFill>
                <a:srgbClr val="DFCD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40" dirty="0"/>
              <a:t>Disadvantages</a:t>
            </a:r>
            <a:r>
              <a:rPr spc="-465" dirty="0"/>
              <a:t> </a:t>
            </a:r>
            <a:r>
              <a:rPr spc="-265" dirty="0"/>
              <a:t>of</a:t>
            </a:r>
            <a:r>
              <a:rPr spc="-445" dirty="0"/>
              <a:t> </a:t>
            </a:r>
            <a:r>
              <a:rPr spc="-200" dirty="0"/>
              <a:t>Ring</a:t>
            </a:r>
            <a:r>
              <a:rPr spc="-450" dirty="0"/>
              <a:t> </a:t>
            </a:r>
            <a:r>
              <a:rPr spc="-285" dirty="0"/>
              <a:t>Topology</a:t>
            </a:r>
          </a:p>
        </p:txBody>
      </p:sp>
      <p:sp>
        <p:nvSpPr>
          <p:cNvPr id="3" name="object 3"/>
          <p:cNvSpPr/>
          <p:nvPr/>
        </p:nvSpPr>
        <p:spPr>
          <a:xfrm>
            <a:off x="592797" y="1690751"/>
            <a:ext cx="2605405" cy="4802505"/>
          </a:xfrm>
          <a:custGeom>
            <a:avLst/>
            <a:gdLst/>
            <a:ahLst/>
            <a:cxnLst/>
            <a:rect l="l" t="t" r="r" b="b"/>
            <a:pathLst>
              <a:path w="2605405" h="4802505">
                <a:moveTo>
                  <a:pt x="2344585" y="0"/>
                </a:moveTo>
                <a:lnTo>
                  <a:pt x="260502" y="0"/>
                </a:lnTo>
                <a:lnTo>
                  <a:pt x="213678" y="4195"/>
                </a:lnTo>
                <a:lnTo>
                  <a:pt x="169607" y="16292"/>
                </a:lnTo>
                <a:lnTo>
                  <a:pt x="129024" y="35555"/>
                </a:lnTo>
                <a:lnTo>
                  <a:pt x="92666" y="61249"/>
                </a:lnTo>
                <a:lnTo>
                  <a:pt x="61268" y="92641"/>
                </a:lnTo>
                <a:lnTo>
                  <a:pt x="35567" y="128994"/>
                </a:lnTo>
                <a:lnTo>
                  <a:pt x="16298" y="169574"/>
                </a:lnTo>
                <a:lnTo>
                  <a:pt x="4197" y="213647"/>
                </a:lnTo>
                <a:lnTo>
                  <a:pt x="0" y="260476"/>
                </a:lnTo>
                <a:lnTo>
                  <a:pt x="0" y="4541621"/>
                </a:lnTo>
                <a:lnTo>
                  <a:pt x="4197" y="4588445"/>
                </a:lnTo>
                <a:lnTo>
                  <a:pt x="16298" y="4632516"/>
                </a:lnTo>
                <a:lnTo>
                  <a:pt x="35567" y="4673099"/>
                </a:lnTo>
                <a:lnTo>
                  <a:pt x="61268" y="4709457"/>
                </a:lnTo>
                <a:lnTo>
                  <a:pt x="92666" y="4740855"/>
                </a:lnTo>
                <a:lnTo>
                  <a:pt x="129024" y="4766556"/>
                </a:lnTo>
                <a:lnTo>
                  <a:pt x="169607" y="4785825"/>
                </a:lnTo>
                <a:lnTo>
                  <a:pt x="213678" y="4797926"/>
                </a:lnTo>
                <a:lnTo>
                  <a:pt x="260502" y="4802124"/>
                </a:lnTo>
                <a:lnTo>
                  <a:pt x="2344585" y="4802124"/>
                </a:lnTo>
                <a:lnTo>
                  <a:pt x="2391414" y="4797926"/>
                </a:lnTo>
                <a:lnTo>
                  <a:pt x="2435487" y="4785825"/>
                </a:lnTo>
                <a:lnTo>
                  <a:pt x="2476067" y="4766556"/>
                </a:lnTo>
                <a:lnTo>
                  <a:pt x="2512420" y="4740855"/>
                </a:lnTo>
                <a:lnTo>
                  <a:pt x="2543812" y="4709457"/>
                </a:lnTo>
                <a:lnTo>
                  <a:pt x="2569506" y="4673099"/>
                </a:lnTo>
                <a:lnTo>
                  <a:pt x="2588769" y="4632516"/>
                </a:lnTo>
                <a:lnTo>
                  <a:pt x="2600866" y="4588445"/>
                </a:lnTo>
                <a:lnTo>
                  <a:pt x="2605062" y="4541621"/>
                </a:lnTo>
                <a:lnTo>
                  <a:pt x="2605062" y="260476"/>
                </a:lnTo>
                <a:lnTo>
                  <a:pt x="2600866" y="213647"/>
                </a:lnTo>
                <a:lnTo>
                  <a:pt x="2588769" y="169574"/>
                </a:lnTo>
                <a:lnTo>
                  <a:pt x="2569506" y="128994"/>
                </a:lnTo>
                <a:lnTo>
                  <a:pt x="2543812" y="92641"/>
                </a:lnTo>
                <a:lnTo>
                  <a:pt x="2512420" y="61249"/>
                </a:lnTo>
                <a:lnTo>
                  <a:pt x="2476067" y="35555"/>
                </a:lnTo>
                <a:lnTo>
                  <a:pt x="2435487" y="16292"/>
                </a:lnTo>
                <a:lnTo>
                  <a:pt x="2391414" y="4195"/>
                </a:lnTo>
                <a:lnTo>
                  <a:pt x="2344585" y="0"/>
                </a:lnTo>
                <a:close/>
              </a:path>
            </a:pathLst>
          </a:custGeom>
          <a:solidFill>
            <a:srgbClr val="F7D4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15162" y="1993468"/>
            <a:ext cx="2360930" cy="75565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 marR="5080" indent="580390">
              <a:lnSpc>
                <a:spcPts val="2750"/>
              </a:lnSpc>
              <a:spcBef>
                <a:spcPts val="395"/>
              </a:spcBef>
            </a:pPr>
            <a:r>
              <a:rPr sz="2500" b="1" spc="-10" dirty="0">
                <a:latin typeface="Trebuchet MS"/>
                <a:cs typeface="Trebuchet MS"/>
              </a:rPr>
              <a:t>Difficult </a:t>
            </a:r>
            <a:r>
              <a:rPr sz="2500" b="1" spc="-40" dirty="0">
                <a:latin typeface="Trebuchet MS"/>
                <a:cs typeface="Trebuchet MS"/>
              </a:rPr>
              <a:t>Troubleshooting</a:t>
            </a:r>
            <a:endParaRPr sz="25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8867" y="3127248"/>
            <a:ext cx="2090166" cy="312648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89787" y="3179825"/>
            <a:ext cx="1812289" cy="296545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 indent="-2540" algn="ctr">
              <a:lnSpc>
                <a:spcPct val="91500"/>
              </a:lnSpc>
              <a:spcBef>
                <a:spcPts val="290"/>
              </a:spcBef>
            </a:pPr>
            <a:r>
              <a:rPr sz="1900" spc="-100" dirty="0">
                <a:latin typeface="Trebuchet MS"/>
                <a:cs typeface="Trebuchet MS"/>
              </a:rPr>
              <a:t>It</a:t>
            </a:r>
            <a:r>
              <a:rPr sz="1900" spc="-170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requires </a:t>
            </a:r>
            <a:r>
              <a:rPr sz="1900" spc="-30" dirty="0">
                <a:latin typeface="Trebuchet MS"/>
                <a:cs typeface="Trebuchet MS"/>
              </a:rPr>
              <a:t>specialized</a:t>
            </a:r>
            <a:r>
              <a:rPr sz="1900" spc="-114" dirty="0">
                <a:latin typeface="Trebuchet MS"/>
                <a:cs typeface="Trebuchet MS"/>
              </a:rPr>
              <a:t> </a:t>
            </a:r>
            <a:r>
              <a:rPr sz="1900" spc="-20" dirty="0">
                <a:latin typeface="Trebuchet MS"/>
                <a:cs typeface="Trebuchet MS"/>
              </a:rPr>
              <a:t>test </a:t>
            </a:r>
            <a:r>
              <a:rPr sz="1900" spc="-35" dirty="0">
                <a:latin typeface="Trebuchet MS"/>
                <a:cs typeface="Trebuchet MS"/>
              </a:rPr>
              <a:t>equipment</a:t>
            </a:r>
            <a:r>
              <a:rPr sz="1900" spc="-135" dirty="0">
                <a:latin typeface="Trebuchet MS"/>
                <a:cs typeface="Trebuchet MS"/>
              </a:rPr>
              <a:t> </a:t>
            </a:r>
            <a:r>
              <a:rPr sz="1900" spc="-25" dirty="0">
                <a:latin typeface="Trebuchet MS"/>
                <a:cs typeface="Trebuchet MS"/>
              </a:rPr>
              <a:t>to </a:t>
            </a:r>
            <a:r>
              <a:rPr sz="1900" spc="-60" dirty="0">
                <a:latin typeface="Trebuchet MS"/>
                <a:cs typeface="Trebuchet MS"/>
              </a:rPr>
              <a:t>determine</a:t>
            </a:r>
            <a:r>
              <a:rPr sz="1900" spc="-90" dirty="0">
                <a:latin typeface="Trebuchet MS"/>
                <a:cs typeface="Trebuchet MS"/>
              </a:rPr>
              <a:t> </a:t>
            </a:r>
            <a:r>
              <a:rPr sz="1900" spc="-25" dirty="0">
                <a:latin typeface="Trebuchet MS"/>
                <a:cs typeface="Trebuchet MS"/>
              </a:rPr>
              <a:t>the </a:t>
            </a:r>
            <a:r>
              <a:rPr sz="1900" spc="-20" dirty="0">
                <a:latin typeface="Trebuchet MS"/>
                <a:cs typeface="Trebuchet MS"/>
              </a:rPr>
              <a:t>cable</a:t>
            </a:r>
            <a:r>
              <a:rPr sz="1900" spc="-145" dirty="0">
                <a:latin typeface="Trebuchet MS"/>
                <a:cs typeface="Trebuchet MS"/>
              </a:rPr>
              <a:t> </a:t>
            </a:r>
            <a:r>
              <a:rPr sz="1900" spc="-70" dirty="0">
                <a:latin typeface="Trebuchet MS"/>
                <a:cs typeface="Trebuchet MS"/>
              </a:rPr>
              <a:t>faults.</a:t>
            </a:r>
            <a:r>
              <a:rPr sz="1900" spc="-145" dirty="0">
                <a:latin typeface="Trebuchet MS"/>
                <a:cs typeface="Trebuchet MS"/>
              </a:rPr>
              <a:t> </a:t>
            </a:r>
            <a:r>
              <a:rPr sz="1900" spc="-25" dirty="0">
                <a:latin typeface="Trebuchet MS"/>
                <a:cs typeface="Trebuchet MS"/>
              </a:rPr>
              <a:t>If </a:t>
            </a:r>
            <a:r>
              <a:rPr sz="1900" spc="-40" dirty="0">
                <a:latin typeface="Trebuchet MS"/>
                <a:cs typeface="Trebuchet MS"/>
              </a:rPr>
              <a:t>any</a:t>
            </a:r>
            <a:r>
              <a:rPr sz="1900" spc="-160" dirty="0">
                <a:latin typeface="Trebuchet MS"/>
                <a:cs typeface="Trebuchet MS"/>
              </a:rPr>
              <a:t> </a:t>
            </a:r>
            <a:r>
              <a:rPr sz="1900" spc="-85" dirty="0">
                <a:latin typeface="Trebuchet MS"/>
                <a:cs typeface="Trebuchet MS"/>
              </a:rPr>
              <a:t>fault</a:t>
            </a:r>
            <a:r>
              <a:rPr sz="1900" spc="-155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occurs </a:t>
            </a:r>
            <a:r>
              <a:rPr sz="1900" spc="-50" dirty="0">
                <a:latin typeface="Trebuchet MS"/>
                <a:cs typeface="Trebuchet MS"/>
              </a:rPr>
              <a:t>in</a:t>
            </a:r>
            <a:r>
              <a:rPr sz="1900" spc="-165" dirty="0">
                <a:latin typeface="Trebuchet MS"/>
                <a:cs typeface="Trebuchet MS"/>
              </a:rPr>
              <a:t> </a:t>
            </a:r>
            <a:r>
              <a:rPr sz="1900" spc="-65" dirty="0">
                <a:latin typeface="Trebuchet MS"/>
                <a:cs typeface="Trebuchet MS"/>
              </a:rPr>
              <a:t>the</a:t>
            </a:r>
            <a:r>
              <a:rPr sz="1900" spc="-160" dirty="0">
                <a:latin typeface="Trebuchet MS"/>
                <a:cs typeface="Trebuchet MS"/>
              </a:rPr>
              <a:t> </a:t>
            </a:r>
            <a:r>
              <a:rPr sz="1900" spc="-55" dirty="0">
                <a:latin typeface="Trebuchet MS"/>
                <a:cs typeface="Trebuchet MS"/>
              </a:rPr>
              <a:t>cable,</a:t>
            </a:r>
            <a:r>
              <a:rPr sz="1900" spc="-140" dirty="0">
                <a:latin typeface="Trebuchet MS"/>
                <a:cs typeface="Trebuchet MS"/>
              </a:rPr>
              <a:t> </a:t>
            </a:r>
            <a:r>
              <a:rPr sz="1900" spc="-50" dirty="0">
                <a:latin typeface="Trebuchet MS"/>
                <a:cs typeface="Trebuchet MS"/>
              </a:rPr>
              <a:t>then </a:t>
            </a:r>
            <a:r>
              <a:rPr sz="1900" spc="-125" dirty="0">
                <a:latin typeface="Trebuchet MS"/>
                <a:cs typeface="Trebuchet MS"/>
              </a:rPr>
              <a:t>it</a:t>
            </a:r>
            <a:r>
              <a:rPr sz="1900" spc="-165" dirty="0">
                <a:latin typeface="Trebuchet MS"/>
                <a:cs typeface="Trebuchet MS"/>
              </a:rPr>
              <a:t> </a:t>
            </a:r>
            <a:r>
              <a:rPr sz="1900" spc="-35" dirty="0">
                <a:latin typeface="Trebuchet MS"/>
                <a:cs typeface="Trebuchet MS"/>
              </a:rPr>
              <a:t>would</a:t>
            </a:r>
            <a:r>
              <a:rPr sz="1900" spc="-130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disrupt </a:t>
            </a:r>
            <a:r>
              <a:rPr sz="1900" spc="-25" dirty="0">
                <a:latin typeface="Trebuchet MS"/>
                <a:cs typeface="Trebuchet MS"/>
              </a:rPr>
              <a:t>the </a:t>
            </a:r>
            <a:r>
              <a:rPr sz="1900" spc="-10" dirty="0">
                <a:latin typeface="Trebuchet MS"/>
                <a:cs typeface="Trebuchet MS"/>
              </a:rPr>
              <a:t>communication </a:t>
            </a:r>
            <a:r>
              <a:rPr sz="1900" spc="-90" dirty="0">
                <a:latin typeface="Trebuchet MS"/>
                <a:cs typeface="Trebuchet MS"/>
              </a:rPr>
              <a:t>for</a:t>
            </a:r>
            <a:r>
              <a:rPr sz="1900" spc="-170" dirty="0">
                <a:latin typeface="Trebuchet MS"/>
                <a:cs typeface="Trebuchet MS"/>
              </a:rPr>
              <a:t> </a:t>
            </a:r>
            <a:r>
              <a:rPr sz="1900" spc="-60" dirty="0">
                <a:latin typeface="Trebuchet MS"/>
                <a:cs typeface="Trebuchet MS"/>
              </a:rPr>
              <a:t>all</a:t>
            </a:r>
            <a:r>
              <a:rPr sz="1900" spc="-160" dirty="0">
                <a:latin typeface="Trebuchet MS"/>
                <a:cs typeface="Trebuchet MS"/>
              </a:rPr>
              <a:t> </a:t>
            </a:r>
            <a:r>
              <a:rPr sz="1900" spc="-65" dirty="0">
                <a:latin typeface="Trebuchet MS"/>
                <a:cs typeface="Trebuchet MS"/>
              </a:rPr>
              <a:t>the</a:t>
            </a:r>
            <a:r>
              <a:rPr sz="1900" spc="-160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nodes.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393185" y="1690751"/>
            <a:ext cx="2605405" cy="4802505"/>
          </a:xfrm>
          <a:custGeom>
            <a:avLst/>
            <a:gdLst/>
            <a:ahLst/>
            <a:cxnLst/>
            <a:rect l="l" t="t" r="r" b="b"/>
            <a:pathLst>
              <a:path w="2605404" h="4802505">
                <a:moveTo>
                  <a:pt x="2344674" y="0"/>
                </a:moveTo>
                <a:lnTo>
                  <a:pt x="260603" y="0"/>
                </a:lnTo>
                <a:lnTo>
                  <a:pt x="213769" y="4195"/>
                </a:lnTo>
                <a:lnTo>
                  <a:pt x="169685" y="16292"/>
                </a:lnTo>
                <a:lnTo>
                  <a:pt x="129088" y="35555"/>
                </a:lnTo>
                <a:lnTo>
                  <a:pt x="92715" y="61249"/>
                </a:lnTo>
                <a:lnTo>
                  <a:pt x="61302" y="92641"/>
                </a:lnTo>
                <a:lnTo>
                  <a:pt x="35588" y="128994"/>
                </a:lnTo>
                <a:lnTo>
                  <a:pt x="16308" y="169574"/>
                </a:lnTo>
                <a:lnTo>
                  <a:pt x="4199" y="213647"/>
                </a:lnTo>
                <a:lnTo>
                  <a:pt x="0" y="260476"/>
                </a:lnTo>
                <a:lnTo>
                  <a:pt x="0" y="4541621"/>
                </a:lnTo>
                <a:lnTo>
                  <a:pt x="4199" y="4588445"/>
                </a:lnTo>
                <a:lnTo>
                  <a:pt x="16308" y="4632516"/>
                </a:lnTo>
                <a:lnTo>
                  <a:pt x="35588" y="4673099"/>
                </a:lnTo>
                <a:lnTo>
                  <a:pt x="61302" y="4709457"/>
                </a:lnTo>
                <a:lnTo>
                  <a:pt x="92715" y="4740855"/>
                </a:lnTo>
                <a:lnTo>
                  <a:pt x="129088" y="4766556"/>
                </a:lnTo>
                <a:lnTo>
                  <a:pt x="169685" y="4785825"/>
                </a:lnTo>
                <a:lnTo>
                  <a:pt x="213769" y="4797926"/>
                </a:lnTo>
                <a:lnTo>
                  <a:pt x="260603" y="4802124"/>
                </a:lnTo>
                <a:lnTo>
                  <a:pt x="2344674" y="4802124"/>
                </a:lnTo>
                <a:lnTo>
                  <a:pt x="2391470" y="4797926"/>
                </a:lnTo>
                <a:lnTo>
                  <a:pt x="2435525" y="4785825"/>
                </a:lnTo>
                <a:lnTo>
                  <a:pt x="2476100" y="4766556"/>
                </a:lnTo>
                <a:lnTo>
                  <a:pt x="2512457" y="4740855"/>
                </a:lnTo>
                <a:lnTo>
                  <a:pt x="2543859" y="4709457"/>
                </a:lnTo>
                <a:lnTo>
                  <a:pt x="2569567" y="4673099"/>
                </a:lnTo>
                <a:lnTo>
                  <a:pt x="2588844" y="4632516"/>
                </a:lnTo>
                <a:lnTo>
                  <a:pt x="2600951" y="4588445"/>
                </a:lnTo>
                <a:lnTo>
                  <a:pt x="2605151" y="4541621"/>
                </a:lnTo>
                <a:lnTo>
                  <a:pt x="2605151" y="260476"/>
                </a:lnTo>
                <a:lnTo>
                  <a:pt x="2600951" y="213647"/>
                </a:lnTo>
                <a:lnTo>
                  <a:pt x="2588844" y="169574"/>
                </a:lnTo>
                <a:lnTo>
                  <a:pt x="2569567" y="128994"/>
                </a:lnTo>
                <a:lnTo>
                  <a:pt x="2543859" y="92641"/>
                </a:lnTo>
                <a:lnTo>
                  <a:pt x="2512457" y="61249"/>
                </a:lnTo>
                <a:lnTo>
                  <a:pt x="2476100" y="35555"/>
                </a:lnTo>
                <a:lnTo>
                  <a:pt x="2435525" y="16292"/>
                </a:lnTo>
                <a:lnTo>
                  <a:pt x="2391470" y="4195"/>
                </a:lnTo>
                <a:lnTo>
                  <a:pt x="2344674" y="0"/>
                </a:lnTo>
                <a:close/>
              </a:path>
            </a:pathLst>
          </a:custGeom>
          <a:solidFill>
            <a:srgbClr val="F7D4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185030" y="2168398"/>
            <a:ext cx="101981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60" dirty="0">
                <a:latin typeface="Trebuchet MS"/>
                <a:cs typeface="Trebuchet MS"/>
              </a:rPr>
              <a:t>Failure</a:t>
            </a:r>
            <a:endParaRPr sz="2500">
              <a:latin typeface="Trebuchet MS"/>
              <a:cs typeface="Trebuchet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49979" y="3127248"/>
            <a:ext cx="2088642" cy="312648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775328" y="3975353"/>
            <a:ext cx="1841500" cy="137414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 algn="ctr">
              <a:lnSpc>
                <a:spcPct val="91500"/>
              </a:lnSpc>
              <a:spcBef>
                <a:spcPts val="290"/>
              </a:spcBef>
            </a:pPr>
            <a:r>
              <a:rPr sz="1900" spc="-90" dirty="0">
                <a:latin typeface="Trebuchet MS"/>
                <a:cs typeface="Trebuchet MS"/>
              </a:rPr>
              <a:t>The</a:t>
            </a:r>
            <a:r>
              <a:rPr sz="1900" spc="-140" dirty="0">
                <a:latin typeface="Trebuchet MS"/>
                <a:cs typeface="Trebuchet MS"/>
              </a:rPr>
              <a:t> </a:t>
            </a:r>
            <a:r>
              <a:rPr sz="1900" spc="-45" dirty="0">
                <a:latin typeface="Trebuchet MS"/>
                <a:cs typeface="Trebuchet MS"/>
              </a:rPr>
              <a:t>breakdown</a:t>
            </a:r>
            <a:r>
              <a:rPr sz="1900" spc="-135" dirty="0">
                <a:latin typeface="Trebuchet MS"/>
                <a:cs typeface="Trebuchet MS"/>
              </a:rPr>
              <a:t> </a:t>
            </a:r>
            <a:r>
              <a:rPr sz="1900" spc="-25" dirty="0">
                <a:latin typeface="Trebuchet MS"/>
                <a:cs typeface="Trebuchet MS"/>
              </a:rPr>
              <a:t>in </a:t>
            </a:r>
            <a:r>
              <a:rPr sz="1900" spc="-20" dirty="0">
                <a:latin typeface="Trebuchet MS"/>
                <a:cs typeface="Trebuchet MS"/>
              </a:rPr>
              <a:t>one</a:t>
            </a:r>
            <a:r>
              <a:rPr sz="1900" spc="-145" dirty="0">
                <a:latin typeface="Trebuchet MS"/>
                <a:cs typeface="Trebuchet MS"/>
              </a:rPr>
              <a:t> </a:t>
            </a:r>
            <a:r>
              <a:rPr sz="1900" spc="-45" dirty="0">
                <a:latin typeface="Trebuchet MS"/>
                <a:cs typeface="Trebuchet MS"/>
              </a:rPr>
              <a:t>station</a:t>
            </a:r>
            <a:r>
              <a:rPr sz="1900" spc="-145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leads </a:t>
            </a:r>
            <a:r>
              <a:rPr sz="1900" spc="-75" dirty="0">
                <a:latin typeface="Trebuchet MS"/>
                <a:cs typeface="Trebuchet MS"/>
              </a:rPr>
              <a:t>to</a:t>
            </a:r>
            <a:r>
              <a:rPr sz="1900" spc="-160" dirty="0">
                <a:latin typeface="Trebuchet MS"/>
                <a:cs typeface="Trebuchet MS"/>
              </a:rPr>
              <a:t> </a:t>
            </a:r>
            <a:r>
              <a:rPr sz="1900" spc="-65" dirty="0">
                <a:latin typeface="Trebuchet MS"/>
                <a:cs typeface="Trebuchet MS"/>
              </a:rPr>
              <a:t>the</a:t>
            </a:r>
            <a:r>
              <a:rPr sz="1900" spc="-160" dirty="0">
                <a:latin typeface="Trebuchet MS"/>
                <a:cs typeface="Trebuchet MS"/>
              </a:rPr>
              <a:t> </a:t>
            </a:r>
            <a:r>
              <a:rPr sz="1900" spc="-75" dirty="0">
                <a:latin typeface="Trebuchet MS"/>
                <a:cs typeface="Trebuchet MS"/>
              </a:rPr>
              <a:t>failure</a:t>
            </a:r>
            <a:r>
              <a:rPr sz="1900" spc="-160" dirty="0">
                <a:latin typeface="Trebuchet MS"/>
                <a:cs typeface="Trebuchet MS"/>
              </a:rPr>
              <a:t> </a:t>
            </a:r>
            <a:r>
              <a:rPr sz="1900" spc="-35" dirty="0">
                <a:latin typeface="Trebuchet MS"/>
                <a:cs typeface="Trebuchet MS"/>
              </a:rPr>
              <a:t>of </a:t>
            </a:r>
            <a:r>
              <a:rPr sz="1900" spc="-65" dirty="0">
                <a:latin typeface="Trebuchet MS"/>
                <a:cs typeface="Trebuchet MS"/>
              </a:rPr>
              <a:t>the</a:t>
            </a:r>
            <a:r>
              <a:rPr sz="1900" spc="-160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overall network.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193663" y="1690751"/>
            <a:ext cx="2605405" cy="4802505"/>
          </a:xfrm>
          <a:custGeom>
            <a:avLst/>
            <a:gdLst/>
            <a:ahLst/>
            <a:cxnLst/>
            <a:rect l="l" t="t" r="r" b="b"/>
            <a:pathLst>
              <a:path w="2605404" h="4802505">
                <a:moveTo>
                  <a:pt x="2344546" y="0"/>
                </a:moveTo>
                <a:lnTo>
                  <a:pt x="260476" y="0"/>
                </a:lnTo>
                <a:lnTo>
                  <a:pt x="213680" y="4195"/>
                </a:lnTo>
                <a:lnTo>
                  <a:pt x="169625" y="16292"/>
                </a:lnTo>
                <a:lnTo>
                  <a:pt x="129050" y="35555"/>
                </a:lnTo>
                <a:lnTo>
                  <a:pt x="92693" y="61249"/>
                </a:lnTo>
                <a:lnTo>
                  <a:pt x="61291" y="92641"/>
                </a:lnTo>
                <a:lnTo>
                  <a:pt x="35583" y="128994"/>
                </a:lnTo>
                <a:lnTo>
                  <a:pt x="16306" y="169574"/>
                </a:lnTo>
                <a:lnTo>
                  <a:pt x="4199" y="213647"/>
                </a:lnTo>
                <a:lnTo>
                  <a:pt x="0" y="260476"/>
                </a:lnTo>
                <a:lnTo>
                  <a:pt x="0" y="4541621"/>
                </a:lnTo>
                <a:lnTo>
                  <a:pt x="4199" y="4588445"/>
                </a:lnTo>
                <a:lnTo>
                  <a:pt x="16306" y="4632516"/>
                </a:lnTo>
                <a:lnTo>
                  <a:pt x="35583" y="4673099"/>
                </a:lnTo>
                <a:lnTo>
                  <a:pt x="61291" y="4709457"/>
                </a:lnTo>
                <a:lnTo>
                  <a:pt x="92693" y="4740855"/>
                </a:lnTo>
                <a:lnTo>
                  <a:pt x="129050" y="4766556"/>
                </a:lnTo>
                <a:lnTo>
                  <a:pt x="169625" y="4785825"/>
                </a:lnTo>
                <a:lnTo>
                  <a:pt x="213680" y="4797926"/>
                </a:lnTo>
                <a:lnTo>
                  <a:pt x="260476" y="4802124"/>
                </a:lnTo>
                <a:lnTo>
                  <a:pt x="2344546" y="4802124"/>
                </a:lnTo>
                <a:lnTo>
                  <a:pt x="2391381" y="4797926"/>
                </a:lnTo>
                <a:lnTo>
                  <a:pt x="2435465" y="4785825"/>
                </a:lnTo>
                <a:lnTo>
                  <a:pt x="2476062" y="4766556"/>
                </a:lnTo>
                <a:lnTo>
                  <a:pt x="2512435" y="4740855"/>
                </a:lnTo>
                <a:lnTo>
                  <a:pt x="2543848" y="4709457"/>
                </a:lnTo>
                <a:lnTo>
                  <a:pt x="2569562" y="4673099"/>
                </a:lnTo>
                <a:lnTo>
                  <a:pt x="2588842" y="4632516"/>
                </a:lnTo>
                <a:lnTo>
                  <a:pt x="2600951" y="4588445"/>
                </a:lnTo>
                <a:lnTo>
                  <a:pt x="2605151" y="4541621"/>
                </a:lnTo>
                <a:lnTo>
                  <a:pt x="2605151" y="260476"/>
                </a:lnTo>
                <a:lnTo>
                  <a:pt x="2600951" y="213647"/>
                </a:lnTo>
                <a:lnTo>
                  <a:pt x="2588842" y="169574"/>
                </a:lnTo>
                <a:lnTo>
                  <a:pt x="2569562" y="128994"/>
                </a:lnTo>
                <a:lnTo>
                  <a:pt x="2543848" y="92641"/>
                </a:lnTo>
                <a:lnTo>
                  <a:pt x="2512435" y="61249"/>
                </a:lnTo>
                <a:lnTo>
                  <a:pt x="2476062" y="35555"/>
                </a:lnTo>
                <a:lnTo>
                  <a:pt x="2435465" y="16292"/>
                </a:lnTo>
                <a:lnTo>
                  <a:pt x="2391381" y="4195"/>
                </a:lnTo>
                <a:lnTo>
                  <a:pt x="2344546" y="0"/>
                </a:lnTo>
                <a:close/>
              </a:path>
            </a:pathLst>
          </a:custGeom>
          <a:solidFill>
            <a:srgbClr val="F7D4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335014" y="1993468"/>
            <a:ext cx="2324735" cy="75565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574675" marR="5080" indent="-562610">
              <a:lnSpc>
                <a:spcPts val="2750"/>
              </a:lnSpc>
              <a:spcBef>
                <a:spcPts val="395"/>
              </a:spcBef>
            </a:pPr>
            <a:r>
              <a:rPr sz="2500" b="1" spc="-40" dirty="0">
                <a:latin typeface="Trebuchet MS"/>
                <a:cs typeface="Trebuchet MS"/>
              </a:rPr>
              <a:t>Reconfiguration </a:t>
            </a:r>
            <a:r>
              <a:rPr sz="2500" b="1" spc="-10" dirty="0">
                <a:latin typeface="Trebuchet MS"/>
                <a:cs typeface="Trebuchet MS"/>
              </a:rPr>
              <a:t>Difficult</a:t>
            </a:r>
            <a:endParaRPr sz="2500">
              <a:latin typeface="Trebuchet MS"/>
              <a:cs typeface="Trebuchet MS"/>
            </a:endParaRP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51091" y="3127248"/>
            <a:ext cx="2088641" cy="3126486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6720967" y="3975353"/>
            <a:ext cx="1551305" cy="137414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065" marR="5080" indent="-635" algn="ctr">
              <a:lnSpc>
                <a:spcPct val="91500"/>
              </a:lnSpc>
              <a:spcBef>
                <a:spcPts val="290"/>
              </a:spcBef>
            </a:pPr>
            <a:r>
              <a:rPr sz="1900" spc="-35" dirty="0">
                <a:latin typeface="Trebuchet MS"/>
                <a:cs typeface="Trebuchet MS"/>
              </a:rPr>
              <a:t>Adding</a:t>
            </a:r>
            <a:r>
              <a:rPr sz="1900" spc="-140" dirty="0">
                <a:latin typeface="Trebuchet MS"/>
                <a:cs typeface="Trebuchet MS"/>
              </a:rPr>
              <a:t> </a:t>
            </a:r>
            <a:r>
              <a:rPr sz="1900" spc="-25" dirty="0">
                <a:latin typeface="Trebuchet MS"/>
                <a:cs typeface="Trebuchet MS"/>
              </a:rPr>
              <a:t>new </a:t>
            </a:r>
            <a:r>
              <a:rPr sz="1900" spc="-20" dirty="0">
                <a:latin typeface="Trebuchet MS"/>
                <a:cs typeface="Trebuchet MS"/>
              </a:rPr>
              <a:t>devices</a:t>
            </a:r>
            <a:r>
              <a:rPr sz="1900" spc="-145" dirty="0">
                <a:latin typeface="Trebuchet MS"/>
                <a:cs typeface="Trebuchet MS"/>
              </a:rPr>
              <a:t> </a:t>
            </a:r>
            <a:r>
              <a:rPr sz="1900" spc="-75" dirty="0">
                <a:latin typeface="Trebuchet MS"/>
                <a:cs typeface="Trebuchet MS"/>
              </a:rPr>
              <a:t>to</a:t>
            </a:r>
            <a:r>
              <a:rPr sz="1900" spc="-145" dirty="0">
                <a:latin typeface="Trebuchet MS"/>
                <a:cs typeface="Trebuchet MS"/>
              </a:rPr>
              <a:t> </a:t>
            </a:r>
            <a:r>
              <a:rPr sz="1900" spc="-25" dirty="0">
                <a:latin typeface="Trebuchet MS"/>
                <a:cs typeface="Trebuchet MS"/>
              </a:rPr>
              <a:t>the </a:t>
            </a:r>
            <a:r>
              <a:rPr sz="1900" spc="-70" dirty="0">
                <a:latin typeface="Trebuchet MS"/>
                <a:cs typeface="Trebuchet MS"/>
              </a:rPr>
              <a:t>network</a:t>
            </a:r>
            <a:r>
              <a:rPr sz="1900" spc="-100" dirty="0">
                <a:latin typeface="Trebuchet MS"/>
                <a:cs typeface="Trebuchet MS"/>
              </a:rPr>
              <a:t> </a:t>
            </a:r>
            <a:r>
              <a:rPr sz="1900" spc="-20" dirty="0">
                <a:latin typeface="Trebuchet MS"/>
                <a:cs typeface="Trebuchet MS"/>
              </a:rPr>
              <a:t>would </a:t>
            </a:r>
            <a:r>
              <a:rPr sz="1900" dirty="0">
                <a:latin typeface="Trebuchet MS"/>
                <a:cs typeface="Trebuchet MS"/>
              </a:rPr>
              <a:t>slow</a:t>
            </a:r>
            <a:r>
              <a:rPr sz="1900" spc="-165" dirty="0">
                <a:latin typeface="Trebuchet MS"/>
                <a:cs typeface="Trebuchet MS"/>
              </a:rPr>
              <a:t> </a:t>
            </a:r>
            <a:r>
              <a:rPr sz="1900" spc="-20" dirty="0">
                <a:latin typeface="Trebuchet MS"/>
                <a:cs typeface="Trebuchet MS"/>
              </a:rPr>
              <a:t>down</a:t>
            </a:r>
            <a:r>
              <a:rPr sz="1900" spc="-165" dirty="0">
                <a:latin typeface="Trebuchet MS"/>
                <a:cs typeface="Trebuchet MS"/>
              </a:rPr>
              <a:t> </a:t>
            </a:r>
            <a:r>
              <a:rPr sz="1900" spc="-25" dirty="0">
                <a:latin typeface="Trebuchet MS"/>
                <a:cs typeface="Trebuchet MS"/>
              </a:rPr>
              <a:t>the </a:t>
            </a:r>
            <a:r>
              <a:rPr sz="1900" spc="-10" dirty="0">
                <a:latin typeface="Trebuchet MS"/>
                <a:cs typeface="Trebuchet MS"/>
              </a:rPr>
              <a:t>network.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994140" y="1690751"/>
            <a:ext cx="2605405" cy="4802505"/>
          </a:xfrm>
          <a:custGeom>
            <a:avLst/>
            <a:gdLst/>
            <a:ahLst/>
            <a:cxnLst/>
            <a:rect l="l" t="t" r="r" b="b"/>
            <a:pathLst>
              <a:path w="2605404" h="4802505">
                <a:moveTo>
                  <a:pt x="2344546" y="0"/>
                </a:moveTo>
                <a:lnTo>
                  <a:pt x="260476" y="0"/>
                </a:lnTo>
                <a:lnTo>
                  <a:pt x="213647" y="4195"/>
                </a:lnTo>
                <a:lnTo>
                  <a:pt x="169574" y="16292"/>
                </a:lnTo>
                <a:lnTo>
                  <a:pt x="128994" y="35555"/>
                </a:lnTo>
                <a:lnTo>
                  <a:pt x="92641" y="61249"/>
                </a:lnTo>
                <a:lnTo>
                  <a:pt x="61249" y="92641"/>
                </a:lnTo>
                <a:lnTo>
                  <a:pt x="35555" y="128994"/>
                </a:lnTo>
                <a:lnTo>
                  <a:pt x="16292" y="169574"/>
                </a:lnTo>
                <a:lnTo>
                  <a:pt x="4195" y="213647"/>
                </a:lnTo>
                <a:lnTo>
                  <a:pt x="0" y="260476"/>
                </a:lnTo>
                <a:lnTo>
                  <a:pt x="0" y="4541621"/>
                </a:lnTo>
                <a:lnTo>
                  <a:pt x="4195" y="4588445"/>
                </a:lnTo>
                <a:lnTo>
                  <a:pt x="16292" y="4632516"/>
                </a:lnTo>
                <a:lnTo>
                  <a:pt x="35555" y="4673099"/>
                </a:lnTo>
                <a:lnTo>
                  <a:pt x="61249" y="4709457"/>
                </a:lnTo>
                <a:lnTo>
                  <a:pt x="92641" y="4740855"/>
                </a:lnTo>
                <a:lnTo>
                  <a:pt x="128994" y="4766556"/>
                </a:lnTo>
                <a:lnTo>
                  <a:pt x="169574" y="4785825"/>
                </a:lnTo>
                <a:lnTo>
                  <a:pt x="213647" y="4797926"/>
                </a:lnTo>
                <a:lnTo>
                  <a:pt x="260476" y="4802124"/>
                </a:lnTo>
                <a:lnTo>
                  <a:pt x="2344546" y="4802124"/>
                </a:lnTo>
                <a:lnTo>
                  <a:pt x="2391376" y="4797926"/>
                </a:lnTo>
                <a:lnTo>
                  <a:pt x="2435449" y="4785825"/>
                </a:lnTo>
                <a:lnTo>
                  <a:pt x="2476029" y="4766556"/>
                </a:lnTo>
                <a:lnTo>
                  <a:pt x="2512382" y="4740855"/>
                </a:lnTo>
                <a:lnTo>
                  <a:pt x="2543774" y="4709457"/>
                </a:lnTo>
                <a:lnTo>
                  <a:pt x="2569468" y="4673099"/>
                </a:lnTo>
                <a:lnTo>
                  <a:pt x="2588731" y="4632516"/>
                </a:lnTo>
                <a:lnTo>
                  <a:pt x="2600828" y="4588445"/>
                </a:lnTo>
                <a:lnTo>
                  <a:pt x="2605024" y="4541621"/>
                </a:lnTo>
                <a:lnTo>
                  <a:pt x="2605024" y="260476"/>
                </a:lnTo>
                <a:lnTo>
                  <a:pt x="2600828" y="213647"/>
                </a:lnTo>
                <a:lnTo>
                  <a:pt x="2588731" y="169574"/>
                </a:lnTo>
                <a:lnTo>
                  <a:pt x="2569468" y="128994"/>
                </a:lnTo>
                <a:lnTo>
                  <a:pt x="2543774" y="92641"/>
                </a:lnTo>
                <a:lnTo>
                  <a:pt x="2512382" y="61249"/>
                </a:lnTo>
                <a:lnTo>
                  <a:pt x="2476029" y="35555"/>
                </a:lnTo>
                <a:lnTo>
                  <a:pt x="2435449" y="16292"/>
                </a:lnTo>
                <a:lnTo>
                  <a:pt x="2391376" y="4195"/>
                </a:lnTo>
                <a:lnTo>
                  <a:pt x="2344546" y="0"/>
                </a:lnTo>
                <a:close/>
              </a:path>
            </a:pathLst>
          </a:custGeom>
          <a:solidFill>
            <a:srgbClr val="F7D4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9871964" y="2168398"/>
            <a:ext cx="85090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10" dirty="0">
                <a:latin typeface="Trebuchet MS"/>
                <a:cs typeface="Trebuchet MS"/>
              </a:rPr>
              <a:t>Delay</a:t>
            </a:r>
            <a:endParaRPr sz="2500">
              <a:latin typeface="Trebuchet MS"/>
              <a:cs typeface="Trebuchet MS"/>
            </a:endParaRPr>
          </a:p>
        </p:txBody>
      </p:sp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250680" y="3127248"/>
            <a:ext cx="2090166" cy="3126486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9440926" y="3445002"/>
            <a:ext cx="1712595" cy="243522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 algn="ctr">
              <a:lnSpc>
                <a:spcPct val="91500"/>
              </a:lnSpc>
              <a:spcBef>
                <a:spcPts val="290"/>
              </a:spcBef>
            </a:pPr>
            <a:r>
              <a:rPr sz="1900" spc="-10" dirty="0">
                <a:latin typeface="Trebuchet MS"/>
                <a:cs typeface="Trebuchet MS"/>
              </a:rPr>
              <a:t>Communication </a:t>
            </a:r>
            <a:r>
              <a:rPr sz="1900" spc="-50" dirty="0">
                <a:latin typeface="Trebuchet MS"/>
                <a:cs typeface="Trebuchet MS"/>
              </a:rPr>
              <a:t>delay</a:t>
            </a:r>
            <a:r>
              <a:rPr sz="1900" spc="-14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is</a:t>
            </a:r>
            <a:r>
              <a:rPr sz="1900" spc="-140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directly </a:t>
            </a:r>
            <a:r>
              <a:rPr sz="1900" spc="-50" dirty="0">
                <a:latin typeface="Trebuchet MS"/>
                <a:cs typeface="Trebuchet MS"/>
              </a:rPr>
              <a:t>proportional</a:t>
            </a:r>
            <a:r>
              <a:rPr sz="1900" spc="-110" dirty="0">
                <a:latin typeface="Trebuchet MS"/>
                <a:cs typeface="Trebuchet MS"/>
              </a:rPr>
              <a:t> </a:t>
            </a:r>
            <a:r>
              <a:rPr sz="1900" spc="-25" dirty="0">
                <a:latin typeface="Trebuchet MS"/>
                <a:cs typeface="Trebuchet MS"/>
              </a:rPr>
              <a:t>to </a:t>
            </a:r>
            <a:r>
              <a:rPr sz="1900" spc="-65" dirty="0">
                <a:latin typeface="Trebuchet MS"/>
                <a:cs typeface="Trebuchet MS"/>
              </a:rPr>
              <a:t>the</a:t>
            </a:r>
            <a:r>
              <a:rPr sz="1900" spc="-145" dirty="0">
                <a:latin typeface="Trebuchet MS"/>
                <a:cs typeface="Trebuchet MS"/>
              </a:rPr>
              <a:t> </a:t>
            </a:r>
            <a:r>
              <a:rPr sz="1900" spc="-35" dirty="0">
                <a:latin typeface="Trebuchet MS"/>
                <a:cs typeface="Trebuchet MS"/>
              </a:rPr>
              <a:t>number</a:t>
            </a:r>
            <a:r>
              <a:rPr sz="1900" spc="-140" dirty="0">
                <a:latin typeface="Trebuchet MS"/>
                <a:cs typeface="Trebuchet MS"/>
              </a:rPr>
              <a:t> </a:t>
            </a:r>
            <a:r>
              <a:rPr sz="1900" spc="-25" dirty="0">
                <a:latin typeface="Trebuchet MS"/>
                <a:cs typeface="Trebuchet MS"/>
              </a:rPr>
              <a:t>of </a:t>
            </a:r>
            <a:r>
              <a:rPr sz="1900" spc="-20" dirty="0">
                <a:latin typeface="Trebuchet MS"/>
                <a:cs typeface="Trebuchet MS"/>
              </a:rPr>
              <a:t>nodes.</a:t>
            </a:r>
            <a:r>
              <a:rPr sz="1900" spc="-150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Adding </a:t>
            </a:r>
            <a:r>
              <a:rPr sz="1900" spc="-40" dirty="0">
                <a:latin typeface="Trebuchet MS"/>
                <a:cs typeface="Trebuchet MS"/>
              </a:rPr>
              <a:t>new</a:t>
            </a:r>
            <a:r>
              <a:rPr sz="1900" spc="-170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devices </a:t>
            </a:r>
            <a:r>
              <a:rPr sz="1900" dirty="0">
                <a:latin typeface="Trebuchet MS"/>
                <a:cs typeface="Trebuchet MS"/>
              </a:rPr>
              <a:t>increases</a:t>
            </a:r>
            <a:r>
              <a:rPr sz="1900" spc="-160" dirty="0">
                <a:latin typeface="Trebuchet MS"/>
                <a:cs typeface="Trebuchet MS"/>
              </a:rPr>
              <a:t> </a:t>
            </a:r>
            <a:r>
              <a:rPr sz="1900" spc="-25" dirty="0">
                <a:latin typeface="Trebuchet MS"/>
                <a:cs typeface="Trebuchet MS"/>
              </a:rPr>
              <a:t>the </a:t>
            </a:r>
            <a:r>
              <a:rPr sz="1900" spc="-10" dirty="0">
                <a:latin typeface="Trebuchet MS"/>
                <a:cs typeface="Trebuchet MS"/>
              </a:rPr>
              <a:t>communication delay.</a:t>
            </a:r>
            <a:endParaRPr sz="1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85" dirty="0"/>
              <a:t>Star</a:t>
            </a:r>
            <a:r>
              <a:rPr spc="-450" dirty="0"/>
              <a:t> </a:t>
            </a:r>
            <a:r>
              <a:rPr spc="-285" dirty="0"/>
              <a:t>Topology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1969"/>
            <a:ext cx="10357485" cy="8356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rebuchet MS"/>
                <a:cs typeface="Trebuchet MS"/>
              </a:rPr>
              <a:t>All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the</a:t>
            </a:r>
            <a:r>
              <a:rPr sz="2800" spc="-6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hosts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in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Star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topology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are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connected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to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central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device, 	</a:t>
            </a:r>
            <a:r>
              <a:rPr sz="2800" spc="-35" dirty="0">
                <a:latin typeface="Trebuchet MS"/>
                <a:cs typeface="Trebuchet MS"/>
              </a:rPr>
              <a:t>known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100" dirty="0">
                <a:latin typeface="Trebuchet MS"/>
                <a:cs typeface="Trebuchet MS"/>
              </a:rPr>
              <a:t>as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hub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device,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using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point-</a:t>
            </a:r>
            <a:r>
              <a:rPr sz="2800" spc="-95" dirty="0">
                <a:latin typeface="Trebuchet MS"/>
                <a:cs typeface="Trebuchet MS"/>
              </a:rPr>
              <a:t>to-</a:t>
            </a:r>
            <a:r>
              <a:rPr sz="2800" spc="-75" dirty="0">
                <a:latin typeface="Trebuchet MS"/>
                <a:cs typeface="Trebuchet MS"/>
              </a:rPr>
              <a:t>point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connection.</a:t>
            </a:r>
            <a:endParaRPr sz="28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49802" y="2681791"/>
            <a:ext cx="5692266" cy="409651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85" dirty="0"/>
              <a:t>Star</a:t>
            </a:r>
            <a:r>
              <a:rPr spc="-450" dirty="0"/>
              <a:t> </a:t>
            </a:r>
            <a:r>
              <a:rPr spc="-285" dirty="0"/>
              <a:t>Topology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9966"/>
            <a:ext cx="10358120" cy="403225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0029" marR="5080" indent="-227965" algn="just">
              <a:lnSpc>
                <a:spcPct val="80000"/>
              </a:lnSpc>
              <a:spcBef>
                <a:spcPts val="76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rebuchet MS"/>
                <a:cs typeface="Trebuchet MS"/>
              </a:rPr>
              <a:t>Star</a:t>
            </a:r>
            <a:r>
              <a:rPr sz="2800" spc="114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topology</a:t>
            </a:r>
            <a:r>
              <a:rPr sz="2800" spc="114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114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</a:t>
            </a:r>
            <a:r>
              <a:rPr sz="2800" spc="10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arrangement</a:t>
            </a:r>
            <a:r>
              <a:rPr sz="2800" spc="114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of</a:t>
            </a:r>
            <a:r>
              <a:rPr sz="2800" spc="114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the</a:t>
            </a:r>
            <a:r>
              <a:rPr sz="2800" spc="10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network</a:t>
            </a:r>
            <a:r>
              <a:rPr sz="2800" spc="114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in</a:t>
            </a:r>
            <a:r>
              <a:rPr sz="2800" spc="11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which</a:t>
            </a:r>
            <a:r>
              <a:rPr sz="2800" spc="11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every 	</a:t>
            </a:r>
            <a:r>
              <a:rPr sz="2800" dirty="0">
                <a:latin typeface="Trebuchet MS"/>
                <a:cs typeface="Trebuchet MS"/>
              </a:rPr>
              <a:t>node</a:t>
            </a:r>
            <a:r>
              <a:rPr sz="2800" spc="-45" dirty="0">
                <a:latin typeface="Trebuchet MS"/>
                <a:cs typeface="Trebuchet MS"/>
              </a:rPr>
              <a:t> 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30" dirty="0">
                <a:latin typeface="Trebuchet MS"/>
                <a:cs typeface="Trebuchet MS"/>
              </a:rPr>
              <a:t>  </a:t>
            </a:r>
            <a:r>
              <a:rPr sz="2800" dirty="0">
                <a:latin typeface="Trebuchet MS"/>
                <a:cs typeface="Trebuchet MS"/>
              </a:rPr>
              <a:t>connected</a:t>
            </a:r>
            <a:r>
              <a:rPr sz="2800" spc="-35" dirty="0">
                <a:latin typeface="Trebuchet MS"/>
                <a:cs typeface="Trebuchet MS"/>
              </a:rPr>
              <a:t>  </a:t>
            </a:r>
            <a:r>
              <a:rPr sz="2800" dirty="0">
                <a:latin typeface="Trebuchet MS"/>
                <a:cs typeface="Trebuchet MS"/>
              </a:rPr>
              <a:t>to</a:t>
            </a:r>
            <a:r>
              <a:rPr sz="2800" spc="-35" dirty="0">
                <a:latin typeface="Trebuchet MS"/>
                <a:cs typeface="Trebuchet MS"/>
              </a:rPr>
              <a:t>  </a:t>
            </a:r>
            <a:r>
              <a:rPr sz="2800" dirty="0">
                <a:latin typeface="Trebuchet MS"/>
                <a:cs typeface="Trebuchet MS"/>
              </a:rPr>
              <a:t>the</a:t>
            </a:r>
            <a:r>
              <a:rPr sz="2800" spc="-35" dirty="0">
                <a:latin typeface="Trebuchet MS"/>
                <a:cs typeface="Trebuchet MS"/>
              </a:rPr>
              <a:t>  </a:t>
            </a:r>
            <a:r>
              <a:rPr sz="2800" dirty="0">
                <a:latin typeface="Trebuchet MS"/>
                <a:cs typeface="Trebuchet MS"/>
              </a:rPr>
              <a:t>central</a:t>
            </a:r>
            <a:r>
              <a:rPr sz="2800" spc="-35" dirty="0">
                <a:latin typeface="Trebuchet MS"/>
                <a:cs typeface="Trebuchet MS"/>
              </a:rPr>
              <a:t>  </a:t>
            </a:r>
            <a:r>
              <a:rPr sz="2800" dirty="0">
                <a:latin typeface="Trebuchet MS"/>
                <a:cs typeface="Trebuchet MS"/>
              </a:rPr>
              <a:t>hub,</a:t>
            </a:r>
            <a:r>
              <a:rPr sz="2800" spc="-35" dirty="0">
                <a:latin typeface="Trebuchet MS"/>
                <a:cs typeface="Trebuchet MS"/>
              </a:rPr>
              <a:t>  </a:t>
            </a:r>
            <a:r>
              <a:rPr sz="2800" dirty="0">
                <a:latin typeface="Trebuchet MS"/>
                <a:cs typeface="Trebuchet MS"/>
              </a:rPr>
              <a:t>switch</a:t>
            </a:r>
            <a:r>
              <a:rPr sz="2800" spc="-40" dirty="0">
                <a:latin typeface="Trebuchet MS"/>
                <a:cs typeface="Trebuchet MS"/>
              </a:rPr>
              <a:t>  </a:t>
            </a:r>
            <a:r>
              <a:rPr sz="2800" dirty="0">
                <a:latin typeface="Trebuchet MS"/>
                <a:cs typeface="Trebuchet MS"/>
              </a:rPr>
              <a:t>or</a:t>
            </a:r>
            <a:r>
              <a:rPr sz="2800" spc="-35" dirty="0">
                <a:latin typeface="Trebuchet MS"/>
                <a:cs typeface="Trebuchet MS"/>
              </a:rPr>
              <a:t> 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30" dirty="0">
                <a:latin typeface="Trebuchet MS"/>
                <a:cs typeface="Trebuchet MS"/>
              </a:rPr>
              <a:t>  </a:t>
            </a:r>
            <a:r>
              <a:rPr sz="2800" spc="-10" dirty="0">
                <a:latin typeface="Trebuchet MS"/>
                <a:cs typeface="Trebuchet MS"/>
              </a:rPr>
              <a:t>central 	computer.</a:t>
            </a:r>
            <a:endParaRPr sz="2800">
              <a:latin typeface="Trebuchet MS"/>
              <a:cs typeface="Trebuchet MS"/>
            </a:endParaRPr>
          </a:p>
          <a:p>
            <a:pPr marL="240029" marR="5715" indent="-227965" algn="just">
              <a:lnSpc>
                <a:spcPct val="8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rebuchet MS"/>
                <a:cs typeface="Trebuchet MS"/>
              </a:rPr>
              <a:t>The</a:t>
            </a:r>
            <a:r>
              <a:rPr sz="2800" spc="1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central</a:t>
            </a:r>
            <a:r>
              <a:rPr sz="2800" spc="1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computer</a:t>
            </a:r>
            <a:r>
              <a:rPr sz="2800" spc="1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1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known</a:t>
            </a:r>
            <a:r>
              <a:rPr sz="2800" spc="120" dirty="0">
                <a:latin typeface="Trebuchet MS"/>
                <a:cs typeface="Trebuchet MS"/>
              </a:rPr>
              <a:t> </a:t>
            </a:r>
            <a:r>
              <a:rPr sz="2800" spc="100" dirty="0">
                <a:latin typeface="Trebuchet MS"/>
                <a:cs typeface="Trebuchet MS"/>
              </a:rPr>
              <a:t>as</a:t>
            </a:r>
            <a:r>
              <a:rPr sz="2800" spc="1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145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server,</a:t>
            </a:r>
            <a:r>
              <a:rPr sz="2800" spc="1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1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the</a:t>
            </a:r>
            <a:r>
              <a:rPr sz="2800" spc="130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peripheral 	</a:t>
            </a:r>
            <a:r>
              <a:rPr sz="2800" spc="-20" dirty="0">
                <a:latin typeface="Trebuchet MS"/>
                <a:cs typeface="Trebuchet MS"/>
              </a:rPr>
              <a:t>devices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attached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to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server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are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known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100" dirty="0">
                <a:latin typeface="Trebuchet MS"/>
                <a:cs typeface="Trebuchet MS"/>
              </a:rPr>
              <a:t>as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b="1" spc="-10" dirty="0">
                <a:latin typeface="Trebuchet MS"/>
                <a:cs typeface="Trebuchet MS"/>
              </a:rPr>
              <a:t>clients</a:t>
            </a:r>
            <a:r>
              <a:rPr sz="2800" spc="-10" dirty="0">
                <a:latin typeface="Trebuchet MS"/>
                <a:cs typeface="Trebuchet MS"/>
              </a:rPr>
              <a:t>.</a:t>
            </a:r>
            <a:endParaRPr sz="2800">
              <a:latin typeface="Trebuchet MS"/>
              <a:cs typeface="Trebuchet MS"/>
            </a:endParaRPr>
          </a:p>
          <a:p>
            <a:pPr marL="240665" indent="-227965" algn="just">
              <a:lnSpc>
                <a:spcPct val="100000"/>
              </a:lnSpc>
              <a:spcBef>
                <a:spcPts val="33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spc="-20" dirty="0">
                <a:latin typeface="Trebuchet MS"/>
                <a:cs typeface="Trebuchet MS"/>
              </a:rPr>
              <a:t>Coaxial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cable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or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60" dirty="0">
                <a:latin typeface="Trebuchet MS"/>
                <a:cs typeface="Trebuchet MS"/>
              </a:rPr>
              <a:t>RJ-</a:t>
            </a:r>
            <a:r>
              <a:rPr sz="2800" dirty="0">
                <a:latin typeface="Trebuchet MS"/>
                <a:cs typeface="Trebuchet MS"/>
              </a:rPr>
              <a:t>45</a:t>
            </a:r>
            <a:r>
              <a:rPr sz="2800" spc="-18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cables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are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used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to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connect</a:t>
            </a:r>
            <a:r>
              <a:rPr sz="2800" spc="-19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computers.</a:t>
            </a:r>
            <a:endParaRPr sz="2800">
              <a:latin typeface="Trebuchet MS"/>
              <a:cs typeface="Trebuchet MS"/>
            </a:endParaRPr>
          </a:p>
          <a:p>
            <a:pPr marL="240029" marR="6350" indent="-227965" algn="just">
              <a:lnSpc>
                <a:spcPts val="2690"/>
              </a:lnSpc>
              <a:spcBef>
                <a:spcPts val="97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90" dirty="0">
                <a:latin typeface="Trebuchet MS"/>
                <a:cs typeface="Trebuchet MS"/>
              </a:rPr>
              <a:t>Hubs</a:t>
            </a:r>
            <a:r>
              <a:rPr sz="2800" spc="27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or</a:t>
            </a:r>
            <a:r>
              <a:rPr sz="2800" spc="30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Switches</a:t>
            </a:r>
            <a:r>
              <a:rPr sz="2800" spc="28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are</a:t>
            </a:r>
            <a:r>
              <a:rPr sz="2800" spc="27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mainly</a:t>
            </a:r>
            <a:r>
              <a:rPr sz="2800" spc="27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used</a:t>
            </a:r>
            <a:r>
              <a:rPr sz="2800" spc="285" dirty="0">
                <a:latin typeface="Trebuchet MS"/>
                <a:cs typeface="Trebuchet MS"/>
              </a:rPr>
              <a:t> </a:t>
            </a:r>
            <a:r>
              <a:rPr sz="2800" spc="110" dirty="0">
                <a:latin typeface="Trebuchet MS"/>
                <a:cs typeface="Trebuchet MS"/>
              </a:rPr>
              <a:t>as</a:t>
            </a:r>
            <a:r>
              <a:rPr sz="2800" spc="28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connection</a:t>
            </a:r>
            <a:r>
              <a:rPr sz="2800" spc="27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devices</a:t>
            </a:r>
            <a:r>
              <a:rPr sz="2800" spc="28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in</a:t>
            </a:r>
            <a:r>
              <a:rPr sz="2800" spc="270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a 	</a:t>
            </a:r>
            <a:r>
              <a:rPr sz="2800" spc="-10" dirty="0">
                <a:latin typeface="Trebuchet MS"/>
                <a:cs typeface="Trebuchet MS"/>
              </a:rPr>
              <a:t>physical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star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topology.</a:t>
            </a:r>
            <a:endParaRPr sz="2800">
              <a:latin typeface="Trebuchet MS"/>
              <a:cs typeface="Trebuchet MS"/>
            </a:endParaRPr>
          </a:p>
          <a:p>
            <a:pPr marL="240029" marR="5080" indent="-227965" algn="just">
              <a:lnSpc>
                <a:spcPts val="2690"/>
              </a:lnSpc>
              <a:spcBef>
                <a:spcPts val="99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rebuchet MS"/>
                <a:cs typeface="Trebuchet MS"/>
              </a:rPr>
              <a:t>Star</a:t>
            </a:r>
            <a:r>
              <a:rPr sz="2800" spc="325" dirty="0">
                <a:latin typeface="Trebuchet MS"/>
                <a:cs typeface="Trebuchet MS"/>
              </a:rPr>
              <a:t>  </a:t>
            </a:r>
            <a:r>
              <a:rPr sz="2800" dirty="0">
                <a:latin typeface="Trebuchet MS"/>
                <a:cs typeface="Trebuchet MS"/>
              </a:rPr>
              <a:t>topology</a:t>
            </a:r>
            <a:r>
              <a:rPr sz="2800" spc="330" dirty="0">
                <a:latin typeface="Trebuchet MS"/>
                <a:cs typeface="Trebuchet MS"/>
              </a:rPr>
              <a:t> 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325" dirty="0">
                <a:latin typeface="Trebuchet MS"/>
                <a:cs typeface="Trebuchet MS"/>
              </a:rPr>
              <a:t>  </a:t>
            </a:r>
            <a:r>
              <a:rPr sz="2800" dirty="0">
                <a:latin typeface="Trebuchet MS"/>
                <a:cs typeface="Trebuchet MS"/>
              </a:rPr>
              <a:t>the</a:t>
            </a:r>
            <a:r>
              <a:rPr sz="2800" spc="325" dirty="0">
                <a:latin typeface="Trebuchet MS"/>
                <a:cs typeface="Trebuchet MS"/>
              </a:rPr>
              <a:t>  </a:t>
            </a:r>
            <a:r>
              <a:rPr sz="2800" dirty="0">
                <a:latin typeface="Trebuchet MS"/>
                <a:cs typeface="Trebuchet MS"/>
              </a:rPr>
              <a:t>most</a:t>
            </a:r>
            <a:r>
              <a:rPr sz="2800" spc="325" dirty="0">
                <a:latin typeface="Trebuchet MS"/>
                <a:cs typeface="Trebuchet MS"/>
              </a:rPr>
              <a:t>  </a:t>
            </a:r>
            <a:r>
              <a:rPr sz="2800" dirty="0">
                <a:latin typeface="Trebuchet MS"/>
                <a:cs typeface="Trebuchet MS"/>
              </a:rPr>
              <a:t>popular</a:t>
            </a:r>
            <a:r>
              <a:rPr sz="2800" spc="330" dirty="0">
                <a:latin typeface="Trebuchet MS"/>
                <a:cs typeface="Trebuchet MS"/>
              </a:rPr>
              <a:t>  </a:t>
            </a:r>
            <a:r>
              <a:rPr sz="2800" dirty="0">
                <a:latin typeface="Trebuchet MS"/>
                <a:cs typeface="Trebuchet MS"/>
              </a:rPr>
              <a:t>topology</a:t>
            </a:r>
            <a:r>
              <a:rPr sz="2800" spc="330" dirty="0">
                <a:latin typeface="Trebuchet MS"/>
                <a:cs typeface="Trebuchet MS"/>
              </a:rPr>
              <a:t>  </a:t>
            </a:r>
            <a:r>
              <a:rPr sz="2800" dirty="0">
                <a:latin typeface="Trebuchet MS"/>
                <a:cs typeface="Trebuchet MS"/>
              </a:rPr>
              <a:t>in</a:t>
            </a:r>
            <a:r>
              <a:rPr sz="2800" spc="315" dirty="0">
                <a:latin typeface="Trebuchet MS"/>
                <a:cs typeface="Trebuchet MS"/>
              </a:rPr>
              <a:t>  </a:t>
            </a:r>
            <a:r>
              <a:rPr sz="2800" spc="-10" dirty="0">
                <a:latin typeface="Trebuchet MS"/>
                <a:cs typeface="Trebuchet MS"/>
              </a:rPr>
              <a:t>network 	implementation.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80" dirty="0"/>
              <a:t>Advantages</a:t>
            </a:r>
            <a:r>
              <a:rPr spc="-459" dirty="0"/>
              <a:t> </a:t>
            </a:r>
            <a:r>
              <a:rPr spc="-265" dirty="0"/>
              <a:t>of</a:t>
            </a:r>
            <a:r>
              <a:rPr spc="-440" dirty="0"/>
              <a:t> </a:t>
            </a:r>
            <a:r>
              <a:rPr spc="-185" dirty="0"/>
              <a:t>Star</a:t>
            </a:r>
            <a:r>
              <a:rPr spc="-440" dirty="0"/>
              <a:t> </a:t>
            </a:r>
            <a:r>
              <a:rPr spc="-285" dirty="0"/>
              <a:t>Topology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6511" y="2243454"/>
            <a:ext cx="2514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0" dirty="0">
                <a:latin typeface="Trebuchet MS"/>
                <a:cs typeface="Trebuchet MS"/>
              </a:rPr>
              <a:t>Efficient</a:t>
            </a:r>
            <a:r>
              <a:rPr sz="1800" spc="-95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troubleshooting: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18383" y="1788795"/>
            <a:ext cx="555625" cy="4824095"/>
          </a:xfrm>
          <a:custGeom>
            <a:avLst/>
            <a:gdLst/>
            <a:ahLst/>
            <a:cxnLst/>
            <a:rect l="l" t="t" r="r" b="b"/>
            <a:pathLst>
              <a:path w="555625" h="4824095">
                <a:moveTo>
                  <a:pt x="555497" y="1265935"/>
                </a:moveTo>
                <a:lnTo>
                  <a:pt x="499516" y="1261988"/>
                </a:lnTo>
                <a:lnTo>
                  <a:pt x="447377" y="1250664"/>
                </a:lnTo>
                <a:lnTo>
                  <a:pt x="400197" y="1232744"/>
                </a:lnTo>
                <a:lnTo>
                  <a:pt x="359092" y="1209008"/>
                </a:lnTo>
                <a:lnTo>
                  <a:pt x="325179" y="1180235"/>
                </a:lnTo>
                <a:lnTo>
                  <a:pt x="299573" y="1147206"/>
                </a:lnTo>
                <a:lnTo>
                  <a:pt x="283391" y="1110701"/>
                </a:lnTo>
                <a:lnTo>
                  <a:pt x="277749" y="1071499"/>
                </a:lnTo>
                <a:lnTo>
                  <a:pt x="277749" y="827404"/>
                </a:lnTo>
                <a:lnTo>
                  <a:pt x="272106" y="788202"/>
                </a:lnTo>
                <a:lnTo>
                  <a:pt x="255924" y="751697"/>
                </a:lnTo>
                <a:lnTo>
                  <a:pt x="230318" y="718668"/>
                </a:lnTo>
                <a:lnTo>
                  <a:pt x="196405" y="689895"/>
                </a:lnTo>
                <a:lnTo>
                  <a:pt x="155300" y="666159"/>
                </a:lnTo>
                <a:lnTo>
                  <a:pt x="108120" y="648239"/>
                </a:lnTo>
                <a:lnTo>
                  <a:pt x="55981" y="636915"/>
                </a:lnTo>
                <a:lnTo>
                  <a:pt x="0" y="632967"/>
                </a:lnTo>
                <a:lnTo>
                  <a:pt x="55981" y="629020"/>
                </a:lnTo>
                <a:lnTo>
                  <a:pt x="108120" y="617696"/>
                </a:lnTo>
                <a:lnTo>
                  <a:pt x="155300" y="599776"/>
                </a:lnTo>
                <a:lnTo>
                  <a:pt x="196405" y="576040"/>
                </a:lnTo>
                <a:lnTo>
                  <a:pt x="230318" y="547267"/>
                </a:lnTo>
                <a:lnTo>
                  <a:pt x="255924" y="514238"/>
                </a:lnTo>
                <a:lnTo>
                  <a:pt x="272106" y="477733"/>
                </a:lnTo>
                <a:lnTo>
                  <a:pt x="277749" y="438530"/>
                </a:lnTo>
                <a:lnTo>
                  <a:pt x="277749" y="194437"/>
                </a:lnTo>
                <a:lnTo>
                  <a:pt x="283391" y="155234"/>
                </a:lnTo>
                <a:lnTo>
                  <a:pt x="299573" y="118729"/>
                </a:lnTo>
                <a:lnTo>
                  <a:pt x="325179" y="85700"/>
                </a:lnTo>
                <a:lnTo>
                  <a:pt x="359092" y="56927"/>
                </a:lnTo>
                <a:lnTo>
                  <a:pt x="400197" y="33191"/>
                </a:lnTo>
                <a:lnTo>
                  <a:pt x="447377" y="15271"/>
                </a:lnTo>
                <a:lnTo>
                  <a:pt x="499516" y="3947"/>
                </a:lnTo>
                <a:lnTo>
                  <a:pt x="555497" y="0"/>
                </a:lnTo>
              </a:path>
              <a:path w="555625" h="4824095">
                <a:moveTo>
                  <a:pt x="555497" y="2087498"/>
                </a:moveTo>
                <a:lnTo>
                  <a:pt x="499516" y="2083551"/>
                </a:lnTo>
                <a:lnTo>
                  <a:pt x="447377" y="2072227"/>
                </a:lnTo>
                <a:lnTo>
                  <a:pt x="400197" y="2054307"/>
                </a:lnTo>
                <a:lnTo>
                  <a:pt x="359092" y="2030571"/>
                </a:lnTo>
                <a:lnTo>
                  <a:pt x="325179" y="2001798"/>
                </a:lnTo>
                <a:lnTo>
                  <a:pt x="299573" y="1968769"/>
                </a:lnTo>
                <a:lnTo>
                  <a:pt x="283391" y="1932264"/>
                </a:lnTo>
                <a:lnTo>
                  <a:pt x="277749" y="1893061"/>
                </a:lnTo>
                <a:lnTo>
                  <a:pt x="277749" y="1879218"/>
                </a:lnTo>
                <a:lnTo>
                  <a:pt x="272106" y="1840016"/>
                </a:lnTo>
                <a:lnTo>
                  <a:pt x="255924" y="1803511"/>
                </a:lnTo>
                <a:lnTo>
                  <a:pt x="230318" y="1770482"/>
                </a:lnTo>
                <a:lnTo>
                  <a:pt x="196405" y="1741709"/>
                </a:lnTo>
                <a:lnTo>
                  <a:pt x="155300" y="1717973"/>
                </a:lnTo>
                <a:lnTo>
                  <a:pt x="108120" y="1700053"/>
                </a:lnTo>
                <a:lnTo>
                  <a:pt x="55981" y="1688729"/>
                </a:lnTo>
                <a:lnTo>
                  <a:pt x="0" y="1684781"/>
                </a:lnTo>
                <a:lnTo>
                  <a:pt x="55981" y="1680828"/>
                </a:lnTo>
                <a:lnTo>
                  <a:pt x="108120" y="1669492"/>
                </a:lnTo>
                <a:lnTo>
                  <a:pt x="155300" y="1651556"/>
                </a:lnTo>
                <a:lnTo>
                  <a:pt x="196405" y="1627806"/>
                </a:lnTo>
                <a:lnTo>
                  <a:pt x="230318" y="1599025"/>
                </a:lnTo>
                <a:lnTo>
                  <a:pt x="255924" y="1565999"/>
                </a:lnTo>
                <a:lnTo>
                  <a:pt x="272106" y="1529510"/>
                </a:lnTo>
                <a:lnTo>
                  <a:pt x="277749" y="1490344"/>
                </a:lnTo>
                <a:lnTo>
                  <a:pt x="277749" y="1476375"/>
                </a:lnTo>
                <a:lnTo>
                  <a:pt x="283391" y="1437172"/>
                </a:lnTo>
                <a:lnTo>
                  <a:pt x="299573" y="1400667"/>
                </a:lnTo>
                <a:lnTo>
                  <a:pt x="325179" y="1367638"/>
                </a:lnTo>
                <a:lnTo>
                  <a:pt x="359092" y="1338865"/>
                </a:lnTo>
                <a:lnTo>
                  <a:pt x="400197" y="1315129"/>
                </a:lnTo>
                <a:lnTo>
                  <a:pt x="447377" y="1297209"/>
                </a:lnTo>
                <a:lnTo>
                  <a:pt x="499516" y="1285885"/>
                </a:lnTo>
                <a:lnTo>
                  <a:pt x="555497" y="1281938"/>
                </a:lnTo>
              </a:path>
              <a:path w="555625" h="4824095">
                <a:moveTo>
                  <a:pt x="555497" y="2678937"/>
                </a:moveTo>
                <a:lnTo>
                  <a:pt x="491806" y="2675139"/>
                </a:lnTo>
                <a:lnTo>
                  <a:pt x="433342" y="2664318"/>
                </a:lnTo>
                <a:lnTo>
                  <a:pt x="381771" y="2647337"/>
                </a:lnTo>
                <a:lnTo>
                  <a:pt x="338761" y="2625057"/>
                </a:lnTo>
                <a:lnTo>
                  <a:pt x="305976" y="2598341"/>
                </a:lnTo>
                <a:lnTo>
                  <a:pt x="277749" y="2535047"/>
                </a:lnTo>
                <a:lnTo>
                  <a:pt x="249521" y="2471833"/>
                </a:lnTo>
                <a:lnTo>
                  <a:pt x="216736" y="2445139"/>
                </a:lnTo>
                <a:lnTo>
                  <a:pt x="173726" y="2422873"/>
                </a:lnTo>
                <a:lnTo>
                  <a:pt x="122155" y="2405899"/>
                </a:lnTo>
                <a:lnTo>
                  <a:pt x="63691" y="2395081"/>
                </a:lnTo>
                <a:lnTo>
                  <a:pt x="0" y="2391282"/>
                </a:lnTo>
                <a:lnTo>
                  <a:pt x="63691" y="2387477"/>
                </a:lnTo>
                <a:lnTo>
                  <a:pt x="122155" y="2376641"/>
                </a:lnTo>
                <a:lnTo>
                  <a:pt x="173726" y="2359642"/>
                </a:lnTo>
                <a:lnTo>
                  <a:pt x="216736" y="2337349"/>
                </a:lnTo>
                <a:lnTo>
                  <a:pt x="249521" y="2310630"/>
                </a:lnTo>
                <a:lnTo>
                  <a:pt x="277749" y="2247391"/>
                </a:lnTo>
                <a:lnTo>
                  <a:pt x="305976" y="2184097"/>
                </a:lnTo>
                <a:lnTo>
                  <a:pt x="338761" y="2157381"/>
                </a:lnTo>
                <a:lnTo>
                  <a:pt x="381771" y="2135101"/>
                </a:lnTo>
                <a:lnTo>
                  <a:pt x="433342" y="2118120"/>
                </a:lnTo>
                <a:lnTo>
                  <a:pt x="491806" y="2107299"/>
                </a:lnTo>
                <a:lnTo>
                  <a:pt x="555497" y="2103500"/>
                </a:lnTo>
              </a:path>
              <a:path w="555625" h="4824095">
                <a:moveTo>
                  <a:pt x="555497" y="3049778"/>
                </a:moveTo>
                <a:lnTo>
                  <a:pt x="491806" y="3047433"/>
                </a:lnTo>
                <a:lnTo>
                  <a:pt x="433342" y="3040753"/>
                </a:lnTo>
                <a:lnTo>
                  <a:pt x="381771" y="3030273"/>
                </a:lnTo>
                <a:lnTo>
                  <a:pt x="338761" y="3016525"/>
                </a:lnTo>
                <a:lnTo>
                  <a:pt x="285083" y="2981357"/>
                </a:lnTo>
                <a:lnTo>
                  <a:pt x="277749" y="2961004"/>
                </a:lnTo>
                <a:lnTo>
                  <a:pt x="249521" y="2922048"/>
                </a:lnTo>
                <a:lnTo>
                  <a:pt x="173726" y="2891853"/>
                </a:lnTo>
                <a:lnTo>
                  <a:pt x="122155" y="2881380"/>
                </a:lnTo>
                <a:lnTo>
                  <a:pt x="63691" y="2874703"/>
                </a:lnTo>
                <a:lnTo>
                  <a:pt x="0" y="2872359"/>
                </a:lnTo>
                <a:lnTo>
                  <a:pt x="63691" y="2870014"/>
                </a:lnTo>
                <a:lnTo>
                  <a:pt x="122155" y="2863334"/>
                </a:lnTo>
                <a:lnTo>
                  <a:pt x="173726" y="2852854"/>
                </a:lnTo>
                <a:lnTo>
                  <a:pt x="216736" y="2839106"/>
                </a:lnTo>
                <a:lnTo>
                  <a:pt x="270414" y="2803938"/>
                </a:lnTo>
                <a:lnTo>
                  <a:pt x="277749" y="2783585"/>
                </a:lnTo>
                <a:lnTo>
                  <a:pt x="305976" y="2744573"/>
                </a:lnTo>
                <a:lnTo>
                  <a:pt x="381771" y="2714394"/>
                </a:lnTo>
                <a:lnTo>
                  <a:pt x="433342" y="2703938"/>
                </a:lnTo>
                <a:lnTo>
                  <a:pt x="491806" y="2697277"/>
                </a:lnTo>
                <a:lnTo>
                  <a:pt x="555497" y="2694940"/>
                </a:lnTo>
              </a:path>
              <a:path w="555625" h="4824095">
                <a:moveTo>
                  <a:pt x="555497" y="3641216"/>
                </a:moveTo>
                <a:lnTo>
                  <a:pt x="491806" y="3637411"/>
                </a:lnTo>
                <a:lnTo>
                  <a:pt x="433342" y="3626575"/>
                </a:lnTo>
                <a:lnTo>
                  <a:pt x="381771" y="3609576"/>
                </a:lnTo>
                <a:lnTo>
                  <a:pt x="338761" y="3587283"/>
                </a:lnTo>
                <a:lnTo>
                  <a:pt x="305976" y="3560564"/>
                </a:lnTo>
                <a:lnTo>
                  <a:pt x="277749" y="3497326"/>
                </a:lnTo>
                <a:lnTo>
                  <a:pt x="249521" y="3434031"/>
                </a:lnTo>
                <a:lnTo>
                  <a:pt x="216736" y="3407315"/>
                </a:lnTo>
                <a:lnTo>
                  <a:pt x="173726" y="3385035"/>
                </a:lnTo>
                <a:lnTo>
                  <a:pt x="122155" y="3368054"/>
                </a:lnTo>
                <a:lnTo>
                  <a:pt x="63691" y="3357233"/>
                </a:lnTo>
                <a:lnTo>
                  <a:pt x="0" y="3353434"/>
                </a:lnTo>
                <a:lnTo>
                  <a:pt x="63691" y="3349636"/>
                </a:lnTo>
                <a:lnTo>
                  <a:pt x="122155" y="3338815"/>
                </a:lnTo>
                <a:lnTo>
                  <a:pt x="173726" y="3321834"/>
                </a:lnTo>
                <a:lnTo>
                  <a:pt x="216736" y="3299554"/>
                </a:lnTo>
                <a:lnTo>
                  <a:pt x="249521" y="3272838"/>
                </a:lnTo>
                <a:lnTo>
                  <a:pt x="277749" y="3209543"/>
                </a:lnTo>
                <a:lnTo>
                  <a:pt x="305976" y="3146305"/>
                </a:lnTo>
                <a:lnTo>
                  <a:pt x="338761" y="3119586"/>
                </a:lnTo>
                <a:lnTo>
                  <a:pt x="381771" y="3097293"/>
                </a:lnTo>
                <a:lnTo>
                  <a:pt x="433342" y="3080294"/>
                </a:lnTo>
                <a:lnTo>
                  <a:pt x="491806" y="3069458"/>
                </a:lnTo>
                <a:lnTo>
                  <a:pt x="555497" y="3065653"/>
                </a:lnTo>
              </a:path>
              <a:path w="555625" h="4824095">
                <a:moveTo>
                  <a:pt x="555497" y="4232554"/>
                </a:moveTo>
                <a:lnTo>
                  <a:pt x="491806" y="4228755"/>
                </a:lnTo>
                <a:lnTo>
                  <a:pt x="433342" y="4217933"/>
                </a:lnTo>
                <a:lnTo>
                  <a:pt x="381771" y="4200951"/>
                </a:lnTo>
                <a:lnTo>
                  <a:pt x="338761" y="4178673"/>
                </a:lnTo>
                <a:lnTo>
                  <a:pt x="305976" y="4151961"/>
                </a:lnTo>
                <a:lnTo>
                  <a:pt x="277749" y="4088688"/>
                </a:lnTo>
                <a:lnTo>
                  <a:pt x="249521" y="4025424"/>
                </a:lnTo>
                <a:lnTo>
                  <a:pt x="216736" y="3998714"/>
                </a:lnTo>
                <a:lnTo>
                  <a:pt x="173726" y="3976437"/>
                </a:lnTo>
                <a:lnTo>
                  <a:pt x="122155" y="3959456"/>
                </a:lnTo>
                <a:lnTo>
                  <a:pt x="63691" y="3948634"/>
                </a:lnTo>
                <a:lnTo>
                  <a:pt x="0" y="3944835"/>
                </a:lnTo>
                <a:lnTo>
                  <a:pt x="63691" y="3941036"/>
                </a:lnTo>
                <a:lnTo>
                  <a:pt x="122155" y="3930212"/>
                </a:lnTo>
                <a:lnTo>
                  <a:pt x="173726" y="3913229"/>
                </a:lnTo>
                <a:lnTo>
                  <a:pt x="216736" y="3890949"/>
                </a:lnTo>
                <a:lnTo>
                  <a:pt x="249521" y="3864237"/>
                </a:lnTo>
                <a:lnTo>
                  <a:pt x="277749" y="3800970"/>
                </a:lnTo>
                <a:lnTo>
                  <a:pt x="305976" y="3737684"/>
                </a:lnTo>
                <a:lnTo>
                  <a:pt x="338761" y="3710970"/>
                </a:lnTo>
                <a:lnTo>
                  <a:pt x="381771" y="3688691"/>
                </a:lnTo>
                <a:lnTo>
                  <a:pt x="433342" y="3671711"/>
                </a:lnTo>
                <a:lnTo>
                  <a:pt x="491806" y="3660890"/>
                </a:lnTo>
                <a:lnTo>
                  <a:pt x="555497" y="3657091"/>
                </a:lnTo>
              </a:path>
              <a:path w="555625" h="4824095">
                <a:moveTo>
                  <a:pt x="555497" y="4823955"/>
                </a:moveTo>
                <a:lnTo>
                  <a:pt x="491806" y="4820156"/>
                </a:lnTo>
                <a:lnTo>
                  <a:pt x="433342" y="4809334"/>
                </a:lnTo>
                <a:lnTo>
                  <a:pt x="381771" y="4792352"/>
                </a:lnTo>
                <a:lnTo>
                  <a:pt x="338761" y="4770074"/>
                </a:lnTo>
                <a:lnTo>
                  <a:pt x="305976" y="4743362"/>
                </a:lnTo>
                <a:lnTo>
                  <a:pt x="277749" y="4680089"/>
                </a:lnTo>
                <a:lnTo>
                  <a:pt x="249521" y="4616822"/>
                </a:lnTo>
                <a:lnTo>
                  <a:pt x="216736" y="4590110"/>
                </a:lnTo>
                <a:lnTo>
                  <a:pt x="173726" y="4567830"/>
                </a:lnTo>
                <a:lnTo>
                  <a:pt x="122155" y="4550847"/>
                </a:lnTo>
                <a:lnTo>
                  <a:pt x="63691" y="4540023"/>
                </a:lnTo>
                <a:lnTo>
                  <a:pt x="0" y="4536224"/>
                </a:lnTo>
                <a:lnTo>
                  <a:pt x="63691" y="4532425"/>
                </a:lnTo>
                <a:lnTo>
                  <a:pt x="122155" y="4521603"/>
                </a:lnTo>
                <a:lnTo>
                  <a:pt x="173726" y="4504622"/>
                </a:lnTo>
                <a:lnTo>
                  <a:pt x="216736" y="4482345"/>
                </a:lnTo>
                <a:lnTo>
                  <a:pt x="249521" y="4455635"/>
                </a:lnTo>
                <a:lnTo>
                  <a:pt x="277749" y="4392371"/>
                </a:lnTo>
                <a:lnTo>
                  <a:pt x="305976" y="4329098"/>
                </a:lnTo>
                <a:lnTo>
                  <a:pt x="338761" y="4302386"/>
                </a:lnTo>
                <a:lnTo>
                  <a:pt x="381771" y="4280108"/>
                </a:lnTo>
                <a:lnTo>
                  <a:pt x="433342" y="4263126"/>
                </a:lnTo>
                <a:lnTo>
                  <a:pt x="491806" y="4252304"/>
                </a:lnTo>
                <a:lnTo>
                  <a:pt x="555497" y="4248505"/>
                </a:lnTo>
              </a:path>
            </a:pathLst>
          </a:custGeom>
          <a:ln w="19050">
            <a:solidFill>
              <a:srgbClr val="155F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91940" y="1784604"/>
            <a:ext cx="7561325" cy="127177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152391" y="1741170"/>
            <a:ext cx="7287895" cy="54991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82880" marR="5080" indent="-170815">
              <a:lnSpc>
                <a:spcPts val="1970"/>
              </a:lnSpc>
              <a:spcBef>
                <a:spcPts val="325"/>
              </a:spcBef>
              <a:buChar char="•"/>
              <a:tabLst>
                <a:tab pos="184785" algn="l"/>
              </a:tabLst>
            </a:pPr>
            <a:r>
              <a:rPr sz="1800" spc="-45" dirty="0">
                <a:latin typeface="Trebuchet MS"/>
                <a:cs typeface="Trebuchet MS"/>
              </a:rPr>
              <a:t>Troubleshooting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is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quite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efficient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in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star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topology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spc="70" dirty="0">
                <a:latin typeface="Trebuchet MS"/>
                <a:cs typeface="Trebuchet MS"/>
              </a:rPr>
              <a:t>as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compared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to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spc="25" dirty="0">
                <a:latin typeface="Trebuchet MS"/>
                <a:cs typeface="Trebuchet MS"/>
              </a:rPr>
              <a:t>bus 	</a:t>
            </a:r>
            <a:r>
              <a:rPr sz="1800" spc="-65" dirty="0">
                <a:latin typeface="Trebuchet MS"/>
                <a:cs typeface="Trebuchet MS"/>
              </a:rPr>
              <a:t>topology.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In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50" dirty="0">
                <a:latin typeface="Trebuchet MS"/>
                <a:cs typeface="Trebuchet MS"/>
              </a:rPr>
              <a:t>bus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topology,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manager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has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to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inspect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kilometers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of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24603" y="2242261"/>
            <a:ext cx="7132320" cy="80327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>
              <a:lnSpc>
                <a:spcPts val="1980"/>
              </a:lnSpc>
              <a:spcBef>
                <a:spcPts val="315"/>
              </a:spcBef>
            </a:pPr>
            <a:r>
              <a:rPr sz="1800" spc="-55" dirty="0">
                <a:latin typeface="Trebuchet MS"/>
                <a:cs typeface="Trebuchet MS"/>
              </a:rPr>
              <a:t>cable.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In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star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topology,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all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stations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are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connected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to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centralized </a:t>
            </a:r>
            <a:r>
              <a:rPr sz="1800" spc="-70" dirty="0">
                <a:latin typeface="Trebuchet MS"/>
                <a:cs typeface="Trebuchet MS"/>
              </a:rPr>
              <a:t>network.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Therefore,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network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administrator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has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to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go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to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single </a:t>
            </a:r>
            <a:r>
              <a:rPr sz="1800" spc="-40" dirty="0">
                <a:latin typeface="Trebuchet MS"/>
                <a:cs typeface="Trebuchet MS"/>
              </a:rPr>
              <a:t>station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to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troubleshoot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problem.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28063" y="3295650"/>
            <a:ext cx="167576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latin typeface="Trebuchet MS"/>
                <a:cs typeface="Trebuchet MS"/>
              </a:rPr>
              <a:t>Network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control: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091940" y="3066275"/>
            <a:ext cx="7561580" cy="3549015"/>
            <a:chOff x="4091940" y="3066275"/>
            <a:chExt cx="7561580" cy="354901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91940" y="3066275"/>
              <a:ext cx="7561325" cy="81154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91940" y="3887723"/>
              <a:ext cx="7561325" cy="58140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91940" y="4480559"/>
              <a:ext cx="7561325" cy="35890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91940" y="4850879"/>
              <a:ext cx="7561325" cy="57989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91940" y="5442203"/>
              <a:ext cx="7561325" cy="58140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091940" y="6033516"/>
              <a:ext cx="7561325" cy="581431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4152391" y="3044444"/>
            <a:ext cx="7346315" cy="352742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82880" marR="94615" indent="-170815">
              <a:lnSpc>
                <a:spcPct val="91400"/>
              </a:lnSpc>
              <a:spcBef>
                <a:spcPts val="285"/>
              </a:spcBef>
              <a:buChar char="•"/>
              <a:tabLst>
                <a:tab pos="184785" algn="l"/>
              </a:tabLst>
            </a:pPr>
            <a:r>
              <a:rPr sz="1800" spc="-10" dirty="0">
                <a:latin typeface="Trebuchet MS"/>
                <a:cs typeface="Trebuchet MS"/>
              </a:rPr>
              <a:t>Complex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network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control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features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can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be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easily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implemented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in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star 	</a:t>
            </a:r>
            <a:r>
              <a:rPr sz="1800" spc="-65" dirty="0">
                <a:latin typeface="Trebuchet MS"/>
                <a:cs typeface="Trebuchet MS"/>
              </a:rPr>
              <a:t>topology.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Any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changes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made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in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star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topology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are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automatically 	accommodated.</a:t>
            </a:r>
            <a:endParaRPr sz="1800">
              <a:latin typeface="Trebuchet MS"/>
              <a:cs typeface="Trebuchet MS"/>
            </a:endParaRPr>
          </a:p>
          <a:p>
            <a:pPr marL="182880" marR="673735" indent="-170815">
              <a:lnSpc>
                <a:spcPts val="1970"/>
              </a:lnSpc>
              <a:spcBef>
                <a:spcPts val="665"/>
              </a:spcBef>
              <a:buChar char="•"/>
              <a:tabLst>
                <a:tab pos="184785" algn="l"/>
              </a:tabLst>
            </a:pPr>
            <a:r>
              <a:rPr sz="1800" spc="70" dirty="0">
                <a:latin typeface="Trebuchet MS"/>
                <a:cs typeface="Trebuchet MS"/>
              </a:rPr>
              <a:t>As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each</a:t>
            </a:r>
            <a:r>
              <a:rPr sz="1800" spc="-160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station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is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connected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to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central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hub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with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its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own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cable, 	</a:t>
            </a:r>
            <a:r>
              <a:rPr sz="1800" spc="-75" dirty="0">
                <a:latin typeface="Trebuchet MS"/>
                <a:cs typeface="Trebuchet MS"/>
              </a:rPr>
              <a:t>therefore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failure</a:t>
            </a:r>
            <a:r>
              <a:rPr sz="1800" spc="-160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in</a:t>
            </a:r>
            <a:r>
              <a:rPr sz="1800" spc="-16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one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cable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will</a:t>
            </a:r>
            <a:r>
              <a:rPr sz="1800" spc="-160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not</a:t>
            </a:r>
            <a:r>
              <a:rPr sz="1800" spc="-160" dirty="0"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affect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60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entire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network.</a:t>
            </a:r>
            <a:endParaRPr sz="1800">
              <a:latin typeface="Trebuchet MS"/>
              <a:cs typeface="Trebuchet MS"/>
            </a:endParaRPr>
          </a:p>
          <a:p>
            <a:pPr marL="183515" indent="-170815">
              <a:lnSpc>
                <a:spcPct val="100000"/>
              </a:lnSpc>
              <a:spcBef>
                <a:spcPts val="615"/>
              </a:spcBef>
              <a:buChar char="•"/>
              <a:tabLst>
                <a:tab pos="183515" algn="l"/>
              </a:tabLst>
            </a:pPr>
            <a:r>
              <a:rPr sz="1800" spc="-35" dirty="0">
                <a:latin typeface="Trebuchet MS"/>
                <a:cs typeface="Trebuchet MS"/>
              </a:rPr>
              <a:t>Star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topology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is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familiar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technology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70" dirty="0">
                <a:latin typeface="Trebuchet MS"/>
                <a:cs typeface="Trebuchet MS"/>
              </a:rPr>
              <a:t>as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its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tools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are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cost-effective.</a:t>
            </a:r>
            <a:endParaRPr sz="1800">
              <a:latin typeface="Trebuchet MS"/>
              <a:cs typeface="Trebuchet MS"/>
            </a:endParaRPr>
          </a:p>
          <a:p>
            <a:pPr marL="183515" indent="-170815">
              <a:lnSpc>
                <a:spcPts val="2065"/>
              </a:lnSpc>
              <a:spcBef>
                <a:spcPts val="640"/>
              </a:spcBef>
              <a:buChar char="•"/>
              <a:tabLst>
                <a:tab pos="183515" algn="l"/>
              </a:tabLst>
            </a:pPr>
            <a:r>
              <a:rPr sz="1800" spc="-95" dirty="0">
                <a:latin typeface="Trebuchet MS"/>
                <a:cs typeface="Trebuchet MS"/>
              </a:rPr>
              <a:t>It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is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easily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expandable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75" dirty="0">
                <a:latin typeface="Trebuchet MS"/>
                <a:cs typeface="Trebuchet MS"/>
              </a:rPr>
              <a:t>as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new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stations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can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be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added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to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open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ports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on</a:t>
            </a:r>
            <a:endParaRPr sz="1800">
              <a:latin typeface="Trebuchet MS"/>
              <a:cs typeface="Trebuchet MS"/>
            </a:endParaRPr>
          </a:p>
          <a:p>
            <a:pPr marL="184785">
              <a:lnSpc>
                <a:spcPts val="2065"/>
              </a:lnSpc>
            </a:pP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hub.</a:t>
            </a:r>
            <a:endParaRPr sz="1800">
              <a:latin typeface="Trebuchet MS"/>
              <a:cs typeface="Trebuchet MS"/>
            </a:endParaRPr>
          </a:p>
          <a:p>
            <a:pPr marL="182880" marR="210820" indent="-170815">
              <a:lnSpc>
                <a:spcPts val="1970"/>
              </a:lnSpc>
              <a:spcBef>
                <a:spcPts val="750"/>
              </a:spcBef>
              <a:buChar char="•"/>
              <a:tabLst>
                <a:tab pos="184785" algn="l"/>
              </a:tabLst>
            </a:pPr>
            <a:r>
              <a:rPr sz="1800" spc="-35" dirty="0">
                <a:latin typeface="Trebuchet MS"/>
                <a:cs typeface="Trebuchet MS"/>
              </a:rPr>
              <a:t>Star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topology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networks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are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cost-</a:t>
            </a:r>
            <a:r>
              <a:rPr sz="1800" spc="-85" dirty="0">
                <a:latin typeface="Trebuchet MS"/>
                <a:cs typeface="Trebuchet MS"/>
              </a:rPr>
              <a:t>effective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75" dirty="0">
                <a:latin typeface="Trebuchet MS"/>
                <a:cs typeface="Trebuchet MS"/>
              </a:rPr>
              <a:t>as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it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65" dirty="0">
                <a:latin typeface="Trebuchet MS"/>
                <a:cs typeface="Trebuchet MS"/>
              </a:rPr>
              <a:t>uses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inexpensive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coaxial 	cable.</a:t>
            </a:r>
            <a:endParaRPr sz="1800">
              <a:latin typeface="Trebuchet MS"/>
              <a:cs typeface="Trebuchet MS"/>
            </a:endParaRPr>
          </a:p>
          <a:p>
            <a:pPr marL="182880" marR="71755" indent="-170815">
              <a:lnSpc>
                <a:spcPts val="1970"/>
              </a:lnSpc>
              <a:spcBef>
                <a:spcPts val="720"/>
              </a:spcBef>
              <a:buChar char="•"/>
              <a:tabLst>
                <a:tab pos="184785" algn="l"/>
              </a:tabLst>
            </a:pPr>
            <a:r>
              <a:rPr sz="1800" spc="-95" dirty="0">
                <a:latin typeface="Trebuchet MS"/>
                <a:cs typeface="Trebuchet MS"/>
              </a:rPr>
              <a:t>It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supports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bandwidth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of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approx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100Mbps.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Ethernet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100BaseT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is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one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of 	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most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popular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Star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topology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networks.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71143" y="4002151"/>
            <a:ext cx="2035175" cy="1262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7620" algn="r">
              <a:lnSpc>
                <a:spcPct val="100000"/>
              </a:lnSpc>
              <a:spcBef>
                <a:spcPts val="100"/>
              </a:spcBef>
            </a:pPr>
            <a:r>
              <a:rPr sz="1800" spc="-60" dirty="0">
                <a:latin typeface="Trebuchet MS"/>
                <a:cs typeface="Trebuchet MS"/>
              </a:rPr>
              <a:t>Limited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failure:</a:t>
            </a:r>
            <a:endParaRPr sz="1800">
              <a:latin typeface="Trebuchet MS"/>
              <a:cs typeface="Trebuchet MS"/>
            </a:endParaRPr>
          </a:p>
          <a:p>
            <a:pPr marL="177165" marR="5080" indent="-165100" algn="r">
              <a:lnSpc>
                <a:spcPts val="3790"/>
              </a:lnSpc>
              <a:spcBef>
                <a:spcPts val="195"/>
              </a:spcBef>
            </a:pPr>
            <a:r>
              <a:rPr sz="1800" spc="-50" dirty="0">
                <a:latin typeface="Trebuchet MS"/>
                <a:cs typeface="Trebuchet MS"/>
              </a:rPr>
              <a:t>Familiar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technology: </a:t>
            </a:r>
            <a:r>
              <a:rPr sz="1800" spc="-20" dirty="0">
                <a:latin typeface="Trebuchet MS"/>
                <a:cs typeface="Trebuchet MS"/>
              </a:rPr>
              <a:t>Easily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expandable: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52092" y="5555996"/>
            <a:ext cx="14516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Cost</a:t>
            </a:r>
            <a:r>
              <a:rPr sz="1800" spc="5" dirty="0"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effective: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06144" y="6147612"/>
            <a:ext cx="1797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rebuchet MS"/>
                <a:cs typeface="Trebuchet MS"/>
              </a:rPr>
              <a:t>High</a:t>
            </a:r>
            <a:r>
              <a:rPr sz="1800" spc="-17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data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speeds: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40" dirty="0"/>
              <a:t>Disadvantages</a:t>
            </a:r>
            <a:r>
              <a:rPr spc="-465" dirty="0"/>
              <a:t> </a:t>
            </a:r>
            <a:r>
              <a:rPr spc="-265" dirty="0"/>
              <a:t>of</a:t>
            </a:r>
            <a:r>
              <a:rPr spc="-445" dirty="0"/>
              <a:t> </a:t>
            </a:r>
            <a:r>
              <a:rPr spc="-185" dirty="0"/>
              <a:t>Star</a:t>
            </a:r>
            <a:r>
              <a:rPr spc="-445" dirty="0"/>
              <a:t> </a:t>
            </a:r>
            <a:r>
              <a:rPr spc="-285" dirty="0"/>
              <a:t>Topology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52772" y="3400081"/>
            <a:ext cx="761365" cy="252730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R="5080" algn="r">
              <a:lnSpc>
                <a:spcPts val="2815"/>
              </a:lnSpc>
            </a:pPr>
            <a:r>
              <a:rPr sz="2500" b="1" spc="-55" dirty="0">
                <a:latin typeface="Trebuchet MS"/>
                <a:cs typeface="Trebuchet MS"/>
              </a:rPr>
              <a:t>A</a:t>
            </a:r>
            <a:r>
              <a:rPr sz="2500" b="1" spc="-215" dirty="0">
                <a:latin typeface="Trebuchet MS"/>
                <a:cs typeface="Trebuchet MS"/>
              </a:rPr>
              <a:t> </a:t>
            </a:r>
            <a:r>
              <a:rPr sz="2500" b="1" spc="-35" dirty="0">
                <a:latin typeface="Trebuchet MS"/>
                <a:cs typeface="Trebuchet MS"/>
              </a:rPr>
              <a:t>Central</a:t>
            </a:r>
            <a:r>
              <a:rPr sz="2500" b="1" spc="-220" dirty="0">
                <a:latin typeface="Trebuchet MS"/>
                <a:cs typeface="Trebuchet MS"/>
              </a:rPr>
              <a:t> </a:t>
            </a:r>
            <a:r>
              <a:rPr sz="2500" b="1" spc="-60" dirty="0">
                <a:latin typeface="Trebuchet MS"/>
                <a:cs typeface="Trebuchet MS"/>
              </a:rPr>
              <a:t>point</a:t>
            </a:r>
            <a:r>
              <a:rPr sz="2500" b="1" spc="-215" dirty="0">
                <a:latin typeface="Trebuchet MS"/>
                <a:cs typeface="Trebuchet MS"/>
              </a:rPr>
              <a:t> </a:t>
            </a:r>
            <a:r>
              <a:rPr sz="2500" b="1" spc="-25" dirty="0">
                <a:latin typeface="Trebuchet MS"/>
                <a:cs typeface="Trebuchet MS"/>
              </a:rPr>
              <a:t>of</a:t>
            </a:r>
            <a:endParaRPr sz="2500">
              <a:latin typeface="Trebuchet MS"/>
              <a:cs typeface="Trebuchet MS"/>
            </a:endParaRPr>
          </a:p>
          <a:p>
            <a:pPr marR="5080" algn="r">
              <a:lnSpc>
                <a:spcPts val="2875"/>
              </a:lnSpc>
            </a:pPr>
            <a:r>
              <a:rPr sz="2500" b="1" spc="-10" dirty="0">
                <a:latin typeface="Trebuchet MS"/>
                <a:cs typeface="Trebuchet MS"/>
              </a:rPr>
              <a:t>failure</a:t>
            </a:r>
            <a:endParaRPr sz="25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5439" y="2773679"/>
            <a:ext cx="3966210" cy="339928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841119" y="3341065"/>
            <a:ext cx="3444875" cy="223710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1300" marR="5080" indent="-228600">
              <a:lnSpc>
                <a:spcPct val="91600"/>
              </a:lnSpc>
              <a:spcBef>
                <a:spcPts val="365"/>
              </a:spcBef>
              <a:buChar char="•"/>
              <a:tabLst>
                <a:tab pos="241300" algn="l"/>
              </a:tabLst>
            </a:pPr>
            <a:r>
              <a:rPr sz="2600" spc="-130" dirty="0">
                <a:latin typeface="Trebuchet MS"/>
                <a:cs typeface="Trebuchet MS"/>
              </a:rPr>
              <a:t>If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85" dirty="0">
                <a:latin typeface="Trebuchet MS"/>
                <a:cs typeface="Trebuchet MS"/>
              </a:rPr>
              <a:t>the</a:t>
            </a:r>
            <a:r>
              <a:rPr sz="2600" spc="-240" dirty="0">
                <a:latin typeface="Trebuchet MS"/>
                <a:cs typeface="Trebuchet MS"/>
              </a:rPr>
              <a:t> </a:t>
            </a:r>
            <a:r>
              <a:rPr sz="2600" spc="-75" dirty="0">
                <a:latin typeface="Trebuchet MS"/>
                <a:cs typeface="Trebuchet MS"/>
              </a:rPr>
              <a:t>central</a:t>
            </a:r>
            <a:r>
              <a:rPr sz="2600" spc="-24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hub</a:t>
            </a:r>
            <a:r>
              <a:rPr sz="2600" spc="-240" dirty="0">
                <a:latin typeface="Trebuchet MS"/>
                <a:cs typeface="Trebuchet MS"/>
              </a:rPr>
              <a:t> </a:t>
            </a:r>
            <a:r>
              <a:rPr sz="2600" spc="-25" dirty="0">
                <a:latin typeface="Trebuchet MS"/>
                <a:cs typeface="Trebuchet MS"/>
              </a:rPr>
              <a:t>or </a:t>
            </a:r>
            <a:r>
              <a:rPr sz="2600" spc="-35" dirty="0">
                <a:latin typeface="Trebuchet MS"/>
                <a:cs typeface="Trebuchet MS"/>
              </a:rPr>
              <a:t>switch</a:t>
            </a:r>
            <a:r>
              <a:rPr sz="2600" spc="-17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goes</a:t>
            </a:r>
            <a:r>
              <a:rPr sz="2600" spc="-170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down, </a:t>
            </a:r>
            <a:r>
              <a:rPr sz="2600" spc="-65" dirty="0">
                <a:latin typeface="Trebuchet MS"/>
                <a:cs typeface="Trebuchet MS"/>
              </a:rPr>
              <a:t>then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70" dirty="0">
                <a:latin typeface="Trebuchet MS"/>
                <a:cs typeface="Trebuchet MS"/>
              </a:rPr>
              <a:t>all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85" dirty="0">
                <a:latin typeface="Trebuchet MS"/>
                <a:cs typeface="Trebuchet MS"/>
              </a:rPr>
              <a:t>the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connected </a:t>
            </a:r>
            <a:r>
              <a:rPr sz="2600" dirty="0">
                <a:latin typeface="Trebuchet MS"/>
                <a:cs typeface="Trebuchet MS"/>
              </a:rPr>
              <a:t>nodes</a:t>
            </a:r>
            <a:r>
              <a:rPr sz="2600" spc="-210" dirty="0">
                <a:latin typeface="Trebuchet MS"/>
                <a:cs typeface="Trebuchet MS"/>
              </a:rPr>
              <a:t> </a:t>
            </a:r>
            <a:r>
              <a:rPr sz="2600" spc="-105" dirty="0">
                <a:latin typeface="Trebuchet MS"/>
                <a:cs typeface="Trebuchet MS"/>
              </a:rPr>
              <a:t>will</a:t>
            </a:r>
            <a:r>
              <a:rPr sz="2600" spc="-185" dirty="0">
                <a:latin typeface="Trebuchet MS"/>
                <a:cs typeface="Trebuchet MS"/>
              </a:rPr>
              <a:t> </a:t>
            </a:r>
            <a:r>
              <a:rPr sz="2600" spc="-65" dirty="0">
                <a:latin typeface="Trebuchet MS"/>
                <a:cs typeface="Trebuchet MS"/>
              </a:rPr>
              <a:t>not</a:t>
            </a:r>
            <a:r>
              <a:rPr sz="2600" spc="-200" dirty="0">
                <a:latin typeface="Trebuchet MS"/>
                <a:cs typeface="Trebuchet MS"/>
              </a:rPr>
              <a:t> </a:t>
            </a:r>
            <a:r>
              <a:rPr sz="2600" spc="-35" dirty="0">
                <a:latin typeface="Trebuchet MS"/>
                <a:cs typeface="Trebuchet MS"/>
              </a:rPr>
              <a:t>be</a:t>
            </a:r>
            <a:r>
              <a:rPr sz="2600" spc="-195" dirty="0">
                <a:latin typeface="Trebuchet MS"/>
                <a:cs typeface="Trebuchet MS"/>
              </a:rPr>
              <a:t> </a:t>
            </a:r>
            <a:r>
              <a:rPr sz="2600" spc="-20" dirty="0">
                <a:latin typeface="Trebuchet MS"/>
                <a:cs typeface="Trebuchet MS"/>
              </a:rPr>
              <a:t>able </a:t>
            </a:r>
            <a:r>
              <a:rPr sz="2600" spc="-95" dirty="0">
                <a:latin typeface="Trebuchet MS"/>
                <a:cs typeface="Trebuchet MS"/>
              </a:rPr>
              <a:t>to</a:t>
            </a:r>
            <a:r>
              <a:rPr sz="2600" spc="-245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communicate</a:t>
            </a:r>
            <a:r>
              <a:rPr sz="2600" spc="-275" dirty="0">
                <a:latin typeface="Trebuchet MS"/>
                <a:cs typeface="Trebuchet MS"/>
              </a:rPr>
              <a:t> </a:t>
            </a:r>
            <a:r>
              <a:rPr sz="2600" spc="-20" dirty="0">
                <a:latin typeface="Trebuchet MS"/>
                <a:cs typeface="Trebuchet MS"/>
              </a:rPr>
              <a:t>with </a:t>
            </a:r>
            <a:r>
              <a:rPr sz="2600" dirty="0">
                <a:latin typeface="Trebuchet MS"/>
                <a:cs typeface="Trebuchet MS"/>
              </a:rPr>
              <a:t>each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other.</a:t>
            </a:r>
            <a:endParaRPr sz="26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94537" y="1823973"/>
            <a:ext cx="1449070" cy="1449070"/>
            <a:chOff x="894537" y="1823973"/>
            <a:chExt cx="1449070" cy="1449070"/>
          </a:xfrm>
        </p:grpSpPr>
        <p:sp>
          <p:nvSpPr>
            <p:cNvPr id="7" name="object 7"/>
            <p:cNvSpPr/>
            <p:nvPr/>
          </p:nvSpPr>
          <p:spPr>
            <a:xfrm>
              <a:off x="900887" y="1830323"/>
              <a:ext cx="1436370" cy="1436370"/>
            </a:xfrm>
            <a:custGeom>
              <a:avLst/>
              <a:gdLst/>
              <a:ahLst/>
              <a:cxnLst/>
              <a:rect l="l" t="t" r="r" b="b"/>
              <a:pathLst>
                <a:path w="1436370" h="1436370">
                  <a:moveTo>
                    <a:pt x="1435989" y="0"/>
                  </a:moveTo>
                  <a:lnTo>
                    <a:pt x="0" y="0"/>
                  </a:lnTo>
                  <a:lnTo>
                    <a:pt x="0" y="1435989"/>
                  </a:lnTo>
                  <a:lnTo>
                    <a:pt x="1435989" y="1435989"/>
                  </a:lnTo>
                  <a:lnTo>
                    <a:pt x="1435989" y="0"/>
                  </a:lnTo>
                  <a:close/>
                </a:path>
              </a:pathLst>
            </a:custGeom>
            <a:solidFill>
              <a:srgbClr val="F4C8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00887" y="1830323"/>
              <a:ext cx="1436370" cy="1436370"/>
            </a:xfrm>
            <a:custGeom>
              <a:avLst/>
              <a:gdLst/>
              <a:ahLst/>
              <a:cxnLst/>
              <a:rect l="l" t="t" r="r" b="b"/>
              <a:pathLst>
                <a:path w="1436370" h="1436370">
                  <a:moveTo>
                    <a:pt x="0" y="1435989"/>
                  </a:moveTo>
                  <a:lnTo>
                    <a:pt x="1435989" y="1435989"/>
                  </a:lnTo>
                  <a:lnTo>
                    <a:pt x="1435989" y="0"/>
                  </a:lnTo>
                  <a:lnTo>
                    <a:pt x="0" y="0"/>
                  </a:lnTo>
                  <a:lnTo>
                    <a:pt x="0" y="143598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564673" y="3399769"/>
            <a:ext cx="412750" cy="88138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945"/>
              </a:lnSpc>
            </a:pPr>
            <a:r>
              <a:rPr sz="2500" b="1" spc="-10" dirty="0">
                <a:latin typeface="Trebuchet MS"/>
                <a:cs typeface="Trebuchet MS"/>
              </a:rPr>
              <a:t>Cable</a:t>
            </a:r>
            <a:endParaRPr sz="2500">
              <a:latin typeface="Trebuchet MS"/>
              <a:cs typeface="Trebuchet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25868" y="2773679"/>
            <a:ext cx="3966210" cy="3399282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7553070" y="3341065"/>
            <a:ext cx="3256279" cy="187388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1300" marR="5080" indent="-228600">
              <a:lnSpc>
                <a:spcPct val="91600"/>
              </a:lnSpc>
              <a:spcBef>
                <a:spcPts val="365"/>
              </a:spcBef>
              <a:buChar char="•"/>
              <a:tabLst>
                <a:tab pos="241300" algn="l"/>
              </a:tabLst>
            </a:pPr>
            <a:r>
              <a:rPr sz="2600" dirty="0">
                <a:latin typeface="Trebuchet MS"/>
                <a:cs typeface="Trebuchet MS"/>
              </a:rPr>
              <a:t>Sometimes</a:t>
            </a:r>
            <a:r>
              <a:rPr sz="2600" spc="-140" dirty="0">
                <a:latin typeface="Trebuchet MS"/>
                <a:cs typeface="Trebuchet MS"/>
              </a:rPr>
              <a:t> </a:t>
            </a:r>
            <a:r>
              <a:rPr sz="2600" spc="-20" dirty="0">
                <a:latin typeface="Trebuchet MS"/>
                <a:cs typeface="Trebuchet MS"/>
              </a:rPr>
              <a:t>cable </a:t>
            </a:r>
            <a:r>
              <a:rPr sz="2600" spc="-75" dirty="0">
                <a:latin typeface="Trebuchet MS"/>
                <a:cs typeface="Trebuchet MS"/>
              </a:rPr>
              <a:t>routing</a:t>
            </a:r>
            <a:r>
              <a:rPr sz="2600" spc="-245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becomes </a:t>
            </a:r>
            <a:r>
              <a:rPr sz="2600" spc="-100" dirty="0">
                <a:latin typeface="Trebuchet MS"/>
                <a:cs typeface="Trebuchet MS"/>
              </a:rPr>
              <a:t>difficult</a:t>
            </a:r>
            <a:r>
              <a:rPr sz="2600" spc="-210" dirty="0">
                <a:latin typeface="Trebuchet MS"/>
                <a:cs typeface="Trebuchet MS"/>
              </a:rPr>
              <a:t> </a:t>
            </a:r>
            <a:r>
              <a:rPr sz="2600" spc="-40" dirty="0">
                <a:latin typeface="Trebuchet MS"/>
                <a:cs typeface="Trebuchet MS"/>
              </a:rPr>
              <a:t>when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50" dirty="0">
                <a:latin typeface="Trebuchet MS"/>
                <a:cs typeface="Trebuchet MS"/>
              </a:rPr>
              <a:t>a </a:t>
            </a:r>
            <a:r>
              <a:rPr sz="2600" spc="-55" dirty="0">
                <a:latin typeface="Trebuchet MS"/>
                <a:cs typeface="Trebuchet MS"/>
              </a:rPr>
              <a:t>significant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25" dirty="0">
                <a:latin typeface="Trebuchet MS"/>
                <a:cs typeface="Trebuchet MS"/>
              </a:rPr>
              <a:t>amount</a:t>
            </a:r>
            <a:r>
              <a:rPr sz="2600" spc="-200" dirty="0">
                <a:latin typeface="Trebuchet MS"/>
                <a:cs typeface="Trebuchet MS"/>
              </a:rPr>
              <a:t> </a:t>
            </a:r>
            <a:r>
              <a:rPr sz="2600" spc="-25" dirty="0">
                <a:latin typeface="Trebuchet MS"/>
                <a:cs typeface="Trebuchet MS"/>
              </a:rPr>
              <a:t>of </a:t>
            </a:r>
            <a:r>
              <a:rPr sz="2600" spc="-80" dirty="0">
                <a:latin typeface="Trebuchet MS"/>
                <a:cs typeface="Trebuchet MS"/>
              </a:rPr>
              <a:t>routing</a:t>
            </a:r>
            <a:r>
              <a:rPr sz="2600" spc="-21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is</a:t>
            </a:r>
            <a:r>
              <a:rPr sz="2600" spc="-175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required.</a:t>
            </a:r>
            <a:endParaRPr sz="26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605651" y="1823973"/>
            <a:ext cx="1449070" cy="1449070"/>
            <a:chOff x="6605651" y="1823973"/>
            <a:chExt cx="1449070" cy="1449070"/>
          </a:xfrm>
        </p:grpSpPr>
        <p:sp>
          <p:nvSpPr>
            <p:cNvPr id="13" name="object 13"/>
            <p:cNvSpPr/>
            <p:nvPr/>
          </p:nvSpPr>
          <p:spPr>
            <a:xfrm>
              <a:off x="6612001" y="1830323"/>
              <a:ext cx="1436370" cy="1436370"/>
            </a:xfrm>
            <a:custGeom>
              <a:avLst/>
              <a:gdLst/>
              <a:ahLst/>
              <a:cxnLst/>
              <a:rect l="l" t="t" r="r" b="b"/>
              <a:pathLst>
                <a:path w="1436370" h="1436370">
                  <a:moveTo>
                    <a:pt x="1435989" y="0"/>
                  </a:moveTo>
                  <a:lnTo>
                    <a:pt x="0" y="0"/>
                  </a:lnTo>
                  <a:lnTo>
                    <a:pt x="0" y="1435989"/>
                  </a:lnTo>
                  <a:lnTo>
                    <a:pt x="1435989" y="1435989"/>
                  </a:lnTo>
                  <a:lnTo>
                    <a:pt x="1435989" y="0"/>
                  </a:lnTo>
                  <a:close/>
                </a:path>
              </a:pathLst>
            </a:custGeom>
            <a:solidFill>
              <a:srgbClr val="BBC6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612001" y="1830323"/>
              <a:ext cx="1436370" cy="1436370"/>
            </a:xfrm>
            <a:custGeom>
              <a:avLst/>
              <a:gdLst/>
              <a:ahLst/>
              <a:cxnLst/>
              <a:rect l="l" t="t" r="r" b="b"/>
              <a:pathLst>
                <a:path w="1436370" h="1436370">
                  <a:moveTo>
                    <a:pt x="0" y="1435989"/>
                  </a:moveTo>
                  <a:lnTo>
                    <a:pt x="1435989" y="1435989"/>
                  </a:lnTo>
                  <a:lnTo>
                    <a:pt x="1435989" y="0"/>
                  </a:lnTo>
                  <a:lnTo>
                    <a:pt x="0" y="0"/>
                  </a:lnTo>
                  <a:lnTo>
                    <a:pt x="0" y="143598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90" dirty="0"/>
              <a:t>Tree</a:t>
            </a:r>
            <a:r>
              <a:rPr spc="-475" dirty="0"/>
              <a:t> </a:t>
            </a:r>
            <a:r>
              <a:rPr spc="-285" dirty="0"/>
              <a:t>Topology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1969"/>
            <a:ext cx="10358755" cy="352171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715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35" dirty="0">
                <a:latin typeface="Trebuchet MS"/>
                <a:cs typeface="Trebuchet MS"/>
              </a:rPr>
              <a:t>Tree</a:t>
            </a:r>
            <a:r>
              <a:rPr sz="2800" spc="-1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topology</a:t>
            </a:r>
            <a:r>
              <a:rPr sz="2800" spc="-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combines</a:t>
            </a:r>
            <a:r>
              <a:rPr sz="2800" spc="-2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the </a:t>
            </a:r>
            <a:r>
              <a:rPr sz="2800" spc="-20" dirty="0">
                <a:latin typeface="Trebuchet MS"/>
                <a:cs typeface="Trebuchet MS"/>
              </a:rPr>
              <a:t>characteristics</a:t>
            </a:r>
            <a:r>
              <a:rPr sz="2800" spc="-1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of</a:t>
            </a:r>
            <a:r>
              <a:rPr sz="2800" spc="5" dirty="0">
                <a:latin typeface="Trebuchet MS"/>
                <a:cs typeface="Trebuchet MS"/>
              </a:rPr>
              <a:t> </a:t>
            </a:r>
            <a:r>
              <a:rPr sz="2800" spc="80" dirty="0">
                <a:latin typeface="Trebuchet MS"/>
                <a:cs typeface="Trebuchet MS"/>
              </a:rPr>
              <a:t>bus</a:t>
            </a:r>
            <a:r>
              <a:rPr sz="2800" spc="-1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topology</a:t>
            </a:r>
            <a:r>
              <a:rPr sz="2800" spc="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and 	</a:t>
            </a:r>
            <a:r>
              <a:rPr sz="2800" spc="-55" dirty="0">
                <a:latin typeface="Trebuchet MS"/>
                <a:cs typeface="Trebuchet MS"/>
              </a:rPr>
              <a:t>star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topology.</a:t>
            </a:r>
            <a:endParaRPr sz="2800">
              <a:latin typeface="Trebuchet MS"/>
              <a:cs typeface="Trebuchet MS"/>
            </a:endParaRPr>
          </a:p>
          <a:p>
            <a:pPr marL="240029" marR="6985" indent="-227965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8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tree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topology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6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type</a:t>
            </a:r>
            <a:r>
              <a:rPr sz="2800" spc="-6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of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structure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in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which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all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the</a:t>
            </a:r>
            <a:r>
              <a:rPr sz="2800" spc="-8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computers 	</a:t>
            </a:r>
            <a:r>
              <a:rPr sz="2800" spc="-120" dirty="0">
                <a:latin typeface="Trebuchet MS"/>
                <a:cs typeface="Trebuchet MS"/>
              </a:rPr>
              <a:t>relate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to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each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other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in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hierarchical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fashion.</a:t>
            </a:r>
            <a:endParaRPr sz="2800">
              <a:latin typeface="Trebuchet MS"/>
              <a:cs typeface="Trebuchet MS"/>
            </a:endParaRPr>
          </a:p>
          <a:p>
            <a:pPr marL="240029" marR="6350" indent="-227965">
              <a:lnSpc>
                <a:spcPts val="302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25" dirty="0">
                <a:latin typeface="Trebuchet MS"/>
                <a:cs typeface="Trebuchet MS"/>
              </a:rPr>
              <a:t>The</a:t>
            </a:r>
            <a:r>
              <a:rPr sz="2800" spc="-85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top-</a:t>
            </a:r>
            <a:r>
              <a:rPr sz="2800" dirty="0">
                <a:latin typeface="Trebuchet MS"/>
                <a:cs typeface="Trebuchet MS"/>
              </a:rPr>
              <a:t>most</a:t>
            </a:r>
            <a:r>
              <a:rPr sz="2800" spc="-1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node</a:t>
            </a:r>
            <a:r>
              <a:rPr sz="2800" spc="-10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in</a:t>
            </a:r>
            <a:r>
              <a:rPr sz="2800" spc="-105" dirty="0">
                <a:latin typeface="Trebuchet MS"/>
                <a:cs typeface="Trebuchet MS"/>
              </a:rPr>
              <a:t> </a:t>
            </a:r>
            <a:r>
              <a:rPr sz="2800" spc="-145" dirty="0">
                <a:latin typeface="Trebuchet MS"/>
                <a:cs typeface="Trebuchet MS"/>
              </a:rPr>
              <a:t>tree</a:t>
            </a:r>
            <a:r>
              <a:rPr sz="2800" spc="-85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topology</a:t>
            </a:r>
            <a:r>
              <a:rPr sz="2800" spc="-10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10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known</a:t>
            </a:r>
            <a:r>
              <a:rPr sz="2800" spc="-90" dirty="0">
                <a:latin typeface="Trebuchet MS"/>
                <a:cs typeface="Trebuchet MS"/>
              </a:rPr>
              <a:t> </a:t>
            </a:r>
            <a:r>
              <a:rPr sz="2800" spc="105" dirty="0">
                <a:latin typeface="Trebuchet MS"/>
                <a:cs typeface="Trebuchet MS"/>
              </a:rPr>
              <a:t>as</a:t>
            </a:r>
            <a:r>
              <a:rPr sz="2800" spc="-10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90" dirty="0">
                <a:latin typeface="Trebuchet MS"/>
                <a:cs typeface="Trebuchet MS"/>
              </a:rPr>
              <a:t> </a:t>
            </a:r>
            <a:r>
              <a:rPr sz="2800" b="1" spc="-70" dirty="0">
                <a:latin typeface="Trebuchet MS"/>
                <a:cs typeface="Trebuchet MS"/>
              </a:rPr>
              <a:t>root</a:t>
            </a:r>
            <a:r>
              <a:rPr sz="2800" b="1" spc="-95" dirty="0">
                <a:latin typeface="Trebuchet MS"/>
                <a:cs typeface="Trebuchet MS"/>
              </a:rPr>
              <a:t> </a:t>
            </a:r>
            <a:r>
              <a:rPr sz="2800" b="1" spc="-60" dirty="0">
                <a:latin typeface="Trebuchet MS"/>
                <a:cs typeface="Trebuchet MS"/>
              </a:rPr>
              <a:t>node</a:t>
            </a:r>
            <a:r>
              <a:rPr sz="2800" spc="-60" dirty="0">
                <a:latin typeface="Trebuchet MS"/>
                <a:cs typeface="Trebuchet MS"/>
              </a:rPr>
              <a:t>,</a:t>
            </a:r>
            <a:r>
              <a:rPr sz="2800" spc="-10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and 	</a:t>
            </a:r>
            <a:r>
              <a:rPr sz="2800" spc="-75" dirty="0">
                <a:latin typeface="Trebuchet MS"/>
                <a:cs typeface="Trebuchet MS"/>
              </a:rPr>
              <a:t>all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other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nodes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are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the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descendants</a:t>
            </a:r>
            <a:r>
              <a:rPr sz="2800" spc="-185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of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the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root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node.</a:t>
            </a:r>
            <a:endParaRPr sz="2800">
              <a:latin typeface="Trebuchet MS"/>
              <a:cs typeface="Trebuchet MS"/>
            </a:endParaRPr>
          </a:p>
          <a:p>
            <a:pPr marL="240029" marR="5080" indent="-227965">
              <a:lnSpc>
                <a:spcPts val="302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  <a:tab pos="7313295" algn="l"/>
                <a:tab pos="9003665" algn="l"/>
              </a:tabLst>
            </a:pPr>
            <a:r>
              <a:rPr sz="2800" spc="-45" dirty="0">
                <a:latin typeface="Trebuchet MS"/>
                <a:cs typeface="Trebuchet MS"/>
              </a:rPr>
              <a:t>There</a:t>
            </a:r>
            <a:r>
              <a:rPr sz="2800" spc="21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21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only</a:t>
            </a:r>
            <a:r>
              <a:rPr sz="2800" spc="20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one</a:t>
            </a:r>
            <a:r>
              <a:rPr sz="2800" spc="22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path</a:t>
            </a:r>
            <a:r>
              <a:rPr sz="2800" spc="20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exists</a:t>
            </a:r>
            <a:r>
              <a:rPr sz="2800" spc="215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between</a:t>
            </a:r>
            <a:r>
              <a:rPr sz="2800" spc="19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two</a:t>
            </a:r>
            <a:r>
              <a:rPr sz="2800" dirty="0">
                <a:latin typeface="Trebuchet MS"/>
                <a:cs typeface="Trebuchet MS"/>
              </a:rPr>
              <a:t>	nodes</a:t>
            </a:r>
            <a:r>
              <a:rPr sz="2800" spc="61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for</a:t>
            </a:r>
            <a:r>
              <a:rPr sz="2800" dirty="0">
                <a:latin typeface="Trebuchet MS"/>
                <a:cs typeface="Trebuchet MS"/>
              </a:rPr>
              <a:t>	the</a:t>
            </a:r>
            <a:r>
              <a:rPr sz="2800" spc="14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data 	</a:t>
            </a:r>
            <a:r>
              <a:rPr sz="2800" spc="-25" dirty="0">
                <a:latin typeface="Trebuchet MS"/>
                <a:cs typeface="Trebuchet MS"/>
              </a:rPr>
              <a:t>transmission.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Thus,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180" dirty="0">
                <a:latin typeface="Trebuchet MS"/>
                <a:cs typeface="Trebuchet MS"/>
              </a:rPr>
              <a:t>it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forms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b="1" i="1" spc="-114" dirty="0">
                <a:latin typeface="Trebuchet MS"/>
                <a:cs typeface="Trebuchet MS"/>
              </a:rPr>
              <a:t>parent-</a:t>
            </a:r>
            <a:r>
              <a:rPr sz="2800" b="1" i="1" spc="-20" dirty="0">
                <a:latin typeface="Trebuchet MS"/>
                <a:cs typeface="Trebuchet MS"/>
              </a:rPr>
              <a:t>child</a:t>
            </a:r>
            <a:r>
              <a:rPr sz="2800" b="1" i="1" spc="-200" dirty="0">
                <a:latin typeface="Trebuchet MS"/>
                <a:cs typeface="Trebuchet MS"/>
              </a:rPr>
              <a:t> </a:t>
            </a:r>
            <a:r>
              <a:rPr sz="2800" b="1" i="1" spc="-10" dirty="0">
                <a:latin typeface="Trebuchet MS"/>
                <a:cs typeface="Trebuchet MS"/>
              </a:rPr>
              <a:t>hierarchy</a:t>
            </a:r>
            <a:r>
              <a:rPr sz="2800" spc="-10" dirty="0">
                <a:latin typeface="Trebuchet MS"/>
                <a:cs typeface="Trebuchet MS"/>
              </a:rPr>
              <a:t>.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90" dirty="0"/>
              <a:t>Tree</a:t>
            </a:r>
            <a:r>
              <a:rPr spc="-475" dirty="0"/>
              <a:t> </a:t>
            </a:r>
            <a:r>
              <a:rPr spc="-285" dirty="0"/>
              <a:t>Topology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60879" y="2141522"/>
            <a:ext cx="6994156" cy="407227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80" dirty="0"/>
              <a:t>Advantages</a:t>
            </a:r>
            <a:r>
              <a:rPr spc="-459" dirty="0"/>
              <a:t> </a:t>
            </a:r>
            <a:r>
              <a:rPr spc="-265" dirty="0"/>
              <a:t>of</a:t>
            </a:r>
            <a:r>
              <a:rPr spc="-445" dirty="0"/>
              <a:t> </a:t>
            </a:r>
            <a:r>
              <a:rPr spc="-395" dirty="0"/>
              <a:t>Tree</a:t>
            </a:r>
            <a:r>
              <a:rPr spc="-445" dirty="0"/>
              <a:t> </a:t>
            </a:r>
            <a:r>
              <a:rPr spc="-285" dirty="0"/>
              <a:t>Topology</a:t>
            </a:r>
          </a:p>
        </p:txBody>
      </p:sp>
      <p:sp>
        <p:nvSpPr>
          <p:cNvPr id="3" name="object 3"/>
          <p:cNvSpPr/>
          <p:nvPr/>
        </p:nvSpPr>
        <p:spPr>
          <a:xfrm>
            <a:off x="531774" y="2472817"/>
            <a:ext cx="11129010" cy="4020185"/>
          </a:xfrm>
          <a:custGeom>
            <a:avLst/>
            <a:gdLst/>
            <a:ahLst/>
            <a:cxnLst/>
            <a:rect l="l" t="t" r="r" b="b"/>
            <a:pathLst>
              <a:path w="11129010" h="4020185">
                <a:moveTo>
                  <a:pt x="0" y="4019715"/>
                </a:moveTo>
                <a:lnTo>
                  <a:pt x="11128476" y="4019727"/>
                </a:lnTo>
              </a:path>
              <a:path w="11129010" h="4020185">
                <a:moveTo>
                  <a:pt x="0" y="3215779"/>
                </a:moveTo>
                <a:lnTo>
                  <a:pt x="11128476" y="3215779"/>
                </a:lnTo>
              </a:path>
              <a:path w="11129010" h="4020185">
                <a:moveTo>
                  <a:pt x="0" y="2411857"/>
                </a:moveTo>
                <a:lnTo>
                  <a:pt x="11128476" y="2411857"/>
                </a:lnTo>
              </a:path>
              <a:path w="11129010" h="4020185">
                <a:moveTo>
                  <a:pt x="0" y="1607947"/>
                </a:moveTo>
                <a:lnTo>
                  <a:pt x="11128476" y="1607947"/>
                </a:lnTo>
              </a:path>
              <a:path w="11129010" h="4020185">
                <a:moveTo>
                  <a:pt x="0" y="804037"/>
                </a:moveTo>
                <a:lnTo>
                  <a:pt x="11128476" y="804037"/>
                </a:lnTo>
              </a:path>
              <a:path w="11129010" h="4020185">
                <a:moveTo>
                  <a:pt x="0" y="0"/>
                </a:moveTo>
                <a:lnTo>
                  <a:pt x="11128476" y="0"/>
                </a:lnTo>
              </a:path>
            </a:pathLst>
          </a:custGeom>
          <a:ln w="19050">
            <a:solidFill>
              <a:srgbClr val="155F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451097" y="2097151"/>
            <a:ext cx="67576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rebuchet MS"/>
                <a:cs typeface="Trebuchet MS"/>
              </a:rPr>
              <a:t>signals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are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sent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over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long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distances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without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being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attenuated.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25424" y="1700910"/>
            <a:ext cx="2906395" cy="778510"/>
            <a:chOff x="525424" y="1700910"/>
            <a:chExt cx="2906395" cy="77851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1774" y="1707260"/>
              <a:ext cx="2893415" cy="76555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31774" y="1707260"/>
              <a:ext cx="2893695" cy="765810"/>
            </a:xfrm>
            <a:custGeom>
              <a:avLst/>
              <a:gdLst/>
              <a:ahLst/>
              <a:cxnLst/>
              <a:rect l="l" t="t" r="r" b="b"/>
              <a:pathLst>
                <a:path w="2893695" h="765810">
                  <a:moveTo>
                    <a:pt x="127634" y="0"/>
                  </a:moveTo>
                  <a:lnTo>
                    <a:pt x="2765780" y="0"/>
                  </a:lnTo>
                  <a:lnTo>
                    <a:pt x="2815459" y="10013"/>
                  </a:lnTo>
                  <a:lnTo>
                    <a:pt x="2856029" y="37337"/>
                  </a:lnTo>
                  <a:lnTo>
                    <a:pt x="2883384" y="77902"/>
                  </a:lnTo>
                  <a:lnTo>
                    <a:pt x="2893415" y="127635"/>
                  </a:lnTo>
                  <a:lnTo>
                    <a:pt x="2893415" y="765555"/>
                  </a:lnTo>
                  <a:lnTo>
                    <a:pt x="0" y="765555"/>
                  </a:lnTo>
                  <a:lnTo>
                    <a:pt x="0" y="127635"/>
                  </a:lnTo>
                  <a:lnTo>
                    <a:pt x="10031" y="77902"/>
                  </a:lnTo>
                  <a:lnTo>
                    <a:pt x="37385" y="37337"/>
                  </a:lnTo>
                  <a:lnTo>
                    <a:pt x="77956" y="10013"/>
                  </a:lnTo>
                  <a:lnTo>
                    <a:pt x="127634" y="0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44550" y="1816735"/>
            <a:ext cx="103066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  <a:tabLst>
                <a:tab pos="2818765" algn="l"/>
              </a:tabLst>
            </a:pPr>
            <a:r>
              <a:rPr sz="3000" b="1" spc="-15" baseline="9722" dirty="0">
                <a:latin typeface="Trebuchet MS"/>
                <a:cs typeface="Trebuchet MS"/>
              </a:rPr>
              <a:t>Support</a:t>
            </a:r>
            <a:r>
              <a:rPr sz="3000" b="1" spc="-300" baseline="9722" dirty="0">
                <a:latin typeface="Trebuchet MS"/>
                <a:cs typeface="Trebuchet MS"/>
              </a:rPr>
              <a:t> </a:t>
            </a:r>
            <a:r>
              <a:rPr sz="3000" b="1" spc="-104" baseline="9722" dirty="0">
                <a:latin typeface="Trebuchet MS"/>
                <a:cs typeface="Trebuchet MS"/>
              </a:rPr>
              <a:t>for</a:t>
            </a:r>
            <a:r>
              <a:rPr sz="3000" b="1" spc="-270" baseline="9722" dirty="0">
                <a:latin typeface="Trebuchet MS"/>
                <a:cs typeface="Trebuchet MS"/>
              </a:rPr>
              <a:t> </a:t>
            </a:r>
            <a:r>
              <a:rPr sz="3000" b="1" spc="-15" baseline="9722" dirty="0">
                <a:latin typeface="Trebuchet MS"/>
                <a:cs typeface="Trebuchet MS"/>
              </a:rPr>
              <a:t>broadband</a:t>
            </a:r>
            <a:r>
              <a:rPr sz="3000" b="1" baseline="9722" dirty="0">
                <a:latin typeface="Trebuchet MS"/>
                <a:cs typeface="Trebuchet MS"/>
              </a:rPr>
              <a:t>	</a:t>
            </a:r>
            <a:r>
              <a:rPr sz="2000" spc="-130" dirty="0">
                <a:latin typeface="Trebuchet MS"/>
                <a:cs typeface="Trebuchet MS"/>
              </a:rPr>
              <a:t>Tree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topology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is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mainly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used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to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provide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broadband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transmission,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i.e.,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08938" y="2051050"/>
            <a:ext cx="15392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latin typeface="Trebuchet MS"/>
                <a:cs typeface="Trebuchet MS"/>
              </a:rPr>
              <a:t>transmission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51097" y="2620772"/>
            <a:ext cx="7973059" cy="611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305"/>
              </a:lnSpc>
              <a:spcBef>
                <a:spcPts val="105"/>
              </a:spcBef>
            </a:pPr>
            <a:r>
              <a:rPr sz="2000" dirty="0">
                <a:latin typeface="Trebuchet MS"/>
                <a:cs typeface="Trebuchet MS"/>
              </a:rPr>
              <a:t>We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can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add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the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new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device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to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the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existing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network.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Therefore,</a:t>
            </a:r>
            <a:r>
              <a:rPr sz="2000" spc="-185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we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can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say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ts val="2305"/>
              </a:lnSpc>
            </a:pPr>
            <a:r>
              <a:rPr sz="2000" spc="-80" dirty="0">
                <a:latin typeface="Trebuchet MS"/>
                <a:cs typeface="Trebuchet MS"/>
              </a:rPr>
              <a:t>that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tree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topology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is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35" dirty="0">
                <a:latin typeface="Trebuchet MS"/>
                <a:cs typeface="Trebuchet MS"/>
              </a:rPr>
              <a:t>easily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expandable.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25424" y="2504820"/>
            <a:ext cx="2906395" cy="778510"/>
            <a:chOff x="525424" y="2504820"/>
            <a:chExt cx="2906395" cy="77851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1774" y="2511170"/>
              <a:ext cx="2893415" cy="76568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31774" y="2511170"/>
              <a:ext cx="2893695" cy="765810"/>
            </a:xfrm>
            <a:custGeom>
              <a:avLst/>
              <a:gdLst/>
              <a:ahLst/>
              <a:cxnLst/>
              <a:rect l="l" t="t" r="r" b="b"/>
              <a:pathLst>
                <a:path w="2893695" h="765810">
                  <a:moveTo>
                    <a:pt x="127634" y="0"/>
                  </a:moveTo>
                  <a:lnTo>
                    <a:pt x="2765780" y="0"/>
                  </a:lnTo>
                  <a:lnTo>
                    <a:pt x="2815459" y="10031"/>
                  </a:lnTo>
                  <a:lnTo>
                    <a:pt x="2856029" y="37385"/>
                  </a:lnTo>
                  <a:lnTo>
                    <a:pt x="2883384" y="77956"/>
                  </a:lnTo>
                  <a:lnTo>
                    <a:pt x="2893415" y="127634"/>
                  </a:lnTo>
                  <a:lnTo>
                    <a:pt x="2893415" y="765682"/>
                  </a:lnTo>
                  <a:lnTo>
                    <a:pt x="0" y="765682"/>
                  </a:lnTo>
                  <a:lnTo>
                    <a:pt x="0" y="127634"/>
                  </a:lnTo>
                  <a:lnTo>
                    <a:pt x="10031" y="77956"/>
                  </a:lnTo>
                  <a:lnTo>
                    <a:pt x="37385" y="37385"/>
                  </a:lnTo>
                  <a:lnTo>
                    <a:pt x="77956" y="10031"/>
                  </a:lnTo>
                  <a:lnTo>
                    <a:pt x="127634" y="0"/>
                  </a:lnTo>
                  <a:close/>
                </a:path>
              </a:pathLst>
            </a:custGeom>
            <a:ln w="1270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917854" y="2714370"/>
            <a:ext cx="21209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rebuchet MS"/>
                <a:cs typeface="Trebuchet MS"/>
              </a:rPr>
              <a:t>Easily</a:t>
            </a:r>
            <a:r>
              <a:rPr sz="2000" b="1" spc="-114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expandable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51097" y="3424504"/>
            <a:ext cx="8074025" cy="6121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305"/>
              </a:lnSpc>
              <a:spcBef>
                <a:spcPts val="105"/>
              </a:spcBef>
            </a:pPr>
            <a:r>
              <a:rPr sz="2000" spc="-25" dirty="0">
                <a:latin typeface="Trebuchet MS"/>
                <a:cs typeface="Trebuchet MS"/>
              </a:rPr>
              <a:t>In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tree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70" dirty="0">
                <a:latin typeface="Trebuchet MS"/>
                <a:cs typeface="Trebuchet MS"/>
              </a:rPr>
              <a:t>topology,</a:t>
            </a:r>
            <a:r>
              <a:rPr sz="2000" spc="-185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the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35" dirty="0">
                <a:latin typeface="Trebuchet MS"/>
                <a:cs typeface="Trebuchet MS"/>
              </a:rPr>
              <a:t>whole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network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is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divided</a:t>
            </a:r>
            <a:r>
              <a:rPr sz="2000" spc="-190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into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segments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known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80" dirty="0">
                <a:latin typeface="Trebuchet MS"/>
                <a:cs typeface="Trebuchet MS"/>
              </a:rPr>
              <a:t>as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star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ts val="2305"/>
              </a:lnSpc>
            </a:pPr>
            <a:r>
              <a:rPr sz="2000" spc="-40" dirty="0">
                <a:latin typeface="Trebuchet MS"/>
                <a:cs typeface="Trebuchet MS"/>
              </a:rPr>
              <a:t>networks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which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can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be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easily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managed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and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maintained.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25424" y="3308730"/>
            <a:ext cx="2906395" cy="778510"/>
            <a:chOff x="525424" y="3308730"/>
            <a:chExt cx="2906395" cy="778510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1774" y="3315080"/>
              <a:ext cx="2893415" cy="76568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31774" y="3315080"/>
              <a:ext cx="2893695" cy="765810"/>
            </a:xfrm>
            <a:custGeom>
              <a:avLst/>
              <a:gdLst/>
              <a:ahLst/>
              <a:cxnLst/>
              <a:rect l="l" t="t" r="r" b="b"/>
              <a:pathLst>
                <a:path w="2893695" h="765810">
                  <a:moveTo>
                    <a:pt x="127634" y="0"/>
                  </a:moveTo>
                  <a:lnTo>
                    <a:pt x="2765780" y="0"/>
                  </a:lnTo>
                  <a:lnTo>
                    <a:pt x="2815459" y="10031"/>
                  </a:lnTo>
                  <a:lnTo>
                    <a:pt x="2856029" y="37385"/>
                  </a:lnTo>
                  <a:lnTo>
                    <a:pt x="2883384" y="77956"/>
                  </a:lnTo>
                  <a:lnTo>
                    <a:pt x="2893415" y="127635"/>
                  </a:lnTo>
                  <a:lnTo>
                    <a:pt x="2893415" y="765683"/>
                  </a:lnTo>
                  <a:lnTo>
                    <a:pt x="0" y="765683"/>
                  </a:lnTo>
                  <a:lnTo>
                    <a:pt x="0" y="127635"/>
                  </a:lnTo>
                  <a:lnTo>
                    <a:pt x="10031" y="77956"/>
                  </a:lnTo>
                  <a:lnTo>
                    <a:pt x="37385" y="37385"/>
                  </a:lnTo>
                  <a:lnTo>
                    <a:pt x="77956" y="10031"/>
                  </a:lnTo>
                  <a:lnTo>
                    <a:pt x="127634" y="0"/>
                  </a:lnTo>
                  <a:close/>
                </a:path>
              </a:pathLst>
            </a:custGeom>
            <a:ln w="12700">
              <a:solidFill>
                <a:srgbClr val="0E9E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82802" y="3518408"/>
            <a:ext cx="21926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rebuchet MS"/>
                <a:cs typeface="Trebuchet MS"/>
              </a:rPr>
              <a:t>Easily</a:t>
            </a:r>
            <a:r>
              <a:rPr sz="2000" b="1" spc="-114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manageable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451097" y="4508119"/>
            <a:ext cx="73209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65" dirty="0">
                <a:latin typeface="Trebuchet MS"/>
                <a:cs typeface="Trebuchet MS"/>
              </a:rPr>
              <a:t>Error</a:t>
            </a:r>
            <a:r>
              <a:rPr sz="2000" spc="-19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detection</a:t>
            </a:r>
            <a:r>
              <a:rPr sz="2000" spc="-19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and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Trebuchet MS"/>
                <a:cs typeface="Trebuchet MS"/>
              </a:rPr>
              <a:t>error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correction</a:t>
            </a:r>
            <a:r>
              <a:rPr sz="2000" spc="-200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are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very</a:t>
            </a:r>
            <a:r>
              <a:rPr sz="2000" spc="-18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easy</a:t>
            </a:r>
            <a:r>
              <a:rPr sz="2000" spc="-18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in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tree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topology.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25424" y="4112640"/>
            <a:ext cx="2906395" cy="778510"/>
            <a:chOff x="525424" y="4112640"/>
            <a:chExt cx="2906395" cy="778510"/>
          </a:xfrm>
        </p:grpSpPr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1774" y="4118990"/>
              <a:ext cx="2893415" cy="765682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531774" y="4118990"/>
              <a:ext cx="2893695" cy="765810"/>
            </a:xfrm>
            <a:custGeom>
              <a:avLst/>
              <a:gdLst/>
              <a:ahLst/>
              <a:cxnLst/>
              <a:rect l="l" t="t" r="r" b="b"/>
              <a:pathLst>
                <a:path w="2893695" h="765810">
                  <a:moveTo>
                    <a:pt x="127634" y="0"/>
                  </a:moveTo>
                  <a:lnTo>
                    <a:pt x="2765780" y="0"/>
                  </a:lnTo>
                  <a:lnTo>
                    <a:pt x="2815459" y="10031"/>
                  </a:lnTo>
                  <a:lnTo>
                    <a:pt x="2856029" y="37385"/>
                  </a:lnTo>
                  <a:lnTo>
                    <a:pt x="2883384" y="77956"/>
                  </a:lnTo>
                  <a:lnTo>
                    <a:pt x="2893415" y="127634"/>
                  </a:lnTo>
                  <a:lnTo>
                    <a:pt x="2893415" y="765682"/>
                  </a:lnTo>
                  <a:lnTo>
                    <a:pt x="0" y="765682"/>
                  </a:lnTo>
                  <a:lnTo>
                    <a:pt x="0" y="127634"/>
                  </a:lnTo>
                  <a:lnTo>
                    <a:pt x="10031" y="77956"/>
                  </a:lnTo>
                  <a:lnTo>
                    <a:pt x="37385" y="37385"/>
                  </a:lnTo>
                  <a:lnTo>
                    <a:pt x="77956" y="10031"/>
                  </a:lnTo>
                  <a:lnTo>
                    <a:pt x="127634" y="0"/>
                  </a:lnTo>
                  <a:close/>
                </a:path>
              </a:pathLst>
            </a:custGeom>
            <a:ln w="12700">
              <a:solidFill>
                <a:srgbClr val="9F2B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097686" y="4322445"/>
            <a:ext cx="17602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75" dirty="0">
                <a:latin typeface="Trebuchet MS"/>
                <a:cs typeface="Trebuchet MS"/>
              </a:rPr>
              <a:t>Error</a:t>
            </a:r>
            <a:r>
              <a:rPr sz="2000" b="1" spc="-180" dirty="0">
                <a:latin typeface="Trebuchet MS"/>
                <a:cs typeface="Trebuchet MS"/>
              </a:rPr>
              <a:t> </a:t>
            </a:r>
            <a:r>
              <a:rPr sz="2000" b="1" spc="-25" dirty="0">
                <a:latin typeface="Trebuchet MS"/>
                <a:cs typeface="Trebuchet MS"/>
              </a:rPr>
              <a:t>detection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451097" y="5311851"/>
            <a:ext cx="7004684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85" dirty="0">
                <a:latin typeface="Trebuchet MS"/>
                <a:cs typeface="Trebuchet MS"/>
              </a:rPr>
              <a:t>The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breakdown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in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one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station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does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not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Trebuchet MS"/>
                <a:cs typeface="Trebuchet MS"/>
              </a:rPr>
              <a:t>affect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the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entire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network.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25424" y="4916551"/>
            <a:ext cx="2906395" cy="778510"/>
            <a:chOff x="525424" y="4916551"/>
            <a:chExt cx="2906395" cy="778510"/>
          </a:xfrm>
        </p:grpSpPr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1774" y="4922901"/>
              <a:ext cx="2893415" cy="765695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531774" y="4922901"/>
              <a:ext cx="2893695" cy="765810"/>
            </a:xfrm>
            <a:custGeom>
              <a:avLst/>
              <a:gdLst/>
              <a:ahLst/>
              <a:cxnLst/>
              <a:rect l="l" t="t" r="r" b="b"/>
              <a:pathLst>
                <a:path w="2893695" h="765810">
                  <a:moveTo>
                    <a:pt x="127634" y="0"/>
                  </a:moveTo>
                  <a:lnTo>
                    <a:pt x="2765780" y="0"/>
                  </a:lnTo>
                  <a:lnTo>
                    <a:pt x="2815459" y="10031"/>
                  </a:lnTo>
                  <a:lnTo>
                    <a:pt x="2856029" y="37385"/>
                  </a:lnTo>
                  <a:lnTo>
                    <a:pt x="2883384" y="77956"/>
                  </a:lnTo>
                  <a:lnTo>
                    <a:pt x="2893415" y="127635"/>
                  </a:lnTo>
                  <a:lnTo>
                    <a:pt x="2893415" y="765695"/>
                  </a:lnTo>
                  <a:lnTo>
                    <a:pt x="0" y="765695"/>
                  </a:lnTo>
                  <a:lnTo>
                    <a:pt x="0" y="127635"/>
                  </a:lnTo>
                  <a:lnTo>
                    <a:pt x="10031" y="77956"/>
                  </a:lnTo>
                  <a:lnTo>
                    <a:pt x="37385" y="37385"/>
                  </a:lnTo>
                  <a:lnTo>
                    <a:pt x="77956" y="10031"/>
                  </a:lnTo>
                  <a:lnTo>
                    <a:pt x="127634" y="0"/>
                  </a:lnTo>
                  <a:close/>
                </a:path>
              </a:pathLst>
            </a:custGeom>
            <a:ln w="12700">
              <a:solidFill>
                <a:srgbClr val="4EA72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132738" y="5126177"/>
            <a:ext cx="169227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0" dirty="0">
                <a:latin typeface="Trebuchet MS"/>
                <a:cs typeface="Trebuchet MS"/>
              </a:rPr>
              <a:t>Limited</a:t>
            </a:r>
            <a:r>
              <a:rPr sz="2000" b="1" spc="-160" dirty="0">
                <a:latin typeface="Trebuchet MS"/>
                <a:cs typeface="Trebuchet MS"/>
              </a:rPr>
              <a:t> </a:t>
            </a:r>
            <a:r>
              <a:rPr sz="2000" b="1" spc="-40" dirty="0">
                <a:latin typeface="Trebuchet MS"/>
                <a:cs typeface="Trebuchet MS"/>
              </a:rPr>
              <a:t>failure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451097" y="6115913"/>
            <a:ext cx="556387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5" dirty="0">
                <a:latin typeface="Trebuchet MS"/>
                <a:cs typeface="Trebuchet MS"/>
              </a:rPr>
              <a:t>It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55" dirty="0">
                <a:latin typeface="Trebuchet MS"/>
                <a:cs typeface="Trebuchet MS"/>
              </a:rPr>
              <a:t>has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point-</a:t>
            </a:r>
            <a:r>
              <a:rPr sz="2000" spc="-70" dirty="0">
                <a:latin typeface="Trebuchet MS"/>
                <a:cs typeface="Trebuchet MS"/>
              </a:rPr>
              <a:t>to-</a:t>
            </a:r>
            <a:r>
              <a:rPr sz="2000" spc="-50" dirty="0">
                <a:latin typeface="Trebuchet MS"/>
                <a:cs typeface="Trebuchet MS"/>
              </a:rPr>
              <a:t>point</a:t>
            </a:r>
            <a:r>
              <a:rPr sz="2000" spc="-195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wiring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for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individual</a:t>
            </a:r>
            <a:r>
              <a:rPr sz="2000" spc="-20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segments.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25424" y="5720537"/>
            <a:ext cx="2906395" cy="778510"/>
            <a:chOff x="525424" y="5720537"/>
            <a:chExt cx="2906395" cy="778510"/>
          </a:xfrm>
        </p:grpSpPr>
        <p:pic>
          <p:nvPicPr>
            <p:cNvPr id="32" name="object 3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1774" y="5726887"/>
              <a:ext cx="2893415" cy="765644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531774" y="5726887"/>
              <a:ext cx="2893695" cy="765810"/>
            </a:xfrm>
            <a:custGeom>
              <a:avLst/>
              <a:gdLst/>
              <a:ahLst/>
              <a:cxnLst/>
              <a:rect l="l" t="t" r="r" b="b"/>
              <a:pathLst>
                <a:path w="2893695" h="765810">
                  <a:moveTo>
                    <a:pt x="127634" y="0"/>
                  </a:moveTo>
                  <a:lnTo>
                    <a:pt x="2765780" y="0"/>
                  </a:lnTo>
                  <a:lnTo>
                    <a:pt x="2815459" y="10029"/>
                  </a:lnTo>
                  <a:lnTo>
                    <a:pt x="2856029" y="37380"/>
                  </a:lnTo>
                  <a:lnTo>
                    <a:pt x="2883384" y="77950"/>
                  </a:lnTo>
                  <a:lnTo>
                    <a:pt x="2893415" y="127634"/>
                  </a:lnTo>
                  <a:lnTo>
                    <a:pt x="2893415" y="765644"/>
                  </a:lnTo>
                  <a:lnTo>
                    <a:pt x="0" y="765644"/>
                  </a:lnTo>
                  <a:lnTo>
                    <a:pt x="0" y="127634"/>
                  </a:lnTo>
                  <a:lnTo>
                    <a:pt x="10031" y="77950"/>
                  </a:lnTo>
                  <a:lnTo>
                    <a:pt x="37385" y="37380"/>
                  </a:lnTo>
                  <a:lnTo>
                    <a:pt x="77956" y="10029"/>
                  </a:lnTo>
                  <a:lnTo>
                    <a:pt x="127634" y="0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86790" y="5930290"/>
            <a:ext cx="238379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45" dirty="0">
                <a:latin typeface="Trebuchet MS"/>
                <a:cs typeface="Trebuchet MS"/>
              </a:rPr>
              <a:t>Point-</a:t>
            </a:r>
            <a:r>
              <a:rPr sz="2000" b="1" spc="-60" dirty="0">
                <a:latin typeface="Trebuchet MS"/>
                <a:cs typeface="Trebuchet MS"/>
              </a:rPr>
              <a:t>to-</a:t>
            </a:r>
            <a:r>
              <a:rPr sz="2000" b="1" spc="-45" dirty="0">
                <a:latin typeface="Trebuchet MS"/>
                <a:cs typeface="Trebuchet MS"/>
              </a:rPr>
              <a:t>point</a:t>
            </a:r>
            <a:r>
              <a:rPr sz="2000" b="1" spc="-170" dirty="0">
                <a:latin typeface="Trebuchet MS"/>
                <a:cs typeface="Trebuchet MS"/>
              </a:rPr>
              <a:t> </a:t>
            </a:r>
            <a:r>
              <a:rPr sz="2000" b="1" spc="-20" dirty="0">
                <a:latin typeface="Trebuchet MS"/>
                <a:cs typeface="Trebuchet MS"/>
              </a:rPr>
              <a:t>wiring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40" dirty="0"/>
              <a:t>Disadvantages</a:t>
            </a:r>
            <a:r>
              <a:rPr spc="-470" dirty="0"/>
              <a:t> </a:t>
            </a:r>
            <a:r>
              <a:rPr spc="-265" dirty="0"/>
              <a:t>of</a:t>
            </a:r>
            <a:r>
              <a:rPr spc="-450" dirty="0"/>
              <a:t> </a:t>
            </a:r>
            <a:r>
              <a:rPr spc="-395" dirty="0"/>
              <a:t>Tree</a:t>
            </a:r>
            <a:r>
              <a:rPr spc="-450" dirty="0"/>
              <a:t> </a:t>
            </a:r>
            <a:r>
              <a:rPr spc="-285" dirty="0"/>
              <a:t>Topology</a:t>
            </a:r>
          </a:p>
        </p:txBody>
      </p:sp>
      <p:sp>
        <p:nvSpPr>
          <p:cNvPr id="3" name="object 3"/>
          <p:cNvSpPr/>
          <p:nvPr/>
        </p:nvSpPr>
        <p:spPr>
          <a:xfrm>
            <a:off x="485165" y="2692400"/>
            <a:ext cx="2444750" cy="1824989"/>
          </a:xfrm>
          <a:custGeom>
            <a:avLst/>
            <a:gdLst/>
            <a:ahLst/>
            <a:cxnLst/>
            <a:rect l="l" t="t" r="r" b="b"/>
            <a:pathLst>
              <a:path w="2444750" h="1824989">
                <a:moveTo>
                  <a:pt x="145999" y="0"/>
                </a:moveTo>
                <a:lnTo>
                  <a:pt x="2298674" y="0"/>
                </a:lnTo>
                <a:lnTo>
                  <a:pt x="2344831" y="7447"/>
                </a:lnTo>
                <a:lnTo>
                  <a:pt x="2384922" y="28183"/>
                </a:lnTo>
                <a:lnTo>
                  <a:pt x="2416540" y="59801"/>
                </a:lnTo>
                <a:lnTo>
                  <a:pt x="2437277" y="99893"/>
                </a:lnTo>
                <a:lnTo>
                  <a:pt x="2444724" y="146050"/>
                </a:lnTo>
                <a:lnTo>
                  <a:pt x="2444724" y="1824863"/>
                </a:lnTo>
                <a:lnTo>
                  <a:pt x="0" y="1824863"/>
                </a:lnTo>
                <a:lnTo>
                  <a:pt x="0" y="146050"/>
                </a:lnTo>
                <a:lnTo>
                  <a:pt x="7443" y="99893"/>
                </a:lnTo>
                <a:lnTo>
                  <a:pt x="28169" y="59801"/>
                </a:lnTo>
                <a:lnTo>
                  <a:pt x="59774" y="28183"/>
                </a:lnTo>
                <a:lnTo>
                  <a:pt x="99852" y="7447"/>
                </a:lnTo>
                <a:lnTo>
                  <a:pt x="145999" y="0"/>
                </a:lnTo>
                <a:close/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9292" y="2754248"/>
            <a:ext cx="2276475" cy="137414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84785" marR="5080" indent="-172720">
              <a:lnSpc>
                <a:spcPct val="91500"/>
              </a:lnSpc>
              <a:spcBef>
                <a:spcPts val="290"/>
              </a:spcBef>
              <a:buChar char="•"/>
              <a:tabLst>
                <a:tab pos="184785" algn="l"/>
              </a:tabLst>
            </a:pPr>
            <a:r>
              <a:rPr sz="1900" spc="-95" dirty="0">
                <a:latin typeface="Trebuchet MS"/>
                <a:cs typeface="Trebuchet MS"/>
              </a:rPr>
              <a:t>If</a:t>
            </a:r>
            <a:r>
              <a:rPr sz="1900" spc="-140" dirty="0">
                <a:latin typeface="Trebuchet MS"/>
                <a:cs typeface="Trebuchet MS"/>
              </a:rPr>
              <a:t> </a:t>
            </a:r>
            <a:r>
              <a:rPr sz="1900" spc="-40" dirty="0">
                <a:latin typeface="Trebuchet MS"/>
                <a:cs typeface="Trebuchet MS"/>
              </a:rPr>
              <a:t>any</a:t>
            </a:r>
            <a:r>
              <a:rPr sz="1900" spc="-135" dirty="0">
                <a:latin typeface="Trebuchet MS"/>
                <a:cs typeface="Trebuchet MS"/>
              </a:rPr>
              <a:t> </a:t>
            </a:r>
            <a:r>
              <a:rPr sz="1900" spc="-85" dirty="0">
                <a:latin typeface="Trebuchet MS"/>
                <a:cs typeface="Trebuchet MS"/>
              </a:rPr>
              <a:t>fault</a:t>
            </a:r>
            <a:r>
              <a:rPr sz="1900" spc="-13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occurs</a:t>
            </a:r>
            <a:r>
              <a:rPr sz="1900" spc="-110" dirty="0">
                <a:latin typeface="Trebuchet MS"/>
                <a:cs typeface="Trebuchet MS"/>
              </a:rPr>
              <a:t> </a:t>
            </a:r>
            <a:r>
              <a:rPr sz="1900" spc="-25" dirty="0">
                <a:latin typeface="Trebuchet MS"/>
                <a:cs typeface="Trebuchet MS"/>
              </a:rPr>
              <a:t>in </a:t>
            </a:r>
            <a:r>
              <a:rPr sz="1900" spc="-65" dirty="0">
                <a:latin typeface="Trebuchet MS"/>
                <a:cs typeface="Trebuchet MS"/>
              </a:rPr>
              <a:t>the</a:t>
            </a:r>
            <a:r>
              <a:rPr sz="1900" spc="-160" dirty="0">
                <a:latin typeface="Trebuchet MS"/>
                <a:cs typeface="Trebuchet MS"/>
              </a:rPr>
              <a:t> </a:t>
            </a:r>
            <a:r>
              <a:rPr sz="1900" spc="-60" dirty="0">
                <a:latin typeface="Trebuchet MS"/>
                <a:cs typeface="Trebuchet MS"/>
              </a:rPr>
              <a:t>node,</a:t>
            </a:r>
            <a:r>
              <a:rPr sz="1900" spc="-150" dirty="0">
                <a:latin typeface="Trebuchet MS"/>
                <a:cs typeface="Trebuchet MS"/>
              </a:rPr>
              <a:t> </a:t>
            </a:r>
            <a:r>
              <a:rPr sz="1900" spc="-60" dirty="0">
                <a:latin typeface="Trebuchet MS"/>
                <a:cs typeface="Trebuchet MS"/>
              </a:rPr>
              <a:t>then</a:t>
            </a:r>
            <a:r>
              <a:rPr sz="1900" spc="-145" dirty="0">
                <a:latin typeface="Trebuchet MS"/>
                <a:cs typeface="Trebuchet MS"/>
              </a:rPr>
              <a:t> </a:t>
            </a:r>
            <a:r>
              <a:rPr sz="1900" spc="-35" dirty="0">
                <a:latin typeface="Trebuchet MS"/>
                <a:cs typeface="Trebuchet MS"/>
              </a:rPr>
              <a:t>it </a:t>
            </a:r>
            <a:r>
              <a:rPr sz="1900" dirty="0">
                <a:latin typeface="Trebuchet MS"/>
                <a:cs typeface="Trebuchet MS"/>
              </a:rPr>
              <a:t>becomes</a:t>
            </a:r>
            <a:r>
              <a:rPr sz="1900" spc="-65" dirty="0">
                <a:latin typeface="Trebuchet MS"/>
                <a:cs typeface="Trebuchet MS"/>
              </a:rPr>
              <a:t> </a:t>
            </a:r>
            <a:r>
              <a:rPr sz="1900" spc="-75" dirty="0">
                <a:latin typeface="Trebuchet MS"/>
                <a:cs typeface="Trebuchet MS"/>
              </a:rPr>
              <a:t>difficult</a:t>
            </a:r>
            <a:r>
              <a:rPr sz="1900" spc="-65" dirty="0">
                <a:latin typeface="Trebuchet MS"/>
                <a:cs typeface="Trebuchet MS"/>
              </a:rPr>
              <a:t> </a:t>
            </a:r>
            <a:r>
              <a:rPr sz="1900" spc="-40" dirty="0">
                <a:latin typeface="Trebuchet MS"/>
                <a:cs typeface="Trebuchet MS"/>
              </a:rPr>
              <a:t>to </a:t>
            </a:r>
            <a:r>
              <a:rPr sz="1900" spc="-35" dirty="0">
                <a:latin typeface="Trebuchet MS"/>
                <a:cs typeface="Trebuchet MS"/>
              </a:rPr>
              <a:t>troubleshoot</a:t>
            </a:r>
            <a:r>
              <a:rPr sz="1900" spc="-95" dirty="0">
                <a:latin typeface="Trebuchet MS"/>
                <a:cs typeface="Trebuchet MS"/>
              </a:rPr>
              <a:t> </a:t>
            </a:r>
            <a:r>
              <a:rPr sz="1900" spc="-25" dirty="0">
                <a:latin typeface="Trebuchet MS"/>
                <a:cs typeface="Trebuchet MS"/>
              </a:rPr>
              <a:t>the </a:t>
            </a:r>
            <a:r>
              <a:rPr sz="1900" spc="-10" dirty="0">
                <a:latin typeface="Trebuchet MS"/>
                <a:cs typeface="Trebuchet MS"/>
              </a:rPr>
              <a:t>problem.</a:t>
            </a:r>
            <a:endParaRPr sz="19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8815" y="4510925"/>
            <a:ext cx="2457450" cy="797560"/>
            <a:chOff x="478815" y="4510925"/>
            <a:chExt cx="2457450" cy="7975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5165" y="4517275"/>
              <a:ext cx="2444750" cy="78472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85165" y="4517275"/>
              <a:ext cx="2444750" cy="784860"/>
            </a:xfrm>
            <a:custGeom>
              <a:avLst/>
              <a:gdLst/>
              <a:ahLst/>
              <a:cxnLst/>
              <a:rect l="l" t="t" r="r" b="b"/>
              <a:pathLst>
                <a:path w="2444750" h="784860">
                  <a:moveTo>
                    <a:pt x="0" y="784720"/>
                  </a:moveTo>
                  <a:lnTo>
                    <a:pt x="2444750" y="784720"/>
                  </a:lnTo>
                  <a:lnTo>
                    <a:pt x="2444750" y="0"/>
                  </a:lnTo>
                  <a:lnTo>
                    <a:pt x="0" y="0"/>
                  </a:lnTo>
                  <a:lnTo>
                    <a:pt x="0" y="784720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7463" y="4621784"/>
            <a:ext cx="1616710" cy="521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950"/>
              </a:lnSpc>
              <a:spcBef>
                <a:spcPts val="100"/>
              </a:spcBef>
            </a:pPr>
            <a:r>
              <a:rPr sz="1700" b="1" spc="-10" dirty="0">
                <a:latin typeface="Trebuchet MS"/>
                <a:cs typeface="Trebuchet MS"/>
              </a:rPr>
              <a:t>Difficult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ts val="1950"/>
              </a:lnSpc>
            </a:pPr>
            <a:r>
              <a:rPr sz="1700" b="1" spc="-30" dirty="0">
                <a:latin typeface="Trebuchet MS"/>
                <a:cs typeface="Trebuchet MS"/>
              </a:rPr>
              <a:t>Troubleshooting</a:t>
            </a:r>
            <a:endParaRPr sz="17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269617" y="4635627"/>
            <a:ext cx="868680" cy="868680"/>
            <a:chOff x="2269617" y="4635627"/>
            <a:chExt cx="868680" cy="868680"/>
          </a:xfrm>
        </p:grpSpPr>
        <p:sp>
          <p:nvSpPr>
            <p:cNvPr id="10" name="object 10"/>
            <p:cNvSpPr/>
            <p:nvPr/>
          </p:nvSpPr>
          <p:spPr>
            <a:xfrm>
              <a:off x="2275967" y="4641977"/>
              <a:ext cx="855980" cy="855980"/>
            </a:xfrm>
            <a:custGeom>
              <a:avLst/>
              <a:gdLst/>
              <a:ahLst/>
              <a:cxnLst/>
              <a:rect l="l" t="t" r="r" b="b"/>
              <a:pathLst>
                <a:path w="855980" h="855979">
                  <a:moveTo>
                    <a:pt x="427863" y="0"/>
                  </a:moveTo>
                  <a:lnTo>
                    <a:pt x="381234" y="2510"/>
                  </a:lnTo>
                  <a:lnTo>
                    <a:pt x="336062" y="9866"/>
                  </a:lnTo>
                  <a:lnTo>
                    <a:pt x="292607" y="21808"/>
                  </a:lnTo>
                  <a:lnTo>
                    <a:pt x="251130" y="38075"/>
                  </a:lnTo>
                  <a:lnTo>
                    <a:pt x="211892" y="58405"/>
                  </a:lnTo>
                  <a:lnTo>
                    <a:pt x="175153" y="82539"/>
                  </a:lnTo>
                  <a:lnTo>
                    <a:pt x="141174" y="110216"/>
                  </a:lnTo>
                  <a:lnTo>
                    <a:pt x="110216" y="141174"/>
                  </a:lnTo>
                  <a:lnTo>
                    <a:pt x="82539" y="175153"/>
                  </a:lnTo>
                  <a:lnTo>
                    <a:pt x="58405" y="211892"/>
                  </a:lnTo>
                  <a:lnTo>
                    <a:pt x="38075" y="251130"/>
                  </a:lnTo>
                  <a:lnTo>
                    <a:pt x="21808" y="292608"/>
                  </a:lnTo>
                  <a:lnTo>
                    <a:pt x="9866" y="336062"/>
                  </a:lnTo>
                  <a:lnTo>
                    <a:pt x="2510" y="381234"/>
                  </a:lnTo>
                  <a:lnTo>
                    <a:pt x="0" y="427863"/>
                  </a:lnTo>
                  <a:lnTo>
                    <a:pt x="2510" y="474467"/>
                  </a:lnTo>
                  <a:lnTo>
                    <a:pt x="9866" y="519618"/>
                  </a:lnTo>
                  <a:lnTo>
                    <a:pt x="21808" y="563056"/>
                  </a:lnTo>
                  <a:lnTo>
                    <a:pt x="38075" y="604518"/>
                  </a:lnTo>
                  <a:lnTo>
                    <a:pt x="58405" y="643744"/>
                  </a:lnTo>
                  <a:lnTo>
                    <a:pt x="82539" y="680473"/>
                  </a:lnTo>
                  <a:lnTo>
                    <a:pt x="110216" y="714443"/>
                  </a:lnTo>
                  <a:lnTo>
                    <a:pt x="141174" y="745395"/>
                  </a:lnTo>
                  <a:lnTo>
                    <a:pt x="175153" y="773067"/>
                  </a:lnTo>
                  <a:lnTo>
                    <a:pt x="211892" y="797197"/>
                  </a:lnTo>
                  <a:lnTo>
                    <a:pt x="251130" y="817526"/>
                  </a:lnTo>
                  <a:lnTo>
                    <a:pt x="292608" y="833791"/>
                  </a:lnTo>
                  <a:lnTo>
                    <a:pt x="336062" y="845732"/>
                  </a:lnTo>
                  <a:lnTo>
                    <a:pt x="381234" y="853088"/>
                  </a:lnTo>
                  <a:lnTo>
                    <a:pt x="427863" y="855599"/>
                  </a:lnTo>
                  <a:lnTo>
                    <a:pt x="474467" y="853088"/>
                  </a:lnTo>
                  <a:lnTo>
                    <a:pt x="519618" y="845732"/>
                  </a:lnTo>
                  <a:lnTo>
                    <a:pt x="563056" y="833791"/>
                  </a:lnTo>
                  <a:lnTo>
                    <a:pt x="604518" y="817526"/>
                  </a:lnTo>
                  <a:lnTo>
                    <a:pt x="643744" y="797197"/>
                  </a:lnTo>
                  <a:lnTo>
                    <a:pt x="680473" y="773067"/>
                  </a:lnTo>
                  <a:lnTo>
                    <a:pt x="714443" y="745395"/>
                  </a:lnTo>
                  <a:lnTo>
                    <a:pt x="745395" y="714443"/>
                  </a:lnTo>
                  <a:lnTo>
                    <a:pt x="773067" y="680473"/>
                  </a:lnTo>
                  <a:lnTo>
                    <a:pt x="797197" y="643744"/>
                  </a:lnTo>
                  <a:lnTo>
                    <a:pt x="817526" y="604518"/>
                  </a:lnTo>
                  <a:lnTo>
                    <a:pt x="833791" y="563056"/>
                  </a:lnTo>
                  <a:lnTo>
                    <a:pt x="845732" y="519618"/>
                  </a:lnTo>
                  <a:lnTo>
                    <a:pt x="853088" y="474467"/>
                  </a:lnTo>
                  <a:lnTo>
                    <a:pt x="855599" y="427863"/>
                  </a:lnTo>
                  <a:lnTo>
                    <a:pt x="853088" y="381234"/>
                  </a:lnTo>
                  <a:lnTo>
                    <a:pt x="845732" y="336062"/>
                  </a:lnTo>
                  <a:lnTo>
                    <a:pt x="833791" y="292608"/>
                  </a:lnTo>
                  <a:lnTo>
                    <a:pt x="817526" y="251130"/>
                  </a:lnTo>
                  <a:lnTo>
                    <a:pt x="797197" y="211892"/>
                  </a:lnTo>
                  <a:lnTo>
                    <a:pt x="773067" y="175153"/>
                  </a:lnTo>
                  <a:lnTo>
                    <a:pt x="745395" y="141174"/>
                  </a:lnTo>
                  <a:lnTo>
                    <a:pt x="714443" y="110216"/>
                  </a:lnTo>
                  <a:lnTo>
                    <a:pt x="680473" y="82539"/>
                  </a:lnTo>
                  <a:lnTo>
                    <a:pt x="643744" y="58405"/>
                  </a:lnTo>
                  <a:lnTo>
                    <a:pt x="604518" y="38075"/>
                  </a:lnTo>
                  <a:lnTo>
                    <a:pt x="563056" y="21808"/>
                  </a:lnTo>
                  <a:lnTo>
                    <a:pt x="519618" y="9866"/>
                  </a:lnTo>
                  <a:lnTo>
                    <a:pt x="474467" y="2510"/>
                  </a:lnTo>
                  <a:lnTo>
                    <a:pt x="427863" y="0"/>
                  </a:lnTo>
                  <a:close/>
                </a:path>
              </a:pathLst>
            </a:custGeom>
            <a:solidFill>
              <a:srgbClr val="F7D4CD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275967" y="4641977"/>
              <a:ext cx="855980" cy="855980"/>
            </a:xfrm>
            <a:custGeom>
              <a:avLst/>
              <a:gdLst/>
              <a:ahLst/>
              <a:cxnLst/>
              <a:rect l="l" t="t" r="r" b="b"/>
              <a:pathLst>
                <a:path w="855980" h="855979">
                  <a:moveTo>
                    <a:pt x="0" y="427863"/>
                  </a:moveTo>
                  <a:lnTo>
                    <a:pt x="2510" y="381234"/>
                  </a:lnTo>
                  <a:lnTo>
                    <a:pt x="9866" y="336062"/>
                  </a:lnTo>
                  <a:lnTo>
                    <a:pt x="21808" y="292608"/>
                  </a:lnTo>
                  <a:lnTo>
                    <a:pt x="38075" y="251130"/>
                  </a:lnTo>
                  <a:lnTo>
                    <a:pt x="58405" y="211892"/>
                  </a:lnTo>
                  <a:lnTo>
                    <a:pt x="82539" y="175153"/>
                  </a:lnTo>
                  <a:lnTo>
                    <a:pt x="110216" y="141174"/>
                  </a:lnTo>
                  <a:lnTo>
                    <a:pt x="141174" y="110216"/>
                  </a:lnTo>
                  <a:lnTo>
                    <a:pt x="175153" y="82539"/>
                  </a:lnTo>
                  <a:lnTo>
                    <a:pt x="211892" y="58405"/>
                  </a:lnTo>
                  <a:lnTo>
                    <a:pt x="251130" y="38075"/>
                  </a:lnTo>
                  <a:lnTo>
                    <a:pt x="292607" y="21808"/>
                  </a:lnTo>
                  <a:lnTo>
                    <a:pt x="336062" y="9866"/>
                  </a:lnTo>
                  <a:lnTo>
                    <a:pt x="381234" y="2510"/>
                  </a:lnTo>
                  <a:lnTo>
                    <a:pt x="427863" y="0"/>
                  </a:lnTo>
                  <a:lnTo>
                    <a:pt x="474467" y="2510"/>
                  </a:lnTo>
                  <a:lnTo>
                    <a:pt x="519618" y="9866"/>
                  </a:lnTo>
                  <a:lnTo>
                    <a:pt x="563056" y="21808"/>
                  </a:lnTo>
                  <a:lnTo>
                    <a:pt x="604518" y="38075"/>
                  </a:lnTo>
                  <a:lnTo>
                    <a:pt x="643744" y="58405"/>
                  </a:lnTo>
                  <a:lnTo>
                    <a:pt x="680473" y="82539"/>
                  </a:lnTo>
                  <a:lnTo>
                    <a:pt x="714443" y="110216"/>
                  </a:lnTo>
                  <a:lnTo>
                    <a:pt x="745395" y="141174"/>
                  </a:lnTo>
                  <a:lnTo>
                    <a:pt x="773067" y="175153"/>
                  </a:lnTo>
                  <a:lnTo>
                    <a:pt x="797197" y="211892"/>
                  </a:lnTo>
                  <a:lnTo>
                    <a:pt x="817526" y="251130"/>
                  </a:lnTo>
                  <a:lnTo>
                    <a:pt x="833791" y="292608"/>
                  </a:lnTo>
                  <a:lnTo>
                    <a:pt x="845732" y="336062"/>
                  </a:lnTo>
                  <a:lnTo>
                    <a:pt x="853088" y="381234"/>
                  </a:lnTo>
                  <a:lnTo>
                    <a:pt x="855599" y="427863"/>
                  </a:lnTo>
                  <a:lnTo>
                    <a:pt x="853088" y="474467"/>
                  </a:lnTo>
                  <a:lnTo>
                    <a:pt x="845732" y="519618"/>
                  </a:lnTo>
                  <a:lnTo>
                    <a:pt x="833791" y="563056"/>
                  </a:lnTo>
                  <a:lnTo>
                    <a:pt x="817526" y="604518"/>
                  </a:lnTo>
                  <a:lnTo>
                    <a:pt x="797197" y="643744"/>
                  </a:lnTo>
                  <a:lnTo>
                    <a:pt x="773067" y="680473"/>
                  </a:lnTo>
                  <a:lnTo>
                    <a:pt x="745395" y="714443"/>
                  </a:lnTo>
                  <a:lnTo>
                    <a:pt x="714443" y="745395"/>
                  </a:lnTo>
                  <a:lnTo>
                    <a:pt x="680473" y="773067"/>
                  </a:lnTo>
                  <a:lnTo>
                    <a:pt x="643744" y="797197"/>
                  </a:lnTo>
                  <a:lnTo>
                    <a:pt x="604518" y="817526"/>
                  </a:lnTo>
                  <a:lnTo>
                    <a:pt x="563056" y="833791"/>
                  </a:lnTo>
                  <a:lnTo>
                    <a:pt x="519618" y="845732"/>
                  </a:lnTo>
                  <a:lnTo>
                    <a:pt x="474467" y="853088"/>
                  </a:lnTo>
                  <a:lnTo>
                    <a:pt x="427863" y="855599"/>
                  </a:lnTo>
                  <a:lnTo>
                    <a:pt x="381234" y="853088"/>
                  </a:lnTo>
                  <a:lnTo>
                    <a:pt x="336062" y="845732"/>
                  </a:lnTo>
                  <a:lnTo>
                    <a:pt x="292608" y="833791"/>
                  </a:lnTo>
                  <a:lnTo>
                    <a:pt x="251130" y="817526"/>
                  </a:lnTo>
                  <a:lnTo>
                    <a:pt x="211892" y="797197"/>
                  </a:lnTo>
                  <a:lnTo>
                    <a:pt x="175153" y="773067"/>
                  </a:lnTo>
                  <a:lnTo>
                    <a:pt x="141174" y="745395"/>
                  </a:lnTo>
                  <a:lnTo>
                    <a:pt x="110216" y="714443"/>
                  </a:lnTo>
                  <a:lnTo>
                    <a:pt x="82539" y="680473"/>
                  </a:lnTo>
                  <a:lnTo>
                    <a:pt x="58405" y="643744"/>
                  </a:lnTo>
                  <a:lnTo>
                    <a:pt x="38075" y="604518"/>
                  </a:lnTo>
                  <a:lnTo>
                    <a:pt x="21808" y="563056"/>
                  </a:lnTo>
                  <a:lnTo>
                    <a:pt x="9866" y="519618"/>
                  </a:lnTo>
                  <a:lnTo>
                    <a:pt x="2510" y="474467"/>
                  </a:lnTo>
                  <a:lnTo>
                    <a:pt x="0" y="427863"/>
                  </a:lnTo>
                  <a:close/>
                </a:path>
              </a:pathLst>
            </a:custGeom>
            <a:ln w="12700">
              <a:solidFill>
                <a:srgbClr val="F7D4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3343528" y="2692400"/>
            <a:ext cx="2444750" cy="1824989"/>
          </a:xfrm>
          <a:custGeom>
            <a:avLst/>
            <a:gdLst/>
            <a:ahLst/>
            <a:cxnLst/>
            <a:rect l="l" t="t" r="r" b="b"/>
            <a:pathLst>
              <a:path w="2444750" h="1824989">
                <a:moveTo>
                  <a:pt x="146050" y="0"/>
                </a:moveTo>
                <a:lnTo>
                  <a:pt x="2298827" y="0"/>
                </a:lnTo>
                <a:lnTo>
                  <a:pt x="2344921" y="7447"/>
                </a:lnTo>
                <a:lnTo>
                  <a:pt x="2384975" y="28183"/>
                </a:lnTo>
                <a:lnTo>
                  <a:pt x="2416574" y="59801"/>
                </a:lnTo>
                <a:lnTo>
                  <a:pt x="2437303" y="99893"/>
                </a:lnTo>
                <a:lnTo>
                  <a:pt x="2444750" y="146050"/>
                </a:lnTo>
                <a:lnTo>
                  <a:pt x="2444750" y="1824863"/>
                </a:lnTo>
                <a:lnTo>
                  <a:pt x="0" y="1824863"/>
                </a:lnTo>
                <a:lnTo>
                  <a:pt x="0" y="146050"/>
                </a:lnTo>
                <a:lnTo>
                  <a:pt x="7447" y="99893"/>
                </a:lnTo>
                <a:lnTo>
                  <a:pt x="28183" y="59801"/>
                </a:lnTo>
                <a:lnTo>
                  <a:pt x="59801" y="28183"/>
                </a:lnTo>
                <a:lnTo>
                  <a:pt x="99893" y="7447"/>
                </a:lnTo>
                <a:lnTo>
                  <a:pt x="146050" y="0"/>
                </a:lnTo>
                <a:close/>
              </a:path>
            </a:pathLst>
          </a:custGeom>
          <a:ln w="12700">
            <a:solidFill>
              <a:srgbClr val="186B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398265" y="2754248"/>
            <a:ext cx="2280285" cy="110934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84785" marR="5080" indent="-172720">
              <a:lnSpc>
                <a:spcPct val="91400"/>
              </a:lnSpc>
              <a:spcBef>
                <a:spcPts val="290"/>
              </a:spcBef>
              <a:buChar char="•"/>
              <a:tabLst>
                <a:tab pos="184785" algn="l"/>
              </a:tabLst>
            </a:pPr>
            <a:r>
              <a:rPr sz="1900" dirty="0">
                <a:latin typeface="Trebuchet MS"/>
                <a:cs typeface="Trebuchet MS"/>
              </a:rPr>
              <a:t>Devices</a:t>
            </a:r>
            <a:r>
              <a:rPr sz="1900" spc="-95" dirty="0">
                <a:latin typeface="Trebuchet MS"/>
                <a:cs typeface="Trebuchet MS"/>
              </a:rPr>
              <a:t> </a:t>
            </a:r>
            <a:r>
              <a:rPr sz="1900" spc="-65" dirty="0">
                <a:latin typeface="Trebuchet MS"/>
                <a:cs typeface="Trebuchet MS"/>
              </a:rPr>
              <a:t>required</a:t>
            </a:r>
            <a:r>
              <a:rPr sz="1900" spc="-114" dirty="0">
                <a:latin typeface="Trebuchet MS"/>
                <a:cs typeface="Trebuchet MS"/>
              </a:rPr>
              <a:t> </a:t>
            </a:r>
            <a:r>
              <a:rPr sz="1900" spc="-70" dirty="0">
                <a:latin typeface="Trebuchet MS"/>
                <a:cs typeface="Trebuchet MS"/>
              </a:rPr>
              <a:t>for </a:t>
            </a:r>
            <a:r>
              <a:rPr sz="1900" spc="-10" dirty="0">
                <a:latin typeface="Trebuchet MS"/>
                <a:cs typeface="Trebuchet MS"/>
              </a:rPr>
              <a:t>broadband transmission</a:t>
            </a:r>
            <a:r>
              <a:rPr sz="1900" spc="-85" dirty="0">
                <a:latin typeface="Trebuchet MS"/>
                <a:cs typeface="Trebuchet MS"/>
              </a:rPr>
              <a:t> </a:t>
            </a:r>
            <a:r>
              <a:rPr sz="1900" spc="-25" dirty="0">
                <a:latin typeface="Trebuchet MS"/>
                <a:cs typeface="Trebuchet MS"/>
              </a:rPr>
              <a:t>are </a:t>
            </a:r>
            <a:r>
              <a:rPr sz="1900" spc="-85" dirty="0">
                <a:latin typeface="Trebuchet MS"/>
                <a:cs typeface="Trebuchet MS"/>
              </a:rPr>
              <a:t>very</a:t>
            </a:r>
            <a:r>
              <a:rPr sz="1900" spc="-140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costly.</a:t>
            </a:r>
            <a:endParaRPr sz="1900">
              <a:latin typeface="Trebuchet MS"/>
              <a:cs typeface="Trebuchet M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337178" y="4510925"/>
            <a:ext cx="2457450" cy="797560"/>
            <a:chOff x="3337178" y="4510925"/>
            <a:chExt cx="2457450" cy="797560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43528" y="4517275"/>
              <a:ext cx="2444750" cy="78472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343528" y="4517275"/>
              <a:ext cx="2444750" cy="784860"/>
            </a:xfrm>
            <a:custGeom>
              <a:avLst/>
              <a:gdLst/>
              <a:ahLst/>
              <a:cxnLst/>
              <a:rect l="l" t="t" r="r" b="b"/>
              <a:pathLst>
                <a:path w="2444750" h="784860">
                  <a:moveTo>
                    <a:pt x="0" y="784720"/>
                  </a:moveTo>
                  <a:lnTo>
                    <a:pt x="2444750" y="784720"/>
                  </a:lnTo>
                  <a:lnTo>
                    <a:pt x="2444750" y="0"/>
                  </a:lnTo>
                  <a:lnTo>
                    <a:pt x="0" y="0"/>
                  </a:lnTo>
                  <a:lnTo>
                    <a:pt x="0" y="784720"/>
                  </a:lnTo>
                  <a:close/>
                </a:path>
              </a:pathLst>
            </a:custGeom>
            <a:ln w="1270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396234" y="4740097"/>
            <a:ext cx="98171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b="1" spc="-10" dirty="0">
                <a:latin typeface="Trebuchet MS"/>
                <a:cs typeface="Trebuchet MS"/>
              </a:rPr>
              <a:t>High</a:t>
            </a:r>
            <a:r>
              <a:rPr sz="1700" b="1" spc="-175" dirty="0">
                <a:latin typeface="Trebuchet MS"/>
                <a:cs typeface="Trebuchet MS"/>
              </a:rPr>
              <a:t> </a:t>
            </a:r>
            <a:r>
              <a:rPr sz="1700" b="1" spc="30" dirty="0">
                <a:latin typeface="Trebuchet MS"/>
                <a:cs typeface="Trebuchet MS"/>
              </a:rPr>
              <a:t>Cost</a:t>
            </a:r>
            <a:endParaRPr sz="1700">
              <a:latin typeface="Trebuchet MS"/>
              <a:cs typeface="Trebuchet M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128005" y="4635627"/>
            <a:ext cx="868680" cy="868680"/>
            <a:chOff x="5128005" y="4635627"/>
            <a:chExt cx="868680" cy="868680"/>
          </a:xfrm>
        </p:grpSpPr>
        <p:sp>
          <p:nvSpPr>
            <p:cNvPr id="19" name="object 19"/>
            <p:cNvSpPr/>
            <p:nvPr/>
          </p:nvSpPr>
          <p:spPr>
            <a:xfrm>
              <a:off x="5134355" y="4641977"/>
              <a:ext cx="855980" cy="855980"/>
            </a:xfrm>
            <a:custGeom>
              <a:avLst/>
              <a:gdLst/>
              <a:ahLst/>
              <a:cxnLst/>
              <a:rect l="l" t="t" r="r" b="b"/>
              <a:pathLst>
                <a:path w="855979" h="855979">
                  <a:moveTo>
                    <a:pt x="427863" y="0"/>
                  </a:moveTo>
                  <a:lnTo>
                    <a:pt x="381234" y="2510"/>
                  </a:lnTo>
                  <a:lnTo>
                    <a:pt x="336062" y="9866"/>
                  </a:lnTo>
                  <a:lnTo>
                    <a:pt x="292608" y="21808"/>
                  </a:lnTo>
                  <a:lnTo>
                    <a:pt x="251130" y="38075"/>
                  </a:lnTo>
                  <a:lnTo>
                    <a:pt x="211892" y="58405"/>
                  </a:lnTo>
                  <a:lnTo>
                    <a:pt x="175153" y="82539"/>
                  </a:lnTo>
                  <a:lnTo>
                    <a:pt x="141174" y="110216"/>
                  </a:lnTo>
                  <a:lnTo>
                    <a:pt x="110216" y="141174"/>
                  </a:lnTo>
                  <a:lnTo>
                    <a:pt x="82539" y="175153"/>
                  </a:lnTo>
                  <a:lnTo>
                    <a:pt x="58405" y="211892"/>
                  </a:lnTo>
                  <a:lnTo>
                    <a:pt x="38075" y="251130"/>
                  </a:lnTo>
                  <a:lnTo>
                    <a:pt x="21808" y="292608"/>
                  </a:lnTo>
                  <a:lnTo>
                    <a:pt x="9866" y="336062"/>
                  </a:lnTo>
                  <a:lnTo>
                    <a:pt x="2510" y="381234"/>
                  </a:lnTo>
                  <a:lnTo>
                    <a:pt x="0" y="427863"/>
                  </a:lnTo>
                  <a:lnTo>
                    <a:pt x="2510" y="474467"/>
                  </a:lnTo>
                  <a:lnTo>
                    <a:pt x="9866" y="519618"/>
                  </a:lnTo>
                  <a:lnTo>
                    <a:pt x="21808" y="563056"/>
                  </a:lnTo>
                  <a:lnTo>
                    <a:pt x="38075" y="604518"/>
                  </a:lnTo>
                  <a:lnTo>
                    <a:pt x="58405" y="643744"/>
                  </a:lnTo>
                  <a:lnTo>
                    <a:pt x="82539" y="680473"/>
                  </a:lnTo>
                  <a:lnTo>
                    <a:pt x="110216" y="714443"/>
                  </a:lnTo>
                  <a:lnTo>
                    <a:pt x="141174" y="745395"/>
                  </a:lnTo>
                  <a:lnTo>
                    <a:pt x="175153" y="773067"/>
                  </a:lnTo>
                  <a:lnTo>
                    <a:pt x="211892" y="797197"/>
                  </a:lnTo>
                  <a:lnTo>
                    <a:pt x="251130" y="817526"/>
                  </a:lnTo>
                  <a:lnTo>
                    <a:pt x="292608" y="833791"/>
                  </a:lnTo>
                  <a:lnTo>
                    <a:pt x="336062" y="845732"/>
                  </a:lnTo>
                  <a:lnTo>
                    <a:pt x="381234" y="853088"/>
                  </a:lnTo>
                  <a:lnTo>
                    <a:pt x="427863" y="855599"/>
                  </a:lnTo>
                  <a:lnTo>
                    <a:pt x="474467" y="853088"/>
                  </a:lnTo>
                  <a:lnTo>
                    <a:pt x="519618" y="845732"/>
                  </a:lnTo>
                  <a:lnTo>
                    <a:pt x="563056" y="833791"/>
                  </a:lnTo>
                  <a:lnTo>
                    <a:pt x="604518" y="817526"/>
                  </a:lnTo>
                  <a:lnTo>
                    <a:pt x="643744" y="797197"/>
                  </a:lnTo>
                  <a:lnTo>
                    <a:pt x="680473" y="773067"/>
                  </a:lnTo>
                  <a:lnTo>
                    <a:pt x="714443" y="745395"/>
                  </a:lnTo>
                  <a:lnTo>
                    <a:pt x="745395" y="714443"/>
                  </a:lnTo>
                  <a:lnTo>
                    <a:pt x="773067" y="680473"/>
                  </a:lnTo>
                  <a:lnTo>
                    <a:pt x="797197" y="643744"/>
                  </a:lnTo>
                  <a:lnTo>
                    <a:pt x="817526" y="604518"/>
                  </a:lnTo>
                  <a:lnTo>
                    <a:pt x="833791" y="563056"/>
                  </a:lnTo>
                  <a:lnTo>
                    <a:pt x="845732" y="519618"/>
                  </a:lnTo>
                  <a:lnTo>
                    <a:pt x="853088" y="474467"/>
                  </a:lnTo>
                  <a:lnTo>
                    <a:pt x="855599" y="427863"/>
                  </a:lnTo>
                  <a:lnTo>
                    <a:pt x="853088" y="381234"/>
                  </a:lnTo>
                  <a:lnTo>
                    <a:pt x="845732" y="336062"/>
                  </a:lnTo>
                  <a:lnTo>
                    <a:pt x="833791" y="292608"/>
                  </a:lnTo>
                  <a:lnTo>
                    <a:pt x="817526" y="251130"/>
                  </a:lnTo>
                  <a:lnTo>
                    <a:pt x="797197" y="211892"/>
                  </a:lnTo>
                  <a:lnTo>
                    <a:pt x="773067" y="175153"/>
                  </a:lnTo>
                  <a:lnTo>
                    <a:pt x="745395" y="141174"/>
                  </a:lnTo>
                  <a:lnTo>
                    <a:pt x="714443" y="110216"/>
                  </a:lnTo>
                  <a:lnTo>
                    <a:pt x="680473" y="82539"/>
                  </a:lnTo>
                  <a:lnTo>
                    <a:pt x="643744" y="58405"/>
                  </a:lnTo>
                  <a:lnTo>
                    <a:pt x="604518" y="38075"/>
                  </a:lnTo>
                  <a:lnTo>
                    <a:pt x="563056" y="21808"/>
                  </a:lnTo>
                  <a:lnTo>
                    <a:pt x="519618" y="9866"/>
                  </a:lnTo>
                  <a:lnTo>
                    <a:pt x="474467" y="2510"/>
                  </a:lnTo>
                  <a:lnTo>
                    <a:pt x="427863" y="0"/>
                  </a:lnTo>
                  <a:close/>
                </a:path>
              </a:pathLst>
            </a:custGeom>
            <a:solidFill>
              <a:srgbClr val="CCD3CC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134355" y="4641977"/>
              <a:ext cx="855980" cy="855980"/>
            </a:xfrm>
            <a:custGeom>
              <a:avLst/>
              <a:gdLst/>
              <a:ahLst/>
              <a:cxnLst/>
              <a:rect l="l" t="t" r="r" b="b"/>
              <a:pathLst>
                <a:path w="855979" h="855979">
                  <a:moveTo>
                    <a:pt x="0" y="427863"/>
                  </a:moveTo>
                  <a:lnTo>
                    <a:pt x="2510" y="381234"/>
                  </a:lnTo>
                  <a:lnTo>
                    <a:pt x="9866" y="336062"/>
                  </a:lnTo>
                  <a:lnTo>
                    <a:pt x="21808" y="292608"/>
                  </a:lnTo>
                  <a:lnTo>
                    <a:pt x="38075" y="251130"/>
                  </a:lnTo>
                  <a:lnTo>
                    <a:pt x="58405" y="211892"/>
                  </a:lnTo>
                  <a:lnTo>
                    <a:pt x="82539" y="175153"/>
                  </a:lnTo>
                  <a:lnTo>
                    <a:pt x="110216" y="141174"/>
                  </a:lnTo>
                  <a:lnTo>
                    <a:pt x="141174" y="110216"/>
                  </a:lnTo>
                  <a:lnTo>
                    <a:pt x="175153" y="82539"/>
                  </a:lnTo>
                  <a:lnTo>
                    <a:pt x="211892" y="58405"/>
                  </a:lnTo>
                  <a:lnTo>
                    <a:pt x="251130" y="38075"/>
                  </a:lnTo>
                  <a:lnTo>
                    <a:pt x="292608" y="21808"/>
                  </a:lnTo>
                  <a:lnTo>
                    <a:pt x="336062" y="9866"/>
                  </a:lnTo>
                  <a:lnTo>
                    <a:pt x="381234" y="2510"/>
                  </a:lnTo>
                  <a:lnTo>
                    <a:pt x="427863" y="0"/>
                  </a:lnTo>
                  <a:lnTo>
                    <a:pt x="474467" y="2510"/>
                  </a:lnTo>
                  <a:lnTo>
                    <a:pt x="519618" y="9866"/>
                  </a:lnTo>
                  <a:lnTo>
                    <a:pt x="563056" y="21808"/>
                  </a:lnTo>
                  <a:lnTo>
                    <a:pt x="604518" y="38075"/>
                  </a:lnTo>
                  <a:lnTo>
                    <a:pt x="643744" y="58405"/>
                  </a:lnTo>
                  <a:lnTo>
                    <a:pt x="680473" y="82539"/>
                  </a:lnTo>
                  <a:lnTo>
                    <a:pt x="714443" y="110216"/>
                  </a:lnTo>
                  <a:lnTo>
                    <a:pt x="745395" y="141174"/>
                  </a:lnTo>
                  <a:lnTo>
                    <a:pt x="773067" y="175153"/>
                  </a:lnTo>
                  <a:lnTo>
                    <a:pt x="797197" y="211892"/>
                  </a:lnTo>
                  <a:lnTo>
                    <a:pt x="817526" y="251130"/>
                  </a:lnTo>
                  <a:lnTo>
                    <a:pt x="833791" y="292608"/>
                  </a:lnTo>
                  <a:lnTo>
                    <a:pt x="845732" y="336062"/>
                  </a:lnTo>
                  <a:lnTo>
                    <a:pt x="853088" y="381234"/>
                  </a:lnTo>
                  <a:lnTo>
                    <a:pt x="855599" y="427863"/>
                  </a:lnTo>
                  <a:lnTo>
                    <a:pt x="853088" y="474467"/>
                  </a:lnTo>
                  <a:lnTo>
                    <a:pt x="845732" y="519618"/>
                  </a:lnTo>
                  <a:lnTo>
                    <a:pt x="833791" y="563056"/>
                  </a:lnTo>
                  <a:lnTo>
                    <a:pt x="817526" y="604518"/>
                  </a:lnTo>
                  <a:lnTo>
                    <a:pt x="797197" y="643744"/>
                  </a:lnTo>
                  <a:lnTo>
                    <a:pt x="773067" y="680473"/>
                  </a:lnTo>
                  <a:lnTo>
                    <a:pt x="745395" y="714443"/>
                  </a:lnTo>
                  <a:lnTo>
                    <a:pt x="714443" y="745395"/>
                  </a:lnTo>
                  <a:lnTo>
                    <a:pt x="680473" y="773067"/>
                  </a:lnTo>
                  <a:lnTo>
                    <a:pt x="643744" y="797197"/>
                  </a:lnTo>
                  <a:lnTo>
                    <a:pt x="604518" y="817526"/>
                  </a:lnTo>
                  <a:lnTo>
                    <a:pt x="563056" y="833791"/>
                  </a:lnTo>
                  <a:lnTo>
                    <a:pt x="519618" y="845732"/>
                  </a:lnTo>
                  <a:lnTo>
                    <a:pt x="474467" y="853088"/>
                  </a:lnTo>
                  <a:lnTo>
                    <a:pt x="427863" y="855599"/>
                  </a:lnTo>
                  <a:lnTo>
                    <a:pt x="381234" y="853088"/>
                  </a:lnTo>
                  <a:lnTo>
                    <a:pt x="336062" y="845732"/>
                  </a:lnTo>
                  <a:lnTo>
                    <a:pt x="292608" y="833791"/>
                  </a:lnTo>
                  <a:lnTo>
                    <a:pt x="251130" y="817526"/>
                  </a:lnTo>
                  <a:lnTo>
                    <a:pt x="211892" y="797197"/>
                  </a:lnTo>
                  <a:lnTo>
                    <a:pt x="175153" y="773067"/>
                  </a:lnTo>
                  <a:lnTo>
                    <a:pt x="141174" y="745395"/>
                  </a:lnTo>
                  <a:lnTo>
                    <a:pt x="110216" y="714443"/>
                  </a:lnTo>
                  <a:lnTo>
                    <a:pt x="82539" y="680473"/>
                  </a:lnTo>
                  <a:lnTo>
                    <a:pt x="58405" y="643744"/>
                  </a:lnTo>
                  <a:lnTo>
                    <a:pt x="38075" y="604518"/>
                  </a:lnTo>
                  <a:lnTo>
                    <a:pt x="21808" y="563056"/>
                  </a:lnTo>
                  <a:lnTo>
                    <a:pt x="9866" y="519618"/>
                  </a:lnTo>
                  <a:lnTo>
                    <a:pt x="2510" y="474467"/>
                  </a:lnTo>
                  <a:lnTo>
                    <a:pt x="0" y="427863"/>
                  </a:lnTo>
                  <a:close/>
                </a:path>
              </a:pathLst>
            </a:custGeom>
            <a:ln w="12700">
              <a:solidFill>
                <a:srgbClr val="CCD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/>
          <p:nvPr/>
        </p:nvSpPr>
        <p:spPr>
          <a:xfrm>
            <a:off x="6202045" y="2692400"/>
            <a:ext cx="2444750" cy="1824989"/>
          </a:xfrm>
          <a:custGeom>
            <a:avLst/>
            <a:gdLst/>
            <a:ahLst/>
            <a:cxnLst/>
            <a:rect l="l" t="t" r="r" b="b"/>
            <a:pathLst>
              <a:path w="2444750" h="1824989">
                <a:moveTo>
                  <a:pt x="145922" y="0"/>
                </a:moveTo>
                <a:lnTo>
                  <a:pt x="2298700" y="0"/>
                </a:lnTo>
                <a:lnTo>
                  <a:pt x="2344843" y="7447"/>
                </a:lnTo>
                <a:lnTo>
                  <a:pt x="2384903" y="28183"/>
                </a:lnTo>
                <a:lnTo>
                  <a:pt x="2416483" y="59801"/>
                </a:lnTo>
                <a:lnTo>
                  <a:pt x="2437188" y="99893"/>
                </a:lnTo>
                <a:lnTo>
                  <a:pt x="2444623" y="146050"/>
                </a:lnTo>
                <a:lnTo>
                  <a:pt x="2444623" y="1824863"/>
                </a:lnTo>
                <a:lnTo>
                  <a:pt x="0" y="1824863"/>
                </a:lnTo>
                <a:lnTo>
                  <a:pt x="0" y="146050"/>
                </a:lnTo>
                <a:lnTo>
                  <a:pt x="7434" y="99893"/>
                </a:lnTo>
                <a:lnTo>
                  <a:pt x="28139" y="59801"/>
                </a:lnTo>
                <a:lnTo>
                  <a:pt x="59719" y="28183"/>
                </a:lnTo>
                <a:lnTo>
                  <a:pt x="99779" y="7447"/>
                </a:lnTo>
                <a:lnTo>
                  <a:pt x="145922" y="0"/>
                </a:lnTo>
                <a:close/>
              </a:path>
            </a:pathLst>
          </a:custGeom>
          <a:ln w="12700">
            <a:solidFill>
              <a:srgbClr val="0E9E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257035" y="2754248"/>
            <a:ext cx="2233295" cy="163957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84785" marR="5080" indent="-172720">
              <a:lnSpc>
                <a:spcPct val="91500"/>
              </a:lnSpc>
              <a:spcBef>
                <a:spcPts val="290"/>
              </a:spcBef>
              <a:buChar char="•"/>
              <a:tabLst>
                <a:tab pos="184785" algn="l"/>
              </a:tabLst>
            </a:pPr>
            <a:r>
              <a:rPr sz="1900" spc="-20" dirty="0">
                <a:latin typeface="Trebuchet MS"/>
                <a:cs typeface="Trebuchet MS"/>
              </a:rPr>
              <a:t>A</a:t>
            </a:r>
            <a:r>
              <a:rPr sz="1900" spc="-170" dirty="0">
                <a:latin typeface="Trebuchet MS"/>
                <a:cs typeface="Trebuchet MS"/>
              </a:rPr>
              <a:t> </a:t>
            </a:r>
            <a:r>
              <a:rPr sz="1900" spc="-100" dirty="0">
                <a:latin typeface="Trebuchet MS"/>
                <a:cs typeface="Trebuchet MS"/>
              </a:rPr>
              <a:t>tree</a:t>
            </a:r>
            <a:r>
              <a:rPr sz="1900" spc="-165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topology </a:t>
            </a:r>
            <a:r>
              <a:rPr sz="1900" spc="-45" dirty="0">
                <a:latin typeface="Trebuchet MS"/>
                <a:cs typeface="Trebuchet MS"/>
              </a:rPr>
              <a:t>mainly</a:t>
            </a:r>
            <a:r>
              <a:rPr sz="1900" spc="-145" dirty="0">
                <a:latin typeface="Trebuchet MS"/>
                <a:cs typeface="Trebuchet MS"/>
              </a:rPr>
              <a:t> </a:t>
            </a:r>
            <a:r>
              <a:rPr sz="1900" spc="-50" dirty="0">
                <a:latin typeface="Trebuchet MS"/>
                <a:cs typeface="Trebuchet MS"/>
              </a:rPr>
              <a:t>relies</a:t>
            </a:r>
            <a:r>
              <a:rPr sz="1900" spc="-130" dirty="0">
                <a:latin typeface="Trebuchet MS"/>
                <a:cs typeface="Trebuchet MS"/>
              </a:rPr>
              <a:t> </a:t>
            </a:r>
            <a:r>
              <a:rPr sz="1900" spc="-25" dirty="0">
                <a:latin typeface="Trebuchet MS"/>
                <a:cs typeface="Trebuchet MS"/>
              </a:rPr>
              <a:t>on </a:t>
            </a:r>
            <a:r>
              <a:rPr sz="1900" spc="-20" dirty="0">
                <a:latin typeface="Trebuchet MS"/>
                <a:cs typeface="Trebuchet MS"/>
              </a:rPr>
              <a:t>main</a:t>
            </a:r>
            <a:r>
              <a:rPr sz="1900" spc="-170" dirty="0">
                <a:latin typeface="Trebuchet MS"/>
                <a:cs typeface="Trebuchet MS"/>
              </a:rPr>
              <a:t> </a:t>
            </a:r>
            <a:r>
              <a:rPr sz="1900" spc="55" dirty="0">
                <a:latin typeface="Trebuchet MS"/>
                <a:cs typeface="Trebuchet MS"/>
              </a:rPr>
              <a:t>bus</a:t>
            </a:r>
            <a:r>
              <a:rPr sz="1900" spc="-160" dirty="0">
                <a:latin typeface="Trebuchet MS"/>
                <a:cs typeface="Trebuchet MS"/>
              </a:rPr>
              <a:t> </a:t>
            </a:r>
            <a:r>
              <a:rPr sz="1900" spc="-20" dirty="0">
                <a:latin typeface="Trebuchet MS"/>
                <a:cs typeface="Trebuchet MS"/>
              </a:rPr>
              <a:t>cable</a:t>
            </a:r>
            <a:r>
              <a:rPr sz="1900" spc="-165" dirty="0">
                <a:latin typeface="Trebuchet MS"/>
                <a:cs typeface="Trebuchet MS"/>
              </a:rPr>
              <a:t> </a:t>
            </a:r>
            <a:r>
              <a:rPr sz="1900" spc="-25" dirty="0">
                <a:latin typeface="Trebuchet MS"/>
                <a:cs typeface="Trebuchet MS"/>
              </a:rPr>
              <a:t>and </a:t>
            </a:r>
            <a:r>
              <a:rPr sz="1900" spc="-75" dirty="0">
                <a:latin typeface="Trebuchet MS"/>
                <a:cs typeface="Trebuchet MS"/>
              </a:rPr>
              <a:t>failure</a:t>
            </a:r>
            <a:r>
              <a:rPr sz="1900" spc="-160" dirty="0">
                <a:latin typeface="Trebuchet MS"/>
                <a:cs typeface="Trebuchet MS"/>
              </a:rPr>
              <a:t> </a:t>
            </a:r>
            <a:r>
              <a:rPr sz="1900" spc="-50" dirty="0">
                <a:latin typeface="Trebuchet MS"/>
                <a:cs typeface="Trebuchet MS"/>
              </a:rPr>
              <a:t>in</a:t>
            </a:r>
            <a:r>
              <a:rPr sz="1900" spc="-165" dirty="0">
                <a:latin typeface="Trebuchet MS"/>
                <a:cs typeface="Trebuchet MS"/>
              </a:rPr>
              <a:t> </a:t>
            </a:r>
            <a:r>
              <a:rPr sz="1900" spc="-20" dirty="0">
                <a:latin typeface="Trebuchet MS"/>
                <a:cs typeface="Trebuchet MS"/>
              </a:rPr>
              <a:t>main</a:t>
            </a:r>
            <a:r>
              <a:rPr sz="1900" spc="-165" dirty="0">
                <a:latin typeface="Trebuchet MS"/>
                <a:cs typeface="Trebuchet MS"/>
              </a:rPr>
              <a:t> </a:t>
            </a:r>
            <a:r>
              <a:rPr sz="1900" spc="-25" dirty="0">
                <a:latin typeface="Trebuchet MS"/>
                <a:cs typeface="Trebuchet MS"/>
              </a:rPr>
              <a:t>bus </a:t>
            </a:r>
            <a:r>
              <a:rPr sz="1900" spc="-20" dirty="0">
                <a:latin typeface="Trebuchet MS"/>
                <a:cs typeface="Trebuchet MS"/>
              </a:rPr>
              <a:t>cable</a:t>
            </a:r>
            <a:r>
              <a:rPr sz="1900" spc="-150" dirty="0">
                <a:latin typeface="Trebuchet MS"/>
                <a:cs typeface="Trebuchet MS"/>
              </a:rPr>
              <a:t> </a:t>
            </a:r>
            <a:r>
              <a:rPr sz="1900" spc="-80" dirty="0">
                <a:latin typeface="Trebuchet MS"/>
                <a:cs typeface="Trebuchet MS"/>
              </a:rPr>
              <a:t>will</a:t>
            </a:r>
            <a:r>
              <a:rPr sz="1900" spc="-165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damage </a:t>
            </a:r>
            <a:r>
              <a:rPr sz="1900" spc="-65" dirty="0">
                <a:latin typeface="Trebuchet MS"/>
                <a:cs typeface="Trebuchet MS"/>
              </a:rPr>
              <a:t>the</a:t>
            </a:r>
            <a:r>
              <a:rPr sz="1900" spc="-155" dirty="0">
                <a:latin typeface="Trebuchet MS"/>
                <a:cs typeface="Trebuchet MS"/>
              </a:rPr>
              <a:t> </a:t>
            </a:r>
            <a:r>
              <a:rPr sz="1900" spc="-75" dirty="0">
                <a:latin typeface="Trebuchet MS"/>
                <a:cs typeface="Trebuchet MS"/>
              </a:rPr>
              <a:t>overall</a:t>
            </a:r>
            <a:r>
              <a:rPr sz="1900" spc="-125" dirty="0">
                <a:latin typeface="Trebuchet MS"/>
                <a:cs typeface="Trebuchet MS"/>
              </a:rPr>
              <a:t> </a:t>
            </a:r>
            <a:r>
              <a:rPr sz="1900" spc="-70" dirty="0">
                <a:latin typeface="Trebuchet MS"/>
                <a:cs typeface="Trebuchet MS"/>
              </a:rPr>
              <a:t>network.</a:t>
            </a:r>
            <a:endParaRPr sz="1900">
              <a:latin typeface="Trebuchet MS"/>
              <a:cs typeface="Trebuchet MS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195695" y="4510925"/>
            <a:ext cx="2457450" cy="797560"/>
            <a:chOff x="6195695" y="4510925"/>
            <a:chExt cx="2457450" cy="797560"/>
          </a:xfrm>
        </p:grpSpPr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02045" y="4517275"/>
              <a:ext cx="2444750" cy="78472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202045" y="4517275"/>
              <a:ext cx="2444750" cy="784860"/>
            </a:xfrm>
            <a:custGeom>
              <a:avLst/>
              <a:gdLst/>
              <a:ahLst/>
              <a:cxnLst/>
              <a:rect l="l" t="t" r="r" b="b"/>
              <a:pathLst>
                <a:path w="2444750" h="784860">
                  <a:moveTo>
                    <a:pt x="0" y="784720"/>
                  </a:moveTo>
                  <a:lnTo>
                    <a:pt x="2444750" y="784720"/>
                  </a:lnTo>
                  <a:lnTo>
                    <a:pt x="2444750" y="0"/>
                  </a:lnTo>
                  <a:lnTo>
                    <a:pt x="0" y="0"/>
                  </a:lnTo>
                  <a:lnTo>
                    <a:pt x="0" y="784720"/>
                  </a:lnTo>
                  <a:close/>
                </a:path>
              </a:pathLst>
            </a:custGeom>
            <a:ln w="12700">
              <a:solidFill>
                <a:srgbClr val="0E9E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254877" y="4740097"/>
            <a:ext cx="70231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b="1" spc="-40" dirty="0">
                <a:latin typeface="Trebuchet MS"/>
                <a:cs typeface="Trebuchet MS"/>
              </a:rPr>
              <a:t>Failure</a:t>
            </a:r>
            <a:endParaRPr sz="1700">
              <a:latin typeface="Trebuchet MS"/>
              <a:cs typeface="Trebuchet MS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986394" y="4635627"/>
            <a:ext cx="868680" cy="868680"/>
            <a:chOff x="7986394" y="4635627"/>
            <a:chExt cx="868680" cy="868680"/>
          </a:xfrm>
        </p:grpSpPr>
        <p:sp>
          <p:nvSpPr>
            <p:cNvPr id="28" name="object 28"/>
            <p:cNvSpPr/>
            <p:nvPr/>
          </p:nvSpPr>
          <p:spPr>
            <a:xfrm>
              <a:off x="7992744" y="4641977"/>
              <a:ext cx="855980" cy="855980"/>
            </a:xfrm>
            <a:custGeom>
              <a:avLst/>
              <a:gdLst/>
              <a:ahLst/>
              <a:cxnLst/>
              <a:rect l="l" t="t" r="r" b="b"/>
              <a:pathLst>
                <a:path w="855979" h="855979">
                  <a:moveTo>
                    <a:pt x="427862" y="0"/>
                  </a:moveTo>
                  <a:lnTo>
                    <a:pt x="381234" y="2510"/>
                  </a:lnTo>
                  <a:lnTo>
                    <a:pt x="336062" y="9866"/>
                  </a:lnTo>
                  <a:lnTo>
                    <a:pt x="292607" y="21808"/>
                  </a:lnTo>
                  <a:lnTo>
                    <a:pt x="251130" y="38075"/>
                  </a:lnTo>
                  <a:lnTo>
                    <a:pt x="211892" y="58405"/>
                  </a:lnTo>
                  <a:lnTo>
                    <a:pt x="175153" y="82539"/>
                  </a:lnTo>
                  <a:lnTo>
                    <a:pt x="141174" y="110216"/>
                  </a:lnTo>
                  <a:lnTo>
                    <a:pt x="110216" y="141174"/>
                  </a:lnTo>
                  <a:lnTo>
                    <a:pt x="82539" y="175153"/>
                  </a:lnTo>
                  <a:lnTo>
                    <a:pt x="58405" y="211892"/>
                  </a:lnTo>
                  <a:lnTo>
                    <a:pt x="38075" y="251130"/>
                  </a:lnTo>
                  <a:lnTo>
                    <a:pt x="21808" y="292608"/>
                  </a:lnTo>
                  <a:lnTo>
                    <a:pt x="9866" y="336062"/>
                  </a:lnTo>
                  <a:lnTo>
                    <a:pt x="2510" y="381234"/>
                  </a:lnTo>
                  <a:lnTo>
                    <a:pt x="0" y="427863"/>
                  </a:lnTo>
                  <a:lnTo>
                    <a:pt x="2510" y="474467"/>
                  </a:lnTo>
                  <a:lnTo>
                    <a:pt x="9866" y="519618"/>
                  </a:lnTo>
                  <a:lnTo>
                    <a:pt x="21808" y="563056"/>
                  </a:lnTo>
                  <a:lnTo>
                    <a:pt x="38075" y="604518"/>
                  </a:lnTo>
                  <a:lnTo>
                    <a:pt x="58405" y="643744"/>
                  </a:lnTo>
                  <a:lnTo>
                    <a:pt x="82539" y="680473"/>
                  </a:lnTo>
                  <a:lnTo>
                    <a:pt x="110216" y="714443"/>
                  </a:lnTo>
                  <a:lnTo>
                    <a:pt x="141174" y="745395"/>
                  </a:lnTo>
                  <a:lnTo>
                    <a:pt x="175153" y="773067"/>
                  </a:lnTo>
                  <a:lnTo>
                    <a:pt x="211892" y="797197"/>
                  </a:lnTo>
                  <a:lnTo>
                    <a:pt x="251130" y="817526"/>
                  </a:lnTo>
                  <a:lnTo>
                    <a:pt x="292607" y="833791"/>
                  </a:lnTo>
                  <a:lnTo>
                    <a:pt x="336062" y="845732"/>
                  </a:lnTo>
                  <a:lnTo>
                    <a:pt x="381234" y="853088"/>
                  </a:lnTo>
                  <a:lnTo>
                    <a:pt x="427862" y="855599"/>
                  </a:lnTo>
                  <a:lnTo>
                    <a:pt x="474469" y="853088"/>
                  </a:lnTo>
                  <a:lnTo>
                    <a:pt x="519624" y="845732"/>
                  </a:lnTo>
                  <a:lnTo>
                    <a:pt x="563069" y="833791"/>
                  </a:lnTo>
                  <a:lnTo>
                    <a:pt x="604540" y="817526"/>
                  </a:lnTo>
                  <a:lnTo>
                    <a:pt x="643777" y="797197"/>
                  </a:lnTo>
                  <a:lnTo>
                    <a:pt x="680517" y="773067"/>
                  </a:lnTo>
                  <a:lnTo>
                    <a:pt x="714501" y="745395"/>
                  </a:lnTo>
                  <a:lnTo>
                    <a:pt x="745465" y="714443"/>
                  </a:lnTo>
                  <a:lnTo>
                    <a:pt x="773149" y="680473"/>
                  </a:lnTo>
                  <a:lnTo>
                    <a:pt x="797291" y="643744"/>
                  </a:lnTo>
                  <a:lnTo>
                    <a:pt x="817630" y="604518"/>
                  </a:lnTo>
                  <a:lnTo>
                    <a:pt x="833905" y="563056"/>
                  </a:lnTo>
                  <a:lnTo>
                    <a:pt x="845853" y="519618"/>
                  </a:lnTo>
                  <a:lnTo>
                    <a:pt x="853214" y="474467"/>
                  </a:lnTo>
                  <a:lnTo>
                    <a:pt x="855726" y="427863"/>
                  </a:lnTo>
                  <a:lnTo>
                    <a:pt x="853214" y="381234"/>
                  </a:lnTo>
                  <a:lnTo>
                    <a:pt x="845853" y="336062"/>
                  </a:lnTo>
                  <a:lnTo>
                    <a:pt x="833905" y="292608"/>
                  </a:lnTo>
                  <a:lnTo>
                    <a:pt x="817630" y="251130"/>
                  </a:lnTo>
                  <a:lnTo>
                    <a:pt x="797291" y="211892"/>
                  </a:lnTo>
                  <a:lnTo>
                    <a:pt x="773149" y="175153"/>
                  </a:lnTo>
                  <a:lnTo>
                    <a:pt x="745465" y="141174"/>
                  </a:lnTo>
                  <a:lnTo>
                    <a:pt x="714501" y="110216"/>
                  </a:lnTo>
                  <a:lnTo>
                    <a:pt x="680517" y="82539"/>
                  </a:lnTo>
                  <a:lnTo>
                    <a:pt x="643777" y="58405"/>
                  </a:lnTo>
                  <a:lnTo>
                    <a:pt x="604540" y="38075"/>
                  </a:lnTo>
                  <a:lnTo>
                    <a:pt x="563069" y="21808"/>
                  </a:lnTo>
                  <a:lnTo>
                    <a:pt x="519624" y="9866"/>
                  </a:lnTo>
                  <a:lnTo>
                    <a:pt x="474469" y="2510"/>
                  </a:lnTo>
                  <a:lnTo>
                    <a:pt x="427862" y="0"/>
                  </a:lnTo>
                  <a:close/>
                </a:path>
              </a:pathLst>
            </a:custGeom>
            <a:solidFill>
              <a:srgbClr val="CCDFEE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992744" y="4641977"/>
              <a:ext cx="855980" cy="855980"/>
            </a:xfrm>
            <a:custGeom>
              <a:avLst/>
              <a:gdLst/>
              <a:ahLst/>
              <a:cxnLst/>
              <a:rect l="l" t="t" r="r" b="b"/>
              <a:pathLst>
                <a:path w="855979" h="855979">
                  <a:moveTo>
                    <a:pt x="0" y="427863"/>
                  </a:moveTo>
                  <a:lnTo>
                    <a:pt x="2510" y="381234"/>
                  </a:lnTo>
                  <a:lnTo>
                    <a:pt x="9866" y="336062"/>
                  </a:lnTo>
                  <a:lnTo>
                    <a:pt x="21808" y="292608"/>
                  </a:lnTo>
                  <a:lnTo>
                    <a:pt x="38075" y="251130"/>
                  </a:lnTo>
                  <a:lnTo>
                    <a:pt x="58405" y="211892"/>
                  </a:lnTo>
                  <a:lnTo>
                    <a:pt x="82539" y="175153"/>
                  </a:lnTo>
                  <a:lnTo>
                    <a:pt x="110216" y="141174"/>
                  </a:lnTo>
                  <a:lnTo>
                    <a:pt x="141174" y="110216"/>
                  </a:lnTo>
                  <a:lnTo>
                    <a:pt x="175153" y="82539"/>
                  </a:lnTo>
                  <a:lnTo>
                    <a:pt x="211892" y="58405"/>
                  </a:lnTo>
                  <a:lnTo>
                    <a:pt x="251130" y="38075"/>
                  </a:lnTo>
                  <a:lnTo>
                    <a:pt x="292607" y="21808"/>
                  </a:lnTo>
                  <a:lnTo>
                    <a:pt x="336062" y="9866"/>
                  </a:lnTo>
                  <a:lnTo>
                    <a:pt x="381234" y="2510"/>
                  </a:lnTo>
                  <a:lnTo>
                    <a:pt x="427862" y="0"/>
                  </a:lnTo>
                  <a:lnTo>
                    <a:pt x="474469" y="2510"/>
                  </a:lnTo>
                  <a:lnTo>
                    <a:pt x="519624" y="9866"/>
                  </a:lnTo>
                  <a:lnTo>
                    <a:pt x="563069" y="21808"/>
                  </a:lnTo>
                  <a:lnTo>
                    <a:pt x="604540" y="38075"/>
                  </a:lnTo>
                  <a:lnTo>
                    <a:pt x="643777" y="58405"/>
                  </a:lnTo>
                  <a:lnTo>
                    <a:pt x="680517" y="82539"/>
                  </a:lnTo>
                  <a:lnTo>
                    <a:pt x="714501" y="110216"/>
                  </a:lnTo>
                  <a:lnTo>
                    <a:pt x="745465" y="141174"/>
                  </a:lnTo>
                  <a:lnTo>
                    <a:pt x="773149" y="175153"/>
                  </a:lnTo>
                  <a:lnTo>
                    <a:pt x="797291" y="211892"/>
                  </a:lnTo>
                  <a:lnTo>
                    <a:pt x="817630" y="251130"/>
                  </a:lnTo>
                  <a:lnTo>
                    <a:pt x="833905" y="292608"/>
                  </a:lnTo>
                  <a:lnTo>
                    <a:pt x="845853" y="336062"/>
                  </a:lnTo>
                  <a:lnTo>
                    <a:pt x="853214" y="381234"/>
                  </a:lnTo>
                  <a:lnTo>
                    <a:pt x="855726" y="427863"/>
                  </a:lnTo>
                  <a:lnTo>
                    <a:pt x="853214" y="474467"/>
                  </a:lnTo>
                  <a:lnTo>
                    <a:pt x="845853" y="519618"/>
                  </a:lnTo>
                  <a:lnTo>
                    <a:pt x="833905" y="563056"/>
                  </a:lnTo>
                  <a:lnTo>
                    <a:pt x="817630" y="604518"/>
                  </a:lnTo>
                  <a:lnTo>
                    <a:pt x="797291" y="643744"/>
                  </a:lnTo>
                  <a:lnTo>
                    <a:pt x="773149" y="680473"/>
                  </a:lnTo>
                  <a:lnTo>
                    <a:pt x="745465" y="714443"/>
                  </a:lnTo>
                  <a:lnTo>
                    <a:pt x="714501" y="745395"/>
                  </a:lnTo>
                  <a:lnTo>
                    <a:pt x="680517" y="773067"/>
                  </a:lnTo>
                  <a:lnTo>
                    <a:pt x="643777" y="797197"/>
                  </a:lnTo>
                  <a:lnTo>
                    <a:pt x="604540" y="817526"/>
                  </a:lnTo>
                  <a:lnTo>
                    <a:pt x="563069" y="833791"/>
                  </a:lnTo>
                  <a:lnTo>
                    <a:pt x="519624" y="845732"/>
                  </a:lnTo>
                  <a:lnTo>
                    <a:pt x="474469" y="853088"/>
                  </a:lnTo>
                  <a:lnTo>
                    <a:pt x="427862" y="855599"/>
                  </a:lnTo>
                  <a:lnTo>
                    <a:pt x="381234" y="853088"/>
                  </a:lnTo>
                  <a:lnTo>
                    <a:pt x="336062" y="845732"/>
                  </a:lnTo>
                  <a:lnTo>
                    <a:pt x="292607" y="833791"/>
                  </a:lnTo>
                  <a:lnTo>
                    <a:pt x="251130" y="817526"/>
                  </a:lnTo>
                  <a:lnTo>
                    <a:pt x="211892" y="797197"/>
                  </a:lnTo>
                  <a:lnTo>
                    <a:pt x="175153" y="773067"/>
                  </a:lnTo>
                  <a:lnTo>
                    <a:pt x="141174" y="745395"/>
                  </a:lnTo>
                  <a:lnTo>
                    <a:pt x="110216" y="714443"/>
                  </a:lnTo>
                  <a:lnTo>
                    <a:pt x="82539" y="680473"/>
                  </a:lnTo>
                  <a:lnTo>
                    <a:pt x="58405" y="643744"/>
                  </a:lnTo>
                  <a:lnTo>
                    <a:pt x="38075" y="604518"/>
                  </a:lnTo>
                  <a:lnTo>
                    <a:pt x="21808" y="563056"/>
                  </a:lnTo>
                  <a:lnTo>
                    <a:pt x="9866" y="519618"/>
                  </a:lnTo>
                  <a:lnTo>
                    <a:pt x="2510" y="474467"/>
                  </a:lnTo>
                  <a:lnTo>
                    <a:pt x="0" y="427863"/>
                  </a:lnTo>
                  <a:close/>
                </a:path>
              </a:pathLst>
            </a:custGeom>
            <a:ln w="12700">
              <a:solidFill>
                <a:srgbClr val="CCDF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/>
          <p:nvPr/>
        </p:nvSpPr>
        <p:spPr>
          <a:xfrm>
            <a:off x="9060433" y="2692400"/>
            <a:ext cx="2444750" cy="1824989"/>
          </a:xfrm>
          <a:custGeom>
            <a:avLst/>
            <a:gdLst/>
            <a:ahLst/>
            <a:cxnLst/>
            <a:rect l="l" t="t" r="r" b="b"/>
            <a:pathLst>
              <a:path w="2444750" h="1824989">
                <a:moveTo>
                  <a:pt x="145923" y="0"/>
                </a:moveTo>
                <a:lnTo>
                  <a:pt x="2298700" y="0"/>
                </a:lnTo>
                <a:lnTo>
                  <a:pt x="2344843" y="7447"/>
                </a:lnTo>
                <a:lnTo>
                  <a:pt x="2384903" y="28183"/>
                </a:lnTo>
                <a:lnTo>
                  <a:pt x="2416483" y="59801"/>
                </a:lnTo>
                <a:lnTo>
                  <a:pt x="2437188" y="99893"/>
                </a:lnTo>
                <a:lnTo>
                  <a:pt x="2444623" y="146050"/>
                </a:lnTo>
                <a:lnTo>
                  <a:pt x="2444623" y="1824863"/>
                </a:lnTo>
                <a:lnTo>
                  <a:pt x="0" y="1824863"/>
                </a:lnTo>
                <a:lnTo>
                  <a:pt x="0" y="146050"/>
                </a:lnTo>
                <a:lnTo>
                  <a:pt x="7434" y="99893"/>
                </a:lnTo>
                <a:lnTo>
                  <a:pt x="28139" y="59801"/>
                </a:lnTo>
                <a:lnTo>
                  <a:pt x="59719" y="28183"/>
                </a:lnTo>
                <a:lnTo>
                  <a:pt x="99779" y="7447"/>
                </a:lnTo>
                <a:lnTo>
                  <a:pt x="145923" y="0"/>
                </a:lnTo>
                <a:close/>
              </a:path>
            </a:pathLst>
          </a:custGeom>
          <a:ln w="12700">
            <a:solidFill>
              <a:srgbClr val="9F2B9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9115806" y="2754248"/>
            <a:ext cx="2275205" cy="110934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84785" marR="5080" indent="-172720">
              <a:lnSpc>
                <a:spcPct val="91400"/>
              </a:lnSpc>
              <a:spcBef>
                <a:spcPts val="290"/>
              </a:spcBef>
              <a:buChar char="•"/>
              <a:tabLst>
                <a:tab pos="184785" algn="l"/>
              </a:tabLst>
            </a:pPr>
            <a:r>
              <a:rPr sz="1900" spc="-95" dirty="0">
                <a:latin typeface="Trebuchet MS"/>
                <a:cs typeface="Trebuchet MS"/>
              </a:rPr>
              <a:t>If</a:t>
            </a:r>
            <a:r>
              <a:rPr sz="1900" spc="-180" dirty="0">
                <a:latin typeface="Trebuchet MS"/>
                <a:cs typeface="Trebuchet MS"/>
              </a:rPr>
              <a:t> </a:t>
            </a:r>
            <a:r>
              <a:rPr sz="1900" spc="-40" dirty="0">
                <a:latin typeface="Trebuchet MS"/>
                <a:cs typeface="Trebuchet MS"/>
              </a:rPr>
              <a:t>new</a:t>
            </a:r>
            <a:r>
              <a:rPr sz="1900" spc="-170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devices</a:t>
            </a:r>
            <a:r>
              <a:rPr sz="1900" spc="-165" dirty="0">
                <a:latin typeface="Trebuchet MS"/>
                <a:cs typeface="Trebuchet MS"/>
              </a:rPr>
              <a:t> </a:t>
            </a:r>
            <a:r>
              <a:rPr sz="1900" spc="-25" dirty="0">
                <a:latin typeface="Trebuchet MS"/>
                <a:cs typeface="Trebuchet MS"/>
              </a:rPr>
              <a:t>are </a:t>
            </a:r>
            <a:r>
              <a:rPr sz="1900" spc="-45" dirty="0">
                <a:latin typeface="Trebuchet MS"/>
                <a:cs typeface="Trebuchet MS"/>
              </a:rPr>
              <a:t>added,</a:t>
            </a:r>
            <a:r>
              <a:rPr sz="1900" spc="-155" dirty="0">
                <a:latin typeface="Trebuchet MS"/>
                <a:cs typeface="Trebuchet MS"/>
              </a:rPr>
              <a:t> </a:t>
            </a:r>
            <a:r>
              <a:rPr sz="1900" spc="-50" dirty="0">
                <a:latin typeface="Trebuchet MS"/>
                <a:cs typeface="Trebuchet MS"/>
              </a:rPr>
              <a:t>then</a:t>
            </a:r>
            <a:r>
              <a:rPr sz="1900" spc="-150" dirty="0">
                <a:latin typeface="Trebuchet MS"/>
                <a:cs typeface="Trebuchet MS"/>
              </a:rPr>
              <a:t> </a:t>
            </a:r>
            <a:r>
              <a:rPr sz="1900" spc="-25" dirty="0">
                <a:latin typeface="Trebuchet MS"/>
                <a:cs typeface="Trebuchet MS"/>
              </a:rPr>
              <a:t>it </a:t>
            </a:r>
            <a:r>
              <a:rPr sz="1900" dirty="0">
                <a:latin typeface="Trebuchet MS"/>
                <a:cs typeface="Trebuchet MS"/>
              </a:rPr>
              <a:t>becomes</a:t>
            </a:r>
            <a:r>
              <a:rPr sz="1900" spc="-65" dirty="0">
                <a:latin typeface="Trebuchet MS"/>
                <a:cs typeface="Trebuchet MS"/>
              </a:rPr>
              <a:t> </a:t>
            </a:r>
            <a:r>
              <a:rPr sz="1900" spc="-75" dirty="0">
                <a:latin typeface="Trebuchet MS"/>
                <a:cs typeface="Trebuchet MS"/>
              </a:rPr>
              <a:t>difficult</a:t>
            </a:r>
            <a:r>
              <a:rPr sz="1900" spc="-65" dirty="0">
                <a:latin typeface="Trebuchet MS"/>
                <a:cs typeface="Trebuchet MS"/>
              </a:rPr>
              <a:t> </a:t>
            </a:r>
            <a:r>
              <a:rPr sz="1900" spc="-45" dirty="0">
                <a:latin typeface="Trebuchet MS"/>
                <a:cs typeface="Trebuchet MS"/>
              </a:rPr>
              <a:t>to </a:t>
            </a:r>
            <a:r>
              <a:rPr sz="1900" spc="-10" dirty="0">
                <a:latin typeface="Trebuchet MS"/>
                <a:cs typeface="Trebuchet MS"/>
              </a:rPr>
              <a:t>reconfigure.</a:t>
            </a:r>
            <a:endParaRPr sz="1900">
              <a:latin typeface="Trebuchet MS"/>
              <a:cs typeface="Trebuchet MS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9054083" y="4510925"/>
            <a:ext cx="2457450" cy="797560"/>
            <a:chOff x="9054083" y="4510925"/>
            <a:chExt cx="2457450" cy="797560"/>
          </a:xfrm>
        </p:grpSpPr>
        <p:pic>
          <p:nvPicPr>
            <p:cNvPr id="33" name="object 3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60433" y="4517275"/>
              <a:ext cx="2444750" cy="784720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9060433" y="4517275"/>
              <a:ext cx="2444750" cy="784860"/>
            </a:xfrm>
            <a:custGeom>
              <a:avLst/>
              <a:gdLst/>
              <a:ahLst/>
              <a:cxnLst/>
              <a:rect l="l" t="t" r="r" b="b"/>
              <a:pathLst>
                <a:path w="2444750" h="784860">
                  <a:moveTo>
                    <a:pt x="0" y="784720"/>
                  </a:moveTo>
                  <a:lnTo>
                    <a:pt x="2444750" y="784720"/>
                  </a:lnTo>
                  <a:lnTo>
                    <a:pt x="2444750" y="0"/>
                  </a:lnTo>
                  <a:lnTo>
                    <a:pt x="0" y="0"/>
                  </a:lnTo>
                  <a:lnTo>
                    <a:pt x="0" y="784720"/>
                  </a:lnTo>
                  <a:close/>
                </a:path>
              </a:pathLst>
            </a:custGeom>
            <a:ln w="12700">
              <a:solidFill>
                <a:srgbClr val="9F2B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9113646" y="4621784"/>
            <a:ext cx="1593215" cy="521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950"/>
              </a:lnSpc>
              <a:spcBef>
                <a:spcPts val="100"/>
              </a:spcBef>
            </a:pPr>
            <a:r>
              <a:rPr sz="1700" b="1" spc="-20" dirty="0">
                <a:latin typeface="Trebuchet MS"/>
                <a:cs typeface="Trebuchet MS"/>
              </a:rPr>
              <a:t>Reconfiguration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ts val="1950"/>
              </a:lnSpc>
            </a:pPr>
            <a:r>
              <a:rPr sz="1700" b="1" spc="-10" dirty="0">
                <a:latin typeface="Trebuchet MS"/>
                <a:cs typeface="Trebuchet MS"/>
              </a:rPr>
              <a:t>Difficult</a:t>
            </a:r>
            <a:endParaRPr sz="1700">
              <a:latin typeface="Trebuchet MS"/>
              <a:cs typeface="Trebuchet MS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10844783" y="4635627"/>
            <a:ext cx="868680" cy="868680"/>
            <a:chOff x="10844783" y="4635627"/>
            <a:chExt cx="868680" cy="868680"/>
          </a:xfrm>
        </p:grpSpPr>
        <p:sp>
          <p:nvSpPr>
            <p:cNvPr id="37" name="object 37"/>
            <p:cNvSpPr/>
            <p:nvPr/>
          </p:nvSpPr>
          <p:spPr>
            <a:xfrm>
              <a:off x="10851133" y="4641977"/>
              <a:ext cx="855980" cy="855980"/>
            </a:xfrm>
            <a:custGeom>
              <a:avLst/>
              <a:gdLst/>
              <a:ahLst/>
              <a:cxnLst/>
              <a:rect l="l" t="t" r="r" b="b"/>
              <a:pathLst>
                <a:path w="855979" h="855979">
                  <a:moveTo>
                    <a:pt x="427863" y="0"/>
                  </a:moveTo>
                  <a:lnTo>
                    <a:pt x="381256" y="2510"/>
                  </a:lnTo>
                  <a:lnTo>
                    <a:pt x="336101" y="9866"/>
                  </a:lnTo>
                  <a:lnTo>
                    <a:pt x="292656" y="21808"/>
                  </a:lnTo>
                  <a:lnTo>
                    <a:pt x="251185" y="38075"/>
                  </a:lnTo>
                  <a:lnTo>
                    <a:pt x="211948" y="58405"/>
                  </a:lnTo>
                  <a:lnTo>
                    <a:pt x="175208" y="82539"/>
                  </a:lnTo>
                  <a:lnTo>
                    <a:pt x="141224" y="110216"/>
                  </a:lnTo>
                  <a:lnTo>
                    <a:pt x="110260" y="141174"/>
                  </a:lnTo>
                  <a:lnTo>
                    <a:pt x="82576" y="175153"/>
                  </a:lnTo>
                  <a:lnTo>
                    <a:pt x="58434" y="211892"/>
                  </a:lnTo>
                  <a:lnTo>
                    <a:pt x="38095" y="251130"/>
                  </a:lnTo>
                  <a:lnTo>
                    <a:pt x="21820" y="292608"/>
                  </a:lnTo>
                  <a:lnTo>
                    <a:pt x="9872" y="336062"/>
                  </a:lnTo>
                  <a:lnTo>
                    <a:pt x="2511" y="381234"/>
                  </a:lnTo>
                  <a:lnTo>
                    <a:pt x="0" y="427863"/>
                  </a:lnTo>
                  <a:lnTo>
                    <a:pt x="2511" y="474467"/>
                  </a:lnTo>
                  <a:lnTo>
                    <a:pt x="9872" y="519618"/>
                  </a:lnTo>
                  <a:lnTo>
                    <a:pt x="21820" y="563056"/>
                  </a:lnTo>
                  <a:lnTo>
                    <a:pt x="38095" y="604518"/>
                  </a:lnTo>
                  <a:lnTo>
                    <a:pt x="58434" y="643744"/>
                  </a:lnTo>
                  <a:lnTo>
                    <a:pt x="82576" y="680473"/>
                  </a:lnTo>
                  <a:lnTo>
                    <a:pt x="110260" y="714443"/>
                  </a:lnTo>
                  <a:lnTo>
                    <a:pt x="141224" y="745395"/>
                  </a:lnTo>
                  <a:lnTo>
                    <a:pt x="175208" y="773067"/>
                  </a:lnTo>
                  <a:lnTo>
                    <a:pt x="211948" y="797197"/>
                  </a:lnTo>
                  <a:lnTo>
                    <a:pt x="251185" y="817526"/>
                  </a:lnTo>
                  <a:lnTo>
                    <a:pt x="292656" y="833791"/>
                  </a:lnTo>
                  <a:lnTo>
                    <a:pt x="336101" y="845732"/>
                  </a:lnTo>
                  <a:lnTo>
                    <a:pt x="381256" y="853088"/>
                  </a:lnTo>
                  <a:lnTo>
                    <a:pt x="427863" y="855599"/>
                  </a:lnTo>
                  <a:lnTo>
                    <a:pt x="474491" y="853088"/>
                  </a:lnTo>
                  <a:lnTo>
                    <a:pt x="519663" y="845732"/>
                  </a:lnTo>
                  <a:lnTo>
                    <a:pt x="563118" y="833791"/>
                  </a:lnTo>
                  <a:lnTo>
                    <a:pt x="604595" y="817526"/>
                  </a:lnTo>
                  <a:lnTo>
                    <a:pt x="643833" y="797197"/>
                  </a:lnTo>
                  <a:lnTo>
                    <a:pt x="680572" y="773067"/>
                  </a:lnTo>
                  <a:lnTo>
                    <a:pt x="714551" y="745395"/>
                  </a:lnTo>
                  <a:lnTo>
                    <a:pt x="745509" y="714443"/>
                  </a:lnTo>
                  <a:lnTo>
                    <a:pt x="773186" y="680473"/>
                  </a:lnTo>
                  <a:lnTo>
                    <a:pt x="797320" y="643744"/>
                  </a:lnTo>
                  <a:lnTo>
                    <a:pt x="817650" y="604518"/>
                  </a:lnTo>
                  <a:lnTo>
                    <a:pt x="833917" y="563056"/>
                  </a:lnTo>
                  <a:lnTo>
                    <a:pt x="845859" y="519618"/>
                  </a:lnTo>
                  <a:lnTo>
                    <a:pt x="853215" y="474467"/>
                  </a:lnTo>
                  <a:lnTo>
                    <a:pt x="855726" y="427863"/>
                  </a:lnTo>
                  <a:lnTo>
                    <a:pt x="853215" y="381234"/>
                  </a:lnTo>
                  <a:lnTo>
                    <a:pt x="845859" y="336062"/>
                  </a:lnTo>
                  <a:lnTo>
                    <a:pt x="833917" y="292608"/>
                  </a:lnTo>
                  <a:lnTo>
                    <a:pt x="817650" y="251130"/>
                  </a:lnTo>
                  <a:lnTo>
                    <a:pt x="797320" y="211892"/>
                  </a:lnTo>
                  <a:lnTo>
                    <a:pt x="773186" y="175153"/>
                  </a:lnTo>
                  <a:lnTo>
                    <a:pt x="745509" y="141174"/>
                  </a:lnTo>
                  <a:lnTo>
                    <a:pt x="714551" y="110216"/>
                  </a:lnTo>
                  <a:lnTo>
                    <a:pt x="680572" y="82539"/>
                  </a:lnTo>
                  <a:lnTo>
                    <a:pt x="643833" y="58405"/>
                  </a:lnTo>
                  <a:lnTo>
                    <a:pt x="604595" y="38075"/>
                  </a:lnTo>
                  <a:lnTo>
                    <a:pt x="563118" y="21808"/>
                  </a:lnTo>
                  <a:lnTo>
                    <a:pt x="519663" y="9866"/>
                  </a:lnTo>
                  <a:lnTo>
                    <a:pt x="474491" y="2510"/>
                  </a:lnTo>
                  <a:lnTo>
                    <a:pt x="427863" y="0"/>
                  </a:lnTo>
                  <a:close/>
                </a:path>
              </a:pathLst>
            </a:custGeom>
            <a:solidFill>
              <a:srgbClr val="DFCDDC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0851133" y="4641977"/>
              <a:ext cx="855980" cy="855980"/>
            </a:xfrm>
            <a:custGeom>
              <a:avLst/>
              <a:gdLst/>
              <a:ahLst/>
              <a:cxnLst/>
              <a:rect l="l" t="t" r="r" b="b"/>
              <a:pathLst>
                <a:path w="855979" h="855979">
                  <a:moveTo>
                    <a:pt x="0" y="427863"/>
                  </a:moveTo>
                  <a:lnTo>
                    <a:pt x="2511" y="381234"/>
                  </a:lnTo>
                  <a:lnTo>
                    <a:pt x="9872" y="336062"/>
                  </a:lnTo>
                  <a:lnTo>
                    <a:pt x="21820" y="292608"/>
                  </a:lnTo>
                  <a:lnTo>
                    <a:pt x="38095" y="251130"/>
                  </a:lnTo>
                  <a:lnTo>
                    <a:pt x="58434" y="211892"/>
                  </a:lnTo>
                  <a:lnTo>
                    <a:pt x="82576" y="175153"/>
                  </a:lnTo>
                  <a:lnTo>
                    <a:pt x="110260" y="141174"/>
                  </a:lnTo>
                  <a:lnTo>
                    <a:pt x="141224" y="110216"/>
                  </a:lnTo>
                  <a:lnTo>
                    <a:pt x="175208" y="82539"/>
                  </a:lnTo>
                  <a:lnTo>
                    <a:pt x="211948" y="58405"/>
                  </a:lnTo>
                  <a:lnTo>
                    <a:pt x="251185" y="38075"/>
                  </a:lnTo>
                  <a:lnTo>
                    <a:pt x="292656" y="21808"/>
                  </a:lnTo>
                  <a:lnTo>
                    <a:pt x="336101" y="9866"/>
                  </a:lnTo>
                  <a:lnTo>
                    <a:pt x="381256" y="2510"/>
                  </a:lnTo>
                  <a:lnTo>
                    <a:pt x="427863" y="0"/>
                  </a:lnTo>
                  <a:lnTo>
                    <a:pt x="474491" y="2510"/>
                  </a:lnTo>
                  <a:lnTo>
                    <a:pt x="519663" y="9866"/>
                  </a:lnTo>
                  <a:lnTo>
                    <a:pt x="563118" y="21808"/>
                  </a:lnTo>
                  <a:lnTo>
                    <a:pt x="604595" y="38075"/>
                  </a:lnTo>
                  <a:lnTo>
                    <a:pt x="643833" y="58405"/>
                  </a:lnTo>
                  <a:lnTo>
                    <a:pt x="680572" y="82539"/>
                  </a:lnTo>
                  <a:lnTo>
                    <a:pt x="714551" y="110216"/>
                  </a:lnTo>
                  <a:lnTo>
                    <a:pt x="745509" y="141174"/>
                  </a:lnTo>
                  <a:lnTo>
                    <a:pt x="773186" y="175153"/>
                  </a:lnTo>
                  <a:lnTo>
                    <a:pt x="797320" y="211892"/>
                  </a:lnTo>
                  <a:lnTo>
                    <a:pt x="817650" y="251130"/>
                  </a:lnTo>
                  <a:lnTo>
                    <a:pt x="833917" y="292608"/>
                  </a:lnTo>
                  <a:lnTo>
                    <a:pt x="845859" y="336062"/>
                  </a:lnTo>
                  <a:lnTo>
                    <a:pt x="853215" y="381234"/>
                  </a:lnTo>
                  <a:lnTo>
                    <a:pt x="855726" y="427863"/>
                  </a:lnTo>
                  <a:lnTo>
                    <a:pt x="853215" y="474467"/>
                  </a:lnTo>
                  <a:lnTo>
                    <a:pt x="845859" y="519618"/>
                  </a:lnTo>
                  <a:lnTo>
                    <a:pt x="833917" y="563056"/>
                  </a:lnTo>
                  <a:lnTo>
                    <a:pt x="817650" y="604518"/>
                  </a:lnTo>
                  <a:lnTo>
                    <a:pt x="797320" y="643744"/>
                  </a:lnTo>
                  <a:lnTo>
                    <a:pt x="773186" y="680473"/>
                  </a:lnTo>
                  <a:lnTo>
                    <a:pt x="745509" y="714443"/>
                  </a:lnTo>
                  <a:lnTo>
                    <a:pt x="714551" y="745395"/>
                  </a:lnTo>
                  <a:lnTo>
                    <a:pt x="680572" y="773067"/>
                  </a:lnTo>
                  <a:lnTo>
                    <a:pt x="643833" y="797197"/>
                  </a:lnTo>
                  <a:lnTo>
                    <a:pt x="604595" y="817526"/>
                  </a:lnTo>
                  <a:lnTo>
                    <a:pt x="563118" y="833791"/>
                  </a:lnTo>
                  <a:lnTo>
                    <a:pt x="519663" y="845732"/>
                  </a:lnTo>
                  <a:lnTo>
                    <a:pt x="474491" y="853088"/>
                  </a:lnTo>
                  <a:lnTo>
                    <a:pt x="427863" y="855599"/>
                  </a:lnTo>
                  <a:lnTo>
                    <a:pt x="381256" y="853088"/>
                  </a:lnTo>
                  <a:lnTo>
                    <a:pt x="336101" y="845732"/>
                  </a:lnTo>
                  <a:lnTo>
                    <a:pt x="292656" y="833791"/>
                  </a:lnTo>
                  <a:lnTo>
                    <a:pt x="251185" y="817526"/>
                  </a:lnTo>
                  <a:lnTo>
                    <a:pt x="211948" y="797197"/>
                  </a:lnTo>
                  <a:lnTo>
                    <a:pt x="175208" y="773067"/>
                  </a:lnTo>
                  <a:lnTo>
                    <a:pt x="141224" y="745395"/>
                  </a:lnTo>
                  <a:lnTo>
                    <a:pt x="110260" y="714443"/>
                  </a:lnTo>
                  <a:lnTo>
                    <a:pt x="82576" y="680473"/>
                  </a:lnTo>
                  <a:lnTo>
                    <a:pt x="58434" y="643744"/>
                  </a:lnTo>
                  <a:lnTo>
                    <a:pt x="38095" y="604518"/>
                  </a:lnTo>
                  <a:lnTo>
                    <a:pt x="21820" y="563056"/>
                  </a:lnTo>
                  <a:lnTo>
                    <a:pt x="9872" y="519618"/>
                  </a:lnTo>
                  <a:lnTo>
                    <a:pt x="2511" y="474467"/>
                  </a:lnTo>
                  <a:lnTo>
                    <a:pt x="0" y="427863"/>
                  </a:lnTo>
                  <a:close/>
                </a:path>
              </a:pathLst>
            </a:custGeom>
            <a:ln w="12700">
              <a:solidFill>
                <a:srgbClr val="DFCD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Mesh</a:t>
            </a:r>
            <a:r>
              <a:rPr spc="-395" dirty="0"/>
              <a:t> </a:t>
            </a:r>
            <a:r>
              <a:rPr spc="-285" dirty="0"/>
              <a:t>Topology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1841" y="1926069"/>
            <a:ext cx="6644005" cy="471792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Mesh</a:t>
            </a:r>
            <a:r>
              <a:rPr spc="-395" dirty="0"/>
              <a:t> </a:t>
            </a:r>
            <a:r>
              <a:rPr spc="-285" dirty="0"/>
              <a:t>Topology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46250"/>
            <a:ext cx="10360660" cy="2052955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240029" marR="5080" indent="-227965">
              <a:lnSpc>
                <a:spcPct val="70000"/>
              </a:lnSpc>
              <a:spcBef>
                <a:spcPts val="96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75" dirty="0">
                <a:latin typeface="Trebuchet MS"/>
                <a:cs typeface="Trebuchet MS"/>
              </a:rPr>
              <a:t>Mesh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technology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arrangement </a:t>
            </a:r>
            <a:r>
              <a:rPr sz="2400" dirty="0">
                <a:latin typeface="Trebuchet MS"/>
                <a:cs typeface="Trebuchet MS"/>
              </a:rPr>
              <a:t>of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network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in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which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computers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are 	</a:t>
            </a:r>
            <a:r>
              <a:rPr sz="2400" spc="-60" dirty="0">
                <a:latin typeface="Trebuchet MS"/>
                <a:cs typeface="Trebuchet MS"/>
              </a:rPr>
              <a:t>interconnected</a:t>
            </a:r>
            <a:r>
              <a:rPr sz="2400" spc="-165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with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each</a:t>
            </a:r>
            <a:r>
              <a:rPr sz="2400" spc="-175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other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through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various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redundant</a:t>
            </a:r>
            <a:r>
              <a:rPr sz="2400" spc="-15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connections.</a:t>
            </a:r>
            <a:endParaRPr sz="2400">
              <a:latin typeface="Trebuchet MS"/>
              <a:cs typeface="Trebuchet MS"/>
            </a:endParaRPr>
          </a:p>
          <a:p>
            <a:pPr marL="240029" indent="-227329">
              <a:lnSpc>
                <a:spcPct val="100000"/>
              </a:lnSpc>
              <a:spcBef>
                <a:spcPts val="13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10" dirty="0">
                <a:latin typeface="Trebuchet MS"/>
                <a:cs typeface="Trebuchet MS"/>
              </a:rPr>
              <a:t>There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are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multiple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paths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from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one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computer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to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another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computer.</a:t>
            </a:r>
            <a:endParaRPr sz="2400">
              <a:latin typeface="Trebuchet MS"/>
              <a:cs typeface="Trebuchet MS"/>
            </a:endParaRPr>
          </a:p>
          <a:p>
            <a:pPr marL="240029" marR="5080" indent="-227965">
              <a:lnSpc>
                <a:spcPct val="7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00" dirty="0">
                <a:latin typeface="Trebuchet MS"/>
                <a:cs typeface="Trebuchet MS"/>
              </a:rPr>
              <a:t>It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does</a:t>
            </a:r>
            <a:r>
              <a:rPr sz="2400" spc="-10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not</a:t>
            </a:r>
            <a:r>
              <a:rPr sz="2400" spc="-10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contain</a:t>
            </a:r>
            <a:r>
              <a:rPr sz="2400" spc="-9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the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switch,</a:t>
            </a:r>
            <a:r>
              <a:rPr sz="2400" spc="-10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hub</a:t>
            </a:r>
            <a:r>
              <a:rPr sz="2400" spc="-9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or</a:t>
            </a:r>
            <a:r>
              <a:rPr sz="2400" spc="-9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any</a:t>
            </a:r>
            <a:r>
              <a:rPr sz="2400" spc="-105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central</a:t>
            </a:r>
            <a:r>
              <a:rPr sz="2400" spc="-9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computer</a:t>
            </a:r>
            <a:r>
              <a:rPr sz="2400" spc="-10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which</a:t>
            </a:r>
            <a:r>
              <a:rPr sz="2400" spc="-10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acts</a:t>
            </a:r>
            <a:r>
              <a:rPr sz="2400" spc="-95" dirty="0">
                <a:latin typeface="Trebuchet MS"/>
                <a:cs typeface="Trebuchet MS"/>
              </a:rPr>
              <a:t> </a:t>
            </a:r>
            <a:r>
              <a:rPr sz="2400" spc="95" dirty="0">
                <a:latin typeface="Trebuchet MS"/>
                <a:cs typeface="Trebuchet MS"/>
              </a:rPr>
              <a:t>as</a:t>
            </a:r>
            <a:r>
              <a:rPr sz="2400" spc="-11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a 	</a:t>
            </a:r>
            <a:r>
              <a:rPr sz="2400" spc="-80" dirty="0">
                <a:latin typeface="Trebuchet MS"/>
                <a:cs typeface="Trebuchet MS"/>
              </a:rPr>
              <a:t>central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point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of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communication.</a:t>
            </a:r>
            <a:endParaRPr sz="24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240665" algn="l"/>
              </a:tabLst>
            </a:pPr>
            <a:r>
              <a:rPr sz="2400" spc="-100" dirty="0">
                <a:latin typeface="Trebuchet MS"/>
                <a:cs typeface="Trebuchet MS"/>
              </a:rPr>
              <a:t>The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Internet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an</a:t>
            </a:r>
            <a:r>
              <a:rPr sz="2400" spc="-175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example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of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the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mesh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topology.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3790315"/>
            <a:ext cx="103581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  <a:tab pos="1260475" algn="l"/>
                <a:tab pos="2704465" algn="l"/>
                <a:tab pos="3228340" algn="l"/>
                <a:tab pos="4411345" algn="l"/>
                <a:tab pos="5363845" algn="l"/>
                <a:tab pos="6025515" algn="l"/>
                <a:tab pos="6990080" algn="l"/>
                <a:tab pos="9538335" algn="l"/>
              </a:tabLst>
            </a:pPr>
            <a:r>
              <a:rPr sz="2400" spc="55" dirty="0">
                <a:latin typeface="Trebuchet MS"/>
                <a:cs typeface="Trebuchet MS"/>
              </a:rPr>
              <a:t>Mesh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topology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5" dirty="0">
                <a:latin typeface="Trebuchet MS"/>
                <a:cs typeface="Trebuchet MS"/>
              </a:rPr>
              <a:t>is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mainly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0" dirty="0">
                <a:latin typeface="Trebuchet MS"/>
                <a:cs typeface="Trebuchet MS"/>
              </a:rPr>
              <a:t>used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5" dirty="0">
                <a:latin typeface="Trebuchet MS"/>
                <a:cs typeface="Trebuchet MS"/>
              </a:rPr>
              <a:t>for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30" dirty="0">
                <a:latin typeface="Trebuchet MS"/>
                <a:cs typeface="Trebuchet MS"/>
              </a:rPr>
              <a:t>WAN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implementations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60" dirty="0">
                <a:latin typeface="Trebuchet MS"/>
                <a:cs typeface="Trebuchet MS"/>
              </a:rPr>
              <a:t>where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5844" y="4046042"/>
            <a:ext cx="60585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rebuchet MS"/>
                <a:cs typeface="Trebuchet MS"/>
              </a:rPr>
              <a:t>communication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failures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are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critical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concern.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6939" y="4430648"/>
            <a:ext cx="7312659" cy="1605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sz="2400" spc="75" dirty="0">
                <a:latin typeface="Trebuchet MS"/>
                <a:cs typeface="Trebuchet MS"/>
              </a:rPr>
              <a:t>Mesh</a:t>
            </a:r>
            <a:r>
              <a:rPr sz="2400" spc="-175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topology</a:t>
            </a:r>
            <a:r>
              <a:rPr sz="2400" spc="-1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mainly</a:t>
            </a:r>
            <a:r>
              <a:rPr sz="2400" spc="-1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used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114" dirty="0">
                <a:latin typeface="Trebuchet MS"/>
                <a:cs typeface="Trebuchet MS"/>
              </a:rPr>
              <a:t>for</a:t>
            </a:r>
            <a:r>
              <a:rPr sz="2400" spc="-175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wireless</a:t>
            </a:r>
            <a:r>
              <a:rPr sz="2400" spc="-17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networks.</a:t>
            </a:r>
            <a:endParaRPr sz="2400">
              <a:latin typeface="Trebuchet MS"/>
              <a:cs typeface="Trebuchet MS"/>
            </a:endParaRPr>
          </a:p>
          <a:p>
            <a:pPr marL="240665" indent="-227965">
              <a:lnSpc>
                <a:spcPts val="2775"/>
              </a:lnSpc>
              <a:spcBef>
                <a:spcPts val="130"/>
              </a:spcBef>
              <a:buFont typeface="Arial MT"/>
              <a:buChar char="•"/>
              <a:tabLst>
                <a:tab pos="240665" algn="l"/>
              </a:tabLst>
            </a:pPr>
            <a:r>
              <a:rPr sz="2400" spc="75" dirty="0">
                <a:latin typeface="Trebuchet MS"/>
                <a:cs typeface="Trebuchet MS"/>
              </a:rPr>
              <a:t>Mesh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topology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can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be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formed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by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using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the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formula:</a:t>
            </a:r>
            <a:endParaRPr sz="2400">
              <a:latin typeface="Trebuchet MS"/>
              <a:cs typeface="Trebuchet MS"/>
            </a:endParaRPr>
          </a:p>
          <a:p>
            <a:pPr marL="698500" lvl="1" indent="-228600">
              <a:lnSpc>
                <a:spcPts val="2180"/>
              </a:lnSpc>
              <a:buFont typeface="Arial MT"/>
              <a:buChar char="•"/>
              <a:tabLst>
                <a:tab pos="698500" algn="l"/>
              </a:tabLst>
            </a:pPr>
            <a:r>
              <a:rPr sz="2000" dirty="0">
                <a:latin typeface="Trebuchet MS"/>
                <a:cs typeface="Trebuchet MS"/>
              </a:rPr>
              <a:t>Number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of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cables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=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70" dirty="0">
                <a:latin typeface="Trebuchet MS"/>
                <a:cs typeface="Trebuchet MS"/>
              </a:rPr>
              <a:t>(n*(n-</a:t>
            </a:r>
            <a:r>
              <a:rPr sz="2000" spc="-10" dirty="0">
                <a:latin typeface="Trebuchet MS"/>
                <a:cs typeface="Trebuchet MS"/>
              </a:rPr>
              <a:t>1))/2</a:t>
            </a:r>
            <a:endParaRPr sz="2000">
              <a:latin typeface="Trebuchet MS"/>
              <a:cs typeface="Trebuchet MS"/>
            </a:endParaRPr>
          </a:p>
          <a:p>
            <a:pPr marL="698500" lvl="1" indent="-228600">
              <a:lnSpc>
                <a:spcPts val="2180"/>
              </a:lnSpc>
              <a:buFont typeface="Arial MT"/>
              <a:buChar char="•"/>
              <a:tabLst>
                <a:tab pos="698500" algn="l"/>
              </a:tabLst>
            </a:pPr>
            <a:r>
              <a:rPr sz="2000" dirty="0">
                <a:latin typeface="Trebuchet MS"/>
                <a:cs typeface="Trebuchet MS"/>
              </a:rPr>
              <a:t>Number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of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ports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=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n*(n-</a:t>
            </a:r>
            <a:r>
              <a:rPr sz="2000" spc="-25" dirty="0">
                <a:latin typeface="Trebuchet MS"/>
                <a:cs typeface="Trebuchet MS"/>
              </a:rPr>
              <a:t>1)</a:t>
            </a:r>
            <a:endParaRPr sz="2000">
              <a:latin typeface="Trebuchet MS"/>
              <a:cs typeface="Trebuchet MS"/>
            </a:endParaRPr>
          </a:p>
          <a:p>
            <a:pPr marL="698500" lvl="1" indent="-228600">
              <a:lnSpc>
                <a:spcPts val="2290"/>
              </a:lnSpc>
              <a:buFont typeface="Arial MT"/>
              <a:buChar char="•"/>
              <a:tabLst>
                <a:tab pos="698500" algn="l"/>
              </a:tabLst>
            </a:pPr>
            <a:r>
              <a:rPr sz="2000" spc="-30" dirty="0">
                <a:latin typeface="Trebuchet MS"/>
                <a:cs typeface="Trebuchet MS"/>
              </a:rPr>
              <a:t>Where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n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is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the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number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of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nodes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Trebuchet MS"/>
                <a:cs typeface="Trebuchet MS"/>
              </a:rPr>
              <a:t>that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35" dirty="0">
                <a:latin typeface="Trebuchet MS"/>
                <a:cs typeface="Trebuchet MS"/>
              </a:rPr>
              <a:t>represents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the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network.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80" dirty="0"/>
              <a:t>Categories</a:t>
            </a:r>
            <a:r>
              <a:rPr spc="-430" dirty="0"/>
              <a:t> </a:t>
            </a:r>
            <a:r>
              <a:rPr spc="-265" dirty="0"/>
              <a:t>of</a:t>
            </a:r>
            <a:r>
              <a:rPr spc="-425" dirty="0"/>
              <a:t> </a:t>
            </a:r>
            <a:r>
              <a:rPr dirty="0"/>
              <a:t>Mesh</a:t>
            </a:r>
            <a:r>
              <a:rPr spc="-420" dirty="0"/>
              <a:t> </a:t>
            </a:r>
            <a:r>
              <a:rPr spc="-285" dirty="0"/>
              <a:t>Topology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31850" y="1821560"/>
            <a:ext cx="1633855" cy="2329180"/>
            <a:chOff x="831850" y="1821560"/>
            <a:chExt cx="1633855" cy="23291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8200" y="1827910"/>
              <a:ext cx="1621155" cy="231597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38200" y="1827910"/>
              <a:ext cx="1621155" cy="2316480"/>
            </a:xfrm>
            <a:custGeom>
              <a:avLst/>
              <a:gdLst/>
              <a:ahLst/>
              <a:cxnLst/>
              <a:rect l="l" t="t" r="r" b="b"/>
              <a:pathLst>
                <a:path w="1621155" h="2316479">
                  <a:moveTo>
                    <a:pt x="1621155" y="0"/>
                  </a:moveTo>
                  <a:lnTo>
                    <a:pt x="1621155" y="1505330"/>
                  </a:lnTo>
                  <a:lnTo>
                    <a:pt x="810513" y="2315972"/>
                  </a:lnTo>
                  <a:lnTo>
                    <a:pt x="0" y="1505330"/>
                  </a:lnTo>
                  <a:lnTo>
                    <a:pt x="0" y="0"/>
                  </a:lnTo>
                  <a:lnTo>
                    <a:pt x="810513" y="810640"/>
                  </a:lnTo>
                  <a:lnTo>
                    <a:pt x="1621155" y="0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23924" y="2617088"/>
            <a:ext cx="1247775" cy="668020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60960" marR="5080" indent="-48895">
              <a:lnSpc>
                <a:spcPts val="2420"/>
              </a:lnSpc>
              <a:spcBef>
                <a:spcPts val="359"/>
              </a:spcBef>
            </a:pPr>
            <a:r>
              <a:rPr sz="2200" b="1" spc="-55" dirty="0">
                <a:latin typeface="Trebuchet MS"/>
                <a:cs typeface="Trebuchet MS"/>
              </a:rPr>
              <a:t>Full</a:t>
            </a:r>
            <a:r>
              <a:rPr sz="2200" b="1" spc="-170" dirty="0">
                <a:latin typeface="Trebuchet MS"/>
                <a:cs typeface="Trebuchet MS"/>
              </a:rPr>
              <a:t> </a:t>
            </a:r>
            <a:r>
              <a:rPr sz="2200" b="1" spc="35" dirty="0">
                <a:latin typeface="Trebuchet MS"/>
                <a:cs typeface="Trebuchet MS"/>
              </a:rPr>
              <a:t>Mesh </a:t>
            </a:r>
            <a:r>
              <a:rPr sz="2200" b="1" spc="-20" dirty="0">
                <a:latin typeface="Trebuchet MS"/>
                <a:cs typeface="Trebuchet MS"/>
              </a:rPr>
              <a:t>Topology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459354" y="1827910"/>
            <a:ext cx="8894445" cy="1505585"/>
          </a:xfrm>
          <a:custGeom>
            <a:avLst/>
            <a:gdLst/>
            <a:ahLst/>
            <a:cxnLst/>
            <a:rect l="l" t="t" r="r" b="b"/>
            <a:pathLst>
              <a:path w="8894445" h="1505585">
                <a:moveTo>
                  <a:pt x="8894445" y="250951"/>
                </a:moveTo>
                <a:lnTo>
                  <a:pt x="8894445" y="1254505"/>
                </a:lnTo>
                <a:lnTo>
                  <a:pt x="8890404" y="1299600"/>
                </a:lnTo>
                <a:lnTo>
                  <a:pt x="8878754" y="1342039"/>
                </a:lnTo>
                <a:lnTo>
                  <a:pt x="8860202" y="1381115"/>
                </a:lnTo>
                <a:lnTo>
                  <a:pt x="8835452" y="1416121"/>
                </a:lnTo>
                <a:lnTo>
                  <a:pt x="8805213" y="1446350"/>
                </a:lnTo>
                <a:lnTo>
                  <a:pt x="8770191" y="1471092"/>
                </a:lnTo>
                <a:lnTo>
                  <a:pt x="8731093" y="1489642"/>
                </a:lnTo>
                <a:lnTo>
                  <a:pt x="8688624" y="1501290"/>
                </a:lnTo>
                <a:lnTo>
                  <a:pt x="8643493" y="1505330"/>
                </a:lnTo>
                <a:lnTo>
                  <a:pt x="0" y="1505330"/>
                </a:lnTo>
                <a:lnTo>
                  <a:pt x="0" y="0"/>
                </a:lnTo>
                <a:lnTo>
                  <a:pt x="8643493" y="0"/>
                </a:lnTo>
                <a:lnTo>
                  <a:pt x="8688624" y="4044"/>
                </a:lnTo>
                <a:lnTo>
                  <a:pt x="8731093" y="15704"/>
                </a:lnTo>
                <a:lnTo>
                  <a:pt x="8770191" y="34271"/>
                </a:lnTo>
                <a:lnTo>
                  <a:pt x="8805213" y="59033"/>
                </a:lnTo>
                <a:lnTo>
                  <a:pt x="8835452" y="89283"/>
                </a:lnTo>
                <a:lnTo>
                  <a:pt x="8860202" y="124309"/>
                </a:lnTo>
                <a:lnTo>
                  <a:pt x="8878754" y="163402"/>
                </a:lnTo>
                <a:lnTo>
                  <a:pt x="8890404" y="205853"/>
                </a:lnTo>
                <a:lnTo>
                  <a:pt x="8894445" y="250951"/>
                </a:lnTo>
                <a:close/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667380" y="1849627"/>
            <a:ext cx="8249920" cy="930275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299085" marR="5080" indent="-287020">
              <a:lnSpc>
                <a:spcPts val="3410"/>
              </a:lnSpc>
              <a:spcBef>
                <a:spcPts val="465"/>
              </a:spcBef>
              <a:buChar char="•"/>
              <a:tabLst>
                <a:tab pos="299085" algn="l"/>
              </a:tabLst>
            </a:pPr>
            <a:r>
              <a:rPr sz="3100" spc="-35" dirty="0">
                <a:latin typeface="Trebuchet MS"/>
                <a:cs typeface="Trebuchet MS"/>
              </a:rPr>
              <a:t>In</a:t>
            </a:r>
            <a:r>
              <a:rPr sz="3100" spc="-285" dirty="0">
                <a:latin typeface="Trebuchet MS"/>
                <a:cs typeface="Trebuchet MS"/>
              </a:rPr>
              <a:t> </a:t>
            </a:r>
            <a:r>
              <a:rPr sz="3100" dirty="0">
                <a:latin typeface="Trebuchet MS"/>
                <a:cs typeface="Trebuchet MS"/>
              </a:rPr>
              <a:t>a</a:t>
            </a:r>
            <a:r>
              <a:rPr sz="3100" spc="-270" dirty="0">
                <a:latin typeface="Trebuchet MS"/>
                <a:cs typeface="Trebuchet MS"/>
              </a:rPr>
              <a:t> </a:t>
            </a:r>
            <a:r>
              <a:rPr sz="3100" spc="-114" dirty="0">
                <a:latin typeface="Trebuchet MS"/>
                <a:cs typeface="Trebuchet MS"/>
              </a:rPr>
              <a:t>full</a:t>
            </a:r>
            <a:r>
              <a:rPr sz="3100" spc="-280" dirty="0">
                <a:latin typeface="Trebuchet MS"/>
                <a:cs typeface="Trebuchet MS"/>
              </a:rPr>
              <a:t> </a:t>
            </a:r>
            <a:r>
              <a:rPr sz="3100" spc="50" dirty="0">
                <a:latin typeface="Trebuchet MS"/>
                <a:cs typeface="Trebuchet MS"/>
              </a:rPr>
              <a:t>mesh</a:t>
            </a:r>
            <a:r>
              <a:rPr sz="3100" spc="-265" dirty="0">
                <a:latin typeface="Trebuchet MS"/>
                <a:cs typeface="Trebuchet MS"/>
              </a:rPr>
              <a:t> </a:t>
            </a:r>
            <a:r>
              <a:rPr sz="3100" spc="-110" dirty="0">
                <a:latin typeface="Trebuchet MS"/>
                <a:cs typeface="Trebuchet MS"/>
              </a:rPr>
              <a:t>topology,</a:t>
            </a:r>
            <a:r>
              <a:rPr sz="3100" spc="-260" dirty="0">
                <a:latin typeface="Trebuchet MS"/>
                <a:cs typeface="Trebuchet MS"/>
              </a:rPr>
              <a:t> </a:t>
            </a:r>
            <a:r>
              <a:rPr sz="3100" spc="-10" dirty="0">
                <a:latin typeface="Trebuchet MS"/>
                <a:cs typeface="Trebuchet MS"/>
              </a:rPr>
              <a:t>each</a:t>
            </a:r>
            <a:r>
              <a:rPr sz="3100" spc="-270" dirty="0">
                <a:latin typeface="Trebuchet MS"/>
                <a:cs typeface="Trebuchet MS"/>
              </a:rPr>
              <a:t> </a:t>
            </a:r>
            <a:r>
              <a:rPr sz="3100" spc="-45" dirty="0">
                <a:latin typeface="Trebuchet MS"/>
                <a:cs typeface="Trebuchet MS"/>
              </a:rPr>
              <a:t>computer</a:t>
            </a:r>
            <a:r>
              <a:rPr sz="3100" spc="-250" dirty="0">
                <a:latin typeface="Trebuchet MS"/>
                <a:cs typeface="Trebuchet MS"/>
              </a:rPr>
              <a:t> </a:t>
            </a:r>
            <a:r>
              <a:rPr sz="3100" spc="-25" dirty="0">
                <a:latin typeface="Trebuchet MS"/>
                <a:cs typeface="Trebuchet MS"/>
              </a:rPr>
              <a:t>is </a:t>
            </a:r>
            <a:r>
              <a:rPr sz="3100" spc="-35" dirty="0">
                <a:latin typeface="Trebuchet MS"/>
                <a:cs typeface="Trebuchet MS"/>
              </a:rPr>
              <a:t>connected</a:t>
            </a:r>
            <a:r>
              <a:rPr sz="3100" spc="-240" dirty="0">
                <a:latin typeface="Trebuchet MS"/>
                <a:cs typeface="Trebuchet MS"/>
              </a:rPr>
              <a:t> </a:t>
            </a:r>
            <a:r>
              <a:rPr sz="3100" spc="-114" dirty="0">
                <a:latin typeface="Trebuchet MS"/>
                <a:cs typeface="Trebuchet MS"/>
              </a:rPr>
              <a:t>to</a:t>
            </a:r>
            <a:r>
              <a:rPr sz="3100" spc="-260" dirty="0">
                <a:latin typeface="Trebuchet MS"/>
                <a:cs typeface="Trebuchet MS"/>
              </a:rPr>
              <a:t> </a:t>
            </a:r>
            <a:r>
              <a:rPr sz="3100" spc="-80" dirty="0">
                <a:latin typeface="Trebuchet MS"/>
                <a:cs typeface="Trebuchet MS"/>
              </a:rPr>
              <a:t>all</a:t>
            </a:r>
            <a:r>
              <a:rPr sz="3100" spc="-275" dirty="0">
                <a:latin typeface="Trebuchet MS"/>
                <a:cs typeface="Trebuchet MS"/>
              </a:rPr>
              <a:t> </a:t>
            </a:r>
            <a:r>
              <a:rPr sz="3100" spc="-100" dirty="0">
                <a:latin typeface="Trebuchet MS"/>
                <a:cs typeface="Trebuchet MS"/>
              </a:rPr>
              <a:t>the</a:t>
            </a:r>
            <a:r>
              <a:rPr sz="3100" spc="-270" dirty="0">
                <a:latin typeface="Trebuchet MS"/>
                <a:cs typeface="Trebuchet MS"/>
              </a:rPr>
              <a:t> </a:t>
            </a:r>
            <a:r>
              <a:rPr sz="3100" spc="-10" dirty="0">
                <a:latin typeface="Trebuchet MS"/>
                <a:cs typeface="Trebuchet MS"/>
              </a:rPr>
              <a:t>computers</a:t>
            </a:r>
            <a:r>
              <a:rPr sz="3100" spc="-229" dirty="0">
                <a:latin typeface="Trebuchet MS"/>
                <a:cs typeface="Trebuchet MS"/>
              </a:rPr>
              <a:t> </a:t>
            </a:r>
            <a:r>
              <a:rPr sz="3100" spc="-65" dirty="0">
                <a:latin typeface="Trebuchet MS"/>
                <a:cs typeface="Trebuchet MS"/>
              </a:rPr>
              <a:t>available</a:t>
            </a:r>
            <a:r>
              <a:rPr sz="3100" spc="-270" dirty="0">
                <a:latin typeface="Trebuchet MS"/>
                <a:cs typeface="Trebuchet MS"/>
              </a:rPr>
              <a:t> </a:t>
            </a:r>
            <a:r>
              <a:rPr sz="3100" spc="-80" dirty="0">
                <a:latin typeface="Trebuchet MS"/>
                <a:cs typeface="Trebuchet MS"/>
              </a:rPr>
              <a:t>in</a:t>
            </a:r>
            <a:r>
              <a:rPr sz="3100" spc="-275" dirty="0">
                <a:latin typeface="Trebuchet MS"/>
                <a:cs typeface="Trebuchet MS"/>
              </a:rPr>
              <a:t> </a:t>
            </a:r>
            <a:r>
              <a:rPr sz="3100" spc="-25" dirty="0">
                <a:latin typeface="Trebuchet MS"/>
                <a:cs typeface="Trebuchet MS"/>
              </a:rPr>
              <a:t>the</a:t>
            </a:r>
            <a:endParaRPr sz="31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53892" y="2714955"/>
            <a:ext cx="1508760" cy="497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100" spc="-100" dirty="0">
                <a:latin typeface="Trebuchet MS"/>
                <a:cs typeface="Trebuchet MS"/>
              </a:rPr>
              <a:t>network.</a:t>
            </a:r>
            <a:endParaRPr sz="3100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831850" y="3852417"/>
            <a:ext cx="1633855" cy="2329180"/>
            <a:chOff x="831850" y="3852417"/>
            <a:chExt cx="1633855" cy="232918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8200" y="3858767"/>
              <a:ext cx="1621155" cy="231587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38200" y="3858767"/>
              <a:ext cx="1621155" cy="2316480"/>
            </a:xfrm>
            <a:custGeom>
              <a:avLst/>
              <a:gdLst/>
              <a:ahLst/>
              <a:cxnLst/>
              <a:rect l="l" t="t" r="r" b="b"/>
              <a:pathLst>
                <a:path w="1621155" h="2316479">
                  <a:moveTo>
                    <a:pt x="1621155" y="0"/>
                  </a:moveTo>
                  <a:lnTo>
                    <a:pt x="1621155" y="1505330"/>
                  </a:lnTo>
                  <a:lnTo>
                    <a:pt x="810513" y="2315870"/>
                  </a:lnTo>
                  <a:lnTo>
                    <a:pt x="0" y="1505330"/>
                  </a:lnTo>
                  <a:lnTo>
                    <a:pt x="0" y="0"/>
                  </a:lnTo>
                  <a:lnTo>
                    <a:pt x="810513" y="810513"/>
                  </a:lnTo>
                  <a:lnTo>
                    <a:pt x="1621155" y="0"/>
                  </a:lnTo>
                  <a:close/>
                </a:path>
              </a:pathLst>
            </a:custGeom>
            <a:ln w="1270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848664" y="4648327"/>
            <a:ext cx="1600200" cy="668020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236220" marR="5080" indent="-224154">
              <a:lnSpc>
                <a:spcPts val="2420"/>
              </a:lnSpc>
              <a:spcBef>
                <a:spcPts val="359"/>
              </a:spcBef>
            </a:pPr>
            <a:r>
              <a:rPr sz="2200" b="1" spc="-50" dirty="0">
                <a:latin typeface="Trebuchet MS"/>
                <a:cs typeface="Trebuchet MS"/>
              </a:rPr>
              <a:t>Partial</a:t>
            </a:r>
            <a:r>
              <a:rPr sz="2200" b="1" spc="-170" dirty="0">
                <a:latin typeface="Trebuchet MS"/>
                <a:cs typeface="Trebuchet MS"/>
              </a:rPr>
              <a:t> </a:t>
            </a:r>
            <a:r>
              <a:rPr sz="2200" b="1" spc="35" dirty="0">
                <a:latin typeface="Trebuchet MS"/>
                <a:cs typeface="Trebuchet MS"/>
              </a:rPr>
              <a:t>Mesh </a:t>
            </a:r>
            <a:r>
              <a:rPr sz="2200" b="1" spc="-10" dirty="0">
                <a:latin typeface="Trebuchet MS"/>
                <a:cs typeface="Trebuchet MS"/>
              </a:rPr>
              <a:t>Topology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459354" y="3858767"/>
            <a:ext cx="8894445" cy="1505585"/>
          </a:xfrm>
          <a:custGeom>
            <a:avLst/>
            <a:gdLst/>
            <a:ahLst/>
            <a:cxnLst/>
            <a:rect l="l" t="t" r="r" b="b"/>
            <a:pathLst>
              <a:path w="8894445" h="1505585">
                <a:moveTo>
                  <a:pt x="8894445" y="250824"/>
                </a:moveTo>
                <a:lnTo>
                  <a:pt x="8894445" y="1254378"/>
                </a:lnTo>
                <a:lnTo>
                  <a:pt x="8890404" y="1299477"/>
                </a:lnTo>
                <a:lnTo>
                  <a:pt x="8878754" y="1341928"/>
                </a:lnTo>
                <a:lnTo>
                  <a:pt x="8860202" y="1381021"/>
                </a:lnTo>
                <a:lnTo>
                  <a:pt x="8835452" y="1416047"/>
                </a:lnTo>
                <a:lnTo>
                  <a:pt x="8805213" y="1446297"/>
                </a:lnTo>
                <a:lnTo>
                  <a:pt x="8770191" y="1471059"/>
                </a:lnTo>
                <a:lnTo>
                  <a:pt x="8731093" y="1489626"/>
                </a:lnTo>
                <a:lnTo>
                  <a:pt x="8688624" y="1501286"/>
                </a:lnTo>
                <a:lnTo>
                  <a:pt x="8643493" y="1505330"/>
                </a:lnTo>
                <a:lnTo>
                  <a:pt x="0" y="1505330"/>
                </a:lnTo>
                <a:lnTo>
                  <a:pt x="0" y="0"/>
                </a:lnTo>
                <a:lnTo>
                  <a:pt x="8643493" y="0"/>
                </a:lnTo>
                <a:lnTo>
                  <a:pt x="8688624" y="4040"/>
                </a:lnTo>
                <a:lnTo>
                  <a:pt x="8731093" y="15688"/>
                </a:lnTo>
                <a:lnTo>
                  <a:pt x="8770191" y="34238"/>
                </a:lnTo>
                <a:lnTo>
                  <a:pt x="8805213" y="58980"/>
                </a:lnTo>
                <a:lnTo>
                  <a:pt x="8835452" y="89209"/>
                </a:lnTo>
                <a:lnTo>
                  <a:pt x="8860202" y="124215"/>
                </a:lnTo>
                <a:lnTo>
                  <a:pt x="8878754" y="163291"/>
                </a:lnTo>
                <a:lnTo>
                  <a:pt x="8890404" y="205730"/>
                </a:lnTo>
                <a:lnTo>
                  <a:pt x="8894445" y="250824"/>
                </a:lnTo>
                <a:close/>
              </a:path>
            </a:pathLst>
          </a:custGeom>
          <a:ln w="12700">
            <a:solidFill>
              <a:srgbClr val="186B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667380" y="3880865"/>
            <a:ext cx="8081645" cy="1363345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299085" marR="5080" indent="-287020">
              <a:lnSpc>
                <a:spcPts val="3410"/>
              </a:lnSpc>
              <a:spcBef>
                <a:spcPts val="465"/>
              </a:spcBef>
              <a:buChar char="•"/>
              <a:tabLst>
                <a:tab pos="299085" algn="l"/>
              </a:tabLst>
            </a:pPr>
            <a:r>
              <a:rPr sz="3100" spc="-35" dirty="0">
                <a:latin typeface="Trebuchet MS"/>
                <a:cs typeface="Trebuchet MS"/>
              </a:rPr>
              <a:t>In</a:t>
            </a:r>
            <a:r>
              <a:rPr sz="3100" spc="-285" dirty="0">
                <a:latin typeface="Trebuchet MS"/>
                <a:cs typeface="Trebuchet MS"/>
              </a:rPr>
              <a:t> </a:t>
            </a:r>
            <a:r>
              <a:rPr sz="3100" dirty="0">
                <a:latin typeface="Trebuchet MS"/>
                <a:cs typeface="Trebuchet MS"/>
              </a:rPr>
              <a:t>a</a:t>
            </a:r>
            <a:r>
              <a:rPr sz="3100" spc="-270" dirty="0">
                <a:latin typeface="Trebuchet MS"/>
                <a:cs typeface="Trebuchet MS"/>
              </a:rPr>
              <a:t> </a:t>
            </a:r>
            <a:r>
              <a:rPr sz="3100" spc="-105" dirty="0">
                <a:latin typeface="Trebuchet MS"/>
                <a:cs typeface="Trebuchet MS"/>
              </a:rPr>
              <a:t>partial</a:t>
            </a:r>
            <a:r>
              <a:rPr sz="3100" spc="-265" dirty="0">
                <a:latin typeface="Trebuchet MS"/>
                <a:cs typeface="Trebuchet MS"/>
              </a:rPr>
              <a:t> </a:t>
            </a:r>
            <a:r>
              <a:rPr sz="3100" spc="50" dirty="0">
                <a:latin typeface="Trebuchet MS"/>
                <a:cs typeface="Trebuchet MS"/>
              </a:rPr>
              <a:t>mesh</a:t>
            </a:r>
            <a:r>
              <a:rPr sz="3100" spc="-285" dirty="0">
                <a:latin typeface="Trebuchet MS"/>
                <a:cs typeface="Trebuchet MS"/>
              </a:rPr>
              <a:t> </a:t>
            </a:r>
            <a:r>
              <a:rPr sz="3100" spc="-110" dirty="0">
                <a:latin typeface="Trebuchet MS"/>
                <a:cs typeface="Trebuchet MS"/>
              </a:rPr>
              <a:t>topology,</a:t>
            </a:r>
            <a:r>
              <a:rPr sz="3100" spc="-260" dirty="0">
                <a:latin typeface="Trebuchet MS"/>
                <a:cs typeface="Trebuchet MS"/>
              </a:rPr>
              <a:t> </a:t>
            </a:r>
            <a:r>
              <a:rPr sz="3100" spc="-70" dirty="0">
                <a:latin typeface="Trebuchet MS"/>
                <a:cs typeface="Trebuchet MS"/>
              </a:rPr>
              <a:t>not</a:t>
            </a:r>
            <a:r>
              <a:rPr sz="3100" spc="-275" dirty="0">
                <a:latin typeface="Trebuchet MS"/>
                <a:cs typeface="Trebuchet MS"/>
              </a:rPr>
              <a:t> </a:t>
            </a:r>
            <a:r>
              <a:rPr sz="3100" spc="-80" dirty="0">
                <a:latin typeface="Trebuchet MS"/>
                <a:cs typeface="Trebuchet MS"/>
              </a:rPr>
              <a:t>all</a:t>
            </a:r>
            <a:r>
              <a:rPr sz="3100" spc="-270" dirty="0">
                <a:latin typeface="Trebuchet MS"/>
                <a:cs typeface="Trebuchet MS"/>
              </a:rPr>
              <a:t> </a:t>
            </a:r>
            <a:r>
              <a:rPr sz="3100" spc="-75" dirty="0">
                <a:latin typeface="Trebuchet MS"/>
                <a:cs typeface="Trebuchet MS"/>
              </a:rPr>
              <a:t>but</a:t>
            </a:r>
            <a:r>
              <a:rPr sz="3100" spc="-280" dirty="0">
                <a:latin typeface="Trebuchet MS"/>
                <a:cs typeface="Trebuchet MS"/>
              </a:rPr>
              <a:t> </a:t>
            </a:r>
            <a:r>
              <a:rPr sz="3100" spc="-10" dirty="0">
                <a:latin typeface="Trebuchet MS"/>
                <a:cs typeface="Trebuchet MS"/>
              </a:rPr>
              <a:t>certain computers</a:t>
            </a:r>
            <a:r>
              <a:rPr sz="3100" spc="-245" dirty="0">
                <a:latin typeface="Trebuchet MS"/>
                <a:cs typeface="Trebuchet MS"/>
              </a:rPr>
              <a:t> </a:t>
            </a:r>
            <a:r>
              <a:rPr sz="3100" spc="-105" dirty="0">
                <a:latin typeface="Trebuchet MS"/>
                <a:cs typeface="Trebuchet MS"/>
              </a:rPr>
              <a:t>are</a:t>
            </a:r>
            <a:r>
              <a:rPr sz="3100" spc="-265" dirty="0">
                <a:latin typeface="Trebuchet MS"/>
                <a:cs typeface="Trebuchet MS"/>
              </a:rPr>
              <a:t> </a:t>
            </a:r>
            <a:r>
              <a:rPr sz="3100" spc="-35" dirty="0">
                <a:latin typeface="Trebuchet MS"/>
                <a:cs typeface="Trebuchet MS"/>
              </a:rPr>
              <a:t>connected</a:t>
            </a:r>
            <a:r>
              <a:rPr sz="3100" spc="-245" dirty="0">
                <a:latin typeface="Trebuchet MS"/>
                <a:cs typeface="Trebuchet MS"/>
              </a:rPr>
              <a:t> </a:t>
            </a:r>
            <a:r>
              <a:rPr sz="3100" spc="-114" dirty="0">
                <a:latin typeface="Trebuchet MS"/>
                <a:cs typeface="Trebuchet MS"/>
              </a:rPr>
              <a:t>to</a:t>
            </a:r>
            <a:r>
              <a:rPr sz="3100" spc="-280" dirty="0">
                <a:latin typeface="Trebuchet MS"/>
                <a:cs typeface="Trebuchet MS"/>
              </a:rPr>
              <a:t> </a:t>
            </a:r>
            <a:r>
              <a:rPr sz="3100" spc="-10" dirty="0">
                <a:latin typeface="Trebuchet MS"/>
                <a:cs typeface="Trebuchet MS"/>
              </a:rPr>
              <a:t>those</a:t>
            </a:r>
            <a:r>
              <a:rPr sz="3100" spc="-250" dirty="0">
                <a:latin typeface="Trebuchet MS"/>
                <a:cs typeface="Trebuchet MS"/>
              </a:rPr>
              <a:t> </a:t>
            </a:r>
            <a:r>
              <a:rPr sz="3100" spc="-10" dirty="0">
                <a:latin typeface="Trebuchet MS"/>
                <a:cs typeface="Trebuchet MS"/>
              </a:rPr>
              <a:t>computers </a:t>
            </a:r>
            <a:r>
              <a:rPr sz="3100" spc="-135" dirty="0">
                <a:latin typeface="Trebuchet MS"/>
                <a:cs typeface="Trebuchet MS"/>
              </a:rPr>
              <a:t>with</a:t>
            </a:r>
            <a:r>
              <a:rPr sz="3100" spc="-265" dirty="0">
                <a:latin typeface="Trebuchet MS"/>
                <a:cs typeface="Trebuchet MS"/>
              </a:rPr>
              <a:t> </a:t>
            </a:r>
            <a:r>
              <a:rPr sz="3100" spc="-45" dirty="0">
                <a:latin typeface="Trebuchet MS"/>
                <a:cs typeface="Trebuchet MS"/>
              </a:rPr>
              <a:t>which</a:t>
            </a:r>
            <a:r>
              <a:rPr sz="3100" spc="-260" dirty="0">
                <a:latin typeface="Trebuchet MS"/>
                <a:cs typeface="Trebuchet MS"/>
              </a:rPr>
              <a:t> </a:t>
            </a:r>
            <a:r>
              <a:rPr sz="3100" spc="-120" dirty="0">
                <a:latin typeface="Trebuchet MS"/>
                <a:cs typeface="Trebuchet MS"/>
              </a:rPr>
              <a:t>they</a:t>
            </a:r>
            <a:r>
              <a:rPr sz="3100" spc="-260" dirty="0">
                <a:latin typeface="Trebuchet MS"/>
                <a:cs typeface="Trebuchet MS"/>
              </a:rPr>
              <a:t> </a:t>
            </a:r>
            <a:r>
              <a:rPr sz="3100" spc="-25" dirty="0">
                <a:latin typeface="Trebuchet MS"/>
                <a:cs typeface="Trebuchet MS"/>
              </a:rPr>
              <a:t>communicate</a:t>
            </a:r>
            <a:r>
              <a:rPr sz="3100" spc="-229" dirty="0">
                <a:latin typeface="Trebuchet MS"/>
                <a:cs typeface="Trebuchet MS"/>
              </a:rPr>
              <a:t> </a:t>
            </a:r>
            <a:r>
              <a:rPr sz="3100" spc="-35" dirty="0">
                <a:latin typeface="Trebuchet MS"/>
                <a:cs typeface="Trebuchet MS"/>
              </a:rPr>
              <a:t>frequently.</a:t>
            </a:r>
            <a:endParaRPr sz="3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80" dirty="0"/>
              <a:t>Advantages</a:t>
            </a:r>
            <a:r>
              <a:rPr spc="-434" dirty="0"/>
              <a:t> </a:t>
            </a:r>
            <a:r>
              <a:rPr spc="-265" dirty="0"/>
              <a:t>of</a:t>
            </a:r>
            <a:r>
              <a:rPr spc="-420" dirty="0"/>
              <a:t> </a:t>
            </a:r>
            <a:r>
              <a:rPr dirty="0"/>
              <a:t>Mesh</a:t>
            </a:r>
            <a:r>
              <a:rPr spc="-409" dirty="0"/>
              <a:t> </a:t>
            </a:r>
            <a:r>
              <a:rPr spc="-285" dirty="0"/>
              <a:t>Topology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8527" y="1813560"/>
            <a:ext cx="4303014" cy="220599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032761" y="1684201"/>
            <a:ext cx="3951604" cy="2218690"/>
          </a:xfrm>
          <a:prstGeom prst="rect">
            <a:avLst/>
          </a:prstGeom>
        </p:spPr>
        <p:txBody>
          <a:bodyPr vert="horz" wrap="square" lIns="0" tIns="175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sz="2700" b="1" spc="-10" dirty="0">
                <a:latin typeface="Trebuchet MS"/>
                <a:cs typeface="Trebuchet MS"/>
              </a:rPr>
              <a:t>Reliable:</a:t>
            </a:r>
            <a:endParaRPr sz="2700">
              <a:latin typeface="Trebuchet MS"/>
              <a:cs typeface="Trebuchet MS"/>
            </a:endParaRPr>
          </a:p>
          <a:p>
            <a:pPr marL="241300" marR="5080" indent="-228600">
              <a:lnSpc>
                <a:spcPct val="91600"/>
              </a:lnSpc>
              <a:spcBef>
                <a:spcPts val="1205"/>
              </a:spcBef>
              <a:buChar char="•"/>
              <a:tabLst>
                <a:tab pos="241300" algn="l"/>
              </a:tabLst>
            </a:pPr>
            <a:r>
              <a:rPr sz="2100" spc="-100" dirty="0">
                <a:latin typeface="Trebuchet MS"/>
                <a:cs typeface="Trebuchet MS"/>
              </a:rPr>
              <a:t>The</a:t>
            </a:r>
            <a:r>
              <a:rPr sz="2100" spc="-14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mesh</a:t>
            </a:r>
            <a:r>
              <a:rPr sz="2100" spc="-140" dirty="0">
                <a:latin typeface="Trebuchet MS"/>
                <a:cs typeface="Trebuchet MS"/>
              </a:rPr>
              <a:t> </a:t>
            </a:r>
            <a:r>
              <a:rPr sz="2100" spc="-45" dirty="0">
                <a:latin typeface="Trebuchet MS"/>
                <a:cs typeface="Trebuchet MS"/>
              </a:rPr>
              <a:t>topology</a:t>
            </a:r>
            <a:r>
              <a:rPr sz="2100" spc="-165" dirty="0">
                <a:latin typeface="Trebuchet MS"/>
                <a:cs typeface="Trebuchet MS"/>
              </a:rPr>
              <a:t> </a:t>
            </a:r>
            <a:r>
              <a:rPr sz="2100" spc="-40" dirty="0">
                <a:latin typeface="Trebuchet MS"/>
                <a:cs typeface="Trebuchet MS"/>
              </a:rPr>
              <a:t>networks</a:t>
            </a:r>
            <a:r>
              <a:rPr sz="2100" spc="-145" dirty="0">
                <a:latin typeface="Trebuchet MS"/>
                <a:cs typeface="Trebuchet MS"/>
              </a:rPr>
              <a:t> </a:t>
            </a:r>
            <a:r>
              <a:rPr sz="2100" spc="-25" dirty="0">
                <a:latin typeface="Trebuchet MS"/>
                <a:cs typeface="Trebuchet MS"/>
              </a:rPr>
              <a:t>are </a:t>
            </a:r>
            <a:r>
              <a:rPr sz="2100" spc="-90" dirty="0">
                <a:latin typeface="Trebuchet MS"/>
                <a:cs typeface="Trebuchet MS"/>
              </a:rPr>
              <a:t>very</a:t>
            </a:r>
            <a:r>
              <a:rPr sz="2100" spc="-200" dirty="0">
                <a:latin typeface="Trebuchet MS"/>
                <a:cs typeface="Trebuchet MS"/>
              </a:rPr>
              <a:t> </a:t>
            </a:r>
            <a:r>
              <a:rPr sz="2100" spc="-70" dirty="0">
                <a:latin typeface="Trebuchet MS"/>
                <a:cs typeface="Trebuchet MS"/>
              </a:rPr>
              <a:t>reliable</a:t>
            </a:r>
            <a:r>
              <a:rPr sz="2100" spc="-195" dirty="0">
                <a:latin typeface="Trebuchet MS"/>
                <a:cs typeface="Trebuchet MS"/>
              </a:rPr>
              <a:t> </a:t>
            </a:r>
            <a:r>
              <a:rPr sz="2100" spc="85" dirty="0">
                <a:latin typeface="Trebuchet MS"/>
                <a:cs typeface="Trebuchet MS"/>
              </a:rPr>
              <a:t>as</a:t>
            </a:r>
            <a:r>
              <a:rPr sz="2100" spc="-185" dirty="0">
                <a:latin typeface="Trebuchet MS"/>
                <a:cs typeface="Trebuchet MS"/>
              </a:rPr>
              <a:t> </a:t>
            </a:r>
            <a:r>
              <a:rPr sz="2100" spc="-135" dirty="0">
                <a:latin typeface="Trebuchet MS"/>
                <a:cs typeface="Trebuchet MS"/>
              </a:rPr>
              <a:t>if</a:t>
            </a:r>
            <a:r>
              <a:rPr sz="2100" spc="-185" dirty="0">
                <a:latin typeface="Trebuchet MS"/>
                <a:cs typeface="Trebuchet MS"/>
              </a:rPr>
              <a:t> </a:t>
            </a:r>
            <a:r>
              <a:rPr sz="2100" spc="-40" dirty="0">
                <a:latin typeface="Trebuchet MS"/>
                <a:cs typeface="Trebuchet MS"/>
              </a:rPr>
              <a:t>any</a:t>
            </a:r>
            <a:r>
              <a:rPr sz="2100" spc="-190" dirty="0">
                <a:latin typeface="Trebuchet MS"/>
                <a:cs typeface="Trebuchet MS"/>
              </a:rPr>
              <a:t> </a:t>
            </a:r>
            <a:r>
              <a:rPr sz="2100" spc="-20" dirty="0">
                <a:latin typeface="Trebuchet MS"/>
                <a:cs typeface="Trebuchet MS"/>
              </a:rPr>
              <a:t>link </a:t>
            </a:r>
            <a:r>
              <a:rPr sz="2100" spc="-40" dirty="0">
                <a:latin typeface="Trebuchet MS"/>
                <a:cs typeface="Trebuchet MS"/>
              </a:rPr>
              <a:t>breakdown</a:t>
            </a:r>
            <a:r>
              <a:rPr sz="2100" spc="-190" dirty="0">
                <a:latin typeface="Trebuchet MS"/>
                <a:cs typeface="Trebuchet MS"/>
              </a:rPr>
              <a:t> </a:t>
            </a:r>
            <a:r>
              <a:rPr sz="2100" spc="-90" dirty="0">
                <a:latin typeface="Trebuchet MS"/>
                <a:cs typeface="Trebuchet MS"/>
              </a:rPr>
              <a:t>will</a:t>
            </a:r>
            <a:r>
              <a:rPr sz="2100" spc="-200" dirty="0">
                <a:latin typeface="Trebuchet MS"/>
                <a:cs typeface="Trebuchet MS"/>
              </a:rPr>
              <a:t> </a:t>
            </a:r>
            <a:r>
              <a:rPr sz="2100" spc="-50" dirty="0">
                <a:latin typeface="Trebuchet MS"/>
                <a:cs typeface="Trebuchet MS"/>
              </a:rPr>
              <a:t>not</a:t>
            </a:r>
            <a:r>
              <a:rPr sz="2100" spc="-180" dirty="0">
                <a:latin typeface="Trebuchet MS"/>
                <a:cs typeface="Trebuchet MS"/>
              </a:rPr>
              <a:t> </a:t>
            </a:r>
            <a:r>
              <a:rPr sz="2100" spc="-90" dirty="0">
                <a:latin typeface="Trebuchet MS"/>
                <a:cs typeface="Trebuchet MS"/>
              </a:rPr>
              <a:t>affect</a:t>
            </a:r>
            <a:r>
              <a:rPr sz="2100" spc="-185" dirty="0">
                <a:latin typeface="Trebuchet MS"/>
                <a:cs typeface="Trebuchet MS"/>
              </a:rPr>
              <a:t> </a:t>
            </a:r>
            <a:r>
              <a:rPr sz="2100" spc="-25" dirty="0">
                <a:latin typeface="Trebuchet MS"/>
                <a:cs typeface="Trebuchet MS"/>
              </a:rPr>
              <a:t>the </a:t>
            </a:r>
            <a:r>
              <a:rPr sz="2100" spc="-20" dirty="0">
                <a:latin typeface="Trebuchet MS"/>
                <a:cs typeface="Trebuchet MS"/>
              </a:rPr>
              <a:t>communication</a:t>
            </a:r>
            <a:r>
              <a:rPr sz="2100" spc="-100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between </a:t>
            </a:r>
            <a:r>
              <a:rPr sz="2100" spc="-25" dirty="0">
                <a:latin typeface="Trebuchet MS"/>
                <a:cs typeface="Trebuchet MS"/>
              </a:rPr>
              <a:t>connected</a:t>
            </a:r>
            <a:r>
              <a:rPr sz="2100" spc="-140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computers.</a:t>
            </a:r>
            <a:endParaRPr sz="21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03492" y="1802892"/>
            <a:ext cx="4303013" cy="220598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698106" y="1673532"/>
            <a:ext cx="3381375" cy="1339215"/>
          </a:xfrm>
          <a:prstGeom prst="rect">
            <a:avLst/>
          </a:prstGeom>
        </p:spPr>
        <p:txBody>
          <a:bodyPr vert="horz" wrap="square" lIns="0" tIns="175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sz="2700" b="1" spc="-25" dirty="0">
                <a:latin typeface="Trebuchet MS"/>
                <a:cs typeface="Trebuchet MS"/>
              </a:rPr>
              <a:t>Fast</a:t>
            </a:r>
            <a:r>
              <a:rPr sz="2700" b="1" spc="-245" dirty="0">
                <a:latin typeface="Trebuchet MS"/>
                <a:cs typeface="Trebuchet MS"/>
              </a:rPr>
              <a:t> </a:t>
            </a:r>
            <a:r>
              <a:rPr sz="2700" b="1" spc="-10" dirty="0">
                <a:latin typeface="Trebuchet MS"/>
                <a:cs typeface="Trebuchet MS"/>
              </a:rPr>
              <a:t>Communication:</a:t>
            </a:r>
            <a:endParaRPr sz="2700">
              <a:latin typeface="Trebuchet MS"/>
              <a:cs typeface="Trebuchet MS"/>
            </a:endParaRPr>
          </a:p>
          <a:p>
            <a:pPr marL="241300" marR="5080" indent="-228600">
              <a:lnSpc>
                <a:spcPts val="2300"/>
              </a:lnSpc>
              <a:spcBef>
                <a:spcPts val="1255"/>
              </a:spcBef>
              <a:buChar char="•"/>
              <a:tabLst>
                <a:tab pos="241300" algn="l"/>
              </a:tabLst>
            </a:pPr>
            <a:r>
              <a:rPr sz="2100" dirty="0">
                <a:latin typeface="Trebuchet MS"/>
                <a:cs typeface="Trebuchet MS"/>
              </a:rPr>
              <a:t>Communication</a:t>
            </a:r>
            <a:r>
              <a:rPr sz="2100" spc="-18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is</a:t>
            </a:r>
            <a:r>
              <a:rPr sz="2100" spc="-165" dirty="0">
                <a:latin typeface="Trebuchet MS"/>
                <a:cs typeface="Trebuchet MS"/>
              </a:rPr>
              <a:t> </a:t>
            </a:r>
            <a:r>
              <a:rPr sz="2100" spc="-90" dirty="0">
                <a:latin typeface="Trebuchet MS"/>
                <a:cs typeface="Trebuchet MS"/>
              </a:rPr>
              <a:t>very</a:t>
            </a:r>
            <a:r>
              <a:rPr sz="2100" spc="-185" dirty="0">
                <a:latin typeface="Trebuchet MS"/>
                <a:cs typeface="Trebuchet MS"/>
              </a:rPr>
              <a:t> </a:t>
            </a:r>
            <a:r>
              <a:rPr sz="2100" spc="-25" dirty="0">
                <a:latin typeface="Trebuchet MS"/>
                <a:cs typeface="Trebuchet MS"/>
              </a:rPr>
              <a:t>fast </a:t>
            </a:r>
            <a:r>
              <a:rPr sz="2100" spc="-70" dirty="0">
                <a:latin typeface="Trebuchet MS"/>
                <a:cs typeface="Trebuchet MS"/>
              </a:rPr>
              <a:t>between</a:t>
            </a:r>
            <a:r>
              <a:rPr sz="2100" spc="-165" dirty="0">
                <a:latin typeface="Trebuchet MS"/>
                <a:cs typeface="Trebuchet MS"/>
              </a:rPr>
              <a:t> </a:t>
            </a:r>
            <a:r>
              <a:rPr sz="2100" spc="-80" dirty="0">
                <a:latin typeface="Trebuchet MS"/>
                <a:cs typeface="Trebuchet MS"/>
              </a:rPr>
              <a:t>the</a:t>
            </a:r>
            <a:r>
              <a:rPr sz="2100" spc="-165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nodes.</a:t>
            </a:r>
            <a:endParaRPr sz="2100">
              <a:latin typeface="Trebuchet MS"/>
              <a:cs typeface="Trebuchet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70247" y="4370832"/>
            <a:ext cx="4303013" cy="220599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365497" y="4241156"/>
            <a:ext cx="3714115" cy="1632585"/>
          </a:xfrm>
          <a:prstGeom prst="rect">
            <a:avLst/>
          </a:prstGeom>
        </p:spPr>
        <p:txBody>
          <a:bodyPr vert="horz" wrap="square" lIns="0" tIns="175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85"/>
              </a:spcBef>
            </a:pPr>
            <a:r>
              <a:rPr sz="2700" b="1" spc="-10" dirty="0">
                <a:latin typeface="Trebuchet MS"/>
                <a:cs typeface="Trebuchet MS"/>
              </a:rPr>
              <a:t>Easier</a:t>
            </a:r>
            <a:r>
              <a:rPr sz="2700" b="1" spc="-235" dirty="0">
                <a:latin typeface="Trebuchet MS"/>
                <a:cs typeface="Trebuchet MS"/>
              </a:rPr>
              <a:t> </a:t>
            </a:r>
            <a:r>
              <a:rPr sz="2700" b="1" spc="-10" dirty="0">
                <a:latin typeface="Trebuchet MS"/>
                <a:cs typeface="Trebuchet MS"/>
              </a:rPr>
              <a:t>Reconfiguration:</a:t>
            </a:r>
            <a:endParaRPr sz="2700">
              <a:latin typeface="Trebuchet MS"/>
              <a:cs typeface="Trebuchet MS"/>
            </a:endParaRPr>
          </a:p>
          <a:p>
            <a:pPr marL="241300" marR="5080" indent="-228600">
              <a:lnSpc>
                <a:spcPts val="2300"/>
              </a:lnSpc>
              <a:spcBef>
                <a:spcPts val="1260"/>
              </a:spcBef>
              <a:buChar char="•"/>
              <a:tabLst>
                <a:tab pos="241300" algn="l"/>
              </a:tabLst>
            </a:pPr>
            <a:r>
              <a:rPr sz="2100" spc="-35" dirty="0">
                <a:latin typeface="Trebuchet MS"/>
                <a:cs typeface="Trebuchet MS"/>
              </a:rPr>
              <a:t>Adding</a:t>
            </a:r>
            <a:r>
              <a:rPr sz="2100" spc="-185" dirty="0">
                <a:latin typeface="Trebuchet MS"/>
                <a:cs typeface="Trebuchet MS"/>
              </a:rPr>
              <a:t> </a:t>
            </a:r>
            <a:r>
              <a:rPr sz="2100" spc="-45" dirty="0">
                <a:latin typeface="Trebuchet MS"/>
                <a:cs typeface="Trebuchet MS"/>
              </a:rPr>
              <a:t>new</a:t>
            </a:r>
            <a:r>
              <a:rPr sz="2100" spc="-185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devices</a:t>
            </a:r>
            <a:r>
              <a:rPr sz="2100" spc="-185" dirty="0">
                <a:latin typeface="Trebuchet MS"/>
                <a:cs typeface="Trebuchet MS"/>
              </a:rPr>
              <a:t> </a:t>
            </a:r>
            <a:r>
              <a:rPr sz="2100" spc="-35" dirty="0">
                <a:latin typeface="Trebuchet MS"/>
                <a:cs typeface="Trebuchet MS"/>
              </a:rPr>
              <a:t>would</a:t>
            </a:r>
            <a:r>
              <a:rPr sz="2100" spc="-185" dirty="0">
                <a:latin typeface="Trebuchet MS"/>
                <a:cs typeface="Trebuchet MS"/>
              </a:rPr>
              <a:t> </a:t>
            </a:r>
            <a:r>
              <a:rPr sz="2100" spc="-25" dirty="0">
                <a:latin typeface="Trebuchet MS"/>
                <a:cs typeface="Trebuchet MS"/>
              </a:rPr>
              <a:t>not </a:t>
            </a:r>
            <a:r>
              <a:rPr sz="2100" spc="-35" dirty="0">
                <a:latin typeface="Trebuchet MS"/>
                <a:cs typeface="Trebuchet MS"/>
              </a:rPr>
              <a:t>disrupt</a:t>
            </a:r>
            <a:r>
              <a:rPr sz="2100" spc="-200" dirty="0">
                <a:latin typeface="Trebuchet MS"/>
                <a:cs typeface="Trebuchet MS"/>
              </a:rPr>
              <a:t> </a:t>
            </a:r>
            <a:r>
              <a:rPr sz="2100" spc="-80" dirty="0">
                <a:latin typeface="Trebuchet MS"/>
                <a:cs typeface="Trebuchet MS"/>
              </a:rPr>
              <a:t>the</a:t>
            </a:r>
            <a:r>
              <a:rPr sz="2100" spc="-180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communication </a:t>
            </a:r>
            <a:r>
              <a:rPr sz="2100" spc="-70" dirty="0">
                <a:latin typeface="Trebuchet MS"/>
                <a:cs typeface="Trebuchet MS"/>
              </a:rPr>
              <a:t>between</a:t>
            </a:r>
            <a:r>
              <a:rPr sz="2100" spc="-150" dirty="0">
                <a:latin typeface="Trebuchet MS"/>
                <a:cs typeface="Trebuchet MS"/>
              </a:rPr>
              <a:t> </a:t>
            </a:r>
            <a:r>
              <a:rPr sz="2100" spc="-70" dirty="0">
                <a:latin typeface="Trebuchet MS"/>
                <a:cs typeface="Trebuchet MS"/>
              </a:rPr>
              <a:t>other</a:t>
            </a:r>
            <a:r>
              <a:rPr sz="2100" spc="-155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devices.</a:t>
            </a:r>
            <a:endParaRPr sz="2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40" dirty="0"/>
              <a:t>Disadvantages</a:t>
            </a:r>
            <a:r>
              <a:rPr spc="-440" dirty="0"/>
              <a:t> </a:t>
            </a:r>
            <a:r>
              <a:rPr spc="-265" dirty="0"/>
              <a:t>of</a:t>
            </a:r>
            <a:r>
              <a:rPr spc="-425" dirty="0"/>
              <a:t> </a:t>
            </a:r>
            <a:r>
              <a:rPr dirty="0"/>
              <a:t>Mesh</a:t>
            </a:r>
            <a:r>
              <a:rPr spc="-420" dirty="0"/>
              <a:t> </a:t>
            </a:r>
            <a:r>
              <a:rPr spc="-285" dirty="0"/>
              <a:t>Topology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31850" y="1821307"/>
            <a:ext cx="1118235" cy="1591310"/>
            <a:chOff x="831850" y="1821307"/>
            <a:chExt cx="1118235" cy="15913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8200" y="1827657"/>
              <a:ext cx="1105027" cy="157860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38200" y="1827657"/>
              <a:ext cx="1105535" cy="1578610"/>
            </a:xfrm>
            <a:custGeom>
              <a:avLst/>
              <a:gdLst/>
              <a:ahLst/>
              <a:cxnLst/>
              <a:rect l="l" t="t" r="r" b="b"/>
              <a:pathLst>
                <a:path w="1105535" h="1578610">
                  <a:moveTo>
                    <a:pt x="1105027" y="0"/>
                  </a:moveTo>
                  <a:lnTo>
                    <a:pt x="1105027" y="1026159"/>
                  </a:lnTo>
                  <a:lnTo>
                    <a:pt x="552577" y="1578609"/>
                  </a:lnTo>
                  <a:lnTo>
                    <a:pt x="0" y="1026159"/>
                  </a:lnTo>
                  <a:lnTo>
                    <a:pt x="0" y="0"/>
                  </a:lnTo>
                  <a:lnTo>
                    <a:pt x="552577" y="552576"/>
                  </a:lnTo>
                  <a:lnTo>
                    <a:pt x="1105027" y="0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86688" y="2474468"/>
            <a:ext cx="40767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30" dirty="0">
                <a:latin typeface="Trebuchet MS"/>
                <a:cs typeface="Trebuchet MS"/>
              </a:rPr>
              <a:t>Cost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943226" y="1827657"/>
            <a:ext cx="9410700" cy="1026160"/>
          </a:xfrm>
          <a:custGeom>
            <a:avLst/>
            <a:gdLst/>
            <a:ahLst/>
            <a:cxnLst/>
            <a:rect l="l" t="t" r="r" b="b"/>
            <a:pathLst>
              <a:path w="9410700" h="1026160">
                <a:moveTo>
                  <a:pt x="9410573" y="171068"/>
                </a:moveTo>
                <a:lnTo>
                  <a:pt x="9410573" y="855090"/>
                </a:lnTo>
                <a:lnTo>
                  <a:pt x="9404462" y="900571"/>
                </a:lnTo>
                <a:lnTo>
                  <a:pt x="9387219" y="941436"/>
                </a:lnTo>
                <a:lnTo>
                  <a:pt x="9360471" y="976058"/>
                </a:lnTo>
                <a:lnTo>
                  <a:pt x="9325849" y="1002806"/>
                </a:lnTo>
                <a:lnTo>
                  <a:pt x="9284984" y="1020049"/>
                </a:lnTo>
                <a:lnTo>
                  <a:pt x="9239504" y="1026159"/>
                </a:lnTo>
                <a:lnTo>
                  <a:pt x="0" y="1026159"/>
                </a:lnTo>
                <a:lnTo>
                  <a:pt x="0" y="0"/>
                </a:lnTo>
                <a:lnTo>
                  <a:pt x="9239504" y="0"/>
                </a:lnTo>
                <a:lnTo>
                  <a:pt x="9284984" y="6110"/>
                </a:lnTo>
                <a:lnTo>
                  <a:pt x="9325849" y="23353"/>
                </a:lnTo>
                <a:lnTo>
                  <a:pt x="9360471" y="50101"/>
                </a:lnTo>
                <a:lnTo>
                  <a:pt x="9387219" y="84723"/>
                </a:lnTo>
                <a:lnTo>
                  <a:pt x="9404462" y="125588"/>
                </a:lnTo>
                <a:lnTo>
                  <a:pt x="9410573" y="171068"/>
                </a:lnTo>
                <a:close/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080005" y="1987422"/>
            <a:ext cx="8651875" cy="63817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241300" marR="5080" indent="-228600">
              <a:lnSpc>
                <a:spcPts val="2300"/>
              </a:lnSpc>
              <a:spcBef>
                <a:spcPts val="360"/>
              </a:spcBef>
              <a:buChar char="•"/>
              <a:tabLst>
                <a:tab pos="241300" algn="l"/>
              </a:tabLst>
            </a:pPr>
            <a:r>
              <a:rPr sz="2100" dirty="0">
                <a:latin typeface="Trebuchet MS"/>
                <a:cs typeface="Trebuchet MS"/>
              </a:rPr>
              <a:t>A</a:t>
            </a:r>
            <a:r>
              <a:rPr sz="2100" spc="-16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mesh</a:t>
            </a:r>
            <a:r>
              <a:rPr sz="2100" spc="-165" dirty="0">
                <a:latin typeface="Trebuchet MS"/>
                <a:cs typeface="Trebuchet MS"/>
              </a:rPr>
              <a:t> </a:t>
            </a:r>
            <a:r>
              <a:rPr sz="2100" spc="-40" dirty="0">
                <a:latin typeface="Trebuchet MS"/>
                <a:cs typeface="Trebuchet MS"/>
              </a:rPr>
              <a:t>topology</a:t>
            </a:r>
            <a:r>
              <a:rPr sz="2100" spc="-200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contains</a:t>
            </a:r>
            <a:r>
              <a:rPr sz="2100" spc="-15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a</a:t>
            </a:r>
            <a:r>
              <a:rPr sz="2100" spc="-165" dirty="0">
                <a:latin typeface="Trebuchet MS"/>
                <a:cs typeface="Trebuchet MS"/>
              </a:rPr>
              <a:t> </a:t>
            </a:r>
            <a:r>
              <a:rPr sz="2100" spc="-70" dirty="0">
                <a:latin typeface="Trebuchet MS"/>
                <a:cs typeface="Trebuchet MS"/>
              </a:rPr>
              <a:t>large</a:t>
            </a:r>
            <a:r>
              <a:rPr sz="2100" spc="-175" dirty="0">
                <a:latin typeface="Trebuchet MS"/>
                <a:cs typeface="Trebuchet MS"/>
              </a:rPr>
              <a:t> </a:t>
            </a:r>
            <a:r>
              <a:rPr sz="2100" spc="-25" dirty="0">
                <a:latin typeface="Trebuchet MS"/>
                <a:cs typeface="Trebuchet MS"/>
              </a:rPr>
              <a:t>number</a:t>
            </a:r>
            <a:r>
              <a:rPr sz="2100" spc="-155" dirty="0">
                <a:latin typeface="Trebuchet MS"/>
                <a:cs typeface="Trebuchet MS"/>
              </a:rPr>
              <a:t> </a:t>
            </a:r>
            <a:r>
              <a:rPr sz="2100" spc="-65" dirty="0">
                <a:latin typeface="Trebuchet MS"/>
                <a:cs typeface="Trebuchet MS"/>
              </a:rPr>
              <a:t>of</a:t>
            </a:r>
            <a:r>
              <a:rPr sz="2100" spc="-180" dirty="0">
                <a:latin typeface="Trebuchet MS"/>
                <a:cs typeface="Trebuchet MS"/>
              </a:rPr>
              <a:t> </a:t>
            </a:r>
            <a:r>
              <a:rPr sz="2100" spc="-25" dirty="0">
                <a:latin typeface="Trebuchet MS"/>
                <a:cs typeface="Trebuchet MS"/>
              </a:rPr>
              <a:t>connected</a:t>
            </a:r>
            <a:r>
              <a:rPr sz="2100" spc="-165" dirty="0">
                <a:latin typeface="Trebuchet MS"/>
                <a:cs typeface="Trebuchet MS"/>
              </a:rPr>
              <a:t> </a:t>
            </a:r>
            <a:r>
              <a:rPr sz="2100" spc="-20" dirty="0">
                <a:latin typeface="Trebuchet MS"/>
                <a:cs typeface="Trebuchet MS"/>
              </a:rPr>
              <a:t>devices</a:t>
            </a:r>
            <a:r>
              <a:rPr sz="2100" spc="-160" dirty="0">
                <a:latin typeface="Trebuchet MS"/>
                <a:cs typeface="Trebuchet MS"/>
              </a:rPr>
              <a:t> </a:t>
            </a:r>
            <a:r>
              <a:rPr sz="2100" spc="60" dirty="0">
                <a:latin typeface="Trebuchet MS"/>
                <a:cs typeface="Trebuchet MS"/>
              </a:rPr>
              <a:t>such</a:t>
            </a:r>
            <a:r>
              <a:rPr sz="2100" spc="-160" dirty="0">
                <a:latin typeface="Trebuchet MS"/>
                <a:cs typeface="Trebuchet MS"/>
              </a:rPr>
              <a:t> </a:t>
            </a:r>
            <a:r>
              <a:rPr sz="2100" spc="90" dirty="0">
                <a:latin typeface="Trebuchet MS"/>
                <a:cs typeface="Trebuchet MS"/>
              </a:rPr>
              <a:t>as</a:t>
            </a:r>
            <a:r>
              <a:rPr sz="2100" spc="-165" dirty="0">
                <a:latin typeface="Trebuchet MS"/>
                <a:cs typeface="Trebuchet MS"/>
              </a:rPr>
              <a:t> </a:t>
            </a:r>
            <a:r>
              <a:rPr sz="2100" spc="-50" dirty="0">
                <a:latin typeface="Trebuchet MS"/>
                <a:cs typeface="Trebuchet MS"/>
              </a:rPr>
              <a:t>a </a:t>
            </a:r>
            <a:r>
              <a:rPr sz="2100" spc="-80" dirty="0">
                <a:latin typeface="Trebuchet MS"/>
                <a:cs typeface="Trebuchet MS"/>
              </a:rPr>
              <a:t>router</a:t>
            </a:r>
            <a:r>
              <a:rPr sz="2100" spc="-21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and</a:t>
            </a:r>
            <a:r>
              <a:rPr sz="2100" spc="-170" dirty="0">
                <a:latin typeface="Trebuchet MS"/>
                <a:cs typeface="Trebuchet MS"/>
              </a:rPr>
              <a:t> </a:t>
            </a:r>
            <a:r>
              <a:rPr sz="2100" spc="-30" dirty="0">
                <a:latin typeface="Trebuchet MS"/>
                <a:cs typeface="Trebuchet MS"/>
              </a:rPr>
              <a:t>more</a:t>
            </a:r>
            <a:r>
              <a:rPr sz="2100" spc="-18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transmission</a:t>
            </a:r>
            <a:r>
              <a:rPr sz="2100" spc="-190" dirty="0">
                <a:latin typeface="Trebuchet MS"/>
                <a:cs typeface="Trebuchet MS"/>
              </a:rPr>
              <a:t> </a:t>
            </a:r>
            <a:r>
              <a:rPr sz="2100" spc="-35" dirty="0">
                <a:latin typeface="Trebuchet MS"/>
                <a:cs typeface="Trebuchet MS"/>
              </a:rPr>
              <a:t>media</a:t>
            </a:r>
            <a:r>
              <a:rPr sz="2100" spc="-170" dirty="0">
                <a:latin typeface="Trebuchet MS"/>
                <a:cs typeface="Trebuchet MS"/>
              </a:rPr>
              <a:t> </a:t>
            </a:r>
            <a:r>
              <a:rPr sz="2100" spc="-50" dirty="0">
                <a:latin typeface="Trebuchet MS"/>
                <a:cs typeface="Trebuchet MS"/>
              </a:rPr>
              <a:t>than</a:t>
            </a:r>
            <a:r>
              <a:rPr sz="2100" spc="-180" dirty="0">
                <a:latin typeface="Trebuchet MS"/>
                <a:cs typeface="Trebuchet MS"/>
              </a:rPr>
              <a:t> </a:t>
            </a:r>
            <a:r>
              <a:rPr sz="2100" spc="-65" dirty="0">
                <a:latin typeface="Trebuchet MS"/>
                <a:cs typeface="Trebuchet MS"/>
              </a:rPr>
              <a:t>other</a:t>
            </a:r>
            <a:r>
              <a:rPr sz="2100" spc="-180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topologies.</a:t>
            </a:r>
            <a:endParaRPr sz="21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31850" y="3205607"/>
            <a:ext cx="1118235" cy="1591310"/>
            <a:chOff x="831850" y="3205607"/>
            <a:chExt cx="1118235" cy="159131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8200" y="3211957"/>
              <a:ext cx="1105027" cy="157860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38200" y="3211957"/>
              <a:ext cx="1105535" cy="1578610"/>
            </a:xfrm>
            <a:custGeom>
              <a:avLst/>
              <a:gdLst/>
              <a:ahLst/>
              <a:cxnLst/>
              <a:rect l="l" t="t" r="r" b="b"/>
              <a:pathLst>
                <a:path w="1105535" h="1578610">
                  <a:moveTo>
                    <a:pt x="1105027" y="0"/>
                  </a:moveTo>
                  <a:lnTo>
                    <a:pt x="1105027" y="1026159"/>
                  </a:lnTo>
                  <a:lnTo>
                    <a:pt x="552577" y="1578609"/>
                  </a:lnTo>
                  <a:lnTo>
                    <a:pt x="0" y="1026159"/>
                  </a:lnTo>
                  <a:lnTo>
                    <a:pt x="0" y="0"/>
                  </a:lnTo>
                  <a:lnTo>
                    <a:pt x="552577" y="552576"/>
                  </a:lnTo>
                  <a:lnTo>
                    <a:pt x="1105027" y="0"/>
                  </a:lnTo>
                  <a:close/>
                </a:path>
              </a:pathLst>
            </a:custGeom>
            <a:ln w="1270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846836" y="3859148"/>
            <a:ext cx="108585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Trebuchet MS"/>
                <a:cs typeface="Trebuchet MS"/>
              </a:rPr>
              <a:t>Management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943226" y="3211957"/>
            <a:ext cx="9410700" cy="1026160"/>
          </a:xfrm>
          <a:custGeom>
            <a:avLst/>
            <a:gdLst/>
            <a:ahLst/>
            <a:cxnLst/>
            <a:rect l="l" t="t" r="r" b="b"/>
            <a:pathLst>
              <a:path w="9410700" h="1026160">
                <a:moveTo>
                  <a:pt x="9410573" y="171068"/>
                </a:moveTo>
                <a:lnTo>
                  <a:pt x="9410573" y="855090"/>
                </a:lnTo>
                <a:lnTo>
                  <a:pt x="9404462" y="900571"/>
                </a:lnTo>
                <a:lnTo>
                  <a:pt x="9387219" y="941436"/>
                </a:lnTo>
                <a:lnTo>
                  <a:pt x="9360471" y="976058"/>
                </a:lnTo>
                <a:lnTo>
                  <a:pt x="9325849" y="1002806"/>
                </a:lnTo>
                <a:lnTo>
                  <a:pt x="9284984" y="1020049"/>
                </a:lnTo>
                <a:lnTo>
                  <a:pt x="9239504" y="1026159"/>
                </a:lnTo>
                <a:lnTo>
                  <a:pt x="0" y="1026159"/>
                </a:lnTo>
                <a:lnTo>
                  <a:pt x="0" y="0"/>
                </a:lnTo>
                <a:lnTo>
                  <a:pt x="9239504" y="0"/>
                </a:lnTo>
                <a:lnTo>
                  <a:pt x="9284984" y="6110"/>
                </a:lnTo>
                <a:lnTo>
                  <a:pt x="9325849" y="23353"/>
                </a:lnTo>
                <a:lnTo>
                  <a:pt x="9360471" y="50101"/>
                </a:lnTo>
                <a:lnTo>
                  <a:pt x="9387219" y="84723"/>
                </a:lnTo>
                <a:lnTo>
                  <a:pt x="9404462" y="125588"/>
                </a:lnTo>
                <a:lnTo>
                  <a:pt x="9410573" y="171068"/>
                </a:lnTo>
                <a:close/>
              </a:path>
            </a:pathLst>
          </a:custGeom>
          <a:ln w="12700">
            <a:solidFill>
              <a:srgbClr val="186B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080005" y="3225546"/>
            <a:ext cx="8791575" cy="932180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241300" marR="5080" indent="-228600">
              <a:lnSpc>
                <a:spcPct val="91700"/>
              </a:lnSpc>
              <a:spcBef>
                <a:spcPts val="309"/>
              </a:spcBef>
              <a:buChar char="•"/>
              <a:tabLst>
                <a:tab pos="241300" algn="l"/>
              </a:tabLst>
            </a:pPr>
            <a:r>
              <a:rPr sz="2100" spc="65" dirty="0">
                <a:latin typeface="Trebuchet MS"/>
                <a:cs typeface="Trebuchet MS"/>
              </a:rPr>
              <a:t>Mesh</a:t>
            </a:r>
            <a:r>
              <a:rPr sz="2100" spc="-170" dirty="0">
                <a:latin typeface="Trebuchet MS"/>
                <a:cs typeface="Trebuchet MS"/>
              </a:rPr>
              <a:t> </a:t>
            </a:r>
            <a:r>
              <a:rPr sz="2100" spc="-40" dirty="0">
                <a:latin typeface="Trebuchet MS"/>
                <a:cs typeface="Trebuchet MS"/>
              </a:rPr>
              <a:t>topology</a:t>
            </a:r>
            <a:r>
              <a:rPr sz="2100" spc="-185" dirty="0">
                <a:latin typeface="Trebuchet MS"/>
                <a:cs typeface="Trebuchet MS"/>
              </a:rPr>
              <a:t> </a:t>
            </a:r>
            <a:r>
              <a:rPr sz="2100" spc="-45" dirty="0">
                <a:latin typeface="Trebuchet MS"/>
                <a:cs typeface="Trebuchet MS"/>
              </a:rPr>
              <a:t>networks</a:t>
            </a:r>
            <a:r>
              <a:rPr sz="2100" spc="-170" dirty="0">
                <a:latin typeface="Trebuchet MS"/>
                <a:cs typeface="Trebuchet MS"/>
              </a:rPr>
              <a:t> </a:t>
            </a:r>
            <a:r>
              <a:rPr sz="2100" spc="-65" dirty="0">
                <a:latin typeface="Trebuchet MS"/>
                <a:cs typeface="Trebuchet MS"/>
              </a:rPr>
              <a:t>are</a:t>
            </a:r>
            <a:r>
              <a:rPr sz="2100" spc="-170" dirty="0">
                <a:latin typeface="Trebuchet MS"/>
                <a:cs typeface="Trebuchet MS"/>
              </a:rPr>
              <a:t> </a:t>
            </a:r>
            <a:r>
              <a:rPr sz="2100" spc="-90" dirty="0">
                <a:latin typeface="Trebuchet MS"/>
                <a:cs typeface="Trebuchet MS"/>
              </a:rPr>
              <a:t>very</a:t>
            </a:r>
            <a:r>
              <a:rPr sz="2100" spc="-170" dirty="0">
                <a:latin typeface="Trebuchet MS"/>
                <a:cs typeface="Trebuchet MS"/>
              </a:rPr>
              <a:t> </a:t>
            </a:r>
            <a:r>
              <a:rPr sz="2100" spc="-70" dirty="0">
                <a:latin typeface="Trebuchet MS"/>
                <a:cs typeface="Trebuchet MS"/>
              </a:rPr>
              <a:t>large</a:t>
            </a:r>
            <a:r>
              <a:rPr sz="2100" spc="-19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and</a:t>
            </a:r>
            <a:r>
              <a:rPr sz="2100" spc="-165" dirty="0">
                <a:latin typeface="Trebuchet MS"/>
                <a:cs typeface="Trebuchet MS"/>
              </a:rPr>
              <a:t> </a:t>
            </a:r>
            <a:r>
              <a:rPr sz="2100" spc="-90" dirty="0">
                <a:latin typeface="Trebuchet MS"/>
                <a:cs typeface="Trebuchet MS"/>
              </a:rPr>
              <a:t>very</a:t>
            </a:r>
            <a:r>
              <a:rPr sz="2100" spc="-160" dirty="0">
                <a:latin typeface="Trebuchet MS"/>
                <a:cs typeface="Trebuchet MS"/>
              </a:rPr>
              <a:t> </a:t>
            </a:r>
            <a:r>
              <a:rPr sz="2100" spc="-85" dirty="0">
                <a:latin typeface="Trebuchet MS"/>
                <a:cs typeface="Trebuchet MS"/>
              </a:rPr>
              <a:t>difficult</a:t>
            </a:r>
            <a:r>
              <a:rPr sz="2100" spc="-185" dirty="0">
                <a:latin typeface="Trebuchet MS"/>
                <a:cs typeface="Trebuchet MS"/>
              </a:rPr>
              <a:t> </a:t>
            </a:r>
            <a:r>
              <a:rPr sz="2100" spc="-75" dirty="0">
                <a:latin typeface="Trebuchet MS"/>
                <a:cs typeface="Trebuchet MS"/>
              </a:rPr>
              <a:t>to</a:t>
            </a:r>
            <a:r>
              <a:rPr sz="2100" spc="-170" dirty="0">
                <a:latin typeface="Trebuchet MS"/>
                <a:cs typeface="Trebuchet MS"/>
              </a:rPr>
              <a:t> </a:t>
            </a:r>
            <a:r>
              <a:rPr sz="2100" spc="-55" dirty="0">
                <a:latin typeface="Trebuchet MS"/>
                <a:cs typeface="Trebuchet MS"/>
              </a:rPr>
              <a:t>maintain</a:t>
            </a:r>
            <a:r>
              <a:rPr sz="2100" spc="-165" dirty="0">
                <a:latin typeface="Trebuchet MS"/>
                <a:cs typeface="Trebuchet MS"/>
              </a:rPr>
              <a:t> </a:t>
            </a:r>
            <a:r>
              <a:rPr sz="2100" spc="-25" dirty="0">
                <a:latin typeface="Trebuchet MS"/>
                <a:cs typeface="Trebuchet MS"/>
              </a:rPr>
              <a:t>and </a:t>
            </a:r>
            <a:r>
              <a:rPr sz="2100" spc="-40" dirty="0">
                <a:latin typeface="Trebuchet MS"/>
                <a:cs typeface="Trebuchet MS"/>
              </a:rPr>
              <a:t>manage.</a:t>
            </a:r>
            <a:r>
              <a:rPr sz="2100" spc="-165" dirty="0">
                <a:latin typeface="Trebuchet MS"/>
                <a:cs typeface="Trebuchet MS"/>
              </a:rPr>
              <a:t> </a:t>
            </a:r>
            <a:r>
              <a:rPr sz="2100" spc="-105" dirty="0">
                <a:latin typeface="Trebuchet MS"/>
                <a:cs typeface="Trebuchet MS"/>
              </a:rPr>
              <a:t>If</a:t>
            </a:r>
            <a:r>
              <a:rPr sz="2100" spc="-180" dirty="0">
                <a:latin typeface="Trebuchet MS"/>
                <a:cs typeface="Trebuchet MS"/>
              </a:rPr>
              <a:t> </a:t>
            </a:r>
            <a:r>
              <a:rPr sz="2100" spc="-75" dirty="0">
                <a:latin typeface="Trebuchet MS"/>
                <a:cs typeface="Trebuchet MS"/>
              </a:rPr>
              <a:t>the</a:t>
            </a:r>
            <a:r>
              <a:rPr sz="2100" spc="-175" dirty="0">
                <a:latin typeface="Trebuchet MS"/>
                <a:cs typeface="Trebuchet MS"/>
              </a:rPr>
              <a:t> </a:t>
            </a:r>
            <a:r>
              <a:rPr sz="2100" spc="-70" dirty="0">
                <a:latin typeface="Trebuchet MS"/>
                <a:cs typeface="Trebuchet MS"/>
              </a:rPr>
              <a:t>network</a:t>
            </a:r>
            <a:r>
              <a:rPr sz="2100" spc="-17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is</a:t>
            </a:r>
            <a:r>
              <a:rPr sz="2100" spc="-170" dirty="0">
                <a:latin typeface="Trebuchet MS"/>
                <a:cs typeface="Trebuchet MS"/>
              </a:rPr>
              <a:t> </a:t>
            </a:r>
            <a:r>
              <a:rPr sz="2100" spc="-55" dirty="0">
                <a:latin typeface="Trebuchet MS"/>
                <a:cs typeface="Trebuchet MS"/>
              </a:rPr>
              <a:t>not</a:t>
            </a:r>
            <a:r>
              <a:rPr sz="2100" spc="-175" dirty="0">
                <a:latin typeface="Trebuchet MS"/>
                <a:cs typeface="Trebuchet MS"/>
              </a:rPr>
              <a:t> </a:t>
            </a:r>
            <a:r>
              <a:rPr sz="2100" spc="-45" dirty="0">
                <a:latin typeface="Trebuchet MS"/>
                <a:cs typeface="Trebuchet MS"/>
              </a:rPr>
              <a:t>monitored</a:t>
            </a:r>
            <a:r>
              <a:rPr sz="2100" spc="-175" dirty="0">
                <a:latin typeface="Trebuchet MS"/>
                <a:cs typeface="Trebuchet MS"/>
              </a:rPr>
              <a:t> </a:t>
            </a:r>
            <a:r>
              <a:rPr sz="2100" spc="-90" dirty="0">
                <a:latin typeface="Trebuchet MS"/>
                <a:cs typeface="Trebuchet MS"/>
              </a:rPr>
              <a:t>carefully,</a:t>
            </a:r>
            <a:r>
              <a:rPr sz="2100" spc="-200" dirty="0">
                <a:latin typeface="Trebuchet MS"/>
                <a:cs typeface="Trebuchet MS"/>
              </a:rPr>
              <a:t> </a:t>
            </a:r>
            <a:r>
              <a:rPr sz="2100" spc="-55" dirty="0">
                <a:latin typeface="Trebuchet MS"/>
                <a:cs typeface="Trebuchet MS"/>
              </a:rPr>
              <a:t>then</a:t>
            </a:r>
            <a:r>
              <a:rPr sz="2100" spc="-175" dirty="0">
                <a:latin typeface="Trebuchet MS"/>
                <a:cs typeface="Trebuchet MS"/>
              </a:rPr>
              <a:t> </a:t>
            </a:r>
            <a:r>
              <a:rPr sz="2100" spc="-75" dirty="0">
                <a:latin typeface="Trebuchet MS"/>
                <a:cs typeface="Trebuchet MS"/>
              </a:rPr>
              <a:t>the</a:t>
            </a:r>
            <a:r>
              <a:rPr sz="2100" spc="-170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communication </a:t>
            </a:r>
            <a:r>
              <a:rPr sz="2100" spc="-65" dirty="0">
                <a:latin typeface="Trebuchet MS"/>
                <a:cs typeface="Trebuchet MS"/>
              </a:rPr>
              <a:t>link</a:t>
            </a:r>
            <a:r>
              <a:rPr sz="2100" spc="-140" dirty="0">
                <a:latin typeface="Trebuchet MS"/>
                <a:cs typeface="Trebuchet MS"/>
              </a:rPr>
              <a:t> </a:t>
            </a:r>
            <a:r>
              <a:rPr sz="2100" spc="-80" dirty="0">
                <a:latin typeface="Trebuchet MS"/>
                <a:cs typeface="Trebuchet MS"/>
              </a:rPr>
              <a:t>failure</a:t>
            </a:r>
            <a:r>
              <a:rPr sz="2100" spc="-17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goes</a:t>
            </a:r>
            <a:r>
              <a:rPr sz="2100" spc="-140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undetected.</a:t>
            </a:r>
            <a:endParaRPr sz="210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31850" y="4589907"/>
            <a:ext cx="1118235" cy="1591945"/>
            <a:chOff x="831850" y="4589907"/>
            <a:chExt cx="1118235" cy="1591945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8200" y="4596257"/>
              <a:ext cx="1105027" cy="157864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38200" y="4596257"/>
              <a:ext cx="1105535" cy="1579245"/>
            </a:xfrm>
            <a:custGeom>
              <a:avLst/>
              <a:gdLst/>
              <a:ahLst/>
              <a:cxnLst/>
              <a:rect l="l" t="t" r="r" b="b"/>
              <a:pathLst>
                <a:path w="1105535" h="1579245">
                  <a:moveTo>
                    <a:pt x="1105027" y="0"/>
                  </a:moveTo>
                  <a:lnTo>
                    <a:pt x="1105027" y="1026121"/>
                  </a:lnTo>
                  <a:lnTo>
                    <a:pt x="552577" y="1578648"/>
                  </a:lnTo>
                  <a:lnTo>
                    <a:pt x="0" y="1026121"/>
                  </a:lnTo>
                  <a:lnTo>
                    <a:pt x="0" y="0"/>
                  </a:lnTo>
                  <a:lnTo>
                    <a:pt x="552577" y="552577"/>
                  </a:lnTo>
                  <a:lnTo>
                    <a:pt x="1105027" y="0"/>
                  </a:lnTo>
                  <a:close/>
                </a:path>
              </a:pathLst>
            </a:custGeom>
            <a:ln w="12700">
              <a:solidFill>
                <a:srgbClr val="0E9E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977900" y="5243576"/>
            <a:ext cx="8255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Trebuchet MS"/>
                <a:cs typeface="Trebuchet MS"/>
              </a:rPr>
              <a:t>Efficiency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943226" y="4596257"/>
            <a:ext cx="9410700" cy="1026160"/>
          </a:xfrm>
          <a:custGeom>
            <a:avLst/>
            <a:gdLst/>
            <a:ahLst/>
            <a:cxnLst/>
            <a:rect l="l" t="t" r="r" b="b"/>
            <a:pathLst>
              <a:path w="9410700" h="1026160">
                <a:moveTo>
                  <a:pt x="9410573" y="171069"/>
                </a:moveTo>
                <a:lnTo>
                  <a:pt x="9410573" y="855091"/>
                </a:lnTo>
                <a:lnTo>
                  <a:pt x="9404462" y="900568"/>
                </a:lnTo>
                <a:lnTo>
                  <a:pt x="9387219" y="941427"/>
                </a:lnTo>
                <a:lnTo>
                  <a:pt x="9360471" y="976039"/>
                </a:lnTo>
                <a:lnTo>
                  <a:pt x="9325849" y="1002777"/>
                </a:lnTo>
                <a:lnTo>
                  <a:pt x="9284984" y="1020014"/>
                </a:lnTo>
                <a:lnTo>
                  <a:pt x="9239504" y="1026121"/>
                </a:lnTo>
                <a:lnTo>
                  <a:pt x="0" y="1026121"/>
                </a:lnTo>
                <a:lnTo>
                  <a:pt x="0" y="0"/>
                </a:lnTo>
                <a:lnTo>
                  <a:pt x="9239504" y="0"/>
                </a:lnTo>
                <a:lnTo>
                  <a:pt x="9284984" y="6110"/>
                </a:lnTo>
                <a:lnTo>
                  <a:pt x="9325849" y="23353"/>
                </a:lnTo>
                <a:lnTo>
                  <a:pt x="9360471" y="50101"/>
                </a:lnTo>
                <a:lnTo>
                  <a:pt x="9387219" y="84723"/>
                </a:lnTo>
                <a:lnTo>
                  <a:pt x="9404462" y="125588"/>
                </a:lnTo>
                <a:lnTo>
                  <a:pt x="9410573" y="171069"/>
                </a:lnTo>
                <a:close/>
              </a:path>
            </a:pathLst>
          </a:custGeom>
          <a:ln w="12700">
            <a:solidFill>
              <a:srgbClr val="0E9E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080005" y="4756530"/>
            <a:ext cx="9156700" cy="638175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241300" marR="5080" indent="-228600">
              <a:lnSpc>
                <a:spcPts val="2300"/>
              </a:lnSpc>
              <a:spcBef>
                <a:spcPts val="359"/>
              </a:spcBef>
              <a:buChar char="•"/>
              <a:tabLst>
                <a:tab pos="241300" algn="l"/>
              </a:tabLst>
            </a:pPr>
            <a:r>
              <a:rPr sz="2100" spc="-25" dirty="0">
                <a:latin typeface="Trebuchet MS"/>
                <a:cs typeface="Trebuchet MS"/>
              </a:rPr>
              <a:t>In</a:t>
            </a:r>
            <a:r>
              <a:rPr sz="2100" spc="-170" dirty="0">
                <a:latin typeface="Trebuchet MS"/>
                <a:cs typeface="Trebuchet MS"/>
              </a:rPr>
              <a:t> </a:t>
            </a:r>
            <a:r>
              <a:rPr sz="2100" spc="-25" dirty="0">
                <a:latin typeface="Trebuchet MS"/>
                <a:cs typeface="Trebuchet MS"/>
              </a:rPr>
              <a:t>this</a:t>
            </a:r>
            <a:r>
              <a:rPr sz="2100" spc="-175" dirty="0">
                <a:latin typeface="Trebuchet MS"/>
                <a:cs typeface="Trebuchet MS"/>
              </a:rPr>
              <a:t> </a:t>
            </a:r>
            <a:r>
              <a:rPr sz="2100" spc="-75" dirty="0">
                <a:latin typeface="Trebuchet MS"/>
                <a:cs typeface="Trebuchet MS"/>
              </a:rPr>
              <a:t>topology,</a:t>
            </a:r>
            <a:r>
              <a:rPr sz="2100" spc="-200" dirty="0">
                <a:latin typeface="Trebuchet MS"/>
                <a:cs typeface="Trebuchet MS"/>
              </a:rPr>
              <a:t> </a:t>
            </a:r>
            <a:r>
              <a:rPr sz="2100" spc="-45" dirty="0">
                <a:latin typeface="Trebuchet MS"/>
                <a:cs typeface="Trebuchet MS"/>
              </a:rPr>
              <a:t>redundant</a:t>
            </a:r>
            <a:r>
              <a:rPr sz="2100" spc="-16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connections</a:t>
            </a:r>
            <a:r>
              <a:rPr sz="2100" spc="-175" dirty="0">
                <a:latin typeface="Trebuchet MS"/>
                <a:cs typeface="Trebuchet MS"/>
              </a:rPr>
              <a:t> </a:t>
            </a:r>
            <a:r>
              <a:rPr sz="2100" spc="-60" dirty="0">
                <a:latin typeface="Trebuchet MS"/>
                <a:cs typeface="Trebuchet MS"/>
              </a:rPr>
              <a:t>are</a:t>
            </a:r>
            <a:r>
              <a:rPr sz="2100" spc="-180" dirty="0">
                <a:latin typeface="Trebuchet MS"/>
                <a:cs typeface="Trebuchet MS"/>
              </a:rPr>
              <a:t> </a:t>
            </a:r>
            <a:r>
              <a:rPr sz="2100" spc="-40" dirty="0">
                <a:latin typeface="Trebuchet MS"/>
                <a:cs typeface="Trebuchet MS"/>
              </a:rPr>
              <a:t>high</a:t>
            </a:r>
            <a:r>
              <a:rPr sz="2100" spc="-170" dirty="0">
                <a:latin typeface="Trebuchet MS"/>
                <a:cs typeface="Trebuchet MS"/>
              </a:rPr>
              <a:t> </a:t>
            </a:r>
            <a:r>
              <a:rPr sz="2100" spc="-90" dirty="0">
                <a:latin typeface="Trebuchet MS"/>
                <a:cs typeface="Trebuchet MS"/>
              </a:rPr>
              <a:t>that</a:t>
            </a:r>
            <a:r>
              <a:rPr sz="2100" spc="-16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reduces</a:t>
            </a:r>
            <a:r>
              <a:rPr sz="2100" spc="-190" dirty="0">
                <a:latin typeface="Trebuchet MS"/>
                <a:cs typeface="Trebuchet MS"/>
              </a:rPr>
              <a:t> </a:t>
            </a:r>
            <a:r>
              <a:rPr sz="2100" spc="-75" dirty="0">
                <a:latin typeface="Trebuchet MS"/>
                <a:cs typeface="Trebuchet MS"/>
              </a:rPr>
              <a:t>the</a:t>
            </a:r>
            <a:r>
              <a:rPr sz="2100" spc="-175" dirty="0">
                <a:latin typeface="Trebuchet MS"/>
                <a:cs typeface="Trebuchet MS"/>
              </a:rPr>
              <a:t> </a:t>
            </a:r>
            <a:r>
              <a:rPr sz="2100" spc="-65" dirty="0">
                <a:latin typeface="Trebuchet MS"/>
                <a:cs typeface="Trebuchet MS"/>
              </a:rPr>
              <a:t>efficiency</a:t>
            </a:r>
            <a:r>
              <a:rPr sz="2100" spc="-175" dirty="0">
                <a:latin typeface="Trebuchet MS"/>
                <a:cs typeface="Trebuchet MS"/>
              </a:rPr>
              <a:t> </a:t>
            </a:r>
            <a:r>
              <a:rPr sz="2100" spc="-25" dirty="0">
                <a:latin typeface="Trebuchet MS"/>
                <a:cs typeface="Trebuchet MS"/>
              </a:rPr>
              <a:t>of </a:t>
            </a:r>
            <a:r>
              <a:rPr sz="2100" spc="-75" dirty="0">
                <a:latin typeface="Trebuchet MS"/>
                <a:cs typeface="Trebuchet MS"/>
              </a:rPr>
              <a:t>the</a:t>
            </a:r>
            <a:r>
              <a:rPr sz="2100" spc="-190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network.</a:t>
            </a:r>
            <a:endParaRPr sz="2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25" dirty="0"/>
              <a:t>Hybrid</a:t>
            </a:r>
            <a:r>
              <a:rPr spc="-420" dirty="0"/>
              <a:t> </a:t>
            </a:r>
            <a:r>
              <a:rPr spc="-285" dirty="0"/>
              <a:t>Topology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9298" y="1809369"/>
            <a:ext cx="7153402" cy="468350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25" dirty="0"/>
              <a:t>Hybrid</a:t>
            </a:r>
            <a:r>
              <a:rPr spc="-420" dirty="0"/>
              <a:t> </a:t>
            </a:r>
            <a:r>
              <a:rPr spc="-285" dirty="0"/>
              <a:t>Topology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 algn="just">
              <a:lnSpc>
                <a:spcPts val="319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/>
              <a:t>The</a:t>
            </a:r>
            <a:r>
              <a:rPr spc="550" dirty="0"/>
              <a:t> </a:t>
            </a:r>
            <a:r>
              <a:rPr dirty="0"/>
              <a:t>combination</a:t>
            </a:r>
            <a:r>
              <a:rPr spc="545" dirty="0"/>
              <a:t> </a:t>
            </a:r>
            <a:r>
              <a:rPr dirty="0"/>
              <a:t>of</a:t>
            </a:r>
            <a:r>
              <a:rPr spc="540" dirty="0"/>
              <a:t> </a:t>
            </a:r>
            <a:r>
              <a:rPr dirty="0"/>
              <a:t>various</a:t>
            </a:r>
            <a:r>
              <a:rPr spc="545" dirty="0"/>
              <a:t> </a:t>
            </a:r>
            <a:r>
              <a:rPr spc="-65" dirty="0"/>
              <a:t>different</a:t>
            </a:r>
            <a:r>
              <a:rPr spc="530" dirty="0"/>
              <a:t> </a:t>
            </a:r>
            <a:r>
              <a:rPr dirty="0"/>
              <a:t>topologies</a:t>
            </a:r>
            <a:r>
              <a:rPr spc="545" dirty="0"/>
              <a:t> </a:t>
            </a:r>
            <a:r>
              <a:rPr dirty="0"/>
              <a:t>is</a:t>
            </a:r>
            <a:r>
              <a:rPr spc="540" dirty="0"/>
              <a:t> </a:t>
            </a:r>
            <a:r>
              <a:rPr dirty="0"/>
              <a:t>known</a:t>
            </a:r>
            <a:r>
              <a:rPr spc="535" dirty="0"/>
              <a:t> </a:t>
            </a:r>
            <a:r>
              <a:rPr spc="75" dirty="0"/>
              <a:t>as</a:t>
            </a:r>
          </a:p>
          <a:p>
            <a:pPr marL="241300" algn="just">
              <a:lnSpc>
                <a:spcPts val="3190"/>
              </a:lnSpc>
            </a:pPr>
            <a:r>
              <a:rPr b="1" spc="-50" dirty="0">
                <a:latin typeface="Trebuchet MS"/>
                <a:cs typeface="Trebuchet MS"/>
              </a:rPr>
              <a:t>Hybrid</a:t>
            </a:r>
            <a:r>
              <a:rPr b="1" spc="-229" dirty="0">
                <a:latin typeface="Trebuchet MS"/>
                <a:cs typeface="Trebuchet MS"/>
              </a:rPr>
              <a:t> </a:t>
            </a:r>
            <a:r>
              <a:rPr b="1" spc="-10" dirty="0">
                <a:latin typeface="Trebuchet MS"/>
                <a:cs typeface="Trebuchet MS"/>
              </a:rPr>
              <a:t>topology</a:t>
            </a:r>
            <a:r>
              <a:rPr spc="-10" dirty="0"/>
              <a:t>.</a:t>
            </a:r>
          </a:p>
          <a:p>
            <a:pPr marL="240029" marR="8255" indent="-227965" algn="just">
              <a:lnSpc>
                <a:spcPts val="302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A</a:t>
            </a:r>
            <a:r>
              <a:rPr spc="210" dirty="0"/>
              <a:t> </a:t>
            </a:r>
            <a:r>
              <a:rPr dirty="0"/>
              <a:t>Hybrid</a:t>
            </a:r>
            <a:r>
              <a:rPr spc="215" dirty="0"/>
              <a:t> </a:t>
            </a:r>
            <a:r>
              <a:rPr dirty="0"/>
              <a:t>topology</a:t>
            </a:r>
            <a:r>
              <a:rPr spc="229" dirty="0"/>
              <a:t> </a:t>
            </a:r>
            <a:r>
              <a:rPr dirty="0"/>
              <a:t>is</a:t>
            </a:r>
            <a:r>
              <a:rPr spc="210" dirty="0"/>
              <a:t> </a:t>
            </a:r>
            <a:r>
              <a:rPr dirty="0"/>
              <a:t>a</a:t>
            </a:r>
            <a:r>
              <a:rPr spc="215" dirty="0"/>
              <a:t> </a:t>
            </a:r>
            <a:r>
              <a:rPr dirty="0"/>
              <a:t>connection</a:t>
            </a:r>
            <a:r>
              <a:rPr spc="215" dirty="0"/>
              <a:t> </a:t>
            </a:r>
            <a:r>
              <a:rPr dirty="0"/>
              <a:t>between</a:t>
            </a:r>
            <a:r>
              <a:rPr spc="215" dirty="0"/>
              <a:t> </a:t>
            </a:r>
            <a:r>
              <a:rPr spc="-70" dirty="0"/>
              <a:t>different</a:t>
            </a:r>
            <a:r>
              <a:rPr spc="215" dirty="0"/>
              <a:t> </a:t>
            </a:r>
            <a:r>
              <a:rPr dirty="0"/>
              <a:t>links</a:t>
            </a:r>
            <a:r>
              <a:rPr spc="220" dirty="0"/>
              <a:t> </a:t>
            </a:r>
            <a:r>
              <a:rPr spc="-25" dirty="0"/>
              <a:t>and 	</a:t>
            </a:r>
            <a:r>
              <a:rPr dirty="0"/>
              <a:t>nodes</a:t>
            </a:r>
            <a:r>
              <a:rPr spc="-175" dirty="0"/>
              <a:t> </a:t>
            </a:r>
            <a:r>
              <a:rPr spc="-105" dirty="0"/>
              <a:t>to</a:t>
            </a:r>
            <a:r>
              <a:rPr spc="-185" dirty="0"/>
              <a:t> </a:t>
            </a:r>
            <a:r>
              <a:rPr spc="-95" dirty="0"/>
              <a:t>transfer</a:t>
            </a:r>
            <a:r>
              <a:rPr spc="-180" dirty="0"/>
              <a:t> </a:t>
            </a:r>
            <a:r>
              <a:rPr spc="-90" dirty="0"/>
              <a:t>the</a:t>
            </a:r>
            <a:r>
              <a:rPr spc="-200" dirty="0"/>
              <a:t> </a:t>
            </a:r>
            <a:r>
              <a:rPr spc="-10" dirty="0"/>
              <a:t>data.</a:t>
            </a:r>
          </a:p>
          <a:p>
            <a:pPr marL="240029" marR="5080" indent="-227965" algn="just">
              <a:lnSpc>
                <a:spcPts val="303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When</a:t>
            </a:r>
            <a:r>
              <a:rPr spc="-90" dirty="0"/>
              <a:t> </a:t>
            </a:r>
            <a:r>
              <a:rPr spc="-10" dirty="0"/>
              <a:t>two</a:t>
            </a:r>
            <a:r>
              <a:rPr spc="-85" dirty="0"/>
              <a:t> </a:t>
            </a:r>
            <a:r>
              <a:rPr dirty="0"/>
              <a:t>or</a:t>
            </a:r>
            <a:r>
              <a:rPr spc="-75" dirty="0"/>
              <a:t> </a:t>
            </a:r>
            <a:r>
              <a:rPr dirty="0"/>
              <a:t>more</a:t>
            </a:r>
            <a:r>
              <a:rPr spc="-70" dirty="0"/>
              <a:t> </a:t>
            </a:r>
            <a:r>
              <a:rPr spc="-110" dirty="0"/>
              <a:t>different</a:t>
            </a:r>
            <a:r>
              <a:rPr spc="-90" dirty="0"/>
              <a:t> </a:t>
            </a:r>
            <a:r>
              <a:rPr dirty="0"/>
              <a:t>topologies</a:t>
            </a:r>
            <a:r>
              <a:rPr spc="-80" dirty="0"/>
              <a:t> </a:t>
            </a:r>
            <a:r>
              <a:rPr dirty="0"/>
              <a:t>are</a:t>
            </a:r>
            <a:r>
              <a:rPr spc="-65" dirty="0"/>
              <a:t> </a:t>
            </a:r>
            <a:r>
              <a:rPr dirty="0"/>
              <a:t>combined</a:t>
            </a:r>
            <a:r>
              <a:rPr spc="-80" dirty="0"/>
              <a:t> together</a:t>
            </a:r>
            <a:r>
              <a:rPr spc="-70" dirty="0"/>
              <a:t> </a:t>
            </a:r>
            <a:r>
              <a:rPr spc="-25" dirty="0"/>
              <a:t>is 	</a:t>
            </a:r>
            <a:r>
              <a:rPr spc="-105" dirty="0"/>
              <a:t>termed </a:t>
            </a:r>
            <a:r>
              <a:rPr spc="90" dirty="0"/>
              <a:t>as</a:t>
            </a:r>
            <a:r>
              <a:rPr spc="-210" dirty="0"/>
              <a:t> </a:t>
            </a:r>
            <a:r>
              <a:rPr spc="-60" dirty="0"/>
              <a:t>Hybrid</a:t>
            </a:r>
            <a:r>
              <a:rPr spc="-150" dirty="0"/>
              <a:t> </a:t>
            </a:r>
            <a:r>
              <a:rPr spc="-60" dirty="0"/>
              <a:t>topology</a:t>
            </a:r>
            <a:r>
              <a:rPr spc="-150" dirty="0"/>
              <a:t> </a:t>
            </a:r>
            <a:r>
              <a:rPr spc="-10" dirty="0"/>
              <a:t>and</a:t>
            </a:r>
            <a:r>
              <a:rPr spc="-120" dirty="0"/>
              <a:t> </a:t>
            </a:r>
            <a:r>
              <a:rPr spc="-350" dirty="0"/>
              <a:t>if</a:t>
            </a:r>
            <a:r>
              <a:rPr spc="140" dirty="0"/>
              <a:t> </a:t>
            </a:r>
            <a:r>
              <a:rPr spc="-60" dirty="0"/>
              <a:t>similar</a:t>
            </a:r>
            <a:r>
              <a:rPr spc="-105" dirty="0"/>
              <a:t> </a:t>
            </a:r>
            <a:r>
              <a:rPr spc="-35" dirty="0"/>
              <a:t>topologies</a:t>
            </a:r>
            <a:r>
              <a:rPr spc="-100" dirty="0"/>
              <a:t> </a:t>
            </a:r>
            <a:r>
              <a:rPr spc="-130" dirty="0"/>
              <a:t>are</a:t>
            </a:r>
            <a:r>
              <a:rPr spc="-75" dirty="0"/>
              <a:t> </a:t>
            </a:r>
            <a:r>
              <a:rPr spc="-10" dirty="0"/>
              <a:t>connected 	</a:t>
            </a:r>
            <a:r>
              <a:rPr spc="-120" dirty="0"/>
              <a:t>with</a:t>
            </a:r>
            <a:r>
              <a:rPr spc="-260" dirty="0"/>
              <a:t> </a:t>
            </a:r>
            <a:r>
              <a:rPr spc="-10" dirty="0"/>
              <a:t>each</a:t>
            </a:r>
            <a:r>
              <a:rPr spc="-235" dirty="0"/>
              <a:t> </a:t>
            </a:r>
            <a:r>
              <a:rPr spc="-85" dirty="0"/>
              <a:t>other</a:t>
            </a:r>
            <a:r>
              <a:rPr spc="-235" dirty="0"/>
              <a:t> </a:t>
            </a:r>
            <a:r>
              <a:rPr spc="-120" dirty="0"/>
              <a:t>will</a:t>
            </a:r>
            <a:r>
              <a:rPr spc="-254" dirty="0"/>
              <a:t> </a:t>
            </a:r>
            <a:r>
              <a:rPr spc="-65" dirty="0"/>
              <a:t>not</a:t>
            </a:r>
            <a:r>
              <a:rPr spc="-250" dirty="0"/>
              <a:t> </a:t>
            </a:r>
            <a:r>
              <a:rPr spc="-65" dirty="0"/>
              <a:t>result</a:t>
            </a:r>
            <a:r>
              <a:rPr spc="-245" dirty="0"/>
              <a:t> </a:t>
            </a:r>
            <a:r>
              <a:rPr spc="-65" dirty="0"/>
              <a:t>in</a:t>
            </a:r>
            <a:r>
              <a:rPr spc="-260" dirty="0"/>
              <a:t> </a:t>
            </a:r>
            <a:r>
              <a:rPr spc="-50" dirty="0"/>
              <a:t>Hybrid</a:t>
            </a:r>
            <a:r>
              <a:rPr spc="-235" dirty="0"/>
              <a:t> </a:t>
            </a:r>
            <a:r>
              <a:rPr spc="-10" dirty="0"/>
              <a:t>topology.</a:t>
            </a:r>
          </a:p>
          <a:p>
            <a:pPr marL="697230" marR="5080" lvl="1" indent="-227329" algn="just">
              <a:lnSpc>
                <a:spcPts val="2590"/>
              </a:lnSpc>
              <a:spcBef>
                <a:spcPts val="505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spc="-40" dirty="0">
                <a:latin typeface="Trebuchet MS"/>
                <a:cs typeface="Trebuchet MS"/>
              </a:rPr>
              <a:t>For</a:t>
            </a:r>
            <a:r>
              <a:rPr sz="2400" spc="-14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example,</a:t>
            </a:r>
            <a:r>
              <a:rPr sz="2400" spc="-95" dirty="0">
                <a:latin typeface="Trebuchet MS"/>
                <a:cs typeface="Trebuchet MS"/>
              </a:rPr>
              <a:t> </a:t>
            </a:r>
            <a:r>
              <a:rPr sz="2400" spc="-180" dirty="0">
                <a:latin typeface="Trebuchet MS"/>
                <a:cs typeface="Trebuchet MS"/>
              </a:rPr>
              <a:t>if</a:t>
            </a:r>
            <a:r>
              <a:rPr sz="2400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there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exist</a:t>
            </a:r>
            <a:r>
              <a:rPr sz="2400" spc="-1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17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ring</a:t>
            </a:r>
            <a:r>
              <a:rPr sz="2400" spc="-105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topology</a:t>
            </a:r>
            <a:r>
              <a:rPr sz="2400" spc="-10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in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one</a:t>
            </a:r>
            <a:r>
              <a:rPr sz="2400" spc="-114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branch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of</a:t>
            </a:r>
            <a:r>
              <a:rPr sz="2400" spc="-105" dirty="0">
                <a:latin typeface="Trebuchet MS"/>
                <a:cs typeface="Trebuchet MS"/>
              </a:rPr>
              <a:t> </a:t>
            </a:r>
            <a:r>
              <a:rPr sz="2400" spc="55" dirty="0">
                <a:latin typeface="Trebuchet MS"/>
                <a:cs typeface="Trebuchet MS"/>
              </a:rPr>
              <a:t>HBL</a:t>
            </a:r>
            <a:r>
              <a:rPr sz="2400" spc="-10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bank</a:t>
            </a:r>
            <a:r>
              <a:rPr sz="2400" spc="-10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and 	</a:t>
            </a:r>
            <a:r>
              <a:rPr sz="2400" spc="70" dirty="0">
                <a:latin typeface="Trebuchet MS"/>
                <a:cs typeface="Trebuchet MS"/>
              </a:rPr>
              <a:t>bus</a:t>
            </a:r>
            <a:r>
              <a:rPr sz="2400" spc="3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topology</a:t>
            </a:r>
            <a:r>
              <a:rPr sz="2400" spc="3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in</a:t>
            </a:r>
            <a:r>
              <a:rPr sz="2400" spc="3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another</a:t>
            </a:r>
            <a:r>
              <a:rPr sz="2400" spc="3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branch</a:t>
            </a:r>
            <a:r>
              <a:rPr sz="2400" spc="3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of</a:t>
            </a:r>
            <a:r>
              <a:rPr sz="2400" spc="355" dirty="0">
                <a:latin typeface="Trebuchet MS"/>
                <a:cs typeface="Trebuchet MS"/>
              </a:rPr>
              <a:t> </a:t>
            </a:r>
            <a:r>
              <a:rPr sz="2400" spc="55" dirty="0">
                <a:latin typeface="Trebuchet MS"/>
                <a:cs typeface="Trebuchet MS"/>
              </a:rPr>
              <a:t>HBL</a:t>
            </a:r>
            <a:r>
              <a:rPr sz="2400" spc="3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bank,</a:t>
            </a:r>
            <a:r>
              <a:rPr sz="2400" spc="3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connecting</a:t>
            </a:r>
            <a:r>
              <a:rPr sz="2400" spc="3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these</a:t>
            </a:r>
            <a:r>
              <a:rPr sz="2400" spc="34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two 	</a:t>
            </a:r>
            <a:r>
              <a:rPr sz="2400" spc="-35" dirty="0">
                <a:latin typeface="Trebuchet MS"/>
                <a:cs typeface="Trebuchet MS"/>
              </a:rPr>
              <a:t>topologies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will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result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in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Hybrid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topology.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80" dirty="0"/>
              <a:t>Advantages</a:t>
            </a:r>
            <a:r>
              <a:rPr spc="-450" dirty="0"/>
              <a:t> </a:t>
            </a:r>
            <a:r>
              <a:rPr spc="-265" dirty="0"/>
              <a:t>of</a:t>
            </a:r>
            <a:r>
              <a:rPr spc="-430" dirty="0"/>
              <a:t> </a:t>
            </a:r>
            <a:r>
              <a:rPr spc="-225" dirty="0"/>
              <a:t>Hybrid</a:t>
            </a:r>
            <a:r>
              <a:rPr spc="-425" dirty="0"/>
              <a:t> </a:t>
            </a:r>
            <a:r>
              <a:rPr spc="-285" dirty="0"/>
              <a:t>Topology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3627" y="1915667"/>
            <a:ext cx="10520934" cy="56921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3627" y="2860535"/>
            <a:ext cx="10520934" cy="5707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3627" y="3997439"/>
            <a:ext cx="10520934" cy="5707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3627" y="4943843"/>
            <a:ext cx="10520934" cy="57075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40714" y="1803844"/>
            <a:ext cx="10215245" cy="4236720"/>
          </a:xfrm>
          <a:prstGeom prst="rect">
            <a:avLst/>
          </a:prstGeom>
        </p:spPr>
        <p:txBody>
          <a:bodyPr vert="horz" wrap="square" lIns="0" tIns="1847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55"/>
              </a:spcBef>
            </a:pPr>
            <a:r>
              <a:rPr sz="2300" b="1" spc="-10" dirty="0">
                <a:latin typeface="Trebuchet MS"/>
                <a:cs typeface="Trebuchet MS"/>
              </a:rPr>
              <a:t>Reliable</a:t>
            </a:r>
            <a:endParaRPr sz="2300">
              <a:latin typeface="Trebuchet MS"/>
              <a:cs typeface="Trebuchet MS"/>
            </a:endParaRPr>
          </a:p>
          <a:p>
            <a:pPr marL="401955" indent="-170815">
              <a:lnSpc>
                <a:spcPct val="100000"/>
              </a:lnSpc>
              <a:spcBef>
                <a:spcPts val="1060"/>
              </a:spcBef>
              <a:buChar char="•"/>
              <a:tabLst>
                <a:tab pos="401955" algn="l"/>
              </a:tabLst>
            </a:pPr>
            <a:r>
              <a:rPr sz="1800" spc="-90" dirty="0">
                <a:latin typeface="Trebuchet MS"/>
                <a:cs typeface="Trebuchet MS"/>
              </a:rPr>
              <a:t>If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fault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occurs</a:t>
            </a:r>
            <a:r>
              <a:rPr sz="1800" spc="-160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in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any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part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of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network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will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not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affect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functioning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of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rest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of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network.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470"/>
              </a:spcBef>
            </a:pPr>
            <a:r>
              <a:rPr sz="2300" b="1" spc="-10" dirty="0">
                <a:latin typeface="Trebuchet MS"/>
                <a:cs typeface="Trebuchet MS"/>
              </a:rPr>
              <a:t>Scalable</a:t>
            </a:r>
            <a:endParaRPr sz="2300">
              <a:latin typeface="Trebuchet MS"/>
              <a:cs typeface="Trebuchet MS"/>
            </a:endParaRPr>
          </a:p>
          <a:p>
            <a:pPr marL="401955" indent="-170815">
              <a:lnSpc>
                <a:spcPts val="2065"/>
              </a:lnSpc>
              <a:spcBef>
                <a:spcPts val="1060"/>
              </a:spcBef>
              <a:buChar char="•"/>
              <a:tabLst>
                <a:tab pos="401955" algn="l"/>
              </a:tabLst>
            </a:pPr>
            <a:r>
              <a:rPr sz="1800" spc="-20" dirty="0">
                <a:latin typeface="Trebuchet MS"/>
                <a:cs typeface="Trebuchet MS"/>
              </a:rPr>
              <a:t>Size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of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network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can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be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easily</a:t>
            </a:r>
            <a:r>
              <a:rPr sz="1800" spc="-160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expanded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by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adding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new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devices</a:t>
            </a:r>
            <a:r>
              <a:rPr sz="1800" spc="-160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without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affecting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functionality</a:t>
            </a:r>
            <a:endParaRPr sz="1800">
              <a:latin typeface="Trebuchet MS"/>
              <a:cs typeface="Trebuchet MS"/>
            </a:endParaRPr>
          </a:p>
          <a:p>
            <a:pPr marL="403225">
              <a:lnSpc>
                <a:spcPts val="2065"/>
              </a:lnSpc>
            </a:pPr>
            <a:r>
              <a:rPr sz="1800" spc="-60" dirty="0">
                <a:latin typeface="Trebuchet MS"/>
                <a:cs typeface="Trebuchet MS"/>
              </a:rPr>
              <a:t>of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existing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network.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2300" b="1" spc="-10" dirty="0">
                <a:latin typeface="Trebuchet MS"/>
                <a:cs typeface="Trebuchet MS"/>
              </a:rPr>
              <a:t>Flexible</a:t>
            </a:r>
            <a:endParaRPr sz="2300">
              <a:latin typeface="Trebuchet MS"/>
              <a:cs typeface="Trebuchet MS"/>
            </a:endParaRPr>
          </a:p>
          <a:p>
            <a:pPr marL="401955" indent="-170815">
              <a:lnSpc>
                <a:spcPct val="100000"/>
              </a:lnSpc>
              <a:spcBef>
                <a:spcPts val="1060"/>
              </a:spcBef>
              <a:buChar char="•"/>
              <a:tabLst>
                <a:tab pos="401955" algn="l"/>
              </a:tabLst>
            </a:pPr>
            <a:r>
              <a:rPr sz="1800" spc="-45" dirty="0">
                <a:latin typeface="Trebuchet MS"/>
                <a:cs typeface="Trebuchet MS"/>
              </a:rPr>
              <a:t>This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topology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is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85" dirty="0">
                <a:latin typeface="Trebuchet MS"/>
                <a:cs typeface="Trebuchet MS"/>
              </a:rPr>
              <a:t>very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flexible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70" dirty="0">
                <a:latin typeface="Trebuchet MS"/>
                <a:cs typeface="Trebuchet MS"/>
              </a:rPr>
              <a:t>as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it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can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be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designed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according</a:t>
            </a:r>
            <a:r>
              <a:rPr sz="1800" spc="-17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to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requirements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of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organization.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470"/>
              </a:spcBef>
            </a:pPr>
            <a:r>
              <a:rPr sz="2300" b="1" spc="-10" dirty="0">
                <a:latin typeface="Trebuchet MS"/>
                <a:cs typeface="Trebuchet MS"/>
              </a:rPr>
              <a:t>Effective</a:t>
            </a:r>
            <a:endParaRPr sz="2300">
              <a:latin typeface="Trebuchet MS"/>
              <a:cs typeface="Trebuchet MS"/>
            </a:endParaRPr>
          </a:p>
          <a:p>
            <a:pPr marL="401320" marR="109220" indent="-170815">
              <a:lnSpc>
                <a:spcPts val="1970"/>
              </a:lnSpc>
              <a:spcBef>
                <a:spcPts val="1285"/>
              </a:spcBef>
              <a:buChar char="•"/>
              <a:tabLst>
                <a:tab pos="403225" algn="l"/>
              </a:tabLst>
            </a:pPr>
            <a:r>
              <a:rPr sz="1800" spc="-35" dirty="0">
                <a:latin typeface="Trebuchet MS"/>
                <a:cs typeface="Trebuchet MS"/>
              </a:rPr>
              <a:t>Hybrid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topology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is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85" dirty="0">
                <a:latin typeface="Trebuchet MS"/>
                <a:cs typeface="Trebuchet MS"/>
              </a:rPr>
              <a:t>very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85" dirty="0">
                <a:latin typeface="Trebuchet MS"/>
                <a:cs typeface="Trebuchet MS"/>
              </a:rPr>
              <a:t>effective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spc="75" dirty="0">
                <a:latin typeface="Trebuchet MS"/>
                <a:cs typeface="Trebuchet MS"/>
              </a:rPr>
              <a:t>as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it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can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be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designed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in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50" dirty="0">
                <a:latin typeface="Trebuchet MS"/>
                <a:cs typeface="Trebuchet MS"/>
              </a:rPr>
              <a:t>such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way</a:t>
            </a:r>
            <a:r>
              <a:rPr sz="1800" spc="-170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that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strength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of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network 	</a:t>
            </a:r>
            <a:r>
              <a:rPr sz="1800" dirty="0">
                <a:latin typeface="Trebuchet MS"/>
                <a:cs typeface="Trebuchet MS"/>
              </a:rPr>
              <a:t>is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maximized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weakness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of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network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is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minimized.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40" dirty="0"/>
              <a:t>Disadvantages</a:t>
            </a:r>
            <a:r>
              <a:rPr spc="-455" dirty="0"/>
              <a:t> </a:t>
            </a:r>
            <a:r>
              <a:rPr spc="-265" dirty="0"/>
              <a:t>of</a:t>
            </a:r>
            <a:r>
              <a:rPr spc="-434" dirty="0"/>
              <a:t> </a:t>
            </a:r>
            <a:r>
              <a:rPr spc="-225" dirty="0"/>
              <a:t>Hybrid</a:t>
            </a:r>
            <a:r>
              <a:rPr spc="-430" dirty="0"/>
              <a:t> </a:t>
            </a:r>
            <a:r>
              <a:rPr spc="-285" dirty="0"/>
              <a:t>Topology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76317" y="1971929"/>
            <a:ext cx="6931025" cy="1216025"/>
            <a:chOff x="4576317" y="1971929"/>
            <a:chExt cx="6931025" cy="1216025"/>
          </a:xfrm>
        </p:grpSpPr>
        <p:sp>
          <p:nvSpPr>
            <p:cNvPr id="4" name="object 4"/>
            <p:cNvSpPr/>
            <p:nvPr/>
          </p:nvSpPr>
          <p:spPr>
            <a:xfrm>
              <a:off x="4582667" y="1978279"/>
              <a:ext cx="6918325" cy="1203325"/>
            </a:xfrm>
            <a:custGeom>
              <a:avLst/>
              <a:gdLst/>
              <a:ahLst/>
              <a:cxnLst/>
              <a:rect l="l" t="t" r="r" b="b"/>
              <a:pathLst>
                <a:path w="6918325" h="1203325">
                  <a:moveTo>
                    <a:pt x="6717284" y="0"/>
                  </a:moveTo>
                  <a:lnTo>
                    <a:pt x="0" y="0"/>
                  </a:lnTo>
                  <a:lnTo>
                    <a:pt x="0" y="1203325"/>
                  </a:lnTo>
                  <a:lnTo>
                    <a:pt x="6717284" y="1203325"/>
                  </a:lnTo>
                  <a:lnTo>
                    <a:pt x="6763262" y="1198028"/>
                  </a:lnTo>
                  <a:lnTo>
                    <a:pt x="6805470" y="1182941"/>
                  </a:lnTo>
                  <a:lnTo>
                    <a:pt x="6842704" y="1159267"/>
                  </a:lnTo>
                  <a:lnTo>
                    <a:pt x="6873759" y="1128212"/>
                  </a:lnTo>
                  <a:lnTo>
                    <a:pt x="6897433" y="1090978"/>
                  </a:lnTo>
                  <a:lnTo>
                    <a:pt x="6912520" y="1048770"/>
                  </a:lnTo>
                  <a:lnTo>
                    <a:pt x="6917817" y="1002792"/>
                  </a:lnTo>
                  <a:lnTo>
                    <a:pt x="6917817" y="200533"/>
                  </a:lnTo>
                  <a:lnTo>
                    <a:pt x="6912520" y="154554"/>
                  </a:lnTo>
                  <a:lnTo>
                    <a:pt x="6897433" y="112346"/>
                  </a:lnTo>
                  <a:lnTo>
                    <a:pt x="6873759" y="75112"/>
                  </a:lnTo>
                  <a:lnTo>
                    <a:pt x="6842704" y="44057"/>
                  </a:lnTo>
                  <a:lnTo>
                    <a:pt x="6805470" y="20383"/>
                  </a:lnTo>
                  <a:lnTo>
                    <a:pt x="6763262" y="5296"/>
                  </a:lnTo>
                  <a:lnTo>
                    <a:pt x="6717284" y="0"/>
                  </a:lnTo>
                  <a:close/>
                </a:path>
              </a:pathLst>
            </a:custGeom>
            <a:solidFill>
              <a:srgbClr val="F7D4CD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82667" y="1978279"/>
              <a:ext cx="6918325" cy="1203325"/>
            </a:xfrm>
            <a:custGeom>
              <a:avLst/>
              <a:gdLst/>
              <a:ahLst/>
              <a:cxnLst/>
              <a:rect l="l" t="t" r="r" b="b"/>
              <a:pathLst>
                <a:path w="6918325" h="1203325">
                  <a:moveTo>
                    <a:pt x="6917817" y="200533"/>
                  </a:moveTo>
                  <a:lnTo>
                    <a:pt x="6917817" y="1002792"/>
                  </a:lnTo>
                  <a:lnTo>
                    <a:pt x="6912520" y="1048770"/>
                  </a:lnTo>
                  <a:lnTo>
                    <a:pt x="6897433" y="1090978"/>
                  </a:lnTo>
                  <a:lnTo>
                    <a:pt x="6873759" y="1128212"/>
                  </a:lnTo>
                  <a:lnTo>
                    <a:pt x="6842704" y="1159267"/>
                  </a:lnTo>
                  <a:lnTo>
                    <a:pt x="6805470" y="1182941"/>
                  </a:lnTo>
                  <a:lnTo>
                    <a:pt x="6763262" y="1198028"/>
                  </a:lnTo>
                  <a:lnTo>
                    <a:pt x="6717284" y="1203325"/>
                  </a:lnTo>
                  <a:lnTo>
                    <a:pt x="0" y="1203325"/>
                  </a:lnTo>
                  <a:lnTo>
                    <a:pt x="0" y="0"/>
                  </a:lnTo>
                  <a:lnTo>
                    <a:pt x="6717284" y="0"/>
                  </a:lnTo>
                  <a:lnTo>
                    <a:pt x="6763262" y="5296"/>
                  </a:lnTo>
                  <a:lnTo>
                    <a:pt x="6805470" y="20383"/>
                  </a:lnTo>
                  <a:lnTo>
                    <a:pt x="6842704" y="44057"/>
                  </a:lnTo>
                  <a:lnTo>
                    <a:pt x="6873759" y="75112"/>
                  </a:lnTo>
                  <a:lnTo>
                    <a:pt x="6897433" y="112346"/>
                  </a:lnTo>
                  <a:lnTo>
                    <a:pt x="6912520" y="154554"/>
                  </a:lnTo>
                  <a:lnTo>
                    <a:pt x="6917817" y="200533"/>
                  </a:lnTo>
                  <a:close/>
                </a:path>
              </a:pathLst>
            </a:custGeom>
            <a:ln w="12700">
              <a:solidFill>
                <a:srgbClr val="F7D4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658359" y="2033397"/>
            <a:ext cx="6355715" cy="101854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239395" marR="5080" indent="-226695" algn="just">
              <a:lnSpc>
                <a:spcPct val="91600"/>
              </a:lnSpc>
              <a:spcBef>
                <a:spcPts val="335"/>
              </a:spcBef>
              <a:buChar char="•"/>
              <a:tabLst>
                <a:tab pos="241300" algn="l"/>
              </a:tabLst>
            </a:pPr>
            <a:r>
              <a:rPr sz="2300" spc="-170" dirty="0">
                <a:latin typeface="Trebuchet MS"/>
                <a:cs typeface="Trebuchet MS"/>
              </a:rPr>
              <a:t>The</a:t>
            </a:r>
            <a:r>
              <a:rPr sz="2300" spc="-5" dirty="0">
                <a:latin typeface="Trebuchet MS"/>
                <a:cs typeface="Trebuchet MS"/>
              </a:rPr>
              <a:t> </a:t>
            </a:r>
            <a:r>
              <a:rPr sz="2300" spc="-114" dirty="0">
                <a:latin typeface="Trebuchet MS"/>
                <a:cs typeface="Trebuchet MS"/>
              </a:rPr>
              <a:t>major</a:t>
            </a:r>
            <a:r>
              <a:rPr sz="2300" spc="-55" dirty="0">
                <a:latin typeface="Trebuchet MS"/>
                <a:cs typeface="Trebuchet MS"/>
              </a:rPr>
              <a:t> </a:t>
            </a:r>
            <a:r>
              <a:rPr sz="2300" spc="-45" dirty="0">
                <a:latin typeface="Trebuchet MS"/>
                <a:cs typeface="Trebuchet MS"/>
              </a:rPr>
              <a:t>drawback</a:t>
            </a:r>
            <a:r>
              <a:rPr sz="2300" spc="-130" dirty="0">
                <a:latin typeface="Trebuchet MS"/>
                <a:cs typeface="Trebuchet MS"/>
              </a:rPr>
              <a:t> </a:t>
            </a:r>
            <a:r>
              <a:rPr sz="2300" spc="-195" dirty="0">
                <a:latin typeface="Trebuchet MS"/>
                <a:cs typeface="Trebuchet MS"/>
              </a:rPr>
              <a:t>of</a:t>
            </a:r>
            <a:r>
              <a:rPr sz="2300" spc="25" dirty="0">
                <a:latin typeface="Trebuchet MS"/>
                <a:cs typeface="Trebuchet MS"/>
              </a:rPr>
              <a:t> </a:t>
            </a:r>
            <a:r>
              <a:rPr sz="2300" spc="-130" dirty="0">
                <a:latin typeface="Trebuchet MS"/>
                <a:cs typeface="Trebuchet MS"/>
              </a:rPr>
              <a:t>the</a:t>
            </a:r>
            <a:r>
              <a:rPr sz="2300" spc="-40" dirty="0">
                <a:latin typeface="Trebuchet MS"/>
                <a:cs typeface="Trebuchet MS"/>
              </a:rPr>
              <a:t> </a:t>
            </a:r>
            <a:r>
              <a:rPr sz="2300" spc="-70" dirty="0">
                <a:latin typeface="Trebuchet MS"/>
                <a:cs typeface="Trebuchet MS"/>
              </a:rPr>
              <a:t>Hybrid</a:t>
            </a:r>
            <a:r>
              <a:rPr sz="2300" spc="-100" dirty="0">
                <a:latin typeface="Trebuchet MS"/>
                <a:cs typeface="Trebuchet MS"/>
              </a:rPr>
              <a:t> </a:t>
            </a:r>
            <a:r>
              <a:rPr sz="2300" spc="-70" dirty="0">
                <a:latin typeface="Trebuchet MS"/>
                <a:cs typeface="Trebuchet MS"/>
              </a:rPr>
              <a:t>topology</a:t>
            </a:r>
            <a:r>
              <a:rPr sz="2300" spc="-6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is</a:t>
            </a:r>
            <a:r>
              <a:rPr sz="2300" spc="-30" dirty="0">
                <a:latin typeface="Trebuchet MS"/>
                <a:cs typeface="Trebuchet MS"/>
              </a:rPr>
              <a:t> </a:t>
            </a:r>
            <a:r>
              <a:rPr sz="2300" spc="-25" dirty="0">
                <a:latin typeface="Trebuchet MS"/>
                <a:cs typeface="Trebuchet MS"/>
              </a:rPr>
              <a:t>the 	design</a:t>
            </a:r>
            <a:r>
              <a:rPr sz="2300" spc="-150" dirty="0">
                <a:latin typeface="Trebuchet MS"/>
                <a:cs typeface="Trebuchet MS"/>
              </a:rPr>
              <a:t> </a:t>
            </a:r>
            <a:r>
              <a:rPr sz="2300" spc="-200" dirty="0">
                <a:latin typeface="Trebuchet MS"/>
                <a:cs typeface="Trebuchet MS"/>
              </a:rPr>
              <a:t>of</a:t>
            </a:r>
            <a:r>
              <a:rPr sz="2300" spc="30" dirty="0">
                <a:latin typeface="Trebuchet MS"/>
                <a:cs typeface="Trebuchet MS"/>
              </a:rPr>
              <a:t> </a:t>
            </a:r>
            <a:r>
              <a:rPr sz="2300" spc="-130" dirty="0">
                <a:latin typeface="Trebuchet MS"/>
                <a:cs typeface="Trebuchet MS"/>
              </a:rPr>
              <a:t>the</a:t>
            </a:r>
            <a:r>
              <a:rPr sz="2300" spc="-45" dirty="0">
                <a:latin typeface="Trebuchet MS"/>
                <a:cs typeface="Trebuchet MS"/>
              </a:rPr>
              <a:t> </a:t>
            </a:r>
            <a:r>
              <a:rPr sz="2300" spc="-65" dirty="0">
                <a:latin typeface="Trebuchet MS"/>
                <a:cs typeface="Trebuchet MS"/>
              </a:rPr>
              <a:t>Hybrid</a:t>
            </a:r>
            <a:r>
              <a:rPr sz="2300" spc="-75" dirty="0">
                <a:latin typeface="Trebuchet MS"/>
                <a:cs typeface="Trebuchet MS"/>
              </a:rPr>
              <a:t> </a:t>
            </a:r>
            <a:r>
              <a:rPr sz="2300" spc="-110" dirty="0">
                <a:latin typeface="Trebuchet MS"/>
                <a:cs typeface="Trebuchet MS"/>
              </a:rPr>
              <a:t>network.</a:t>
            </a:r>
            <a:r>
              <a:rPr sz="2300" spc="-25" dirty="0">
                <a:latin typeface="Trebuchet MS"/>
                <a:cs typeface="Trebuchet MS"/>
              </a:rPr>
              <a:t> </a:t>
            </a:r>
            <a:r>
              <a:rPr sz="2300" spc="-290" dirty="0">
                <a:latin typeface="Trebuchet MS"/>
                <a:cs typeface="Trebuchet MS"/>
              </a:rPr>
              <a:t>It</a:t>
            </a:r>
            <a:r>
              <a:rPr sz="2300" spc="12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is</a:t>
            </a:r>
            <a:r>
              <a:rPr sz="2300" spc="-5" dirty="0">
                <a:latin typeface="Trebuchet MS"/>
                <a:cs typeface="Trebuchet MS"/>
              </a:rPr>
              <a:t> </a:t>
            </a:r>
            <a:r>
              <a:rPr sz="2300" spc="-155" dirty="0">
                <a:latin typeface="Trebuchet MS"/>
                <a:cs typeface="Trebuchet MS"/>
              </a:rPr>
              <a:t>very</a:t>
            </a:r>
            <a:r>
              <a:rPr sz="2300" spc="-15" dirty="0">
                <a:latin typeface="Trebuchet MS"/>
                <a:cs typeface="Trebuchet MS"/>
              </a:rPr>
              <a:t> </a:t>
            </a:r>
            <a:r>
              <a:rPr sz="2300" spc="-105" dirty="0">
                <a:latin typeface="Trebuchet MS"/>
                <a:cs typeface="Trebuchet MS"/>
              </a:rPr>
              <a:t>difficult</a:t>
            </a:r>
            <a:r>
              <a:rPr sz="2300" spc="-55" dirty="0">
                <a:latin typeface="Trebuchet MS"/>
                <a:cs typeface="Trebuchet MS"/>
              </a:rPr>
              <a:t> </a:t>
            </a:r>
            <a:r>
              <a:rPr sz="2300" spc="-25" dirty="0">
                <a:latin typeface="Trebuchet MS"/>
                <a:cs typeface="Trebuchet MS"/>
              </a:rPr>
              <a:t>to 	</a:t>
            </a:r>
            <a:r>
              <a:rPr sz="2300" spc="-10" dirty="0">
                <a:latin typeface="Trebuchet MS"/>
                <a:cs typeface="Trebuchet MS"/>
              </a:rPr>
              <a:t>design</a:t>
            </a:r>
            <a:r>
              <a:rPr sz="2300" spc="-200" dirty="0">
                <a:latin typeface="Trebuchet MS"/>
                <a:cs typeface="Trebuchet MS"/>
              </a:rPr>
              <a:t> </a:t>
            </a:r>
            <a:r>
              <a:rPr sz="2300" spc="-75" dirty="0">
                <a:latin typeface="Trebuchet MS"/>
                <a:cs typeface="Trebuchet MS"/>
              </a:rPr>
              <a:t>the</a:t>
            </a:r>
            <a:r>
              <a:rPr sz="2300" spc="-204" dirty="0">
                <a:latin typeface="Trebuchet MS"/>
                <a:cs typeface="Trebuchet MS"/>
              </a:rPr>
              <a:t> </a:t>
            </a:r>
            <a:r>
              <a:rPr sz="2300" spc="-70" dirty="0">
                <a:latin typeface="Trebuchet MS"/>
                <a:cs typeface="Trebuchet MS"/>
              </a:rPr>
              <a:t>architecture</a:t>
            </a:r>
            <a:r>
              <a:rPr sz="2300" spc="-185" dirty="0">
                <a:latin typeface="Trebuchet MS"/>
                <a:cs typeface="Trebuchet MS"/>
              </a:rPr>
              <a:t> </a:t>
            </a:r>
            <a:r>
              <a:rPr sz="2300" spc="-75" dirty="0">
                <a:latin typeface="Trebuchet MS"/>
                <a:cs typeface="Trebuchet MS"/>
              </a:rPr>
              <a:t>of</a:t>
            </a:r>
            <a:r>
              <a:rPr sz="2300" spc="-204" dirty="0">
                <a:latin typeface="Trebuchet MS"/>
                <a:cs typeface="Trebuchet MS"/>
              </a:rPr>
              <a:t> </a:t>
            </a:r>
            <a:r>
              <a:rPr sz="2300" spc="-75" dirty="0">
                <a:latin typeface="Trebuchet MS"/>
                <a:cs typeface="Trebuchet MS"/>
              </a:rPr>
              <a:t>the</a:t>
            </a:r>
            <a:r>
              <a:rPr sz="2300" spc="-185" dirty="0">
                <a:latin typeface="Trebuchet MS"/>
                <a:cs typeface="Trebuchet MS"/>
              </a:rPr>
              <a:t> </a:t>
            </a:r>
            <a:r>
              <a:rPr sz="2300" spc="-45" dirty="0">
                <a:latin typeface="Trebuchet MS"/>
                <a:cs typeface="Trebuchet MS"/>
              </a:rPr>
              <a:t>Hybrid</a:t>
            </a:r>
            <a:r>
              <a:rPr sz="2300" spc="-210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network.</a:t>
            </a:r>
            <a:endParaRPr sz="2300">
              <a:latin typeface="Trebuchet MS"/>
              <a:cs typeface="Trebuchet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7323" y="1824227"/>
            <a:ext cx="3897629" cy="150952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592072" y="1885315"/>
            <a:ext cx="2091055" cy="125285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251460" marR="5080" indent="-239395">
              <a:lnSpc>
                <a:spcPts val="4620"/>
              </a:lnSpc>
              <a:spcBef>
                <a:spcPts val="605"/>
              </a:spcBef>
            </a:pPr>
            <a:r>
              <a:rPr sz="4200" spc="-10" dirty="0">
                <a:latin typeface="Trebuchet MS"/>
                <a:cs typeface="Trebuchet MS"/>
              </a:rPr>
              <a:t>Complex Design</a:t>
            </a:r>
            <a:endParaRPr sz="42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576317" y="3551301"/>
            <a:ext cx="6931025" cy="1216025"/>
            <a:chOff x="4576317" y="3551301"/>
            <a:chExt cx="6931025" cy="1216025"/>
          </a:xfrm>
        </p:grpSpPr>
        <p:sp>
          <p:nvSpPr>
            <p:cNvPr id="10" name="object 10"/>
            <p:cNvSpPr/>
            <p:nvPr/>
          </p:nvSpPr>
          <p:spPr>
            <a:xfrm>
              <a:off x="4582667" y="3557651"/>
              <a:ext cx="6918325" cy="1203325"/>
            </a:xfrm>
            <a:custGeom>
              <a:avLst/>
              <a:gdLst/>
              <a:ahLst/>
              <a:cxnLst/>
              <a:rect l="l" t="t" r="r" b="b"/>
              <a:pathLst>
                <a:path w="6918325" h="1203325">
                  <a:moveTo>
                    <a:pt x="6717284" y="0"/>
                  </a:moveTo>
                  <a:lnTo>
                    <a:pt x="0" y="0"/>
                  </a:lnTo>
                  <a:lnTo>
                    <a:pt x="0" y="1203198"/>
                  </a:lnTo>
                  <a:lnTo>
                    <a:pt x="6717284" y="1203198"/>
                  </a:lnTo>
                  <a:lnTo>
                    <a:pt x="6763262" y="1197901"/>
                  </a:lnTo>
                  <a:lnTo>
                    <a:pt x="6805470" y="1182814"/>
                  </a:lnTo>
                  <a:lnTo>
                    <a:pt x="6842704" y="1159140"/>
                  </a:lnTo>
                  <a:lnTo>
                    <a:pt x="6873759" y="1128085"/>
                  </a:lnTo>
                  <a:lnTo>
                    <a:pt x="6897433" y="1090851"/>
                  </a:lnTo>
                  <a:lnTo>
                    <a:pt x="6912520" y="1048643"/>
                  </a:lnTo>
                  <a:lnTo>
                    <a:pt x="6917817" y="1002665"/>
                  </a:lnTo>
                  <a:lnTo>
                    <a:pt x="6917817" y="200532"/>
                  </a:lnTo>
                  <a:lnTo>
                    <a:pt x="6912520" y="154554"/>
                  </a:lnTo>
                  <a:lnTo>
                    <a:pt x="6897433" y="112346"/>
                  </a:lnTo>
                  <a:lnTo>
                    <a:pt x="6873759" y="75112"/>
                  </a:lnTo>
                  <a:lnTo>
                    <a:pt x="6842704" y="44057"/>
                  </a:lnTo>
                  <a:lnTo>
                    <a:pt x="6805470" y="20383"/>
                  </a:lnTo>
                  <a:lnTo>
                    <a:pt x="6763262" y="5296"/>
                  </a:lnTo>
                  <a:lnTo>
                    <a:pt x="6717284" y="0"/>
                  </a:lnTo>
                  <a:close/>
                </a:path>
              </a:pathLst>
            </a:custGeom>
            <a:solidFill>
              <a:srgbClr val="CCD3CC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82667" y="3557651"/>
              <a:ext cx="6918325" cy="1203325"/>
            </a:xfrm>
            <a:custGeom>
              <a:avLst/>
              <a:gdLst/>
              <a:ahLst/>
              <a:cxnLst/>
              <a:rect l="l" t="t" r="r" b="b"/>
              <a:pathLst>
                <a:path w="6918325" h="1203325">
                  <a:moveTo>
                    <a:pt x="6917817" y="200532"/>
                  </a:moveTo>
                  <a:lnTo>
                    <a:pt x="6917817" y="1002665"/>
                  </a:lnTo>
                  <a:lnTo>
                    <a:pt x="6912520" y="1048643"/>
                  </a:lnTo>
                  <a:lnTo>
                    <a:pt x="6897433" y="1090851"/>
                  </a:lnTo>
                  <a:lnTo>
                    <a:pt x="6873759" y="1128085"/>
                  </a:lnTo>
                  <a:lnTo>
                    <a:pt x="6842704" y="1159140"/>
                  </a:lnTo>
                  <a:lnTo>
                    <a:pt x="6805470" y="1182814"/>
                  </a:lnTo>
                  <a:lnTo>
                    <a:pt x="6763262" y="1197901"/>
                  </a:lnTo>
                  <a:lnTo>
                    <a:pt x="6717284" y="1203198"/>
                  </a:lnTo>
                  <a:lnTo>
                    <a:pt x="0" y="1203198"/>
                  </a:lnTo>
                  <a:lnTo>
                    <a:pt x="0" y="0"/>
                  </a:lnTo>
                  <a:lnTo>
                    <a:pt x="6717284" y="0"/>
                  </a:lnTo>
                  <a:lnTo>
                    <a:pt x="6763262" y="5296"/>
                  </a:lnTo>
                  <a:lnTo>
                    <a:pt x="6805470" y="20383"/>
                  </a:lnTo>
                  <a:lnTo>
                    <a:pt x="6842704" y="44057"/>
                  </a:lnTo>
                  <a:lnTo>
                    <a:pt x="6873759" y="75112"/>
                  </a:lnTo>
                  <a:lnTo>
                    <a:pt x="6897433" y="112346"/>
                  </a:lnTo>
                  <a:lnTo>
                    <a:pt x="6912520" y="154554"/>
                  </a:lnTo>
                  <a:lnTo>
                    <a:pt x="6917817" y="200532"/>
                  </a:lnTo>
                  <a:close/>
                </a:path>
              </a:pathLst>
            </a:custGeom>
            <a:ln w="12700">
              <a:solidFill>
                <a:srgbClr val="CCD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658359" y="3613150"/>
            <a:ext cx="6311265" cy="101854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239395" marR="5080" indent="-226695">
              <a:lnSpc>
                <a:spcPct val="91500"/>
              </a:lnSpc>
              <a:spcBef>
                <a:spcPts val="335"/>
              </a:spcBef>
              <a:buChar char="•"/>
              <a:tabLst>
                <a:tab pos="241300" algn="l"/>
              </a:tabLst>
            </a:pPr>
            <a:r>
              <a:rPr sz="2300" spc="-95" dirty="0">
                <a:latin typeface="Trebuchet MS"/>
                <a:cs typeface="Trebuchet MS"/>
              </a:rPr>
              <a:t>The</a:t>
            </a:r>
            <a:r>
              <a:rPr sz="2300" spc="-204" dirty="0">
                <a:latin typeface="Trebuchet MS"/>
                <a:cs typeface="Trebuchet MS"/>
              </a:rPr>
              <a:t> </a:t>
            </a:r>
            <a:r>
              <a:rPr sz="2300" spc="85" dirty="0">
                <a:latin typeface="Trebuchet MS"/>
                <a:cs typeface="Trebuchet MS"/>
              </a:rPr>
              <a:t>Hubs</a:t>
            </a:r>
            <a:r>
              <a:rPr sz="2300" spc="-20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used</a:t>
            </a:r>
            <a:r>
              <a:rPr sz="2300" spc="-185" dirty="0">
                <a:latin typeface="Trebuchet MS"/>
                <a:cs typeface="Trebuchet MS"/>
              </a:rPr>
              <a:t> </a:t>
            </a:r>
            <a:r>
              <a:rPr sz="2300" spc="-60" dirty="0">
                <a:latin typeface="Trebuchet MS"/>
                <a:cs typeface="Trebuchet MS"/>
              </a:rPr>
              <a:t>in</a:t>
            </a:r>
            <a:r>
              <a:rPr sz="2300" spc="-190" dirty="0">
                <a:latin typeface="Trebuchet MS"/>
                <a:cs typeface="Trebuchet MS"/>
              </a:rPr>
              <a:t> </a:t>
            </a:r>
            <a:r>
              <a:rPr sz="2300" spc="-75" dirty="0">
                <a:latin typeface="Trebuchet MS"/>
                <a:cs typeface="Trebuchet MS"/>
              </a:rPr>
              <a:t>the</a:t>
            </a:r>
            <a:r>
              <a:rPr sz="2300" spc="-185" dirty="0">
                <a:latin typeface="Trebuchet MS"/>
                <a:cs typeface="Trebuchet MS"/>
              </a:rPr>
              <a:t> </a:t>
            </a:r>
            <a:r>
              <a:rPr sz="2300" spc="-40" dirty="0">
                <a:latin typeface="Trebuchet MS"/>
                <a:cs typeface="Trebuchet MS"/>
              </a:rPr>
              <a:t>Hybrid</a:t>
            </a:r>
            <a:r>
              <a:rPr sz="2300" spc="-204" dirty="0">
                <a:latin typeface="Trebuchet MS"/>
                <a:cs typeface="Trebuchet MS"/>
              </a:rPr>
              <a:t> </a:t>
            </a:r>
            <a:r>
              <a:rPr sz="2300" spc="-50" dirty="0">
                <a:latin typeface="Trebuchet MS"/>
                <a:cs typeface="Trebuchet MS"/>
              </a:rPr>
              <a:t>topology</a:t>
            </a:r>
            <a:r>
              <a:rPr sz="2300" spc="-215" dirty="0">
                <a:latin typeface="Trebuchet MS"/>
                <a:cs typeface="Trebuchet MS"/>
              </a:rPr>
              <a:t> </a:t>
            </a:r>
            <a:r>
              <a:rPr sz="2300" spc="-75" dirty="0">
                <a:latin typeface="Trebuchet MS"/>
                <a:cs typeface="Trebuchet MS"/>
              </a:rPr>
              <a:t>are</a:t>
            </a:r>
            <a:r>
              <a:rPr sz="2300" spc="-185" dirty="0">
                <a:latin typeface="Trebuchet MS"/>
                <a:cs typeface="Trebuchet MS"/>
              </a:rPr>
              <a:t> </a:t>
            </a:r>
            <a:r>
              <a:rPr sz="2300" spc="-20" dirty="0">
                <a:latin typeface="Trebuchet MS"/>
                <a:cs typeface="Trebuchet MS"/>
              </a:rPr>
              <a:t>very 	</a:t>
            </a:r>
            <a:r>
              <a:rPr sz="2300" spc="-45" dirty="0">
                <a:latin typeface="Trebuchet MS"/>
                <a:cs typeface="Trebuchet MS"/>
              </a:rPr>
              <a:t>expensive</a:t>
            </a:r>
            <a:r>
              <a:rPr sz="2300" spc="-175" dirty="0">
                <a:latin typeface="Trebuchet MS"/>
                <a:cs typeface="Trebuchet MS"/>
              </a:rPr>
              <a:t> </a:t>
            </a:r>
            <a:r>
              <a:rPr sz="2300" spc="95" dirty="0">
                <a:latin typeface="Trebuchet MS"/>
                <a:cs typeface="Trebuchet MS"/>
              </a:rPr>
              <a:t>as</a:t>
            </a:r>
            <a:r>
              <a:rPr sz="2300" spc="-160" dirty="0">
                <a:latin typeface="Trebuchet MS"/>
                <a:cs typeface="Trebuchet MS"/>
              </a:rPr>
              <a:t> </a:t>
            </a:r>
            <a:r>
              <a:rPr sz="2300" spc="-20" dirty="0">
                <a:latin typeface="Trebuchet MS"/>
                <a:cs typeface="Trebuchet MS"/>
              </a:rPr>
              <a:t>these</a:t>
            </a:r>
            <a:r>
              <a:rPr sz="2300" spc="-18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hubs</a:t>
            </a:r>
            <a:r>
              <a:rPr sz="2300" spc="-155" dirty="0">
                <a:latin typeface="Trebuchet MS"/>
                <a:cs typeface="Trebuchet MS"/>
              </a:rPr>
              <a:t> </a:t>
            </a:r>
            <a:r>
              <a:rPr sz="2300" spc="-80" dirty="0">
                <a:latin typeface="Trebuchet MS"/>
                <a:cs typeface="Trebuchet MS"/>
              </a:rPr>
              <a:t>are</a:t>
            </a:r>
            <a:r>
              <a:rPr sz="2300" spc="-160" dirty="0">
                <a:latin typeface="Trebuchet MS"/>
                <a:cs typeface="Trebuchet MS"/>
              </a:rPr>
              <a:t> </a:t>
            </a:r>
            <a:r>
              <a:rPr sz="2300" spc="-110" dirty="0">
                <a:latin typeface="Trebuchet MS"/>
                <a:cs typeface="Trebuchet MS"/>
              </a:rPr>
              <a:t>different</a:t>
            </a:r>
            <a:r>
              <a:rPr sz="2300" spc="-185" dirty="0">
                <a:latin typeface="Trebuchet MS"/>
                <a:cs typeface="Trebuchet MS"/>
              </a:rPr>
              <a:t> </a:t>
            </a:r>
            <a:r>
              <a:rPr sz="2300" spc="-80" dirty="0">
                <a:latin typeface="Trebuchet MS"/>
                <a:cs typeface="Trebuchet MS"/>
              </a:rPr>
              <a:t>from</a:t>
            </a:r>
            <a:r>
              <a:rPr sz="2300" spc="-160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usual 	</a:t>
            </a:r>
            <a:r>
              <a:rPr sz="2300" spc="85" dirty="0">
                <a:latin typeface="Trebuchet MS"/>
                <a:cs typeface="Trebuchet MS"/>
              </a:rPr>
              <a:t>Hubs</a:t>
            </a:r>
            <a:r>
              <a:rPr sz="2300" spc="-18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used</a:t>
            </a:r>
            <a:r>
              <a:rPr sz="2300" spc="-165" dirty="0">
                <a:latin typeface="Trebuchet MS"/>
                <a:cs typeface="Trebuchet MS"/>
              </a:rPr>
              <a:t> </a:t>
            </a:r>
            <a:r>
              <a:rPr sz="2300" spc="-60" dirty="0">
                <a:latin typeface="Trebuchet MS"/>
                <a:cs typeface="Trebuchet MS"/>
              </a:rPr>
              <a:t>in</a:t>
            </a:r>
            <a:r>
              <a:rPr sz="2300" spc="-175" dirty="0">
                <a:latin typeface="Trebuchet MS"/>
                <a:cs typeface="Trebuchet MS"/>
              </a:rPr>
              <a:t> </a:t>
            </a:r>
            <a:r>
              <a:rPr sz="2300" spc="-80" dirty="0">
                <a:latin typeface="Trebuchet MS"/>
                <a:cs typeface="Trebuchet MS"/>
              </a:rPr>
              <a:t>other</a:t>
            </a:r>
            <a:r>
              <a:rPr sz="2300" spc="-17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topologies.</a:t>
            </a:r>
            <a:endParaRPr sz="2300">
              <a:latin typeface="Trebuchet MS"/>
              <a:cs typeface="Trebuchet MS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7323" y="3403091"/>
            <a:ext cx="3897629" cy="1509522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346708" y="3757929"/>
            <a:ext cx="258000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dirty="0">
                <a:latin typeface="Trebuchet MS"/>
                <a:cs typeface="Trebuchet MS"/>
              </a:rPr>
              <a:t>Costly</a:t>
            </a:r>
            <a:r>
              <a:rPr sz="4200" spc="-330" dirty="0">
                <a:latin typeface="Trebuchet MS"/>
                <a:cs typeface="Trebuchet MS"/>
              </a:rPr>
              <a:t> </a:t>
            </a:r>
            <a:r>
              <a:rPr sz="4200" spc="40" dirty="0">
                <a:latin typeface="Trebuchet MS"/>
                <a:cs typeface="Trebuchet MS"/>
              </a:rPr>
              <a:t>Hub</a:t>
            </a:r>
            <a:endParaRPr sz="420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576317" y="5130546"/>
            <a:ext cx="6931025" cy="1216025"/>
            <a:chOff x="4576317" y="5130546"/>
            <a:chExt cx="6931025" cy="1216025"/>
          </a:xfrm>
        </p:grpSpPr>
        <p:sp>
          <p:nvSpPr>
            <p:cNvPr id="16" name="object 16"/>
            <p:cNvSpPr/>
            <p:nvPr/>
          </p:nvSpPr>
          <p:spPr>
            <a:xfrm>
              <a:off x="4582667" y="5136896"/>
              <a:ext cx="6918325" cy="1203325"/>
            </a:xfrm>
            <a:custGeom>
              <a:avLst/>
              <a:gdLst/>
              <a:ahLst/>
              <a:cxnLst/>
              <a:rect l="l" t="t" r="r" b="b"/>
              <a:pathLst>
                <a:path w="6918325" h="1203325">
                  <a:moveTo>
                    <a:pt x="6717284" y="0"/>
                  </a:moveTo>
                  <a:lnTo>
                    <a:pt x="0" y="0"/>
                  </a:lnTo>
                  <a:lnTo>
                    <a:pt x="0" y="1203286"/>
                  </a:lnTo>
                  <a:lnTo>
                    <a:pt x="6717284" y="1203286"/>
                  </a:lnTo>
                  <a:lnTo>
                    <a:pt x="6763262" y="1197990"/>
                  </a:lnTo>
                  <a:lnTo>
                    <a:pt x="6805470" y="1182902"/>
                  </a:lnTo>
                  <a:lnTo>
                    <a:pt x="6842704" y="1159228"/>
                  </a:lnTo>
                  <a:lnTo>
                    <a:pt x="6873759" y="1128171"/>
                  </a:lnTo>
                  <a:lnTo>
                    <a:pt x="6897433" y="1090935"/>
                  </a:lnTo>
                  <a:lnTo>
                    <a:pt x="6912520" y="1048723"/>
                  </a:lnTo>
                  <a:lnTo>
                    <a:pt x="6917817" y="1002741"/>
                  </a:lnTo>
                  <a:lnTo>
                    <a:pt x="6917817" y="200532"/>
                  </a:lnTo>
                  <a:lnTo>
                    <a:pt x="6912520" y="154554"/>
                  </a:lnTo>
                  <a:lnTo>
                    <a:pt x="6897433" y="112346"/>
                  </a:lnTo>
                  <a:lnTo>
                    <a:pt x="6873759" y="75112"/>
                  </a:lnTo>
                  <a:lnTo>
                    <a:pt x="6842704" y="44057"/>
                  </a:lnTo>
                  <a:lnTo>
                    <a:pt x="6805470" y="20383"/>
                  </a:lnTo>
                  <a:lnTo>
                    <a:pt x="6763262" y="5296"/>
                  </a:lnTo>
                  <a:lnTo>
                    <a:pt x="6717284" y="0"/>
                  </a:lnTo>
                  <a:close/>
                </a:path>
              </a:pathLst>
            </a:custGeom>
            <a:solidFill>
              <a:srgbClr val="CCDFEE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582667" y="5136896"/>
              <a:ext cx="6918325" cy="1203325"/>
            </a:xfrm>
            <a:custGeom>
              <a:avLst/>
              <a:gdLst/>
              <a:ahLst/>
              <a:cxnLst/>
              <a:rect l="l" t="t" r="r" b="b"/>
              <a:pathLst>
                <a:path w="6918325" h="1203325">
                  <a:moveTo>
                    <a:pt x="6917817" y="200532"/>
                  </a:moveTo>
                  <a:lnTo>
                    <a:pt x="6917817" y="1002741"/>
                  </a:lnTo>
                  <a:lnTo>
                    <a:pt x="6912520" y="1048723"/>
                  </a:lnTo>
                  <a:lnTo>
                    <a:pt x="6897433" y="1090935"/>
                  </a:lnTo>
                  <a:lnTo>
                    <a:pt x="6873759" y="1128171"/>
                  </a:lnTo>
                  <a:lnTo>
                    <a:pt x="6842704" y="1159228"/>
                  </a:lnTo>
                  <a:lnTo>
                    <a:pt x="6805470" y="1182902"/>
                  </a:lnTo>
                  <a:lnTo>
                    <a:pt x="6763262" y="1197990"/>
                  </a:lnTo>
                  <a:lnTo>
                    <a:pt x="6717284" y="1203286"/>
                  </a:lnTo>
                  <a:lnTo>
                    <a:pt x="0" y="1203286"/>
                  </a:lnTo>
                  <a:lnTo>
                    <a:pt x="0" y="0"/>
                  </a:lnTo>
                  <a:lnTo>
                    <a:pt x="6717284" y="0"/>
                  </a:lnTo>
                  <a:lnTo>
                    <a:pt x="6763262" y="5296"/>
                  </a:lnTo>
                  <a:lnTo>
                    <a:pt x="6805470" y="20383"/>
                  </a:lnTo>
                  <a:lnTo>
                    <a:pt x="6842704" y="44057"/>
                  </a:lnTo>
                  <a:lnTo>
                    <a:pt x="6873759" y="75112"/>
                  </a:lnTo>
                  <a:lnTo>
                    <a:pt x="6897433" y="112346"/>
                  </a:lnTo>
                  <a:lnTo>
                    <a:pt x="6912520" y="154554"/>
                  </a:lnTo>
                  <a:lnTo>
                    <a:pt x="6917817" y="200532"/>
                  </a:lnTo>
                  <a:close/>
                </a:path>
              </a:pathLst>
            </a:custGeom>
            <a:ln w="12699">
              <a:solidFill>
                <a:srgbClr val="CCDF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658359" y="5192648"/>
            <a:ext cx="6527800" cy="101854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239395" marR="5080" indent="-226695">
              <a:lnSpc>
                <a:spcPct val="91500"/>
              </a:lnSpc>
              <a:spcBef>
                <a:spcPts val="335"/>
              </a:spcBef>
              <a:buChar char="•"/>
              <a:tabLst>
                <a:tab pos="241300" algn="l"/>
              </a:tabLst>
            </a:pPr>
            <a:r>
              <a:rPr sz="2300" spc="-95" dirty="0">
                <a:latin typeface="Trebuchet MS"/>
                <a:cs typeface="Trebuchet MS"/>
              </a:rPr>
              <a:t>The</a:t>
            </a:r>
            <a:r>
              <a:rPr sz="2300" spc="-190" dirty="0">
                <a:latin typeface="Trebuchet MS"/>
                <a:cs typeface="Trebuchet MS"/>
              </a:rPr>
              <a:t> </a:t>
            </a:r>
            <a:r>
              <a:rPr sz="2300" spc="-75" dirty="0">
                <a:latin typeface="Trebuchet MS"/>
                <a:cs typeface="Trebuchet MS"/>
              </a:rPr>
              <a:t>infrastructure</a:t>
            </a:r>
            <a:r>
              <a:rPr sz="2300" spc="-17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cost</a:t>
            </a:r>
            <a:r>
              <a:rPr sz="2300" spc="-19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is</a:t>
            </a:r>
            <a:r>
              <a:rPr sz="2300" spc="-170" dirty="0">
                <a:latin typeface="Trebuchet MS"/>
                <a:cs typeface="Trebuchet MS"/>
              </a:rPr>
              <a:t> </a:t>
            </a:r>
            <a:r>
              <a:rPr sz="2300" spc="-100" dirty="0">
                <a:latin typeface="Trebuchet MS"/>
                <a:cs typeface="Trebuchet MS"/>
              </a:rPr>
              <a:t>very</a:t>
            </a:r>
            <a:r>
              <a:rPr sz="2300" spc="-185" dirty="0">
                <a:latin typeface="Trebuchet MS"/>
                <a:cs typeface="Trebuchet MS"/>
              </a:rPr>
              <a:t> </a:t>
            </a:r>
            <a:r>
              <a:rPr sz="2300" spc="-45" dirty="0">
                <a:latin typeface="Trebuchet MS"/>
                <a:cs typeface="Trebuchet MS"/>
              </a:rPr>
              <a:t>high</a:t>
            </a:r>
            <a:r>
              <a:rPr sz="2300" spc="-185" dirty="0">
                <a:latin typeface="Trebuchet MS"/>
                <a:cs typeface="Trebuchet MS"/>
              </a:rPr>
              <a:t> </a:t>
            </a:r>
            <a:r>
              <a:rPr sz="2300" spc="95" dirty="0">
                <a:latin typeface="Trebuchet MS"/>
                <a:cs typeface="Trebuchet MS"/>
              </a:rPr>
              <a:t>as</a:t>
            </a:r>
            <a:r>
              <a:rPr sz="2300" spc="-17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</a:t>
            </a:r>
            <a:r>
              <a:rPr sz="2300" spc="-17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hybrid 	</a:t>
            </a:r>
            <a:r>
              <a:rPr sz="2300" spc="-70" dirty="0">
                <a:latin typeface="Trebuchet MS"/>
                <a:cs typeface="Trebuchet MS"/>
              </a:rPr>
              <a:t>network</a:t>
            </a:r>
            <a:r>
              <a:rPr sz="2300" spc="-204" dirty="0">
                <a:latin typeface="Trebuchet MS"/>
                <a:cs typeface="Trebuchet MS"/>
              </a:rPr>
              <a:t> </a:t>
            </a:r>
            <a:r>
              <a:rPr sz="2300" spc="-50" dirty="0">
                <a:latin typeface="Trebuchet MS"/>
                <a:cs typeface="Trebuchet MS"/>
              </a:rPr>
              <a:t>requires</a:t>
            </a:r>
            <a:r>
              <a:rPr sz="2300" spc="-19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</a:t>
            </a:r>
            <a:r>
              <a:rPr sz="2300" spc="-200" dirty="0">
                <a:latin typeface="Trebuchet MS"/>
                <a:cs typeface="Trebuchet MS"/>
              </a:rPr>
              <a:t> </a:t>
            </a:r>
            <a:r>
              <a:rPr sz="2300" spc="-85" dirty="0">
                <a:latin typeface="Trebuchet MS"/>
                <a:cs typeface="Trebuchet MS"/>
              </a:rPr>
              <a:t>lot</a:t>
            </a:r>
            <a:r>
              <a:rPr sz="2300" spc="-200" dirty="0">
                <a:latin typeface="Trebuchet MS"/>
                <a:cs typeface="Trebuchet MS"/>
              </a:rPr>
              <a:t> </a:t>
            </a:r>
            <a:r>
              <a:rPr sz="2300" spc="-75" dirty="0">
                <a:latin typeface="Trebuchet MS"/>
                <a:cs typeface="Trebuchet MS"/>
              </a:rPr>
              <a:t>of</a:t>
            </a:r>
            <a:r>
              <a:rPr sz="2300" spc="-210" dirty="0">
                <a:latin typeface="Trebuchet MS"/>
                <a:cs typeface="Trebuchet MS"/>
              </a:rPr>
              <a:t> </a:t>
            </a:r>
            <a:r>
              <a:rPr sz="2300" spc="-50" dirty="0">
                <a:latin typeface="Trebuchet MS"/>
                <a:cs typeface="Trebuchet MS"/>
              </a:rPr>
              <a:t>cabling,</a:t>
            </a:r>
            <a:r>
              <a:rPr sz="2300" spc="-220" dirty="0">
                <a:latin typeface="Trebuchet MS"/>
                <a:cs typeface="Trebuchet MS"/>
              </a:rPr>
              <a:t> </a:t>
            </a:r>
            <a:r>
              <a:rPr sz="2300" spc="-70" dirty="0">
                <a:latin typeface="Trebuchet MS"/>
                <a:cs typeface="Trebuchet MS"/>
              </a:rPr>
              <a:t>network</a:t>
            </a:r>
            <a:r>
              <a:rPr sz="2300" spc="-204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devices, 	</a:t>
            </a:r>
            <a:r>
              <a:rPr sz="2300" spc="-20" dirty="0">
                <a:latin typeface="Trebuchet MS"/>
                <a:cs typeface="Trebuchet MS"/>
              </a:rPr>
              <a:t>etc.</a:t>
            </a:r>
            <a:endParaRPr sz="2300">
              <a:latin typeface="Trebuchet MS"/>
              <a:cs typeface="Trebuchet MS"/>
            </a:endParaRPr>
          </a:p>
        </p:txBody>
      </p:sp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7323" y="4981968"/>
            <a:ext cx="3897629" cy="1509521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1051052" y="5044541"/>
            <a:ext cx="3171825" cy="125285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 marR="5080" indent="838200">
              <a:lnSpc>
                <a:spcPts val="4620"/>
              </a:lnSpc>
              <a:spcBef>
                <a:spcPts val="600"/>
              </a:spcBef>
            </a:pPr>
            <a:r>
              <a:rPr sz="4200" spc="-10" dirty="0">
                <a:latin typeface="Trebuchet MS"/>
                <a:cs typeface="Trebuchet MS"/>
              </a:rPr>
              <a:t>Costly </a:t>
            </a:r>
            <a:r>
              <a:rPr sz="4200" spc="-110" dirty="0">
                <a:latin typeface="Trebuchet MS"/>
                <a:cs typeface="Trebuchet MS"/>
              </a:rPr>
              <a:t>Infrastructure</a:t>
            </a:r>
            <a:endParaRPr sz="4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67885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1429</Words>
  <Application>Microsoft Office PowerPoint</Application>
  <PresentationFormat>Widescreen</PresentationFormat>
  <Paragraphs>235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 MT</vt:lpstr>
      <vt:lpstr>Trebuchet MS</vt:lpstr>
      <vt:lpstr>Office Theme</vt:lpstr>
      <vt:lpstr>Computer Networks [Network Topology]</vt:lpstr>
      <vt:lpstr>What is Network Topology?</vt:lpstr>
      <vt:lpstr>Types of Network Topology</vt:lpstr>
      <vt:lpstr>PowerPoint Presentation</vt:lpstr>
      <vt:lpstr>Bus Topology</vt:lpstr>
      <vt:lpstr>Bus Topology</vt:lpstr>
      <vt:lpstr>Bus Topology</vt:lpstr>
      <vt:lpstr>CSMA</vt:lpstr>
      <vt:lpstr>CSMA</vt:lpstr>
      <vt:lpstr>Advantages of Bus Topology</vt:lpstr>
      <vt:lpstr>Disadvantages of Bus Topology</vt:lpstr>
      <vt:lpstr>Ring Topology</vt:lpstr>
      <vt:lpstr>Ring Topology</vt:lpstr>
      <vt:lpstr>Working of Token Passing</vt:lpstr>
      <vt:lpstr>Advantages of Ring Topology</vt:lpstr>
      <vt:lpstr>Disadvantages of Ring Topology</vt:lpstr>
      <vt:lpstr>Star Topology</vt:lpstr>
      <vt:lpstr>Star Topology</vt:lpstr>
      <vt:lpstr>Advantages of Star Topology</vt:lpstr>
      <vt:lpstr>Disadvantages of Star Topology</vt:lpstr>
      <vt:lpstr>Tree Topology</vt:lpstr>
      <vt:lpstr>Tree Topology</vt:lpstr>
      <vt:lpstr>Advantages of Tree Topology</vt:lpstr>
      <vt:lpstr>Disadvantages of Tree Topology</vt:lpstr>
      <vt:lpstr>Mesh Topology</vt:lpstr>
      <vt:lpstr>Mesh Topology</vt:lpstr>
      <vt:lpstr>Categories of Mesh Topology</vt:lpstr>
      <vt:lpstr>Advantages of Mesh Topology</vt:lpstr>
      <vt:lpstr>Disadvantages of Mesh Topology</vt:lpstr>
      <vt:lpstr>Hybrid Topology</vt:lpstr>
      <vt:lpstr>Hybrid Topology</vt:lpstr>
      <vt:lpstr>Advantages of Hybrid Topology</vt:lpstr>
      <vt:lpstr>Disadvantages of Hybrid Topology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Networks [Network Topology]</dc:title>
  <dc:creator>Muhammad Hammad Waseem</dc:creator>
  <cp:lastModifiedBy>Windows User</cp:lastModifiedBy>
  <cp:revision>1</cp:revision>
  <dcterms:created xsi:type="dcterms:W3CDTF">2025-06-30T07:09:04Z</dcterms:created>
  <dcterms:modified xsi:type="dcterms:W3CDTF">2025-06-30T07:15:55Z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2024-12-10T00:00:00Z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2025-06-30T00:00:00Z</vt:filetime>
  </property>
  <property fmtid="{D5CDD505-2E9C-101B-9397-08002B2CF9AE}" pid="5" name="Producer">
    <vt:lpwstr>Microsoft® PowerPoint® for Microsoft 365</vt:lpwstr>
  </property>
</Properties>
</file>