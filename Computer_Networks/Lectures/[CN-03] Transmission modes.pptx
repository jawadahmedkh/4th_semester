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5155"/>
            <a:ext cx="103124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1969"/>
            <a:ext cx="10358120" cy="4065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513" y="1656079"/>
            <a:ext cx="6271260" cy="17633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5095" marR="5080" indent="-113030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Computer</a:t>
            </a:r>
            <a:r>
              <a:rPr sz="6000" spc="-290" dirty="0"/>
              <a:t> </a:t>
            </a:r>
            <a:r>
              <a:rPr sz="6000" spc="-10" dirty="0"/>
              <a:t>Networks </a:t>
            </a:r>
            <a:r>
              <a:rPr sz="6000" dirty="0"/>
              <a:t>[</a:t>
            </a:r>
            <a:r>
              <a:rPr sz="5300" i="1" dirty="0">
                <a:latin typeface="Calibri"/>
                <a:cs typeface="Calibri"/>
              </a:rPr>
              <a:t>Transmission</a:t>
            </a:r>
            <a:r>
              <a:rPr sz="5300" i="1" spc="-295" dirty="0">
                <a:latin typeface="Calibri"/>
                <a:cs typeface="Calibri"/>
              </a:rPr>
              <a:t> </a:t>
            </a:r>
            <a:r>
              <a:rPr sz="5300" i="1" spc="-10" dirty="0">
                <a:latin typeface="Calibri"/>
                <a:cs typeface="Calibri"/>
              </a:rPr>
              <a:t>Modes</a:t>
            </a:r>
            <a:r>
              <a:rPr sz="6000" spc="-10" dirty="0"/>
              <a:t>]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Transmission</a:t>
            </a:r>
            <a:r>
              <a:rPr spc="-180" dirty="0"/>
              <a:t> </a:t>
            </a:r>
            <a:r>
              <a:rPr spc="-10" dirty="0"/>
              <a:t>Modes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60025" cy="41465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7620" indent="-229235" algn="just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way</a:t>
            </a:r>
            <a:r>
              <a:rPr sz="2600" spc="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which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data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transmitted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spc="65" dirty="0">
                <a:latin typeface="Calibri"/>
                <a:cs typeface="Calibri"/>
              </a:rPr>
              <a:t>one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device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110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device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185" dirty="0">
                <a:latin typeface="Calibri"/>
                <a:cs typeface="Calibri"/>
              </a:rPr>
              <a:t>as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b="1" spc="130" dirty="0">
                <a:latin typeface="Calibri"/>
                <a:cs typeface="Calibri"/>
              </a:rPr>
              <a:t>transmission</a:t>
            </a:r>
            <a:r>
              <a:rPr sz="2600" b="1" spc="-30" dirty="0">
                <a:latin typeface="Calibri"/>
                <a:cs typeface="Calibri"/>
              </a:rPr>
              <a:t> </a:t>
            </a:r>
            <a:r>
              <a:rPr sz="2600" b="1" spc="100" dirty="0">
                <a:latin typeface="Calibri"/>
                <a:cs typeface="Calibri"/>
              </a:rPr>
              <a:t>mode</a:t>
            </a:r>
            <a:r>
              <a:rPr sz="2600" spc="10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</a:t>
            </a:r>
            <a:r>
              <a:rPr sz="2600" spc="80" dirty="0">
                <a:latin typeface="Calibri"/>
                <a:cs typeface="Calibri"/>
              </a:rPr>
              <a:t>transmission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90" dirty="0">
                <a:latin typeface="Calibri"/>
                <a:cs typeface="Calibri"/>
              </a:rPr>
              <a:t>mode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120" dirty="0">
                <a:latin typeface="Calibri"/>
                <a:cs typeface="Calibri"/>
              </a:rPr>
              <a:t>also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185" dirty="0">
                <a:latin typeface="Calibri"/>
                <a:cs typeface="Calibri"/>
              </a:rPr>
              <a:t>as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b="1" i="1" spc="140" dirty="0">
                <a:latin typeface="Calibri"/>
                <a:cs typeface="Calibri"/>
              </a:rPr>
              <a:t>communication</a:t>
            </a:r>
            <a:r>
              <a:rPr sz="2600" b="1" i="1" spc="-60" dirty="0">
                <a:latin typeface="Calibri"/>
                <a:cs typeface="Calibri"/>
              </a:rPr>
              <a:t> </a:t>
            </a:r>
            <a:r>
              <a:rPr sz="2600" b="1" i="1" spc="135" dirty="0">
                <a:latin typeface="Calibri"/>
                <a:cs typeface="Calibri"/>
              </a:rPr>
              <a:t>mode</a:t>
            </a:r>
            <a:r>
              <a:rPr sz="2600" spc="135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150" dirty="0">
                <a:latin typeface="Calibri"/>
                <a:cs typeface="Calibri"/>
              </a:rPr>
              <a:t>Each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communication</a:t>
            </a:r>
            <a:r>
              <a:rPr sz="2600" spc="320" dirty="0">
                <a:latin typeface="Calibri"/>
                <a:cs typeface="Calibri"/>
              </a:rPr>
              <a:t> </a:t>
            </a:r>
            <a:r>
              <a:rPr sz="2600" spc="100" dirty="0">
                <a:latin typeface="Calibri"/>
                <a:cs typeface="Calibri"/>
              </a:rPr>
              <a:t>channel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spc="145" dirty="0">
                <a:latin typeface="Calibri"/>
                <a:cs typeface="Calibri"/>
              </a:rPr>
              <a:t>has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spc="125" dirty="0">
                <a:latin typeface="Calibri"/>
                <a:cs typeface="Calibri"/>
              </a:rPr>
              <a:t>a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direction</a:t>
            </a:r>
            <a:r>
              <a:rPr sz="2600" spc="325" dirty="0">
                <a:latin typeface="Calibri"/>
                <a:cs typeface="Calibri"/>
              </a:rPr>
              <a:t> </a:t>
            </a:r>
            <a:r>
              <a:rPr sz="2600" spc="114" dirty="0">
                <a:latin typeface="Calibri"/>
                <a:cs typeface="Calibri"/>
              </a:rPr>
              <a:t>associated</a:t>
            </a:r>
            <a:r>
              <a:rPr sz="2600" spc="3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3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it,</a:t>
            </a:r>
            <a:r>
              <a:rPr sz="2600" spc="310" dirty="0">
                <a:latin typeface="Calibri"/>
                <a:cs typeface="Calibri"/>
              </a:rPr>
              <a:t> </a:t>
            </a:r>
            <a:r>
              <a:rPr sz="2600" spc="65" dirty="0">
                <a:latin typeface="Calibri"/>
                <a:cs typeface="Calibri"/>
              </a:rPr>
              <a:t>and </a:t>
            </a:r>
            <a:r>
              <a:rPr sz="2600" spc="90" dirty="0">
                <a:latin typeface="Calibri"/>
                <a:cs typeface="Calibri"/>
              </a:rPr>
              <a:t>transmission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spc="85" dirty="0">
                <a:latin typeface="Calibri"/>
                <a:cs typeface="Calibri"/>
              </a:rPr>
              <a:t>media</a:t>
            </a:r>
            <a:r>
              <a:rPr sz="2600" spc="2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provide</a:t>
            </a:r>
            <a:r>
              <a:rPr sz="2600" spc="2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90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direction.</a:t>
            </a:r>
            <a:r>
              <a:rPr sz="2600" spc="2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Therefore,</a:t>
            </a:r>
            <a:r>
              <a:rPr sz="2600" spc="3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spc="70" dirty="0">
                <a:latin typeface="Calibri"/>
                <a:cs typeface="Calibri"/>
              </a:rPr>
              <a:t>transmission </a:t>
            </a:r>
            <a:r>
              <a:rPr sz="2600" spc="90" dirty="0">
                <a:latin typeface="Calibri"/>
                <a:cs typeface="Calibri"/>
              </a:rPr>
              <a:t>mode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20" dirty="0">
                <a:latin typeface="Calibri"/>
                <a:cs typeface="Calibri"/>
              </a:rPr>
              <a:t>also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185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125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b="1" i="1" spc="110" dirty="0">
                <a:latin typeface="Calibri"/>
                <a:cs typeface="Calibri"/>
              </a:rPr>
              <a:t>directional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spc="125" dirty="0">
                <a:latin typeface="Calibri"/>
                <a:cs typeface="Calibri"/>
              </a:rPr>
              <a:t>mode</a:t>
            </a:r>
            <a:r>
              <a:rPr sz="2600" spc="125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transmission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90" dirty="0">
                <a:latin typeface="Calibri"/>
                <a:cs typeface="Calibri"/>
              </a:rPr>
              <a:t>mode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defined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05" dirty="0">
                <a:latin typeface="Calibri"/>
                <a:cs typeface="Calibri"/>
              </a:rPr>
              <a:t>physical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layer.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ts val="3115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Transmission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90" dirty="0">
                <a:latin typeface="Calibri"/>
                <a:cs typeface="Calibri"/>
              </a:rPr>
              <a:t>mode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divided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three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categories: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625"/>
              </a:lnSpc>
              <a:buFont typeface="Arial"/>
              <a:buChar char="•"/>
              <a:tabLst>
                <a:tab pos="698500" algn="l"/>
              </a:tabLst>
            </a:pPr>
            <a:r>
              <a:rPr sz="2200" spc="70" dirty="0">
                <a:latin typeface="Calibri"/>
                <a:cs typeface="Calibri"/>
              </a:rPr>
              <a:t>Simplex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mode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8500" algn="l"/>
              </a:tabLst>
            </a:pPr>
            <a:r>
              <a:rPr sz="2200" spc="70" dirty="0">
                <a:latin typeface="Calibri"/>
                <a:cs typeface="Calibri"/>
              </a:rPr>
              <a:t>Half-</a:t>
            </a:r>
            <a:r>
              <a:rPr sz="2200" dirty="0">
                <a:latin typeface="Calibri"/>
                <a:cs typeface="Calibri"/>
              </a:rPr>
              <a:t>duplex</a:t>
            </a:r>
            <a:r>
              <a:rPr sz="2200" spc="305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mode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2620"/>
              </a:lnSpc>
              <a:buFont typeface="Arial"/>
              <a:buChar char="•"/>
              <a:tabLst>
                <a:tab pos="698500" algn="l"/>
              </a:tabLst>
            </a:pPr>
            <a:r>
              <a:rPr sz="2200" spc="75" dirty="0">
                <a:latin typeface="Calibri"/>
                <a:cs typeface="Calibri"/>
              </a:rPr>
              <a:t>Full-</a:t>
            </a:r>
            <a:r>
              <a:rPr sz="2200" spc="55" dirty="0">
                <a:latin typeface="Calibri"/>
                <a:cs typeface="Calibri"/>
              </a:rPr>
              <a:t>duplex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40" dirty="0">
                <a:latin typeface="Calibri"/>
                <a:cs typeface="Calibri"/>
              </a:rPr>
              <a:t>mode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25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Simplex</a:t>
            </a:r>
            <a:r>
              <a:rPr spc="40" dirty="0"/>
              <a:t> </a:t>
            </a:r>
            <a:r>
              <a:rPr spc="-95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58755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  <a:tab pos="6670040" algn="l"/>
                <a:tab pos="916495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Simplex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mode,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communication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110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i="1" spc="105" dirty="0">
                <a:latin typeface="Calibri"/>
                <a:cs typeface="Calibri"/>
              </a:rPr>
              <a:t>unidirectional</a:t>
            </a:r>
            <a:r>
              <a:rPr sz="2800" spc="10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i.e.,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7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flow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one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40" dirty="0">
                <a:latin typeface="Calibri"/>
                <a:cs typeface="Calibri"/>
              </a:rPr>
              <a:t>direction.</a:t>
            </a:r>
            <a:endParaRPr sz="2800">
              <a:latin typeface="Calibri"/>
              <a:cs typeface="Calibri"/>
            </a:endParaRPr>
          </a:p>
          <a:p>
            <a:pPr marL="240029" marR="8255" indent="-22796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584200" algn="l"/>
                <a:tab pos="1727200" algn="l"/>
                <a:tab pos="2429510" algn="l"/>
                <a:tab pos="3211830" algn="l"/>
                <a:tab pos="4102100" algn="l"/>
                <a:tab pos="4734560" algn="l"/>
                <a:tab pos="5556250" algn="l"/>
                <a:tab pos="6205220" algn="l"/>
                <a:tab pos="7415530" algn="l"/>
                <a:tab pos="8654415" algn="l"/>
                <a:tab pos="8988425" algn="l"/>
                <a:tab pos="9439275" algn="l"/>
                <a:tab pos="9773285" algn="l"/>
              </a:tabLst>
            </a:pP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75" dirty="0">
                <a:latin typeface="Calibri"/>
                <a:cs typeface="Calibri"/>
              </a:rPr>
              <a:t>device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20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only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00" dirty="0">
                <a:latin typeface="Calibri"/>
                <a:cs typeface="Calibri"/>
              </a:rPr>
              <a:t>send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5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but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70" dirty="0">
                <a:latin typeface="Calibri"/>
                <a:cs typeface="Calibri"/>
              </a:rPr>
              <a:t>cannot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50" dirty="0">
                <a:latin typeface="Calibri"/>
                <a:cs typeface="Calibri"/>
              </a:rPr>
              <a:t>receive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20" dirty="0">
                <a:latin typeface="Calibri"/>
                <a:cs typeface="Calibri"/>
              </a:rPr>
              <a:t>can 	</a:t>
            </a:r>
            <a:r>
              <a:rPr sz="2800" spc="60" dirty="0">
                <a:latin typeface="Calibri"/>
                <a:cs typeface="Calibri"/>
              </a:rPr>
              <a:t>receive</a:t>
            </a:r>
            <a:r>
              <a:rPr sz="2800" dirty="0">
                <a:latin typeface="Calibri"/>
                <a:cs typeface="Calibri"/>
              </a:rPr>
              <a:t> 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but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cannot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120" dirty="0">
                <a:latin typeface="Calibri"/>
                <a:cs typeface="Calibri"/>
              </a:rPr>
              <a:t>send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65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  <a:tab pos="1190625" algn="l"/>
                <a:tab pos="3509010" algn="l"/>
                <a:tab pos="4726940" algn="l"/>
                <a:tab pos="5312410" algn="l"/>
                <a:tab pos="6147435" algn="l"/>
                <a:tab pos="7104380" algn="l"/>
                <a:tab pos="8629015" algn="l"/>
                <a:tab pos="9319260" algn="l"/>
              </a:tabLst>
            </a:pPr>
            <a:r>
              <a:rPr sz="2800" spc="50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75" dirty="0">
                <a:latin typeface="Calibri"/>
                <a:cs typeface="Calibri"/>
              </a:rPr>
              <a:t>transmission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65" dirty="0">
                <a:latin typeface="Calibri"/>
                <a:cs typeface="Calibri"/>
              </a:rPr>
              <a:t>mode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10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not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55" dirty="0">
                <a:latin typeface="Calibri"/>
                <a:cs typeface="Calibri"/>
              </a:rPr>
              <a:t>popular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170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60" dirty="0">
                <a:latin typeface="Calibri"/>
                <a:cs typeface="Calibri"/>
              </a:rPr>
              <a:t>mainly 	</a:t>
            </a:r>
            <a:r>
              <a:rPr sz="2800" spc="105" dirty="0">
                <a:latin typeface="Calibri"/>
                <a:cs typeface="Calibri"/>
              </a:rPr>
              <a:t>communications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require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two-way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exchange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5024" y="5515691"/>
            <a:ext cx="6953490" cy="13225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32251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Simplex</a:t>
            </a:r>
            <a:r>
              <a:rPr spc="40" dirty="0"/>
              <a:t> </a:t>
            </a:r>
            <a:r>
              <a:rPr spc="-95" dirty="0"/>
              <a:t>Mode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40" dirty="0"/>
              <a:t> </a:t>
            </a:r>
            <a:r>
              <a:rPr b="1" i="1" spc="70" dirty="0">
                <a:latin typeface="Calibri"/>
                <a:cs typeface="Calibri"/>
              </a:rPr>
              <a:t>radio</a:t>
            </a:r>
            <a:r>
              <a:rPr b="1" i="1" spc="65" dirty="0">
                <a:latin typeface="Calibri"/>
                <a:cs typeface="Calibri"/>
              </a:rPr>
              <a:t> </a:t>
            </a:r>
            <a:r>
              <a:rPr b="1" i="1" spc="85" dirty="0">
                <a:latin typeface="Calibri"/>
                <a:cs typeface="Calibri"/>
              </a:rPr>
              <a:t>station</a:t>
            </a:r>
            <a:r>
              <a:rPr b="1" i="1" spc="40" dirty="0">
                <a:latin typeface="Calibri"/>
                <a:cs typeface="Calibri"/>
              </a:rPr>
              <a:t> </a:t>
            </a:r>
            <a:r>
              <a:rPr spc="135" dirty="0"/>
              <a:t>is</a:t>
            </a:r>
            <a:r>
              <a:rPr spc="45" dirty="0"/>
              <a:t> </a:t>
            </a:r>
            <a:r>
              <a:rPr spc="145" dirty="0"/>
              <a:t>a</a:t>
            </a:r>
            <a:r>
              <a:rPr spc="40" dirty="0"/>
              <a:t> </a:t>
            </a:r>
            <a:r>
              <a:rPr spc="90" dirty="0"/>
              <a:t>simplex</a:t>
            </a:r>
            <a:r>
              <a:rPr spc="50" dirty="0"/>
              <a:t> </a:t>
            </a:r>
            <a:r>
              <a:rPr spc="95" dirty="0"/>
              <a:t>channel</a:t>
            </a:r>
            <a:r>
              <a:rPr spc="35" dirty="0"/>
              <a:t> </a:t>
            </a:r>
            <a:r>
              <a:rPr spc="200" dirty="0"/>
              <a:t>as</a:t>
            </a:r>
            <a:r>
              <a:rPr spc="35" dirty="0"/>
              <a:t> </a:t>
            </a:r>
            <a:r>
              <a:rPr dirty="0"/>
              <a:t>it</a:t>
            </a:r>
            <a:r>
              <a:rPr spc="25" dirty="0"/>
              <a:t> </a:t>
            </a:r>
            <a:r>
              <a:rPr spc="75" dirty="0"/>
              <a:t>transmits</a:t>
            </a:r>
            <a:r>
              <a:rPr spc="20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spc="90" dirty="0"/>
              <a:t>signal</a:t>
            </a:r>
            <a:r>
              <a:rPr spc="40" dirty="0"/>
              <a:t> </a:t>
            </a:r>
            <a:r>
              <a:rPr spc="-25" dirty="0"/>
              <a:t>to 	</a:t>
            </a:r>
            <a:r>
              <a:rPr dirty="0"/>
              <a:t>the</a:t>
            </a:r>
            <a:r>
              <a:rPr spc="20" dirty="0"/>
              <a:t> </a:t>
            </a:r>
            <a:r>
              <a:rPr spc="75" dirty="0"/>
              <a:t>listeners</a:t>
            </a:r>
            <a:r>
              <a:rPr spc="15" dirty="0"/>
              <a:t> </a:t>
            </a:r>
            <a:r>
              <a:rPr dirty="0"/>
              <a:t>but</a:t>
            </a:r>
            <a:r>
              <a:rPr spc="35" dirty="0"/>
              <a:t> </a:t>
            </a:r>
            <a:r>
              <a:rPr dirty="0"/>
              <a:t>never</a:t>
            </a:r>
            <a:r>
              <a:rPr spc="30" dirty="0"/>
              <a:t> </a:t>
            </a:r>
            <a:r>
              <a:rPr spc="95" dirty="0"/>
              <a:t>allows</a:t>
            </a:r>
            <a:r>
              <a:rPr dirty="0"/>
              <a:t> </a:t>
            </a:r>
            <a:r>
              <a:rPr spc="55" dirty="0"/>
              <a:t>them</a:t>
            </a:r>
            <a:r>
              <a:rPr spc="30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transmit</a:t>
            </a:r>
            <a:r>
              <a:rPr spc="35" dirty="0"/>
              <a:t> </a:t>
            </a:r>
            <a:r>
              <a:rPr spc="110" dirty="0"/>
              <a:t>back.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b="1" i="1" spc="100" dirty="0">
                <a:latin typeface="Calibri"/>
                <a:cs typeface="Calibri"/>
              </a:rPr>
              <a:t>Keyboard</a:t>
            </a:r>
            <a:r>
              <a:rPr b="1" i="1" spc="10" dirty="0">
                <a:latin typeface="Calibri"/>
                <a:cs typeface="Calibri"/>
              </a:rPr>
              <a:t> </a:t>
            </a:r>
            <a:r>
              <a:rPr b="1" i="1" spc="114" dirty="0">
                <a:latin typeface="Calibri"/>
                <a:cs typeface="Calibri"/>
              </a:rPr>
              <a:t>and</a:t>
            </a:r>
            <a:r>
              <a:rPr b="1" i="1" spc="3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Monitor</a:t>
            </a:r>
            <a:r>
              <a:rPr b="1" i="1" spc="-10" dirty="0">
                <a:latin typeface="Calibri"/>
                <a:cs typeface="Calibri"/>
              </a:rPr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100" dirty="0"/>
              <a:t>examples</a:t>
            </a:r>
            <a:r>
              <a:rPr spc="1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90" dirty="0"/>
              <a:t>simplex</a:t>
            </a:r>
            <a:r>
              <a:rPr spc="15" dirty="0"/>
              <a:t> </a:t>
            </a:r>
            <a:r>
              <a:rPr spc="85" dirty="0"/>
              <a:t>mode</a:t>
            </a:r>
            <a:r>
              <a:rPr spc="15" dirty="0"/>
              <a:t> </a:t>
            </a:r>
            <a:r>
              <a:rPr spc="195" dirty="0"/>
              <a:t>as</a:t>
            </a:r>
            <a:r>
              <a:rPr spc="15" dirty="0"/>
              <a:t> </a:t>
            </a:r>
            <a:r>
              <a:rPr spc="95" dirty="0"/>
              <a:t>a 	</a:t>
            </a:r>
            <a:r>
              <a:rPr dirty="0"/>
              <a:t>keyboard</a:t>
            </a:r>
            <a:r>
              <a:rPr spc="185" dirty="0"/>
              <a:t> </a:t>
            </a:r>
            <a:r>
              <a:rPr spc="145" dirty="0"/>
              <a:t>can</a:t>
            </a:r>
            <a:r>
              <a:rPr spc="165" dirty="0"/>
              <a:t> </a:t>
            </a:r>
            <a:r>
              <a:rPr dirty="0"/>
              <a:t>only</a:t>
            </a:r>
            <a:r>
              <a:rPr spc="170" dirty="0"/>
              <a:t> </a:t>
            </a:r>
            <a:r>
              <a:rPr spc="130" dirty="0"/>
              <a:t>accept</a:t>
            </a:r>
            <a:r>
              <a:rPr spc="170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spc="70" dirty="0"/>
              <a:t>data</a:t>
            </a:r>
            <a:r>
              <a:rPr spc="165" dirty="0"/>
              <a:t> </a:t>
            </a:r>
            <a:r>
              <a:rPr dirty="0"/>
              <a:t>from</a:t>
            </a:r>
            <a:r>
              <a:rPr spc="155" dirty="0"/>
              <a:t> </a:t>
            </a:r>
            <a:r>
              <a:rPr dirty="0"/>
              <a:t>the</a:t>
            </a:r>
            <a:r>
              <a:rPr spc="160" dirty="0"/>
              <a:t> </a:t>
            </a:r>
            <a:r>
              <a:rPr spc="85" dirty="0"/>
              <a:t>user</a:t>
            </a:r>
            <a:r>
              <a:rPr spc="160" dirty="0"/>
              <a:t> </a:t>
            </a:r>
            <a:r>
              <a:rPr spc="100" dirty="0"/>
              <a:t>and</a:t>
            </a:r>
            <a:r>
              <a:rPr spc="165" dirty="0"/>
              <a:t> </a:t>
            </a:r>
            <a:r>
              <a:rPr dirty="0"/>
              <a:t>monitor</a:t>
            </a:r>
            <a:r>
              <a:rPr spc="165" dirty="0"/>
              <a:t> </a:t>
            </a:r>
            <a:r>
              <a:rPr spc="120" dirty="0"/>
              <a:t>can 	</a:t>
            </a:r>
            <a:r>
              <a:rPr dirty="0"/>
              <a:t>only</a:t>
            </a:r>
            <a:r>
              <a:rPr spc="-10" dirty="0"/>
              <a:t> </a:t>
            </a:r>
            <a:r>
              <a:rPr spc="85" dirty="0"/>
              <a:t>be</a:t>
            </a:r>
            <a:r>
              <a:rPr spc="-5" dirty="0"/>
              <a:t> </a:t>
            </a:r>
            <a:r>
              <a:rPr spc="120" dirty="0"/>
              <a:t>used</a:t>
            </a:r>
            <a:r>
              <a:rPr spc="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90" dirty="0"/>
              <a:t>display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70" dirty="0"/>
              <a:t>data</a:t>
            </a:r>
            <a:r>
              <a:rPr spc="-5" dirty="0"/>
              <a:t> </a:t>
            </a:r>
            <a:r>
              <a:rPr spc="55" dirty="0"/>
              <a:t>on</a:t>
            </a:r>
            <a:r>
              <a:rPr spc="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90" dirty="0"/>
              <a:t>screen.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39156" y="4166456"/>
            <a:ext cx="4093845" cy="2655570"/>
            <a:chOff x="4139156" y="4166456"/>
            <a:chExt cx="4093845" cy="26555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56" y="4166456"/>
              <a:ext cx="4093392" cy="265517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553" y="4325238"/>
              <a:ext cx="3596894" cy="21676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Advantage/Disadvantage</a:t>
            </a:r>
            <a:r>
              <a:rPr spc="-110" dirty="0"/>
              <a:t> </a:t>
            </a:r>
            <a:r>
              <a:rPr spc="-90" dirty="0"/>
              <a:t>of</a:t>
            </a:r>
            <a:r>
              <a:rPr spc="-80" dirty="0"/>
              <a:t> </a:t>
            </a:r>
            <a:r>
              <a:rPr dirty="0"/>
              <a:t>Simplex</a:t>
            </a:r>
            <a:r>
              <a:rPr spc="-65" dirty="0"/>
              <a:t> </a:t>
            </a:r>
            <a:r>
              <a:rPr spc="-20" dirty="0"/>
              <a:t>Mode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60" y="1821179"/>
            <a:ext cx="2786645" cy="20947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076" y="4084320"/>
            <a:ext cx="2785116" cy="2094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48098" y="1757934"/>
            <a:ext cx="6221095" cy="383159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1231265">
              <a:lnSpc>
                <a:spcPct val="91600"/>
              </a:lnSpc>
              <a:spcBef>
                <a:spcPts val="370"/>
              </a:spcBef>
            </a:pPr>
            <a:r>
              <a:rPr sz="2700" dirty="0">
                <a:latin typeface="Calibri"/>
                <a:cs typeface="Calibri"/>
              </a:rPr>
              <a:t>In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90" dirty="0">
                <a:latin typeface="Calibri"/>
                <a:cs typeface="Calibri"/>
              </a:rPr>
              <a:t>simplex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75" dirty="0">
                <a:latin typeface="Calibri"/>
                <a:cs typeface="Calibri"/>
              </a:rPr>
              <a:t>mode,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55" dirty="0">
                <a:latin typeface="Calibri"/>
                <a:cs typeface="Calibri"/>
              </a:rPr>
              <a:t>station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125" dirty="0">
                <a:latin typeface="Calibri"/>
                <a:cs typeface="Calibri"/>
              </a:rPr>
              <a:t>can </a:t>
            </a:r>
            <a:r>
              <a:rPr sz="2700" spc="50" dirty="0">
                <a:latin typeface="Calibri"/>
                <a:cs typeface="Calibri"/>
              </a:rPr>
              <a:t>utilize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entire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60" dirty="0">
                <a:latin typeface="Calibri"/>
                <a:cs typeface="Calibri"/>
              </a:rPr>
              <a:t>bandwidth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spc="95" dirty="0">
                <a:latin typeface="Calibri"/>
                <a:cs typeface="Calibri"/>
              </a:rPr>
              <a:t>communication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110" dirty="0">
                <a:latin typeface="Calibri"/>
                <a:cs typeface="Calibri"/>
              </a:rPr>
              <a:t>channel,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145" dirty="0">
                <a:latin typeface="Calibri"/>
                <a:cs typeface="Calibri"/>
              </a:rPr>
              <a:t>so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that </a:t>
            </a:r>
            <a:r>
              <a:rPr sz="2700" dirty="0">
                <a:latin typeface="Calibri"/>
                <a:cs typeface="Calibri"/>
              </a:rPr>
              <a:t>more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75" dirty="0">
                <a:latin typeface="Calibri"/>
                <a:cs typeface="Calibri"/>
              </a:rPr>
              <a:t>data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150" dirty="0">
                <a:latin typeface="Calibri"/>
                <a:cs typeface="Calibri"/>
              </a:rPr>
              <a:t>can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80" dirty="0">
                <a:latin typeface="Calibri"/>
                <a:cs typeface="Calibri"/>
              </a:rPr>
              <a:t>be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55" dirty="0">
                <a:latin typeface="Calibri"/>
                <a:cs typeface="Calibri"/>
              </a:rPr>
              <a:t>transmitted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90" dirty="0">
                <a:latin typeface="Calibri"/>
                <a:cs typeface="Calibri"/>
              </a:rPr>
              <a:t>a </a:t>
            </a:r>
            <a:r>
              <a:rPr sz="2700" spc="-10" dirty="0">
                <a:latin typeface="Calibri"/>
                <a:cs typeface="Calibri"/>
              </a:rPr>
              <a:t>time.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0"/>
              </a:spcBef>
            </a:pPr>
            <a:endParaRPr sz="2700">
              <a:latin typeface="Calibri"/>
              <a:cs typeface="Calibri"/>
            </a:endParaRPr>
          </a:p>
          <a:p>
            <a:pPr marL="847725" marR="5080">
              <a:lnSpc>
                <a:spcPct val="91700"/>
              </a:lnSpc>
            </a:pPr>
            <a:r>
              <a:rPr sz="2700" spc="110" dirty="0">
                <a:latin typeface="Calibri"/>
                <a:cs typeface="Calibri"/>
              </a:rPr>
              <a:t>Communication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130" dirty="0">
                <a:latin typeface="Calibri"/>
                <a:cs typeface="Calibri"/>
              </a:rPr>
              <a:t>is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60" dirty="0">
                <a:latin typeface="Calibri"/>
                <a:cs typeface="Calibri"/>
              </a:rPr>
              <a:t>unidirectional,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135" dirty="0">
                <a:latin typeface="Calibri"/>
                <a:cs typeface="Calibri"/>
              </a:rPr>
              <a:t>so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150" dirty="0">
                <a:latin typeface="Calibri"/>
                <a:cs typeface="Calibri"/>
              </a:rPr>
              <a:t>has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55" dirty="0">
                <a:latin typeface="Calibri"/>
                <a:cs typeface="Calibri"/>
              </a:rPr>
              <a:t>no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inter-</a:t>
            </a:r>
            <a:r>
              <a:rPr sz="2700" spc="85" dirty="0">
                <a:latin typeface="Calibri"/>
                <a:cs typeface="Calibri"/>
              </a:rPr>
              <a:t>communication </a:t>
            </a:r>
            <a:r>
              <a:rPr sz="2700" spc="50" dirty="0">
                <a:latin typeface="Calibri"/>
                <a:cs typeface="Calibri"/>
              </a:rPr>
              <a:t>between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90" dirty="0">
                <a:latin typeface="Calibri"/>
                <a:cs typeface="Calibri"/>
              </a:rPr>
              <a:t>devices.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1313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/>
              <a:t>Half-</a:t>
            </a:r>
            <a:r>
              <a:rPr dirty="0"/>
              <a:t>Duplex</a:t>
            </a:r>
            <a:r>
              <a:rPr spc="-125" dirty="0"/>
              <a:t> </a:t>
            </a:r>
            <a:r>
              <a:rPr spc="-90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1969"/>
            <a:ext cx="10360660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145" dirty="0">
                <a:latin typeface="Calibri"/>
                <a:cs typeface="Calibri"/>
              </a:rPr>
              <a:t>  a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spc="95" dirty="0">
                <a:latin typeface="Calibri"/>
                <a:cs typeface="Calibri"/>
              </a:rPr>
              <a:t>Half-</a:t>
            </a:r>
            <a:r>
              <a:rPr sz="2800" spc="65" dirty="0">
                <a:latin typeface="Calibri"/>
                <a:cs typeface="Calibri"/>
              </a:rPr>
              <a:t>duplex</a:t>
            </a:r>
            <a:r>
              <a:rPr sz="2800" spc="165" dirty="0">
                <a:latin typeface="Calibri"/>
                <a:cs typeface="Calibri"/>
              </a:rPr>
              <a:t>  </a:t>
            </a:r>
            <a:r>
              <a:rPr sz="2800" spc="105" dirty="0">
                <a:latin typeface="Calibri"/>
                <a:cs typeface="Calibri"/>
              </a:rPr>
              <a:t>channel,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direction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spc="155" dirty="0">
                <a:latin typeface="Calibri"/>
                <a:cs typeface="Calibri"/>
              </a:rPr>
              <a:t>can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spc="85" dirty="0">
                <a:latin typeface="Calibri"/>
                <a:cs typeface="Calibri"/>
              </a:rPr>
              <a:t>be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spc="50" dirty="0">
                <a:latin typeface="Calibri"/>
                <a:cs typeface="Calibri"/>
              </a:rPr>
              <a:t>reversed,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i.e.,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50" dirty="0">
                <a:latin typeface="Calibri"/>
                <a:cs typeface="Calibri"/>
              </a:rPr>
              <a:t>station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transmit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receive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70" dirty="0">
                <a:latin typeface="Calibri"/>
                <a:cs typeface="Calibri"/>
              </a:rPr>
              <a:t>data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195" dirty="0">
                <a:latin typeface="Calibri"/>
                <a:cs typeface="Calibri"/>
              </a:rPr>
              <a:t>as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well.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665" algn="l"/>
              </a:tabLst>
            </a:pPr>
            <a:r>
              <a:rPr sz="2800" spc="95" dirty="0">
                <a:latin typeface="Calibri"/>
                <a:cs typeface="Calibri"/>
              </a:rPr>
              <a:t>Messages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flow in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both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70" dirty="0">
                <a:latin typeface="Calibri"/>
                <a:cs typeface="Calibri"/>
              </a:rPr>
              <a:t>directions,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150" dirty="0">
                <a:latin typeface="Calibri"/>
                <a:cs typeface="Calibri"/>
              </a:rPr>
              <a:t>same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bandwidth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communication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105" dirty="0">
                <a:latin typeface="Calibri"/>
                <a:cs typeface="Calibri"/>
              </a:rPr>
              <a:t>channel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utilized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spc="70" dirty="0">
                <a:latin typeface="Calibri"/>
                <a:cs typeface="Calibri"/>
              </a:rPr>
              <a:t>one </a:t>
            </a:r>
            <a:r>
              <a:rPr sz="2800" dirty="0">
                <a:latin typeface="Calibri"/>
                <a:cs typeface="Calibri"/>
              </a:rPr>
              <a:t>direction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half-</a:t>
            </a:r>
            <a:r>
              <a:rPr sz="2800" spc="65" dirty="0">
                <a:latin typeface="Calibri"/>
                <a:cs typeface="Calibri"/>
              </a:rPr>
              <a:t>duplex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mode,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110" dirty="0">
                <a:latin typeface="Calibri"/>
                <a:cs typeface="Calibri"/>
              </a:rPr>
              <a:t>possible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detection, 	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any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occurs,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receiver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requests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sender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retransmit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2547" y="5036946"/>
            <a:ext cx="6446609" cy="18210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1313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0" dirty="0"/>
              <a:t>Half-</a:t>
            </a:r>
            <a:r>
              <a:rPr dirty="0"/>
              <a:t>Duplex</a:t>
            </a:r>
            <a:r>
              <a:rPr spc="-125" dirty="0"/>
              <a:t> </a:t>
            </a:r>
            <a:r>
              <a:rPr spc="-90"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7"/>
            <a:ext cx="10357485" cy="2326640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spc="85" dirty="0">
                <a:latin typeface="Calibri"/>
                <a:cs typeface="Calibri"/>
              </a:rPr>
              <a:t>Walkie-</a:t>
            </a:r>
            <a:r>
              <a:rPr sz="2800" b="1" spc="105" dirty="0">
                <a:latin typeface="Calibri"/>
                <a:cs typeface="Calibri"/>
              </a:rPr>
              <a:t>talkie</a:t>
            </a:r>
            <a:r>
              <a:rPr sz="2800" b="1" spc="45" dirty="0">
                <a:latin typeface="Calibri"/>
                <a:cs typeface="Calibri"/>
              </a:rPr>
              <a:t> </a:t>
            </a:r>
            <a:r>
              <a:rPr sz="2800" spc="135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75" dirty="0">
                <a:latin typeface="Calibri"/>
                <a:cs typeface="Calibri"/>
              </a:rPr>
              <a:t>example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95" dirty="0">
                <a:latin typeface="Calibri"/>
                <a:cs typeface="Calibri"/>
              </a:rPr>
              <a:t>Half-</a:t>
            </a:r>
            <a:r>
              <a:rPr sz="2800" spc="65" dirty="0">
                <a:latin typeface="Calibri"/>
                <a:cs typeface="Calibri"/>
              </a:rPr>
              <a:t>duplex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mode.</a:t>
            </a:r>
            <a:endParaRPr sz="2800">
              <a:latin typeface="Calibri"/>
              <a:cs typeface="Calibri"/>
            </a:endParaRPr>
          </a:p>
          <a:p>
            <a:pPr marL="239395" marR="6985" indent="-227329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50" dirty="0">
                <a:latin typeface="Calibri"/>
                <a:cs typeface="Calibri"/>
              </a:rPr>
              <a:t>Walkie-talkie,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60" dirty="0">
                <a:latin typeface="Calibri"/>
                <a:cs typeface="Calibri"/>
              </a:rPr>
              <a:t>one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party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130" dirty="0">
                <a:latin typeface="Calibri"/>
                <a:cs typeface="Calibri"/>
              </a:rPr>
              <a:t>speaks,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party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90" dirty="0">
                <a:latin typeface="Calibri"/>
                <a:cs typeface="Calibri"/>
              </a:rPr>
              <a:t>listens.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After 	</a:t>
            </a:r>
            <a:r>
              <a:rPr sz="2800" spc="145" dirty="0">
                <a:latin typeface="Calibri"/>
                <a:cs typeface="Calibri"/>
              </a:rPr>
              <a:t>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pause,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other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145" dirty="0">
                <a:latin typeface="Calibri"/>
                <a:cs typeface="Calibri"/>
              </a:rPr>
              <a:t>speaks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100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80" dirty="0">
                <a:latin typeface="Calibri"/>
                <a:cs typeface="Calibri"/>
              </a:rPr>
              <a:t>listens.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  <a:tab pos="1798955" algn="l"/>
                <a:tab pos="4307840" algn="l"/>
                <a:tab pos="4987290" algn="l"/>
                <a:tab pos="6116955" algn="l"/>
                <a:tab pos="6769100" algn="l"/>
                <a:tab pos="8307070" algn="l"/>
                <a:tab pos="9425940" algn="l"/>
              </a:tabLst>
            </a:pPr>
            <a:r>
              <a:rPr sz="2800" spc="85" dirty="0">
                <a:latin typeface="Calibri"/>
                <a:cs typeface="Calibri"/>
              </a:rPr>
              <a:t>Speaking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80" dirty="0">
                <a:latin typeface="Calibri"/>
                <a:cs typeface="Calibri"/>
              </a:rPr>
              <a:t>simultaneously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30" dirty="0">
                <a:latin typeface="Calibri"/>
                <a:cs typeface="Calibri"/>
              </a:rPr>
              <a:t>will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55" dirty="0">
                <a:latin typeface="Calibri"/>
                <a:cs typeface="Calibri"/>
              </a:rPr>
              <a:t>create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distorted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85" dirty="0">
                <a:latin typeface="Calibri"/>
                <a:cs typeface="Calibri"/>
              </a:rPr>
              <a:t>sound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65" dirty="0">
                <a:latin typeface="Calibri"/>
                <a:cs typeface="Calibri"/>
              </a:rPr>
              <a:t>which 	</a:t>
            </a:r>
            <a:r>
              <a:rPr sz="2800" spc="80" dirty="0">
                <a:latin typeface="Calibri"/>
                <a:cs typeface="Calibri"/>
              </a:rPr>
              <a:t>cannot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85" dirty="0">
                <a:latin typeface="Calibri"/>
                <a:cs typeface="Calibri"/>
              </a:rPr>
              <a:t>be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55" dirty="0">
                <a:latin typeface="Calibri"/>
                <a:cs typeface="Calibri"/>
              </a:rPr>
              <a:t>understood.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56303" y="3944142"/>
            <a:ext cx="4457700" cy="2914015"/>
            <a:chOff x="3956303" y="3944142"/>
            <a:chExt cx="4457700" cy="2914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56303" y="3944142"/>
              <a:ext cx="4457700" cy="291385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2264" y="4140200"/>
              <a:ext cx="3887596" cy="2352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3402"/>
            <a:ext cx="902144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pc="-50" dirty="0"/>
              <a:t>Advantage/Disadvantage</a:t>
            </a:r>
            <a:r>
              <a:rPr spc="-40" dirty="0"/>
              <a:t> </a:t>
            </a:r>
            <a:r>
              <a:rPr spc="-90" dirty="0"/>
              <a:t>of</a:t>
            </a:r>
            <a:r>
              <a:rPr spc="-10" dirty="0"/>
              <a:t> </a:t>
            </a:r>
            <a:r>
              <a:rPr dirty="0"/>
              <a:t>Half-</a:t>
            </a:r>
            <a:r>
              <a:rPr spc="-10" dirty="0"/>
              <a:t>Duplex </a:t>
            </a:r>
            <a:r>
              <a:rPr spc="-20" dirty="0"/>
              <a:t>Mode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60" y="1821179"/>
            <a:ext cx="2786645" cy="20947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076" y="4084320"/>
            <a:ext cx="2785116" cy="2094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40733" y="1799336"/>
            <a:ext cx="6231255" cy="39554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694690">
              <a:lnSpc>
                <a:spcPts val="2860"/>
              </a:lnSpc>
              <a:spcBef>
                <a:spcPts val="415"/>
              </a:spcBef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half-</a:t>
            </a:r>
            <a:r>
              <a:rPr sz="2600" spc="65" dirty="0">
                <a:latin typeface="Calibri"/>
                <a:cs typeface="Calibri"/>
              </a:rPr>
              <a:t>duplex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70" dirty="0">
                <a:latin typeface="Calibri"/>
                <a:cs typeface="Calibri"/>
              </a:rPr>
              <a:t>mode,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both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100" dirty="0">
                <a:latin typeface="Calibri"/>
                <a:cs typeface="Calibri"/>
              </a:rPr>
              <a:t>devices </a:t>
            </a:r>
            <a:r>
              <a:rPr sz="2600" spc="14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114" dirty="0">
                <a:latin typeface="Calibri"/>
                <a:cs typeface="Calibri"/>
              </a:rPr>
              <a:t>send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9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50" dirty="0">
                <a:latin typeface="Calibri"/>
                <a:cs typeface="Calibri"/>
              </a:rPr>
              <a:t>receive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90" dirty="0">
                <a:latin typeface="Calibri"/>
                <a:cs typeface="Calibri"/>
              </a:rPr>
              <a:t>and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100" dirty="0">
                <a:latin typeface="Calibri"/>
                <a:cs typeface="Calibri"/>
              </a:rPr>
              <a:t>also </a:t>
            </a:r>
            <a:r>
              <a:rPr sz="2600" spc="140" dirty="0">
                <a:latin typeface="Calibri"/>
                <a:cs typeface="Calibri"/>
              </a:rPr>
              <a:t>can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utilize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entire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bandwidth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spc="90" dirty="0">
                <a:latin typeface="Calibri"/>
                <a:cs typeface="Calibri"/>
              </a:rPr>
              <a:t>communication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100" dirty="0">
                <a:latin typeface="Calibri"/>
                <a:cs typeface="Calibri"/>
              </a:rPr>
              <a:t>channel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during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spc="85" dirty="0">
                <a:latin typeface="Calibri"/>
                <a:cs typeface="Calibri"/>
              </a:rPr>
              <a:t>transmission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600">
              <a:latin typeface="Calibri"/>
              <a:cs typeface="Calibri"/>
            </a:endParaRPr>
          </a:p>
          <a:p>
            <a:pPr marL="848360" marR="5080">
              <a:lnSpc>
                <a:spcPts val="2860"/>
              </a:lnSpc>
            </a:pP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half-</a:t>
            </a:r>
            <a:r>
              <a:rPr sz="2600" spc="65" dirty="0">
                <a:latin typeface="Calibri"/>
                <a:cs typeface="Calibri"/>
              </a:rPr>
              <a:t>duplex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70" dirty="0">
                <a:latin typeface="Calibri"/>
                <a:cs typeface="Calibri"/>
              </a:rPr>
              <a:t>mode,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55" dirty="0">
                <a:latin typeface="Calibri"/>
                <a:cs typeface="Calibri"/>
              </a:rPr>
              <a:t>when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65" dirty="0">
                <a:latin typeface="Calibri"/>
                <a:cs typeface="Calibri"/>
              </a:rPr>
              <a:t>one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80" dirty="0">
                <a:latin typeface="Calibri"/>
                <a:cs typeface="Calibri"/>
              </a:rPr>
              <a:t>device </a:t>
            </a:r>
            <a:r>
              <a:rPr sz="2600" spc="135" dirty="0">
                <a:latin typeface="Calibri"/>
                <a:cs typeface="Calibri"/>
              </a:rPr>
              <a:t>is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sending</a:t>
            </a:r>
            <a:r>
              <a:rPr sz="2600" dirty="0">
                <a:latin typeface="Calibri"/>
                <a:cs typeface="Calibri"/>
              </a:rPr>
              <a:t> the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spc="65" dirty="0">
                <a:latin typeface="Calibri"/>
                <a:cs typeface="Calibri"/>
              </a:rPr>
              <a:t>data,</a:t>
            </a:r>
            <a:r>
              <a:rPr sz="2600" spc="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another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120" dirty="0">
                <a:latin typeface="Calibri"/>
                <a:cs typeface="Calibri"/>
              </a:rPr>
              <a:t>has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wait,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75" dirty="0">
                <a:latin typeface="Calibri"/>
                <a:cs typeface="Calibri"/>
              </a:rPr>
              <a:t>this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170" dirty="0">
                <a:latin typeface="Calibri"/>
                <a:cs typeface="Calibri"/>
              </a:rPr>
              <a:t>causes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65" dirty="0">
                <a:latin typeface="Calibri"/>
                <a:cs typeface="Calibri"/>
              </a:rPr>
              <a:t>delay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spc="80" dirty="0">
                <a:latin typeface="Calibri"/>
                <a:cs typeface="Calibri"/>
              </a:rPr>
              <a:t>sending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60" dirty="0">
                <a:latin typeface="Calibri"/>
                <a:cs typeface="Calibri"/>
              </a:rPr>
              <a:t>data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right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036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Full-</a:t>
            </a:r>
            <a:r>
              <a:rPr dirty="0"/>
              <a:t>Duplex</a:t>
            </a:r>
            <a:r>
              <a:rPr spc="-110" dirty="0"/>
              <a:t> </a:t>
            </a:r>
            <a:r>
              <a:rPr spc="-90" dirty="0"/>
              <a:t>Mode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254" dirty="0"/>
              <a:t>  </a:t>
            </a:r>
            <a:r>
              <a:rPr spc="60" dirty="0"/>
              <a:t>full-</a:t>
            </a:r>
            <a:r>
              <a:rPr spc="65" dirty="0"/>
              <a:t>duplex</a:t>
            </a:r>
            <a:r>
              <a:rPr spc="270" dirty="0"/>
              <a:t>  </a:t>
            </a:r>
            <a:r>
              <a:rPr spc="90" dirty="0"/>
              <a:t>mode</a:t>
            </a:r>
            <a:r>
              <a:rPr spc="270" dirty="0"/>
              <a:t>  </a:t>
            </a:r>
            <a:r>
              <a:rPr spc="95" dirty="0"/>
              <a:t>(also</a:t>
            </a:r>
            <a:r>
              <a:rPr spc="265" dirty="0"/>
              <a:t>  </a:t>
            </a:r>
            <a:r>
              <a:rPr spc="120" dirty="0"/>
              <a:t>called</a:t>
            </a:r>
            <a:r>
              <a:rPr spc="270" dirty="0"/>
              <a:t>  </a:t>
            </a:r>
            <a:r>
              <a:rPr b="1" i="1" spc="105" dirty="0">
                <a:latin typeface="Calibri"/>
                <a:cs typeface="Calibri"/>
              </a:rPr>
              <a:t>duplex</a:t>
            </a:r>
            <a:r>
              <a:rPr spc="105" dirty="0"/>
              <a:t>),</a:t>
            </a:r>
            <a:r>
              <a:rPr spc="265" dirty="0"/>
              <a:t>  </a:t>
            </a:r>
            <a:r>
              <a:rPr dirty="0"/>
              <a:t>both</a:t>
            </a:r>
            <a:r>
              <a:rPr spc="260" dirty="0"/>
              <a:t>  </a:t>
            </a:r>
            <a:r>
              <a:rPr spc="80" dirty="0"/>
              <a:t>stations</a:t>
            </a:r>
            <a:r>
              <a:rPr spc="265" dirty="0"/>
              <a:t>  </a:t>
            </a:r>
            <a:r>
              <a:rPr spc="120" dirty="0"/>
              <a:t>can 	</a:t>
            </a:r>
            <a:r>
              <a:rPr dirty="0"/>
              <a:t>transmit</a:t>
            </a:r>
            <a:r>
              <a:rPr spc="55" dirty="0"/>
              <a:t> </a:t>
            </a:r>
            <a:r>
              <a:rPr spc="100" dirty="0"/>
              <a:t>and</a:t>
            </a:r>
            <a:r>
              <a:rPr spc="55" dirty="0"/>
              <a:t> </a:t>
            </a:r>
            <a:r>
              <a:rPr spc="60" dirty="0"/>
              <a:t>receive</a:t>
            </a:r>
            <a:r>
              <a:rPr spc="65" dirty="0"/>
              <a:t> </a:t>
            </a:r>
            <a:r>
              <a:rPr b="1" i="1" spc="130" dirty="0">
                <a:latin typeface="Calibri"/>
                <a:cs typeface="Calibri"/>
              </a:rPr>
              <a:t>simultaneously</a:t>
            </a:r>
            <a:r>
              <a:rPr spc="130" dirty="0"/>
              <a:t>.</a:t>
            </a: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160" dirty="0"/>
              <a:t> </a:t>
            </a:r>
            <a:r>
              <a:rPr spc="60" dirty="0"/>
              <a:t>full-</a:t>
            </a:r>
            <a:r>
              <a:rPr spc="65" dirty="0"/>
              <a:t>duplex</a:t>
            </a:r>
            <a:r>
              <a:rPr spc="165" dirty="0"/>
              <a:t> </a:t>
            </a:r>
            <a:r>
              <a:rPr spc="90" dirty="0"/>
              <a:t>mode</a:t>
            </a:r>
            <a:r>
              <a:rPr spc="165" dirty="0"/>
              <a:t> </a:t>
            </a:r>
            <a:r>
              <a:rPr spc="135" dirty="0"/>
              <a:t>is</a:t>
            </a:r>
            <a:r>
              <a:rPr spc="155" dirty="0"/>
              <a:t> </a:t>
            </a:r>
            <a:r>
              <a:rPr dirty="0"/>
              <a:t>like</a:t>
            </a:r>
            <a:r>
              <a:rPr spc="180" dirty="0"/>
              <a:t> </a:t>
            </a:r>
            <a:r>
              <a:rPr spc="145" dirty="0"/>
              <a:t>a</a:t>
            </a:r>
            <a:r>
              <a:rPr spc="160" dirty="0"/>
              <a:t> </a:t>
            </a:r>
            <a:r>
              <a:rPr dirty="0"/>
              <a:t>two-way</a:t>
            </a:r>
            <a:r>
              <a:rPr spc="155" dirty="0"/>
              <a:t> </a:t>
            </a:r>
            <a:r>
              <a:rPr dirty="0"/>
              <a:t>street</a:t>
            </a:r>
            <a:r>
              <a:rPr spc="160" dirty="0"/>
              <a:t> </a:t>
            </a:r>
            <a:r>
              <a:rPr dirty="0"/>
              <a:t>with</a:t>
            </a:r>
            <a:r>
              <a:rPr spc="155" dirty="0"/>
              <a:t> </a:t>
            </a:r>
            <a:r>
              <a:rPr dirty="0"/>
              <a:t>traffic</a:t>
            </a:r>
            <a:r>
              <a:rPr spc="155" dirty="0"/>
              <a:t> </a:t>
            </a:r>
            <a:r>
              <a:rPr dirty="0"/>
              <a:t>flowing</a:t>
            </a:r>
            <a:r>
              <a:rPr spc="160" dirty="0"/>
              <a:t> </a:t>
            </a:r>
            <a:r>
              <a:rPr spc="-25" dirty="0"/>
              <a:t>in 	</a:t>
            </a:r>
            <a:r>
              <a:rPr dirty="0"/>
              <a:t>both</a:t>
            </a:r>
            <a:r>
              <a:rPr spc="10" dirty="0"/>
              <a:t> </a:t>
            </a:r>
            <a:r>
              <a:rPr spc="75" dirty="0"/>
              <a:t>directions</a:t>
            </a:r>
            <a:r>
              <a:rPr spc="30" dirty="0"/>
              <a:t> </a:t>
            </a:r>
            <a:r>
              <a:rPr dirty="0"/>
              <a:t>at</a:t>
            </a:r>
            <a:r>
              <a:rPr spc="-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150" dirty="0"/>
              <a:t>same</a:t>
            </a:r>
            <a:r>
              <a:rPr spc="25" dirty="0"/>
              <a:t> </a:t>
            </a:r>
            <a:r>
              <a:rPr spc="-10" dirty="0"/>
              <a:t>time.</a:t>
            </a:r>
          </a:p>
          <a:p>
            <a:pPr marL="240029" marR="5080" indent="-227965" algn="just">
              <a:lnSpc>
                <a:spcPts val="303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In</a:t>
            </a:r>
            <a:r>
              <a:rPr spc="135" dirty="0"/>
              <a:t>  </a:t>
            </a:r>
            <a:r>
              <a:rPr spc="60" dirty="0"/>
              <a:t>full-</a:t>
            </a:r>
            <a:r>
              <a:rPr spc="65" dirty="0"/>
              <a:t>duplex</a:t>
            </a:r>
            <a:r>
              <a:rPr spc="145" dirty="0"/>
              <a:t>  </a:t>
            </a:r>
            <a:r>
              <a:rPr spc="75" dirty="0"/>
              <a:t>mode,</a:t>
            </a:r>
            <a:r>
              <a:rPr spc="145" dirty="0"/>
              <a:t>  </a:t>
            </a:r>
            <a:r>
              <a:rPr spc="114" dirty="0"/>
              <a:t>signals</a:t>
            </a:r>
            <a:r>
              <a:rPr spc="145" dirty="0"/>
              <a:t>  </a:t>
            </a:r>
            <a:r>
              <a:rPr dirty="0"/>
              <a:t>going</a:t>
            </a:r>
            <a:r>
              <a:rPr spc="150" dirty="0"/>
              <a:t>  </a:t>
            </a:r>
            <a:r>
              <a:rPr dirty="0"/>
              <a:t>in</a:t>
            </a:r>
            <a:r>
              <a:rPr spc="145" dirty="0"/>
              <a:t>  </a:t>
            </a:r>
            <a:r>
              <a:rPr spc="70" dirty="0"/>
              <a:t>one</a:t>
            </a:r>
            <a:r>
              <a:rPr spc="140" dirty="0"/>
              <a:t>  </a:t>
            </a:r>
            <a:r>
              <a:rPr spc="50" dirty="0"/>
              <a:t>direction</a:t>
            </a:r>
            <a:r>
              <a:rPr spc="140" dirty="0"/>
              <a:t>  </a:t>
            </a:r>
            <a:r>
              <a:rPr spc="85" dirty="0"/>
              <a:t>share</a:t>
            </a:r>
            <a:r>
              <a:rPr spc="145" dirty="0"/>
              <a:t>  </a:t>
            </a:r>
            <a:r>
              <a:rPr spc="-25" dirty="0"/>
              <a:t>the 	</a:t>
            </a:r>
            <a:r>
              <a:rPr spc="110" dirty="0"/>
              <a:t>capacity</a:t>
            </a:r>
            <a:r>
              <a:rPr spc="290" dirty="0"/>
              <a:t> </a:t>
            </a:r>
            <a:r>
              <a:rPr dirty="0"/>
              <a:t>of</a:t>
            </a:r>
            <a:r>
              <a:rPr spc="28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spc="60" dirty="0"/>
              <a:t>link</a:t>
            </a:r>
            <a:r>
              <a:rPr spc="300" dirty="0"/>
              <a:t> </a:t>
            </a:r>
            <a:r>
              <a:rPr dirty="0"/>
              <a:t>with</a:t>
            </a:r>
            <a:r>
              <a:rPr spc="285" dirty="0"/>
              <a:t> </a:t>
            </a:r>
            <a:r>
              <a:rPr spc="120" dirty="0"/>
              <a:t>signals</a:t>
            </a:r>
            <a:r>
              <a:rPr spc="300" dirty="0"/>
              <a:t> </a:t>
            </a:r>
            <a:r>
              <a:rPr dirty="0"/>
              <a:t>going</a:t>
            </a:r>
            <a:r>
              <a:rPr spc="305" dirty="0"/>
              <a:t> </a:t>
            </a:r>
            <a:r>
              <a:rPr dirty="0"/>
              <a:t>in</a:t>
            </a:r>
            <a:r>
              <a:rPr spc="290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other</a:t>
            </a:r>
            <a:r>
              <a:rPr spc="285" dirty="0"/>
              <a:t> </a:t>
            </a:r>
            <a:r>
              <a:rPr spc="55" dirty="0"/>
              <a:t>direction.</a:t>
            </a:r>
            <a:r>
              <a:rPr spc="295" dirty="0"/>
              <a:t> </a:t>
            </a:r>
            <a:r>
              <a:rPr spc="55" dirty="0"/>
              <a:t>This 	</a:t>
            </a:r>
            <a:r>
              <a:rPr spc="65" dirty="0"/>
              <a:t>sharing</a:t>
            </a:r>
            <a:r>
              <a:rPr spc="-25" dirty="0"/>
              <a:t> </a:t>
            </a:r>
            <a:r>
              <a:rPr spc="145" dirty="0"/>
              <a:t>can</a:t>
            </a:r>
            <a:r>
              <a:rPr spc="-35" dirty="0"/>
              <a:t> </a:t>
            </a:r>
            <a:r>
              <a:rPr spc="120" dirty="0"/>
              <a:t>occur</a:t>
            </a:r>
            <a:r>
              <a:rPr spc="-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65" dirty="0"/>
              <a:t>ways:</a:t>
            </a:r>
          </a:p>
          <a:p>
            <a:pPr marL="697230" marR="5080" lvl="1" indent="-227329" algn="just">
              <a:lnSpc>
                <a:spcPts val="2590"/>
              </a:lnSpc>
              <a:spcBef>
                <a:spcPts val="50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link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must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contain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spc="80" dirty="0">
                <a:latin typeface="Calibri"/>
                <a:cs typeface="Calibri"/>
              </a:rPr>
              <a:t>physically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55" dirty="0">
                <a:latin typeface="Calibri"/>
                <a:cs typeface="Calibri"/>
              </a:rPr>
              <a:t>separate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transmission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paths, 	</a:t>
            </a:r>
            <a:r>
              <a:rPr sz="2400" spc="60" dirty="0">
                <a:latin typeface="Calibri"/>
                <a:cs typeface="Calibri"/>
              </a:rPr>
              <a:t>one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sending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and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receiving;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90" dirty="0">
                <a:latin typeface="Calibri"/>
                <a:cs typeface="Calibri"/>
              </a:rPr>
              <a:t>capacity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channel 	</a:t>
            </a:r>
            <a:r>
              <a:rPr sz="2400" spc="125" dirty="0">
                <a:latin typeface="Calibri"/>
                <a:cs typeface="Calibri"/>
              </a:rPr>
              <a:t>is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spc="100" dirty="0">
                <a:latin typeface="Calibri"/>
                <a:cs typeface="Calibri"/>
              </a:rPr>
              <a:t>signals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traveling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directions.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0400" y="5816294"/>
            <a:ext cx="4441317" cy="10417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5155"/>
            <a:ext cx="4036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5" dirty="0"/>
              <a:t>Full-</a:t>
            </a:r>
            <a:r>
              <a:rPr dirty="0"/>
              <a:t>Duplex</a:t>
            </a:r>
            <a:r>
              <a:rPr spc="-110" dirty="0"/>
              <a:t> </a:t>
            </a:r>
            <a:r>
              <a:rPr spc="-90" dirty="0"/>
              <a:t>Mode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319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1118870" algn="l"/>
                <a:tab pos="2736215" algn="l"/>
                <a:tab pos="4279900" algn="l"/>
                <a:tab pos="4816475" algn="l"/>
                <a:tab pos="6691630" algn="l"/>
                <a:tab pos="9354185" algn="l"/>
                <a:tab pos="9846945" algn="l"/>
              </a:tabLst>
            </a:pPr>
            <a:r>
              <a:rPr spc="85" dirty="0"/>
              <a:t>One</a:t>
            </a:r>
            <a:r>
              <a:rPr dirty="0"/>
              <a:t>	</a:t>
            </a:r>
            <a:r>
              <a:rPr spc="114" dirty="0"/>
              <a:t>common</a:t>
            </a:r>
            <a:r>
              <a:rPr dirty="0"/>
              <a:t>	</a:t>
            </a:r>
            <a:r>
              <a:rPr spc="70" dirty="0"/>
              <a:t>example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60" dirty="0"/>
              <a:t>full-</a:t>
            </a:r>
            <a:r>
              <a:rPr spc="55" dirty="0"/>
              <a:t>duplex</a:t>
            </a:r>
            <a:r>
              <a:rPr dirty="0"/>
              <a:t>	</a:t>
            </a:r>
            <a:r>
              <a:rPr spc="80" dirty="0"/>
              <a:t>communication</a:t>
            </a:r>
            <a:r>
              <a:rPr dirty="0"/>
              <a:t>	</a:t>
            </a:r>
            <a:r>
              <a:rPr spc="110" dirty="0"/>
              <a:t>is</a:t>
            </a:r>
            <a:r>
              <a:rPr dirty="0"/>
              <a:t>	</a:t>
            </a:r>
            <a:r>
              <a:rPr spc="-25" dirty="0"/>
              <a:t>the</a:t>
            </a:r>
          </a:p>
          <a:p>
            <a:pPr marL="241300">
              <a:lnSpc>
                <a:spcPts val="3190"/>
              </a:lnSpc>
            </a:pPr>
            <a:r>
              <a:rPr b="1" i="1" spc="135" dirty="0">
                <a:latin typeface="Calibri"/>
                <a:cs typeface="Calibri"/>
              </a:rPr>
              <a:t>telephone</a:t>
            </a:r>
            <a:r>
              <a:rPr b="1" i="1" spc="-45" dirty="0">
                <a:latin typeface="Calibri"/>
                <a:cs typeface="Calibri"/>
              </a:rPr>
              <a:t> </a:t>
            </a:r>
            <a:r>
              <a:rPr b="1" i="1" spc="75" dirty="0">
                <a:latin typeface="Calibri"/>
                <a:cs typeface="Calibri"/>
              </a:rPr>
              <a:t>network</a:t>
            </a:r>
            <a:r>
              <a:rPr spc="75" dirty="0"/>
              <a:t>.</a:t>
            </a:r>
          </a:p>
          <a:p>
            <a:pPr marL="697230" marR="7620" lvl="1" indent="-227329">
              <a:lnSpc>
                <a:spcPts val="259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65" dirty="0">
                <a:latin typeface="Calibri"/>
                <a:cs typeface="Calibri"/>
              </a:rPr>
              <a:t>people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75" dirty="0">
                <a:latin typeface="Calibri"/>
                <a:cs typeface="Calibri"/>
              </a:rPr>
              <a:t>communicating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spc="114" dirty="0">
                <a:latin typeface="Calibri"/>
                <a:cs typeface="Calibri"/>
              </a:rPr>
              <a:t>a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50" dirty="0">
                <a:latin typeface="Calibri"/>
                <a:cs typeface="Calibri"/>
              </a:rPr>
              <a:t>telephone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line,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130" dirty="0">
                <a:latin typeface="Calibri"/>
                <a:cs typeface="Calibri"/>
              </a:rPr>
              <a:t>can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35" dirty="0">
                <a:latin typeface="Calibri"/>
                <a:cs typeface="Calibri"/>
              </a:rPr>
              <a:t>talk 	</a:t>
            </a:r>
            <a:r>
              <a:rPr sz="2400" spc="8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60" dirty="0">
                <a:latin typeface="Calibri"/>
                <a:cs typeface="Calibri"/>
              </a:rPr>
              <a:t>listen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130" dirty="0">
                <a:latin typeface="Calibri"/>
                <a:cs typeface="Calibri"/>
              </a:rPr>
              <a:t>same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240029" marR="6350" indent="-227965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  <a:tab pos="1012190" algn="l"/>
                <a:tab pos="2872105" algn="l"/>
                <a:tab pos="3980179" algn="l"/>
                <a:tab pos="4457065" algn="l"/>
                <a:tab pos="5435600" algn="l"/>
                <a:tab pos="6490335" algn="l"/>
                <a:tab pos="9137650" algn="l"/>
                <a:tab pos="963739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60" dirty="0"/>
              <a:t>full-</a:t>
            </a:r>
            <a:r>
              <a:rPr spc="55" dirty="0"/>
              <a:t>duplex</a:t>
            </a:r>
            <a:r>
              <a:rPr dirty="0"/>
              <a:t>	</a:t>
            </a:r>
            <a:r>
              <a:rPr spc="70" dirty="0"/>
              <a:t>mode</a:t>
            </a:r>
            <a:r>
              <a:rPr dirty="0"/>
              <a:t>	</a:t>
            </a:r>
            <a:r>
              <a:rPr spc="110" dirty="0"/>
              <a:t>is</a:t>
            </a:r>
            <a:r>
              <a:rPr dirty="0"/>
              <a:t>	</a:t>
            </a:r>
            <a:r>
              <a:rPr spc="105" dirty="0"/>
              <a:t>used</a:t>
            </a:r>
            <a:r>
              <a:rPr dirty="0"/>
              <a:t>	</a:t>
            </a:r>
            <a:r>
              <a:rPr spc="30" dirty="0"/>
              <a:t>when</a:t>
            </a:r>
            <a:r>
              <a:rPr dirty="0"/>
              <a:t>	</a:t>
            </a:r>
            <a:r>
              <a:rPr spc="85" dirty="0"/>
              <a:t>communication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20" dirty="0"/>
              <a:t>both 	</a:t>
            </a:r>
            <a:r>
              <a:rPr spc="75" dirty="0"/>
              <a:t>directions</a:t>
            </a:r>
            <a:r>
              <a:rPr spc="5" dirty="0"/>
              <a:t> </a:t>
            </a:r>
            <a:r>
              <a:rPr spc="135" dirty="0"/>
              <a:t>is</a:t>
            </a:r>
            <a:r>
              <a:rPr spc="10" dirty="0"/>
              <a:t> </a:t>
            </a:r>
            <a:r>
              <a:rPr dirty="0"/>
              <a:t>required</a:t>
            </a:r>
            <a:r>
              <a:rPr spc="20" dirty="0"/>
              <a:t> </a:t>
            </a:r>
            <a:r>
              <a:rPr spc="100" dirty="0"/>
              <a:t>all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time.</a:t>
            </a: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395" dirty="0"/>
              <a:t> </a:t>
            </a:r>
            <a:r>
              <a:rPr spc="105" dirty="0"/>
              <a:t>capacity</a:t>
            </a:r>
            <a:r>
              <a:rPr spc="375" dirty="0"/>
              <a:t> </a:t>
            </a:r>
            <a:r>
              <a:rPr dirty="0"/>
              <a:t>of</a:t>
            </a:r>
            <a:r>
              <a:rPr spc="395" dirty="0"/>
              <a:t> </a:t>
            </a:r>
            <a:r>
              <a:rPr dirty="0"/>
              <a:t>the</a:t>
            </a:r>
            <a:r>
              <a:rPr spc="385" dirty="0"/>
              <a:t> </a:t>
            </a:r>
            <a:r>
              <a:rPr spc="105" dirty="0"/>
              <a:t>channel,</a:t>
            </a:r>
            <a:r>
              <a:rPr spc="380" dirty="0"/>
              <a:t> </a:t>
            </a:r>
            <a:r>
              <a:rPr dirty="0"/>
              <a:t>however,</a:t>
            </a:r>
            <a:r>
              <a:rPr spc="370" dirty="0"/>
              <a:t> </a:t>
            </a:r>
            <a:r>
              <a:rPr spc="105" dirty="0"/>
              <a:t>must</a:t>
            </a:r>
            <a:r>
              <a:rPr spc="385" dirty="0"/>
              <a:t> </a:t>
            </a:r>
            <a:r>
              <a:rPr spc="85" dirty="0"/>
              <a:t>be</a:t>
            </a:r>
            <a:r>
              <a:rPr spc="380" dirty="0"/>
              <a:t> </a:t>
            </a:r>
            <a:r>
              <a:rPr spc="55" dirty="0"/>
              <a:t>divided</a:t>
            </a:r>
            <a:r>
              <a:rPr spc="395" dirty="0"/>
              <a:t> </a:t>
            </a:r>
            <a:r>
              <a:rPr spc="-10" dirty="0"/>
              <a:t>between 	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two</a:t>
            </a:r>
            <a:r>
              <a:rPr spc="-10" dirty="0"/>
              <a:t> </a:t>
            </a:r>
            <a:r>
              <a:rPr spc="60" dirty="0"/>
              <a:t>directions.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5684570"/>
            <a:ext cx="12192000" cy="1173480"/>
            <a:chOff x="0" y="5684570"/>
            <a:chExt cx="12192000" cy="1173480"/>
          </a:xfrm>
        </p:grpSpPr>
        <p:sp>
          <p:nvSpPr>
            <p:cNvPr id="5" name="object 5"/>
            <p:cNvSpPr/>
            <p:nvPr/>
          </p:nvSpPr>
          <p:spPr>
            <a:xfrm>
              <a:off x="0" y="5684570"/>
              <a:ext cx="12192000" cy="1173480"/>
            </a:xfrm>
            <a:custGeom>
              <a:avLst/>
              <a:gdLst/>
              <a:ahLst/>
              <a:cxnLst/>
              <a:rect l="l" t="t" r="r" b="b"/>
              <a:pathLst>
                <a:path w="12192000" h="1173479">
                  <a:moveTo>
                    <a:pt x="12192000" y="0"/>
                  </a:moveTo>
                  <a:lnTo>
                    <a:pt x="0" y="0"/>
                  </a:lnTo>
                  <a:lnTo>
                    <a:pt x="0" y="603237"/>
                  </a:lnTo>
                  <a:lnTo>
                    <a:pt x="0" y="1173429"/>
                  </a:lnTo>
                  <a:lnTo>
                    <a:pt x="12192000" y="1173429"/>
                  </a:lnTo>
                  <a:lnTo>
                    <a:pt x="12192000" y="60323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287808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28575">
              <a:solidFill>
                <a:srgbClr val="FFFFF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07092" y="6660890"/>
              <a:ext cx="122426" cy="12249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185543" y="6472949"/>
              <a:ext cx="866775" cy="276860"/>
            </a:xfrm>
            <a:custGeom>
              <a:avLst/>
              <a:gdLst/>
              <a:ahLst/>
              <a:cxnLst/>
              <a:rect l="l" t="t" r="r" b="b"/>
              <a:pathLst>
                <a:path w="866775" h="276859">
                  <a:moveTo>
                    <a:pt x="422621" y="0"/>
                  </a:moveTo>
                  <a:lnTo>
                    <a:pt x="430006" y="1931"/>
                  </a:lnTo>
                  <a:lnTo>
                    <a:pt x="436826" y="12980"/>
                  </a:lnTo>
                  <a:lnTo>
                    <a:pt x="437072" y="18905"/>
                  </a:lnTo>
                  <a:lnTo>
                    <a:pt x="435080" y="24489"/>
                  </a:lnTo>
                  <a:lnTo>
                    <a:pt x="428640" y="30442"/>
                  </a:lnTo>
                  <a:lnTo>
                    <a:pt x="375091" y="63031"/>
                  </a:lnTo>
                  <a:lnTo>
                    <a:pt x="357861" y="74870"/>
                  </a:lnTo>
                  <a:lnTo>
                    <a:pt x="377104" y="74870"/>
                  </a:lnTo>
                  <a:lnTo>
                    <a:pt x="384277" y="76318"/>
                  </a:lnTo>
                  <a:lnTo>
                    <a:pt x="390134" y="80269"/>
                  </a:lnTo>
                  <a:lnTo>
                    <a:pt x="394083" y="86129"/>
                  </a:lnTo>
                  <a:lnTo>
                    <a:pt x="395530" y="93307"/>
                  </a:lnTo>
                  <a:lnTo>
                    <a:pt x="510956" y="92678"/>
                  </a:lnTo>
                  <a:lnTo>
                    <a:pt x="517957" y="91312"/>
                  </a:lnTo>
                  <a:lnTo>
                    <a:pt x="517745" y="47568"/>
                  </a:lnTo>
                  <a:lnTo>
                    <a:pt x="524353" y="39307"/>
                  </a:lnTo>
                  <a:lnTo>
                    <a:pt x="533629" y="37431"/>
                  </a:lnTo>
                  <a:lnTo>
                    <a:pt x="541102" y="37661"/>
                  </a:lnTo>
                  <a:lnTo>
                    <a:pt x="547681" y="40635"/>
                  </a:lnTo>
                  <a:lnTo>
                    <a:pt x="552667" y="45861"/>
                  </a:lnTo>
                  <a:lnTo>
                    <a:pt x="555626" y="56025"/>
                  </a:lnTo>
                  <a:lnTo>
                    <a:pt x="555626" y="84010"/>
                  </a:lnTo>
                  <a:lnTo>
                    <a:pt x="655971" y="66384"/>
                  </a:lnTo>
                  <a:lnTo>
                    <a:pt x="706344" y="74838"/>
                  </a:lnTo>
                  <a:lnTo>
                    <a:pt x="781539" y="100721"/>
                  </a:lnTo>
                  <a:lnTo>
                    <a:pt x="821728" y="116968"/>
                  </a:lnTo>
                  <a:lnTo>
                    <a:pt x="858607" y="150145"/>
                  </a:lnTo>
                  <a:lnTo>
                    <a:pt x="860387" y="179198"/>
                  </a:lnTo>
                  <a:lnTo>
                    <a:pt x="857332" y="217606"/>
                  </a:lnTo>
                  <a:lnTo>
                    <a:pt x="866401" y="229031"/>
                  </a:lnTo>
                  <a:lnTo>
                    <a:pt x="839467" y="261814"/>
                  </a:lnTo>
                  <a:lnTo>
                    <a:pt x="792749" y="267098"/>
                  </a:lnTo>
                  <a:lnTo>
                    <a:pt x="770069" y="268370"/>
                  </a:lnTo>
                  <a:lnTo>
                    <a:pt x="772062" y="254208"/>
                  </a:lnTo>
                  <a:lnTo>
                    <a:pt x="771705" y="240007"/>
                  </a:lnTo>
                  <a:lnTo>
                    <a:pt x="743531" y="183747"/>
                  </a:lnTo>
                  <a:lnTo>
                    <a:pt x="680830" y="159660"/>
                  </a:lnTo>
                  <a:lnTo>
                    <a:pt x="646245" y="167384"/>
                  </a:lnTo>
                  <a:lnTo>
                    <a:pt x="624341" y="181260"/>
                  </a:lnTo>
                  <a:lnTo>
                    <a:pt x="607631" y="200421"/>
                  </a:lnTo>
                  <a:lnTo>
                    <a:pt x="596991" y="223514"/>
                  </a:lnTo>
                  <a:lnTo>
                    <a:pt x="593296" y="249188"/>
                  </a:lnTo>
                  <a:lnTo>
                    <a:pt x="595686" y="269708"/>
                  </a:lnTo>
                  <a:lnTo>
                    <a:pt x="597534" y="276364"/>
                  </a:lnTo>
                  <a:lnTo>
                    <a:pt x="259449" y="276364"/>
                  </a:lnTo>
                  <a:lnTo>
                    <a:pt x="254037" y="208013"/>
                  </a:lnTo>
                  <a:lnTo>
                    <a:pt x="201909" y="163513"/>
                  </a:lnTo>
                  <a:lnTo>
                    <a:pt x="166586" y="159455"/>
                  </a:lnTo>
                  <a:lnTo>
                    <a:pt x="133599" y="168932"/>
                  </a:lnTo>
                  <a:lnTo>
                    <a:pt x="106577" y="190094"/>
                  </a:lnTo>
                  <a:lnTo>
                    <a:pt x="89151" y="221093"/>
                  </a:lnTo>
                  <a:lnTo>
                    <a:pt x="84962" y="242841"/>
                  </a:lnTo>
                  <a:lnTo>
                    <a:pt x="86247" y="264955"/>
                  </a:lnTo>
                  <a:lnTo>
                    <a:pt x="0" y="264955"/>
                  </a:lnTo>
                  <a:lnTo>
                    <a:pt x="819" y="207751"/>
                  </a:lnTo>
                  <a:lnTo>
                    <a:pt x="24014" y="179759"/>
                  </a:lnTo>
                  <a:lnTo>
                    <a:pt x="50412" y="151973"/>
                  </a:lnTo>
                  <a:lnTo>
                    <a:pt x="84756" y="127291"/>
                  </a:lnTo>
                  <a:lnTo>
                    <a:pt x="138898" y="107905"/>
                  </a:lnTo>
                  <a:lnTo>
                    <a:pt x="194095" y="95842"/>
                  </a:lnTo>
                  <a:lnTo>
                    <a:pt x="254269" y="87920"/>
                  </a:lnTo>
                  <a:lnTo>
                    <a:pt x="293601" y="64452"/>
                  </a:lnTo>
                  <a:lnTo>
                    <a:pt x="333735" y="42413"/>
                  </a:lnTo>
                  <a:lnTo>
                    <a:pt x="374630" y="21822"/>
                  </a:lnTo>
                  <a:lnTo>
                    <a:pt x="42262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8551" y="6660890"/>
              <a:ext cx="122426" cy="1224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4004" y="6260823"/>
              <a:ext cx="144403" cy="1444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40022" y="6618881"/>
              <a:ext cx="219742" cy="2198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06821" y="6618881"/>
              <a:ext cx="219742" cy="2198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1450770" y="6399387"/>
              <a:ext cx="603250" cy="367665"/>
            </a:xfrm>
            <a:custGeom>
              <a:avLst/>
              <a:gdLst/>
              <a:ahLst/>
              <a:cxnLst/>
              <a:rect l="l" t="t" r="r" b="b"/>
              <a:pathLst>
                <a:path w="603250" h="367665">
                  <a:moveTo>
                    <a:pt x="602713" y="122125"/>
                  </a:moveTo>
                  <a:lnTo>
                    <a:pt x="602713" y="159815"/>
                  </a:lnTo>
                  <a:lnTo>
                    <a:pt x="461452" y="203159"/>
                  </a:lnTo>
                  <a:lnTo>
                    <a:pt x="423695" y="221298"/>
                  </a:lnTo>
                  <a:lnTo>
                    <a:pt x="393883" y="250037"/>
                  </a:lnTo>
                  <a:lnTo>
                    <a:pt x="374312" y="286903"/>
                  </a:lnTo>
                  <a:lnTo>
                    <a:pt x="367279" y="329422"/>
                  </a:lnTo>
                  <a:lnTo>
                    <a:pt x="367632" y="339154"/>
                  </a:lnTo>
                  <a:lnTo>
                    <a:pt x="368691" y="348620"/>
                  </a:lnTo>
                  <a:lnTo>
                    <a:pt x="370457" y="357911"/>
                  </a:lnTo>
                  <a:lnTo>
                    <a:pt x="372929" y="367112"/>
                  </a:lnTo>
                  <a:lnTo>
                    <a:pt x="192115" y="367112"/>
                  </a:lnTo>
                  <a:lnTo>
                    <a:pt x="194587" y="357911"/>
                  </a:lnTo>
                  <a:lnTo>
                    <a:pt x="196353" y="348620"/>
                  </a:lnTo>
                  <a:lnTo>
                    <a:pt x="197412" y="339154"/>
                  </a:lnTo>
                  <a:lnTo>
                    <a:pt x="197765" y="329422"/>
                  </a:lnTo>
                  <a:lnTo>
                    <a:pt x="191015" y="287842"/>
                  </a:lnTo>
                  <a:lnTo>
                    <a:pt x="172240" y="251644"/>
                  </a:lnTo>
                  <a:lnTo>
                    <a:pt x="143656" y="223045"/>
                  </a:lnTo>
                  <a:lnTo>
                    <a:pt x="107479" y="204260"/>
                  </a:lnTo>
                  <a:lnTo>
                    <a:pt x="65921" y="197506"/>
                  </a:lnTo>
                  <a:lnTo>
                    <a:pt x="10933" y="197506"/>
                  </a:lnTo>
                  <a:lnTo>
                    <a:pt x="9535" y="194650"/>
                  </a:lnTo>
                  <a:lnTo>
                    <a:pt x="4473" y="180545"/>
                  </a:lnTo>
                  <a:lnTo>
                    <a:pt x="4053" y="178661"/>
                  </a:lnTo>
                  <a:lnTo>
                    <a:pt x="235435" y="178661"/>
                  </a:lnTo>
                  <a:lnTo>
                    <a:pt x="235435" y="167353"/>
                  </a:lnTo>
                  <a:lnTo>
                    <a:pt x="242969" y="158873"/>
                  </a:lnTo>
                  <a:lnTo>
                    <a:pt x="299473" y="153220"/>
                  </a:lnTo>
                  <a:lnTo>
                    <a:pt x="293462" y="142855"/>
                  </a:lnTo>
                  <a:lnTo>
                    <a:pt x="402123" y="142855"/>
                  </a:lnTo>
                  <a:lnTo>
                    <a:pt x="602713" y="122125"/>
                  </a:lnTo>
                  <a:close/>
                </a:path>
                <a:path w="603250" h="367665">
                  <a:moveTo>
                    <a:pt x="10933" y="197506"/>
                  </a:moveTo>
                  <a:lnTo>
                    <a:pt x="65921" y="197506"/>
                  </a:lnTo>
                  <a:lnTo>
                    <a:pt x="52693" y="198198"/>
                  </a:lnTo>
                  <a:lnTo>
                    <a:pt x="39906" y="200215"/>
                  </a:lnTo>
                  <a:lnTo>
                    <a:pt x="27648" y="203468"/>
                  </a:lnTo>
                  <a:lnTo>
                    <a:pt x="16009" y="207871"/>
                  </a:lnTo>
                  <a:lnTo>
                    <a:pt x="10933" y="197506"/>
                  </a:lnTo>
                  <a:close/>
                </a:path>
                <a:path w="603250" h="367665">
                  <a:moveTo>
                    <a:pt x="28901" y="76897"/>
                  </a:moveTo>
                  <a:lnTo>
                    <a:pt x="255211" y="76897"/>
                  </a:lnTo>
                  <a:lnTo>
                    <a:pt x="154445" y="131548"/>
                  </a:lnTo>
                  <a:lnTo>
                    <a:pt x="155387" y="132490"/>
                  </a:lnTo>
                  <a:lnTo>
                    <a:pt x="155387" y="133432"/>
                  </a:lnTo>
                  <a:lnTo>
                    <a:pt x="156328" y="134374"/>
                  </a:lnTo>
                  <a:lnTo>
                    <a:pt x="235435" y="178661"/>
                  </a:lnTo>
                  <a:lnTo>
                    <a:pt x="4053" y="178661"/>
                  </a:lnTo>
                  <a:lnTo>
                    <a:pt x="1177" y="165734"/>
                  </a:lnTo>
                  <a:lnTo>
                    <a:pt x="0" y="150393"/>
                  </a:lnTo>
                  <a:lnTo>
                    <a:pt x="8917" y="106489"/>
                  </a:lnTo>
                  <a:lnTo>
                    <a:pt x="28901" y="76897"/>
                  </a:lnTo>
                  <a:close/>
                </a:path>
                <a:path w="603250" h="367665">
                  <a:moveTo>
                    <a:pt x="291527" y="0"/>
                  </a:moveTo>
                  <a:lnTo>
                    <a:pt x="333375" y="23188"/>
                  </a:lnTo>
                  <a:lnTo>
                    <a:pt x="399297" y="136259"/>
                  </a:lnTo>
                  <a:lnTo>
                    <a:pt x="401181" y="140970"/>
                  </a:lnTo>
                  <a:lnTo>
                    <a:pt x="402123" y="142855"/>
                  </a:lnTo>
                  <a:lnTo>
                    <a:pt x="293462" y="142855"/>
                  </a:lnTo>
                  <a:lnTo>
                    <a:pt x="255211" y="76897"/>
                  </a:lnTo>
                  <a:lnTo>
                    <a:pt x="28901" y="76897"/>
                  </a:lnTo>
                  <a:lnTo>
                    <a:pt x="30173" y="75012"/>
                  </a:lnTo>
                  <a:lnTo>
                    <a:pt x="142202" y="75012"/>
                  </a:lnTo>
                  <a:lnTo>
                    <a:pt x="269337" y="5285"/>
                  </a:lnTo>
                  <a:lnTo>
                    <a:pt x="273104" y="3400"/>
                  </a:lnTo>
                  <a:lnTo>
                    <a:pt x="274988" y="3400"/>
                  </a:lnTo>
                  <a:lnTo>
                    <a:pt x="291527" y="0"/>
                  </a:lnTo>
                  <a:close/>
                </a:path>
                <a:path w="603250" h="367665">
                  <a:moveTo>
                    <a:pt x="113008" y="37322"/>
                  </a:moveTo>
                  <a:lnTo>
                    <a:pt x="122735" y="37822"/>
                  </a:lnTo>
                  <a:lnTo>
                    <a:pt x="132196" y="39206"/>
                  </a:lnTo>
                  <a:lnTo>
                    <a:pt x="141481" y="41297"/>
                  </a:lnTo>
                  <a:lnTo>
                    <a:pt x="150678" y="43918"/>
                  </a:lnTo>
                  <a:lnTo>
                    <a:pt x="147499" y="51161"/>
                  </a:lnTo>
                  <a:lnTo>
                    <a:pt x="145027" y="58758"/>
                  </a:lnTo>
                  <a:lnTo>
                    <a:pt x="143262" y="66708"/>
                  </a:lnTo>
                  <a:lnTo>
                    <a:pt x="142202" y="75012"/>
                  </a:lnTo>
                  <a:lnTo>
                    <a:pt x="30173" y="75012"/>
                  </a:lnTo>
                  <a:lnTo>
                    <a:pt x="33196" y="70536"/>
                  </a:lnTo>
                  <a:lnTo>
                    <a:pt x="69129" y="46244"/>
                  </a:lnTo>
                  <a:lnTo>
                    <a:pt x="113008" y="37322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8936" y="6470003"/>
              <a:ext cx="157589" cy="11432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50770" y="6399387"/>
              <a:ext cx="603250" cy="367665"/>
            </a:xfrm>
            <a:custGeom>
              <a:avLst/>
              <a:gdLst/>
              <a:ahLst/>
              <a:cxnLst/>
              <a:rect l="l" t="t" r="r" b="b"/>
              <a:pathLst>
                <a:path w="603250" h="367665">
                  <a:moveTo>
                    <a:pt x="65921" y="197506"/>
                  </a:moveTo>
                  <a:lnTo>
                    <a:pt x="52693" y="198198"/>
                  </a:lnTo>
                  <a:lnTo>
                    <a:pt x="39906" y="200215"/>
                  </a:lnTo>
                  <a:lnTo>
                    <a:pt x="27648" y="203468"/>
                  </a:lnTo>
                  <a:lnTo>
                    <a:pt x="16009" y="207871"/>
                  </a:lnTo>
                  <a:lnTo>
                    <a:pt x="9535" y="194650"/>
                  </a:lnTo>
                  <a:lnTo>
                    <a:pt x="4473" y="180545"/>
                  </a:lnTo>
                  <a:lnTo>
                    <a:pt x="1177" y="165734"/>
                  </a:lnTo>
                  <a:lnTo>
                    <a:pt x="0" y="150393"/>
                  </a:lnTo>
                  <a:lnTo>
                    <a:pt x="8917" y="106489"/>
                  </a:lnTo>
                  <a:lnTo>
                    <a:pt x="33196" y="70536"/>
                  </a:lnTo>
                  <a:lnTo>
                    <a:pt x="69129" y="46244"/>
                  </a:lnTo>
                  <a:lnTo>
                    <a:pt x="113008" y="37322"/>
                  </a:lnTo>
                  <a:lnTo>
                    <a:pt x="122735" y="37822"/>
                  </a:lnTo>
                  <a:lnTo>
                    <a:pt x="132196" y="39206"/>
                  </a:lnTo>
                  <a:lnTo>
                    <a:pt x="141481" y="41297"/>
                  </a:lnTo>
                  <a:lnTo>
                    <a:pt x="150678" y="43918"/>
                  </a:lnTo>
                  <a:lnTo>
                    <a:pt x="147499" y="51161"/>
                  </a:lnTo>
                  <a:lnTo>
                    <a:pt x="145027" y="58758"/>
                  </a:lnTo>
                  <a:lnTo>
                    <a:pt x="143262" y="66708"/>
                  </a:lnTo>
                  <a:lnTo>
                    <a:pt x="142202" y="75012"/>
                  </a:lnTo>
                  <a:lnTo>
                    <a:pt x="269337" y="5285"/>
                  </a:lnTo>
                  <a:lnTo>
                    <a:pt x="271221" y="4343"/>
                  </a:lnTo>
                  <a:lnTo>
                    <a:pt x="273104" y="3400"/>
                  </a:lnTo>
                  <a:lnTo>
                    <a:pt x="274988" y="3400"/>
                  </a:lnTo>
                  <a:lnTo>
                    <a:pt x="291527" y="0"/>
                  </a:lnTo>
                  <a:lnTo>
                    <a:pt x="333375" y="23188"/>
                  </a:lnTo>
                  <a:lnTo>
                    <a:pt x="399297" y="136259"/>
                  </a:lnTo>
                  <a:lnTo>
                    <a:pt x="401181" y="140970"/>
                  </a:lnTo>
                  <a:lnTo>
                    <a:pt x="402123" y="142855"/>
                  </a:lnTo>
                  <a:lnTo>
                    <a:pt x="602713" y="122125"/>
                  </a:lnTo>
                  <a:lnTo>
                    <a:pt x="602713" y="159815"/>
                  </a:lnTo>
                  <a:lnTo>
                    <a:pt x="461452" y="203159"/>
                  </a:lnTo>
                  <a:lnTo>
                    <a:pt x="423695" y="221298"/>
                  </a:lnTo>
                  <a:lnTo>
                    <a:pt x="393883" y="250037"/>
                  </a:lnTo>
                  <a:lnTo>
                    <a:pt x="374312" y="286903"/>
                  </a:lnTo>
                  <a:lnTo>
                    <a:pt x="367279" y="329422"/>
                  </a:lnTo>
                  <a:lnTo>
                    <a:pt x="367632" y="339154"/>
                  </a:lnTo>
                  <a:lnTo>
                    <a:pt x="368691" y="348620"/>
                  </a:lnTo>
                  <a:lnTo>
                    <a:pt x="370457" y="357911"/>
                  </a:lnTo>
                  <a:lnTo>
                    <a:pt x="372929" y="367112"/>
                  </a:lnTo>
                  <a:lnTo>
                    <a:pt x="192115" y="367112"/>
                  </a:lnTo>
                  <a:lnTo>
                    <a:pt x="194587" y="357911"/>
                  </a:lnTo>
                  <a:lnTo>
                    <a:pt x="196353" y="348620"/>
                  </a:lnTo>
                  <a:lnTo>
                    <a:pt x="197412" y="339154"/>
                  </a:lnTo>
                  <a:lnTo>
                    <a:pt x="197765" y="329422"/>
                  </a:lnTo>
                  <a:lnTo>
                    <a:pt x="191015" y="287842"/>
                  </a:lnTo>
                  <a:lnTo>
                    <a:pt x="172240" y="251644"/>
                  </a:lnTo>
                  <a:lnTo>
                    <a:pt x="143656" y="223045"/>
                  </a:lnTo>
                  <a:lnTo>
                    <a:pt x="107479" y="204260"/>
                  </a:lnTo>
                  <a:lnTo>
                    <a:pt x="65921" y="197506"/>
                  </a:lnTo>
                  <a:close/>
                </a:path>
              </a:pathLst>
            </a:custGeom>
            <a:ln w="125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5559" y="6681524"/>
              <a:ext cx="142833" cy="14290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59349" y="6681524"/>
              <a:ext cx="142833" cy="14290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98922" y="6413764"/>
              <a:ext cx="264160" cy="339725"/>
            </a:xfrm>
            <a:custGeom>
              <a:avLst/>
              <a:gdLst/>
              <a:ahLst/>
              <a:cxnLst/>
              <a:rect l="l" t="t" r="r" b="b"/>
              <a:pathLst>
                <a:path w="264160" h="339725">
                  <a:moveTo>
                    <a:pt x="169513" y="0"/>
                  </a:moveTo>
                  <a:lnTo>
                    <a:pt x="263687" y="0"/>
                  </a:lnTo>
                  <a:lnTo>
                    <a:pt x="263687" y="339213"/>
                  </a:lnTo>
                  <a:lnTo>
                    <a:pt x="226017" y="339213"/>
                  </a:lnTo>
                  <a:lnTo>
                    <a:pt x="218586" y="302626"/>
                  </a:lnTo>
                  <a:lnTo>
                    <a:pt x="198354" y="272666"/>
                  </a:lnTo>
                  <a:lnTo>
                    <a:pt x="168409" y="252422"/>
                  </a:lnTo>
                  <a:lnTo>
                    <a:pt x="131843" y="244987"/>
                  </a:lnTo>
                  <a:lnTo>
                    <a:pt x="0" y="244987"/>
                  </a:lnTo>
                  <a:lnTo>
                    <a:pt x="0" y="207296"/>
                  </a:lnTo>
                  <a:lnTo>
                    <a:pt x="64980" y="139454"/>
                  </a:lnTo>
                  <a:lnTo>
                    <a:pt x="71572" y="134742"/>
                  </a:lnTo>
                  <a:lnTo>
                    <a:pt x="73337" y="131916"/>
                  </a:lnTo>
                  <a:lnTo>
                    <a:pt x="226017" y="131916"/>
                  </a:lnTo>
                  <a:lnTo>
                    <a:pt x="226017" y="37690"/>
                  </a:lnTo>
                  <a:lnTo>
                    <a:pt x="105101" y="37690"/>
                  </a:lnTo>
                  <a:lnTo>
                    <a:pt x="107534" y="32596"/>
                  </a:lnTo>
                  <a:lnTo>
                    <a:pt x="124074" y="15311"/>
                  </a:lnTo>
                  <a:lnTo>
                    <a:pt x="145204" y="4034"/>
                  </a:lnTo>
                  <a:lnTo>
                    <a:pt x="169513" y="0"/>
                  </a:lnTo>
                  <a:close/>
                </a:path>
                <a:path w="264160" h="339725">
                  <a:moveTo>
                    <a:pt x="0" y="244987"/>
                  </a:moveTo>
                  <a:lnTo>
                    <a:pt x="131843" y="244987"/>
                  </a:lnTo>
                  <a:lnTo>
                    <a:pt x="95277" y="252422"/>
                  </a:lnTo>
                  <a:lnTo>
                    <a:pt x="65333" y="272666"/>
                  </a:lnTo>
                  <a:lnTo>
                    <a:pt x="45100" y="302626"/>
                  </a:lnTo>
                  <a:lnTo>
                    <a:pt x="37669" y="339213"/>
                  </a:lnTo>
                  <a:lnTo>
                    <a:pt x="23043" y="336239"/>
                  </a:lnTo>
                  <a:lnTo>
                    <a:pt x="11065" y="328141"/>
                  </a:lnTo>
                  <a:lnTo>
                    <a:pt x="2972" y="316157"/>
                  </a:lnTo>
                  <a:lnTo>
                    <a:pt x="0" y="301522"/>
                  </a:lnTo>
                  <a:lnTo>
                    <a:pt x="0" y="244987"/>
                  </a:lnTo>
                  <a:close/>
                </a:path>
                <a:path w="264160" h="339725">
                  <a:moveTo>
                    <a:pt x="105101" y="37690"/>
                  </a:moveTo>
                  <a:lnTo>
                    <a:pt x="169513" y="37690"/>
                  </a:lnTo>
                  <a:lnTo>
                    <a:pt x="157299" y="39707"/>
                  </a:lnTo>
                  <a:lnTo>
                    <a:pt x="146675" y="45346"/>
                  </a:lnTo>
                  <a:lnTo>
                    <a:pt x="138524" y="53988"/>
                  </a:lnTo>
                  <a:lnTo>
                    <a:pt x="133727" y="65015"/>
                  </a:lnTo>
                  <a:lnTo>
                    <a:pt x="114892" y="130031"/>
                  </a:lnTo>
                  <a:lnTo>
                    <a:pt x="114892" y="130973"/>
                  </a:lnTo>
                  <a:lnTo>
                    <a:pt x="113950" y="130973"/>
                  </a:lnTo>
                  <a:lnTo>
                    <a:pt x="113950" y="131916"/>
                  </a:lnTo>
                  <a:lnTo>
                    <a:pt x="73337" y="131916"/>
                  </a:lnTo>
                  <a:lnTo>
                    <a:pt x="76280" y="127204"/>
                  </a:lnTo>
                  <a:lnTo>
                    <a:pt x="78164" y="119666"/>
                  </a:lnTo>
                  <a:lnTo>
                    <a:pt x="96999" y="54651"/>
                  </a:lnTo>
                  <a:lnTo>
                    <a:pt x="105101" y="3769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07378" y="6445959"/>
              <a:ext cx="123057" cy="10521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98922" y="6413764"/>
              <a:ext cx="264160" cy="339725"/>
            </a:xfrm>
            <a:custGeom>
              <a:avLst/>
              <a:gdLst/>
              <a:ahLst/>
              <a:cxnLst/>
              <a:rect l="l" t="t" r="r" b="b"/>
              <a:pathLst>
                <a:path w="264160" h="339725">
                  <a:moveTo>
                    <a:pt x="15067" y="177144"/>
                  </a:moveTo>
                  <a:lnTo>
                    <a:pt x="64980" y="139454"/>
                  </a:lnTo>
                  <a:lnTo>
                    <a:pt x="71572" y="134742"/>
                  </a:lnTo>
                  <a:lnTo>
                    <a:pt x="76280" y="127204"/>
                  </a:lnTo>
                  <a:lnTo>
                    <a:pt x="96999" y="54651"/>
                  </a:lnTo>
                  <a:lnTo>
                    <a:pt x="124074" y="15311"/>
                  </a:lnTo>
                  <a:lnTo>
                    <a:pt x="169513" y="0"/>
                  </a:lnTo>
                  <a:lnTo>
                    <a:pt x="263687" y="0"/>
                  </a:lnTo>
                  <a:lnTo>
                    <a:pt x="263687" y="131916"/>
                  </a:lnTo>
                  <a:lnTo>
                    <a:pt x="263687" y="188451"/>
                  </a:lnTo>
                  <a:lnTo>
                    <a:pt x="263687" y="339213"/>
                  </a:lnTo>
                  <a:lnTo>
                    <a:pt x="226017" y="339213"/>
                  </a:lnTo>
                  <a:lnTo>
                    <a:pt x="218586" y="302626"/>
                  </a:lnTo>
                  <a:lnTo>
                    <a:pt x="198354" y="272666"/>
                  </a:lnTo>
                  <a:lnTo>
                    <a:pt x="168409" y="252422"/>
                  </a:lnTo>
                  <a:lnTo>
                    <a:pt x="131843" y="244987"/>
                  </a:lnTo>
                  <a:lnTo>
                    <a:pt x="95277" y="252422"/>
                  </a:lnTo>
                  <a:lnTo>
                    <a:pt x="65333" y="272666"/>
                  </a:lnTo>
                  <a:lnTo>
                    <a:pt x="45100" y="302626"/>
                  </a:lnTo>
                  <a:lnTo>
                    <a:pt x="37669" y="339213"/>
                  </a:lnTo>
                  <a:lnTo>
                    <a:pt x="23043" y="336239"/>
                  </a:lnTo>
                  <a:lnTo>
                    <a:pt x="11065" y="328141"/>
                  </a:lnTo>
                  <a:lnTo>
                    <a:pt x="2972" y="316157"/>
                  </a:lnTo>
                  <a:lnTo>
                    <a:pt x="0" y="301522"/>
                  </a:lnTo>
                  <a:lnTo>
                    <a:pt x="0" y="207296"/>
                  </a:lnTo>
                  <a:lnTo>
                    <a:pt x="1030" y="198477"/>
                  </a:lnTo>
                  <a:lnTo>
                    <a:pt x="4002" y="190454"/>
                  </a:lnTo>
                  <a:lnTo>
                    <a:pt x="8740" y="183313"/>
                  </a:lnTo>
                  <a:lnTo>
                    <a:pt x="15067" y="177144"/>
                  </a:lnTo>
                  <a:close/>
                </a:path>
              </a:pathLst>
            </a:custGeom>
            <a:ln w="109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00279" y="6621061"/>
              <a:ext cx="527685" cy="132080"/>
            </a:xfrm>
            <a:custGeom>
              <a:avLst/>
              <a:gdLst/>
              <a:ahLst/>
              <a:cxnLst/>
              <a:rect l="l" t="t" r="r" b="b"/>
              <a:pathLst>
                <a:path w="527684" h="132079">
                  <a:moveTo>
                    <a:pt x="0" y="0"/>
                  </a:moveTo>
                  <a:lnTo>
                    <a:pt x="527374" y="0"/>
                  </a:lnTo>
                  <a:lnTo>
                    <a:pt x="527374" y="131916"/>
                  </a:lnTo>
                  <a:lnTo>
                    <a:pt x="470870" y="131916"/>
                  </a:lnTo>
                  <a:lnTo>
                    <a:pt x="463439" y="95330"/>
                  </a:lnTo>
                  <a:lnTo>
                    <a:pt x="443206" y="65369"/>
                  </a:lnTo>
                  <a:lnTo>
                    <a:pt x="413262" y="45125"/>
                  </a:lnTo>
                  <a:lnTo>
                    <a:pt x="376696" y="37690"/>
                  </a:lnTo>
                  <a:lnTo>
                    <a:pt x="340130" y="45125"/>
                  </a:lnTo>
                  <a:lnTo>
                    <a:pt x="310185" y="65369"/>
                  </a:lnTo>
                  <a:lnTo>
                    <a:pt x="289953" y="95330"/>
                  </a:lnTo>
                  <a:lnTo>
                    <a:pt x="282522" y="131916"/>
                  </a:lnTo>
                  <a:lnTo>
                    <a:pt x="0" y="1319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00279" y="6621061"/>
              <a:ext cx="527685" cy="132080"/>
            </a:xfrm>
            <a:custGeom>
              <a:avLst/>
              <a:gdLst/>
              <a:ahLst/>
              <a:cxnLst/>
              <a:rect l="l" t="t" r="r" b="b"/>
              <a:pathLst>
                <a:path w="527684" h="132079">
                  <a:moveTo>
                    <a:pt x="527374" y="131916"/>
                  </a:moveTo>
                  <a:lnTo>
                    <a:pt x="470870" y="131916"/>
                  </a:lnTo>
                  <a:lnTo>
                    <a:pt x="463439" y="95330"/>
                  </a:lnTo>
                  <a:lnTo>
                    <a:pt x="443206" y="65369"/>
                  </a:lnTo>
                  <a:lnTo>
                    <a:pt x="413262" y="45125"/>
                  </a:lnTo>
                  <a:lnTo>
                    <a:pt x="376696" y="37690"/>
                  </a:lnTo>
                  <a:lnTo>
                    <a:pt x="340130" y="45125"/>
                  </a:lnTo>
                  <a:lnTo>
                    <a:pt x="310185" y="65369"/>
                  </a:lnTo>
                  <a:lnTo>
                    <a:pt x="289953" y="95330"/>
                  </a:lnTo>
                  <a:lnTo>
                    <a:pt x="282522" y="131916"/>
                  </a:lnTo>
                  <a:lnTo>
                    <a:pt x="0" y="131916"/>
                  </a:lnTo>
                  <a:lnTo>
                    <a:pt x="0" y="0"/>
                  </a:lnTo>
                  <a:lnTo>
                    <a:pt x="527374" y="0"/>
                  </a:lnTo>
                  <a:lnTo>
                    <a:pt x="527374" y="131916"/>
                  </a:lnTo>
                  <a:close/>
                </a:path>
              </a:pathLst>
            </a:custGeom>
            <a:ln w="109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24940" y="6319538"/>
              <a:ext cx="603250" cy="264160"/>
            </a:xfrm>
            <a:custGeom>
              <a:avLst/>
              <a:gdLst/>
              <a:ahLst/>
              <a:cxnLst/>
              <a:rect l="l" t="t" r="r" b="b"/>
              <a:pathLst>
                <a:path w="603250" h="264159">
                  <a:moveTo>
                    <a:pt x="0" y="0"/>
                  </a:moveTo>
                  <a:lnTo>
                    <a:pt x="150678" y="0"/>
                  </a:lnTo>
                  <a:lnTo>
                    <a:pt x="188348" y="37690"/>
                  </a:lnTo>
                  <a:lnTo>
                    <a:pt x="602713" y="37690"/>
                  </a:lnTo>
                  <a:lnTo>
                    <a:pt x="602714" y="179029"/>
                  </a:lnTo>
                  <a:lnTo>
                    <a:pt x="517957" y="263832"/>
                  </a:lnTo>
                  <a:lnTo>
                    <a:pt x="75339" y="263832"/>
                  </a:lnTo>
                  <a:lnTo>
                    <a:pt x="75339" y="94225"/>
                  </a:lnTo>
                  <a:lnTo>
                    <a:pt x="37669" y="56535"/>
                  </a:lnTo>
                  <a:lnTo>
                    <a:pt x="0" y="56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24940" y="6319538"/>
              <a:ext cx="603250" cy="264160"/>
            </a:xfrm>
            <a:custGeom>
              <a:avLst/>
              <a:gdLst/>
              <a:ahLst/>
              <a:cxnLst/>
              <a:rect l="l" t="t" r="r" b="b"/>
              <a:pathLst>
                <a:path w="603250" h="264159">
                  <a:moveTo>
                    <a:pt x="0" y="56535"/>
                  </a:moveTo>
                  <a:lnTo>
                    <a:pt x="0" y="0"/>
                  </a:lnTo>
                  <a:lnTo>
                    <a:pt x="150678" y="0"/>
                  </a:lnTo>
                  <a:lnTo>
                    <a:pt x="188348" y="37690"/>
                  </a:lnTo>
                  <a:lnTo>
                    <a:pt x="517957" y="37690"/>
                  </a:lnTo>
                  <a:lnTo>
                    <a:pt x="602713" y="37690"/>
                  </a:lnTo>
                  <a:lnTo>
                    <a:pt x="602714" y="179029"/>
                  </a:lnTo>
                  <a:lnTo>
                    <a:pt x="517957" y="263832"/>
                  </a:lnTo>
                  <a:lnTo>
                    <a:pt x="75339" y="263832"/>
                  </a:lnTo>
                  <a:lnTo>
                    <a:pt x="75339" y="94225"/>
                  </a:lnTo>
                  <a:lnTo>
                    <a:pt x="37669" y="56535"/>
                  </a:lnTo>
                  <a:lnTo>
                    <a:pt x="0" y="56535"/>
                  </a:lnTo>
                  <a:close/>
                </a:path>
              </a:pathLst>
            </a:custGeom>
            <a:ln w="109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43232" y="6087007"/>
              <a:ext cx="163238" cy="16332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5267" y="6087007"/>
              <a:ext cx="163238" cy="16332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936502" y="5829454"/>
              <a:ext cx="829310" cy="339725"/>
            </a:xfrm>
            <a:custGeom>
              <a:avLst/>
              <a:gdLst/>
              <a:ahLst/>
              <a:cxnLst/>
              <a:rect l="l" t="t" r="r" b="b"/>
              <a:pathLst>
                <a:path w="829309" h="339725">
                  <a:moveTo>
                    <a:pt x="457685" y="0"/>
                  </a:moveTo>
                  <a:lnTo>
                    <a:pt x="181755" y="0"/>
                  </a:lnTo>
                  <a:lnTo>
                    <a:pt x="167011" y="1398"/>
                  </a:lnTo>
                  <a:lnTo>
                    <a:pt x="128076" y="21671"/>
                  </a:lnTo>
                  <a:lnTo>
                    <a:pt x="11300" y="139454"/>
                  </a:lnTo>
                  <a:lnTo>
                    <a:pt x="0" y="166779"/>
                  </a:lnTo>
                  <a:lnTo>
                    <a:pt x="0" y="263832"/>
                  </a:lnTo>
                  <a:lnTo>
                    <a:pt x="5944" y="293101"/>
                  </a:lnTo>
                  <a:lnTo>
                    <a:pt x="22131" y="317070"/>
                  </a:lnTo>
                  <a:lnTo>
                    <a:pt x="46086" y="333265"/>
                  </a:lnTo>
                  <a:lnTo>
                    <a:pt x="75339" y="339213"/>
                  </a:lnTo>
                  <a:lnTo>
                    <a:pt x="84756" y="339213"/>
                  </a:lnTo>
                  <a:lnTo>
                    <a:pt x="92864" y="298769"/>
                  </a:lnTo>
                  <a:lnTo>
                    <a:pt x="115010" y="265834"/>
                  </a:lnTo>
                  <a:lnTo>
                    <a:pt x="147926" y="243676"/>
                  </a:lnTo>
                  <a:lnTo>
                    <a:pt x="188348" y="235564"/>
                  </a:lnTo>
                  <a:lnTo>
                    <a:pt x="826817" y="235564"/>
                  </a:lnTo>
                  <a:lnTo>
                    <a:pt x="821300" y="208401"/>
                  </a:lnTo>
                  <a:lnTo>
                    <a:pt x="801068" y="178440"/>
                  </a:lnTo>
                  <a:lnTo>
                    <a:pt x="771123" y="158196"/>
                  </a:lnTo>
                  <a:lnTo>
                    <a:pt x="734557" y="150761"/>
                  </a:lnTo>
                  <a:lnTo>
                    <a:pt x="53679" y="150761"/>
                  </a:lnTo>
                  <a:lnTo>
                    <a:pt x="155387" y="48997"/>
                  </a:lnTo>
                  <a:lnTo>
                    <a:pt x="161361" y="44050"/>
                  </a:lnTo>
                  <a:lnTo>
                    <a:pt x="167865" y="40517"/>
                  </a:lnTo>
                  <a:lnTo>
                    <a:pt x="174722" y="38397"/>
                  </a:lnTo>
                  <a:lnTo>
                    <a:pt x="181755" y="37690"/>
                  </a:lnTo>
                  <a:lnTo>
                    <a:pt x="527502" y="37690"/>
                  </a:lnTo>
                  <a:lnTo>
                    <a:pt x="511365" y="21671"/>
                  </a:lnTo>
                  <a:lnTo>
                    <a:pt x="499931" y="12322"/>
                  </a:lnTo>
                  <a:lnTo>
                    <a:pt x="486997" y="5535"/>
                  </a:lnTo>
                  <a:lnTo>
                    <a:pt x="472827" y="1398"/>
                  </a:lnTo>
                  <a:lnTo>
                    <a:pt x="457685" y="0"/>
                  </a:lnTo>
                  <a:close/>
                </a:path>
                <a:path w="829309" h="339725">
                  <a:moveTo>
                    <a:pt x="640383" y="235564"/>
                  </a:moveTo>
                  <a:lnTo>
                    <a:pt x="188348" y="235564"/>
                  </a:lnTo>
                  <a:lnTo>
                    <a:pt x="228769" y="243676"/>
                  </a:lnTo>
                  <a:lnTo>
                    <a:pt x="261686" y="265834"/>
                  </a:lnTo>
                  <a:lnTo>
                    <a:pt x="283831" y="298769"/>
                  </a:lnTo>
                  <a:lnTo>
                    <a:pt x="291939" y="339213"/>
                  </a:lnTo>
                  <a:lnTo>
                    <a:pt x="536792" y="339213"/>
                  </a:lnTo>
                  <a:lnTo>
                    <a:pt x="544900" y="298769"/>
                  </a:lnTo>
                  <a:lnTo>
                    <a:pt x="567045" y="265834"/>
                  </a:lnTo>
                  <a:lnTo>
                    <a:pt x="599962" y="243676"/>
                  </a:lnTo>
                  <a:lnTo>
                    <a:pt x="640383" y="235564"/>
                  </a:lnTo>
                  <a:close/>
                </a:path>
                <a:path w="829309" h="339725">
                  <a:moveTo>
                    <a:pt x="826817" y="235564"/>
                  </a:moveTo>
                  <a:lnTo>
                    <a:pt x="640383" y="235564"/>
                  </a:lnTo>
                  <a:lnTo>
                    <a:pt x="680804" y="243676"/>
                  </a:lnTo>
                  <a:lnTo>
                    <a:pt x="713721" y="265834"/>
                  </a:lnTo>
                  <a:lnTo>
                    <a:pt x="735867" y="298769"/>
                  </a:lnTo>
                  <a:lnTo>
                    <a:pt x="743975" y="339213"/>
                  </a:lnTo>
                  <a:lnTo>
                    <a:pt x="791062" y="339213"/>
                  </a:lnTo>
                  <a:lnTo>
                    <a:pt x="805688" y="336239"/>
                  </a:lnTo>
                  <a:lnTo>
                    <a:pt x="817666" y="328141"/>
                  </a:lnTo>
                  <a:lnTo>
                    <a:pt x="825759" y="316157"/>
                  </a:lnTo>
                  <a:lnTo>
                    <a:pt x="828731" y="301522"/>
                  </a:lnTo>
                  <a:lnTo>
                    <a:pt x="828731" y="244987"/>
                  </a:lnTo>
                  <a:lnTo>
                    <a:pt x="826817" y="235564"/>
                  </a:lnTo>
                  <a:close/>
                </a:path>
                <a:path w="829309" h="339725">
                  <a:moveTo>
                    <a:pt x="329609" y="37690"/>
                  </a:moveTo>
                  <a:lnTo>
                    <a:pt x="291939" y="37690"/>
                  </a:lnTo>
                  <a:lnTo>
                    <a:pt x="291939" y="150761"/>
                  </a:lnTo>
                  <a:lnTo>
                    <a:pt x="329609" y="150761"/>
                  </a:lnTo>
                  <a:lnTo>
                    <a:pt x="329609" y="37690"/>
                  </a:lnTo>
                  <a:close/>
                </a:path>
                <a:path w="829309" h="339725">
                  <a:moveTo>
                    <a:pt x="527502" y="37690"/>
                  </a:moveTo>
                  <a:lnTo>
                    <a:pt x="458627" y="37690"/>
                  </a:lnTo>
                  <a:lnTo>
                    <a:pt x="466190" y="38397"/>
                  </a:lnTo>
                  <a:lnTo>
                    <a:pt x="473224" y="40517"/>
                  </a:lnTo>
                  <a:lnTo>
                    <a:pt x="479551" y="44050"/>
                  </a:lnTo>
                  <a:lnTo>
                    <a:pt x="484996" y="48997"/>
                  </a:lnTo>
                  <a:lnTo>
                    <a:pt x="586704" y="150761"/>
                  </a:lnTo>
                  <a:lnTo>
                    <a:pt x="656393" y="150761"/>
                  </a:lnTo>
                  <a:lnTo>
                    <a:pt x="648829" y="150054"/>
                  </a:lnTo>
                  <a:lnTo>
                    <a:pt x="641796" y="147934"/>
                  </a:lnTo>
                  <a:lnTo>
                    <a:pt x="635468" y="144401"/>
                  </a:lnTo>
                  <a:lnTo>
                    <a:pt x="630024" y="139454"/>
                  </a:lnTo>
                  <a:lnTo>
                    <a:pt x="527502" y="3769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266112" y="5867144"/>
              <a:ext cx="257175" cy="113664"/>
            </a:xfrm>
            <a:custGeom>
              <a:avLst/>
              <a:gdLst/>
              <a:ahLst/>
              <a:cxnLst/>
              <a:rect l="l" t="t" r="r" b="b"/>
              <a:pathLst>
                <a:path w="257175" h="113664">
                  <a:moveTo>
                    <a:pt x="0" y="113071"/>
                  </a:moveTo>
                  <a:lnTo>
                    <a:pt x="0" y="0"/>
                  </a:lnTo>
                  <a:lnTo>
                    <a:pt x="129018" y="0"/>
                  </a:lnTo>
                  <a:lnTo>
                    <a:pt x="257095" y="113071"/>
                  </a:lnTo>
                  <a:lnTo>
                    <a:pt x="0" y="113071"/>
                  </a:lnTo>
                  <a:close/>
                </a:path>
              </a:pathLst>
            </a:custGeom>
            <a:ln w="12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3900" y="5860863"/>
              <a:ext cx="250822" cy="125633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936502" y="5829454"/>
              <a:ext cx="829310" cy="339725"/>
            </a:xfrm>
            <a:custGeom>
              <a:avLst/>
              <a:gdLst/>
              <a:ahLst/>
              <a:cxnLst/>
              <a:rect l="l" t="t" r="r" b="b"/>
              <a:pathLst>
                <a:path w="829309" h="339725">
                  <a:moveTo>
                    <a:pt x="734557" y="150761"/>
                  </a:moveTo>
                  <a:lnTo>
                    <a:pt x="656393" y="150761"/>
                  </a:lnTo>
                  <a:lnTo>
                    <a:pt x="648829" y="150054"/>
                  </a:lnTo>
                  <a:lnTo>
                    <a:pt x="641796" y="147934"/>
                  </a:lnTo>
                  <a:lnTo>
                    <a:pt x="635468" y="144401"/>
                  </a:lnTo>
                  <a:lnTo>
                    <a:pt x="630024" y="139454"/>
                  </a:lnTo>
                  <a:lnTo>
                    <a:pt x="511365" y="21671"/>
                  </a:lnTo>
                  <a:lnTo>
                    <a:pt x="499931" y="12322"/>
                  </a:lnTo>
                  <a:lnTo>
                    <a:pt x="486997" y="5535"/>
                  </a:lnTo>
                  <a:lnTo>
                    <a:pt x="472827" y="1398"/>
                  </a:lnTo>
                  <a:lnTo>
                    <a:pt x="457685" y="0"/>
                  </a:lnTo>
                  <a:lnTo>
                    <a:pt x="181755" y="0"/>
                  </a:lnTo>
                  <a:lnTo>
                    <a:pt x="139642" y="12322"/>
                  </a:lnTo>
                  <a:lnTo>
                    <a:pt x="11300" y="139454"/>
                  </a:lnTo>
                  <a:lnTo>
                    <a:pt x="0" y="166779"/>
                  </a:lnTo>
                  <a:lnTo>
                    <a:pt x="0" y="263832"/>
                  </a:lnTo>
                  <a:lnTo>
                    <a:pt x="5944" y="293101"/>
                  </a:lnTo>
                  <a:lnTo>
                    <a:pt x="22131" y="317070"/>
                  </a:lnTo>
                  <a:lnTo>
                    <a:pt x="46086" y="333265"/>
                  </a:lnTo>
                  <a:lnTo>
                    <a:pt x="75339" y="339213"/>
                  </a:lnTo>
                  <a:lnTo>
                    <a:pt x="84756" y="339213"/>
                  </a:lnTo>
                  <a:lnTo>
                    <a:pt x="92864" y="298769"/>
                  </a:lnTo>
                  <a:lnTo>
                    <a:pt x="115010" y="265834"/>
                  </a:lnTo>
                  <a:lnTo>
                    <a:pt x="147926" y="243676"/>
                  </a:lnTo>
                  <a:lnTo>
                    <a:pt x="188348" y="235564"/>
                  </a:lnTo>
                  <a:lnTo>
                    <a:pt x="228769" y="243676"/>
                  </a:lnTo>
                  <a:lnTo>
                    <a:pt x="261686" y="265834"/>
                  </a:lnTo>
                  <a:lnTo>
                    <a:pt x="283831" y="298769"/>
                  </a:lnTo>
                  <a:lnTo>
                    <a:pt x="291939" y="339213"/>
                  </a:lnTo>
                  <a:lnTo>
                    <a:pt x="536792" y="339213"/>
                  </a:lnTo>
                  <a:lnTo>
                    <a:pt x="544900" y="298769"/>
                  </a:lnTo>
                  <a:lnTo>
                    <a:pt x="567045" y="265834"/>
                  </a:lnTo>
                  <a:lnTo>
                    <a:pt x="599962" y="243676"/>
                  </a:lnTo>
                  <a:lnTo>
                    <a:pt x="640383" y="235564"/>
                  </a:lnTo>
                  <a:lnTo>
                    <a:pt x="680804" y="243676"/>
                  </a:lnTo>
                  <a:lnTo>
                    <a:pt x="713721" y="265834"/>
                  </a:lnTo>
                  <a:lnTo>
                    <a:pt x="735867" y="298769"/>
                  </a:lnTo>
                  <a:lnTo>
                    <a:pt x="743975" y="339213"/>
                  </a:lnTo>
                  <a:lnTo>
                    <a:pt x="791062" y="339213"/>
                  </a:lnTo>
                  <a:lnTo>
                    <a:pt x="805688" y="336239"/>
                  </a:lnTo>
                  <a:lnTo>
                    <a:pt x="817666" y="328141"/>
                  </a:lnTo>
                  <a:lnTo>
                    <a:pt x="825759" y="316157"/>
                  </a:lnTo>
                  <a:lnTo>
                    <a:pt x="828731" y="301522"/>
                  </a:lnTo>
                  <a:lnTo>
                    <a:pt x="828731" y="244987"/>
                  </a:lnTo>
                  <a:lnTo>
                    <a:pt x="821300" y="208401"/>
                  </a:lnTo>
                  <a:lnTo>
                    <a:pt x="801068" y="178440"/>
                  </a:lnTo>
                  <a:lnTo>
                    <a:pt x="771123" y="158196"/>
                  </a:lnTo>
                  <a:lnTo>
                    <a:pt x="734557" y="150761"/>
                  </a:lnTo>
                  <a:close/>
                </a:path>
              </a:pathLst>
            </a:custGeom>
            <a:ln w="12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93429" y="5809667"/>
              <a:ext cx="829310" cy="415925"/>
            </a:xfrm>
            <a:custGeom>
              <a:avLst/>
              <a:gdLst/>
              <a:ahLst/>
              <a:cxnLst/>
              <a:rect l="l" t="t" r="r" b="b"/>
              <a:pathLst>
                <a:path w="829310" h="415925">
                  <a:moveTo>
                    <a:pt x="727965" y="0"/>
                  </a:moveTo>
                  <a:lnTo>
                    <a:pt x="37669" y="0"/>
                  </a:lnTo>
                  <a:lnTo>
                    <a:pt x="23043" y="3518"/>
                  </a:lnTo>
                  <a:lnTo>
                    <a:pt x="11065" y="11896"/>
                  </a:lnTo>
                  <a:lnTo>
                    <a:pt x="2972" y="23983"/>
                  </a:lnTo>
                  <a:lnTo>
                    <a:pt x="0" y="38632"/>
                  </a:lnTo>
                  <a:lnTo>
                    <a:pt x="0" y="377845"/>
                  </a:lnTo>
                  <a:lnTo>
                    <a:pt x="2972" y="392480"/>
                  </a:lnTo>
                  <a:lnTo>
                    <a:pt x="11065" y="404464"/>
                  </a:lnTo>
                  <a:lnTo>
                    <a:pt x="23043" y="412562"/>
                  </a:lnTo>
                  <a:lnTo>
                    <a:pt x="37669" y="415536"/>
                  </a:lnTo>
                  <a:lnTo>
                    <a:pt x="39553" y="415536"/>
                  </a:lnTo>
                  <a:lnTo>
                    <a:pt x="38611" y="409882"/>
                  </a:lnTo>
                  <a:lnTo>
                    <a:pt x="37669" y="403286"/>
                  </a:lnTo>
                  <a:lnTo>
                    <a:pt x="45100" y="360104"/>
                  </a:lnTo>
                  <a:lnTo>
                    <a:pt x="95277" y="309900"/>
                  </a:lnTo>
                  <a:lnTo>
                    <a:pt x="131843" y="302465"/>
                  </a:lnTo>
                  <a:lnTo>
                    <a:pt x="828731" y="302465"/>
                  </a:lnTo>
                  <a:lnTo>
                    <a:pt x="828731" y="257236"/>
                  </a:lnTo>
                  <a:lnTo>
                    <a:pt x="828476" y="245929"/>
                  </a:lnTo>
                  <a:lnTo>
                    <a:pt x="659218" y="245929"/>
                  </a:lnTo>
                  <a:lnTo>
                    <a:pt x="602714" y="189393"/>
                  </a:lnTo>
                  <a:lnTo>
                    <a:pt x="37669" y="189393"/>
                  </a:lnTo>
                  <a:lnTo>
                    <a:pt x="37702" y="57315"/>
                  </a:lnTo>
                  <a:lnTo>
                    <a:pt x="39155" y="50160"/>
                  </a:lnTo>
                  <a:lnTo>
                    <a:pt x="43202" y="44168"/>
                  </a:lnTo>
                  <a:lnTo>
                    <a:pt x="49191" y="40119"/>
                  </a:lnTo>
                  <a:lnTo>
                    <a:pt x="56504" y="38632"/>
                  </a:lnTo>
                  <a:lnTo>
                    <a:pt x="793593" y="38632"/>
                  </a:lnTo>
                  <a:lnTo>
                    <a:pt x="793122" y="37366"/>
                  </a:lnTo>
                  <a:lnTo>
                    <a:pt x="776465" y="17667"/>
                  </a:lnTo>
                  <a:lnTo>
                    <a:pt x="754157" y="4681"/>
                  </a:lnTo>
                  <a:lnTo>
                    <a:pt x="727965" y="0"/>
                  </a:lnTo>
                  <a:close/>
                </a:path>
                <a:path w="829310" h="415925">
                  <a:moveTo>
                    <a:pt x="659218" y="302465"/>
                  </a:moveTo>
                  <a:lnTo>
                    <a:pt x="131843" y="302465"/>
                  </a:lnTo>
                  <a:lnTo>
                    <a:pt x="168409" y="309900"/>
                  </a:lnTo>
                  <a:lnTo>
                    <a:pt x="198354" y="330143"/>
                  </a:lnTo>
                  <a:lnTo>
                    <a:pt x="218586" y="360104"/>
                  </a:lnTo>
                  <a:lnTo>
                    <a:pt x="226017" y="396690"/>
                  </a:lnTo>
                  <a:lnTo>
                    <a:pt x="226017" y="403286"/>
                  </a:lnTo>
                  <a:lnTo>
                    <a:pt x="225076" y="409882"/>
                  </a:lnTo>
                  <a:lnTo>
                    <a:pt x="224134" y="415536"/>
                  </a:lnTo>
                  <a:lnTo>
                    <a:pt x="566927" y="415536"/>
                  </a:lnTo>
                  <a:lnTo>
                    <a:pt x="565986" y="409882"/>
                  </a:lnTo>
                  <a:lnTo>
                    <a:pt x="565044" y="403286"/>
                  </a:lnTo>
                  <a:lnTo>
                    <a:pt x="565044" y="396690"/>
                  </a:lnTo>
                  <a:lnTo>
                    <a:pt x="572475" y="360104"/>
                  </a:lnTo>
                  <a:lnTo>
                    <a:pt x="592708" y="330143"/>
                  </a:lnTo>
                  <a:lnTo>
                    <a:pt x="622652" y="309900"/>
                  </a:lnTo>
                  <a:lnTo>
                    <a:pt x="659218" y="302465"/>
                  </a:lnTo>
                  <a:close/>
                </a:path>
                <a:path w="829310" h="415925">
                  <a:moveTo>
                    <a:pt x="828731" y="302465"/>
                  </a:moveTo>
                  <a:lnTo>
                    <a:pt x="659218" y="302465"/>
                  </a:lnTo>
                  <a:lnTo>
                    <a:pt x="695784" y="309900"/>
                  </a:lnTo>
                  <a:lnTo>
                    <a:pt x="725728" y="330143"/>
                  </a:lnTo>
                  <a:lnTo>
                    <a:pt x="745961" y="360104"/>
                  </a:lnTo>
                  <a:lnTo>
                    <a:pt x="753392" y="396690"/>
                  </a:lnTo>
                  <a:lnTo>
                    <a:pt x="753392" y="403286"/>
                  </a:lnTo>
                  <a:lnTo>
                    <a:pt x="752450" y="409882"/>
                  </a:lnTo>
                  <a:lnTo>
                    <a:pt x="751509" y="415536"/>
                  </a:lnTo>
                  <a:lnTo>
                    <a:pt x="791062" y="415536"/>
                  </a:lnTo>
                  <a:lnTo>
                    <a:pt x="805688" y="412562"/>
                  </a:lnTo>
                  <a:lnTo>
                    <a:pt x="817666" y="404464"/>
                  </a:lnTo>
                  <a:lnTo>
                    <a:pt x="825759" y="392480"/>
                  </a:lnTo>
                  <a:lnTo>
                    <a:pt x="828731" y="377845"/>
                  </a:lnTo>
                  <a:lnTo>
                    <a:pt x="828731" y="302465"/>
                  </a:lnTo>
                  <a:close/>
                </a:path>
                <a:path w="829310" h="415925">
                  <a:moveTo>
                    <a:pt x="793593" y="38632"/>
                  </a:moveTo>
                  <a:lnTo>
                    <a:pt x="727965" y="38632"/>
                  </a:lnTo>
                  <a:lnTo>
                    <a:pt x="740855" y="40973"/>
                  </a:lnTo>
                  <a:lnTo>
                    <a:pt x="751979" y="47466"/>
                  </a:lnTo>
                  <a:lnTo>
                    <a:pt x="786353" y="203527"/>
                  </a:lnTo>
                  <a:lnTo>
                    <a:pt x="790008" y="242248"/>
                  </a:lnTo>
                  <a:lnTo>
                    <a:pt x="790120" y="245929"/>
                  </a:lnTo>
                  <a:lnTo>
                    <a:pt x="828476" y="245929"/>
                  </a:lnTo>
                  <a:lnTo>
                    <a:pt x="824023" y="196932"/>
                  </a:lnTo>
                  <a:lnTo>
                    <a:pt x="802362" y="62189"/>
                  </a:lnTo>
                  <a:lnTo>
                    <a:pt x="793593" y="38632"/>
                  </a:lnTo>
                  <a:close/>
                </a:path>
                <a:path w="829310" h="415925">
                  <a:moveTo>
                    <a:pt x="226017" y="38632"/>
                  </a:moveTo>
                  <a:lnTo>
                    <a:pt x="188348" y="38632"/>
                  </a:lnTo>
                  <a:lnTo>
                    <a:pt x="188348" y="189393"/>
                  </a:lnTo>
                  <a:lnTo>
                    <a:pt x="226017" y="189393"/>
                  </a:lnTo>
                  <a:lnTo>
                    <a:pt x="226017" y="38632"/>
                  </a:lnTo>
                  <a:close/>
                </a:path>
                <a:path w="829310" h="415925">
                  <a:moveTo>
                    <a:pt x="414365" y="38632"/>
                  </a:moveTo>
                  <a:lnTo>
                    <a:pt x="376696" y="38632"/>
                  </a:lnTo>
                  <a:lnTo>
                    <a:pt x="376696" y="189393"/>
                  </a:lnTo>
                  <a:lnTo>
                    <a:pt x="414365" y="189393"/>
                  </a:lnTo>
                  <a:lnTo>
                    <a:pt x="414365" y="38632"/>
                  </a:lnTo>
                  <a:close/>
                </a:path>
                <a:path w="829310" h="415925">
                  <a:moveTo>
                    <a:pt x="602713" y="38632"/>
                  </a:moveTo>
                  <a:lnTo>
                    <a:pt x="565044" y="38632"/>
                  </a:lnTo>
                  <a:lnTo>
                    <a:pt x="565044" y="189393"/>
                  </a:lnTo>
                  <a:lnTo>
                    <a:pt x="602714" y="189393"/>
                  </a:lnTo>
                  <a:lnTo>
                    <a:pt x="602713" y="38632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24818" y="5842019"/>
              <a:ext cx="163238" cy="16332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919446" y="5848299"/>
              <a:ext cx="339090" cy="151130"/>
            </a:xfrm>
            <a:custGeom>
              <a:avLst/>
              <a:gdLst/>
              <a:ahLst/>
              <a:cxnLst/>
              <a:rect l="l" t="t" r="r" b="b"/>
              <a:pathLst>
                <a:path w="339089" h="151129">
                  <a:moveTo>
                    <a:pt x="0" y="0"/>
                  </a:moveTo>
                  <a:lnTo>
                    <a:pt x="150678" y="0"/>
                  </a:lnTo>
                  <a:lnTo>
                    <a:pt x="150678" y="150761"/>
                  </a:lnTo>
                  <a:lnTo>
                    <a:pt x="0" y="150761"/>
                  </a:lnTo>
                  <a:lnTo>
                    <a:pt x="0" y="0"/>
                  </a:lnTo>
                  <a:close/>
                </a:path>
                <a:path w="339089" h="151129">
                  <a:moveTo>
                    <a:pt x="188348" y="0"/>
                  </a:moveTo>
                  <a:lnTo>
                    <a:pt x="339026" y="0"/>
                  </a:lnTo>
                  <a:lnTo>
                    <a:pt x="339026" y="150761"/>
                  </a:lnTo>
                  <a:lnTo>
                    <a:pt x="188348" y="150761"/>
                  </a:lnTo>
                  <a:lnTo>
                    <a:pt x="188348" y="0"/>
                  </a:lnTo>
                  <a:close/>
                </a:path>
              </a:pathLst>
            </a:custGeom>
            <a:ln w="125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89863" y="5842019"/>
              <a:ext cx="199966" cy="21985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693429" y="5809667"/>
              <a:ext cx="829310" cy="415925"/>
            </a:xfrm>
            <a:custGeom>
              <a:avLst/>
              <a:gdLst/>
              <a:ahLst/>
              <a:cxnLst/>
              <a:rect l="l" t="t" r="r" b="b"/>
              <a:pathLst>
                <a:path w="829310" h="415925">
                  <a:moveTo>
                    <a:pt x="0" y="38632"/>
                  </a:moveTo>
                  <a:lnTo>
                    <a:pt x="0" y="377845"/>
                  </a:lnTo>
                  <a:lnTo>
                    <a:pt x="23043" y="412562"/>
                  </a:lnTo>
                  <a:lnTo>
                    <a:pt x="37669" y="415536"/>
                  </a:lnTo>
                  <a:lnTo>
                    <a:pt x="39553" y="415536"/>
                  </a:lnTo>
                  <a:lnTo>
                    <a:pt x="38611" y="409882"/>
                  </a:lnTo>
                  <a:lnTo>
                    <a:pt x="37669" y="403286"/>
                  </a:lnTo>
                  <a:lnTo>
                    <a:pt x="45100" y="360104"/>
                  </a:lnTo>
                  <a:lnTo>
                    <a:pt x="95277" y="309900"/>
                  </a:lnTo>
                  <a:lnTo>
                    <a:pt x="131843" y="302465"/>
                  </a:lnTo>
                  <a:lnTo>
                    <a:pt x="168409" y="309900"/>
                  </a:lnTo>
                  <a:lnTo>
                    <a:pt x="198354" y="330143"/>
                  </a:lnTo>
                  <a:lnTo>
                    <a:pt x="218586" y="360104"/>
                  </a:lnTo>
                  <a:lnTo>
                    <a:pt x="226017" y="396690"/>
                  </a:lnTo>
                  <a:lnTo>
                    <a:pt x="226017" y="403286"/>
                  </a:lnTo>
                  <a:lnTo>
                    <a:pt x="225076" y="409882"/>
                  </a:lnTo>
                  <a:lnTo>
                    <a:pt x="224134" y="415536"/>
                  </a:lnTo>
                  <a:lnTo>
                    <a:pt x="566927" y="415536"/>
                  </a:lnTo>
                  <a:lnTo>
                    <a:pt x="565986" y="409882"/>
                  </a:lnTo>
                  <a:lnTo>
                    <a:pt x="565044" y="403286"/>
                  </a:lnTo>
                  <a:lnTo>
                    <a:pt x="565044" y="396690"/>
                  </a:lnTo>
                  <a:lnTo>
                    <a:pt x="572475" y="360104"/>
                  </a:lnTo>
                  <a:lnTo>
                    <a:pt x="592708" y="330143"/>
                  </a:lnTo>
                  <a:lnTo>
                    <a:pt x="622652" y="309900"/>
                  </a:lnTo>
                  <a:lnTo>
                    <a:pt x="659218" y="302465"/>
                  </a:lnTo>
                  <a:lnTo>
                    <a:pt x="695784" y="309900"/>
                  </a:lnTo>
                  <a:lnTo>
                    <a:pt x="725728" y="330143"/>
                  </a:lnTo>
                  <a:lnTo>
                    <a:pt x="745961" y="360104"/>
                  </a:lnTo>
                  <a:lnTo>
                    <a:pt x="753392" y="396690"/>
                  </a:lnTo>
                  <a:lnTo>
                    <a:pt x="753392" y="403286"/>
                  </a:lnTo>
                  <a:lnTo>
                    <a:pt x="752450" y="409882"/>
                  </a:lnTo>
                  <a:lnTo>
                    <a:pt x="751509" y="415536"/>
                  </a:lnTo>
                  <a:lnTo>
                    <a:pt x="791062" y="415536"/>
                  </a:lnTo>
                  <a:lnTo>
                    <a:pt x="805688" y="412562"/>
                  </a:lnTo>
                  <a:lnTo>
                    <a:pt x="817666" y="404464"/>
                  </a:lnTo>
                  <a:lnTo>
                    <a:pt x="825759" y="392480"/>
                  </a:lnTo>
                  <a:lnTo>
                    <a:pt x="828731" y="377845"/>
                  </a:lnTo>
                  <a:lnTo>
                    <a:pt x="828731" y="257236"/>
                  </a:lnTo>
                  <a:lnTo>
                    <a:pt x="825950" y="211919"/>
                  </a:lnTo>
                  <a:lnTo>
                    <a:pt x="802362" y="62189"/>
                  </a:lnTo>
                  <a:lnTo>
                    <a:pt x="776465" y="17667"/>
                  </a:lnTo>
                  <a:lnTo>
                    <a:pt x="727965" y="0"/>
                  </a:lnTo>
                  <a:lnTo>
                    <a:pt x="37669" y="0"/>
                  </a:lnTo>
                  <a:lnTo>
                    <a:pt x="23043" y="3518"/>
                  </a:lnTo>
                  <a:lnTo>
                    <a:pt x="11065" y="11896"/>
                  </a:lnTo>
                  <a:lnTo>
                    <a:pt x="2972" y="23983"/>
                  </a:lnTo>
                  <a:lnTo>
                    <a:pt x="0" y="38632"/>
                  </a:lnTo>
                  <a:close/>
                </a:path>
              </a:pathLst>
            </a:custGeom>
            <a:ln w="125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80445" y="6134119"/>
              <a:ext cx="144403" cy="1444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53071" y="6134119"/>
              <a:ext cx="144403" cy="14447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3588" y="6085996"/>
              <a:ext cx="142833" cy="14290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00380" y="6085996"/>
              <a:ext cx="142833" cy="14290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37239" y="5733433"/>
              <a:ext cx="866775" cy="424180"/>
            </a:xfrm>
            <a:custGeom>
              <a:avLst/>
              <a:gdLst/>
              <a:ahLst/>
              <a:cxnLst/>
              <a:rect l="l" t="t" r="r" b="b"/>
              <a:pathLst>
                <a:path w="866775" h="424179">
                  <a:moveTo>
                    <a:pt x="476520" y="277966"/>
                  </a:moveTo>
                  <a:lnTo>
                    <a:pt x="0" y="277966"/>
                  </a:lnTo>
                  <a:lnTo>
                    <a:pt x="0" y="424016"/>
                  </a:lnTo>
                  <a:lnTo>
                    <a:pt x="103591" y="424016"/>
                  </a:lnTo>
                  <a:lnTo>
                    <a:pt x="110477" y="387415"/>
                  </a:lnTo>
                  <a:lnTo>
                    <a:pt x="130431" y="357351"/>
                  </a:lnTo>
                  <a:lnTo>
                    <a:pt x="160272" y="336828"/>
                  </a:lnTo>
                  <a:lnTo>
                    <a:pt x="196823" y="328848"/>
                  </a:lnTo>
                  <a:lnTo>
                    <a:pt x="866401" y="328848"/>
                  </a:lnTo>
                  <a:lnTo>
                    <a:pt x="866401" y="315656"/>
                  </a:lnTo>
                  <a:lnTo>
                    <a:pt x="457685" y="315656"/>
                  </a:lnTo>
                  <a:lnTo>
                    <a:pt x="476520" y="277966"/>
                  </a:lnTo>
                  <a:close/>
                </a:path>
                <a:path w="866775" h="424179">
                  <a:moveTo>
                    <a:pt x="733615" y="328848"/>
                  </a:moveTo>
                  <a:lnTo>
                    <a:pt x="196823" y="328848"/>
                  </a:lnTo>
                  <a:lnTo>
                    <a:pt x="233404" y="335738"/>
                  </a:lnTo>
                  <a:lnTo>
                    <a:pt x="263451" y="355702"/>
                  </a:lnTo>
                  <a:lnTo>
                    <a:pt x="283964" y="385560"/>
                  </a:lnTo>
                  <a:lnTo>
                    <a:pt x="291939" y="422131"/>
                  </a:lnTo>
                  <a:lnTo>
                    <a:pt x="291939" y="424016"/>
                  </a:lnTo>
                  <a:lnTo>
                    <a:pt x="640383" y="424016"/>
                  </a:lnTo>
                  <a:lnTo>
                    <a:pt x="647270" y="387415"/>
                  </a:lnTo>
                  <a:lnTo>
                    <a:pt x="667223" y="357351"/>
                  </a:lnTo>
                  <a:lnTo>
                    <a:pt x="697064" y="336828"/>
                  </a:lnTo>
                  <a:lnTo>
                    <a:pt x="733615" y="328848"/>
                  </a:lnTo>
                  <a:close/>
                </a:path>
                <a:path w="866775" h="424179">
                  <a:moveTo>
                    <a:pt x="866401" y="328848"/>
                  </a:moveTo>
                  <a:lnTo>
                    <a:pt x="733615" y="328848"/>
                  </a:lnTo>
                  <a:lnTo>
                    <a:pt x="770196" y="335738"/>
                  </a:lnTo>
                  <a:lnTo>
                    <a:pt x="800244" y="355702"/>
                  </a:lnTo>
                  <a:lnTo>
                    <a:pt x="820756" y="385560"/>
                  </a:lnTo>
                  <a:lnTo>
                    <a:pt x="828731" y="422131"/>
                  </a:lnTo>
                  <a:lnTo>
                    <a:pt x="828731" y="424016"/>
                  </a:lnTo>
                  <a:lnTo>
                    <a:pt x="843358" y="421042"/>
                  </a:lnTo>
                  <a:lnTo>
                    <a:pt x="855335" y="412944"/>
                  </a:lnTo>
                  <a:lnTo>
                    <a:pt x="863428" y="400960"/>
                  </a:lnTo>
                  <a:lnTo>
                    <a:pt x="866401" y="386326"/>
                  </a:lnTo>
                  <a:lnTo>
                    <a:pt x="866401" y="328848"/>
                  </a:lnTo>
                  <a:close/>
                </a:path>
                <a:path w="866775" h="424179">
                  <a:moveTo>
                    <a:pt x="776935" y="0"/>
                  </a:moveTo>
                  <a:lnTo>
                    <a:pt x="28252" y="0"/>
                  </a:lnTo>
                  <a:lnTo>
                    <a:pt x="17083" y="2164"/>
                  </a:lnTo>
                  <a:lnTo>
                    <a:pt x="8122" y="8126"/>
                  </a:lnTo>
                  <a:lnTo>
                    <a:pt x="2163" y="17093"/>
                  </a:lnTo>
                  <a:lnTo>
                    <a:pt x="0" y="28267"/>
                  </a:lnTo>
                  <a:lnTo>
                    <a:pt x="0" y="249698"/>
                  </a:lnTo>
                  <a:lnTo>
                    <a:pt x="521724" y="249698"/>
                  </a:lnTo>
                  <a:lnTo>
                    <a:pt x="502889" y="287388"/>
                  </a:lnTo>
                  <a:lnTo>
                    <a:pt x="640383" y="287388"/>
                  </a:lnTo>
                  <a:lnTo>
                    <a:pt x="640383" y="315656"/>
                  </a:lnTo>
                  <a:lnTo>
                    <a:pt x="866401" y="315656"/>
                  </a:lnTo>
                  <a:lnTo>
                    <a:pt x="857660" y="274712"/>
                  </a:lnTo>
                  <a:lnTo>
                    <a:pt x="801421" y="230853"/>
                  </a:lnTo>
                  <a:lnTo>
                    <a:pt x="794829" y="226142"/>
                  </a:lnTo>
                  <a:lnTo>
                    <a:pt x="793651" y="224257"/>
                  </a:lnTo>
                  <a:lnTo>
                    <a:pt x="752450" y="224257"/>
                  </a:lnTo>
                  <a:lnTo>
                    <a:pt x="640383" y="223315"/>
                  </a:lnTo>
                  <a:lnTo>
                    <a:pt x="640383" y="179029"/>
                  </a:lnTo>
                  <a:lnTo>
                    <a:pt x="103591" y="179029"/>
                  </a:lnTo>
                  <a:lnTo>
                    <a:pt x="103591" y="113071"/>
                  </a:lnTo>
                  <a:lnTo>
                    <a:pt x="847626" y="113071"/>
                  </a:lnTo>
                  <a:lnTo>
                    <a:pt x="849449" y="103648"/>
                  </a:lnTo>
                  <a:lnTo>
                    <a:pt x="811780" y="21671"/>
                  </a:lnTo>
                  <a:lnTo>
                    <a:pt x="787280" y="1531"/>
                  </a:lnTo>
                  <a:lnTo>
                    <a:pt x="776935" y="0"/>
                  </a:lnTo>
                  <a:close/>
                </a:path>
                <a:path w="866775" h="424179">
                  <a:moveTo>
                    <a:pt x="763751" y="131916"/>
                  </a:moveTo>
                  <a:lnTo>
                    <a:pt x="699713" y="131916"/>
                  </a:lnTo>
                  <a:lnTo>
                    <a:pt x="708659" y="132976"/>
                  </a:lnTo>
                  <a:lnTo>
                    <a:pt x="716900" y="136156"/>
                  </a:lnTo>
                  <a:lnTo>
                    <a:pt x="724080" y="141456"/>
                  </a:lnTo>
                  <a:lnTo>
                    <a:pt x="729848" y="148876"/>
                  </a:lnTo>
                  <a:lnTo>
                    <a:pt x="730790" y="151703"/>
                  </a:lnTo>
                  <a:lnTo>
                    <a:pt x="732674" y="154530"/>
                  </a:lnTo>
                  <a:lnTo>
                    <a:pt x="732674" y="157357"/>
                  </a:lnTo>
                  <a:lnTo>
                    <a:pt x="751508" y="222373"/>
                  </a:lnTo>
                  <a:lnTo>
                    <a:pt x="751508" y="223315"/>
                  </a:lnTo>
                  <a:lnTo>
                    <a:pt x="752450" y="223315"/>
                  </a:lnTo>
                  <a:lnTo>
                    <a:pt x="752450" y="224257"/>
                  </a:lnTo>
                  <a:lnTo>
                    <a:pt x="793651" y="224257"/>
                  </a:lnTo>
                  <a:lnTo>
                    <a:pt x="790120" y="218604"/>
                  </a:lnTo>
                  <a:lnTo>
                    <a:pt x="788236" y="211065"/>
                  </a:lnTo>
                  <a:lnTo>
                    <a:pt x="769402" y="146050"/>
                  </a:lnTo>
                  <a:lnTo>
                    <a:pt x="763751" y="131916"/>
                  </a:lnTo>
                  <a:close/>
                </a:path>
                <a:path w="866775" h="424179">
                  <a:moveTo>
                    <a:pt x="414365" y="113071"/>
                  </a:moveTo>
                  <a:lnTo>
                    <a:pt x="291939" y="113071"/>
                  </a:lnTo>
                  <a:lnTo>
                    <a:pt x="291939" y="179029"/>
                  </a:lnTo>
                  <a:lnTo>
                    <a:pt x="414365" y="179029"/>
                  </a:lnTo>
                  <a:lnTo>
                    <a:pt x="414365" y="113071"/>
                  </a:lnTo>
                  <a:close/>
                </a:path>
                <a:path w="866775" h="424179">
                  <a:moveTo>
                    <a:pt x="847626" y="113071"/>
                  </a:moveTo>
                  <a:lnTo>
                    <a:pt x="517957" y="113071"/>
                  </a:lnTo>
                  <a:lnTo>
                    <a:pt x="517957" y="179029"/>
                  </a:lnTo>
                  <a:lnTo>
                    <a:pt x="640383" y="179029"/>
                  </a:lnTo>
                  <a:lnTo>
                    <a:pt x="640383" y="131916"/>
                  </a:lnTo>
                  <a:lnTo>
                    <a:pt x="821197" y="131916"/>
                  </a:lnTo>
                  <a:lnTo>
                    <a:pt x="832366" y="129751"/>
                  </a:lnTo>
                  <a:lnTo>
                    <a:pt x="841327" y="123789"/>
                  </a:lnTo>
                  <a:lnTo>
                    <a:pt x="847286" y="114823"/>
                  </a:lnTo>
                  <a:lnTo>
                    <a:pt x="847626" y="113071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7239" y="5733433"/>
              <a:ext cx="866775" cy="424180"/>
            </a:xfrm>
            <a:custGeom>
              <a:avLst/>
              <a:gdLst/>
              <a:ahLst/>
              <a:cxnLst/>
              <a:rect l="l" t="t" r="r" b="b"/>
              <a:pathLst>
                <a:path w="866775" h="424179">
                  <a:moveTo>
                    <a:pt x="640383" y="424016"/>
                  </a:moveTo>
                  <a:lnTo>
                    <a:pt x="647270" y="387415"/>
                  </a:lnTo>
                  <a:lnTo>
                    <a:pt x="667223" y="357351"/>
                  </a:lnTo>
                  <a:lnTo>
                    <a:pt x="697064" y="336828"/>
                  </a:lnTo>
                  <a:lnTo>
                    <a:pt x="733615" y="328848"/>
                  </a:lnTo>
                  <a:lnTo>
                    <a:pt x="770196" y="335738"/>
                  </a:lnTo>
                  <a:lnTo>
                    <a:pt x="800244" y="355702"/>
                  </a:lnTo>
                  <a:lnTo>
                    <a:pt x="820756" y="385560"/>
                  </a:lnTo>
                  <a:lnTo>
                    <a:pt x="828731" y="422131"/>
                  </a:lnTo>
                  <a:lnTo>
                    <a:pt x="828731" y="423074"/>
                  </a:lnTo>
                  <a:lnTo>
                    <a:pt x="863428" y="400960"/>
                  </a:lnTo>
                  <a:lnTo>
                    <a:pt x="866401" y="386326"/>
                  </a:lnTo>
                  <a:lnTo>
                    <a:pt x="866401" y="298696"/>
                  </a:lnTo>
                  <a:lnTo>
                    <a:pt x="801421" y="230853"/>
                  </a:lnTo>
                  <a:lnTo>
                    <a:pt x="794829" y="226142"/>
                  </a:lnTo>
                  <a:lnTo>
                    <a:pt x="790120" y="218604"/>
                  </a:lnTo>
                  <a:lnTo>
                    <a:pt x="788236" y="211065"/>
                  </a:lnTo>
                  <a:lnTo>
                    <a:pt x="769402" y="146050"/>
                  </a:lnTo>
                  <a:lnTo>
                    <a:pt x="767518" y="141338"/>
                  </a:lnTo>
                  <a:lnTo>
                    <a:pt x="765635" y="136627"/>
                  </a:lnTo>
                  <a:lnTo>
                    <a:pt x="763751" y="131916"/>
                  </a:lnTo>
                  <a:lnTo>
                    <a:pt x="821197" y="131916"/>
                  </a:lnTo>
                  <a:lnTo>
                    <a:pt x="832366" y="129751"/>
                  </a:lnTo>
                  <a:lnTo>
                    <a:pt x="841327" y="123789"/>
                  </a:lnTo>
                  <a:lnTo>
                    <a:pt x="847286" y="114823"/>
                  </a:lnTo>
                  <a:lnTo>
                    <a:pt x="849449" y="103648"/>
                  </a:lnTo>
                  <a:lnTo>
                    <a:pt x="849449" y="98937"/>
                  </a:lnTo>
                  <a:lnTo>
                    <a:pt x="848508" y="95168"/>
                  </a:lnTo>
                  <a:lnTo>
                    <a:pt x="846624" y="91399"/>
                  </a:lnTo>
                  <a:lnTo>
                    <a:pt x="811780" y="21671"/>
                  </a:lnTo>
                  <a:lnTo>
                    <a:pt x="805144" y="12720"/>
                  </a:lnTo>
                  <a:lnTo>
                    <a:pt x="796830" y="5889"/>
                  </a:lnTo>
                  <a:lnTo>
                    <a:pt x="787280" y="1531"/>
                  </a:lnTo>
                  <a:lnTo>
                    <a:pt x="776935" y="0"/>
                  </a:lnTo>
                  <a:lnTo>
                    <a:pt x="28252" y="0"/>
                  </a:lnTo>
                  <a:lnTo>
                    <a:pt x="17083" y="2164"/>
                  </a:lnTo>
                  <a:lnTo>
                    <a:pt x="8122" y="8126"/>
                  </a:lnTo>
                  <a:lnTo>
                    <a:pt x="2163" y="17093"/>
                  </a:lnTo>
                  <a:lnTo>
                    <a:pt x="0" y="28267"/>
                  </a:lnTo>
                  <a:lnTo>
                    <a:pt x="0" y="249698"/>
                  </a:lnTo>
                  <a:lnTo>
                    <a:pt x="521724" y="249698"/>
                  </a:lnTo>
                  <a:lnTo>
                    <a:pt x="502889" y="287388"/>
                  </a:lnTo>
                  <a:lnTo>
                    <a:pt x="640383" y="287388"/>
                  </a:lnTo>
                  <a:lnTo>
                    <a:pt x="640383" y="315656"/>
                  </a:lnTo>
                  <a:lnTo>
                    <a:pt x="457685" y="315656"/>
                  </a:lnTo>
                  <a:lnTo>
                    <a:pt x="476520" y="277966"/>
                  </a:lnTo>
                  <a:lnTo>
                    <a:pt x="0" y="277966"/>
                  </a:lnTo>
                  <a:lnTo>
                    <a:pt x="0" y="424016"/>
                  </a:lnTo>
                  <a:lnTo>
                    <a:pt x="103591" y="424016"/>
                  </a:lnTo>
                  <a:lnTo>
                    <a:pt x="110477" y="387415"/>
                  </a:lnTo>
                  <a:lnTo>
                    <a:pt x="130431" y="357351"/>
                  </a:lnTo>
                  <a:lnTo>
                    <a:pt x="160272" y="336828"/>
                  </a:lnTo>
                  <a:lnTo>
                    <a:pt x="196823" y="328848"/>
                  </a:lnTo>
                  <a:lnTo>
                    <a:pt x="233404" y="335738"/>
                  </a:lnTo>
                  <a:lnTo>
                    <a:pt x="263451" y="355702"/>
                  </a:lnTo>
                  <a:lnTo>
                    <a:pt x="283964" y="385560"/>
                  </a:lnTo>
                  <a:lnTo>
                    <a:pt x="291939" y="422131"/>
                  </a:lnTo>
                  <a:lnTo>
                    <a:pt x="291939" y="423074"/>
                  </a:lnTo>
                  <a:lnTo>
                    <a:pt x="291939" y="424016"/>
                  </a:lnTo>
                  <a:lnTo>
                    <a:pt x="640383" y="424016"/>
                  </a:lnTo>
                  <a:close/>
                </a:path>
                <a:path w="866775" h="424179">
                  <a:moveTo>
                    <a:pt x="291939" y="179029"/>
                  </a:moveTo>
                  <a:lnTo>
                    <a:pt x="103591" y="179029"/>
                  </a:lnTo>
                  <a:lnTo>
                    <a:pt x="103591" y="113071"/>
                  </a:lnTo>
                  <a:lnTo>
                    <a:pt x="291939" y="113071"/>
                  </a:lnTo>
                  <a:lnTo>
                    <a:pt x="291939" y="179029"/>
                  </a:lnTo>
                  <a:close/>
                </a:path>
                <a:path w="866775" h="424179">
                  <a:moveTo>
                    <a:pt x="517957" y="179029"/>
                  </a:moveTo>
                  <a:lnTo>
                    <a:pt x="414365" y="179029"/>
                  </a:lnTo>
                  <a:lnTo>
                    <a:pt x="414365" y="113071"/>
                  </a:lnTo>
                  <a:lnTo>
                    <a:pt x="517957" y="113071"/>
                  </a:lnTo>
                  <a:lnTo>
                    <a:pt x="517957" y="179029"/>
                  </a:lnTo>
                  <a:close/>
                </a:path>
              </a:pathLst>
            </a:custGeom>
            <a:ln w="109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2128" y="5859854"/>
              <a:ext cx="123057" cy="1033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Advantage/Disadvantage</a:t>
            </a:r>
            <a:r>
              <a:rPr spc="-160" dirty="0"/>
              <a:t> </a:t>
            </a:r>
            <a:r>
              <a:rPr spc="-90" dirty="0"/>
              <a:t>of</a:t>
            </a:r>
            <a:r>
              <a:rPr spc="-135" dirty="0"/>
              <a:t> </a:t>
            </a:r>
            <a:r>
              <a:rPr spc="60" dirty="0"/>
              <a:t>Full-</a:t>
            </a:r>
            <a:r>
              <a:rPr dirty="0"/>
              <a:t>Duplex</a:t>
            </a:r>
            <a:r>
              <a:rPr spc="-135" dirty="0"/>
              <a:t> </a:t>
            </a:r>
            <a:r>
              <a:rPr spc="-20" dirty="0"/>
              <a:t>Mode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60" y="1821179"/>
            <a:ext cx="2786645" cy="20947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2076" y="4084320"/>
            <a:ext cx="2785116" cy="209473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62069" y="2282774"/>
            <a:ext cx="6249035" cy="354202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885825">
              <a:lnSpc>
                <a:spcPts val="3190"/>
              </a:lnSpc>
              <a:spcBef>
                <a:spcPts val="455"/>
              </a:spcBef>
            </a:pPr>
            <a:r>
              <a:rPr sz="2900" spc="65" dirty="0">
                <a:latin typeface="Calibri"/>
                <a:cs typeface="Calibri"/>
              </a:rPr>
              <a:t>Both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90" dirty="0">
                <a:latin typeface="Calibri"/>
                <a:cs typeface="Calibri"/>
              </a:rPr>
              <a:t>stations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165" dirty="0">
                <a:latin typeface="Calibri"/>
                <a:cs typeface="Calibri"/>
              </a:rPr>
              <a:t>can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120" dirty="0">
                <a:latin typeface="Calibri"/>
                <a:cs typeface="Calibri"/>
              </a:rPr>
              <a:t>send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75" dirty="0">
                <a:latin typeface="Calibri"/>
                <a:cs typeface="Calibri"/>
              </a:rPr>
              <a:t>and </a:t>
            </a:r>
            <a:r>
              <a:rPr sz="2900" spc="55" dirty="0">
                <a:latin typeface="Calibri"/>
                <a:cs typeface="Calibri"/>
              </a:rPr>
              <a:t>receive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75" dirty="0">
                <a:latin typeface="Calibri"/>
                <a:cs typeface="Calibri"/>
              </a:rPr>
              <a:t>data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at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155" dirty="0">
                <a:latin typeface="Calibri"/>
                <a:cs typeface="Calibri"/>
              </a:rPr>
              <a:t>same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time.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900">
              <a:latin typeface="Calibri"/>
              <a:cs typeface="Calibri"/>
            </a:endParaRPr>
          </a:p>
          <a:p>
            <a:pPr marL="848360" marR="5080">
              <a:lnSpc>
                <a:spcPct val="91600"/>
              </a:lnSpc>
            </a:pPr>
            <a:r>
              <a:rPr sz="2900" dirty="0">
                <a:latin typeface="Calibri"/>
                <a:cs typeface="Calibri"/>
              </a:rPr>
              <a:t>If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there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140" dirty="0">
                <a:latin typeface="Calibri"/>
                <a:cs typeface="Calibri"/>
              </a:rPr>
              <a:t>is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75" dirty="0">
                <a:latin typeface="Calibri"/>
                <a:cs typeface="Calibri"/>
              </a:rPr>
              <a:t>no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90" dirty="0">
                <a:latin typeface="Calibri"/>
                <a:cs typeface="Calibri"/>
              </a:rPr>
              <a:t>dedicated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spc="55" dirty="0">
                <a:latin typeface="Calibri"/>
                <a:cs typeface="Calibri"/>
              </a:rPr>
              <a:t>path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spc="80" dirty="0">
                <a:latin typeface="Calibri"/>
                <a:cs typeface="Calibri"/>
              </a:rPr>
              <a:t>exists </a:t>
            </a:r>
            <a:r>
              <a:rPr sz="2900" dirty="0">
                <a:latin typeface="Calibri"/>
                <a:cs typeface="Calibri"/>
              </a:rPr>
              <a:t>between</a:t>
            </a:r>
            <a:r>
              <a:rPr sz="2900" spc="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85" dirty="0">
                <a:latin typeface="Calibri"/>
                <a:cs typeface="Calibri"/>
              </a:rPr>
              <a:t> </a:t>
            </a:r>
            <a:r>
              <a:rPr sz="2900" spc="114" dirty="0">
                <a:latin typeface="Calibri"/>
                <a:cs typeface="Calibri"/>
              </a:rPr>
              <a:t>devices,</a:t>
            </a:r>
            <a:r>
              <a:rPr sz="2900" spc="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then</a:t>
            </a:r>
            <a:r>
              <a:rPr sz="2900" spc="8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the </a:t>
            </a:r>
            <a:r>
              <a:rPr sz="2900" spc="114" dirty="0">
                <a:latin typeface="Calibri"/>
                <a:cs typeface="Calibri"/>
              </a:rPr>
              <a:t>capacity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spc="90" dirty="0">
                <a:latin typeface="Calibri"/>
                <a:cs typeface="Calibri"/>
              </a:rPr>
              <a:t>communication </a:t>
            </a:r>
            <a:r>
              <a:rPr sz="2900" spc="110" dirty="0">
                <a:latin typeface="Calibri"/>
                <a:cs typeface="Calibri"/>
              </a:rPr>
              <a:t>channel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150" dirty="0">
                <a:latin typeface="Calibri"/>
                <a:cs typeface="Calibri"/>
              </a:rPr>
              <a:t>is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spc="60" dirty="0">
                <a:latin typeface="Calibri"/>
                <a:cs typeface="Calibri"/>
              </a:rPr>
              <a:t>divided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into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two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65" dirty="0">
                <a:latin typeface="Calibri"/>
                <a:cs typeface="Calibri"/>
              </a:rPr>
              <a:t>parts.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Differences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1819275"/>
          <a:ext cx="10604500" cy="4784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5905"/>
                <a:gridCol w="2733674"/>
                <a:gridCol w="2957195"/>
                <a:gridCol w="3299459"/>
              </a:tblGrid>
              <a:tr h="639445">
                <a:tc>
                  <a:txBody>
                    <a:bodyPr/>
                    <a:lstStyle/>
                    <a:p>
                      <a:pPr marL="76200" marR="3365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1600" b="1" spc="1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for </a:t>
                      </a:r>
                      <a:r>
                        <a:rPr sz="1600" b="1" spc="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comparison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b="1" spc="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Simplex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b="1" spc="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Half-</a:t>
                      </a:r>
                      <a:r>
                        <a:rPr sz="160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60"/>
                        </a:spcBef>
                      </a:pPr>
                      <a:r>
                        <a:rPr sz="1600" b="1" spc="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Full-</a:t>
                      </a:r>
                      <a:r>
                        <a:rPr sz="1600" b="1" spc="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854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Direction</a:t>
                      </a:r>
                      <a:r>
                        <a:rPr sz="1600" spc="2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of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40" dirty="0">
                          <a:latin typeface="Calibri"/>
                          <a:cs typeface="Calibri"/>
                        </a:rPr>
                        <a:t>communication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0960" marR="852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simplex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mode,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communication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unidirectional.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1066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half-duplex</a:t>
                      </a:r>
                      <a:r>
                        <a:rPr sz="16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mode,</a:t>
                      </a:r>
                      <a:r>
                        <a:rPr sz="1600" spc="20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bidirectional,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time.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6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full-duplex</a:t>
                      </a:r>
                      <a:r>
                        <a:rPr sz="1600" spc="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mode,</a:t>
                      </a:r>
                      <a:r>
                        <a:rPr sz="1600" spc="1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159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50" dirty="0">
                          <a:latin typeface="Calibri"/>
                          <a:cs typeface="Calibri"/>
                        </a:rPr>
                        <a:t>communication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bidirectional.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7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1096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Send/Receive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0960" marR="755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device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send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cannot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6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it 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but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cannot</a:t>
                      </a:r>
                      <a:r>
                        <a:rPr sz="1600" spc="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600" spc="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it.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220979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but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at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time.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1594" marR="41211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Both</a:t>
                      </a:r>
                      <a:r>
                        <a:rPr sz="16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0" dirty="0">
                          <a:latin typeface="Calibri"/>
                          <a:cs typeface="Calibri"/>
                        </a:rPr>
                        <a:t>devices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6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send</a:t>
                      </a:r>
                      <a:r>
                        <a:rPr sz="16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receive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simultaneously.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  <a:tr h="1341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Performance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960" marR="3371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600" spc="1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half-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is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6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than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simplex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mode.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1594" marR="2006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60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1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full-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duplex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better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than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half-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spc="1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mode.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5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208279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Full-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6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6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better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6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among</a:t>
                      </a:r>
                      <a:r>
                        <a:rPr sz="16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simplex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half-duplex</a:t>
                      </a:r>
                      <a:r>
                        <a:rPr sz="16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600" spc="110" dirty="0">
                          <a:latin typeface="Calibri"/>
                          <a:cs typeface="Calibri"/>
                        </a:rPr>
                        <a:t> as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doubles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utilization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60" dirty="0">
                          <a:latin typeface="Calibri"/>
                          <a:cs typeface="Calibri"/>
                        </a:rPr>
                        <a:t>capacity</a:t>
                      </a:r>
                      <a:r>
                        <a:rPr sz="16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communication channel.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spc="45" dirty="0">
                          <a:latin typeface="Calibri"/>
                          <a:cs typeface="Calibri"/>
                        </a:rPr>
                        <a:t>Example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0960" marR="31051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70" dirty="0">
                          <a:latin typeface="Calibri"/>
                          <a:cs typeface="Calibri"/>
                        </a:rPr>
                        <a:t>Examples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Simplex</a:t>
                      </a:r>
                      <a:r>
                        <a:rPr sz="16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mode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6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radio,</a:t>
                      </a:r>
                      <a:r>
                        <a:rPr sz="16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keyboard,</a:t>
                      </a:r>
                      <a:r>
                        <a:rPr sz="16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3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monitor.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69469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55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1600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half-duplex</a:t>
                      </a:r>
                      <a:r>
                        <a:rPr sz="16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Walkie-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Talkies.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17208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600" spc="55" dirty="0">
                          <a:latin typeface="Calibri"/>
                          <a:cs typeface="Calibri"/>
                        </a:rPr>
                        <a:t>Example</a:t>
                      </a:r>
                      <a:r>
                        <a:rPr sz="1600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6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Full-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duplex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6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is 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latin typeface="Calibri"/>
                          <a:cs typeface="Calibri"/>
                        </a:rPr>
                        <a:t>telephone</a:t>
                      </a:r>
                      <a:r>
                        <a:rPr sz="16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network.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500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Computer Networks [Transmission Modes]</vt:lpstr>
      <vt:lpstr>Transmission Modes</vt:lpstr>
      <vt:lpstr>Simplex Mode</vt:lpstr>
      <vt:lpstr>Simplex Mode</vt:lpstr>
      <vt:lpstr>Advantage/Disadvantage of Simplex Mode</vt:lpstr>
      <vt:lpstr>Half-Duplex Mode</vt:lpstr>
      <vt:lpstr>Half-Duplex Mode</vt:lpstr>
      <vt:lpstr>Advantage/Disadvantage of Half-Duplex Mode</vt:lpstr>
      <vt:lpstr>Full-Duplex Mode</vt:lpstr>
      <vt:lpstr>Full-Duplex Mode</vt:lpstr>
      <vt:lpstr>Advantage/Disadvantage of Full-Duplex Mode</vt:lpstr>
      <vt:lpstr>Differences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[Transmission Modes]</dc:title>
  <dc:creator>Muhammad Hammad Waseem</dc:creator>
  <cp:lastModifiedBy>Windows User</cp:lastModifiedBy>
  <cp:revision>1</cp:revision>
  <dcterms:created xsi:type="dcterms:W3CDTF">2025-06-30T07:07:16Z</dcterms:created>
  <dcterms:modified xsi:type="dcterms:W3CDTF">2025-06-30T07:14:22Z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3-Heights(TM) PDF Security Shell 4.8.25.2 (http://www.pdf-tools.com)</vt:lpwstr>
  </property>
</Properties>
</file>