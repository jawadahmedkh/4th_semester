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71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384041" y="2255342"/>
            <a:ext cx="4144009" cy="1017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384041" y="4534916"/>
            <a:ext cx="4429125" cy="1016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8768" y="2022001"/>
            <a:ext cx="5001260" cy="38461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1005903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59966"/>
            <a:ext cx="10360025" cy="4247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" y="0"/>
            <a:ext cx="1219198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519552" y="1355852"/>
            <a:ext cx="7154545" cy="2586355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12700" marR="5080" indent="2540" algn="ctr">
              <a:lnSpc>
                <a:spcPct val="90000"/>
              </a:lnSpc>
              <a:spcBef>
                <a:spcPts val="820"/>
              </a:spcBef>
            </a:pPr>
            <a:r>
              <a:rPr sz="6000" dirty="0">
                <a:solidFill>
                  <a:srgbClr val="FFFFFF"/>
                </a:solidFill>
              </a:rPr>
              <a:t>Computer</a:t>
            </a:r>
            <a:r>
              <a:rPr sz="6000" spc="-170" dirty="0">
                <a:solidFill>
                  <a:srgbClr val="FFFFFF"/>
                </a:solidFill>
              </a:rPr>
              <a:t> </a:t>
            </a:r>
            <a:r>
              <a:rPr sz="6000" spc="-10" dirty="0">
                <a:solidFill>
                  <a:srgbClr val="FFFFFF"/>
                </a:solidFill>
              </a:rPr>
              <a:t>Networks </a:t>
            </a:r>
            <a:r>
              <a:rPr sz="6000" dirty="0">
                <a:solidFill>
                  <a:srgbClr val="FFFFFF"/>
                </a:solidFill>
              </a:rPr>
              <a:t>[Data</a:t>
            </a:r>
            <a:r>
              <a:rPr sz="6000" spc="-45" dirty="0">
                <a:solidFill>
                  <a:srgbClr val="FFFFFF"/>
                </a:solidFill>
              </a:rPr>
              <a:t> </a:t>
            </a:r>
            <a:r>
              <a:rPr sz="6000" dirty="0">
                <a:solidFill>
                  <a:srgbClr val="FFFFFF"/>
                </a:solidFill>
              </a:rPr>
              <a:t>Comm.</a:t>
            </a:r>
            <a:r>
              <a:rPr sz="6000" spc="-80" dirty="0">
                <a:solidFill>
                  <a:srgbClr val="FFFFFF"/>
                </a:solidFill>
              </a:rPr>
              <a:t> </a:t>
            </a:r>
            <a:r>
              <a:rPr sz="6000" dirty="0">
                <a:solidFill>
                  <a:srgbClr val="FFFFFF"/>
                </a:solidFill>
              </a:rPr>
              <a:t>And</a:t>
            </a:r>
            <a:r>
              <a:rPr sz="6000" spc="-65" dirty="0">
                <a:solidFill>
                  <a:srgbClr val="FFFFFF"/>
                </a:solidFill>
              </a:rPr>
              <a:t> </a:t>
            </a:r>
            <a:r>
              <a:rPr sz="6000" spc="-10" dirty="0">
                <a:solidFill>
                  <a:srgbClr val="FFFFFF"/>
                </a:solidFill>
              </a:rPr>
              <a:t>Basic Concepts]</a:t>
            </a:r>
            <a:endParaRPr sz="6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185" dirty="0"/>
              <a:t> </a:t>
            </a:r>
            <a:r>
              <a:rPr spc="-10" dirty="0"/>
              <a:t>Communications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60660" cy="3268979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5080" indent="-227965" algn="just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When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communicate,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sharing</a:t>
            </a:r>
            <a:r>
              <a:rPr sz="2800" spc="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information.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sharing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can 	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local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remote.</a:t>
            </a:r>
            <a:r>
              <a:rPr sz="2800" spc="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individuals,</a:t>
            </a:r>
            <a:r>
              <a:rPr sz="2800" spc="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local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communication</a:t>
            </a:r>
            <a:r>
              <a:rPr sz="2800" spc="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usually 	</a:t>
            </a:r>
            <a:r>
              <a:rPr sz="2800" dirty="0">
                <a:latin typeface="Calibri"/>
                <a:cs typeface="Calibri"/>
              </a:rPr>
              <a:t>occurs</a:t>
            </a:r>
            <a:r>
              <a:rPr sz="2800" spc="4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face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face,</a:t>
            </a:r>
            <a:r>
              <a:rPr sz="2800" spc="4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while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remote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communication</a:t>
            </a:r>
            <a:r>
              <a:rPr sz="2800" spc="4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takes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place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over 	</a:t>
            </a:r>
            <a:r>
              <a:rPr sz="2800" dirty="0">
                <a:latin typeface="Calibri"/>
                <a:cs typeface="Calibri"/>
              </a:rPr>
              <a:t>distance.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term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telecommunication</a:t>
            </a:r>
            <a:r>
              <a:rPr sz="2800" dirty="0">
                <a:latin typeface="Calibri"/>
                <a:cs typeface="Calibri"/>
              </a:rPr>
              <a:t>,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4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includes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telephony, 	</a:t>
            </a:r>
            <a:r>
              <a:rPr sz="2800" spc="-30" dirty="0">
                <a:latin typeface="Calibri"/>
                <a:cs typeface="Calibri"/>
              </a:rPr>
              <a:t>telegraphy,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television,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means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communication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distance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</a:t>
            </a:r>
            <a:r>
              <a:rPr sz="2800" i="1" spc="-10" dirty="0">
                <a:latin typeface="Courier New"/>
                <a:cs typeface="Courier New"/>
              </a:rPr>
              <a:t>tele 	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Greek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"far").</a:t>
            </a:r>
            <a:endParaRPr sz="2800">
              <a:latin typeface="Calibri"/>
              <a:cs typeface="Calibri"/>
            </a:endParaRPr>
          </a:p>
          <a:p>
            <a:pPr marL="240029" marR="8255" indent="-227965" algn="just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word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data</a:t>
            </a:r>
            <a:r>
              <a:rPr sz="2800" b="1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refers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information</a:t>
            </a:r>
            <a:r>
              <a:rPr sz="2800" spc="2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presented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whatever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is 	</a:t>
            </a:r>
            <a:r>
              <a:rPr sz="2800" dirty="0">
                <a:latin typeface="Calibri"/>
                <a:cs typeface="Calibri"/>
              </a:rPr>
              <a:t>agreed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upon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5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parties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creating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data.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185" dirty="0"/>
              <a:t> </a:t>
            </a:r>
            <a:r>
              <a:rPr spc="-10" dirty="0"/>
              <a:t>Communications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7485" cy="211645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715" indent="-227965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1" i="1" dirty="0">
                <a:latin typeface="Calibri"/>
                <a:cs typeface="Calibri"/>
              </a:rPr>
              <a:t>Data</a:t>
            </a:r>
            <a:r>
              <a:rPr sz="2800" b="1" i="1" spc="-5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communications</a:t>
            </a:r>
            <a:r>
              <a:rPr sz="2800" b="1" i="1" spc="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exchange of data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10" dirty="0">
                <a:latin typeface="Calibri"/>
                <a:cs typeface="Calibri"/>
              </a:rPr>
              <a:t> devices 	</a:t>
            </a:r>
            <a:r>
              <a:rPr sz="2800" dirty="0">
                <a:latin typeface="Calibri"/>
                <a:cs typeface="Calibri"/>
              </a:rPr>
              <a:t>via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some</a:t>
            </a:r>
            <a:r>
              <a:rPr sz="2800" spc="5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form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transmission</a:t>
            </a:r>
            <a:r>
              <a:rPr sz="2800" dirty="0">
                <a:latin typeface="Calibri"/>
                <a:cs typeface="Calibri"/>
              </a:rPr>
              <a:t> medium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such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wire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cable.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For</a:t>
            </a:r>
            <a:r>
              <a:rPr sz="2800" spc="1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communications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occur,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communicating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devices</a:t>
            </a:r>
            <a:r>
              <a:rPr sz="2800" spc="1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must 	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communication</a:t>
            </a:r>
            <a:r>
              <a:rPr sz="2800" spc="4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system</a:t>
            </a:r>
            <a:r>
              <a:rPr sz="2800" spc="4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made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combination</a:t>
            </a:r>
            <a:r>
              <a:rPr sz="2800" spc="47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of 	</a:t>
            </a:r>
            <a:r>
              <a:rPr sz="2800" spc="-10" dirty="0">
                <a:latin typeface="Calibri"/>
                <a:cs typeface="Calibri"/>
              </a:rPr>
              <a:t>hardware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(physical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equipment)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software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(programs).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08228"/>
            <a:ext cx="9907905" cy="130048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2700" marR="5080">
              <a:lnSpc>
                <a:spcPts val="4750"/>
              </a:lnSpc>
              <a:spcBef>
                <a:spcPts val="700"/>
              </a:spcBef>
            </a:pPr>
            <a:r>
              <a:rPr dirty="0"/>
              <a:t>Data</a:t>
            </a:r>
            <a:r>
              <a:rPr spc="-204" dirty="0"/>
              <a:t> </a:t>
            </a:r>
            <a:r>
              <a:rPr dirty="0"/>
              <a:t>Communication</a:t>
            </a:r>
            <a:r>
              <a:rPr spc="-195" dirty="0"/>
              <a:t> </a:t>
            </a:r>
            <a:r>
              <a:rPr spc="-10" dirty="0"/>
              <a:t>effectiveness</a:t>
            </a:r>
            <a:r>
              <a:rPr spc="-204" dirty="0"/>
              <a:t> </a:t>
            </a:r>
            <a:r>
              <a:rPr spc="-10" dirty="0"/>
              <a:t>Depends </a:t>
            </a:r>
            <a:r>
              <a:rPr spc="-25" dirty="0"/>
              <a:t>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79600" y="1709420"/>
            <a:ext cx="91757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libri"/>
                <a:cs typeface="Calibri"/>
              </a:rPr>
              <a:t>Delivery.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423795" y="1548002"/>
            <a:ext cx="595630" cy="715010"/>
          </a:xfrm>
          <a:custGeom>
            <a:avLst/>
            <a:gdLst/>
            <a:ahLst/>
            <a:cxnLst/>
            <a:rect l="l" t="t" r="r" b="b"/>
            <a:pathLst>
              <a:path w="595630" h="715010">
                <a:moveTo>
                  <a:pt x="595376" y="714629"/>
                </a:moveTo>
                <a:lnTo>
                  <a:pt x="535365" y="710998"/>
                </a:lnTo>
                <a:lnTo>
                  <a:pt x="479478" y="700585"/>
                </a:lnTo>
                <a:lnTo>
                  <a:pt x="428910" y="684109"/>
                </a:lnTo>
                <a:lnTo>
                  <a:pt x="384857" y="662289"/>
                </a:lnTo>
                <a:lnTo>
                  <a:pt x="348513" y="635843"/>
                </a:lnTo>
                <a:lnTo>
                  <a:pt x="321073" y="605490"/>
                </a:lnTo>
                <a:lnTo>
                  <a:pt x="297688" y="535939"/>
                </a:lnTo>
                <a:lnTo>
                  <a:pt x="274302" y="466463"/>
                </a:lnTo>
                <a:lnTo>
                  <a:pt x="246862" y="436132"/>
                </a:lnTo>
                <a:lnTo>
                  <a:pt x="210518" y="409701"/>
                </a:lnTo>
                <a:lnTo>
                  <a:pt x="166465" y="387890"/>
                </a:lnTo>
                <a:lnTo>
                  <a:pt x="115897" y="371419"/>
                </a:lnTo>
                <a:lnTo>
                  <a:pt x="60010" y="361008"/>
                </a:lnTo>
                <a:lnTo>
                  <a:pt x="0" y="357377"/>
                </a:lnTo>
                <a:lnTo>
                  <a:pt x="60010" y="353747"/>
                </a:lnTo>
                <a:lnTo>
                  <a:pt x="115897" y="343334"/>
                </a:lnTo>
                <a:lnTo>
                  <a:pt x="166465" y="326858"/>
                </a:lnTo>
                <a:lnTo>
                  <a:pt x="210518" y="305038"/>
                </a:lnTo>
                <a:lnTo>
                  <a:pt x="246862" y="278592"/>
                </a:lnTo>
                <a:lnTo>
                  <a:pt x="274302" y="248239"/>
                </a:lnTo>
                <a:lnTo>
                  <a:pt x="297688" y="178688"/>
                </a:lnTo>
                <a:lnTo>
                  <a:pt x="321073" y="109138"/>
                </a:lnTo>
                <a:lnTo>
                  <a:pt x="348513" y="78785"/>
                </a:lnTo>
                <a:lnTo>
                  <a:pt x="384857" y="52339"/>
                </a:lnTo>
                <a:lnTo>
                  <a:pt x="428910" y="30519"/>
                </a:lnTo>
                <a:lnTo>
                  <a:pt x="479478" y="14043"/>
                </a:lnTo>
                <a:lnTo>
                  <a:pt x="535365" y="3630"/>
                </a:lnTo>
                <a:lnTo>
                  <a:pt x="595376" y="0"/>
                </a:lnTo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53740" y="1543799"/>
            <a:ext cx="8100821" cy="720102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3321177" y="1569846"/>
            <a:ext cx="744283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5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system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deliver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correct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destination.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be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549777" y="1850263"/>
            <a:ext cx="7376159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libri"/>
                <a:cs typeface="Calibri"/>
              </a:rPr>
              <a:t>received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intended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device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only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device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user.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95780" y="2550032"/>
            <a:ext cx="9988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20" dirty="0">
                <a:latin typeface="Calibri"/>
                <a:cs typeface="Calibri"/>
              </a:rPr>
              <a:t>Accuracy.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423795" y="2388616"/>
            <a:ext cx="595630" cy="715010"/>
          </a:xfrm>
          <a:custGeom>
            <a:avLst/>
            <a:gdLst/>
            <a:ahLst/>
            <a:cxnLst/>
            <a:rect l="l" t="t" r="r" b="b"/>
            <a:pathLst>
              <a:path w="595630" h="715010">
                <a:moveTo>
                  <a:pt x="595376" y="714756"/>
                </a:moveTo>
                <a:lnTo>
                  <a:pt x="535365" y="711125"/>
                </a:lnTo>
                <a:lnTo>
                  <a:pt x="479478" y="700712"/>
                </a:lnTo>
                <a:lnTo>
                  <a:pt x="428910" y="684236"/>
                </a:lnTo>
                <a:lnTo>
                  <a:pt x="384857" y="662416"/>
                </a:lnTo>
                <a:lnTo>
                  <a:pt x="348513" y="635970"/>
                </a:lnTo>
                <a:lnTo>
                  <a:pt x="321073" y="605617"/>
                </a:lnTo>
                <a:lnTo>
                  <a:pt x="297688" y="536067"/>
                </a:lnTo>
                <a:lnTo>
                  <a:pt x="274302" y="466516"/>
                </a:lnTo>
                <a:lnTo>
                  <a:pt x="246862" y="436163"/>
                </a:lnTo>
                <a:lnTo>
                  <a:pt x="210518" y="409717"/>
                </a:lnTo>
                <a:lnTo>
                  <a:pt x="166465" y="387897"/>
                </a:lnTo>
                <a:lnTo>
                  <a:pt x="115897" y="371421"/>
                </a:lnTo>
                <a:lnTo>
                  <a:pt x="60010" y="361008"/>
                </a:lnTo>
                <a:lnTo>
                  <a:pt x="0" y="357378"/>
                </a:lnTo>
                <a:lnTo>
                  <a:pt x="60010" y="353747"/>
                </a:lnTo>
                <a:lnTo>
                  <a:pt x="115897" y="343334"/>
                </a:lnTo>
                <a:lnTo>
                  <a:pt x="166465" y="326858"/>
                </a:lnTo>
                <a:lnTo>
                  <a:pt x="210518" y="305038"/>
                </a:lnTo>
                <a:lnTo>
                  <a:pt x="246862" y="278592"/>
                </a:lnTo>
                <a:lnTo>
                  <a:pt x="274302" y="248239"/>
                </a:lnTo>
                <a:lnTo>
                  <a:pt x="297688" y="178688"/>
                </a:lnTo>
                <a:lnTo>
                  <a:pt x="321073" y="109138"/>
                </a:lnTo>
                <a:lnTo>
                  <a:pt x="348513" y="78785"/>
                </a:lnTo>
                <a:lnTo>
                  <a:pt x="384857" y="52339"/>
                </a:lnTo>
                <a:lnTo>
                  <a:pt x="428910" y="30519"/>
                </a:lnTo>
                <a:lnTo>
                  <a:pt x="479478" y="14043"/>
                </a:lnTo>
                <a:lnTo>
                  <a:pt x="535365" y="3630"/>
                </a:lnTo>
                <a:lnTo>
                  <a:pt x="595376" y="0"/>
                </a:lnTo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53740" y="2385047"/>
            <a:ext cx="8100821" cy="72010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3321177" y="2410460"/>
            <a:ext cx="7753350" cy="6115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029" indent="-227329">
              <a:lnSpc>
                <a:spcPts val="2305"/>
              </a:lnSpc>
              <a:spcBef>
                <a:spcPts val="105"/>
              </a:spcBef>
              <a:buChar char="•"/>
              <a:tabLst>
                <a:tab pos="240029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system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deliver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accurately.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been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altered</a:t>
            </a:r>
            <a:endParaRPr sz="2000">
              <a:latin typeface="Calibri"/>
              <a:cs typeface="Calibri"/>
            </a:endParaRPr>
          </a:p>
          <a:p>
            <a:pPr marL="241300">
              <a:lnSpc>
                <a:spcPts val="2305"/>
              </a:lnSpc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transmission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left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uncorrected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unusable.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0546" y="3835146"/>
            <a:ext cx="11753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libri"/>
                <a:cs typeface="Calibri"/>
              </a:rPr>
              <a:t>Timeliness.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423795" y="3229355"/>
            <a:ext cx="595630" cy="1602740"/>
          </a:xfrm>
          <a:custGeom>
            <a:avLst/>
            <a:gdLst/>
            <a:ahLst/>
            <a:cxnLst/>
            <a:rect l="l" t="t" r="r" b="b"/>
            <a:pathLst>
              <a:path w="595630" h="1602739">
                <a:moveTo>
                  <a:pt x="595376" y="1602486"/>
                </a:moveTo>
                <a:lnTo>
                  <a:pt x="541851" y="1599131"/>
                </a:lnTo>
                <a:lnTo>
                  <a:pt x="491480" y="1589459"/>
                </a:lnTo>
                <a:lnTo>
                  <a:pt x="445102" y="1574056"/>
                </a:lnTo>
                <a:lnTo>
                  <a:pt x="403556" y="1553511"/>
                </a:lnTo>
                <a:lnTo>
                  <a:pt x="367681" y="1528411"/>
                </a:lnTo>
                <a:lnTo>
                  <a:pt x="338318" y="1499343"/>
                </a:lnTo>
                <a:lnTo>
                  <a:pt x="316305" y="1466894"/>
                </a:lnTo>
                <a:lnTo>
                  <a:pt x="297688" y="1394206"/>
                </a:lnTo>
                <a:lnTo>
                  <a:pt x="297688" y="1009650"/>
                </a:lnTo>
                <a:lnTo>
                  <a:pt x="292893" y="972198"/>
                </a:lnTo>
                <a:lnTo>
                  <a:pt x="257057" y="904479"/>
                </a:lnTo>
                <a:lnTo>
                  <a:pt x="227694" y="875391"/>
                </a:lnTo>
                <a:lnTo>
                  <a:pt x="191819" y="850270"/>
                </a:lnTo>
                <a:lnTo>
                  <a:pt x="150273" y="829705"/>
                </a:lnTo>
                <a:lnTo>
                  <a:pt x="103895" y="814285"/>
                </a:lnTo>
                <a:lnTo>
                  <a:pt x="53524" y="804601"/>
                </a:lnTo>
                <a:lnTo>
                  <a:pt x="0" y="801243"/>
                </a:lnTo>
                <a:lnTo>
                  <a:pt x="53524" y="797888"/>
                </a:lnTo>
                <a:lnTo>
                  <a:pt x="103895" y="788214"/>
                </a:lnTo>
                <a:lnTo>
                  <a:pt x="150273" y="772809"/>
                </a:lnTo>
                <a:lnTo>
                  <a:pt x="191819" y="752257"/>
                </a:lnTo>
                <a:lnTo>
                  <a:pt x="227694" y="727146"/>
                </a:lnTo>
                <a:lnTo>
                  <a:pt x="257057" y="698062"/>
                </a:lnTo>
                <a:lnTo>
                  <a:pt x="279070" y="665591"/>
                </a:lnTo>
                <a:lnTo>
                  <a:pt x="297688" y="592836"/>
                </a:lnTo>
                <a:lnTo>
                  <a:pt x="297688" y="208280"/>
                </a:lnTo>
                <a:lnTo>
                  <a:pt x="302482" y="170832"/>
                </a:lnTo>
                <a:lnTo>
                  <a:pt x="338318" y="103142"/>
                </a:lnTo>
                <a:lnTo>
                  <a:pt x="367681" y="74074"/>
                </a:lnTo>
                <a:lnTo>
                  <a:pt x="403556" y="48974"/>
                </a:lnTo>
                <a:lnTo>
                  <a:pt x="445102" y="28429"/>
                </a:lnTo>
                <a:lnTo>
                  <a:pt x="491480" y="13026"/>
                </a:lnTo>
                <a:lnTo>
                  <a:pt x="541851" y="3354"/>
                </a:lnTo>
                <a:lnTo>
                  <a:pt x="595376" y="0"/>
                </a:lnTo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253740" y="3224783"/>
            <a:ext cx="8100821" cy="1608582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3321177" y="3253485"/>
            <a:ext cx="7906384" cy="149415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40029" marR="227965" indent="-227329">
              <a:lnSpc>
                <a:spcPts val="2210"/>
              </a:lnSpc>
              <a:spcBef>
                <a:spcPts val="335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system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deliver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timely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manner.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delivered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are 	</a:t>
            </a:r>
            <a:r>
              <a:rPr sz="2000" spc="-10" dirty="0">
                <a:latin typeface="Calibri"/>
                <a:cs typeface="Calibri"/>
              </a:rPr>
              <a:t>useless.</a:t>
            </a:r>
            <a:endParaRPr sz="2000">
              <a:latin typeface="Calibri"/>
              <a:cs typeface="Calibri"/>
            </a:endParaRPr>
          </a:p>
          <a:p>
            <a:pPr marL="240029" marR="5080" indent="-227329">
              <a:lnSpc>
                <a:spcPct val="91600"/>
              </a:lnSpc>
              <a:spcBef>
                <a:spcPts val="315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case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video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audio,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timely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delivery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means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delivering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as 	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produced,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order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produced,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without 	significant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delay.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kind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delivery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called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real-</a:t>
            </a:r>
            <a:r>
              <a:rPr sz="2000" b="1" i="1" dirty="0">
                <a:latin typeface="Calibri"/>
                <a:cs typeface="Calibri"/>
              </a:rPr>
              <a:t>time</a:t>
            </a:r>
            <a:r>
              <a:rPr sz="2000" b="1" i="1" spc="-40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transmission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13738" y="5585561"/>
            <a:ext cx="5822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40" dirty="0">
                <a:latin typeface="Calibri"/>
                <a:cs typeface="Calibri"/>
              </a:rPr>
              <a:t>Jitter.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423795" y="4957826"/>
            <a:ext cx="595630" cy="1646555"/>
          </a:xfrm>
          <a:custGeom>
            <a:avLst/>
            <a:gdLst/>
            <a:ahLst/>
            <a:cxnLst/>
            <a:rect l="l" t="t" r="r" b="b"/>
            <a:pathLst>
              <a:path w="595630" h="1646554">
                <a:moveTo>
                  <a:pt x="595376" y="1645932"/>
                </a:moveTo>
                <a:lnTo>
                  <a:pt x="541851" y="1642575"/>
                </a:lnTo>
                <a:lnTo>
                  <a:pt x="491480" y="1632897"/>
                </a:lnTo>
                <a:lnTo>
                  <a:pt x="445102" y="1617486"/>
                </a:lnTo>
                <a:lnTo>
                  <a:pt x="403556" y="1596930"/>
                </a:lnTo>
                <a:lnTo>
                  <a:pt x="367681" y="1571818"/>
                </a:lnTo>
                <a:lnTo>
                  <a:pt x="338318" y="1542739"/>
                </a:lnTo>
                <a:lnTo>
                  <a:pt x="316305" y="1510279"/>
                </a:lnTo>
                <a:lnTo>
                  <a:pt x="297688" y="1437576"/>
                </a:lnTo>
                <a:lnTo>
                  <a:pt x="297688" y="1031367"/>
                </a:lnTo>
                <a:lnTo>
                  <a:pt x="292893" y="993913"/>
                </a:lnTo>
                <a:lnTo>
                  <a:pt x="257057" y="926201"/>
                </a:lnTo>
                <a:lnTo>
                  <a:pt x="227694" y="897119"/>
                </a:lnTo>
                <a:lnTo>
                  <a:pt x="191819" y="872005"/>
                </a:lnTo>
                <a:lnTo>
                  <a:pt x="150273" y="851447"/>
                </a:lnTo>
                <a:lnTo>
                  <a:pt x="103895" y="836034"/>
                </a:lnTo>
                <a:lnTo>
                  <a:pt x="53524" y="826355"/>
                </a:lnTo>
                <a:lnTo>
                  <a:pt x="0" y="822998"/>
                </a:lnTo>
                <a:lnTo>
                  <a:pt x="53524" y="819641"/>
                </a:lnTo>
                <a:lnTo>
                  <a:pt x="103895" y="809963"/>
                </a:lnTo>
                <a:lnTo>
                  <a:pt x="150273" y="794553"/>
                </a:lnTo>
                <a:lnTo>
                  <a:pt x="191819" y="773999"/>
                </a:lnTo>
                <a:lnTo>
                  <a:pt x="227694" y="748890"/>
                </a:lnTo>
                <a:lnTo>
                  <a:pt x="257057" y="719815"/>
                </a:lnTo>
                <a:lnTo>
                  <a:pt x="279070" y="687363"/>
                </a:lnTo>
                <a:lnTo>
                  <a:pt x="297688" y="614680"/>
                </a:lnTo>
                <a:lnTo>
                  <a:pt x="297688" y="208406"/>
                </a:lnTo>
                <a:lnTo>
                  <a:pt x="302482" y="170955"/>
                </a:lnTo>
                <a:lnTo>
                  <a:pt x="338318" y="103236"/>
                </a:lnTo>
                <a:lnTo>
                  <a:pt x="367681" y="74148"/>
                </a:lnTo>
                <a:lnTo>
                  <a:pt x="403556" y="49027"/>
                </a:lnTo>
                <a:lnTo>
                  <a:pt x="445102" y="28462"/>
                </a:lnTo>
                <a:lnTo>
                  <a:pt x="491480" y="13042"/>
                </a:lnTo>
                <a:lnTo>
                  <a:pt x="541851" y="3358"/>
                </a:lnTo>
                <a:lnTo>
                  <a:pt x="595376" y="0"/>
                </a:lnTo>
              </a:path>
            </a:pathLst>
          </a:custGeom>
          <a:ln w="1270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53740" y="4954536"/>
            <a:ext cx="8100821" cy="1651254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3321177" y="4980813"/>
            <a:ext cx="7657465" cy="1541780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240029" marR="264795" indent="-227329">
              <a:lnSpc>
                <a:spcPts val="2210"/>
              </a:lnSpc>
              <a:spcBef>
                <a:spcPts val="335"/>
              </a:spcBef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Jitter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refers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packet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arrival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uneven 	</a:t>
            </a:r>
            <a:r>
              <a:rPr sz="2000" dirty="0">
                <a:latin typeface="Calibri"/>
                <a:cs typeface="Calibri"/>
              </a:rPr>
              <a:t>delay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delivery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audio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video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packets.</a:t>
            </a:r>
            <a:endParaRPr sz="2000">
              <a:latin typeface="Calibri"/>
              <a:cs typeface="Calibri"/>
            </a:endParaRPr>
          </a:p>
          <a:p>
            <a:pPr marL="468630" lvl="1" indent="-227329">
              <a:lnSpc>
                <a:spcPct val="100000"/>
              </a:lnSpc>
              <a:spcBef>
                <a:spcPts val="110"/>
              </a:spcBef>
              <a:buChar char="•"/>
              <a:tabLst>
                <a:tab pos="468630" algn="l"/>
              </a:tabLst>
            </a:pPr>
            <a:r>
              <a:rPr sz="2000" dirty="0">
                <a:latin typeface="Calibri"/>
                <a:cs typeface="Calibri"/>
              </a:rPr>
              <a:t>For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assume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video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packets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sent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every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3D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ms.</a:t>
            </a:r>
            <a:endParaRPr sz="2000">
              <a:latin typeface="Calibri"/>
              <a:cs typeface="Calibri"/>
            </a:endParaRPr>
          </a:p>
          <a:p>
            <a:pPr marL="468630" lvl="1" indent="-227329">
              <a:lnSpc>
                <a:spcPts val="2300"/>
              </a:lnSpc>
              <a:spcBef>
                <a:spcPts val="170"/>
              </a:spcBef>
              <a:buChar char="•"/>
              <a:tabLst>
                <a:tab pos="468630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some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packets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arrive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3D-</a:t>
            </a:r>
            <a:r>
              <a:rPr sz="2000" dirty="0">
                <a:latin typeface="Calibri"/>
                <a:cs typeface="Calibri"/>
              </a:rPr>
              <a:t>ms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delay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others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4D-</a:t>
            </a:r>
            <a:r>
              <a:rPr sz="2000" spc="-25" dirty="0">
                <a:latin typeface="Calibri"/>
                <a:cs typeface="Calibri"/>
              </a:rPr>
              <a:t>ms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ts val="2300"/>
              </a:lnSpc>
            </a:pPr>
            <a:r>
              <a:rPr sz="2000" spc="-30" dirty="0">
                <a:latin typeface="Calibri"/>
                <a:cs typeface="Calibri"/>
              </a:rPr>
              <a:t>delay,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uneven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quality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video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result.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40739" y="5030851"/>
            <a:ext cx="8227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dirty="0">
                <a:latin typeface="Calibri Light"/>
                <a:cs typeface="Calibri Light"/>
              </a:rPr>
              <a:t>Components</a:t>
            </a:r>
            <a:r>
              <a:rPr sz="3600" spc="-135" dirty="0">
                <a:latin typeface="Calibri Light"/>
                <a:cs typeface="Calibri Light"/>
              </a:rPr>
              <a:t> </a:t>
            </a:r>
            <a:r>
              <a:rPr sz="3600" dirty="0">
                <a:latin typeface="Calibri Light"/>
                <a:cs typeface="Calibri Light"/>
              </a:rPr>
              <a:t>of</a:t>
            </a:r>
            <a:r>
              <a:rPr sz="3600" spc="-135" dirty="0">
                <a:latin typeface="Calibri Light"/>
                <a:cs typeface="Calibri Light"/>
              </a:rPr>
              <a:t> </a:t>
            </a:r>
            <a:r>
              <a:rPr sz="3600" dirty="0">
                <a:latin typeface="Calibri Light"/>
                <a:cs typeface="Calibri Light"/>
              </a:rPr>
              <a:t>Data</a:t>
            </a:r>
            <a:r>
              <a:rPr sz="3600" spc="-125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Communication</a:t>
            </a:r>
            <a:r>
              <a:rPr sz="3600" spc="-105" dirty="0">
                <a:latin typeface="Calibri Light"/>
                <a:cs typeface="Calibri Light"/>
              </a:rPr>
              <a:t> </a:t>
            </a:r>
            <a:r>
              <a:rPr sz="3600" spc="-10" dirty="0">
                <a:latin typeface="Calibri Light"/>
                <a:cs typeface="Calibri Light"/>
              </a:rPr>
              <a:t>System</a:t>
            </a:r>
            <a:endParaRPr sz="3600">
              <a:latin typeface="Calibri Light"/>
              <a:cs typeface="Calibri Ligh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4390390"/>
            <a:chOff x="0" y="0"/>
            <a:chExt cx="12192000" cy="439039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12192000" cy="4390390"/>
            </a:xfrm>
            <a:custGeom>
              <a:avLst/>
              <a:gdLst/>
              <a:ahLst/>
              <a:cxnLst/>
              <a:rect l="l" t="t" r="r" b="b"/>
              <a:pathLst>
                <a:path w="12192000" h="4390390">
                  <a:moveTo>
                    <a:pt x="12192000" y="0"/>
                  </a:moveTo>
                  <a:lnTo>
                    <a:pt x="0" y="0"/>
                  </a:lnTo>
                  <a:lnTo>
                    <a:pt x="0" y="4390263"/>
                  </a:lnTo>
                  <a:lnTo>
                    <a:pt x="12192000" y="4390263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F1F1F1">
                <a:alpha val="65097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5136" y="683768"/>
              <a:ext cx="10488676" cy="3019043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865136" y="4811521"/>
            <a:ext cx="737235" cy="0"/>
          </a:xfrm>
          <a:custGeom>
            <a:avLst/>
            <a:gdLst/>
            <a:ahLst/>
            <a:cxnLst/>
            <a:rect l="l" t="t" r="r" b="b"/>
            <a:pathLst>
              <a:path w="737235">
                <a:moveTo>
                  <a:pt x="0" y="0"/>
                </a:moveTo>
                <a:lnTo>
                  <a:pt x="736968" y="0"/>
                </a:lnTo>
              </a:path>
            </a:pathLst>
          </a:custGeom>
          <a:ln w="571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Components</a:t>
            </a:r>
            <a:r>
              <a:rPr spc="-12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dirty="0"/>
              <a:t>Data</a:t>
            </a:r>
            <a:r>
              <a:rPr spc="-120" dirty="0"/>
              <a:t> </a:t>
            </a:r>
            <a:r>
              <a:rPr dirty="0"/>
              <a:t>Communication</a:t>
            </a:r>
            <a:r>
              <a:rPr spc="-105" dirty="0"/>
              <a:t> </a:t>
            </a:r>
            <a:r>
              <a:rPr spc="-10" dirty="0"/>
              <a:t>System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5025" y="1824482"/>
            <a:ext cx="1111885" cy="1584960"/>
            <a:chOff x="835025" y="1824482"/>
            <a:chExt cx="1111885" cy="15849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1827657"/>
              <a:ext cx="1105027" cy="157860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8200" y="1827657"/>
              <a:ext cx="1105535" cy="1578610"/>
            </a:xfrm>
            <a:custGeom>
              <a:avLst/>
              <a:gdLst/>
              <a:ahLst/>
              <a:cxnLst/>
              <a:rect l="l" t="t" r="r" b="b"/>
              <a:pathLst>
                <a:path w="1105535" h="1578610">
                  <a:moveTo>
                    <a:pt x="1105027" y="0"/>
                  </a:moveTo>
                  <a:lnTo>
                    <a:pt x="1105027" y="1026159"/>
                  </a:lnTo>
                  <a:lnTo>
                    <a:pt x="552577" y="1578609"/>
                  </a:lnTo>
                  <a:lnTo>
                    <a:pt x="0" y="1026159"/>
                  </a:lnTo>
                  <a:lnTo>
                    <a:pt x="0" y="0"/>
                  </a:lnTo>
                  <a:lnTo>
                    <a:pt x="552577" y="552576"/>
                  </a:lnTo>
                  <a:lnTo>
                    <a:pt x="1105027" y="0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55370" y="2393950"/>
            <a:ext cx="1072515" cy="3765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latin typeface="Calibri"/>
                <a:cs typeface="Calibri"/>
              </a:rPr>
              <a:t>Message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943226" y="1827657"/>
            <a:ext cx="9410700" cy="1026160"/>
          </a:xfrm>
          <a:custGeom>
            <a:avLst/>
            <a:gdLst/>
            <a:ahLst/>
            <a:cxnLst/>
            <a:rect l="l" t="t" r="r" b="b"/>
            <a:pathLst>
              <a:path w="9410700" h="1026160">
                <a:moveTo>
                  <a:pt x="9410573" y="171068"/>
                </a:moveTo>
                <a:lnTo>
                  <a:pt x="9410573" y="855090"/>
                </a:lnTo>
                <a:lnTo>
                  <a:pt x="9404462" y="900571"/>
                </a:lnTo>
                <a:lnTo>
                  <a:pt x="9387219" y="941436"/>
                </a:lnTo>
                <a:lnTo>
                  <a:pt x="9360471" y="976058"/>
                </a:lnTo>
                <a:lnTo>
                  <a:pt x="9325849" y="1002806"/>
                </a:lnTo>
                <a:lnTo>
                  <a:pt x="9284984" y="1020049"/>
                </a:lnTo>
                <a:lnTo>
                  <a:pt x="9239504" y="1026159"/>
                </a:lnTo>
                <a:lnTo>
                  <a:pt x="0" y="1026159"/>
                </a:lnTo>
                <a:lnTo>
                  <a:pt x="0" y="0"/>
                </a:lnTo>
                <a:lnTo>
                  <a:pt x="9239504" y="0"/>
                </a:lnTo>
                <a:lnTo>
                  <a:pt x="9284984" y="6110"/>
                </a:lnTo>
                <a:lnTo>
                  <a:pt x="9325849" y="23353"/>
                </a:lnTo>
                <a:lnTo>
                  <a:pt x="9360471" y="50101"/>
                </a:lnTo>
                <a:lnTo>
                  <a:pt x="9387219" y="84723"/>
                </a:lnTo>
                <a:lnTo>
                  <a:pt x="9404462" y="125588"/>
                </a:lnTo>
                <a:lnTo>
                  <a:pt x="9410573" y="171068"/>
                </a:lnTo>
                <a:close/>
              </a:path>
            </a:pathLst>
          </a:custGeom>
          <a:ln w="635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080005" y="1989835"/>
            <a:ext cx="8585835" cy="64008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41300" marR="5080" indent="-228600">
              <a:lnSpc>
                <a:spcPts val="2320"/>
              </a:lnSpc>
              <a:spcBef>
                <a:spcPts val="340"/>
              </a:spcBef>
              <a:buChar char="•"/>
              <a:tabLst>
                <a:tab pos="241300" algn="l"/>
              </a:tabLst>
            </a:pPr>
            <a:r>
              <a:rPr sz="2100" dirty="0">
                <a:latin typeface="Calibri"/>
                <a:cs typeface="Calibri"/>
              </a:rPr>
              <a:t>The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message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information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(data)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communicated.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Popular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forms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of </a:t>
            </a:r>
            <a:r>
              <a:rPr sz="2100" spc="-10" dirty="0">
                <a:latin typeface="Calibri"/>
                <a:cs typeface="Calibri"/>
              </a:rPr>
              <a:t>information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include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text,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numbers,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pictures,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audio,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video.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5025" y="3208782"/>
            <a:ext cx="1111885" cy="1584960"/>
            <a:chOff x="835025" y="3208782"/>
            <a:chExt cx="1111885" cy="158496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" y="3211957"/>
              <a:ext cx="1105027" cy="15786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38200" y="3211957"/>
              <a:ext cx="1105535" cy="1578610"/>
            </a:xfrm>
            <a:custGeom>
              <a:avLst/>
              <a:gdLst/>
              <a:ahLst/>
              <a:cxnLst/>
              <a:rect l="l" t="t" r="r" b="b"/>
              <a:pathLst>
                <a:path w="1105535" h="1578610">
                  <a:moveTo>
                    <a:pt x="1105027" y="0"/>
                  </a:moveTo>
                  <a:lnTo>
                    <a:pt x="1105027" y="1026159"/>
                  </a:lnTo>
                  <a:lnTo>
                    <a:pt x="552577" y="1578609"/>
                  </a:lnTo>
                  <a:lnTo>
                    <a:pt x="0" y="1026159"/>
                  </a:lnTo>
                  <a:lnTo>
                    <a:pt x="0" y="0"/>
                  </a:lnTo>
                  <a:lnTo>
                    <a:pt x="552577" y="552576"/>
                  </a:lnTo>
                  <a:lnTo>
                    <a:pt x="1105027" y="0"/>
                  </a:lnTo>
                  <a:close/>
                </a:path>
              </a:pathLst>
            </a:custGeom>
            <a:ln w="635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59002" y="3778758"/>
            <a:ext cx="86106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10" dirty="0">
                <a:latin typeface="Calibri"/>
                <a:cs typeface="Calibri"/>
              </a:rPr>
              <a:t>Sender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943226" y="3211957"/>
            <a:ext cx="9410700" cy="1026160"/>
          </a:xfrm>
          <a:custGeom>
            <a:avLst/>
            <a:gdLst/>
            <a:ahLst/>
            <a:cxnLst/>
            <a:rect l="l" t="t" r="r" b="b"/>
            <a:pathLst>
              <a:path w="9410700" h="1026160">
                <a:moveTo>
                  <a:pt x="9410573" y="171068"/>
                </a:moveTo>
                <a:lnTo>
                  <a:pt x="9410573" y="855090"/>
                </a:lnTo>
                <a:lnTo>
                  <a:pt x="9404462" y="900571"/>
                </a:lnTo>
                <a:lnTo>
                  <a:pt x="9387219" y="941436"/>
                </a:lnTo>
                <a:lnTo>
                  <a:pt x="9360471" y="976058"/>
                </a:lnTo>
                <a:lnTo>
                  <a:pt x="9325849" y="1002806"/>
                </a:lnTo>
                <a:lnTo>
                  <a:pt x="9284984" y="1020049"/>
                </a:lnTo>
                <a:lnTo>
                  <a:pt x="9239504" y="1026159"/>
                </a:lnTo>
                <a:lnTo>
                  <a:pt x="0" y="1026159"/>
                </a:lnTo>
                <a:lnTo>
                  <a:pt x="0" y="0"/>
                </a:lnTo>
                <a:lnTo>
                  <a:pt x="9239504" y="0"/>
                </a:lnTo>
                <a:lnTo>
                  <a:pt x="9284984" y="6110"/>
                </a:lnTo>
                <a:lnTo>
                  <a:pt x="9325849" y="23353"/>
                </a:lnTo>
                <a:lnTo>
                  <a:pt x="9360471" y="50101"/>
                </a:lnTo>
                <a:lnTo>
                  <a:pt x="9387219" y="84723"/>
                </a:lnTo>
                <a:lnTo>
                  <a:pt x="9404462" y="125588"/>
                </a:lnTo>
                <a:lnTo>
                  <a:pt x="9410573" y="171068"/>
                </a:lnTo>
                <a:close/>
              </a:path>
            </a:pathLst>
          </a:custGeom>
          <a:ln w="6350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80005" y="3327349"/>
            <a:ext cx="8890635" cy="711200"/>
          </a:xfrm>
          <a:prstGeom prst="rect">
            <a:avLst/>
          </a:prstGeom>
        </p:spPr>
        <p:txBody>
          <a:bodyPr vert="horz" wrap="square" lIns="0" tIns="3492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75"/>
              </a:spcBef>
              <a:buChar char="•"/>
              <a:tabLst>
                <a:tab pos="240665" algn="l"/>
              </a:tabLst>
            </a:pPr>
            <a:r>
              <a:rPr sz="2100" dirty="0">
                <a:latin typeface="Calibri"/>
                <a:cs typeface="Calibri"/>
              </a:rPr>
              <a:t>The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sender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device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that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sends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data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message.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80"/>
              </a:spcBef>
              <a:buChar char="•"/>
              <a:tabLst>
                <a:tab pos="240665" algn="l"/>
              </a:tabLst>
            </a:pPr>
            <a:r>
              <a:rPr sz="2100" dirty="0">
                <a:latin typeface="Calibri"/>
                <a:cs typeface="Calibri"/>
              </a:rPr>
              <a:t>It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can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computer,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workstation,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telephone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handset,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video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camera,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so</a:t>
            </a:r>
            <a:r>
              <a:rPr sz="2100" spc="-25" dirty="0">
                <a:latin typeface="Calibri"/>
                <a:cs typeface="Calibri"/>
              </a:rPr>
              <a:t> on.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35025" y="4593082"/>
            <a:ext cx="1111885" cy="1585595"/>
            <a:chOff x="835025" y="4593082"/>
            <a:chExt cx="1111885" cy="1585595"/>
          </a:xfrm>
        </p:grpSpPr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8200" y="4596257"/>
              <a:ext cx="1105027" cy="157864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838200" y="4596257"/>
              <a:ext cx="1105535" cy="1579245"/>
            </a:xfrm>
            <a:custGeom>
              <a:avLst/>
              <a:gdLst/>
              <a:ahLst/>
              <a:cxnLst/>
              <a:rect l="l" t="t" r="r" b="b"/>
              <a:pathLst>
                <a:path w="1105535" h="1579245">
                  <a:moveTo>
                    <a:pt x="1105027" y="0"/>
                  </a:moveTo>
                  <a:lnTo>
                    <a:pt x="1105027" y="1026121"/>
                  </a:lnTo>
                  <a:lnTo>
                    <a:pt x="552577" y="1578648"/>
                  </a:lnTo>
                  <a:lnTo>
                    <a:pt x="0" y="1026121"/>
                  </a:lnTo>
                  <a:lnTo>
                    <a:pt x="0" y="0"/>
                  </a:lnTo>
                  <a:lnTo>
                    <a:pt x="552577" y="552577"/>
                  </a:lnTo>
                  <a:lnTo>
                    <a:pt x="1105027" y="0"/>
                  </a:lnTo>
                  <a:close/>
                </a:path>
              </a:pathLst>
            </a:custGeom>
            <a:ln w="635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70610" y="5162753"/>
            <a:ext cx="1040130" cy="3771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300" spc="-10" dirty="0">
                <a:latin typeface="Calibri"/>
                <a:cs typeface="Calibri"/>
              </a:rPr>
              <a:t>Receiver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943226" y="4596257"/>
            <a:ext cx="9410700" cy="1026160"/>
          </a:xfrm>
          <a:custGeom>
            <a:avLst/>
            <a:gdLst/>
            <a:ahLst/>
            <a:cxnLst/>
            <a:rect l="l" t="t" r="r" b="b"/>
            <a:pathLst>
              <a:path w="9410700" h="1026160">
                <a:moveTo>
                  <a:pt x="9410573" y="171069"/>
                </a:moveTo>
                <a:lnTo>
                  <a:pt x="9410573" y="855091"/>
                </a:lnTo>
                <a:lnTo>
                  <a:pt x="9404462" y="900568"/>
                </a:lnTo>
                <a:lnTo>
                  <a:pt x="9387219" y="941427"/>
                </a:lnTo>
                <a:lnTo>
                  <a:pt x="9360471" y="976039"/>
                </a:lnTo>
                <a:lnTo>
                  <a:pt x="9325849" y="1002777"/>
                </a:lnTo>
                <a:lnTo>
                  <a:pt x="9284984" y="1020014"/>
                </a:lnTo>
                <a:lnTo>
                  <a:pt x="9239504" y="1026121"/>
                </a:lnTo>
                <a:lnTo>
                  <a:pt x="0" y="1026121"/>
                </a:lnTo>
                <a:lnTo>
                  <a:pt x="0" y="0"/>
                </a:lnTo>
                <a:lnTo>
                  <a:pt x="9239504" y="0"/>
                </a:lnTo>
                <a:lnTo>
                  <a:pt x="9284984" y="6110"/>
                </a:lnTo>
                <a:lnTo>
                  <a:pt x="9325849" y="23353"/>
                </a:lnTo>
                <a:lnTo>
                  <a:pt x="9360471" y="50101"/>
                </a:lnTo>
                <a:lnTo>
                  <a:pt x="9387219" y="84723"/>
                </a:lnTo>
                <a:lnTo>
                  <a:pt x="9404462" y="125588"/>
                </a:lnTo>
                <a:lnTo>
                  <a:pt x="9410573" y="171069"/>
                </a:lnTo>
                <a:close/>
              </a:path>
            </a:pathLst>
          </a:custGeom>
          <a:ln w="6350">
            <a:solidFill>
              <a:srgbClr val="FFC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2080005" y="4711700"/>
            <a:ext cx="8470900" cy="71120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280"/>
              </a:spcBef>
              <a:buChar char="•"/>
              <a:tabLst>
                <a:tab pos="240665" algn="l"/>
              </a:tabLst>
            </a:pPr>
            <a:r>
              <a:rPr sz="2100" dirty="0">
                <a:latin typeface="Calibri"/>
                <a:cs typeface="Calibri"/>
              </a:rPr>
              <a:t>The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receiver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device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that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receives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message.</a:t>
            </a:r>
            <a:endParaRPr sz="2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80"/>
              </a:spcBef>
              <a:buChar char="•"/>
              <a:tabLst>
                <a:tab pos="240665" algn="l"/>
              </a:tabLst>
            </a:pPr>
            <a:r>
              <a:rPr sz="2100" dirty="0">
                <a:latin typeface="Calibri"/>
                <a:cs typeface="Calibri"/>
              </a:rPr>
              <a:t>It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can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be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computer,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workstation,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telephone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handset,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television,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and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so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25" dirty="0">
                <a:latin typeface="Calibri"/>
                <a:cs typeface="Calibri"/>
              </a:rPr>
              <a:t>on.</a:t>
            </a:r>
            <a:endParaRPr sz="2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Components</a:t>
            </a:r>
            <a:r>
              <a:rPr spc="-12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dirty="0"/>
              <a:t>Data</a:t>
            </a:r>
            <a:r>
              <a:rPr spc="-120" dirty="0"/>
              <a:t> </a:t>
            </a:r>
            <a:r>
              <a:rPr dirty="0"/>
              <a:t>Communication</a:t>
            </a:r>
            <a:r>
              <a:rPr spc="-105" dirty="0"/>
              <a:t> </a:t>
            </a:r>
            <a:r>
              <a:rPr spc="-10" dirty="0"/>
              <a:t>System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35025" y="1824735"/>
            <a:ext cx="1627505" cy="2322830"/>
            <a:chOff x="835025" y="1824735"/>
            <a:chExt cx="1627505" cy="23228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38200" y="1827910"/>
              <a:ext cx="1621155" cy="2315972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838200" y="1827910"/>
              <a:ext cx="1621155" cy="2316480"/>
            </a:xfrm>
            <a:custGeom>
              <a:avLst/>
              <a:gdLst/>
              <a:ahLst/>
              <a:cxnLst/>
              <a:rect l="l" t="t" r="r" b="b"/>
              <a:pathLst>
                <a:path w="1621155" h="2316479">
                  <a:moveTo>
                    <a:pt x="1621155" y="0"/>
                  </a:moveTo>
                  <a:lnTo>
                    <a:pt x="1621155" y="1505330"/>
                  </a:lnTo>
                  <a:lnTo>
                    <a:pt x="810513" y="2315972"/>
                  </a:lnTo>
                  <a:lnTo>
                    <a:pt x="0" y="1505330"/>
                  </a:lnTo>
                  <a:lnTo>
                    <a:pt x="0" y="0"/>
                  </a:lnTo>
                  <a:lnTo>
                    <a:pt x="810513" y="810640"/>
                  </a:lnTo>
                  <a:lnTo>
                    <a:pt x="1621155" y="0"/>
                  </a:lnTo>
                  <a:close/>
                </a:path>
              </a:pathLst>
            </a:custGeom>
            <a:ln w="6350">
              <a:solidFill>
                <a:srgbClr val="EC7C3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69086" y="2602483"/>
            <a:ext cx="1559560" cy="698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ts val="2645"/>
              </a:lnSpc>
              <a:spcBef>
                <a:spcPts val="105"/>
              </a:spcBef>
            </a:pPr>
            <a:r>
              <a:rPr sz="2300" spc="-10" dirty="0">
                <a:latin typeface="Calibri"/>
                <a:cs typeface="Calibri"/>
              </a:rPr>
              <a:t>Transmission</a:t>
            </a:r>
            <a:endParaRPr sz="2300">
              <a:latin typeface="Calibri"/>
              <a:cs typeface="Calibri"/>
            </a:endParaRPr>
          </a:p>
          <a:p>
            <a:pPr marL="1270" algn="ctr">
              <a:lnSpc>
                <a:spcPts val="2645"/>
              </a:lnSpc>
            </a:pPr>
            <a:r>
              <a:rPr sz="2300" spc="-10" dirty="0">
                <a:latin typeface="Calibri"/>
                <a:cs typeface="Calibri"/>
              </a:rPr>
              <a:t>Medium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59354" y="1827910"/>
            <a:ext cx="8894445" cy="1505585"/>
          </a:xfrm>
          <a:custGeom>
            <a:avLst/>
            <a:gdLst/>
            <a:ahLst/>
            <a:cxnLst/>
            <a:rect l="l" t="t" r="r" b="b"/>
            <a:pathLst>
              <a:path w="8894445" h="1505585">
                <a:moveTo>
                  <a:pt x="8894445" y="250951"/>
                </a:moveTo>
                <a:lnTo>
                  <a:pt x="8894445" y="1254505"/>
                </a:lnTo>
                <a:lnTo>
                  <a:pt x="8890404" y="1299600"/>
                </a:lnTo>
                <a:lnTo>
                  <a:pt x="8878754" y="1342039"/>
                </a:lnTo>
                <a:lnTo>
                  <a:pt x="8860202" y="1381115"/>
                </a:lnTo>
                <a:lnTo>
                  <a:pt x="8835452" y="1416121"/>
                </a:lnTo>
                <a:lnTo>
                  <a:pt x="8805213" y="1446350"/>
                </a:lnTo>
                <a:lnTo>
                  <a:pt x="8770191" y="1471092"/>
                </a:lnTo>
                <a:lnTo>
                  <a:pt x="8731093" y="1489642"/>
                </a:lnTo>
                <a:lnTo>
                  <a:pt x="8688624" y="1501290"/>
                </a:lnTo>
                <a:lnTo>
                  <a:pt x="8643493" y="1505330"/>
                </a:lnTo>
                <a:lnTo>
                  <a:pt x="0" y="1505330"/>
                </a:lnTo>
                <a:lnTo>
                  <a:pt x="0" y="0"/>
                </a:lnTo>
                <a:lnTo>
                  <a:pt x="8643493" y="0"/>
                </a:lnTo>
                <a:lnTo>
                  <a:pt x="8688624" y="4044"/>
                </a:lnTo>
                <a:lnTo>
                  <a:pt x="8731093" y="15704"/>
                </a:lnTo>
                <a:lnTo>
                  <a:pt x="8770191" y="34271"/>
                </a:lnTo>
                <a:lnTo>
                  <a:pt x="8805213" y="59033"/>
                </a:lnTo>
                <a:lnTo>
                  <a:pt x="8835452" y="89283"/>
                </a:lnTo>
                <a:lnTo>
                  <a:pt x="8860202" y="124309"/>
                </a:lnTo>
                <a:lnTo>
                  <a:pt x="8878754" y="163402"/>
                </a:lnTo>
                <a:lnTo>
                  <a:pt x="8890404" y="205853"/>
                </a:lnTo>
                <a:lnTo>
                  <a:pt x="8894445" y="250951"/>
                </a:lnTo>
                <a:close/>
              </a:path>
            </a:pathLst>
          </a:custGeom>
          <a:ln w="6350">
            <a:solidFill>
              <a:srgbClr val="EC7C3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582036" y="1974849"/>
            <a:ext cx="8604250" cy="1155065"/>
          </a:xfrm>
          <a:prstGeom prst="rect">
            <a:avLst/>
          </a:prstGeom>
        </p:spPr>
        <p:txBody>
          <a:bodyPr vert="horz" wrap="square" lIns="0" tIns="40640" rIns="0" bIns="0" rtlCol="0">
            <a:spAutoFit/>
          </a:bodyPr>
          <a:lstStyle/>
          <a:p>
            <a:pPr marL="182880" marR="5080" indent="-170815">
              <a:lnSpc>
                <a:spcPts val="2090"/>
              </a:lnSpc>
              <a:spcBef>
                <a:spcPts val="320"/>
              </a:spcBef>
              <a:buChar char="•"/>
              <a:tabLst>
                <a:tab pos="184785" algn="l"/>
              </a:tabLst>
            </a:pPr>
            <a:r>
              <a:rPr sz="1900" dirty="0">
                <a:latin typeface="Calibri"/>
                <a:cs typeface="Calibri"/>
              </a:rPr>
              <a:t>The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transmission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medium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physical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path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which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message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travels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from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sender 	</a:t>
            </a:r>
            <a:r>
              <a:rPr sz="1900" dirty="0">
                <a:latin typeface="Calibri"/>
                <a:cs typeface="Calibri"/>
              </a:rPr>
              <a:t>to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receiver.</a:t>
            </a:r>
            <a:endParaRPr sz="1900">
              <a:latin typeface="Calibri"/>
              <a:cs typeface="Calibri"/>
            </a:endParaRPr>
          </a:p>
          <a:p>
            <a:pPr marL="182880" marR="172085" indent="-170815">
              <a:lnSpc>
                <a:spcPts val="2090"/>
              </a:lnSpc>
              <a:spcBef>
                <a:spcPts val="345"/>
              </a:spcBef>
              <a:buChar char="•"/>
              <a:tabLst>
                <a:tab pos="184785" algn="l"/>
              </a:tabLst>
            </a:pPr>
            <a:r>
              <a:rPr sz="1900" dirty="0">
                <a:latin typeface="Calibri"/>
                <a:cs typeface="Calibri"/>
              </a:rPr>
              <a:t>Some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examples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transmission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media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include</a:t>
            </a:r>
            <a:r>
              <a:rPr sz="1900" spc="-25" dirty="0">
                <a:latin typeface="Calibri"/>
                <a:cs typeface="Calibri"/>
              </a:rPr>
              <a:t> twisted-</a:t>
            </a:r>
            <a:r>
              <a:rPr sz="1900" dirty="0">
                <a:latin typeface="Calibri"/>
                <a:cs typeface="Calibri"/>
              </a:rPr>
              <a:t>pair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wire,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coaxial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cable,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fiber- 	</a:t>
            </a:r>
            <a:r>
              <a:rPr sz="1900" dirty="0">
                <a:latin typeface="Calibri"/>
                <a:cs typeface="Calibri"/>
              </a:rPr>
              <a:t>optic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cable,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and</a:t>
            </a:r>
            <a:r>
              <a:rPr sz="1900" spc="-6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radio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waves.</a:t>
            </a:r>
            <a:endParaRPr sz="19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35025" y="3855592"/>
            <a:ext cx="1627505" cy="2322830"/>
            <a:chOff x="835025" y="3855592"/>
            <a:chExt cx="1627505" cy="232283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38200" y="3858767"/>
              <a:ext cx="1621155" cy="231587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38200" y="3858767"/>
              <a:ext cx="1621155" cy="2316480"/>
            </a:xfrm>
            <a:custGeom>
              <a:avLst/>
              <a:gdLst/>
              <a:ahLst/>
              <a:cxnLst/>
              <a:rect l="l" t="t" r="r" b="b"/>
              <a:pathLst>
                <a:path w="1621155" h="2316479">
                  <a:moveTo>
                    <a:pt x="1621155" y="0"/>
                  </a:moveTo>
                  <a:lnTo>
                    <a:pt x="1621155" y="1505330"/>
                  </a:lnTo>
                  <a:lnTo>
                    <a:pt x="810513" y="2315870"/>
                  </a:lnTo>
                  <a:lnTo>
                    <a:pt x="0" y="1505330"/>
                  </a:lnTo>
                  <a:lnTo>
                    <a:pt x="0" y="0"/>
                  </a:lnTo>
                  <a:lnTo>
                    <a:pt x="810513" y="810513"/>
                  </a:lnTo>
                  <a:lnTo>
                    <a:pt x="1621155" y="0"/>
                  </a:lnTo>
                  <a:close/>
                </a:path>
              </a:pathLst>
            </a:custGeom>
            <a:ln w="6350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1140358" y="4794250"/>
            <a:ext cx="1021080" cy="376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300" spc="-10" dirty="0">
                <a:latin typeface="Calibri"/>
                <a:cs typeface="Calibri"/>
              </a:rPr>
              <a:t>Protocol</a:t>
            </a:r>
            <a:endParaRPr sz="2300">
              <a:latin typeface="Calibri"/>
              <a:cs typeface="Calibr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459354" y="3858767"/>
            <a:ext cx="8894445" cy="1505585"/>
          </a:xfrm>
          <a:custGeom>
            <a:avLst/>
            <a:gdLst/>
            <a:ahLst/>
            <a:cxnLst/>
            <a:rect l="l" t="t" r="r" b="b"/>
            <a:pathLst>
              <a:path w="8894445" h="1505585">
                <a:moveTo>
                  <a:pt x="8894445" y="250824"/>
                </a:moveTo>
                <a:lnTo>
                  <a:pt x="8894445" y="1254378"/>
                </a:lnTo>
                <a:lnTo>
                  <a:pt x="8890404" y="1299477"/>
                </a:lnTo>
                <a:lnTo>
                  <a:pt x="8878754" y="1341928"/>
                </a:lnTo>
                <a:lnTo>
                  <a:pt x="8860202" y="1381021"/>
                </a:lnTo>
                <a:lnTo>
                  <a:pt x="8835452" y="1416047"/>
                </a:lnTo>
                <a:lnTo>
                  <a:pt x="8805213" y="1446297"/>
                </a:lnTo>
                <a:lnTo>
                  <a:pt x="8770191" y="1471059"/>
                </a:lnTo>
                <a:lnTo>
                  <a:pt x="8731093" y="1489626"/>
                </a:lnTo>
                <a:lnTo>
                  <a:pt x="8688624" y="1501286"/>
                </a:lnTo>
                <a:lnTo>
                  <a:pt x="8643493" y="1505330"/>
                </a:lnTo>
                <a:lnTo>
                  <a:pt x="0" y="1505330"/>
                </a:lnTo>
                <a:lnTo>
                  <a:pt x="0" y="0"/>
                </a:lnTo>
                <a:lnTo>
                  <a:pt x="8643493" y="0"/>
                </a:lnTo>
                <a:lnTo>
                  <a:pt x="8688624" y="4040"/>
                </a:lnTo>
                <a:lnTo>
                  <a:pt x="8731093" y="15688"/>
                </a:lnTo>
                <a:lnTo>
                  <a:pt x="8770191" y="34238"/>
                </a:lnTo>
                <a:lnTo>
                  <a:pt x="8805213" y="58980"/>
                </a:lnTo>
                <a:lnTo>
                  <a:pt x="8835452" y="89209"/>
                </a:lnTo>
                <a:lnTo>
                  <a:pt x="8860202" y="124215"/>
                </a:lnTo>
                <a:lnTo>
                  <a:pt x="8878754" y="163291"/>
                </a:lnTo>
                <a:lnTo>
                  <a:pt x="8890404" y="205730"/>
                </a:lnTo>
                <a:lnTo>
                  <a:pt x="8894445" y="250824"/>
                </a:lnTo>
                <a:close/>
              </a:path>
            </a:pathLst>
          </a:custGeom>
          <a:ln w="6350">
            <a:solidFill>
              <a:srgbClr val="A4A4A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582036" y="3962917"/>
            <a:ext cx="8599170" cy="1219835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84150" indent="-171450">
              <a:lnSpc>
                <a:spcPct val="100000"/>
              </a:lnSpc>
              <a:spcBef>
                <a:spcPts val="260"/>
              </a:spcBef>
              <a:buChar char="•"/>
              <a:tabLst>
                <a:tab pos="184150" algn="l"/>
              </a:tabLst>
            </a:pPr>
            <a:r>
              <a:rPr sz="1900" dirty="0">
                <a:latin typeface="Calibri"/>
                <a:cs typeface="Calibri"/>
              </a:rPr>
              <a:t>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protocol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is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set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of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rules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that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govern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data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communications.</a:t>
            </a:r>
            <a:endParaRPr sz="1900">
              <a:latin typeface="Calibri"/>
              <a:cs typeface="Calibri"/>
            </a:endParaRPr>
          </a:p>
          <a:p>
            <a:pPr marL="183515" indent="-170815">
              <a:lnSpc>
                <a:spcPct val="100000"/>
              </a:lnSpc>
              <a:spcBef>
                <a:spcPts val="155"/>
              </a:spcBef>
              <a:buChar char="•"/>
              <a:tabLst>
                <a:tab pos="183515" algn="l"/>
              </a:tabLst>
            </a:pPr>
            <a:r>
              <a:rPr sz="1900" dirty="0">
                <a:latin typeface="Calibri"/>
                <a:cs typeface="Calibri"/>
              </a:rPr>
              <a:t>It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represents</a:t>
            </a:r>
            <a:r>
              <a:rPr sz="1900" spc="-3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an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agreement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between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the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communicating</a:t>
            </a:r>
            <a:r>
              <a:rPr sz="1900" spc="-2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devices.</a:t>
            </a:r>
            <a:endParaRPr sz="1900">
              <a:latin typeface="Calibri"/>
              <a:cs typeface="Calibri"/>
            </a:endParaRPr>
          </a:p>
          <a:p>
            <a:pPr marL="182880" marR="5080" indent="-170815">
              <a:lnSpc>
                <a:spcPts val="2090"/>
              </a:lnSpc>
              <a:spcBef>
                <a:spcPts val="385"/>
              </a:spcBef>
              <a:buChar char="•"/>
              <a:tabLst>
                <a:tab pos="184785" algn="l"/>
              </a:tabLst>
            </a:pPr>
            <a:r>
              <a:rPr sz="1900" dirty="0">
                <a:latin typeface="Calibri"/>
                <a:cs typeface="Calibri"/>
              </a:rPr>
              <a:t>Without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protocol,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two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devices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may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connected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but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not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communicating,</a:t>
            </a:r>
            <a:r>
              <a:rPr sz="1900" spc="-2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just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as</a:t>
            </a:r>
            <a:r>
              <a:rPr sz="1900" spc="-50" dirty="0">
                <a:latin typeface="Calibri"/>
                <a:cs typeface="Calibri"/>
              </a:rPr>
              <a:t> a 	</a:t>
            </a:r>
            <a:r>
              <a:rPr sz="1900" dirty="0">
                <a:latin typeface="Calibri"/>
                <a:cs typeface="Calibri"/>
              </a:rPr>
              <a:t>person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speaking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French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cannot</a:t>
            </a:r>
            <a:r>
              <a:rPr sz="1900" spc="-5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be</a:t>
            </a:r>
            <a:r>
              <a:rPr sz="1900" spc="-4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understood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by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a</a:t>
            </a:r>
            <a:r>
              <a:rPr sz="1900" spc="-5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person</a:t>
            </a:r>
            <a:r>
              <a:rPr sz="1900" spc="-4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who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speaks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dirty="0">
                <a:latin typeface="Calibri"/>
                <a:cs typeface="Calibri"/>
              </a:rPr>
              <a:t>only</a:t>
            </a:r>
            <a:r>
              <a:rPr sz="1900" spc="-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Japanese.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Type</a:t>
            </a:r>
            <a:r>
              <a:rPr spc="-11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Connection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240029" marR="6985" indent="-227965" algn="just">
              <a:lnSpc>
                <a:spcPct val="90000"/>
              </a:lnSpc>
              <a:spcBef>
                <a:spcPts val="43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/>
              <a:t>A</a:t>
            </a:r>
            <a:r>
              <a:rPr sz="2800" spc="45" dirty="0"/>
              <a:t> </a:t>
            </a:r>
            <a:r>
              <a:rPr sz="2800" dirty="0"/>
              <a:t>network</a:t>
            </a:r>
            <a:r>
              <a:rPr sz="2800" spc="60" dirty="0"/>
              <a:t> </a:t>
            </a:r>
            <a:r>
              <a:rPr sz="2800" dirty="0"/>
              <a:t>is</a:t>
            </a:r>
            <a:r>
              <a:rPr sz="2800" spc="50" dirty="0"/>
              <a:t> </a:t>
            </a:r>
            <a:r>
              <a:rPr sz="2800" dirty="0"/>
              <a:t>two</a:t>
            </a:r>
            <a:r>
              <a:rPr sz="2800" spc="55" dirty="0"/>
              <a:t> </a:t>
            </a:r>
            <a:r>
              <a:rPr sz="2800" dirty="0"/>
              <a:t>or</a:t>
            </a:r>
            <a:r>
              <a:rPr sz="2800" spc="55" dirty="0"/>
              <a:t> </a:t>
            </a:r>
            <a:r>
              <a:rPr sz="2800" dirty="0"/>
              <a:t>more</a:t>
            </a:r>
            <a:r>
              <a:rPr sz="2800" spc="50" dirty="0"/>
              <a:t> </a:t>
            </a:r>
            <a:r>
              <a:rPr sz="2800" dirty="0"/>
              <a:t>devices</a:t>
            </a:r>
            <a:r>
              <a:rPr sz="2800" spc="60" dirty="0"/>
              <a:t> </a:t>
            </a:r>
            <a:r>
              <a:rPr sz="2800" dirty="0"/>
              <a:t>connected</a:t>
            </a:r>
            <a:r>
              <a:rPr sz="2800" spc="50" dirty="0"/>
              <a:t> </a:t>
            </a:r>
            <a:r>
              <a:rPr sz="2800" dirty="0"/>
              <a:t>through</a:t>
            </a:r>
            <a:r>
              <a:rPr sz="2800" spc="50" dirty="0"/>
              <a:t> </a:t>
            </a:r>
            <a:r>
              <a:rPr sz="2800" dirty="0"/>
              <a:t>links.</a:t>
            </a:r>
            <a:r>
              <a:rPr sz="2800" spc="50" dirty="0"/>
              <a:t> </a:t>
            </a:r>
            <a:r>
              <a:rPr sz="2800" dirty="0"/>
              <a:t>A</a:t>
            </a:r>
            <a:r>
              <a:rPr sz="2800" spc="65" dirty="0"/>
              <a:t> </a:t>
            </a:r>
            <a:r>
              <a:rPr sz="2800" dirty="0"/>
              <a:t>link</a:t>
            </a:r>
            <a:r>
              <a:rPr sz="2800" spc="60" dirty="0"/>
              <a:t> </a:t>
            </a:r>
            <a:r>
              <a:rPr sz="2800" dirty="0"/>
              <a:t>is</a:t>
            </a:r>
            <a:r>
              <a:rPr sz="2800" spc="50" dirty="0"/>
              <a:t> </a:t>
            </a:r>
            <a:r>
              <a:rPr sz="2800" spc="-50" dirty="0"/>
              <a:t>a 	</a:t>
            </a:r>
            <a:r>
              <a:rPr sz="2800" dirty="0"/>
              <a:t>communications</a:t>
            </a:r>
            <a:r>
              <a:rPr sz="2800" spc="45" dirty="0"/>
              <a:t>  </a:t>
            </a:r>
            <a:r>
              <a:rPr sz="2800" dirty="0"/>
              <a:t>pathway</a:t>
            </a:r>
            <a:r>
              <a:rPr sz="2800" spc="45" dirty="0"/>
              <a:t>  </a:t>
            </a:r>
            <a:r>
              <a:rPr sz="2800" dirty="0"/>
              <a:t>that</a:t>
            </a:r>
            <a:r>
              <a:rPr sz="2800" spc="45" dirty="0"/>
              <a:t>  </a:t>
            </a:r>
            <a:r>
              <a:rPr sz="2800" dirty="0"/>
              <a:t>transfers</a:t>
            </a:r>
            <a:r>
              <a:rPr sz="2800" spc="45" dirty="0"/>
              <a:t>  </a:t>
            </a:r>
            <a:r>
              <a:rPr sz="2800" dirty="0"/>
              <a:t>data</a:t>
            </a:r>
            <a:r>
              <a:rPr sz="2800" spc="45" dirty="0"/>
              <a:t>  </a:t>
            </a:r>
            <a:r>
              <a:rPr sz="2800" dirty="0"/>
              <a:t>from</a:t>
            </a:r>
            <a:r>
              <a:rPr sz="2800" spc="45" dirty="0"/>
              <a:t>  </a:t>
            </a:r>
            <a:r>
              <a:rPr sz="2800" dirty="0"/>
              <a:t>one</a:t>
            </a:r>
            <a:r>
              <a:rPr sz="2800" spc="35" dirty="0"/>
              <a:t>  </a:t>
            </a:r>
            <a:r>
              <a:rPr sz="2800" dirty="0"/>
              <a:t>device</a:t>
            </a:r>
            <a:r>
              <a:rPr sz="2800" spc="45" dirty="0"/>
              <a:t>  </a:t>
            </a:r>
            <a:r>
              <a:rPr sz="2800" spc="-25" dirty="0"/>
              <a:t>to 	</a:t>
            </a:r>
            <a:r>
              <a:rPr sz="2800" dirty="0"/>
              <a:t>another.</a:t>
            </a:r>
            <a:r>
              <a:rPr sz="2800" spc="160" dirty="0"/>
              <a:t> </a:t>
            </a:r>
            <a:r>
              <a:rPr sz="2800" dirty="0"/>
              <a:t>For</a:t>
            </a:r>
            <a:r>
              <a:rPr sz="2800" spc="165" dirty="0"/>
              <a:t> </a:t>
            </a:r>
            <a:r>
              <a:rPr sz="2800" dirty="0"/>
              <a:t>visualization</a:t>
            </a:r>
            <a:r>
              <a:rPr sz="2800" spc="155" dirty="0"/>
              <a:t> </a:t>
            </a:r>
            <a:r>
              <a:rPr sz="2800" dirty="0"/>
              <a:t>purposes,</a:t>
            </a:r>
            <a:r>
              <a:rPr sz="2800" spc="155" dirty="0"/>
              <a:t> </a:t>
            </a:r>
            <a:r>
              <a:rPr sz="2800" dirty="0"/>
              <a:t>it</a:t>
            </a:r>
            <a:r>
              <a:rPr sz="2800" spc="165" dirty="0"/>
              <a:t> </a:t>
            </a:r>
            <a:r>
              <a:rPr sz="2800" dirty="0"/>
              <a:t>is</a:t>
            </a:r>
            <a:r>
              <a:rPr sz="2800" spc="165" dirty="0"/>
              <a:t> </a:t>
            </a:r>
            <a:r>
              <a:rPr sz="2800" dirty="0"/>
              <a:t>simplest</a:t>
            </a:r>
            <a:r>
              <a:rPr sz="2800" spc="170" dirty="0"/>
              <a:t> </a:t>
            </a:r>
            <a:r>
              <a:rPr sz="2800" dirty="0"/>
              <a:t>to</a:t>
            </a:r>
            <a:r>
              <a:rPr sz="2800" spc="165" dirty="0"/>
              <a:t> </a:t>
            </a:r>
            <a:r>
              <a:rPr sz="2800" dirty="0"/>
              <a:t>imagine</a:t>
            </a:r>
            <a:r>
              <a:rPr sz="2800" spc="155" dirty="0"/>
              <a:t> </a:t>
            </a:r>
            <a:r>
              <a:rPr sz="2800" dirty="0"/>
              <a:t>any</a:t>
            </a:r>
            <a:r>
              <a:rPr sz="2800" spc="160" dirty="0"/>
              <a:t> </a:t>
            </a:r>
            <a:r>
              <a:rPr sz="2800" spc="-20" dirty="0"/>
              <a:t>link 	</a:t>
            </a:r>
            <a:r>
              <a:rPr sz="2800" dirty="0"/>
              <a:t>as</a:t>
            </a:r>
            <a:r>
              <a:rPr sz="2800" spc="-65" dirty="0"/>
              <a:t> </a:t>
            </a:r>
            <a:r>
              <a:rPr sz="2800" dirty="0"/>
              <a:t>a</a:t>
            </a:r>
            <a:r>
              <a:rPr sz="2800" spc="-60" dirty="0"/>
              <a:t> </a:t>
            </a:r>
            <a:r>
              <a:rPr sz="2800" dirty="0"/>
              <a:t>line</a:t>
            </a:r>
            <a:r>
              <a:rPr sz="2800" spc="-55" dirty="0"/>
              <a:t> </a:t>
            </a:r>
            <a:r>
              <a:rPr sz="2800" dirty="0"/>
              <a:t>drawn</a:t>
            </a:r>
            <a:r>
              <a:rPr sz="2800" spc="-40" dirty="0"/>
              <a:t> </a:t>
            </a:r>
            <a:r>
              <a:rPr sz="2800" dirty="0"/>
              <a:t>between</a:t>
            </a:r>
            <a:r>
              <a:rPr sz="2800" spc="-75" dirty="0"/>
              <a:t> </a:t>
            </a:r>
            <a:r>
              <a:rPr sz="2800" dirty="0"/>
              <a:t>two</a:t>
            </a:r>
            <a:r>
              <a:rPr sz="2800" spc="-60" dirty="0"/>
              <a:t> </a:t>
            </a:r>
            <a:r>
              <a:rPr sz="2800" spc="-10" dirty="0"/>
              <a:t>points.</a:t>
            </a:r>
            <a:endParaRPr sz="2800"/>
          </a:p>
          <a:p>
            <a:pPr marL="240029" marR="5080" indent="-227965" algn="just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/>
              <a:t>For</a:t>
            </a:r>
            <a:r>
              <a:rPr sz="2800" spc="-45" dirty="0"/>
              <a:t> </a:t>
            </a:r>
            <a:r>
              <a:rPr sz="2800" spc="-10" dirty="0"/>
              <a:t>communication</a:t>
            </a:r>
            <a:r>
              <a:rPr sz="2800" spc="-45" dirty="0"/>
              <a:t> </a:t>
            </a:r>
            <a:r>
              <a:rPr sz="2800" dirty="0"/>
              <a:t>to</a:t>
            </a:r>
            <a:r>
              <a:rPr sz="2800" spc="555" dirty="0"/>
              <a:t> </a:t>
            </a:r>
            <a:r>
              <a:rPr sz="2800" spc="-25" dirty="0"/>
              <a:t>occur,</a:t>
            </a:r>
            <a:r>
              <a:rPr sz="2800" spc="-40" dirty="0"/>
              <a:t> </a:t>
            </a:r>
            <a:r>
              <a:rPr sz="2800" dirty="0"/>
              <a:t>two</a:t>
            </a:r>
            <a:r>
              <a:rPr sz="2800" spc="-35" dirty="0"/>
              <a:t> </a:t>
            </a:r>
            <a:r>
              <a:rPr sz="2800" dirty="0"/>
              <a:t>devices</a:t>
            </a:r>
            <a:r>
              <a:rPr sz="2800" spc="-40" dirty="0"/>
              <a:t> </a:t>
            </a:r>
            <a:r>
              <a:rPr sz="2800" dirty="0"/>
              <a:t>must</a:t>
            </a:r>
            <a:r>
              <a:rPr sz="2800" spc="-30" dirty="0"/>
              <a:t> </a:t>
            </a:r>
            <a:r>
              <a:rPr sz="2800" dirty="0"/>
              <a:t>be</a:t>
            </a:r>
            <a:r>
              <a:rPr sz="2800" spc="-40" dirty="0"/>
              <a:t> </a:t>
            </a:r>
            <a:r>
              <a:rPr sz="2800" dirty="0"/>
              <a:t>connected</a:t>
            </a:r>
            <a:r>
              <a:rPr sz="2800" spc="-30" dirty="0"/>
              <a:t> </a:t>
            </a:r>
            <a:r>
              <a:rPr sz="2800" dirty="0"/>
              <a:t>in</a:t>
            </a:r>
            <a:r>
              <a:rPr sz="2800" spc="-45" dirty="0"/>
              <a:t> </a:t>
            </a:r>
            <a:r>
              <a:rPr sz="2800" spc="-20" dirty="0"/>
              <a:t>some 	</a:t>
            </a:r>
            <a:r>
              <a:rPr sz="2800" dirty="0"/>
              <a:t>way</a:t>
            </a:r>
            <a:r>
              <a:rPr sz="2800" spc="-40" dirty="0"/>
              <a:t> </a:t>
            </a:r>
            <a:r>
              <a:rPr sz="2800" dirty="0"/>
              <a:t>to</a:t>
            </a:r>
            <a:r>
              <a:rPr sz="2800" spc="-20" dirty="0"/>
              <a:t> </a:t>
            </a:r>
            <a:r>
              <a:rPr sz="2800" dirty="0"/>
              <a:t>the</a:t>
            </a:r>
            <a:r>
              <a:rPr sz="2800" spc="-25" dirty="0"/>
              <a:t> </a:t>
            </a:r>
            <a:r>
              <a:rPr sz="2800" dirty="0"/>
              <a:t>same</a:t>
            </a:r>
            <a:r>
              <a:rPr sz="2800" spc="-10" dirty="0"/>
              <a:t> </a:t>
            </a:r>
            <a:r>
              <a:rPr sz="2800" dirty="0"/>
              <a:t>link</a:t>
            </a:r>
            <a:r>
              <a:rPr sz="2800" spc="-20" dirty="0"/>
              <a:t> </a:t>
            </a:r>
            <a:r>
              <a:rPr sz="2800" dirty="0"/>
              <a:t>at</a:t>
            </a:r>
            <a:r>
              <a:rPr sz="2800" spc="-20" dirty="0"/>
              <a:t> </a:t>
            </a:r>
            <a:r>
              <a:rPr sz="2800" dirty="0"/>
              <a:t>the</a:t>
            </a:r>
            <a:r>
              <a:rPr sz="2800" spc="-30" dirty="0"/>
              <a:t> </a:t>
            </a:r>
            <a:r>
              <a:rPr sz="2800" dirty="0"/>
              <a:t>same</a:t>
            </a:r>
            <a:r>
              <a:rPr sz="2800" spc="-15" dirty="0"/>
              <a:t> </a:t>
            </a:r>
            <a:r>
              <a:rPr sz="2800" spc="-10" dirty="0"/>
              <a:t>time.</a:t>
            </a:r>
            <a:endParaRPr sz="2800"/>
          </a:p>
          <a:p>
            <a:pPr marL="240665" indent="-227965" algn="just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/>
              <a:t>There</a:t>
            </a:r>
            <a:r>
              <a:rPr sz="2800" spc="-65" dirty="0"/>
              <a:t> </a:t>
            </a:r>
            <a:r>
              <a:rPr sz="2800" dirty="0"/>
              <a:t>are</a:t>
            </a:r>
            <a:r>
              <a:rPr sz="2800" spc="-75" dirty="0"/>
              <a:t> </a:t>
            </a:r>
            <a:r>
              <a:rPr sz="2800" dirty="0"/>
              <a:t>two</a:t>
            </a:r>
            <a:r>
              <a:rPr sz="2800" spc="-65" dirty="0"/>
              <a:t> </a:t>
            </a:r>
            <a:r>
              <a:rPr sz="2800" dirty="0"/>
              <a:t>possible</a:t>
            </a:r>
            <a:r>
              <a:rPr sz="2800" spc="-35" dirty="0"/>
              <a:t> </a:t>
            </a:r>
            <a:r>
              <a:rPr sz="2800" dirty="0"/>
              <a:t>types</a:t>
            </a:r>
            <a:r>
              <a:rPr sz="2800" spc="-40" dirty="0"/>
              <a:t> </a:t>
            </a:r>
            <a:r>
              <a:rPr sz="2800" dirty="0"/>
              <a:t>of</a:t>
            </a:r>
            <a:r>
              <a:rPr sz="2800" spc="-65" dirty="0"/>
              <a:t> </a:t>
            </a:r>
            <a:r>
              <a:rPr sz="2800" spc="-10" dirty="0"/>
              <a:t>connections:</a:t>
            </a:r>
            <a:endParaRPr sz="2800"/>
          </a:p>
          <a:p>
            <a:pPr marL="240665" indent="-227965" algn="just">
              <a:lnSpc>
                <a:spcPct val="100000"/>
              </a:lnSpc>
              <a:spcBef>
                <a:spcPts val="660"/>
              </a:spcBef>
              <a:buFont typeface="Arial"/>
              <a:buChar char="•"/>
              <a:tabLst>
                <a:tab pos="240665" algn="l"/>
              </a:tabLst>
            </a:pPr>
            <a:r>
              <a:rPr sz="2800" b="1" spc="-10" dirty="0">
                <a:latin typeface="Calibri"/>
                <a:cs typeface="Calibri"/>
              </a:rPr>
              <a:t>point-</a:t>
            </a:r>
            <a:r>
              <a:rPr sz="2800" b="1" spc="-30" dirty="0">
                <a:latin typeface="Calibri"/>
                <a:cs typeface="Calibri"/>
              </a:rPr>
              <a:t>to-</a:t>
            </a:r>
            <a:r>
              <a:rPr sz="2800" b="1" dirty="0">
                <a:latin typeface="Calibri"/>
                <a:cs typeface="Calibri"/>
              </a:rPr>
              <a:t>point </a:t>
            </a:r>
            <a:r>
              <a:rPr sz="2800" dirty="0"/>
              <a:t>and</a:t>
            </a:r>
            <a:r>
              <a:rPr sz="2800" spc="-25" dirty="0"/>
              <a:t> </a:t>
            </a:r>
            <a:r>
              <a:rPr sz="2800" b="1" spc="-10" dirty="0">
                <a:latin typeface="Calibri"/>
                <a:cs typeface="Calibri"/>
              </a:rPr>
              <a:t>multipoint</a:t>
            </a:r>
            <a:r>
              <a:rPr sz="2800" spc="-10" dirty="0"/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0" dirty="0"/>
              <a:t>Point-</a:t>
            </a:r>
            <a:r>
              <a:rPr spc="-45" dirty="0"/>
              <a:t>to-</a:t>
            </a:r>
            <a:r>
              <a:rPr spc="-20" dirty="0"/>
              <a:t>Point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61295" cy="429006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7620" indent="-227965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point-to-</a:t>
            </a:r>
            <a:r>
              <a:rPr sz="2800" dirty="0">
                <a:latin typeface="Calibri"/>
                <a:cs typeface="Calibri"/>
              </a:rPr>
              <a:t>point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connection</a:t>
            </a:r>
            <a:r>
              <a:rPr sz="2800" spc="3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provides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dedicated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link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two 	</a:t>
            </a:r>
            <a:r>
              <a:rPr sz="2800" spc="-10" dirty="0">
                <a:latin typeface="Calibri"/>
                <a:cs typeface="Calibri"/>
              </a:rPr>
              <a:t>devices.</a:t>
            </a:r>
            <a:endParaRPr sz="2800">
              <a:latin typeface="Calibri"/>
              <a:cs typeface="Calibri"/>
            </a:endParaRPr>
          </a:p>
          <a:p>
            <a:pPr marL="240029" marR="5715" indent="-227965" algn="just">
              <a:lnSpc>
                <a:spcPts val="3020"/>
              </a:lnSpc>
              <a:spcBef>
                <a:spcPts val="101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entire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capacity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link</a:t>
            </a:r>
            <a:r>
              <a:rPr sz="2800" spc="2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reserved</a:t>
            </a:r>
            <a:r>
              <a:rPr sz="2800" spc="2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2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transmission</a:t>
            </a:r>
            <a:r>
              <a:rPr sz="2800" spc="2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between 	</a:t>
            </a:r>
            <a:r>
              <a:rPr sz="2800" dirty="0">
                <a:latin typeface="Calibri"/>
                <a:cs typeface="Calibri"/>
              </a:rPr>
              <a:t>those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devices.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ct val="90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Most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point-to-</a:t>
            </a:r>
            <a:r>
              <a:rPr sz="2800" dirty="0">
                <a:latin typeface="Calibri"/>
                <a:cs typeface="Calibri"/>
              </a:rPr>
              <a:t>point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connections</a:t>
            </a:r>
            <a:r>
              <a:rPr sz="2800" spc="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actual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length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wire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cable 	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connect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ends,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3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other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options,</a:t>
            </a:r>
            <a:r>
              <a:rPr sz="2800" spc="4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such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microwave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or 	</a:t>
            </a:r>
            <a:r>
              <a:rPr sz="2800" dirty="0">
                <a:latin typeface="Calibri"/>
                <a:cs typeface="Calibri"/>
              </a:rPr>
              <a:t>satellite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links,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possible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(see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previous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slide).</a:t>
            </a:r>
            <a:endParaRPr sz="2800">
              <a:latin typeface="Calibri"/>
              <a:cs typeface="Calibri"/>
            </a:endParaRPr>
          </a:p>
          <a:p>
            <a:pPr marL="240029" marR="8890" indent="-227965" algn="just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When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you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change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television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channels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infrared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remote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control,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you 	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establishing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55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point-to-</a:t>
            </a:r>
            <a:r>
              <a:rPr sz="2800" dirty="0">
                <a:latin typeface="Calibri"/>
                <a:cs typeface="Calibri"/>
              </a:rPr>
              <a:t>point</a:t>
            </a:r>
            <a:r>
              <a:rPr sz="2800" spc="6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connection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between</a:t>
            </a:r>
            <a:r>
              <a:rPr sz="2800" spc="4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0" dirty="0">
                <a:latin typeface="Calibri"/>
                <a:cs typeface="Calibri"/>
              </a:rPr>
              <a:t>  </a:t>
            </a:r>
            <a:r>
              <a:rPr sz="2800" spc="-10" dirty="0">
                <a:latin typeface="Calibri"/>
                <a:cs typeface="Calibri"/>
              </a:rPr>
              <a:t>remote 	</a:t>
            </a:r>
            <a:r>
              <a:rPr sz="2800" dirty="0">
                <a:latin typeface="Calibri"/>
                <a:cs typeface="Calibri"/>
              </a:rPr>
              <a:t>control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television's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control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system.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5537" y="6009928"/>
            <a:ext cx="4342870" cy="6651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Multipoint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123805" cy="313753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multipoint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(also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called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multidrop)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connection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more 	</a:t>
            </a:r>
            <a:r>
              <a:rPr sz="2800" dirty="0">
                <a:latin typeface="Calibri"/>
                <a:cs typeface="Calibri"/>
              </a:rPr>
              <a:t>than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two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specific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devices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share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single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link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(see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Figure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above).</a:t>
            </a:r>
            <a:endParaRPr sz="2800">
              <a:latin typeface="Calibri"/>
              <a:cs typeface="Calibri"/>
            </a:endParaRPr>
          </a:p>
          <a:p>
            <a:pPr marL="241300" marR="210185" indent="-229235">
              <a:lnSpc>
                <a:spcPts val="3020"/>
              </a:lnSpc>
              <a:spcBef>
                <a:spcPts val="1015"/>
              </a:spcBef>
              <a:buChar char="•"/>
              <a:tabLst>
                <a:tab pos="241300" algn="l"/>
                <a:tab pos="321945" algn="l"/>
              </a:tabLst>
            </a:pPr>
            <a:r>
              <a:rPr sz="2800" dirty="0">
                <a:latin typeface="Arial"/>
                <a:cs typeface="Arial"/>
              </a:rPr>
              <a:t>	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multipoint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environment,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capacity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channel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shared, </a:t>
            </a:r>
            <a:r>
              <a:rPr sz="2800" dirty="0">
                <a:latin typeface="Calibri"/>
                <a:cs typeface="Calibri"/>
              </a:rPr>
              <a:t>either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spatially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temporally.</a:t>
            </a:r>
            <a:endParaRPr sz="2800">
              <a:latin typeface="Calibri"/>
              <a:cs typeface="Calibri"/>
            </a:endParaRPr>
          </a:p>
          <a:p>
            <a:pPr marL="240029" marR="681990" indent="-227965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several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devices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link</a:t>
            </a:r>
            <a:r>
              <a:rPr sz="2800" spc="-25" dirty="0">
                <a:latin typeface="Calibri"/>
                <a:cs typeface="Calibri"/>
              </a:rPr>
              <a:t> simultaneously,</a:t>
            </a:r>
            <a:r>
              <a:rPr sz="2800" dirty="0">
                <a:latin typeface="Calibri"/>
                <a:cs typeface="Calibri"/>
              </a:rPr>
              <a:t> it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spatially 	</a:t>
            </a:r>
            <a:r>
              <a:rPr sz="2800" dirty="0">
                <a:latin typeface="Calibri"/>
                <a:cs typeface="Calibri"/>
              </a:rPr>
              <a:t>shared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connection.</a:t>
            </a:r>
            <a:endParaRPr sz="28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25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If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users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must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take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turns,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timeshared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connection.</a:t>
            </a:r>
            <a:endParaRPr sz="28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05737" y="5306579"/>
            <a:ext cx="4319852" cy="14371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Computer</a:t>
            </a:r>
            <a:r>
              <a:rPr spc="-90" dirty="0"/>
              <a:t> </a:t>
            </a:r>
            <a:r>
              <a:rPr dirty="0"/>
              <a:t>Network</a:t>
            </a:r>
            <a:r>
              <a:rPr spc="-65" dirty="0"/>
              <a:t> </a:t>
            </a:r>
            <a:r>
              <a:rPr spc="-10" dirty="0"/>
              <a:t>Architecture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186035" cy="211645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Architecture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defined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physical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logical 	</a:t>
            </a:r>
            <a:r>
              <a:rPr sz="2800" dirty="0">
                <a:latin typeface="Calibri"/>
                <a:cs typeface="Calibri"/>
              </a:rPr>
              <a:t>design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software,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hardware,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protocols,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media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10" dirty="0">
                <a:latin typeface="Calibri"/>
                <a:cs typeface="Calibri"/>
              </a:rPr>
              <a:t>transmission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data.</a:t>
            </a:r>
            <a:endParaRPr sz="2800">
              <a:latin typeface="Calibri"/>
              <a:cs typeface="Calibri"/>
            </a:endParaRPr>
          </a:p>
          <a:p>
            <a:pPr marL="240029" marR="173990" indent="-227965">
              <a:lnSpc>
                <a:spcPts val="30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Simply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say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computers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organized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how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tasks 	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allocated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computer.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16939" y="609676"/>
            <a:ext cx="63284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latin typeface="Calibri Light"/>
                <a:cs typeface="Calibri Light"/>
              </a:rPr>
              <a:t>Types</a:t>
            </a:r>
            <a:r>
              <a:rPr sz="4400" spc="-110" dirty="0">
                <a:latin typeface="Calibri Light"/>
                <a:cs typeface="Calibri Light"/>
              </a:rPr>
              <a:t> </a:t>
            </a:r>
            <a:r>
              <a:rPr sz="4400" dirty="0">
                <a:latin typeface="Calibri Light"/>
                <a:cs typeface="Calibri Light"/>
              </a:rPr>
              <a:t>of</a:t>
            </a:r>
            <a:r>
              <a:rPr sz="4400" spc="-95" dirty="0">
                <a:latin typeface="Calibri Light"/>
                <a:cs typeface="Calibri Light"/>
              </a:rPr>
              <a:t> </a:t>
            </a:r>
            <a:r>
              <a:rPr sz="4400" dirty="0">
                <a:latin typeface="Calibri Light"/>
                <a:cs typeface="Calibri Light"/>
              </a:rPr>
              <a:t>Computer</a:t>
            </a:r>
            <a:r>
              <a:rPr sz="4400" spc="-95" dirty="0">
                <a:latin typeface="Calibri Light"/>
                <a:cs typeface="Calibri Light"/>
              </a:rPr>
              <a:t> </a:t>
            </a:r>
            <a:r>
              <a:rPr sz="4400" spc="-10" dirty="0">
                <a:latin typeface="Calibri Light"/>
                <a:cs typeface="Calibri Light"/>
              </a:rPr>
              <a:t>Network</a:t>
            </a:r>
            <a:endParaRPr sz="4400">
              <a:latin typeface="Calibri Light"/>
              <a:cs typeface="Calibri Ligh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627" y="1821179"/>
            <a:ext cx="10522458" cy="20779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500" dirty="0">
                <a:latin typeface="Calibri"/>
                <a:cs typeface="Calibri"/>
              </a:rPr>
              <a:t>Peer</a:t>
            </a:r>
            <a:r>
              <a:rPr sz="6500" spc="-150" dirty="0">
                <a:latin typeface="Calibri"/>
                <a:cs typeface="Calibri"/>
              </a:rPr>
              <a:t> </a:t>
            </a:r>
            <a:r>
              <a:rPr sz="6500" dirty="0">
                <a:latin typeface="Calibri"/>
                <a:cs typeface="Calibri"/>
              </a:rPr>
              <a:t>to</a:t>
            </a:r>
            <a:r>
              <a:rPr sz="6500" spc="-140" dirty="0">
                <a:latin typeface="Calibri"/>
                <a:cs typeface="Calibri"/>
              </a:rPr>
              <a:t> </a:t>
            </a:r>
            <a:r>
              <a:rPr sz="6500" spc="-20" dirty="0">
                <a:latin typeface="Calibri"/>
                <a:cs typeface="Calibri"/>
              </a:rPr>
              <a:t>Peer</a:t>
            </a:r>
            <a:endParaRPr sz="65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042174" y="2029586"/>
            <a:ext cx="2109470" cy="1663700"/>
            <a:chOff x="1042174" y="2029586"/>
            <a:chExt cx="2109470" cy="1663700"/>
          </a:xfrm>
        </p:grpSpPr>
        <p:sp>
          <p:nvSpPr>
            <p:cNvPr id="6" name="object 6"/>
            <p:cNvSpPr/>
            <p:nvPr/>
          </p:nvSpPr>
          <p:spPr>
            <a:xfrm>
              <a:off x="1045349" y="2032761"/>
              <a:ext cx="2103120" cy="1657350"/>
            </a:xfrm>
            <a:custGeom>
              <a:avLst/>
              <a:gdLst/>
              <a:ahLst/>
              <a:cxnLst/>
              <a:rect l="l" t="t" r="r" b="b"/>
              <a:pathLst>
                <a:path w="2103120" h="1657350">
                  <a:moveTo>
                    <a:pt x="1937372" y="0"/>
                  </a:moveTo>
                  <a:lnTo>
                    <a:pt x="165734" y="0"/>
                  </a:lnTo>
                  <a:lnTo>
                    <a:pt x="121677" y="5917"/>
                  </a:lnTo>
                  <a:lnTo>
                    <a:pt x="82087" y="22620"/>
                  </a:lnTo>
                  <a:lnTo>
                    <a:pt x="48544" y="48529"/>
                  </a:lnTo>
                  <a:lnTo>
                    <a:pt x="22628" y="82070"/>
                  </a:lnTo>
                  <a:lnTo>
                    <a:pt x="5920" y="121664"/>
                  </a:lnTo>
                  <a:lnTo>
                    <a:pt x="0" y="165735"/>
                  </a:lnTo>
                  <a:lnTo>
                    <a:pt x="0" y="1491488"/>
                  </a:lnTo>
                  <a:lnTo>
                    <a:pt x="5920" y="1535558"/>
                  </a:lnTo>
                  <a:lnTo>
                    <a:pt x="22628" y="1575152"/>
                  </a:lnTo>
                  <a:lnTo>
                    <a:pt x="48544" y="1608693"/>
                  </a:lnTo>
                  <a:lnTo>
                    <a:pt x="82087" y="1634602"/>
                  </a:lnTo>
                  <a:lnTo>
                    <a:pt x="121677" y="1651305"/>
                  </a:lnTo>
                  <a:lnTo>
                    <a:pt x="165734" y="1657223"/>
                  </a:lnTo>
                  <a:lnTo>
                    <a:pt x="1937372" y="1657223"/>
                  </a:lnTo>
                  <a:lnTo>
                    <a:pt x="1981443" y="1651305"/>
                  </a:lnTo>
                  <a:lnTo>
                    <a:pt x="2021037" y="1634602"/>
                  </a:lnTo>
                  <a:lnTo>
                    <a:pt x="2054577" y="1608693"/>
                  </a:lnTo>
                  <a:lnTo>
                    <a:pt x="2080487" y="1575152"/>
                  </a:lnTo>
                  <a:lnTo>
                    <a:pt x="2097189" y="1535558"/>
                  </a:lnTo>
                  <a:lnTo>
                    <a:pt x="2103107" y="1491488"/>
                  </a:lnTo>
                  <a:lnTo>
                    <a:pt x="2103107" y="165735"/>
                  </a:lnTo>
                  <a:lnTo>
                    <a:pt x="2097189" y="121664"/>
                  </a:lnTo>
                  <a:lnTo>
                    <a:pt x="2080487" y="82070"/>
                  </a:lnTo>
                  <a:lnTo>
                    <a:pt x="2054577" y="48529"/>
                  </a:lnTo>
                  <a:lnTo>
                    <a:pt x="2021037" y="22620"/>
                  </a:lnTo>
                  <a:lnTo>
                    <a:pt x="1981443" y="5917"/>
                  </a:lnTo>
                  <a:lnTo>
                    <a:pt x="1937372" y="0"/>
                  </a:lnTo>
                  <a:close/>
                </a:path>
              </a:pathLst>
            </a:custGeom>
            <a:solidFill>
              <a:srgbClr val="F6CCB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45349" y="2032761"/>
              <a:ext cx="2103120" cy="1657350"/>
            </a:xfrm>
            <a:custGeom>
              <a:avLst/>
              <a:gdLst/>
              <a:ahLst/>
              <a:cxnLst/>
              <a:rect l="l" t="t" r="r" b="b"/>
              <a:pathLst>
                <a:path w="2103120" h="1657350">
                  <a:moveTo>
                    <a:pt x="0" y="165735"/>
                  </a:moveTo>
                  <a:lnTo>
                    <a:pt x="5920" y="121664"/>
                  </a:lnTo>
                  <a:lnTo>
                    <a:pt x="22628" y="82070"/>
                  </a:lnTo>
                  <a:lnTo>
                    <a:pt x="48544" y="48529"/>
                  </a:lnTo>
                  <a:lnTo>
                    <a:pt x="82087" y="22620"/>
                  </a:lnTo>
                  <a:lnTo>
                    <a:pt x="121677" y="5917"/>
                  </a:lnTo>
                  <a:lnTo>
                    <a:pt x="165734" y="0"/>
                  </a:lnTo>
                  <a:lnTo>
                    <a:pt x="1937372" y="0"/>
                  </a:lnTo>
                  <a:lnTo>
                    <a:pt x="1981443" y="5917"/>
                  </a:lnTo>
                  <a:lnTo>
                    <a:pt x="2021037" y="22620"/>
                  </a:lnTo>
                  <a:lnTo>
                    <a:pt x="2054577" y="48529"/>
                  </a:lnTo>
                  <a:lnTo>
                    <a:pt x="2080487" y="82070"/>
                  </a:lnTo>
                  <a:lnTo>
                    <a:pt x="2097189" y="121664"/>
                  </a:lnTo>
                  <a:lnTo>
                    <a:pt x="2103107" y="165735"/>
                  </a:lnTo>
                  <a:lnTo>
                    <a:pt x="2103107" y="1491488"/>
                  </a:lnTo>
                  <a:lnTo>
                    <a:pt x="2097189" y="1535558"/>
                  </a:lnTo>
                  <a:lnTo>
                    <a:pt x="2080487" y="1575152"/>
                  </a:lnTo>
                  <a:lnTo>
                    <a:pt x="2054577" y="1608693"/>
                  </a:lnTo>
                  <a:lnTo>
                    <a:pt x="2021037" y="1634602"/>
                  </a:lnTo>
                  <a:lnTo>
                    <a:pt x="1981443" y="1651305"/>
                  </a:lnTo>
                  <a:lnTo>
                    <a:pt x="1937372" y="1657223"/>
                  </a:lnTo>
                  <a:lnTo>
                    <a:pt x="165734" y="1657223"/>
                  </a:lnTo>
                  <a:lnTo>
                    <a:pt x="121677" y="1651305"/>
                  </a:lnTo>
                  <a:lnTo>
                    <a:pt x="82087" y="1634602"/>
                  </a:lnTo>
                  <a:lnTo>
                    <a:pt x="48544" y="1608693"/>
                  </a:lnTo>
                  <a:lnTo>
                    <a:pt x="22628" y="1575152"/>
                  </a:lnTo>
                  <a:lnTo>
                    <a:pt x="5920" y="1535558"/>
                  </a:lnTo>
                  <a:lnTo>
                    <a:pt x="0" y="1491488"/>
                  </a:lnTo>
                  <a:lnTo>
                    <a:pt x="0" y="165735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627" y="4101084"/>
            <a:ext cx="10522458" cy="207645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6500" spc="-10" dirty="0"/>
              <a:t>Client/Server</a:t>
            </a:r>
            <a:endParaRPr sz="6500"/>
          </a:p>
        </p:txBody>
      </p:sp>
      <p:grpSp>
        <p:nvGrpSpPr>
          <p:cNvPr id="10" name="object 10"/>
          <p:cNvGrpSpPr/>
          <p:nvPr/>
        </p:nvGrpSpPr>
        <p:grpSpPr>
          <a:xfrm>
            <a:off x="1042174" y="4308347"/>
            <a:ext cx="2109470" cy="1663700"/>
            <a:chOff x="1042174" y="4308347"/>
            <a:chExt cx="2109470" cy="1663700"/>
          </a:xfrm>
        </p:grpSpPr>
        <p:sp>
          <p:nvSpPr>
            <p:cNvPr id="11" name="object 11"/>
            <p:cNvSpPr/>
            <p:nvPr/>
          </p:nvSpPr>
          <p:spPr>
            <a:xfrm>
              <a:off x="1045349" y="4311522"/>
              <a:ext cx="2103120" cy="1657350"/>
            </a:xfrm>
            <a:custGeom>
              <a:avLst/>
              <a:gdLst/>
              <a:ahLst/>
              <a:cxnLst/>
              <a:rect l="l" t="t" r="r" b="b"/>
              <a:pathLst>
                <a:path w="2103120" h="1657350">
                  <a:moveTo>
                    <a:pt x="1937372" y="0"/>
                  </a:moveTo>
                  <a:lnTo>
                    <a:pt x="165734" y="0"/>
                  </a:lnTo>
                  <a:lnTo>
                    <a:pt x="121677" y="5917"/>
                  </a:lnTo>
                  <a:lnTo>
                    <a:pt x="82087" y="22620"/>
                  </a:lnTo>
                  <a:lnTo>
                    <a:pt x="48544" y="48529"/>
                  </a:lnTo>
                  <a:lnTo>
                    <a:pt x="22628" y="82070"/>
                  </a:lnTo>
                  <a:lnTo>
                    <a:pt x="5920" y="121664"/>
                  </a:lnTo>
                  <a:lnTo>
                    <a:pt x="0" y="165734"/>
                  </a:lnTo>
                  <a:lnTo>
                    <a:pt x="0" y="1491500"/>
                  </a:lnTo>
                  <a:lnTo>
                    <a:pt x="5920" y="1535552"/>
                  </a:lnTo>
                  <a:lnTo>
                    <a:pt x="22628" y="1575139"/>
                  </a:lnTo>
                  <a:lnTo>
                    <a:pt x="48544" y="1608680"/>
                  </a:lnTo>
                  <a:lnTo>
                    <a:pt x="82087" y="1634594"/>
                  </a:lnTo>
                  <a:lnTo>
                    <a:pt x="121677" y="1651302"/>
                  </a:lnTo>
                  <a:lnTo>
                    <a:pt x="165734" y="1657223"/>
                  </a:lnTo>
                  <a:lnTo>
                    <a:pt x="1937372" y="1657223"/>
                  </a:lnTo>
                  <a:lnTo>
                    <a:pt x="1981443" y="1651302"/>
                  </a:lnTo>
                  <a:lnTo>
                    <a:pt x="2021037" y="1634594"/>
                  </a:lnTo>
                  <a:lnTo>
                    <a:pt x="2054577" y="1608680"/>
                  </a:lnTo>
                  <a:lnTo>
                    <a:pt x="2080487" y="1575139"/>
                  </a:lnTo>
                  <a:lnTo>
                    <a:pt x="2097189" y="1535552"/>
                  </a:lnTo>
                  <a:lnTo>
                    <a:pt x="2103107" y="1491500"/>
                  </a:lnTo>
                  <a:lnTo>
                    <a:pt x="2103107" y="165734"/>
                  </a:lnTo>
                  <a:lnTo>
                    <a:pt x="2097189" y="121664"/>
                  </a:lnTo>
                  <a:lnTo>
                    <a:pt x="2080487" y="82070"/>
                  </a:lnTo>
                  <a:lnTo>
                    <a:pt x="2054577" y="48529"/>
                  </a:lnTo>
                  <a:lnTo>
                    <a:pt x="2021037" y="22620"/>
                  </a:lnTo>
                  <a:lnTo>
                    <a:pt x="1981443" y="5917"/>
                  </a:lnTo>
                  <a:lnTo>
                    <a:pt x="1937372" y="0"/>
                  </a:lnTo>
                  <a:close/>
                </a:path>
              </a:pathLst>
            </a:custGeom>
            <a:solidFill>
              <a:srgbClr val="D7D7D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45349" y="4311522"/>
              <a:ext cx="2103120" cy="1657350"/>
            </a:xfrm>
            <a:custGeom>
              <a:avLst/>
              <a:gdLst/>
              <a:ahLst/>
              <a:cxnLst/>
              <a:rect l="l" t="t" r="r" b="b"/>
              <a:pathLst>
                <a:path w="2103120" h="1657350">
                  <a:moveTo>
                    <a:pt x="0" y="165734"/>
                  </a:moveTo>
                  <a:lnTo>
                    <a:pt x="5920" y="121664"/>
                  </a:lnTo>
                  <a:lnTo>
                    <a:pt x="22628" y="82070"/>
                  </a:lnTo>
                  <a:lnTo>
                    <a:pt x="48544" y="48529"/>
                  </a:lnTo>
                  <a:lnTo>
                    <a:pt x="82087" y="22620"/>
                  </a:lnTo>
                  <a:lnTo>
                    <a:pt x="121677" y="5917"/>
                  </a:lnTo>
                  <a:lnTo>
                    <a:pt x="165734" y="0"/>
                  </a:lnTo>
                  <a:lnTo>
                    <a:pt x="1937372" y="0"/>
                  </a:lnTo>
                  <a:lnTo>
                    <a:pt x="1981443" y="5917"/>
                  </a:lnTo>
                  <a:lnTo>
                    <a:pt x="2021037" y="22620"/>
                  </a:lnTo>
                  <a:lnTo>
                    <a:pt x="2054577" y="48529"/>
                  </a:lnTo>
                  <a:lnTo>
                    <a:pt x="2080487" y="82070"/>
                  </a:lnTo>
                  <a:lnTo>
                    <a:pt x="2097189" y="121664"/>
                  </a:lnTo>
                  <a:lnTo>
                    <a:pt x="2103107" y="165734"/>
                  </a:lnTo>
                  <a:lnTo>
                    <a:pt x="2103107" y="1491500"/>
                  </a:lnTo>
                  <a:lnTo>
                    <a:pt x="2097189" y="1535552"/>
                  </a:lnTo>
                  <a:lnTo>
                    <a:pt x="2080487" y="1575139"/>
                  </a:lnTo>
                  <a:lnTo>
                    <a:pt x="2054577" y="1608680"/>
                  </a:lnTo>
                  <a:lnTo>
                    <a:pt x="2021037" y="1634594"/>
                  </a:lnTo>
                  <a:lnTo>
                    <a:pt x="1981443" y="1651302"/>
                  </a:lnTo>
                  <a:lnTo>
                    <a:pt x="1937372" y="1657223"/>
                  </a:lnTo>
                  <a:lnTo>
                    <a:pt x="165734" y="1657223"/>
                  </a:lnTo>
                  <a:lnTo>
                    <a:pt x="121677" y="1651302"/>
                  </a:lnTo>
                  <a:lnTo>
                    <a:pt x="82087" y="1634594"/>
                  </a:lnTo>
                  <a:lnTo>
                    <a:pt x="48544" y="1608680"/>
                  </a:lnTo>
                  <a:lnTo>
                    <a:pt x="22628" y="1575139"/>
                  </a:lnTo>
                  <a:lnTo>
                    <a:pt x="5920" y="1535552"/>
                  </a:lnTo>
                  <a:lnTo>
                    <a:pt x="0" y="1491500"/>
                  </a:lnTo>
                  <a:lnTo>
                    <a:pt x="0" y="165734"/>
                  </a:lnTo>
                  <a:close/>
                </a:path>
              </a:pathLst>
            </a:custGeom>
            <a:ln w="635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Peer</a:t>
            </a:r>
            <a:r>
              <a:rPr spc="-100" dirty="0"/>
              <a:t> </a:t>
            </a:r>
            <a:r>
              <a:rPr dirty="0"/>
              <a:t>to</a:t>
            </a:r>
            <a:r>
              <a:rPr spc="-85" dirty="0"/>
              <a:t> </a:t>
            </a:r>
            <a:r>
              <a:rPr dirty="0"/>
              <a:t>Peer</a:t>
            </a:r>
            <a:r>
              <a:rPr spc="-10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9390" cy="3905885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965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Peer-</a:t>
            </a:r>
            <a:r>
              <a:rPr sz="2800" spc="-100" dirty="0">
                <a:latin typeface="Calibri"/>
                <a:cs typeface="Calibri"/>
              </a:rPr>
              <a:t>To-</a:t>
            </a:r>
            <a:r>
              <a:rPr sz="2800" dirty="0">
                <a:latin typeface="Calibri"/>
                <a:cs typeface="Calibri"/>
              </a:rPr>
              <a:t>Peer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4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4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48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all</a:t>
            </a:r>
            <a:r>
              <a:rPr sz="2800" spc="4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8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computers</a:t>
            </a:r>
            <a:r>
              <a:rPr sz="2800" spc="48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are 	</a:t>
            </a:r>
            <a:r>
              <a:rPr sz="2800" dirty="0">
                <a:latin typeface="Calibri"/>
                <a:cs typeface="Calibri"/>
              </a:rPr>
              <a:t>linked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together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equal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privilege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responsibilities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processing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data.</a:t>
            </a:r>
            <a:endParaRPr sz="2800">
              <a:latin typeface="Calibri"/>
              <a:cs typeface="Calibri"/>
            </a:endParaRPr>
          </a:p>
          <a:p>
            <a:pPr marL="240029" marR="8890" indent="-227965" algn="just">
              <a:lnSpc>
                <a:spcPts val="30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25" dirty="0">
                <a:latin typeface="Calibri"/>
                <a:cs typeface="Calibri"/>
              </a:rPr>
              <a:t>Peer-</a:t>
            </a:r>
            <a:r>
              <a:rPr sz="2800" spc="-100" dirty="0">
                <a:latin typeface="Calibri"/>
                <a:cs typeface="Calibri"/>
              </a:rPr>
              <a:t>To-</a:t>
            </a:r>
            <a:r>
              <a:rPr sz="2800" dirty="0">
                <a:latin typeface="Calibri"/>
                <a:cs typeface="Calibri"/>
              </a:rPr>
              <a:t>Peer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useful</a:t>
            </a:r>
            <a:r>
              <a:rPr sz="2800" spc="1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1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small</a:t>
            </a:r>
            <a:r>
              <a:rPr sz="2800" spc="1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environments,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usually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</a:t>
            </a:r>
            <a:r>
              <a:rPr sz="2800" spc="16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to 	</a:t>
            </a:r>
            <a:r>
              <a:rPr sz="2800" dirty="0">
                <a:latin typeface="Calibri"/>
                <a:cs typeface="Calibri"/>
              </a:rPr>
              <a:t>10</a:t>
            </a:r>
            <a:r>
              <a:rPr sz="2800" spc="-10" dirty="0">
                <a:latin typeface="Calibri"/>
                <a:cs typeface="Calibri"/>
              </a:rPr>
              <a:t> computers.</a:t>
            </a:r>
            <a:endParaRPr sz="2800">
              <a:latin typeface="Calibri"/>
              <a:cs typeface="Calibri"/>
            </a:endParaRPr>
          </a:p>
          <a:p>
            <a:pPr marL="240029" indent="-227329" algn="just">
              <a:lnSpc>
                <a:spcPct val="100000"/>
              </a:lnSpc>
              <a:spcBef>
                <a:spcPts val="620"/>
              </a:spcBef>
              <a:buFont typeface="Arial"/>
              <a:buChar char="•"/>
              <a:tabLst>
                <a:tab pos="240029" algn="l"/>
              </a:tabLst>
            </a:pPr>
            <a:r>
              <a:rPr sz="2800" spc="-30" dirty="0">
                <a:latin typeface="Calibri"/>
                <a:cs typeface="Calibri"/>
              </a:rPr>
              <a:t>Peer-</a:t>
            </a:r>
            <a:r>
              <a:rPr sz="2800" spc="-95" dirty="0">
                <a:latin typeface="Calibri"/>
                <a:cs typeface="Calibri"/>
              </a:rPr>
              <a:t>To-</a:t>
            </a:r>
            <a:r>
              <a:rPr sz="2800" dirty="0">
                <a:latin typeface="Calibri"/>
                <a:cs typeface="Calibri"/>
              </a:rPr>
              <a:t>Peer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has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dedicated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server.</a:t>
            </a:r>
            <a:endParaRPr sz="2800">
              <a:latin typeface="Calibri"/>
              <a:cs typeface="Calibri"/>
            </a:endParaRPr>
          </a:p>
          <a:p>
            <a:pPr marL="240029" marR="5080" indent="-227965" algn="just">
              <a:lnSpc>
                <a:spcPts val="3020"/>
              </a:lnSpc>
              <a:spcBef>
                <a:spcPts val="105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Special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permissions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4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assigned</a:t>
            </a:r>
            <a:r>
              <a:rPr sz="2800" spc="4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4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each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43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4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sharing</a:t>
            </a:r>
            <a:r>
              <a:rPr sz="2800" spc="434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resources,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but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this</a:t>
            </a:r>
            <a:r>
              <a:rPr sz="2800" spc="3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lead</a:t>
            </a:r>
            <a:r>
              <a:rPr sz="2800" spc="3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problem</a:t>
            </a:r>
            <a:r>
              <a:rPr sz="2800" spc="3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3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3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spc="-10" dirty="0">
                <a:latin typeface="Calibri"/>
                <a:cs typeface="Calibri"/>
              </a:rPr>
              <a:t>resource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down.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Peer</a:t>
            </a:r>
            <a:r>
              <a:rPr spc="-100" dirty="0"/>
              <a:t> </a:t>
            </a:r>
            <a:r>
              <a:rPr dirty="0"/>
              <a:t>to</a:t>
            </a:r>
            <a:r>
              <a:rPr spc="-85" dirty="0"/>
              <a:t> </a:t>
            </a:r>
            <a:r>
              <a:rPr dirty="0"/>
              <a:t>Peer</a:t>
            </a:r>
            <a:r>
              <a:rPr spc="-100" dirty="0"/>
              <a:t> </a:t>
            </a:r>
            <a:r>
              <a:rPr spc="-10" dirty="0"/>
              <a:t>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01998" y="2096474"/>
            <a:ext cx="5575985" cy="414597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Peer</a:t>
            </a:r>
            <a:r>
              <a:rPr spc="-105" dirty="0"/>
              <a:t> </a:t>
            </a:r>
            <a:r>
              <a:rPr dirty="0"/>
              <a:t>to</a:t>
            </a:r>
            <a:r>
              <a:rPr spc="-85" dirty="0"/>
              <a:t> </a:t>
            </a:r>
            <a:r>
              <a:rPr dirty="0"/>
              <a:t>Peer</a:t>
            </a:r>
            <a:r>
              <a:rPr spc="-10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pc="-10" dirty="0"/>
              <a:t>Advantages</a:t>
            </a:r>
          </a:p>
          <a:p>
            <a:pPr marL="240029" marR="6985" indent="-227329" algn="just">
              <a:lnSpc>
                <a:spcPts val="3020"/>
              </a:lnSpc>
              <a:spcBef>
                <a:spcPts val="740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0" dirty="0">
                <a:latin typeface="Calibri"/>
                <a:cs typeface="Calibri"/>
              </a:rPr>
              <a:t>It</a:t>
            </a:r>
            <a:r>
              <a:rPr sz="2800" b="0" spc="45" dirty="0">
                <a:latin typeface="Calibri"/>
                <a:cs typeface="Calibri"/>
              </a:rPr>
              <a:t>  </a:t>
            </a:r>
            <a:r>
              <a:rPr sz="2800" b="0" dirty="0">
                <a:latin typeface="Calibri"/>
                <a:cs typeface="Calibri"/>
              </a:rPr>
              <a:t>is</a:t>
            </a:r>
            <a:r>
              <a:rPr sz="2800" b="0" spc="50" dirty="0">
                <a:latin typeface="Calibri"/>
                <a:cs typeface="Calibri"/>
              </a:rPr>
              <a:t>  </a:t>
            </a:r>
            <a:r>
              <a:rPr sz="2800" b="0" dirty="0">
                <a:latin typeface="Calibri"/>
                <a:cs typeface="Calibri"/>
              </a:rPr>
              <a:t>less</a:t>
            </a:r>
            <a:r>
              <a:rPr sz="2800" b="0" spc="60" dirty="0">
                <a:latin typeface="Calibri"/>
                <a:cs typeface="Calibri"/>
              </a:rPr>
              <a:t>  </a:t>
            </a:r>
            <a:r>
              <a:rPr sz="2800" b="0" dirty="0">
                <a:latin typeface="Calibri"/>
                <a:cs typeface="Calibri"/>
              </a:rPr>
              <a:t>costly</a:t>
            </a:r>
            <a:r>
              <a:rPr sz="2800" b="0" spc="45" dirty="0">
                <a:latin typeface="Calibri"/>
                <a:cs typeface="Calibri"/>
              </a:rPr>
              <a:t>  </a:t>
            </a:r>
            <a:r>
              <a:rPr sz="2800" b="0" dirty="0">
                <a:latin typeface="Calibri"/>
                <a:cs typeface="Calibri"/>
              </a:rPr>
              <a:t>as</a:t>
            </a:r>
            <a:r>
              <a:rPr sz="2800" b="0" spc="55" dirty="0">
                <a:latin typeface="Calibri"/>
                <a:cs typeface="Calibri"/>
              </a:rPr>
              <a:t>  </a:t>
            </a:r>
            <a:r>
              <a:rPr sz="2800" b="0" dirty="0">
                <a:latin typeface="Calibri"/>
                <a:cs typeface="Calibri"/>
              </a:rPr>
              <a:t>it</a:t>
            </a:r>
            <a:r>
              <a:rPr sz="2800" b="0" spc="55" dirty="0">
                <a:latin typeface="Calibri"/>
                <a:cs typeface="Calibri"/>
              </a:rPr>
              <a:t>  </a:t>
            </a:r>
            <a:r>
              <a:rPr sz="2800" b="0" dirty="0">
                <a:latin typeface="Calibri"/>
                <a:cs typeface="Calibri"/>
              </a:rPr>
              <a:t>does</a:t>
            </a:r>
            <a:r>
              <a:rPr sz="2800" b="0" spc="50" dirty="0">
                <a:latin typeface="Calibri"/>
                <a:cs typeface="Calibri"/>
              </a:rPr>
              <a:t>  </a:t>
            </a:r>
            <a:r>
              <a:rPr sz="2800" b="0" spc="-25" dirty="0">
                <a:latin typeface="Calibri"/>
                <a:cs typeface="Calibri"/>
              </a:rPr>
              <a:t>not 	</a:t>
            </a:r>
            <a:r>
              <a:rPr sz="2800" b="0" spc="-10" dirty="0">
                <a:latin typeface="Calibri"/>
                <a:cs typeface="Calibri"/>
              </a:rPr>
              <a:t>contain</a:t>
            </a:r>
            <a:r>
              <a:rPr sz="2800" b="0" spc="-9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any</a:t>
            </a:r>
            <a:r>
              <a:rPr sz="2800" b="0" spc="-100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dedicated</a:t>
            </a:r>
            <a:r>
              <a:rPr sz="2800" b="0" spc="-9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server.</a:t>
            </a:r>
            <a:endParaRPr sz="2800">
              <a:latin typeface="Calibri"/>
              <a:cs typeface="Calibri"/>
            </a:endParaRPr>
          </a:p>
          <a:p>
            <a:pPr marL="240029" marR="5715" indent="-227329" algn="just">
              <a:lnSpc>
                <a:spcPct val="90000"/>
              </a:lnSpc>
              <a:spcBef>
                <a:spcPts val="969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0" dirty="0">
                <a:latin typeface="Calibri"/>
                <a:cs typeface="Calibri"/>
              </a:rPr>
              <a:t>If</a:t>
            </a:r>
            <a:r>
              <a:rPr sz="2800" b="0" spc="59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one</a:t>
            </a:r>
            <a:r>
              <a:rPr sz="2800" b="0" spc="58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computer</a:t>
            </a:r>
            <a:r>
              <a:rPr sz="2800" b="0" spc="61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stops</a:t>
            </a:r>
            <a:r>
              <a:rPr sz="2800" b="0" spc="600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working 	</a:t>
            </a:r>
            <a:r>
              <a:rPr sz="2800" b="0" dirty="0">
                <a:latin typeface="Calibri"/>
                <a:cs typeface="Calibri"/>
              </a:rPr>
              <a:t>but,</a:t>
            </a:r>
            <a:r>
              <a:rPr sz="2800" b="0" spc="155" dirty="0">
                <a:latin typeface="Calibri"/>
                <a:cs typeface="Calibri"/>
              </a:rPr>
              <a:t>  </a:t>
            </a:r>
            <a:r>
              <a:rPr sz="2800" b="0" dirty="0">
                <a:latin typeface="Calibri"/>
                <a:cs typeface="Calibri"/>
              </a:rPr>
              <a:t>other</a:t>
            </a:r>
            <a:r>
              <a:rPr sz="2800" b="0" spc="160" dirty="0">
                <a:latin typeface="Calibri"/>
                <a:cs typeface="Calibri"/>
              </a:rPr>
              <a:t>  </a:t>
            </a:r>
            <a:r>
              <a:rPr sz="2800" b="0" dirty="0">
                <a:latin typeface="Calibri"/>
                <a:cs typeface="Calibri"/>
              </a:rPr>
              <a:t>computers</a:t>
            </a:r>
            <a:r>
              <a:rPr sz="2800" b="0" spc="155" dirty="0">
                <a:latin typeface="Calibri"/>
                <a:cs typeface="Calibri"/>
              </a:rPr>
              <a:t>  </a:t>
            </a:r>
            <a:r>
              <a:rPr sz="2800" b="0" dirty="0">
                <a:latin typeface="Calibri"/>
                <a:cs typeface="Calibri"/>
              </a:rPr>
              <a:t>will</a:t>
            </a:r>
            <a:r>
              <a:rPr sz="2800" b="0" spc="160" dirty="0">
                <a:latin typeface="Calibri"/>
                <a:cs typeface="Calibri"/>
              </a:rPr>
              <a:t>  </a:t>
            </a:r>
            <a:r>
              <a:rPr sz="2800" b="0" spc="-25" dirty="0">
                <a:latin typeface="Calibri"/>
                <a:cs typeface="Calibri"/>
              </a:rPr>
              <a:t>not 	</a:t>
            </a:r>
            <a:r>
              <a:rPr sz="2800" b="0" dirty="0">
                <a:latin typeface="Calibri"/>
                <a:cs typeface="Calibri"/>
              </a:rPr>
              <a:t>stop</a:t>
            </a:r>
            <a:r>
              <a:rPr sz="2800" b="0" spc="-10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working.</a:t>
            </a:r>
            <a:endParaRPr sz="2800">
              <a:latin typeface="Calibri"/>
              <a:cs typeface="Calibri"/>
            </a:endParaRPr>
          </a:p>
          <a:p>
            <a:pPr marL="240029" marR="5080" indent="-227329" algn="just">
              <a:lnSpc>
                <a:spcPts val="302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b="0" dirty="0">
                <a:latin typeface="Calibri"/>
                <a:cs typeface="Calibri"/>
              </a:rPr>
              <a:t>It</a:t>
            </a:r>
            <a:r>
              <a:rPr sz="2800" b="0" spc="16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is</a:t>
            </a:r>
            <a:r>
              <a:rPr sz="2800" b="0" spc="16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easy</a:t>
            </a:r>
            <a:r>
              <a:rPr sz="2800" b="0" spc="165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to</a:t>
            </a:r>
            <a:r>
              <a:rPr sz="2800" b="0" spc="16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set</a:t>
            </a:r>
            <a:r>
              <a:rPr sz="2800" b="0" spc="17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up</a:t>
            </a:r>
            <a:r>
              <a:rPr sz="2800" b="0" spc="170" dirty="0">
                <a:latin typeface="Calibri"/>
                <a:cs typeface="Calibri"/>
              </a:rPr>
              <a:t> </a:t>
            </a:r>
            <a:r>
              <a:rPr sz="2800" b="0" dirty="0">
                <a:latin typeface="Calibri"/>
                <a:cs typeface="Calibri"/>
              </a:rPr>
              <a:t>and</a:t>
            </a:r>
            <a:r>
              <a:rPr sz="2800" b="0" spc="175" dirty="0">
                <a:latin typeface="Calibri"/>
                <a:cs typeface="Calibri"/>
              </a:rPr>
              <a:t> </a:t>
            </a:r>
            <a:r>
              <a:rPr sz="2800" b="0" spc="-10" dirty="0">
                <a:latin typeface="Calibri"/>
                <a:cs typeface="Calibri"/>
              </a:rPr>
              <a:t>maintain 	</a:t>
            </a:r>
            <a:r>
              <a:rPr sz="2800" b="0" dirty="0">
                <a:latin typeface="Calibri"/>
                <a:cs typeface="Calibri"/>
              </a:rPr>
              <a:t>as</a:t>
            </a:r>
            <a:r>
              <a:rPr sz="2800" b="0" spc="260" dirty="0">
                <a:latin typeface="Calibri"/>
                <a:cs typeface="Calibri"/>
              </a:rPr>
              <a:t>   </a:t>
            </a:r>
            <a:r>
              <a:rPr sz="2800" b="0" dirty="0">
                <a:latin typeface="Calibri"/>
                <a:cs typeface="Calibri"/>
              </a:rPr>
              <a:t>each</a:t>
            </a:r>
            <a:r>
              <a:rPr sz="2800" b="0" spc="265" dirty="0">
                <a:latin typeface="Calibri"/>
                <a:cs typeface="Calibri"/>
              </a:rPr>
              <a:t>   </a:t>
            </a:r>
            <a:r>
              <a:rPr sz="2800" b="0" dirty="0">
                <a:latin typeface="Calibri"/>
                <a:cs typeface="Calibri"/>
              </a:rPr>
              <a:t>computer</a:t>
            </a:r>
            <a:r>
              <a:rPr sz="2800" b="0" spc="254" dirty="0">
                <a:latin typeface="Calibri"/>
                <a:cs typeface="Calibri"/>
              </a:rPr>
              <a:t>   </a:t>
            </a:r>
            <a:r>
              <a:rPr sz="2800" b="0" spc="-10" dirty="0">
                <a:latin typeface="Calibri"/>
                <a:cs typeface="Calibri"/>
              </a:rPr>
              <a:t>manages 	itself.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51828" y="2061464"/>
            <a:ext cx="18484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Disadvantages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51828" y="2473198"/>
            <a:ext cx="5026660" cy="16040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080" indent="-227329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In</a:t>
            </a:r>
            <a:r>
              <a:rPr sz="2800" spc="5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57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case</a:t>
            </a:r>
            <a:r>
              <a:rPr sz="2800" spc="56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570" dirty="0">
                <a:latin typeface="Calibri"/>
                <a:cs typeface="Calibri"/>
              </a:rPr>
              <a:t>  </a:t>
            </a:r>
            <a:r>
              <a:rPr sz="2800" spc="-25" dirty="0">
                <a:latin typeface="Calibri"/>
                <a:cs typeface="Calibri"/>
              </a:rPr>
              <a:t>Peer-</a:t>
            </a:r>
            <a:r>
              <a:rPr sz="2800" spc="-100" dirty="0">
                <a:latin typeface="Calibri"/>
                <a:cs typeface="Calibri"/>
              </a:rPr>
              <a:t>To-</a:t>
            </a:r>
            <a:r>
              <a:rPr sz="2800" spc="-20" dirty="0">
                <a:latin typeface="Calibri"/>
                <a:cs typeface="Calibri"/>
              </a:rPr>
              <a:t>Peer 	</a:t>
            </a:r>
            <a:r>
              <a:rPr sz="2800" dirty="0">
                <a:latin typeface="Calibri"/>
                <a:cs typeface="Calibri"/>
              </a:rPr>
              <a:t>network,</a:t>
            </a:r>
            <a:r>
              <a:rPr sz="2800" spc="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does</a:t>
            </a:r>
            <a:r>
              <a:rPr sz="2800" spc="1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not</a:t>
            </a:r>
            <a:r>
              <a:rPr sz="2800" spc="1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contain</a:t>
            </a:r>
            <a:r>
              <a:rPr sz="2800" spc="12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centralized</a:t>
            </a:r>
            <a:r>
              <a:rPr sz="2800" spc="1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system.</a:t>
            </a:r>
            <a:r>
              <a:rPr sz="2800" spc="1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Therefore,</a:t>
            </a:r>
            <a:r>
              <a:rPr sz="2800" spc="18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it 	</a:t>
            </a:r>
            <a:r>
              <a:rPr sz="2800" dirty="0">
                <a:latin typeface="Calibri"/>
                <a:cs typeface="Calibri"/>
              </a:rPr>
              <a:t>cannot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back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up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3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3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</a:t>
            </a:r>
            <a:r>
              <a:rPr sz="2800" spc="38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the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80428" y="4009771"/>
            <a:ext cx="479615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39165" algn="l"/>
                <a:tab pos="1446530" algn="l"/>
                <a:tab pos="2981325" algn="l"/>
                <a:tab pos="3537585" algn="l"/>
              </a:tabLst>
            </a:pPr>
            <a:r>
              <a:rPr sz="2800" spc="-20" dirty="0">
                <a:latin typeface="Calibri"/>
                <a:cs typeface="Calibri"/>
              </a:rPr>
              <a:t>data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different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in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different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51828" y="4307865"/>
            <a:ext cx="5025390" cy="143383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770"/>
              </a:spcBef>
            </a:pPr>
            <a:r>
              <a:rPr sz="2800" spc="-10" dirty="0">
                <a:latin typeface="Calibri"/>
                <a:cs typeface="Calibri"/>
              </a:rPr>
              <a:t>locations.</a:t>
            </a:r>
            <a:endParaRPr sz="2800">
              <a:latin typeface="Calibri"/>
              <a:cs typeface="Calibri"/>
            </a:endParaRPr>
          </a:p>
          <a:p>
            <a:pPr marL="240029" marR="5080" indent="-227329">
              <a:lnSpc>
                <a:spcPts val="3020"/>
              </a:lnSpc>
              <a:spcBef>
                <a:spcPts val="1055"/>
              </a:spcBef>
              <a:buFont typeface="Arial"/>
              <a:buChar char="•"/>
              <a:tabLst>
                <a:tab pos="241300" algn="l"/>
                <a:tab pos="657225" algn="l"/>
                <a:tab pos="1359535" algn="l"/>
                <a:tab pos="1736089" algn="l"/>
                <a:tab pos="3080385" algn="l"/>
                <a:tab pos="4011929" algn="l"/>
                <a:tab pos="4528820" algn="l"/>
              </a:tabLst>
            </a:pPr>
            <a:r>
              <a:rPr sz="2800" spc="-25" dirty="0">
                <a:latin typeface="Calibri"/>
                <a:cs typeface="Calibri"/>
              </a:rPr>
              <a:t>It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has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50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security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issue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 	</a:t>
            </a:r>
            <a:r>
              <a:rPr sz="2800" dirty="0">
                <a:latin typeface="Calibri"/>
                <a:cs typeface="Calibri"/>
              </a:rPr>
              <a:t>device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managed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itself.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Client/Server</a:t>
            </a:r>
            <a:r>
              <a:rPr spc="-7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7106"/>
            <a:ext cx="10361295" cy="4258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650"/>
              </a:lnSpc>
              <a:spcBef>
                <a:spcPts val="10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Client/Server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network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network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model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designed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end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users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called</a:t>
            </a:r>
            <a:endParaRPr sz="2600">
              <a:latin typeface="Calibri"/>
              <a:cs typeface="Calibri"/>
            </a:endParaRPr>
          </a:p>
          <a:p>
            <a:pPr marL="241300" marR="6985">
              <a:lnSpc>
                <a:spcPct val="70000"/>
              </a:lnSpc>
              <a:spcBef>
                <a:spcPts val="465"/>
              </a:spcBef>
            </a:pPr>
            <a:r>
              <a:rPr sz="2600" dirty="0">
                <a:latin typeface="Calibri"/>
                <a:cs typeface="Calibri"/>
              </a:rPr>
              <a:t>clients,</a:t>
            </a:r>
            <a:r>
              <a:rPr sz="2600" spc="3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3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access</a:t>
            </a:r>
            <a:r>
              <a:rPr sz="2600" spc="3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3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resources</a:t>
            </a:r>
            <a:r>
              <a:rPr sz="2600" spc="3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3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3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songs,</a:t>
            </a:r>
            <a:r>
              <a:rPr sz="2600" spc="3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video,</a:t>
            </a:r>
            <a:r>
              <a:rPr sz="2600" spc="3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etc.</a:t>
            </a:r>
            <a:r>
              <a:rPr sz="2600" spc="3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3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3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central </a:t>
            </a:r>
            <a:r>
              <a:rPr sz="2600" dirty="0">
                <a:latin typeface="Calibri"/>
                <a:cs typeface="Calibri"/>
              </a:rPr>
              <a:t>computer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known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Server.</a:t>
            </a:r>
            <a:endParaRPr sz="2600">
              <a:latin typeface="Calibri"/>
              <a:cs typeface="Calibri"/>
            </a:endParaRPr>
          </a:p>
          <a:p>
            <a:pPr marL="241300" marR="6350" indent="-229235">
              <a:lnSpc>
                <a:spcPct val="7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 central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controller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known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server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while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computers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network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are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called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clients.</a:t>
            </a:r>
            <a:endParaRPr sz="2600">
              <a:latin typeface="Calibri"/>
              <a:cs typeface="Calibri"/>
            </a:endParaRPr>
          </a:p>
          <a:p>
            <a:pPr marL="241300" marR="9525" indent="-229235">
              <a:lnSpc>
                <a:spcPct val="70000"/>
              </a:lnSpc>
              <a:spcBef>
                <a:spcPts val="994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2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server</a:t>
            </a:r>
            <a:r>
              <a:rPr sz="2600" spc="2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performs</a:t>
            </a:r>
            <a:r>
              <a:rPr sz="2600" spc="2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2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2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major</a:t>
            </a:r>
            <a:r>
              <a:rPr sz="2600" spc="2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operations</a:t>
            </a:r>
            <a:r>
              <a:rPr sz="2600" spc="2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2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2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security</a:t>
            </a:r>
            <a:r>
              <a:rPr sz="2600" spc="2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2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network management.</a:t>
            </a:r>
            <a:endParaRPr sz="2600">
              <a:latin typeface="Calibri"/>
              <a:cs typeface="Calibri"/>
            </a:endParaRPr>
          </a:p>
          <a:p>
            <a:pPr marL="241300" marR="6985" indent="-229235">
              <a:lnSpc>
                <a:spcPct val="701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  <a:tab pos="619125" algn="l"/>
                <a:tab pos="1641475" algn="l"/>
                <a:tab pos="2032000" algn="l"/>
                <a:tab pos="3760470" algn="l"/>
                <a:tab pos="4328795" algn="l"/>
                <a:tab pos="5830570" algn="l"/>
                <a:tab pos="6327140" algn="l"/>
                <a:tab pos="6962775" algn="l"/>
                <a:tab pos="8442960" algn="l"/>
                <a:tab pos="9243060" algn="l"/>
                <a:tab pos="9717405" algn="l"/>
              </a:tabLst>
            </a:pPr>
            <a:r>
              <a:rPr sz="2600" spc="-50" dirty="0">
                <a:latin typeface="Calibri"/>
                <a:cs typeface="Calibri"/>
              </a:rPr>
              <a:t>A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server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5" dirty="0">
                <a:latin typeface="Calibri"/>
                <a:cs typeface="Calibri"/>
              </a:rPr>
              <a:t>is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responsible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5" dirty="0">
                <a:latin typeface="Calibri"/>
                <a:cs typeface="Calibri"/>
              </a:rPr>
              <a:t>for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managing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5" dirty="0">
                <a:latin typeface="Calibri"/>
                <a:cs typeface="Calibri"/>
              </a:rPr>
              <a:t>all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5" dirty="0">
                <a:latin typeface="Calibri"/>
                <a:cs typeface="Calibri"/>
              </a:rPr>
              <a:t>the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resources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0" dirty="0">
                <a:latin typeface="Calibri"/>
                <a:cs typeface="Calibri"/>
              </a:rPr>
              <a:t>such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5" dirty="0">
                <a:latin typeface="Calibri"/>
                <a:cs typeface="Calibri"/>
              </a:rPr>
              <a:t>as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files, </a:t>
            </a:r>
            <a:r>
              <a:rPr sz="2600" dirty="0">
                <a:latin typeface="Calibri"/>
                <a:cs typeface="Calibri"/>
              </a:rPr>
              <a:t>directories,</a:t>
            </a:r>
            <a:r>
              <a:rPr sz="2600" spc="-110" dirty="0">
                <a:latin typeface="Calibri"/>
                <a:cs typeface="Calibri"/>
              </a:rPr>
              <a:t> </a:t>
            </a:r>
            <a:r>
              <a:rPr sz="2600" spc="-30" dirty="0">
                <a:latin typeface="Calibri"/>
                <a:cs typeface="Calibri"/>
              </a:rPr>
              <a:t>printer,</a:t>
            </a:r>
            <a:r>
              <a:rPr sz="2600" spc="-10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etc.</a:t>
            </a:r>
            <a:endParaRPr sz="2600">
              <a:latin typeface="Calibri"/>
              <a:cs typeface="Calibri"/>
            </a:endParaRPr>
          </a:p>
          <a:p>
            <a:pPr marL="241300" indent="-228600">
              <a:lnSpc>
                <a:spcPts val="2650"/>
              </a:lnSpc>
              <a:spcBef>
                <a:spcPts val="6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All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clients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communicate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each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other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through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server.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example,</a:t>
            </a:r>
            <a:endParaRPr sz="2600">
              <a:latin typeface="Calibri"/>
              <a:cs typeface="Calibri"/>
            </a:endParaRPr>
          </a:p>
          <a:p>
            <a:pPr marL="241300">
              <a:lnSpc>
                <a:spcPts val="2185"/>
              </a:lnSpc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client1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wants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send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some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data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client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2,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then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first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sends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request</a:t>
            </a:r>
            <a:endParaRPr sz="2600">
              <a:latin typeface="Calibri"/>
              <a:cs typeface="Calibri"/>
            </a:endParaRPr>
          </a:p>
          <a:p>
            <a:pPr marL="241300" marR="5080">
              <a:lnSpc>
                <a:spcPct val="70000"/>
              </a:lnSpc>
              <a:spcBef>
                <a:spcPts val="470"/>
              </a:spcBef>
              <a:tabLst>
                <a:tab pos="660400" algn="l"/>
                <a:tab pos="1247140" algn="l"/>
                <a:tab pos="2222500" algn="l"/>
                <a:tab pos="2742565" algn="l"/>
                <a:tab pos="3327400" algn="l"/>
                <a:tab pos="5024120" algn="l"/>
                <a:tab pos="5659755" algn="l"/>
                <a:tab pos="6633209" algn="l"/>
                <a:tab pos="7537450" algn="l"/>
                <a:tab pos="8124190" algn="l"/>
                <a:tab pos="9479280" algn="l"/>
                <a:tab pos="9898380" algn="l"/>
              </a:tabLst>
            </a:pPr>
            <a:r>
              <a:rPr sz="2600" spc="-25" dirty="0">
                <a:latin typeface="Calibri"/>
                <a:cs typeface="Calibri"/>
              </a:rPr>
              <a:t>to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5" dirty="0">
                <a:latin typeface="Calibri"/>
                <a:cs typeface="Calibri"/>
              </a:rPr>
              <a:t>the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server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5" dirty="0">
                <a:latin typeface="Calibri"/>
                <a:cs typeface="Calibri"/>
              </a:rPr>
              <a:t>for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5" dirty="0">
                <a:latin typeface="Calibri"/>
                <a:cs typeface="Calibri"/>
              </a:rPr>
              <a:t>the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permission.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5" dirty="0">
                <a:latin typeface="Calibri"/>
                <a:cs typeface="Calibri"/>
              </a:rPr>
              <a:t>The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server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sends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5" dirty="0">
                <a:latin typeface="Calibri"/>
                <a:cs typeface="Calibri"/>
              </a:rPr>
              <a:t>the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10" dirty="0">
                <a:latin typeface="Calibri"/>
                <a:cs typeface="Calibri"/>
              </a:rPr>
              <a:t>response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5" dirty="0">
                <a:latin typeface="Calibri"/>
                <a:cs typeface="Calibri"/>
              </a:rPr>
              <a:t>to</a:t>
            </a:r>
            <a:r>
              <a:rPr sz="2600" dirty="0">
                <a:latin typeface="Calibri"/>
                <a:cs typeface="Calibri"/>
              </a:rPr>
              <a:t>	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client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1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initiate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communication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with</a:t>
            </a:r>
            <a:r>
              <a:rPr sz="2600" spc="-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client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2.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Client/Server</a:t>
            </a:r>
            <a:r>
              <a:rPr spc="-75" dirty="0"/>
              <a:t> </a:t>
            </a:r>
            <a:r>
              <a:rPr spc="-10" dirty="0"/>
              <a:t>Network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83261" y="1900523"/>
            <a:ext cx="6155527" cy="43788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970">
              <a:lnSpc>
                <a:spcPct val="100000"/>
              </a:lnSpc>
              <a:spcBef>
                <a:spcPts val="105"/>
              </a:spcBef>
            </a:pPr>
            <a:r>
              <a:rPr dirty="0"/>
              <a:t>Client/Server</a:t>
            </a:r>
            <a:r>
              <a:rPr spc="-10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8768" y="2061464"/>
            <a:ext cx="4999990" cy="1268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Advantages</a:t>
            </a:r>
            <a:endParaRPr sz="2400">
              <a:latin typeface="Calibri"/>
              <a:cs typeface="Calibri"/>
            </a:endParaRPr>
          </a:p>
          <a:p>
            <a:pPr marL="240029" marR="5080" indent="-227329" algn="just">
              <a:lnSpc>
                <a:spcPct val="70000"/>
              </a:lnSpc>
              <a:spcBef>
                <a:spcPts val="85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Client/Server</a:t>
            </a:r>
            <a:r>
              <a:rPr sz="2400" spc="3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contains</a:t>
            </a:r>
            <a:r>
              <a:rPr sz="2400" spc="2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centralized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system.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Therefore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can 	</a:t>
            </a:r>
            <a:r>
              <a:rPr sz="2400" dirty="0">
                <a:latin typeface="Calibri"/>
                <a:cs typeface="Calibri"/>
              </a:rPr>
              <a:t>back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up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easily.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8768" y="3320542"/>
            <a:ext cx="23888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  <a:tab pos="753110" algn="l"/>
              </a:tabLst>
            </a:pPr>
            <a:r>
              <a:rPr sz="2400" spc="-5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Client/Server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619627" y="3320542"/>
            <a:ext cx="2299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81125" algn="l"/>
                <a:tab pos="2139950" algn="l"/>
              </a:tabLst>
            </a:pPr>
            <a:r>
              <a:rPr sz="2400" spc="-10" dirty="0">
                <a:latin typeface="Calibri"/>
                <a:cs typeface="Calibri"/>
              </a:rPr>
              <a:t>network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has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7368" y="3576573"/>
            <a:ext cx="4770120" cy="90360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 marR="5080" algn="just">
              <a:lnSpc>
                <a:spcPct val="70100"/>
              </a:lnSpc>
              <a:spcBef>
                <a:spcPts val="960"/>
              </a:spcBef>
            </a:pPr>
            <a:r>
              <a:rPr sz="2400" dirty="0">
                <a:latin typeface="Calibri"/>
                <a:cs typeface="Calibri"/>
              </a:rPr>
              <a:t>dedicated</a:t>
            </a:r>
            <a:r>
              <a:rPr sz="2400" spc="8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server</a:t>
            </a:r>
            <a:r>
              <a:rPr sz="2400" spc="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8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improves</a:t>
            </a:r>
            <a:r>
              <a:rPr sz="2400" spc="85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overall</a:t>
            </a:r>
            <a:r>
              <a:rPr sz="2400" spc="2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performance</a:t>
            </a:r>
            <a:r>
              <a:rPr sz="2400" spc="28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90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whole system.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8768" y="4473067"/>
            <a:ext cx="16764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  <a:tab pos="1473835" algn="l"/>
              </a:tabLst>
            </a:pPr>
            <a:r>
              <a:rPr sz="2400" spc="-10" dirty="0">
                <a:latin typeface="Calibri"/>
                <a:cs typeface="Calibri"/>
              </a:rPr>
              <a:t>Security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7368" y="4729098"/>
            <a:ext cx="4772660" cy="64770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965"/>
              </a:spcBef>
            </a:pP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single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server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administers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shared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18768" y="5367324"/>
            <a:ext cx="4998720" cy="64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ts val="245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  <a:tab pos="601980" algn="l"/>
                <a:tab pos="1280160" algn="l"/>
                <a:tab pos="2612390" algn="l"/>
                <a:tab pos="3208655" algn="l"/>
                <a:tab pos="4135120" algn="l"/>
                <a:tab pos="4571365" algn="l"/>
              </a:tabLst>
            </a:pPr>
            <a:r>
              <a:rPr sz="2400" spc="-25" dirty="0">
                <a:latin typeface="Calibri"/>
                <a:cs typeface="Calibri"/>
              </a:rPr>
              <a:t>It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also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increases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the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speed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241300">
              <a:lnSpc>
                <a:spcPts val="2450"/>
              </a:lnSpc>
            </a:pPr>
            <a:r>
              <a:rPr sz="2400" dirty="0">
                <a:latin typeface="Calibri"/>
                <a:cs typeface="Calibri"/>
              </a:rPr>
              <a:t>sharing</a:t>
            </a:r>
            <a:r>
              <a:rPr sz="2400" spc="-10" dirty="0">
                <a:latin typeface="Calibri"/>
                <a:cs typeface="Calibri"/>
              </a:rPr>
              <a:t> resources.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51828" y="2061464"/>
            <a:ext cx="5025390" cy="1268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5"/>
              </a:lnSpc>
              <a:spcBef>
                <a:spcPts val="100"/>
              </a:spcBef>
            </a:pPr>
            <a:r>
              <a:rPr sz="2400" b="1" spc="-10" dirty="0">
                <a:latin typeface="Calibri"/>
                <a:cs typeface="Calibri"/>
              </a:rPr>
              <a:t>Disadvantages</a:t>
            </a:r>
            <a:endParaRPr sz="2400">
              <a:latin typeface="Calibri"/>
              <a:cs typeface="Calibri"/>
            </a:endParaRPr>
          </a:p>
          <a:p>
            <a:pPr marL="240029" marR="5080" indent="-227329" algn="just">
              <a:lnSpc>
                <a:spcPct val="70000"/>
              </a:lnSpc>
              <a:spcBef>
                <a:spcPts val="855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Calibri"/>
                <a:cs typeface="Calibri"/>
              </a:rPr>
              <a:t>Client/Server</a:t>
            </a:r>
            <a:r>
              <a:rPr sz="2400" spc="2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2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expensive</a:t>
            </a:r>
            <a:r>
              <a:rPr sz="2400" spc="2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as 	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39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requires</a:t>
            </a:r>
            <a:r>
              <a:rPr sz="2400" spc="3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9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server</a:t>
            </a:r>
            <a:r>
              <a:rPr sz="2400" spc="40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390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large 	memory.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251828" y="3320542"/>
            <a:ext cx="5027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40029" algn="l"/>
                <a:tab pos="608330" algn="l"/>
                <a:tab pos="1571625" algn="l"/>
                <a:tab pos="2185670" algn="l"/>
                <a:tab pos="2520950" algn="l"/>
                <a:tab pos="3780154" algn="l"/>
              </a:tabLst>
            </a:pPr>
            <a:r>
              <a:rPr sz="2400" spc="-5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server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has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Network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Operating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480428" y="3576573"/>
            <a:ext cx="47948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System(NOS)</a:t>
            </a:r>
            <a:r>
              <a:rPr sz="2400" spc="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provide</a:t>
            </a:r>
            <a:r>
              <a:rPr sz="2400" spc="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80428" y="3832301"/>
            <a:ext cx="4796790" cy="648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45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to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clients,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but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3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cost</a:t>
            </a:r>
            <a:r>
              <a:rPr sz="2400" spc="3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3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NOS</a:t>
            </a:r>
            <a:r>
              <a:rPr sz="2400" spc="3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ts val="2450"/>
              </a:lnSpc>
            </a:pPr>
            <a:r>
              <a:rPr sz="2400" dirty="0">
                <a:latin typeface="Calibri"/>
                <a:cs typeface="Calibri"/>
              </a:rPr>
              <a:t>very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high.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02382" y="4473067"/>
            <a:ext cx="3881754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14094" algn="l"/>
                <a:tab pos="1477010" algn="l"/>
                <a:tab pos="3462020" algn="l"/>
              </a:tabLst>
            </a:pPr>
            <a:r>
              <a:rPr sz="2400" spc="-10" dirty="0">
                <a:latin typeface="Calibri"/>
                <a:cs typeface="Calibri"/>
              </a:rPr>
              <a:t>better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Client/Server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dirty="0">
                <a:latin typeface="Arial"/>
                <a:cs typeface="Arial"/>
              </a:rPr>
              <a:t>•</a:t>
            </a:r>
            <a:r>
              <a:rPr sz="2400" spc="280" dirty="0">
                <a:latin typeface="Arial"/>
                <a:cs typeface="Arial"/>
              </a:rPr>
              <a:t> </a:t>
            </a:r>
            <a:r>
              <a:rPr sz="2400" spc="-25" dirty="0">
                <a:latin typeface="Calibri"/>
                <a:cs typeface="Calibri"/>
              </a:rPr>
              <a:t>It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951344" y="4473067"/>
            <a:ext cx="4327525" cy="647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ts val="2450"/>
              </a:lnSpc>
              <a:spcBef>
                <a:spcPts val="100"/>
              </a:spcBef>
              <a:tabLst>
                <a:tab pos="1311910" algn="l"/>
                <a:tab pos="1751330" algn="l"/>
                <a:tab pos="3267710" algn="l"/>
              </a:tabLst>
            </a:pPr>
            <a:r>
              <a:rPr sz="2400" spc="-10" dirty="0">
                <a:latin typeface="Calibri"/>
                <a:cs typeface="Calibri"/>
              </a:rPr>
              <a:t>requires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50" dirty="0">
                <a:latin typeface="Calibri"/>
                <a:cs typeface="Calibri"/>
              </a:rPr>
              <a:t>a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dedicated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network</a:t>
            </a:r>
            <a:endParaRPr sz="2400">
              <a:latin typeface="Calibri"/>
              <a:cs typeface="Calibri"/>
            </a:endParaRPr>
          </a:p>
          <a:p>
            <a:pPr marR="6985" algn="r">
              <a:lnSpc>
                <a:spcPts val="2450"/>
              </a:lnSpc>
              <a:tabLst>
                <a:tab pos="571500" algn="l"/>
              </a:tabLst>
            </a:pPr>
            <a:r>
              <a:rPr sz="2400" spc="-25" dirty="0">
                <a:latin typeface="Calibri"/>
                <a:cs typeface="Calibri"/>
              </a:rPr>
              <a:t>all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80428" y="4729098"/>
            <a:ext cx="3521710" cy="64770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marL="12700" marR="5080">
              <a:lnSpc>
                <a:spcPct val="70000"/>
              </a:lnSpc>
              <a:spcBef>
                <a:spcPts val="965"/>
              </a:spcBef>
              <a:tabLst>
                <a:tab pos="1975485" algn="l"/>
                <a:tab pos="2520950" algn="l"/>
              </a:tabLst>
            </a:pPr>
            <a:r>
              <a:rPr sz="2400" spc="-10" dirty="0">
                <a:latin typeface="Calibri"/>
                <a:cs typeface="Calibri"/>
              </a:rPr>
              <a:t>administrator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to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manage resources.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Computer</a:t>
            </a:r>
            <a:r>
              <a:rPr spc="-80" dirty="0"/>
              <a:t> </a:t>
            </a:r>
            <a:r>
              <a:rPr dirty="0"/>
              <a:t>Network</a:t>
            </a:r>
            <a:r>
              <a:rPr spc="-65" dirty="0"/>
              <a:t> </a:t>
            </a:r>
            <a:r>
              <a:rPr spc="-10" dirty="0"/>
              <a:t>Components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93493"/>
            <a:ext cx="103581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665" algn="l"/>
                <a:tab pos="1914525" algn="l"/>
                <a:tab pos="3342640" algn="l"/>
                <a:tab pos="5363845" algn="l"/>
                <a:tab pos="6054090" algn="l"/>
                <a:tab pos="6758305" algn="l"/>
                <a:tab pos="7833359" algn="l"/>
                <a:tab pos="8794750" algn="l"/>
                <a:tab pos="9878695" algn="l"/>
              </a:tabLst>
            </a:pPr>
            <a:r>
              <a:rPr sz="2800" spc="-10" dirty="0">
                <a:latin typeface="Calibri"/>
                <a:cs typeface="Calibri"/>
              </a:rPr>
              <a:t>Computer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network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components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major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parts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which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are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2090890"/>
            <a:ext cx="10357485" cy="272669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775"/>
              </a:spcBef>
            </a:pPr>
            <a:r>
              <a:rPr sz="2800" dirty="0">
                <a:latin typeface="Calibri"/>
                <a:cs typeface="Calibri"/>
              </a:rPr>
              <a:t>needed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install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software.</a:t>
            </a:r>
            <a:endParaRPr sz="2800">
              <a:latin typeface="Calibri"/>
              <a:cs typeface="Calibri"/>
            </a:endParaRPr>
          </a:p>
          <a:p>
            <a:pPr marL="240029" marR="6350" indent="-227965">
              <a:lnSpc>
                <a:spcPts val="3020"/>
              </a:lnSpc>
              <a:spcBef>
                <a:spcPts val="1060"/>
              </a:spcBef>
              <a:buFont typeface="Arial"/>
              <a:buChar char="•"/>
              <a:tabLst>
                <a:tab pos="241300" algn="l"/>
                <a:tab pos="1199515" algn="l"/>
                <a:tab pos="2800350" algn="l"/>
                <a:tab pos="4152265" algn="l"/>
                <a:tab pos="6098540" algn="l"/>
                <a:tab pos="6712584" algn="l"/>
                <a:tab pos="7468870" algn="l"/>
                <a:tab pos="8659495" algn="l"/>
                <a:tab pos="9679305" algn="l"/>
              </a:tabLst>
            </a:pPr>
            <a:r>
              <a:rPr sz="2800" spc="-20" dirty="0">
                <a:latin typeface="Calibri"/>
                <a:cs typeface="Calibri"/>
              </a:rPr>
              <a:t>Some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important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network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components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b="1" spc="-20" dirty="0">
                <a:latin typeface="Calibri"/>
                <a:cs typeface="Calibri"/>
              </a:rPr>
              <a:t>NIC,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10" dirty="0">
                <a:latin typeface="Calibri"/>
                <a:cs typeface="Calibri"/>
              </a:rPr>
              <a:t>switch,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10" dirty="0">
                <a:latin typeface="Calibri"/>
                <a:cs typeface="Calibri"/>
              </a:rPr>
              <a:t>cable,</a:t>
            </a:r>
            <a:r>
              <a:rPr sz="2800" b="1" dirty="0">
                <a:latin typeface="Calibri"/>
                <a:cs typeface="Calibri"/>
              </a:rPr>
              <a:t>	</a:t>
            </a:r>
            <a:r>
              <a:rPr sz="2800" b="1" spc="-20" dirty="0">
                <a:latin typeface="Calibri"/>
                <a:cs typeface="Calibri"/>
              </a:rPr>
              <a:t>hub, 	</a:t>
            </a:r>
            <a:r>
              <a:rPr sz="2800" b="1" spc="-35" dirty="0">
                <a:latin typeface="Calibri"/>
                <a:cs typeface="Calibri"/>
              </a:rPr>
              <a:t>router,</a:t>
            </a:r>
            <a:r>
              <a:rPr sz="2800" b="1" spc="-80" dirty="0">
                <a:latin typeface="Calibri"/>
                <a:cs typeface="Calibri"/>
              </a:rPr>
              <a:t> </a:t>
            </a:r>
            <a:r>
              <a:rPr sz="2800" b="1" dirty="0">
                <a:latin typeface="Calibri"/>
                <a:cs typeface="Calibri"/>
              </a:rPr>
              <a:t>and</a:t>
            </a:r>
            <a:r>
              <a:rPr sz="2800" b="1" spc="-75" dirty="0">
                <a:latin typeface="Calibri"/>
                <a:cs typeface="Calibri"/>
              </a:rPr>
              <a:t> </a:t>
            </a:r>
            <a:r>
              <a:rPr sz="2800" b="1" spc="-10" dirty="0">
                <a:latin typeface="Calibri"/>
                <a:cs typeface="Calibri"/>
              </a:rPr>
              <a:t>modem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40029" marR="5080" indent="-227965">
              <a:lnSpc>
                <a:spcPts val="302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  <a:tab pos="1971039" algn="l"/>
                <a:tab pos="2504440" algn="l"/>
                <a:tab pos="3146425" algn="l"/>
                <a:tab pos="3947795" algn="l"/>
                <a:tab pos="4403725" algn="l"/>
                <a:tab pos="5769610" algn="l"/>
                <a:tab pos="6520815" algn="l"/>
                <a:tab pos="7107555" algn="l"/>
                <a:tab pos="7993380" algn="l"/>
                <a:tab pos="8456295" algn="l"/>
                <a:tab pos="9555480" algn="l"/>
              </a:tabLst>
            </a:pPr>
            <a:r>
              <a:rPr sz="2800" spc="-10" dirty="0">
                <a:latin typeface="Calibri"/>
                <a:cs typeface="Calibri"/>
              </a:rPr>
              <a:t>Depending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on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the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type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of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network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that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we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need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5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10" dirty="0">
                <a:latin typeface="Calibri"/>
                <a:cs typeface="Calibri"/>
              </a:rPr>
              <a:t>install,</a:t>
            </a:r>
            <a:r>
              <a:rPr sz="2800" dirty="0">
                <a:latin typeface="Calibri"/>
                <a:cs typeface="Calibri"/>
              </a:rPr>
              <a:t>	</a:t>
            </a:r>
            <a:r>
              <a:rPr sz="2800" spc="-20" dirty="0">
                <a:latin typeface="Calibri"/>
                <a:cs typeface="Calibri"/>
              </a:rPr>
              <a:t>some 	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components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be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removed.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04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wireless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cable.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NIC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10359390" cy="360743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NIC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stands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b="1" i="1" dirty="0">
                <a:latin typeface="Calibri"/>
                <a:cs typeface="Calibri"/>
              </a:rPr>
              <a:t>Network</a:t>
            </a:r>
            <a:r>
              <a:rPr sz="2800" b="1" i="1" spc="-7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Interface</a:t>
            </a:r>
            <a:r>
              <a:rPr sz="2800" b="1" i="1" spc="-65" dirty="0">
                <a:latin typeface="Calibri"/>
                <a:cs typeface="Calibri"/>
              </a:rPr>
              <a:t> </a:t>
            </a:r>
            <a:r>
              <a:rPr sz="2800" b="1" i="1" spc="-10" dirty="0">
                <a:latin typeface="Calibri"/>
                <a:cs typeface="Calibri"/>
              </a:rPr>
              <a:t>Card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  <a:p>
            <a:pPr marL="239395" marR="5080" indent="-227329" algn="just">
              <a:lnSpc>
                <a:spcPts val="3030"/>
              </a:lnSpc>
              <a:spcBef>
                <a:spcPts val="104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NIC</a:t>
            </a:r>
            <a:r>
              <a:rPr sz="2800" spc="6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3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hardware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component</a:t>
            </a:r>
            <a:r>
              <a:rPr sz="2800" spc="3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40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connect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35" dirty="0">
                <a:latin typeface="Calibri"/>
                <a:cs typeface="Calibri"/>
              </a:rPr>
              <a:t>  </a:t>
            </a:r>
            <a:r>
              <a:rPr sz="2800" spc="-20" dirty="0">
                <a:latin typeface="Calibri"/>
                <a:cs typeface="Calibri"/>
              </a:rPr>
              <a:t>with 	</a:t>
            </a:r>
            <a:r>
              <a:rPr sz="2800" dirty="0">
                <a:latin typeface="Calibri"/>
                <a:cs typeface="Calibri"/>
              </a:rPr>
              <a:t>another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computer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onto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network</a:t>
            </a:r>
            <a:endParaRPr sz="2800">
              <a:latin typeface="Calibri"/>
              <a:cs typeface="Calibri"/>
            </a:endParaRPr>
          </a:p>
          <a:p>
            <a:pPr marL="240665" indent="-227965" algn="just">
              <a:lnSpc>
                <a:spcPct val="100000"/>
              </a:lnSpc>
              <a:spcBef>
                <a:spcPts val="61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It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support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transfer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rate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10,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100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1000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Mb/s.</a:t>
            </a:r>
            <a:endParaRPr sz="2800">
              <a:latin typeface="Calibri"/>
              <a:cs typeface="Calibri"/>
            </a:endParaRPr>
          </a:p>
          <a:p>
            <a:pPr marL="240029" marR="6350" indent="-227965" algn="just">
              <a:lnSpc>
                <a:spcPct val="9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MAC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address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physical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address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encoded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on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card 	</a:t>
            </a:r>
            <a:r>
              <a:rPr sz="2800" dirty="0">
                <a:latin typeface="Calibri"/>
                <a:cs typeface="Calibri"/>
              </a:rPr>
              <a:t>chip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which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assigned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by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IEEE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identify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network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card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uniquely. 	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MAC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address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459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stored</a:t>
            </a:r>
            <a:r>
              <a:rPr sz="2800" spc="4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4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PROM</a:t>
            </a:r>
            <a:r>
              <a:rPr sz="2800" spc="4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(Programmable</a:t>
            </a:r>
            <a:r>
              <a:rPr sz="2800" spc="44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read-</a:t>
            </a:r>
            <a:r>
              <a:rPr sz="2800" spc="-20" dirty="0">
                <a:latin typeface="Calibri"/>
                <a:cs typeface="Calibri"/>
              </a:rPr>
              <a:t>only 	</a:t>
            </a:r>
            <a:r>
              <a:rPr sz="2800" spc="-10" dirty="0">
                <a:latin typeface="Calibri"/>
                <a:cs typeface="Calibri"/>
              </a:rPr>
              <a:t>memory).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Types</a:t>
            </a:r>
            <a:r>
              <a:rPr spc="-125" dirty="0"/>
              <a:t> </a:t>
            </a:r>
            <a:r>
              <a:rPr dirty="0"/>
              <a:t>of</a:t>
            </a:r>
            <a:r>
              <a:rPr spc="-120" dirty="0"/>
              <a:t> </a:t>
            </a:r>
            <a:r>
              <a:rPr spc="-25" dirty="0"/>
              <a:t>NIC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93079" y="1822704"/>
            <a:ext cx="2052066" cy="235839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182995" y="2555875"/>
            <a:ext cx="874394" cy="8134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146685" marR="5080" indent="-134620">
              <a:lnSpc>
                <a:spcPts val="2960"/>
              </a:lnSpc>
              <a:spcBef>
                <a:spcPts val="430"/>
              </a:spcBef>
            </a:pPr>
            <a:r>
              <a:rPr sz="2700" spc="-20" dirty="0">
                <a:latin typeface="Calibri"/>
                <a:cs typeface="Calibri"/>
              </a:rPr>
              <a:t>Wired NIC: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762493" y="2324227"/>
            <a:ext cx="2463800" cy="130429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>
              <a:lnSpc>
                <a:spcPct val="91600"/>
              </a:lnSpc>
              <a:spcBef>
                <a:spcPts val="28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Wired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NIC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present </a:t>
            </a:r>
            <a:r>
              <a:rPr sz="1800" dirty="0">
                <a:latin typeface="Calibri"/>
                <a:cs typeface="Calibri"/>
              </a:rPr>
              <a:t>inside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motherboard. </a:t>
            </a:r>
            <a:r>
              <a:rPr sz="1800" dirty="0">
                <a:latin typeface="Calibri"/>
                <a:cs typeface="Calibri"/>
              </a:rPr>
              <a:t>Cables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connectors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are </a:t>
            </a:r>
            <a:r>
              <a:rPr sz="1800" dirty="0">
                <a:latin typeface="Calibri"/>
                <a:cs typeface="Calibri"/>
              </a:rPr>
              <a:t>used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wired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NIC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to </a:t>
            </a:r>
            <a:r>
              <a:rPr sz="1800" spc="-10" dirty="0">
                <a:latin typeface="Calibri"/>
                <a:cs typeface="Calibri"/>
              </a:rPr>
              <a:t>transfer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381755" y="1822704"/>
            <a:ext cx="3154045" cy="4354830"/>
            <a:chOff x="3381755" y="1822704"/>
            <a:chExt cx="3154045" cy="435483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81755" y="1822704"/>
              <a:ext cx="2052066" cy="235839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482083" y="3819144"/>
              <a:ext cx="2053589" cy="2358390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903723" y="4553839"/>
            <a:ext cx="1211580" cy="813435"/>
          </a:xfrm>
          <a:prstGeom prst="rect">
            <a:avLst/>
          </a:prstGeom>
        </p:spPr>
        <p:txBody>
          <a:bodyPr vert="horz" wrap="square" lIns="0" tIns="54610" rIns="0" bIns="0" rtlCol="0">
            <a:spAutoFit/>
          </a:bodyPr>
          <a:lstStyle/>
          <a:p>
            <a:pPr marL="315595" marR="5080" indent="-303530">
              <a:lnSpc>
                <a:spcPts val="2960"/>
              </a:lnSpc>
              <a:spcBef>
                <a:spcPts val="430"/>
              </a:spcBef>
            </a:pPr>
            <a:r>
              <a:rPr sz="2700" spc="-10" dirty="0">
                <a:latin typeface="Calibri"/>
                <a:cs typeface="Calibri"/>
              </a:rPr>
              <a:t>Wireless </a:t>
            </a:r>
            <a:r>
              <a:rPr sz="2700" spc="-20" dirty="0">
                <a:latin typeface="Calibri"/>
                <a:cs typeface="Calibri"/>
              </a:rPr>
              <a:t>NIC:</a:t>
            </a:r>
            <a:endParaRPr sz="27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37385" y="4070984"/>
            <a:ext cx="2409825" cy="180784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 marR="5080" indent="25400" algn="r">
              <a:lnSpc>
                <a:spcPct val="91600"/>
              </a:lnSpc>
              <a:spcBef>
                <a:spcPts val="280"/>
              </a:spcBef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wireless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NIC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contains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antenna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obtain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spc="-10" dirty="0">
                <a:latin typeface="Calibri"/>
                <a:cs typeface="Calibri"/>
              </a:rPr>
              <a:t>connection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dirty="0">
                <a:latin typeface="Calibri"/>
                <a:cs typeface="Calibri"/>
              </a:rPr>
              <a:t>wireless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network.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For </a:t>
            </a:r>
            <a:r>
              <a:rPr sz="1800" spc="-10" dirty="0">
                <a:latin typeface="Calibri"/>
                <a:cs typeface="Calibri"/>
              </a:rPr>
              <a:t>example,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laptop </a:t>
            </a:r>
            <a:r>
              <a:rPr sz="1800" dirty="0">
                <a:latin typeface="Calibri"/>
                <a:cs typeface="Calibri"/>
              </a:rPr>
              <a:t>computer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contains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</a:t>
            </a:r>
            <a:endParaRPr sz="1800">
              <a:latin typeface="Calibri"/>
              <a:cs typeface="Calibri"/>
            </a:endParaRPr>
          </a:p>
          <a:p>
            <a:pPr marR="6985" algn="r">
              <a:lnSpc>
                <a:spcPts val="1985"/>
              </a:lnSpc>
            </a:pPr>
            <a:r>
              <a:rPr sz="1800" dirty="0">
                <a:latin typeface="Calibri"/>
                <a:cs typeface="Calibri"/>
              </a:rPr>
              <a:t>wireless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NIC.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11" name="object 1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93407" y="3819144"/>
            <a:ext cx="2053590" cy="23583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Hub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66062"/>
            <a:ext cx="10361295" cy="4100829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5080" indent="-229235" algn="just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3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Hub</a:t>
            </a:r>
            <a:r>
              <a:rPr sz="2600" spc="3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3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3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hardware</a:t>
            </a:r>
            <a:r>
              <a:rPr sz="2600" spc="3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device</a:t>
            </a:r>
            <a:r>
              <a:rPr sz="2600" spc="3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that</a:t>
            </a:r>
            <a:r>
              <a:rPr sz="2600" spc="3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divides</a:t>
            </a:r>
            <a:r>
              <a:rPr sz="2600" spc="3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3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network</a:t>
            </a:r>
            <a:r>
              <a:rPr sz="2600" spc="3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connection</a:t>
            </a:r>
            <a:r>
              <a:rPr sz="2600" spc="3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among </a:t>
            </a:r>
            <a:r>
              <a:rPr sz="2600" dirty="0">
                <a:latin typeface="Calibri"/>
                <a:cs typeface="Calibri"/>
              </a:rPr>
              <a:t>multiple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devices.</a:t>
            </a:r>
            <a:endParaRPr sz="2600">
              <a:latin typeface="Calibri"/>
              <a:cs typeface="Calibri"/>
            </a:endParaRPr>
          </a:p>
          <a:p>
            <a:pPr marL="241300" marR="8255" indent="-229235" algn="just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When</a:t>
            </a:r>
            <a:r>
              <a:rPr sz="2600" spc="4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computer</a:t>
            </a:r>
            <a:r>
              <a:rPr sz="2600" spc="459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requests</a:t>
            </a:r>
            <a:r>
              <a:rPr sz="2600" spc="459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for</a:t>
            </a:r>
            <a:r>
              <a:rPr sz="2600" spc="4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some</a:t>
            </a:r>
            <a:r>
              <a:rPr sz="2600" spc="4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information</a:t>
            </a:r>
            <a:r>
              <a:rPr sz="2600" spc="46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from</a:t>
            </a:r>
            <a:r>
              <a:rPr sz="2600" spc="4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</a:t>
            </a:r>
            <a:r>
              <a:rPr sz="2600" spc="4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network,</a:t>
            </a:r>
            <a:r>
              <a:rPr sz="2600" spc="4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47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first </a:t>
            </a:r>
            <a:r>
              <a:rPr sz="2600" dirty="0">
                <a:latin typeface="Calibri"/>
                <a:cs typeface="Calibri"/>
              </a:rPr>
              <a:t>sends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request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Hub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through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cable.</a:t>
            </a:r>
            <a:endParaRPr sz="2600">
              <a:latin typeface="Calibri"/>
              <a:cs typeface="Calibri"/>
            </a:endParaRPr>
          </a:p>
          <a:p>
            <a:pPr marL="241300" marR="6350" indent="-229235" algn="just">
              <a:lnSpc>
                <a:spcPct val="80000"/>
              </a:lnSpc>
              <a:spcBef>
                <a:spcPts val="102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Hub</a:t>
            </a:r>
            <a:r>
              <a:rPr sz="2600" spc="1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will</a:t>
            </a:r>
            <a:r>
              <a:rPr sz="2600" spc="1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broadcast</a:t>
            </a:r>
            <a:r>
              <a:rPr sz="2600" spc="1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this</a:t>
            </a:r>
            <a:r>
              <a:rPr sz="2600" spc="1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request</a:t>
            </a:r>
            <a:r>
              <a:rPr sz="2600" spc="1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1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entire</a:t>
            </a:r>
            <a:r>
              <a:rPr sz="2600" spc="2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network.</a:t>
            </a:r>
            <a:r>
              <a:rPr sz="2600" spc="1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</a:t>
            </a:r>
            <a:r>
              <a:rPr sz="2600" spc="1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devices</a:t>
            </a:r>
            <a:r>
              <a:rPr sz="2600" spc="20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will </a:t>
            </a:r>
            <a:r>
              <a:rPr sz="2600" dirty="0">
                <a:latin typeface="Calibri"/>
                <a:cs typeface="Calibri"/>
              </a:rPr>
              <a:t>check</a:t>
            </a:r>
            <a:r>
              <a:rPr sz="2600" spc="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whether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request</a:t>
            </a:r>
            <a:r>
              <a:rPr sz="2600" spc="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belongs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to</a:t>
            </a:r>
            <a:r>
              <a:rPr sz="2600" spc="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them</a:t>
            </a:r>
            <a:r>
              <a:rPr sz="2600" spc="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or</a:t>
            </a:r>
            <a:r>
              <a:rPr sz="2600" spc="1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not.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not,</a:t>
            </a:r>
            <a:r>
              <a:rPr sz="2600" spc="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1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request</a:t>
            </a:r>
            <a:r>
              <a:rPr sz="2600" spc="10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will </a:t>
            </a:r>
            <a:r>
              <a:rPr sz="2600" dirty="0">
                <a:latin typeface="Calibri"/>
                <a:cs typeface="Calibri"/>
              </a:rPr>
              <a:t>be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dropped.</a:t>
            </a:r>
            <a:endParaRPr sz="2600">
              <a:latin typeface="Calibri"/>
              <a:cs typeface="Calibri"/>
            </a:endParaRPr>
          </a:p>
          <a:p>
            <a:pPr marL="241300" marR="5080" indent="-229235" algn="just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The</a:t>
            </a:r>
            <a:r>
              <a:rPr sz="2600" spc="3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process</a:t>
            </a:r>
            <a:r>
              <a:rPr sz="2600" spc="4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used</a:t>
            </a:r>
            <a:r>
              <a:rPr sz="2600" spc="4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3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4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Hub</a:t>
            </a:r>
            <a:r>
              <a:rPr sz="2600" spc="4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consumes</a:t>
            </a:r>
            <a:r>
              <a:rPr sz="2600" spc="3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more</a:t>
            </a:r>
            <a:r>
              <a:rPr sz="2600" spc="40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bandwidth</a:t>
            </a:r>
            <a:r>
              <a:rPr sz="2600" spc="4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40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limits</a:t>
            </a:r>
            <a:r>
              <a:rPr sz="2600" spc="4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the </a:t>
            </a:r>
            <a:r>
              <a:rPr sz="2600" dirty="0">
                <a:latin typeface="Calibri"/>
                <a:cs typeface="Calibri"/>
              </a:rPr>
              <a:t>amount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communication.</a:t>
            </a:r>
            <a:endParaRPr sz="2600">
              <a:latin typeface="Calibri"/>
              <a:cs typeface="Calibri"/>
            </a:endParaRPr>
          </a:p>
          <a:p>
            <a:pPr marL="241300" marR="6350" indent="-229235" algn="just">
              <a:lnSpc>
                <a:spcPts val="25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600" dirty="0">
                <a:latin typeface="Calibri"/>
                <a:cs typeface="Calibri"/>
              </a:rPr>
              <a:t>Nowadays,</a:t>
            </a:r>
            <a:r>
              <a:rPr sz="2600" spc="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use</a:t>
            </a:r>
            <a:r>
              <a:rPr sz="2600" spc="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hub</a:t>
            </a:r>
            <a:r>
              <a:rPr sz="2600" spc="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obsolete,</a:t>
            </a:r>
            <a:r>
              <a:rPr sz="2600" spc="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is</a:t>
            </a:r>
            <a:r>
              <a:rPr sz="2600" spc="5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replaced</a:t>
            </a:r>
            <a:r>
              <a:rPr sz="2600" spc="4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by</a:t>
            </a:r>
            <a:r>
              <a:rPr sz="2600" spc="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more</a:t>
            </a:r>
            <a:r>
              <a:rPr sz="2600" spc="5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advanced </a:t>
            </a:r>
            <a:r>
              <a:rPr sz="2600" dirty="0">
                <a:latin typeface="Calibri"/>
                <a:cs typeface="Calibri"/>
              </a:rPr>
              <a:t>computer</a:t>
            </a:r>
            <a:r>
              <a:rPr sz="2600" spc="-9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network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components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such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as</a:t>
            </a:r>
            <a:r>
              <a:rPr sz="2600" spc="-7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Switches,</a:t>
            </a:r>
            <a:r>
              <a:rPr sz="2600" spc="-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Routers.</a:t>
            </a:r>
            <a:endParaRPr sz="2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149606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Switch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240029" marR="6350" indent="-227965" algn="just">
              <a:lnSpc>
                <a:spcPct val="80000"/>
              </a:lnSpc>
              <a:spcBef>
                <a:spcPts val="76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/>
              <a:t>A</a:t>
            </a:r>
            <a:r>
              <a:rPr sz="2800" spc="420" dirty="0"/>
              <a:t> </a:t>
            </a:r>
            <a:r>
              <a:rPr sz="2800" dirty="0"/>
              <a:t>switch</a:t>
            </a:r>
            <a:r>
              <a:rPr sz="2800" spc="425" dirty="0"/>
              <a:t> </a:t>
            </a:r>
            <a:r>
              <a:rPr sz="2800" dirty="0"/>
              <a:t>is</a:t>
            </a:r>
            <a:r>
              <a:rPr sz="2800" spc="425" dirty="0"/>
              <a:t> </a:t>
            </a:r>
            <a:r>
              <a:rPr sz="2800" dirty="0"/>
              <a:t>a</a:t>
            </a:r>
            <a:r>
              <a:rPr sz="2800" spc="430" dirty="0"/>
              <a:t> </a:t>
            </a:r>
            <a:r>
              <a:rPr sz="2800" dirty="0"/>
              <a:t>hardware</a:t>
            </a:r>
            <a:r>
              <a:rPr sz="2800" spc="420" dirty="0"/>
              <a:t> </a:t>
            </a:r>
            <a:r>
              <a:rPr sz="2800" dirty="0"/>
              <a:t>device</a:t>
            </a:r>
            <a:r>
              <a:rPr sz="2800" spc="415" dirty="0"/>
              <a:t> </a:t>
            </a:r>
            <a:r>
              <a:rPr sz="2800" dirty="0"/>
              <a:t>that</a:t>
            </a:r>
            <a:r>
              <a:rPr sz="2800" spc="420" dirty="0"/>
              <a:t> </a:t>
            </a:r>
            <a:r>
              <a:rPr sz="2800" dirty="0"/>
              <a:t>connects</a:t>
            </a:r>
            <a:r>
              <a:rPr sz="2800" spc="440" dirty="0"/>
              <a:t> </a:t>
            </a:r>
            <a:r>
              <a:rPr sz="2800" dirty="0"/>
              <a:t>multiple</a:t>
            </a:r>
            <a:r>
              <a:rPr sz="2800" spc="440" dirty="0"/>
              <a:t> </a:t>
            </a:r>
            <a:r>
              <a:rPr sz="2800" dirty="0"/>
              <a:t>devices</a:t>
            </a:r>
            <a:r>
              <a:rPr sz="2800" spc="430" dirty="0"/>
              <a:t> </a:t>
            </a:r>
            <a:r>
              <a:rPr sz="2800" dirty="0"/>
              <a:t>on</a:t>
            </a:r>
            <a:r>
              <a:rPr sz="2800" spc="420" dirty="0"/>
              <a:t> </a:t>
            </a:r>
            <a:r>
              <a:rPr sz="2800" spc="-50" dirty="0"/>
              <a:t>a 	</a:t>
            </a:r>
            <a:r>
              <a:rPr sz="2800" dirty="0"/>
              <a:t>computer</a:t>
            </a:r>
            <a:r>
              <a:rPr sz="2800" spc="265" dirty="0"/>
              <a:t> </a:t>
            </a:r>
            <a:r>
              <a:rPr sz="2800" dirty="0"/>
              <a:t>network.</a:t>
            </a:r>
            <a:r>
              <a:rPr sz="2800" spc="265" dirty="0"/>
              <a:t> </a:t>
            </a:r>
            <a:r>
              <a:rPr sz="2800" dirty="0"/>
              <a:t>A</a:t>
            </a:r>
            <a:r>
              <a:rPr sz="2800" spc="254" dirty="0"/>
              <a:t> </a:t>
            </a:r>
            <a:r>
              <a:rPr sz="2800" dirty="0"/>
              <a:t>Switch</a:t>
            </a:r>
            <a:r>
              <a:rPr sz="2800" spc="250" dirty="0"/>
              <a:t> </a:t>
            </a:r>
            <a:r>
              <a:rPr sz="2800" dirty="0"/>
              <a:t>contains</a:t>
            </a:r>
            <a:r>
              <a:rPr sz="2800" spc="270" dirty="0"/>
              <a:t> </a:t>
            </a:r>
            <a:r>
              <a:rPr sz="2800" dirty="0"/>
              <a:t>more</a:t>
            </a:r>
            <a:r>
              <a:rPr sz="2800" spc="250" dirty="0"/>
              <a:t> </a:t>
            </a:r>
            <a:r>
              <a:rPr sz="2800" dirty="0"/>
              <a:t>advanced</a:t>
            </a:r>
            <a:r>
              <a:rPr sz="2800" spc="260" dirty="0"/>
              <a:t> </a:t>
            </a:r>
            <a:r>
              <a:rPr sz="2800" dirty="0"/>
              <a:t>features</a:t>
            </a:r>
            <a:r>
              <a:rPr sz="2800" spc="250" dirty="0"/>
              <a:t> </a:t>
            </a:r>
            <a:r>
              <a:rPr sz="2800" spc="-20" dirty="0"/>
              <a:t>than 	</a:t>
            </a:r>
            <a:r>
              <a:rPr sz="2800" dirty="0"/>
              <a:t>Hub.</a:t>
            </a:r>
            <a:r>
              <a:rPr sz="2800" spc="254" dirty="0"/>
              <a:t> </a:t>
            </a:r>
            <a:r>
              <a:rPr sz="2800" dirty="0"/>
              <a:t>The</a:t>
            </a:r>
            <a:r>
              <a:rPr sz="2800" spc="250" dirty="0"/>
              <a:t> </a:t>
            </a:r>
            <a:r>
              <a:rPr sz="2800" dirty="0"/>
              <a:t>Switch</a:t>
            </a:r>
            <a:r>
              <a:rPr sz="2800" spc="254" dirty="0"/>
              <a:t> </a:t>
            </a:r>
            <a:r>
              <a:rPr sz="2800" dirty="0"/>
              <a:t>contains</a:t>
            </a:r>
            <a:r>
              <a:rPr sz="2800" spc="254" dirty="0"/>
              <a:t> </a:t>
            </a:r>
            <a:r>
              <a:rPr sz="2800" dirty="0"/>
              <a:t>the</a:t>
            </a:r>
            <a:r>
              <a:rPr sz="2800" spc="250" dirty="0"/>
              <a:t> </a:t>
            </a:r>
            <a:r>
              <a:rPr sz="2800" dirty="0"/>
              <a:t>updated</a:t>
            </a:r>
            <a:r>
              <a:rPr sz="2800" spc="250" dirty="0"/>
              <a:t> </a:t>
            </a:r>
            <a:r>
              <a:rPr sz="2800" dirty="0"/>
              <a:t>table</a:t>
            </a:r>
            <a:r>
              <a:rPr sz="2800" spc="235" dirty="0"/>
              <a:t> </a:t>
            </a:r>
            <a:r>
              <a:rPr sz="2800" dirty="0"/>
              <a:t>that</a:t>
            </a:r>
            <a:r>
              <a:rPr sz="2800" spc="254" dirty="0"/>
              <a:t> </a:t>
            </a:r>
            <a:r>
              <a:rPr sz="2800" dirty="0"/>
              <a:t>decides</a:t>
            </a:r>
            <a:r>
              <a:rPr sz="2800" spc="254" dirty="0"/>
              <a:t> </a:t>
            </a:r>
            <a:r>
              <a:rPr sz="2800" dirty="0"/>
              <a:t>where</a:t>
            </a:r>
            <a:r>
              <a:rPr sz="2800" spc="250" dirty="0"/>
              <a:t> </a:t>
            </a:r>
            <a:r>
              <a:rPr sz="2800" spc="-25" dirty="0"/>
              <a:t>the 	</a:t>
            </a:r>
            <a:r>
              <a:rPr sz="2800" dirty="0"/>
              <a:t>data</a:t>
            </a:r>
            <a:r>
              <a:rPr sz="2800" spc="-50" dirty="0"/>
              <a:t> </a:t>
            </a:r>
            <a:r>
              <a:rPr sz="2800" dirty="0"/>
              <a:t>is</a:t>
            </a:r>
            <a:r>
              <a:rPr sz="2800" spc="-40" dirty="0"/>
              <a:t> </a:t>
            </a:r>
            <a:r>
              <a:rPr sz="2800" spc="-20" dirty="0"/>
              <a:t>transmitted</a:t>
            </a:r>
            <a:r>
              <a:rPr sz="2800" spc="-40" dirty="0"/>
              <a:t> </a:t>
            </a:r>
            <a:r>
              <a:rPr sz="2800" dirty="0"/>
              <a:t>or</a:t>
            </a:r>
            <a:r>
              <a:rPr sz="2800" spc="-45" dirty="0"/>
              <a:t> </a:t>
            </a:r>
            <a:r>
              <a:rPr sz="2800" spc="-20" dirty="0"/>
              <a:t>not.</a:t>
            </a:r>
            <a:endParaRPr sz="2800"/>
          </a:p>
          <a:p>
            <a:pPr marL="240029" marR="7620" indent="-227965" algn="just">
              <a:lnSpc>
                <a:spcPct val="800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/>
              <a:t>Switch</a:t>
            </a:r>
            <a:r>
              <a:rPr sz="2800" spc="200" dirty="0"/>
              <a:t> </a:t>
            </a:r>
            <a:r>
              <a:rPr sz="2800" dirty="0"/>
              <a:t>delivers</a:t>
            </a:r>
            <a:r>
              <a:rPr sz="2800" spc="175" dirty="0"/>
              <a:t> </a:t>
            </a:r>
            <a:r>
              <a:rPr sz="2800" dirty="0"/>
              <a:t>the</a:t>
            </a:r>
            <a:r>
              <a:rPr sz="2800" spc="185" dirty="0"/>
              <a:t> </a:t>
            </a:r>
            <a:r>
              <a:rPr sz="2800" dirty="0"/>
              <a:t>message</a:t>
            </a:r>
            <a:r>
              <a:rPr sz="2800" spc="180" dirty="0"/>
              <a:t> </a:t>
            </a:r>
            <a:r>
              <a:rPr sz="2800" dirty="0"/>
              <a:t>to</a:t>
            </a:r>
            <a:r>
              <a:rPr sz="2800" spc="180" dirty="0"/>
              <a:t> </a:t>
            </a:r>
            <a:r>
              <a:rPr sz="2800" dirty="0"/>
              <a:t>the</a:t>
            </a:r>
            <a:r>
              <a:rPr sz="2800" spc="185" dirty="0"/>
              <a:t> </a:t>
            </a:r>
            <a:r>
              <a:rPr sz="2800" dirty="0"/>
              <a:t>correct</a:t>
            </a:r>
            <a:r>
              <a:rPr sz="2800" spc="185" dirty="0"/>
              <a:t> </a:t>
            </a:r>
            <a:r>
              <a:rPr sz="2800" dirty="0"/>
              <a:t>destination</a:t>
            </a:r>
            <a:r>
              <a:rPr sz="2800" spc="195" dirty="0"/>
              <a:t> </a:t>
            </a:r>
            <a:r>
              <a:rPr sz="2800" dirty="0"/>
              <a:t>based</a:t>
            </a:r>
            <a:r>
              <a:rPr sz="2800" spc="170" dirty="0"/>
              <a:t> </a:t>
            </a:r>
            <a:r>
              <a:rPr sz="2800" dirty="0"/>
              <a:t>on</a:t>
            </a:r>
            <a:r>
              <a:rPr sz="2800" spc="190" dirty="0"/>
              <a:t> </a:t>
            </a:r>
            <a:r>
              <a:rPr sz="2800" spc="-25" dirty="0"/>
              <a:t>the 	</a:t>
            </a:r>
            <a:r>
              <a:rPr sz="2800" dirty="0"/>
              <a:t>physical</a:t>
            </a:r>
            <a:r>
              <a:rPr sz="2800" spc="-100" dirty="0"/>
              <a:t> </a:t>
            </a:r>
            <a:r>
              <a:rPr sz="2800" dirty="0"/>
              <a:t>address</a:t>
            </a:r>
            <a:r>
              <a:rPr sz="2800" spc="-90" dirty="0"/>
              <a:t> </a:t>
            </a:r>
            <a:r>
              <a:rPr sz="2800" dirty="0"/>
              <a:t>present</a:t>
            </a:r>
            <a:r>
              <a:rPr sz="2800" spc="-95" dirty="0"/>
              <a:t> </a:t>
            </a:r>
            <a:r>
              <a:rPr sz="2800" dirty="0"/>
              <a:t>in</a:t>
            </a:r>
            <a:r>
              <a:rPr sz="2800" spc="-105" dirty="0"/>
              <a:t> </a:t>
            </a:r>
            <a:r>
              <a:rPr sz="2800" dirty="0"/>
              <a:t>the</a:t>
            </a:r>
            <a:r>
              <a:rPr sz="2800" spc="-114" dirty="0"/>
              <a:t> </a:t>
            </a:r>
            <a:r>
              <a:rPr sz="2800" dirty="0"/>
              <a:t>incoming</a:t>
            </a:r>
            <a:r>
              <a:rPr sz="2800" spc="-100" dirty="0"/>
              <a:t> </a:t>
            </a:r>
            <a:r>
              <a:rPr sz="2800" spc="-10" dirty="0"/>
              <a:t>message.</a:t>
            </a:r>
            <a:endParaRPr sz="2800"/>
          </a:p>
          <a:p>
            <a:pPr marL="239395" marR="5080" indent="-227329" algn="just">
              <a:lnSpc>
                <a:spcPct val="8000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/>
              <a:t>A</a:t>
            </a:r>
            <a:r>
              <a:rPr sz="2800" spc="204" dirty="0"/>
              <a:t> </a:t>
            </a:r>
            <a:r>
              <a:rPr sz="2800" dirty="0"/>
              <a:t>Switch</a:t>
            </a:r>
            <a:r>
              <a:rPr sz="2800" spc="220" dirty="0"/>
              <a:t> </a:t>
            </a:r>
            <a:r>
              <a:rPr sz="2800" dirty="0"/>
              <a:t>does</a:t>
            </a:r>
            <a:r>
              <a:rPr sz="2800" spc="215" dirty="0"/>
              <a:t> </a:t>
            </a:r>
            <a:r>
              <a:rPr sz="2800" dirty="0"/>
              <a:t>not</a:t>
            </a:r>
            <a:r>
              <a:rPr sz="2800" spc="220" dirty="0"/>
              <a:t> </a:t>
            </a:r>
            <a:r>
              <a:rPr sz="2800" dirty="0"/>
              <a:t>broadcast</a:t>
            </a:r>
            <a:r>
              <a:rPr sz="2800" spc="220" dirty="0"/>
              <a:t> </a:t>
            </a:r>
            <a:r>
              <a:rPr sz="2800" dirty="0"/>
              <a:t>the</a:t>
            </a:r>
            <a:r>
              <a:rPr sz="2800" spc="204" dirty="0"/>
              <a:t> </a:t>
            </a:r>
            <a:r>
              <a:rPr sz="2800" dirty="0"/>
              <a:t>message</a:t>
            </a:r>
            <a:r>
              <a:rPr sz="2800" spc="210" dirty="0"/>
              <a:t> </a:t>
            </a:r>
            <a:r>
              <a:rPr sz="2800" dirty="0"/>
              <a:t>to</a:t>
            </a:r>
            <a:r>
              <a:rPr sz="2800" spc="215" dirty="0"/>
              <a:t> </a:t>
            </a:r>
            <a:r>
              <a:rPr sz="2800" dirty="0"/>
              <a:t>the</a:t>
            </a:r>
            <a:r>
              <a:rPr sz="2800" spc="204" dirty="0"/>
              <a:t> </a:t>
            </a:r>
            <a:r>
              <a:rPr sz="2800" dirty="0"/>
              <a:t>entire</a:t>
            </a:r>
            <a:r>
              <a:rPr sz="2800" spc="215" dirty="0"/>
              <a:t> </a:t>
            </a:r>
            <a:r>
              <a:rPr sz="2800" dirty="0"/>
              <a:t>network</a:t>
            </a:r>
            <a:r>
              <a:rPr sz="2800" spc="204" dirty="0"/>
              <a:t> </a:t>
            </a:r>
            <a:r>
              <a:rPr sz="2800" spc="-20" dirty="0"/>
              <a:t>like 	</a:t>
            </a:r>
            <a:r>
              <a:rPr sz="2800" dirty="0"/>
              <a:t>the</a:t>
            </a:r>
            <a:r>
              <a:rPr sz="2800" spc="515" dirty="0"/>
              <a:t> </a:t>
            </a:r>
            <a:r>
              <a:rPr sz="2800" dirty="0"/>
              <a:t>Hub.</a:t>
            </a:r>
            <a:r>
              <a:rPr sz="2800" spc="525" dirty="0"/>
              <a:t> </a:t>
            </a:r>
            <a:r>
              <a:rPr sz="2800" dirty="0"/>
              <a:t>It</a:t>
            </a:r>
            <a:r>
              <a:rPr sz="2800" spc="509" dirty="0"/>
              <a:t> </a:t>
            </a:r>
            <a:r>
              <a:rPr sz="2800" dirty="0"/>
              <a:t>determines</a:t>
            </a:r>
            <a:r>
              <a:rPr sz="2800" spc="505" dirty="0"/>
              <a:t> </a:t>
            </a:r>
            <a:r>
              <a:rPr sz="2800" dirty="0"/>
              <a:t>the</a:t>
            </a:r>
            <a:r>
              <a:rPr sz="2800" spc="525" dirty="0"/>
              <a:t> </a:t>
            </a:r>
            <a:r>
              <a:rPr sz="2800" dirty="0"/>
              <a:t>device</a:t>
            </a:r>
            <a:r>
              <a:rPr sz="2800" spc="515" dirty="0"/>
              <a:t> </a:t>
            </a:r>
            <a:r>
              <a:rPr sz="2800" dirty="0"/>
              <a:t>to</a:t>
            </a:r>
            <a:r>
              <a:rPr sz="2800" spc="500" dirty="0"/>
              <a:t> </a:t>
            </a:r>
            <a:r>
              <a:rPr sz="2800" dirty="0"/>
              <a:t>whom</a:t>
            </a:r>
            <a:r>
              <a:rPr sz="2800" spc="515" dirty="0"/>
              <a:t> </a:t>
            </a:r>
            <a:r>
              <a:rPr sz="2800" dirty="0"/>
              <a:t>the</a:t>
            </a:r>
            <a:r>
              <a:rPr sz="2800" spc="525" dirty="0"/>
              <a:t> </a:t>
            </a:r>
            <a:r>
              <a:rPr sz="2800" dirty="0"/>
              <a:t>message</a:t>
            </a:r>
            <a:r>
              <a:rPr sz="2800" spc="505" dirty="0"/>
              <a:t> </a:t>
            </a:r>
            <a:r>
              <a:rPr sz="2800" dirty="0"/>
              <a:t>is</a:t>
            </a:r>
            <a:r>
              <a:rPr sz="2800" spc="509" dirty="0"/>
              <a:t> </a:t>
            </a:r>
            <a:r>
              <a:rPr sz="2800" dirty="0"/>
              <a:t>to</a:t>
            </a:r>
            <a:r>
              <a:rPr sz="2800" spc="530" dirty="0"/>
              <a:t> </a:t>
            </a:r>
            <a:r>
              <a:rPr sz="2800" spc="-25" dirty="0"/>
              <a:t>be 	</a:t>
            </a:r>
            <a:r>
              <a:rPr sz="2800" dirty="0"/>
              <a:t>transmitted.</a:t>
            </a:r>
            <a:r>
              <a:rPr sz="2800" spc="40" dirty="0"/>
              <a:t>  </a:t>
            </a:r>
            <a:r>
              <a:rPr sz="2800" dirty="0"/>
              <a:t>Therefore,</a:t>
            </a:r>
            <a:r>
              <a:rPr sz="2800" spc="35" dirty="0"/>
              <a:t>  </a:t>
            </a:r>
            <a:r>
              <a:rPr sz="2800" dirty="0"/>
              <a:t>we</a:t>
            </a:r>
            <a:r>
              <a:rPr sz="2800" spc="40" dirty="0"/>
              <a:t>  </a:t>
            </a:r>
            <a:r>
              <a:rPr sz="2800" dirty="0"/>
              <a:t>can</a:t>
            </a:r>
            <a:r>
              <a:rPr sz="2800" spc="40" dirty="0"/>
              <a:t>  </a:t>
            </a:r>
            <a:r>
              <a:rPr sz="2800" dirty="0"/>
              <a:t>say</a:t>
            </a:r>
            <a:r>
              <a:rPr sz="2800" spc="35" dirty="0"/>
              <a:t>  </a:t>
            </a:r>
            <a:r>
              <a:rPr sz="2800" dirty="0"/>
              <a:t>that</a:t>
            </a:r>
            <a:r>
              <a:rPr sz="2800" spc="40" dirty="0"/>
              <a:t>  </a:t>
            </a:r>
            <a:r>
              <a:rPr sz="2800" dirty="0"/>
              <a:t>switch</a:t>
            </a:r>
            <a:r>
              <a:rPr sz="2800" spc="50" dirty="0"/>
              <a:t>  </a:t>
            </a:r>
            <a:r>
              <a:rPr sz="2800" dirty="0"/>
              <a:t>provides</a:t>
            </a:r>
            <a:r>
              <a:rPr sz="2800" spc="40" dirty="0"/>
              <a:t>  </a:t>
            </a:r>
            <a:r>
              <a:rPr sz="2800" dirty="0"/>
              <a:t>a</a:t>
            </a:r>
            <a:r>
              <a:rPr sz="2800" spc="40" dirty="0"/>
              <a:t>  </a:t>
            </a:r>
            <a:r>
              <a:rPr sz="2800" spc="-10" dirty="0"/>
              <a:t>direct 	</a:t>
            </a:r>
            <a:r>
              <a:rPr sz="2800" dirty="0"/>
              <a:t>connection</a:t>
            </a:r>
            <a:r>
              <a:rPr sz="2800" spc="-70" dirty="0"/>
              <a:t> </a:t>
            </a:r>
            <a:r>
              <a:rPr sz="2800" dirty="0"/>
              <a:t>between</a:t>
            </a:r>
            <a:r>
              <a:rPr sz="2800" spc="-100" dirty="0"/>
              <a:t> </a:t>
            </a:r>
            <a:r>
              <a:rPr sz="2800" dirty="0"/>
              <a:t>the</a:t>
            </a:r>
            <a:r>
              <a:rPr sz="2800" spc="-95" dirty="0"/>
              <a:t> </a:t>
            </a:r>
            <a:r>
              <a:rPr sz="2800" dirty="0"/>
              <a:t>source</a:t>
            </a:r>
            <a:r>
              <a:rPr sz="2800" spc="-95" dirty="0"/>
              <a:t> </a:t>
            </a:r>
            <a:r>
              <a:rPr sz="2800" dirty="0"/>
              <a:t>and</a:t>
            </a:r>
            <a:r>
              <a:rPr sz="2800" spc="-90" dirty="0"/>
              <a:t> </a:t>
            </a:r>
            <a:r>
              <a:rPr sz="2800" spc="-10" dirty="0"/>
              <a:t>destination.</a:t>
            </a:r>
            <a:endParaRPr sz="2800"/>
          </a:p>
          <a:p>
            <a:pPr marL="240029" indent="-227329" algn="just">
              <a:lnSpc>
                <a:spcPct val="100000"/>
              </a:lnSpc>
              <a:spcBef>
                <a:spcPts val="325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/>
              <a:t>It</a:t>
            </a:r>
            <a:r>
              <a:rPr sz="2800" spc="-35" dirty="0"/>
              <a:t> </a:t>
            </a:r>
            <a:r>
              <a:rPr sz="2800" dirty="0"/>
              <a:t>increases</a:t>
            </a:r>
            <a:r>
              <a:rPr sz="2800" spc="-20" dirty="0"/>
              <a:t> </a:t>
            </a:r>
            <a:r>
              <a:rPr sz="2800" dirty="0"/>
              <a:t>the</a:t>
            </a:r>
            <a:r>
              <a:rPr sz="2800" spc="-30" dirty="0"/>
              <a:t> </a:t>
            </a:r>
            <a:r>
              <a:rPr sz="2800" dirty="0"/>
              <a:t>speed</a:t>
            </a:r>
            <a:r>
              <a:rPr sz="2800" spc="-20" dirty="0"/>
              <a:t> </a:t>
            </a:r>
            <a:r>
              <a:rPr sz="2800" dirty="0"/>
              <a:t>of</a:t>
            </a:r>
            <a:r>
              <a:rPr sz="2800" spc="-45" dirty="0"/>
              <a:t> </a:t>
            </a:r>
            <a:r>
              <a:rPr sz="2800" dirty="0"/>
              <a:t>the</a:t>
            </a:r>
            <a:r>
              <a:rPr sz="2800" spc="-30" dirty="0"/>
              <a:t> </a:t>
            </a:r>
            <a:r>
              <a:rPr sz="2800" spc="-10" dirty="0"/>
              <a:t>network.</a:t>
            </a:r>
            <a:endParaRPr sz="28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0" dirty="0"/>
              <a:t>Router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40029" marR="5715" indent="-227965" algn="just">
              <a:lnSpc>
                <a:spcPts val="3020"/>
              </a:lnSpc>
              <a:spcBef>
                <a:spcPts val="48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/>
              <a:t>A</a:t>
            </a:r>
            <a:r>
              <a:rPr sz="2800" spc="40" dirty="0"/>
              <a:t> </a:t>
            </a:r>
            <a:r>
              <a:rPr sz="2800" dirty="0"/>
              <a:t>router</a:t>
            </a:r>
            <a:r>
              <a:rPr sz="2800" spc="35" dirty="0"/>
              <a:t> </a:t>
            </a:r>
            <a:r>
              <a:rPr sz="2800" dirty="0"/>
              <a:t>is</a:t>
            </a:r>
            <a:r>
              <a:rPr sz="2800" spc="45" dirty="0"/>
              <a:t> </a:t>
            </a:r>
            <a:r>
              <a:rPr sz="2800" dirty="0"/>
              <a:t>a</a:t>
            </a:r>
            <a:r>
              <a:rPr sz="2800" spc="40" dirty="0"/>
              <a:t> </a:t>
            </a:r>
            <a:r>
              <a:rPr sz="2800" dirty="0"/>
              <a:t>hardware</a:t>
            </a:r>
            <a:r>
              <a:rPr sz="2800" spc="40" dirty="0"/>
              <a:t> </a:t>
            </a:r>
            <a:r>
              <a:rPr sz="2800" dirty="0"/>
              <a:t>device</a:t>
            </a:r>
            <a:r>
              <a:rPr sz="2800" spc="40" dirty="0"/>
              <a:t> </a:t>
            </a:r>
            <a:r>
              <a:rPr sz="2800" dirty="0"/>
              <a:t>which</a:t>
            </a:r>
            <a:r>
              <a:rPr sz="2800" spc="35" dirty="0"/>
              <a:t> </a:t>
            </a:r>
            <a:r>
              <a:rPr sz="2800" dirty="0"/>
              <a:t>is</a:t>
            </a:r>
            <a:r>
              <a:rPr sz="2800" spc="45" dirty="0"/>
              <a:t> </a:t>
            </a:r>
            <a:r>
              <a:rPr sz="2800" dirty="0"/>
              <a:t>used</a:t>
            </a:r>
            <a:r>
              <a:rPr sz="2800" spc="40" dirty="0"/>
              <a:t> </a:t>
            </a:r>
            <a:r>
              <a:rPr sz="2800" dirty="0"/>
              <a:t>to</a:t>
            </a:r>
            <a:r>
              <a:rPr sz="2800" spc="40" dirty="0"/>
              <a:t> </a:t>
            </a:r>
            <a:r>
              <a:rPr sz="2800" dirty="0"/>
              <a:t>connect</a:t>
            </a:r>
            <a:r>
              <a:rPr sz="2800" spc="50" dirty="0"/>
              <a:t> </a:t>
            </a:r>
            <a:r>
              <a:rPr sz="2800" dirty="0"/>
              <a:t>a</a:t>
            </a:r>
            <a:r>
              <a:rPr sz="2800" spc="40" dirty="0"/>
              <a:t> </a:t>
            </a:r>
            <a:r>
              <a:rPr sz="2800" dirty="0"/>
              <a:t>LAN</a:t>
            </a:r>
            <a:r>
              <a:rPr sz="2800" spc="40" dirty="0"/>
              <a:t> </a:t>
            </a:r>
            <a:r>
              <a:rPr sz="2800" dirty="0"/>
              <a:t>with</a:t>
            </a:r>
            <a:r>
              <a:rPr sz="2800" spc="35" dirty="0"/>
              <a:t> </a:t>
            </a:r>
            <a:r>
              <a:rPr sz="2800" spc="-25" dirty="0"/>
              <a:t>an 	</a:t>
            </a:r>
            <a:r>
              <a:rPr sz="2800" dirty="0"/>
              <a:t>internet</a:t>
            </a:r>
            <a:r>
              <a:rPr sz="2800" spc="425" dirty="0"/>
              <a:t> </a:t>
            </a:r>
            <a:r>
              <a:rPr sz="2800" dirty="0"/>
              <a:t>connection.</a:t>
            </a:r>
            <a:r>
              <a:rPr sz="2800" spc="440" dirty="0"/>
              <a:t> </a:t>
            </a:r>
            <a:r>
              <a:rPr sz="2800" dirty="0"/>
              <a:t>It</a:t>
            </a:r>
            <a:r>
              <a:rPr sz="2800" spc="425" dirty="0"/>
              <a:t> </a:t>
            </a:r>
            <a:r>
              <a:rPr sz="2800" dirty="0"/>
              <a:t>is</a:t>
            </a:r>
            <a:r>
              <a:rPr sz="2800" spc="440" dirty="0"/>
              <a:t> </a:t>
            </a:r>
            <a:r>
              <a:rPr sz="2800" dirty="0"/>
              <a:t>used</a:t>
            </a:r>
            <a:r>
              <a:rPr sz="2800" spc="440" dirty="0"/>
              <a:t> </a:t>
            </a:r>
            <a:r>
              <a:rPr sz="2800" dirty="0"/>
              <a:t>to</a:t>
            </a:r>
            <a:r>
              <a:rPr sz="2800" spc="430" dirty="0"/>
              <a:t> </a:t>
            </a:r>
            <a:r>
              <a:rPr sz="2800" dirty="0"/>
              <a:t>receive,</a:t>
            </a:r>
            <a:r>
              <a:rPr sz="2800" spc="425" dirty="0"/>
              <a:t> </a:t>
            </a:r>
            <a:r>
              <a:rPr sz="2800" dirty="0"/>
              <a:t>analyze</a:t>
            </a:r>
            <a:r>
              <a:rPr sz="2800" spc="425" dirty="0"/>
              <a:t> </a:t>
            </a:r>
            <a:r>
              <a:rPr sz="2800" dirty="0"/>
              <a:t>and</a:t>
            </a:r>
            <a:r>
              <a:rPr sz="2800" spc="425" dirty="0"/>
              <a:t> </a:t>
            </a:r>
            <a:r>
              <a:rPr sz="2800" dirty="0"/>
              <a:t>forward</a:t>
            </a:r>
            <a:r>
              <a:rPr sz="2800" spc="420" dirty="0"/>
              <a:t> </a:t>
            </a:r>
            <a:r>
              <a:rPr sz="2800" spc="-25" dirty="0"/>
              <a:t>the 	</a:t>
            </a:r>
            <a:r>
              <a:rPr sz="2800" dirty="0"/>
              <a:t>incoming</a:t>
            </a:r>
            <a:r>
              <a:rPr sz="2800" spc="-75" dirty="0"/>
              <a:t> </a:t>
            </a:r>
            <a:r>
              <a:rPr sz="2800" spc="-10" dirty="0"/>
              <a:t>packets</a:t>
            </a:r>
            <a:r>
              <a:rPr sz="2800" spc="-80" dirty="0"/>
              <a:t> </a:t>
            </a:r>
            <a:r>
              <a:rPr sz="2800" dirty="0"/>
              <a:t>to</a:t>
            </a:r>
            <a:r>
              <a:rPr sz="2800" spc="-75" dirty="0"/>
              <a:t> </a:t>
            </a:r>
            <a:r>
              <a:rPr sz="2800" dirty="0"/>
              <a:t>another</a:t>
            </a:r>
            <a:r>
              <a:rPr sz="2800" spc="-75" dirty="0"/>
              <a:t> </a:t>
            </a:r>
            <a:r>
              <a:rPr sz="2800" spc="-10" dirty="0"/>
              <a:t>network.</a:t>
            </a:r>
            <a:endParaRPr sz="2800"/>
          </a:p>
          <a:p>
            <a:pPr marL="240029" marR="5080" indent="-227965" algn="just">
              <a:lnSpc>
                <a:spcPts val="3020"/>
              </a:lnSpc>
              <a:spcBef>
                <a:spcPts val="10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/>
              <a:t>A</a:t>
            </a:r>
            <a:r>
              <a:rPr sz="2800" spc="530" dirty="0"/>
              <a:t> </a:t>
            </a:r>
            <a:r>
              <a:rPr sz="2800" dirty="0"/>
              <a:t>router</a:t>
            </a:r>
            <a:r>
              <a:rPr sz="2800" spc="535" dirty="0"/>
              <a:t> </a:t>
            </a:r>
            <a:r>
              <a:rPr sz="2800" dirty="0"/>
              <a:t>works</a:t>
            </a:r>
            <a:r>
              <a:rPr sz="2800" spc="535" dirty="0"/>
              <a:t> </a:t>
            </a:r>
            <a:r>
              <a:rPr sz="2800" dirty="0"/>
              <a:t>in</a:t>
            </a:r>
            <a:r>
              <a:rPr sz="2800" spc="550" dirty="0"/>
              <a:t> </a:t>
            </a:r>
            <a:r>
              <a:rPr sz="2800" dirty="0"/>
              <a:t>a</a:t>
            </a:r>
            <a:r>
              <a:rPr sz="2800" spc="540" dirty="0"/>
              <a:t> </a:t>
            </a:r>
            <a:r>
              <a:rPr sz="2800" dirty="0"/>
              <a:t>Layer</a:t>
            </a:r>
            <a:r>
              <a:rPr sz="2800" spc="530" dirty="0"/>
              <a:t> </a:t>
            </a:r>
            <a:r>
              <a:rPr sz="2800" dirty="0"/>
              <a:t>3</a:t>
            </a:r>
            <a:r>
              <a:rPr sz="2800" spc="535" dirty="0"/>
              <a:t> </a:t>
            </a:r>
            <a:r>
              <a:rPr sz="2800" dirty="0"/>
              <a:t>(Network</a:t>
            </a:r>
            <a:r>
              <a:rPr sz="2800" spc="525" dirty="0"/>
              <a:t> </a:t>
            </a:r>
            <a:r>
              <a:rPr sz="2800" dirty="0"/>
              <a:t>layer)</a:t>
            </a:r>
            <a:r>
              <a:rPr sz="2800" spc="535" dirty="0"/>
              <a:t> </a:t>
            </a:r>
            <a:r>
              <a:rPr sz="2800" dirty="0"/>
              <a:t>of</a:t>
            </a:r>
            <a:r>
              <a:rPr sz="2800" spc="520" dirty="0"/>
              <a:t> </a:t>
            </a:r>
            <a:r>
              <a:rPr sz="2800" dirty="0"/>
              <a:t>the</a:t>
            </a:r>
            <a:r>
              <a:rPr sz="2800" spc="530" dirty="0"/>
              <a:t> </a:t>
            </a:r>
            <a:r>
              <a:rPr sz="2800" dirty="0"/>
              <a:t>OSI</a:t>
            </a:r>
            <a:r>
              <a:rPr sz="2800" spc="545" dirty="0"/>
              <a:t> </a:t>
            </a:r>
            <a:r>
              <a:rPr sz="2800" spc="-10" dirty="0"/>
              <a:t>Reference 	model.</a:t>
            </a:r>
            <a:endParaRPr sz="2800"/>
          </a:p>
          <a:p>
            <a:pPr marL="239395" marR="6985" indent="-227329" algn="just">
              <a:lnSpc>
                <a:spcPts val="303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/>
              <a:t>A</a:t>
            </a:r>
            <a:r>
              <a:rPr sz="2800" spc="325" dirty="0"/>
              <a:t> </a:t>
            </a:r>
            <a:r>
              <a:rPr sz="2800" dirty="0"/>
              <a:t>router</a:t>
            </a:r>
            <a:r>
              <a:rPr sz="2800" spc="305" dirty="0"/>
              <a:t> </a:t>
            </a:r>
            <a:r>
              <a:rPr sz="2800" dirty="0"/>
              <a:t>forwards</a:t>
            </a:r>
            <a:r>
              <a:rPr sz="2800" spc="325" dirty="0"/>
              <a:t> </a:t>
            </a:r>
            <a:r>
              <a:rPr sz="2800" dirty="0"/>
              <a:t>the</a:t>
            </a:r>
            <a:r>
              <a:rPr sz="2800" spc="320" dirty="0"/>
              <a:t> </a:t>
            </a:r>
            <a:r>
              <a:rPr sz="2800" dirty="0"/>
              <a:t>packet</a:t>
            </a:r>
            <a:r>
              <a:rPr sz="2800" spc="325" dirty="0"/>
              <a:t> </a:t>
            </a:r>
            <a:r>
              <a:rPr sz="2800" dirty="0"/>
              <a:t>based</a:t>
            </a:r>
            <a:r>
              <a:rPr sz="2800" spc="320" dirty="0"/>
              <a:t> </a:t>
            </a:r>
            <a:r>
              <a:rPr sz="2800" dirty="0"/>
              <a:t>on</a:t>
            </a:r>
            <a:r>
              <a:rPr sz="2800" spc="320" dirty="0"/>
              <a:t> </a:t>
            </a:r>
            <a:r>
              <a:rPr sz="2800" dirty="0"/>
              <a:t>the</a:t>
            </a:r>
            <a:r>
              <a:rPr sz="2800" spc="315" dirty="0"/>
              <a:t> </a:t>
            </a:r>
            <a:r>
              <a:rPr sz="2800" dirty="0"/>
              <a:t>information</a:t>
            </a:r>
            <a:r>
              <a:rPr sz="2800" spc="315" dirty="0"/>
              <a:t> </a:t>
            </a:r>
            <a:r>
              <a:rPr sz="2800" dirty="0"/>
              <a:t>available</a:t>
            </a:r>
            <a:r>
              <a:rPr sz="2800" spc="325" dirty="0"/>
              <a:t> </a:t>
            </a:r>
            <a:r>
              <a:rPr sz="2800" spc="-25" dirty="0"/>
              <a:t>in 	</a:t>
            </a:r>
            <a:r>
              <a:rPr sz="2800" dirty="0"/>
              <a:t>the</a:t>
            </a:r>
            <a:r>
              <a:rPr sz="2800" spc="-90" dirty="0"/>
              <a:t> </a:t>
            </a:r>
            <a:r>
              <a:rPr sz="2800" dirty="0"/>
              <a:t>routing</a:t>
            </a:r>
            <a:r>
              <a:rPr sz="2800" spc="-80" dirty="0"/>
              <a:t> </a:t>
            </a:r>
            <a:r>
              <a:rPr sz="2800" spc="-10" dirty="0"/>
              <a:t>table.</a:t>
            </a:r>
            <a:endParaRPr sz="2800"/>
          </a:p>
          <a:p>
            <a:pPr marL="240029" marR="6985" indent="-227965" algn="just">
              <a:lnSpc>
                <a:spcPts val="302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sz="2800" dirty="0"/>
              <a:t>It</a:t>
            </a:r>
            <a:r>
              <a:rPr sz="2800" spc="250" dirty="0"/>
              <a:t>  </a:t>
            </a:r>
            <a:r>
              <a:rPr sz="2800" dirty="0"/>
              <a:t>determines</a:t>
            </a:r>
            <a:r>
              <a:rPr sz="2800" spc="254" dirty="0"/>
              <a:t>  </a:t>
            </a:r>
            <a:r>
              <a:rPr sz="2800" dirty="0"/>
              <a:t>the</a:t>
            </a:r>
            <a:r>
              <a:rPr sz="2800" spc="260" dirty="0"/>
              <a:t>  </a:t>
            </a:r>
            <a:r>
              <a:rPr sz="2800" dirty="0"/>
              <a:t>best</a:t>
            </a:r>
            <a:r>
              <a:rPr sz="2800" spc="254" dirty="0"/>
              <a:t>  </a:t>
            </a:r>
            <a:r>
              <a:rPr sz="2800" dirty="0"/>
              <a:t>path</a:t>
            </a:r>
            <a:r>
              <a:rPr sz="2800" spc="260" dirty="0"/>
              <a:t>  </a:t>
            </a:r>
            <a:r>
              <a:rPr sz="2800" dirty="0"/>
              <a:t>from</a:t>
            </a:r>
            <a:r>
              <a:rPr sz="2800" spc="250" dirty="0"/>
              <a:t>  </a:t>
            </a:r>
            <a:r>
              <a:rPr sz="2800" dirty="0"/>
              <a:t>the</a:t>
            </a:r>
            <a:r>
              <a:rPr sz="2800" spc="260" dirty="0"/>
              <a:t>  </a:t>
            </a:r>
            <a:r>
              <a:rPr sz="2800" dirty="0"/>
              <a:t>available</a:t>
            </a:r>
            <a:r>
              <a:rPr sz="2800" spc="250" dirty="0"/>
              <a:t>  </a:t>
            </a:r>
            <a:r>
              <a:rPr sz="2800" dirty="0"/>
              <a:t>paths</a:t>
            </a:r>
            <a:r>
              <a:rPr sz="2800" spc="254" dirty="0"/>
              <a:t>  </a:t>
            </a:r>
            <a:r>
              <a:rPr sz="2800" dirty="0"/>
              <a:t>for</a:t>
            </a:r>
            <a:r>
              <a:rPr sz="2800" spc="254" dirty="0"/>
              <a:t>  </a:t>
            </a:r>
            <a:r>
              <a:rPr sz="2800" spc="-25" dirty="0"/>
              <a:t>the 	</a:t>
            </a:r>
            <a:r>
              <a:rPr sz="2800" spc="-10" dirty="0"/>
              <a:t>transmission </a:t>
            </a:r>
            <a:r>
              <a:rPr sz="2800" dirty="0"/>
              <a:t>of</a:t>
            </a:r>
            <a:r>
              <a:rPr sz="2800" spc="-50" dirty="0"/>
              <a:t> </a:t>
            </a:r>
            <a:r>
              <a:rPr sz="2800" dirty="0"/>
              <a:t>the</a:t>
            </a:r>
            <a:r>
              <a:rPr sz="2800" spc="-55" dirty="0"/>
              <a:t> </a:t>
            </a:r>
            <a:r>
              <a:rPr sz="2800" spc="-10" dirty="0"/>
              <a:t>packet.</a:t>
            </a:r>
            <a:endParaRPr sz="2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483806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Advantages</a:t>
            </a:r>
            <a:r>
              <a:rPr spc="-130" dirty="0"/>
              <a:t> </a:t>
            </a:r>
            <a:r>
              <a:rPr dirty="0"/>
              <a:t>of</a:t>
            </a:r>
            <a:r>
              <a:rPr spc="-105" dirty="0"/>
              <a:t> </a:t>
            </a:r>
            <a:r>
              <a:rPr spc="-10" dirty="0"/>
              <a:t>Router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627" y="1906511"/>
            <a:ext cx="10520934" cy="55703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3627" y="3029699"/>
            <a:ext cx="10520934" cy="5570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33627" y="4152887"/>
            <a:ext cx="10520934" cy="55703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3627" y="5536691"/>
            <a:ext cx="10520934" cy="55703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40104" y="1801096"/>
            <a:ext cx="10240010" cy="4170045"/>
          </a:xfrm>
          <a:prstGeom prst="rect">
            <a:avLst/>
          </a:prstGeom>
        </p:spPr>
        <p:txBody>
          <a:bodyPr vert="horz" wrap="square" lIns="0" tIns="175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2300" spc="-10" dirty="0">
                <a:latin typeface="Calibri"/>
                <a:cs typeface="Calibri"/>
              </a:rPr>
              <a:t>Security:</a:t>
            </a:r>
            <a:endParaRPr sz="2300">
              <a:latin typeface="Calibri"/>
              <a:cs typeface="Calibri"/>
            </a:endParaRPr>
          </a:p>
          <a:p>
            <a:pPr marL="403860" marR="165100" indent="-172720">
              <a:lnSpc>
                <a:spcPts val="1970"/>
              </a:lnSpc>
              <a:spcBef>
                <a:spcPts val="1220"/>
              </a:spcBef>
              <a:buChar char="•"/>
              <a:tabLst>
                <a:tab pos="403860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transmitted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traverse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entire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cable,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only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specified </a:t>
            </a:r>
            <a:r>
              <a:rPr sz="1800" dirty="0">
                <a:latin typeface="Calibri"/>
                <a:cs typeface="Calibri"/>
              </a:rPr>
              <a:t>device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been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addressed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read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data.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300" spc="-10" dirty="0">
                <a:latin typeface="Calibri"/>
                <a:cs typeface="Calibri"/>
              </a:rPr>
              <a:t>Reliability:</a:t>
            </a:r>
            <a:endParaRPr sz="2300">
              <a:latin typeface="Calibri"/>
              <a:cs typeface="Calibri"/>
            </a:endParaRPr>
          </a:p>
          <a:p>
            <a:pPr marL="403860" marR="328295" indent="-172720">
              <a:lnSpc>
                <a:spcPts val="1970"/>
              </a:lnSpc>
              <a:spcBef>
                <a:spcPts val="1225"/>
              </a:spcBef>
              <a:buChar char="•"/>
              <a:tabLst>
                <a:tab pos="403860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server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stopped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functioning,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goes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down,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affected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that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served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router.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300" spc="-10" dirty="0">
                <a:latin typeface="Calibri"/>
                <a:cs typeface="Calibri"/>
              </a:rPr>
              <a:t>Performance:</a:t>
            </a:r>
            <a:endParaRPr sz="2300">
              <a:latin typeface="Calibri"/>
              <a:cs typeface="Calibri"/>
            </a:endParaRPr>
          </a:p>
          <a:p>
            <a:pPr marL="403860" marR="5080" indent="-172720">
              <a:lnSpc>
                <a:spcPct val="91400"/>
              </a:lnSpc>
              <a:spcBef>
                <a:spcPts val="1185"/>
              </a:spcBef>
              <a:buChar char="•"/>
              <a:tabLst>
                <a:tab pos="403860" algn="l"/>
              </a:tabLst>
            </a:pPr>
            <a:r>
              <a:rPr sz="1800" spc="-10" dirty="0">
                <a:latin typeface="Calibri"/>
                <a:cs typeface="Calibri"/>
              </a:rPr>
              <a:t>Router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enhances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overall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performance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network.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Suppose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24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workstations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network </a:t>
            </a:r>
            <a:r>
              <a:rPr sz="1800" spc="-20" dirty="0">
                <a:latin typeface="Calibri"/>
                <a:cs typeface="Calibri"/>
              </a:rPr>
              <a:t>generates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same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amount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traffic.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increases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traffic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load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Router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splits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single </a:t>
            </a:r>
            <a:r>
              <a:rPr sz="1800" dirty="0">
                <a:latin typeface="Calibri"/>
                <a:cs typeface="Calibri"/>
              </a:rPr>
              <a:t>network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networks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12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workstations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each,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reduces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traffic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load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half.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sz="2300" dirty="0">
                <a:latin typeface="Calibri"/>
                <a:cs typeface="Calibri"/>
              </a:rPr>
              <a:t>Network</a:t>
            </a:r>
            <a:r>
              <a:rPr sz="2300" spc="-110" dirty="0">
                <a:latin typeface="Calibri"/>
                <a:cs typeface="Calibri"/>
              </a:rPr>
              <a:t> </a:t>
            </a:r>
            <a:r>
              <a:rPr sz="2300" spc="-10" dirty="0">
                <a:latin typeface="Calibri"/>
                <a:cs typeface="Calibri"/>
              </a:rPr>
              <a:t>range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Modem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41300" marR="5080" indent="-229235">
              <a:lnSpc>
                <a:spcPct val="80000"/>
              </a:lnSpc>
              <a:spcBef>
                <a:spcPts val="72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A</a:t>
            </a:r>
            <a:r>
              <a:rPr spc="40" dirty="0"/>
              <a:t> </a:t>
            </a:r>
            <a:r>
              <a:rPr dirty="0"/>
              <a:t>modem</a:t>
            </a:r>
            <a:r>
              <a:rPr spc="35" dirty="0"/>
              <a:t> </a:t>
            </a:r>
            <a:r>
              <a:rPr dirty="0"/>
              <a:t>is</a:t>
            </a:r>
            <a:r>
              <a:rPr spc="35" dirty="0"/>
              <a:t> </a:t>
            </a:r>
            <a:r>
              <a:rPr dirty="0"/>
              <a:t>a</a:t>
            </a:r>
            <a:r>
              <a:rPr spc="40" dirty="0"/>
              <a:t> </a:t>
            </a:r>
            <a:r>
              <a:rPr dirty="0"/>
              <a:t>hardware</a:t>
            </a:r>
            <a:r>
              <a:rPr spc="35" dirty="0"/>
              <a:t> </a:t>
            </a:r>
            <a:r>
              <a:rPr dirty="0"/>
              <a:t>device</a:t>
            </a:r>
            <a:r>
              <a:rPr spc="40" dirty="0"/>
              <a:t> </a:t>
            </a:r>
            <a:r>
              <a:rPr dirty="0"/>
              <a:t>that</a:t>
            </a:r>
            <a:r>
              <a:rPr spc="40" dirty="0"/>
              <a:t> </a:t>
            </a:r>
            <a:r>
              <a:rPr dirty="0"/>
              <a:t>allows</a:t>
            </a:r>
            <a:r>
              <a:rPr spc="45" dirty="0"/>
              <a:t> </a:t>
            </a:r>
            <a:r>
              <a:rPr dirty="0"/>
              <a:t>the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45" dirty="0"/>
              <a:t> </a:t>
            </a:r>
            <a:r>
              <a:rPr dirty="0"/>
              <a:t>to</a:t>
            </a:r>
            <a:r>
              <a:rPr spc="30" dirty="0"/>
              <a:t> </a:t>
            </a:r>
            <a:r>
              <a:rPr dirty="0"/>
              <a:t>connect</a:t>
            </a:r>
            <a:r>
              <a:rPr spc="35" dirty="0"/>
              <a:t> </a:t>
            </a:r>
            <a:r>
              <a:rPr dirty="0"/>
              <a:t>to</a:t>
            </a:r>
            <a:r>
              <a:rPr spc="35" dirty="0"/>
              <a:t> </a:t>
            </a:r>
            <a:r>
              <a:rPr spc="-25" dirty="0"/>
              <a:t>the </a:t>
            </a:r>
            <a:r>
              <a:rPr dirty="0"/>
              <a:t>internet</a:t>
            </a:r>
            <a:r>
              <a:rPr spc="-100" dirty="0"/>
              <a:t> </a:t>
            </a:r>
            <a:r>
              <a:rPr dirty="0"/>
              <a:t>over</a:t>
            </a:r>
            <a:r>
              <a:rPr spc="-50" dirty="0"/>
              <a:t> </a:t>
            </a:r>
            <a:r>
              <a:rPr dirty="0"/>
              <a:t>the</a:t>
            </a:r>
            <a:r>
              <a:rPr spc="-75" dirty="0"/>
              <a:t> </a:t>
            </a:r>
            <a:r>
              <a:rPr dirty="0"/>
              <a:t>existing</a:t>
            </a:r>
            <a:r>
              <a:rPr spc="-75" dirty="0"/>
              <a:t> </a:t>
            </a:r>
            <a:r>
              <a:rPr dirty="0"/>
              <a:t>telephone</a:t>
            </a:r>
            <a:r>
              <a:rPr spc="-105" dirty="0"/>
              <a:t> </a:t>
            </a:r>
            <a:r>
              <a:rPr spc="-10" dirty="0"/>
              <a:t>line.</a:t>
            </a:r>
          </a:p>
          <a:p>
            <a:pPr marL="241300" marR="6350" indent="-229235">
              <a:lnSpc>
                <a:spcPts val="2500"/>
              </a:lnSpc>
              <a:spcBef>
                <a:spcPts val="975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A</a:t>
            </a:r>
            <a:r>
              <a:rPr spc="35" dirty="0"/>
              <a:t> </a:t>
            </a:r>
            <a:r>
              <a:rPr dirty="0"/>
              <a:t>modem</a:t>
            </a:r>
            <a:r>
              <a:rPr spc="30" dirty="0"/>
              <a:t> </a:t>
            </a:r>
            <a:r>
              <a:rPr dirty="0"/>
              <a:t>is</a:t>
            </a:r>
            <a:r>
              <a:rPr spc="35" dirty="0"/>
              <a:t> </a:t>
            </a:r>
            <a:r>
              <a:rPr dirty="0"/>
              <a:t>not</a:t>
            </a:r>
            <a:r>
              <a:rPr spc="30" dirty="0"/>
              <a:t> </a:t>
            </a:r>
            <a:r>
              <a:rPr dirty="0"/>
              <a:t>integrated</a:t>
            </a:r>
            <a:r>
              <a:rPr spc="15" dirty="0"/>
              <a:t> </a:t>
            </a:r>
            <a:r>
              <a:rPr dirty="0"/>
              <a:t>with</a:t>
            </a:r>
            <a:r>
              <a:rPr spc="40" dirty="0"/>
              <a:t> </a:t>
            </a:r>
            <a:r>
              <a:rPr dirty="0"/>
              <a:t>the</a:t>
            </a:r>
            <a:r>
              <a:rPr spc="30" dirty="0"/>
              <a:t> </a:t>
            </a:r>
            <a:r>
              <a:rPr dirty="0"/>
              <a:t>motherboard</a:t>
            </a:r>
            <a:r>
              <a:rPr spc="35" dirty="0"/>
              <a:t> </a:t>
            </a:r>
            <a:r>
              <a:rPr dirty="0"/>
              <a:t>rather</a:t>
            </a:r>
            <a:r>
              <a:rPr spc="40" dirty="0"/>
              <a:t> </a:t>
            </a:r>
            <a:r>
              <a:rPr dirty="0"/>
              <a:t>than</a:t>
            </a:r>
            <a:r>
              <a:rPr spc="40" dirty="0"/>
              <a:t> </a:t>
            </a:r>
            <a:r>
              <a:rPr dirty="0"/>
              <a:t>it</a:t>
            </a:r>
            <a:r>
              <a:rPr spc="35" dirty="0"/>
              <a:t> </a:t>
            </a:r>
            <a:r>
              <a:rPr dirty="0"/>
              <a:t>is</a:t>
            </a:r>
            <a:r>
              <a:rPr spc="25" dirty="0"/>
              <a:t> </a:t>
            </a:r>
            <a:r>
              <a:rPr spc="-10" dirty="0"/>
              <a:t>installed </a:t>
            </a:r>
            <a:r>
              <a:rPr dirty="0"/>
              <a:t>on</a:t>
            </a:r>
            <a:r>
              <a:rPr spc="-25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dirty="0"/>
              <a:t>PCI</a:t>
            </a:r>
            <a:r>
              <a:rPr spc="-40" dirty="0"/>
              <a:t> </a:t>
            </a:r>
            <a:r>
              <a:rPr dirty="0"/>
              <a:t>slot</a:t>
            </a:r>
            <a:r>
              <a:rPr spc="-20" dirty="0"/>
              <a:t> </a:t>
            </a:r>
            <a:r>
              <a:rPr dirty="0"/>
              <a:t>found</a:t>
            </a:r>
            <a:r>
              <a:rPr spc="-35" dirty="0"/>
              <a:t> </a:t>
            </a:r>
            <a:r>
              <a:rPr dirty="0"/>
              <a:t>on</a:t>
            </a:r>
            <a:r>
              <a:rPr spc="-20" dirty="0"/>
              <a:t> </a:t>
            </a:r>
            <a:r>
              <a:rPr dirty="0"/>
              <a:t>the</a:t>
            </a:r>
            <a:r>
              <a:rPr spc="-35" dirty="0"/>
              <a:t> </a:t>
            </a:r>
            <a:r>
              <a:rPr spc="-10" dirty="0"/>
              <a:t>motherboard.</a:t>
            </a:r>
          </a:p>
          <a:p>
            <a:pPr marL="241300" marR="7620" indent="-229235">
              <a:lnSpc>
                <a:spcPts val="2500"/>
              </a:lnSpc>
              <a:spcBef>
                <a:spcPts val="100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It</a:t>
            </a:r>
            <a:r>
              <a:rPr spc="229" dirty="0"/>
              <a:t> </a:t>
            </a:r>
            <a:r>
              <a:rPr dirty="0"/>
              <a:t>stands</a:t>
            </a:r>
            <a:r>
              <a:rPr spc="240" dirty="0"/>
              <a:t> </a:t>
            </a:r>
            <a:r>
              <a:rPr dirty="0"/>
              <a:t>for</a:t>
            </a:r>
            <a:r>
              <a:rPr spc="240" dirty="0"/>
              <a:t> </a:t>
            </a:r>
            <a:r>
              <a:rPr b="1" spc="-10" dirty="0">
                <a:latin typeface="Calibri"/>
                <a:cs typeface="Calibri"/>
              </a:rPr>
              <a:t>Mod</a:t>
            </a:r>
            <a:r>
              <a:rPr spc="-10" dirty="0"/>
              <a:t>ulator/</a:t>
            </a:r>
            <a:r>
              <a:rPr b="1" spc="-10" dirty="0">
                <a:latin typeface="Calibri"/>
                <a:cs typeface="Calibri"/>
              </a:rPr>
              <a:t>Dem</a:t>
            </a:r>
            <a:r>
              <a:rPr spc="-10" dirty="0"/>
              <a:t>odulator.</a:t>
            </a:r>
            <a:r>
              <a:rPr spc="245" dirty="0"/>
              <a:t> </a:t>
            </a:r>
            <a:r>
              <a:rPr dirty="0"/>
              <a:t>It</a:t>
            </a:r>
            <a:r>
              <a:rPr spc="240" dirty="0"/>
              <a:t> </a:t>
            </a:r>
            <a:r>
              <a:rPr dirty="0"/>
              <a:t>converts</a:t>
            </a:r>
            <a:r>
              <a:rPr spc="254" dirty="0"/>
              <a:t> </a:t>
            </a:r>
            <a:r>
              <a:rPr dirty="0"/>
              <a:t>the</a:t>
            </a:r>
            <a:r>
              <a:rPr spc="235" dirty="0"/>
              <a:t> </a:t>
            </a:r>
            <a:r>
              <a:rPr dirty="0"/>
              <a:t>digital</a:t>
            </a:r>
            <a:r>
              <a:rPr spc="245" dirty="0"/>
              <a:t> </a:t>
            </a:r>
            <a:r>
              <a:rPr dirty="0"/>
              <a:t>data</a:t>
            </a:r>
            <a:r>
              <a:rPr spc="235" dirty="0"/>
              <a:t> </a:t>
            </a:r>
            <a:r>
              <a:rPr dirty="0"/>
              <a:t>into</a:t>
            </a:r>
            <a:r>
              <a:rPr spc="240" dirty="0"/>
              <a:t> </a:t>
            </a:r>
            <a:r>
              <a:rPr spc="-25" dirty="0"/>
              <a:t>an </a:t>
            </a:r>
            <a:r>
              <a:rPr dirty="0"/>
              <a:t>analog</a:t>
            </a:r>
            <a:r>
              <a:rPr spc="-45" dirty="0"/>
              <a:t> </a:t>
            </a:r>
            <a:r>
              <a:rPr dirty="0"/>
              <a:t>signal</a:t>
            </a:r>
            <a:r>
              <a:rPr spc="-40" dirty="0"/>
              <a:t> </a:t>
            </a:r>
            <a:r>
              <a:rPr dirty="0"/>
              <a:t>over</a:t>
            </a:r>
            <a:r>
              <a:rPr spc="-40" dirty="0"/>
              <a:t> </a:t>
            </a:r>
            <a:r>
              <a:rPr dirty="0"/>
              <a:t>the</a:t>
            </a:r>
            <a:r>
              <a:rPr spc="-50" dirty="0"/>
              <a:t> </a:t>
            </a:r>
            <a:r>
              <a:rPr dirty="0"/>
              <a:t>telephone</a:t>
            </a:r>
            <a:r>
              <a:rPr spc="-80" dirty="0"/>
              <a:t> </a:t>
            </a:r>
            <a:r>
              <a:rPr spc="-10" dirty="0"/>
              <a:t>lines.</a:t>
            </a:r>
          </a:p>
          <a:p>
            <a:pPr marL="241300" marR="5715" indent="-229235">
              <a:lnSpc>
                <a:spcPts val="2500"/>
              </a:lnSpc>
              <a:spcBef>
                <a:spcPts val="990"/>
              </a:spcBef>
              <a:buFont typeface="Arial"/>
              <a:buChar char="•"/>
              <a:tabLst>
                <a:tab pos="241300" algn="l"/>
              </a:tabLst>
            </a:pPr>
            <a:r>
              <a:rPr dirty="0"/>
              <a:t>Based</a:t>
            </a:r>
            <a:r>
              <a:rPr spc="100" dirty="0"/>
              <a:t> </a:t>
            </a:r>
            <a:r>
              <a:rPr dirty="0"/>
              <a:t>on</a:t>
            </a:r>
            <a:r>
              <a:rPr spc="90" dirty="0"/>
              <a:t> </a:t>
            </a:r>
            <a:r>
              <a:rPr dirty="0"/>
              <a:t>the</a:t>
            </a:r>
            <a:r>
              <a:rPr spc="95" dirty="0"/>
              <a:t> </a:t>
            </a:r>
            <a:r>
              <a:rPr dirty="0"/>
              <a:t>differences</a:t>
            </a:r>
            <a:r>
              <a:rPr spc="110" dirty="0"/>
              <a:t> </a:t>
            </a:r>
            <a:r>
              <a:rPr dirty="0"/>
              <a:t>in</a:t>
            </a:r>
            <a:r>
              <a:rPr spc="95" dirty="0"/>
              <a:t> </a:t>
            </a:r>
            <a:r>
              <a:rPr dirty="0"/>
              <a:t>speed</a:t>
            </a:r>
            <a:r>
              <a:rPr spc="110" dirty="0"/>
              <a:t> </a:t>
            </a:r>
            <a:r>
              <a:rPr dirty="0"/>
              <a:t>and</a:t>
            </a:r>
            <a:r>
              <a:rPr spc="105" dirty="0"/>
              <a:t> </a:t>
            </a:r>
            <a:r>
              <a:rPr dirty="0"/>
              <a:t>transmission</a:t>
            </a:r>
            <a:r>
              <a:rPr spc="100" dirty="0"/>
              <a:t> </a:t>
            </a:r>
            <a:r>
              <a:rPr dirty="0"/>
              <a:t>rate,</a:t>
            </a:r>
            <a:r>
              <a:rPr spc="100" dirty="0"/>
              <a:t> </a:t>
            </a:r>
            <a:r>
              <a:rPr dirty="0"/>
              <a:t>a</a:t>
            </a:r>
            <a:r>
              <a:rPr spc="110" dirty="0"/>
              <a:t> </a:t>
            </a:r>
            <a:r>
              <a:rPr dirty="0"/>
              <a:t>modem</a:t>
            </a:r>
            <a:r>
              <a:rPr spc="100" dirty="0"/>
              <a:t> </a:t>
            </a:r>
            <a:r>
              <a:rPr dirty="0"/>
              <a:t>can</a:t>
            </a:r>
            <a:r>
              <a:rPr spc="95" dirty="0"/>
              <a:t> </a:t>
            </a:r>
            <a:r>
              <a:rPr spc="-25" dirty="0"/>
              <a:t>be </a:t>
            </a:r>
            <a:r>
              <a:rPr dirty="0"/>
              <a:t>classified</a:t>
            </a:r>
            <a:r>
              <a:rPr spc="-7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the</a:t>
            </a:r>
            <a:r>
              <a:rPr spc="-70" dirty="0"/>
              <a:t> </a:t>
            </a:r>
            <a:r>
              <a:rPr dirty="0"/>
              <a:t>following</a:t>
            </a:r>
            <a:r>
              <a:rPr spc="-30" dirty="0"/>
              <a:t> </a:t>
            </a:r>
            <a:r>
              <a:rPr spc="-10" dirty="0"/>
              <a:t>categories:</a:t>
            </a:r>
          </a:p>
          <a:p>
            <a:pPr marL="698500" lvl="1" indent="-228600">
              <a:lnSpc>
                <a:spcPts val="2620"/>
              </a:lnSpc>
              <a:spcBef>
                <a:spcPts val="10"/>
              </a:spcBef>
              <a:buFont typeface="Arial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Standard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PC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modem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or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Dial-</a:t>
            </a:r>
            <a:r>
              <a:rPr sz="2200" dirty="0">
                <a:latin typeface="Calibri"/>
                <a:cs typeface="Calibri"/>
              </a:rPr>
              <a:t>up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modem</a:t>
            </a:r>
            <a:endParaRPr sz="2200">
              <a:latin typeface="Calibri"/>
              <a:cs typeface="Calibri"/>
            </a:endParaRPr>
          </a:p>
          <a:p>
            <a:pPr marL="698500" lvl="1" indent="-228600">
              <a:lnSpc>
                <a:spcPts val="2610"/>
              </a:lnSpc>
              <a:buFont typeface="Arial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Cellular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Modem</a:t>
            </a:r>
            <a:endParaRPr sz="2200">
              <a:latin typeface="Calibri"/>
              <a:cs typeface="Calibri"/>
            </a:endParaRPr>
          </a:p>
          <a:p>
            <a:pPr marL="698500" lvl="1" indent="-228600">
              <a:lnSpc>
                <a:spcPts val="2630"/>
              </a:lnSpc>
              <a:buFont typeface="Arial"/>
              <a:buChar char="•"/>
              <a:tabLst>
                <a:tab pos="698500" algn="l"/>
              </a:tabLst>
            </a:pPr>
            <a:r>
              <a:rPr sz="2200" dirty="0">
                <a:latin typeface="Calibri"/>
                <a:cs typeface="Calibri"/>
              </a:rPr>
              <a:t>Cable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modem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Cables</a:t>
            </a:r>
            <a:r>
              <a:rPr spc="-10" dirty="0"/>
              <a:t> </a:t>
            </a:r>
            <a:r>
              <a:rPr dirty="0"/>
              <a:t>and </a:t>
            </a:r>
            <a:r>
              <a:rPr spc="-10" dirty="0"/>
              <a:t>Connectors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07918"/>
            <a:ext cx="8859520" cy="2231390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70"/>
              </a:spcBef>
              <a:buFont typeface="Arial"/>
              <a:buChar char="•"/>
              <a:tabLst>
                <a:tab pos="240665" algn="l"/>
              </a:tabLst>
            </a:pPr>
            <a:r>
              <a:rPr sz="2800" dirty="0">
                <a:latin typeface="Calibri"/>
                <a:cs typeface="Calibri"/>
              </a:rPr>
              <a:t>Cable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transmission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media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for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transmitting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signal.</a:t>
            </a:r>
            <a:endParaRPr sz="28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70"/>
              </a:spcBef>
              <a:buFont typeface="Arial"/>
              <a:buChar char="•"/>
              <a:tabLst>
                <a:tab pos="240029" algn="l"/>
              </a:tabLst>
            </a:pPr>
            <a:r>
              <a:rPr sz="2800" dirty="0">
                <a:latin typeface="Calibri"/>
                <a:cs typeface="Calibri"/>
              </a:rPr>
              <a:t>There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three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types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cables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transmission:</a:t>
            </a:r>
            <a:endParaRPr sz="28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35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20" dirty="0">
                <a:latin typeface="Calibri"/>
                <a:cs typeface="Calibri"/>
              </a:rPr>
              <a:t>Twisted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pair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cable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dirty="0">
                <a:latin typeface="Calibri"/>
                <a:cs typeface="Calibri"/>
              </a:rPr>
              <a:t>Coaxial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cable</a:t>
            </a:r>
            <a:endParaRPr sz="2400">
              <a:latin typeface="Calibri"/>
              <a:cs typeface="Calibri"/>
            </a:endParaRPr>
          </a:p>
          <a:p>
            <a:pPr marL="697230" lvl="1" indent="-227329">
              <a:lnSpc>
                <a:spcPct val="100000"/>
              </a:lnSpc>
              <a:spcBef>
                <a:spcPts val="215"/>
              </a:spcBef>
              <a:buFont typeface="Arial"/>
              <a:buChar char="•"/>
              <a:tabLst>
                <a:tab pos="697230" algn="l"/>
              </a:tabLst>
            </a:pPr>
            <a:r>
              <a:rPr sz="2400" spc="-10" dirty="0">
                <a:latin typeface="Calibri"/>
                <a:cs typeface="Calibri"/>
              </a:rPr>
              <a:t>Fibre-</a:t>
            </a:r>
            <a:r>
              <a:rPr sz="2400" dirty="0">
                <a:latin typeface="Calibri"/>
                <a:cs typeface="Calibri"/>
              </a:rPr>
              <a:t>optic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cable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989</Words>
  <Application>Microsoft Office PowerPoint</Application>
  <PresentationFormat>Widescreen</PresentationFormat>
  <Paragraphs>163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2" baseType="lpstr">
      <vt:lpstr>Arial</vt:lpstr>
      <vt:lpstr>Calibri</vt:lpstr>
      <vt:lpstr>Calibri Light</vt:lpstr>
      <vt:lpstr>Courier New</vt:lpstr>
      <vt:lpstr>Office Theme</vt:lpstr>
      <vt:lpstr>Computer Networks [Data Comm. And Basic Concepts]</vt:lpstr>
      <vt:lpstr>Data Communications</vt:lpstr>
      <vt:lpstr>Data Communications</vt:lpstr>
      <vt:lpstr>Data Communication effectiveness Depends on</vt:lpstr>
      <vt:lpstr>PowerPoint Presentation</vt:lpstr>
      <vt:lpstr>Components of Data Communication System</vt:lpstr>
      <vt:lpstr>Components of Data Communication System</vt:lpstr>
      <vt:lpstr>Type of Connection</vt:lpstr>
      <vt:lpstr>Point-to-Point</vt:lpstr>
      <vt:lpstr>Multipoint</vt:lpstr>
      <vt:lpstr>Computer Network Architecture</vt:lpstr>
      <vt:lpstr>Peer to Peer</vt:lpstr>
      <vt:lpstr>Peer to Peer Network</vt:lpstr>
      <vt:lpstr>Peer to Peer Network</vt:lpstr>
      <vt:lpstr>Peer to Peer Network</vt:lpstr>
      <vt:lpstr>Client/Server Network</vt:lpstr>
      <vt:lpstr>Client/Server Network</vt:lpstr>
      <vt:lpstr>Client/Server Network</vt:lpstr>
      <vt:lpstr>Computer Network Components</vt:lpstr>
      <vt:lpstr>NIC</vt:lpstr>
      <vt:lpstr>Types of NIC</vt:lpstr>
      <vt:lpstr>Hub</vt:lpstr>
      <vt:lpstr>Switch</vt:lpstr>
      <vt:lpstr>Router</vt:lpstr>
      <vt:lpstr>Advantages of Router</vt:lpstr>
      <vt:lpstr>Modem</vt:lpstr>
      <vt:lpstr>Cables and Connectors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Hammad Waseem</dc:creator>
  <cp:lastModifiedBy>Windows User</cp:lastModifiedBy>
  <cp:revision>1</cp:revision>
  <dcterms:created xsi:type="dcterms:W3CDTF">2025-06-30T07:06:48Z</dcterms:created>
  <dcterms:modified xsi:type="dcterms:W3CDTF">2025-06-30T07:14:07Z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2024-12-10T00:00:00Z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2025-06-30T00:00:00Z</vt:filetime>
  </property>
  <property fmtid="{D5CDD505-2E9C-101B-9397-08002B2CF9AE}" pid="5" name="Producer">
    <vt:lpwstr>3-Heights(TM) PDF Security Shell 4.8.25.2 (http://www.pdf-tools.com)</vt:lpwstr>
  </property>
</Properties>
</file>