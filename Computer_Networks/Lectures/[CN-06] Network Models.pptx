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5155"/>
            <a:ext cx="924369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96794" y="1656079"/>
            <a:ext cx="6598411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6840"/>
              </a:lnSpc>
              <a:spcBef>
                <a:spcPts val="100"/>
              </a:spcBef>
            </a:pPr>
            <a:r>
              <a:rPr spc="-254" dirty="0"/>
              <a:t>Computer</a:t>
            </a:r>
            <a:r>
              <a:rPr spc="-650" dirty="0"/>
              <a:t> </a:t>
            </a:r>
            <a:r>
              <a:rPr spc="-165" dirty="0"/>
              <a:t>Networks</a:t>
            </a:r>
          </a:p>
          <a:p>
            <a:pPr marL="1905" algn="ctr">
              <a:lnSpc>
                <a:spcPts val="6840"/>
              </a:lnSpc>
            </a:pPr>
            <a:r>
              <a:rPr b="0" spc="-300" dirty="0">
                <a:latin typeface="Trebuchet MS"/>
                <a:cs typeface="Trebuchet MS"/>
              </a:rPr>
              <a:t>[</a:t>
            </a:r>
            <a:r>
              <a:rPr sz="5300" b="0" i="1" spc="-300" dirty="0">
                <a:latin typeface="Trebuchet MS"/>
                <a:cs typeface="Trebuchet MS"/>
              </a:rPr>
              <a:t>Network</a:t>
            </a:r>
            <a:r>
              <a:rPr sz="5300" b="0" i="1" spc="-560" dirty="0">
                <a:latin typeface="Trebuchet MS"/>
                <a:cs typeface="Trebuchet MS"/>
              </a:rPr>
              <a:t> </a:t>
            </a:r>
            <a:r>
              <a:rPr sz="5300" b="0" i="1" spc="-10" dirty="0">
                <a:latin typeface="Trebuchet MS"/>
                <a:cs typeface="Trebuchet MS"/>
              </a:rPr>
              <a:t>Models</a:t>
            </a:r>
            <a:r>
              <a:rPr b="0" spc="-10" dirty="0">
                <a:latin typeface="Trebuchet MS"/>
                <a:cs typeface="Trebuchet MS"/>
              </a:rPr>
              <a:t>]</a:t>
            </a:r>
            <a:endParaRPr sz="5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Computer</a:t>
            </a:r>
            <a:r>
              <a:rPr spc="-425" dirty="0"/>
              <a:t> </a:t>
            </a:r>
            <a:r>
              <a:rPr spc="-215" dirty="0"/>
              <a:t>Network</a:t>
            </a:r>
            <a:r>
              <a:rPr spc="-425" dirty="0"/>
              <a:t> </a:t>
            </a:r>
            <a:r>
              <a:rPr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359390" cy="424751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0029" marR="6985" indent="-227965" algn="just">
              <a:lnSpc>
                <a:spcPts val="2690"/>
              </a:lnSpc>
              <a:spcBef>
                <a:spcPts val="7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communication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subsystem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complex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piece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of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Hardware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and 	</a:t>
            </a:r>
            <a:r>
              <a:rPr sz="2800" spc="-10" dirty="0">
                <a:latin typeface="Trebuchet MS"/>
                <a:cs typeface="Trebuchet MS"/>
              </a:rPr>
              <a:t>software.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 algn="just">
              <a:lnSpc>
                <a:spcPct val="8000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Early</a:t>
            </a:r>
            <a:r>
              <a:rPr sz="2800" spc="28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attempts</a:t>
            </a:r>
            <a:r>
              <a:rPr sz="2800" spc="29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for</a:t>
            </a:r>
            <a:r>
              <a:rPr sz="2800" spc="29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implementing</a:t>
            </a:r>
            <a:r>
              <a:rPr sz="2800" spc="29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29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software</a:t>
            </a:r>
            <a:r>
              <a:rPr sz="2800" spc="29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for</a:t>
            </a:r>
            <a:r>
              <a:rPr sz="2800" spc="295" dirty="0">
                <a:latin typeface="Trebuchet MS"/>
                <a:cs typeface="Trebuchet MS"/>
              </a:rPr>
              <a:t>  </a:t>
            </a:r>
            <a:r>
              <a:rPr sz="2800" spc="60" dirty="0">
                <a:latin typeface="Trebuchet MS"/>
                <a:cs typeface="Trebuchet MS"/>
              </a:rPr>
              <a:t>such 	</a:t>
            </a:r>
            <a:r>
              <a:rPr sz="2800" dirty="0">
                <a:latin typeface="Trebuchet MS"/>
                <a:cs typeface="Trebuchet MS"/>
              </a:rPr>
              <a:t>subsystems</a:t>
            </a:r>
            <a:r>
              <a:rPr sz="2800" spc="-1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were</a:t>
            </a:r>
            <a:r>
              <a:rPr sz="2800" spc="-1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based  on</a:t>
            </a:r>
            <a:r>
              <a:rPr sz="2800" spc="-1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1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single,</a:t>
            </a:r>
            <a:r>
              <a:rPr sz="2800" spc="-10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complex,</a:t>
            </a:r>
            <a:r>
              <a:rPr sz="2800" spc="-15" dirty="0">
                <a:latin typeface="Trebuchet MS"/>
                <a:cs typeface="Trebuchet MS"/>
              </a:rPr>
              <a:t>  </a:t>
            </a:r>
            <a:r>
              <a:rPr sz="2800" spc="-10" dirty="0">
                <a:latin typeface="Trebuchet MS"/>
                <a:cs typeface="Trebuchet MS"/>
              </a:rPr>
              <a:t>unstructured 	</a:t>
            </a:r>
            <a:r>
              <a:rPr sz="2800" spc="-65" dirty="0">
                <a:latin typeface="Trebuchet MS"/>
                <a:cs typeface="Trebuchet MS"/>
              </a:rPr>
              <a:t>program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with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many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interacting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components.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 algn="just">
              <a:lnSpc>
                <a:spcPts val="269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resultant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software</a:t>
            </a:r>
            <a:r>
              <a:rPr sz="2800" dirty="0">
                <a:latin typeface="Trebuchet MS"/>
                <a:cs typeface="Trebuchet MS"/>
              </a:rPr>
              <a:t> was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very</a:t>
            </a:r>
            <a:r>
              <a:rPr sz="2800" spc="2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difficult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test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1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modify.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385" dirty="0">
                <a:latin typeface="Trebuchet MS"/>
                <a:cs typeface="Trebuchet MS"/>
              </a:rPr>
              <a:t>To 	</a:t>
            </a:r>
            <a:r>
              <a:rPr sz="2800" dirty="0">
                <a:latin typeface="Trebuchet MS"/>
                <a:cs typeface="Trebuchet MS"/>
              </a:rPr>
              <a:t>overcome</a:t>
            </a:r>
            <a:r>
              <a:rPr sz="2800" spc="-5" dirty="0">
                <a:latin typeface="Trebuchet MS"/>
                <a:cs typeface="Trebuchet MS"/>
              </a:rPr>
              <a:t>  </a:t>
            </a:r>
            <a:r>
              <a:rPr sz="2800" spc="75" dirty="0">
                <a:latin typeface="Trebuchet MS"/>
                <a:cs typeface="Trebuchet MS"/>
              </a:rPr>
              <a:t>such</a:t>
            </a:r>
            <a:r>
              <a:rPr sz="2800" dirty="0">
                <a:latin typeface="Trebuchet MS"/>
                <a:cs typeface="Trebuchet MS"/>
              </a:rPr>
              <a:t>  problem,  the  </a:t>
            </a:r>
            <a:r>
              <a:rPr sz="2800" spc="100" dirty="0">
                <a:latin typeface="Trebuchet MS"/>
                <a:cs typeface="Trebuchet MS"/>
              </a:rPr>
              <a:t>ISO</a:t>
            </a:r>
            <a:r>
              <a:rPr sz="2800" dirty="0">
                <a:latin typeface="Trebuchet MS"/>
                <a:cs typeface="Trebuchet MS"/>
              </a:rPr>
              <a:t>  </a:t>
            </a:r>
            <a:r>
              <a:rPr sz="2800" spc="80" dirty="0">
                <a:latin typeface="Trebuchet MS"/>
                <a:cs typeface="Trebuchet MS"/>
              </a:rPr>
              <a:t>has</a:t>
            </a:r>
            <a:r>
              <a:rPr sz="2800" spc="-5" dirty="0">
                <a:latin typeface="Trebuchet MS"/>
                <a:cs typeface="Trebuchet MS"/>
              </a:rPr>
              <a:t>  </a:t>
            </a:r>
            <a:r>
              <a:rPr sz="2800" dirty="0">
                <a:latin typeface="Trebuchet MS"/>
                <a:cs typeface="Trebuchet MS"/>
              </a:rPr>
              <a:t>developed  a  </a:t>
            </a:r>
            <a:r>
              <a:rPr sz="2800" spc="-10" dirty="0">
                <a:latin typeface="Trebuchet MS"/>
                <a:cs typeface="Trebuchet MS"/>
              </a:rPr>
              <a:t>layered 	approach.</a:t>
            </a:r>
            <a:endParaRPr sz="2800">
              <a:latin typeface="Trebuchet MS"/>
              <a:cs typeface="Trebuchet MS"/>
            </a:endParaRPr>
          </a:p>
          <a:p>
            <a:pPr marL="240029" marR="7620" indent="-227965" algn="just">
              <a:lnSpc>
                <a:spcPts val="269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layered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approach,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networking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concept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divided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into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several 	</a:t>
            </a:r>
            <a:r>
              <a:rPr sz="2800" spc="-80" dirty="0">
                <a:latin typeface="Trebuchet MS"/>
                <a:cs typeface="Trebuchet MS"/>
              </a:rPr>
              <a:t>layers,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each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layer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assigned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particular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task.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Therefore,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we 	</a:t>
            </a:r>
            <a:r>
              <a:rPr sz="2800" dirty="0">
                <a:latin typeface="Trebuchet MS"/>
                <a:cs typeface="Trebuchet MS"/>
              </a:rPr>
              <a:t>can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say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that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networking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tasks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depend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upon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layers.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Layered</a:t>
            </a:r>
            <a:r>
              <a:rPr spc="-425" dirty="0"/>
              <a:t> </a:t>
            </a:r>
            <a:r>
              <a:rPr spc="-27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6250"/>
            <a:ext cx="10358120" cy="1926589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0029" marR="5080" indent="-227965">
              <a:lnSpc>
                <a:spcPct val="7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main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aim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layered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architecture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divide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design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into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small 	pieces.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ts val="2450"/>
              </a:lnSpc>
              <a:spcBef>
                <a:spcPts val="13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rebuchet MS"/>
                <a:cs typeface="Trebuchet MS"/>
              </a:rPr>
              <a:t>Each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lower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layer </a:t>
            </a:r>
            <a:r>
              <a:rPr sz="2400" dirty="0">
                <a:latin typeface="Trebuchet MS"/>
                <a:cs typeface="Trebuchet MS"/>
              </a:rPr>
              <a:t>adds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its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services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the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higher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layer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provide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full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of</a:t>
            </a:r>
            <a:endParaRPr sz="2400">
              <a:latin typeface="Trebuchet MS"/>
              <a:cs typeface="Trebuchet MS"/>
            </a:endParaRPr>
          </a:p>
          <a:p>
            <a:pPr marL="241300">
              <a:lnSpc>
                <a:spcPts val="2450"/>
              </a:lnSpc>
            </a:pPr>
            <a:r>
              <a:rPr sz="2400" spc="-10" dirty="0">
                <a:latin typeface="Trebuchet MS"/>
                <a:cs typeface="Trebuchet MS"/>
              </a:rPr>
              <a:t>services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manage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communications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run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applications.</a:t>
            </a:r>
            <a:endParaRPr sz="2400">
              <a:latin typeface="Trebuchet MS"/>
              <a:cs typeface="Trebuchet MS"/>
            </a:endParaRPr>
          </a:p>
          <a:p>
            <a:pPr marL="240029" marR="6350" indent="-227965">
              <a:lnSpc>
                <a:spcPct val="7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25" dirty="0">
                <a:latin typeface="Trebuchet MS"/>
                <a:cs typeface="Trebuchet MS"/>
              </a:rPr>
              <a:t>It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provides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modularity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clear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interfaces,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i.e.,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provides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interaction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between 	subsystems.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663822"/>
            <a:ext cx="10356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Trebuchet MS"/>
                <a:cs typeface="Trebuchet MS"/>
              </a:rPr>
              <a:t>It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ensures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the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independence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between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layers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by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providing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services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from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844" y="3919550"/>
            <a:ext cx="101282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rebuchet MS"/>
                <a:cs typeface="Trebuchet MS"/>
              </a:rPr>
              <a:t>lower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higher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layer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without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defining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how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services</a:t>
            </a:r>
            <a:r>
              <a:rPr sz="2400" spc="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implemented.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4176141"/>
            <a:ext cx="10359390" cy="77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latin typeface="Trebuchet MS"/>
                <a:cs typeface="Trebuchet MS"/>
              </a:rPr>
              <a:t>Therefore,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any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modification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in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layer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will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not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affect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other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layers.</a:t>
            </a:r>
            <a:endParaRPr sz="24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-100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number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layers,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functions,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contents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each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layer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will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vary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from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network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5844" y="4814696"/>
            <a:ext cx="10127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network.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However,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the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purpose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of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each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layer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provide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service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from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5844" y="5070728"/>
            <a:ext cx="10128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lower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higher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layer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hiding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details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from</a:t>
            </a:r>
            <a:r>
              <a:rPr sz="2400" spc="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layers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how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the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5844" y="5326786"/>
            <a:ext cx="3510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services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implemented.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Basic</a:t>
            </a:r>
            <a:r>
              <a:rPr spc="-459" dirty="0"/>
              <a:t> </a:t>
            </a:r>
            <a:r>
              <a:rPr spc="-160" dirty="0"/>
              <a:t>Elements</a:t>
            </a:r>
            <a:r>
              <a:rPr spc="-445" dirty="0"/>
              <a:t> </a:t>
            </a:r>
            <a:r>
              <a:rPr spc="-265" dirty="0"/>
              <a:t>of</a:t>
            </a:r>
            <a:r>
              <a:rPr spc="-440" dirty="0"/>
              <a:t> </a:t>
            </a:r>
            <a:r>
              <a:rPr spc="-240" dirty="0"/>
              <a:t>Layered</a:t>
            </a:r>
            <a:r>
              <a:rPr spc="-440" dirty="0"/>
              <a:t> </a:t>
            </a:r>
            <a:r>
              <a:rPr spc="-27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5139" y="1843697"/>
            <a:ext cx="3216910" cy="675640"/>
            <a:chOff x="835139" y="1843697"/>
            <a:chExt cx="3216910" cy="675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1489" y="1850047"/>
              <a:ext cx="3203955" cy="6623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41489" y="1850047"/>
              <a:ext cx="3204210" cy="662940"/>
            </a:xfrm>
            <a:custGeom>
              <a:avLst/>
              <a:gdLst/>
              <a:ahLst/>
              <a:cxnLst/>
              <a:rect l="l" t="t" r="r" b="b"/>
              <a:pathLst>
                <a:path w="3204210" h="662939">
                  <a:moveTo>
                    <a:pt x="0" y="662393"/>
                  </a:moveTo>
                  <a:lnTo>
                    <a:pt x="3203955" y="662393"/>
                  </a:lnTo>
                  <a:lnTo>
                    <a:pt x="3203955" y="0"/>
                  </a:lnTo>
                  <a:lnTo>
                    <a:pt x="0" y="0"/>
                  </a:lnTo>
                  <a:lnTo>
                    <a:pt x="0" y="66239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47839" y="1955673"/>
            <a:ext cx="319151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53465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Trebuchet MS"/>
                <a:cs typeface="Trebuchet MS"/>
              </a:rPr>
              <a:t>Service: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41489" y="2512479"/>
            <a:ext cx="3204210" cy="3640454"/>
          </a:xfrm>
          <a:custGeom>
            <a:avLst/>
            <a:gdLst/>
            <a:ahLst/>
            <a:cxnLst/>
            <a:rect l="l" t="t" r="r" b="b"/>
            <a:pathLst>
              <a:path w="3204210" h="3640454">
                <a:moveTo>
                  <a:pt x="0" y="3640074"/>
                </a:moveTo>
                <a:lnTo>
                  <a:pt x="3203955" y="3640074"/>
                </a:lnTo>
                <a:lnTo>
                  <a:pt x="3203955" y="0"/>
                </a:lnTo>
                <a:lnTo>
                  <a:pt x="0" y="0"/>
                </a:lnTo>
                <a:lnTo>
                  <a:pt x="0" y="3640074"/>
                </a:lnTo>
                <a:close/>
              </a:path>
            </a:pathLst>
          </a:custGeom>
          <a:ln w="12700">
            <a:solidFill>
              <a:srgbClr val="F7D4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5139" y="2506129"/>
            <a:ext cx="3216910" cy="3653154"/>
          </a:xfrm>
          <a:prstGeom prst="rect">
            <a:avLst/>
          </a:prstGeom>
          <a:solidFill>
            <a:srgbClr val="F7D4CD">
              <a:alpha val="90194"/>
            </a:srgbClr>
          </a:solidFill>
        </p:spPr>
        <p:txBody>
          <a:bodyPr vert="horz" wrap="square" lIns="0" tIns="107314" rIns="0" bIns="0" rtlCol="0">
            <a:spAutoFit/>
          </a:bodyPr>
          <a:lstStyle/>
          <a:p>
            <a:pPr marL="355600" marR="323850" indent="-226695">
              <a:lnSpc>
                <a:spcPct val="91600"/>
              </a:lnSpc>
              <a:spcBef>
                <a:spcPts val="844"/>
              </a:spcBef>
              <a:buChar char="•"/>
              <a:tabLst>
                <a:tab pos="357505" algn="l"/>
              </a:tabLst>
            </a:pPr>
            <a:r>
              <a:rPr sz="2300" spc="-120" dirty="0">
                <a:latin typeface="Trebuchet MS"/>
                <a:cs typeface="Trebuchet MS"/>
              </a:rPr>
              <a:t>It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set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of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actions 	</a:t>
            </a:r>
            <a:r>
              <a:rPr sz="2300" spc="-105" dirty="0">
                <a:latin typeface="Trebuchet MS"/>
                <a:cs typeface="Trebuchet MS"/>
              </a:rPr>
              <a:t>that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215" dirty="0">
                <a:latin typeface="Trebuchet MS"/>
                <a:cs typeface="Trebuchet MS"/>
              </a:rPr>
              <a:t> </a:t>
            </a:r>
            <a:r>
              <a:rPr sz="2300" spc="-85" dirty="0">
                <a:latin typeface="Trebuchet MS"/>
                <a:cs typeface="Trebuchet MS"/>
              </a:rPr>
              <a:t>layer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provides 	</a:t>
            </a:r>
            <a:r>
              <a:rPr sz="2300" spc="-90" dirty="0">
                <a:latin typeface="Trebuchet MS"/>
                <a:cs typeface="Trebuchet MS"/>
              </a:rPr>
              <a:t>to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220" dirty="0">
                <a:latin typeface="Trebuchet MS"/>
                <a:cs typeface="Trebuchet MS"/>
              </a:rPr>
              <a:t> </a:t>
            </a:r>
            <a:r>
              <a:rPr sz="2300" spc="-60" dirty="0">
                <a:latin typeface="Trebuchet MS"/>
                <a:cs typeface="Trebuchet MS"/>
              </a:rPr>
              <a:t>higher</a:t>
            </a:r>
            <a:r>
              <a:rPr sz="2300" spc="-22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layer.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87671" y="1843697"/>
            <a:ext cx="3216910" cy="675640"/>
            <a:chOff x="4487671" y="1843697"/>
            <a:chExt cx="3216910" cy="67564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4021" y="1850047"/>
              <a:ext cx="3203955" cy="66239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94021" y="1850047"/>
              <a:ext cx="3204210" cy="662940"/>
            </a:xfrm>
            <a:custGeom>
              <a:avLst/>
              <a:gdLst/>
              <a:ahLst/>
              <a:cxnLst/>
              <a:rect l="l" t="t" r="r" b="b"/>
              <a:pathLst>
                <a:path w="3204209" h="662939">
                  <a:moveTo>
                    <a:pt x="0" y="662393"/>
                  </a:moveTo>
                  <a:lnTo>
                    <a:pt x="3203955" y="662393"/>
                  </a:lnTo>
                  <a:lnTo>
                    <a:pt x="3203955" y="0"/>
                  </a:lnTo>
                  <a:lnTo>
                    <a:pt x="0" y="0"/>
                  </a:lnTo>
                  <a:lnTo>
                    <a:pt x="0" y="662393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500371" y="1955673"/>
            <a:ext cx="319151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8679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Trebuchet MS"/>
                <a:cs typeface="Trebuchet MS"/>
              </a:rPr>
              <a:t>Protocol: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94021" y="2512479"/>
            <a:ext cx="3204210" cy="3640454"/>
          </a:xfrm>
          <a:custGeom>
            <a:avLst/>
            <a:gdLst/>
            <a:ahLst/>
            <a:cxnLst/>
            <a:rect l="l" t="t" r="r" b="b"/>
            <a:pathLst>
              <a:path w="3204209" h="3640454">
                <a:moveTo>
                  <a:pt x="0" y="3640074"/>
                </a:moveTo>
                <a:lnTo>
                  <a:pt x="3203955" y="3640074"/>
                </a:lnTo>
                <a:lnTo>
                  <a:pt x="3203955" y="0"/>
                </a:lnTo>
                <a:lnTo>
                  <a:pt x="0" y="0"/>
                </a:lnTo>
                <a:lnTo>
                  <a:pt x="0" y="3640074"/>
                </a:lnTo>
                <a:close/>
              </a:path>
            </a:pathLst>
          </a:custGeom>
          <a:ln w="12700">
            <a:solidFill>
              <a:srgbClr val="CCD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87671" y="2506129"/>
            <a:ext cx="3216910" cy="3653154"/>
          </a:xfrm>
          <a:prstGeom prst="rect">
            <a:avLst/>
          </a:prstGeom>
          <a:solidFill>
            <a:srgbClr val="CCD3CC">
              <a:alpha val="90194"/>
            </a:srgbClr>
          </a:solidFill>
        </p:spPr>
        <p:txBody>
          <a:bodyPr vert="horz" wrap="square" lIns="0" tIns="107950" rIns="0" bIns="0" rtlCol="0">
            <a:spAutoFit/>
          </a:bodyPr>
          <a:lstStyle/>
          <a:p>
            <a:pPr marL="356235" marR="164465" indent="-226695">
              <a:lnSpc>
                <a:spcPct val="91500"/>
              </a:lnSpc>
              <a:spcBef>
                <a:spcPts val="850"/>
              </a:spcBef>
              <a:buChar char="•"/>
              <a:tabLst>
                <a:tab pos="358140" algn="l"/>
              </a:tabLst>
            </a:pPr>
            <a:r>
              <a:rPr sz="2300" spc="-120" dirty="0">
                <a:latin typeface="Trebuchet MS"/>
                <a:cs typeface="Trebuchet MS"/>
              </a:rPr>
              <a:t>It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defines</a:t>
            </a:r>
            <a:r>
              <a:rPr sz="2300" spc="-229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set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of 	</a:t>
            </a:r>
            <a:r>
              <a:rPr sz="2300" spc="-10" dirty="0">
                <a:latin typeface="Trebuchet MS"/>
                <a:cs typeface="Trebuchet MS"/>
              </a:rPr>
              <a:t>rules</a:t>
            </a:r>
            <a:r>
              <a:rPr sz="2300" spc="-215" dirty="0">
                <a:latin typeface="Trebuchet MS"/>
                <a:cs typeface="Trebuchet MS"/>
              </a:rPr>
              <a:t> </a:t>
            </a:r>
            <a:r>
              <a:rPr sz="2300" spc="-105" dirty="0">
                <a:latin typeface="Trebuchet MS"/>
                <a:cs typeface="Trebuchet MS"/>
              </a:rPr>
              <a:t>that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layer 	</a:t>
            </a:r>
            <a:r>
              <a:rPr sz="2300" spc="90" dirty="0">
                <a:latin typeface="Trebuchet MS"/>
                <a:cs typeface="Trebuchet MS"/>
              </a:rPr>
              <a:t>uses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90" dirty="0">
                <a:latin typeface="Trebuchet MS"/>
                <a:cs typeface="Trebuchet MS"/>
              </a:rPr>
              <a:t>to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40" dirty="0">
                <a:latin typeface="Trebuchet MS"/>
                <a:cs typeface="Trebuchet MS"/>
              </a:rPr>
              <a:t>exchange</a:t>
            </a:r>
            <a:r>
              <a:rPr sz="2300" spc="-229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the 	</a:t>
            </a:r>
            <a:r>
              <a:rPr sz="2300" spc="-65" dirty="0">
                <a:latin typeface="Trebuchet MS"/>
                <a:cs typeface="Trebuchet MS"/>
              </a:rPr>
              <a:t>information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-90" dirty="0">
                <a:latin typeface="Trebuchet MS"/>
                <a:cs typeface="Trebuchet MS"/>
              </a:rPr>
              <a:t>with</a:t>
            </a:r>
            <a:r>
              <a:rPr sz="2300" spc="-170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peer 	</a:t>
            </a:r>
            <a:r>
              <a:rPr sz="2300" spc="-10" dirty="0">
                <a:latin typeface="Trebuchet MS"/>
                <a:cs typeface="Trebuchet MS"/>
              </a:rPr>
              <a:t>entity.</a:t>
            </a:r>
            <a:endParaRPr sz="2300">
              <a:latin typeface="Trebuchet MS"/>
              <a:cs typeface="Trebuchet MS"/>
            </a:endParaRPr>
          </a:p>
          <a:p>
            <a:pPr marL="356870" marR="372745" indent="-227329">
              <a:lnSpc>
                <a:spcPct val="91500"/>
              </a:lnSpc>
              <a:spcBef>
                <a:spcPts val="425"/>
              </a:spcBef>
              <a:buChar char="•"/>
              <a:tabLst>
                <a:tab pos="358140" algn="l"/>
              </a:tabLst>
            </a:pPr>
            <a:r>
              <a:rPr sz="2300" spc="-35" dirty="0">
                <a:latin typeface="Trebuchet MS"/>
                <a:cs typeface="Trebuchet MS"/>
              </a:rPr>
              <a:t>These</a:t>
            </a:r>
            <a:r>
              <a:rPr sz="2300" spc="-22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rules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mainly 	concern</a:t>
            </a:r>
            <a:r>
              <a:rPr sz="2300" spc="-225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about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both 	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17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contents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and 	</a:t>
            </a:r>
            <a:r>
              <a:rPr sz="2300" spc="-75" dirty="0">
                <a:latin typeface="Trebuchet MS"/>
                <a:cs typeface="Trebuchet MS"/>
              </a:rPr>
              <a:t>order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of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the 	</a:t>
            </a:r>
            <a:r>
              <a:rPr sz="2300" spc="60" dirty="0">
                <a:latin typeface="Trebuchet MS"/>
                <a:cs typeface="Trebuchet MS"/>
              </a:rPr>
              <a:t>messages</a:t>
            </a:r>
            <a:r>
              <a:rPr sz="2300" spc="-229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used.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40192" y="1843697"/>
            <a:ext cx="3216910" cy="675640"/>
            <a:chOff x="8140192" y="1843697"/>
            <a:chExt cx="3216910" cy="67564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46542" y="1850047"/>
              <a:ext cx="3203955" cy="66239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146542" y="1850047"/>
              <a:ext cx="3204210" cy="662940"/>
            </a:xfrm>
            <a:custGeom>
              <a:avLst/>
              <a:gdLst/>
              <a:ahLst/>
              <a:cxnLst/>
              <a:rect l="l" t="t" r="r" b="b"/>
              <a:pathLst>
                <a:path w="3204209" h="662939">
                  <a:moveTo>
                    <a:pt x="0" y="662393"/>
                  </a:moveTo>
                  <a:lnTo>
                    <a:pt x="3203955" y="662393"/>
                  </a:lnTo>
                  <a:lnTo>
                    <a:pt x="3203955" y="0"/>
                  </a:lnTo>
                  <a:lnTo>
                    <a:pt x="0" y="0"/>
                  </a:lnTo>
                  <a:lnTo>
                    <a:pt x="0" y="662393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152892" y="1955673"/>
            <a:ext cx="319151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49325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Trebuchet MS"/>
                <a:cs typeface="Trebuchet MS"/>
              </a:rPr>
              <a:t>Interface: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146542" y="2512479"/>
            <a:ext cx="3204210" cy="3640454"/>
          </a:xfrm>
          <a:custGeom>
            <a:avLst/>
            <a:gdLst/>
            <a:ahLst/>
            <a:cxnLst/>
            <a:rect l="l" t="t" r="r" b="b"/>
            <a:pathLst>
              <a:path w="3204209" h="3640454">
                <a:moveTo>
                  <a:pt x="0" y="3640074"/>
                </a:moveTo>
                <a:lnTo>
                  <a:pt x="3203955" y="3640074"/>
                </a:lnTo>
                <a:lnTo>
                  <a:pt x="3203955" y="0"/>
                </a:lnTo>
                <a:lnTo>
                  <a:pt x="0" y="0"/>
                </a:lnTo>
                <a:lnTo>
                  <a:pt x="0" y="3640074"/>
                </a:lnTo>
                <a:close/>
              </a:path>
            </a:pathLst>
          </a:custGeom>
          <a:ln w="12700">
            <a:solidFill>
              <a:srgbClr val="CCDF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140192" y="2506129"/>
            <a:ext cx="3216910" cy="3653154"/>
          </a:xfrm>
          <a:prstGeom prst="rect">
            <a:avLst/>
          </a:prstGeom>
          <a:solidFill>
            <a:srgbClr val="CCDFEE">
              <a:alpha val="90194"/>
            </a:srgbClr>
          </a:solidFill>
        </p:spPr>
        <p:txBody>
          <a:bodyPr vert="horz" wrap="square" lIns="0" tIns="107950" rIns="0" bIns="0" rtlCol="0">
            <a:spAutoFit/>
          </a:bodyPr>
          <a:lstStyle/>
          <a:p>
            <a:pPr marL="356870" marR="345440" indent="-226695">
              <a:lnSpc>
                <a:spcPct val="91500"/>
              </a:lnSpc>
              <a:spcBef>
                <a:spcPts val="850"/>
              </a:spcBef>
              <a:buChar char="•"/>
              <a:tabLst>
                <a:tab pos="358775" algn="l"/>
              </a:tabLst>
            </a:pPr>
            <a:r>
              <a:rPr sz="2300" spc="-120" dirty="0">
                <a:latin typeface="Trebuchet MS"/>
                <a:cs typeface="Trebuchet MS"/>
              </a:rPr>
              <a:t>It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way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through 	</a:t>
            </a:r>
            <a:r>
              <a:rPr sz="2300" spc="-25" dirty="0">
                <a:latin typeface="Trebuchet MS"/>
                <a:cs typeface="Trebuchet MS"/>
              </a:rPr>
              <a:t>which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the</a:t>
            </a:r>
            <a:r>
              <a:rPr sz="2300" spc="-21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message 	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140" dirty="0">
                <a:latin typeface="Trebuchet MS"/>
                <a:cs typeface="Trebuchet MS"/>
              </a:rPr>
              <a:t> </a:t>
            </a:r>
            <a:r>
              <a:rPr sz="2300" spc="-80" dirty="0">
                <a:latin typeface="Trebuchet MS"/>
                <a:cs typeface="Trebuchet MS"/>
              </a:rPr>
              <a:t>transferred</a:t>
            </a:r>
            <a:r>
              <a:rPr sz="2300" spc="-15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from 	</a:t>
            </a:r>
            <a:r>
              <a:rPr sz="2300" dirty="0">
                <a:latin typeface="Trebuchet MS"/>
                <a:cs typeface="Trebuchet MS"/>
              </a:rPr>
              <a:t>one</a:t>
            </a:r>
            <a:r>
              <a:rPr sz="2300" spc="-229" dirty="0">
                <a:latin typeface="Trebuchet MS"/>
                <a:cs typeface="Trebuchet MS"/>
              </a:rPr>
              <a:t> </a:t>
            </a:r>
            <a:r>
              <a:rPr sz="2300" spc="-85" dirty="0">
                <a:latin typeface="Trebuchet MS"/>
                <a:cs typeface="Trebuchet MS"/>
              </a:rPr>
              <a:t>layer</a:t>
            </a:r>
            <a:r>
              <a:rPr sz="2300" spc="-215" dirty="0">
                <a:latin typeface="Trebuchet MS"/>
                <a:cs typeface="Trebuchet MS"/>
              </a:rPr>
              <a:t> </a:t>
            </a:r>
            <a:r>
              <a:rPr sz="2300" spc="-90" dirty="0">
                <a:latin typeface="Trebuchet MS"/>
                <a:cs typeface="Trebuchet MS"/>
              </a:rPr>
              <a:t>to</a:t>
            </a:r>
            <a:r>
              <a:rPr sz="2300" spc="-225" dirty="0">
                <a:latin typeface="Trebuchet MS"/>
                <a:cs typeface="Trebuchet MS"/>
              </a:rPr>
              <a:t> </a:t>
            </a:r>
            <a:r>
              <a:rPr sz="2300" spc="-40" dirty="0">
                <a:latin typeface="Trebuchet MS"/>
                <a:cs typeface="Trebuchet MS"/>
              </a:rPr>
              <a:t>another 	</a:t>
            </a:r>
            <a:r>
              <a:rPr sz="2300" spc="-10" dirty="0">
                <a:latin typeface="Trebuchet MS"/>
                <a:cs typeface="Trebuchet MS"/>
              </a:rPr>
              <a:t>layer.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Layered</a:t>
            </a:r>
            <a:r>
              <a:rPr spc="-425" dirty="0"/>
              <a:t> </a:t>
            </a:r>
            <a:r>
              <a:rPr spc="-27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5024755" cy="27565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Trebuchet MS"/>
                <a:cs typeface="Trebuchet MS"/>
              </a:rPr>
              <a:t>In</a:t>
            </a:r>
            <a:r>
              <a:rPr sz="2800" spc="-2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layer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15" dirty="0">
                <a:latin typeface="Trebuchet MS"/>
                <a:cs typeface="Trebuchet MS"/>
              </a:rPr>
              <a:t>n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architecture,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layer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15" dirty="0">
                <a:latin typeface="Trebuchet MS"/>
                <a:cs typeface="Trebuchet MS"/>
              </a:rPr>
              <a:t>n</a:t>
            </a:r>
            <a:r>
              <a:rPr sz="2800" spc="5" dirty="0">
                <a:latin typeface="Trebuchet MS"/>
                <a:cs typeface="Trebuchet MS"/>
              </a:rPr>
              <a:t> 	</a:t>
            </a:r>
            <a:r>
              <a:rPr sz="2800" spc="15" dirty="0">
                <a:latin typeface="Trebuchet MS"/>
                <a:cs typeface="Trebuchet MS"/>
              </a:rPr>
              <a:t>on</a:t>
            </a:r>
            <a:r>
              <a:rPr sz="2800" spc="7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one</a:t>
            </a:r>
            <a:r>
              <a:rPr sz="2800" spc="7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machine</a:t>
            </a:r>
            <a:r>
              <a:rPr sz="2800" spc="74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will</a:t>
            </a:r>
            <a:r>
              <a:rPr sz="2800" spc="73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have</a:t>
            </a:r>
            <a:r>
              <a:rPr sz="2800" spc="7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 	</a:t>
            </a:r>
            <a:r>
              <a:rPr sz="2800" spc="-20" dirty="0">
                <a:latin typeface="Trebuchet MS"/>
                <a:cs typeface="Trebuchet MS"/>
              </a:rPr>
              <a:t>communication</a:t>
            </a:r>
            <a:r>
              <a:rPr sz="2800" spc="33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with</a:t>
            </a:r>
            <a:r>
              <a:rPr sz="2800" spc="31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</a:t>
            </a:r>
            <a:r>
              <a:rPr sz="2800" spc="3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layer</a:t>
            </a:r>
            <a:r>
              <a:rPr sz="2800" spc="-75" dirty="0">
                <a:latin typeface="Trebuchet MS"/>
                <a:cs typeface="Trebuchet MS"/>
              </a:rPr>
              <a:t> 	</a:t>
            </a:r>
            <a:r>
              <a:rPr sz="2800" spc="15" dirty="0">
                <a:latin typeface="Trebuchet MS"/>
                <a:cs typeface="Trebuchet MS"/>
              </a:rPr>
              <a:t>n</a:t>
            </a:r>
            <a:r>
              <a:rPr sz="2800" spc="25" dirty="0">
                <a:latin typeface="Trebuchet MS"/>
                <a:cs typeface="Trebuchet MS"/>
              </a:rPr>
              <a:t> </a:t>
            </a:r>
            <a:r>
              <a:rPr sz="2800" spc="15" dirty="0">
                <a:latin typeface="Trebuchet MS"/>
                <a:cs typeface="Trebuchet MS"/>
              </a:rPr>
              <a:t>on</a:t>
            </a:r>
            <a:r>
              <a:rPr sz="2800" spc="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another</a:t>
            </a:r>
            <a:r>
              <a:rPr sz="2800" spc="35" dirty="0">
                <a:latin typeface="Trebuchet MS"/>
                <a:cs typeface="Trebuchet MS"/>
              </a:rPr>
              <a:t> </a:t>
            </a:r>
            <a:r>
              <a:rPr sz="2800" spc="-15" dirty="0">
                <a:latin typeface="Trebuchet MS"/>
                <a:cs typeface="Trebuchet MS"/>
              </a:rPr>
              <a:t>machine</a:t>
            </a:r>
            <a:r>
              <a:rPr sz="2800" spc="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3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the</a:t>
            </a:r>
            <a:r>
              <a:rPr sz="2800" spc="-20" dirty="0">
                <a:latin typeface="Trebuchet MS"/>
                <a:cs typeface="Trebuchet MS"/>
              </a:rPr>
              <a:t> 	</a:t>
            </a:r>
            <a:r>
              <a:rPr sz="2800" spc="-15" dirty="0">
                <a:latin typeface="Trebuchet MS"/>
                <a:cs typeface="Trebuchet MS"/>
              </a:rPr>
              <a:t>rules</a:t>
            </a:r>
            <a:r>
              <a:rPr sz="2800" spc="685" dirty="0">
                <a:latin typeface="Trebuchet MS"/>
                <a:cs typeface="Trebuchet MS"/>
              </a:rPr>
              <a:t> </a:t>
            </a:r>
            <a:r>
              <a:rPr sz="2800" spc="50" dirty="0">
                <a:latin typeface="Trebuchet MS"/>
                <a:cs typeface="Trebuchet MS"/>
              </a:rPr>
              <a:t>used</a:t>
            </a:r>
            <a:r>
              <a:rPr sz="2800" spc="69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in</a:t>
            </a:r>
            <a:r>
              <a:rPr sz="2800" spc="6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71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conversation</a:t>
            </a:r>
            <a:r>
              <a:rPr sz="2800" dirty="0">
                <a:latin typeface="Trebuchet MS"/>
                <a:cs typeface="Trebuchet MS"/>
              </a:rPr>
              <a:t> 	</a:t>
            </a:r>
            <a:r>
              <a:rPr sz="2800" spc="-85" dirty="0">
                <a:latin typeface="Trebuchet MS"/>
                <a:cs typeface="Trebuchet MS"/>
              </a:rPr>
              <a:t>are</a:t>
            </a:r>
            <a:r>
              <a:rPr sz="2800" spc="225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known</a:t>
            </a:r>
            <a:r>
              <a:rPr sz="2800" spc="2245" dirty="0">
                <a:latin typeface="Trebuchet MS"/>
                <a:cs typeface="Trebuchet MS"/>
              </a:rPr>
              <a:t> </a:t>
            </a:r>
            <a:r>
              <a:rPr sz="2800" spc="105" dirty="0">
                <a:latin typeface="Trebuchet MS"/>
                <a:cs typeface="Trebuchet MS"/>
              </a:rPr>
              <a:t>as</a:t>
            </a:r>
            <a:r>
              <a:rPr sz="2800" spc="22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2270" dirty="0">
                <a:latin typeface="Trebuchet MS"/>
                <a:cs typeface="Trebuchet MS"/>
              </a:rPr>
              <a:t> </a:t>
            </a:r>
            <a:r>
              <a:rPr sz="2800" b="1" spc="-80" dirty="0">
                <a:latin typeface="Trebuchet MS"/>
                <a:cs typeface="Trebuchet MS"/>
              </a:rPr>
              <a:t>layer-</a:t>
            </a:r>
            <a:r>
              <a:rPr sz="2800" b="1" spc="-35" dirty="0">
                <a:latin typeface="Trebuchet MS"/>
                <a:cs typeface="Trebuchet MS"/>
              </a:rPr>
              <a:t>n</a:t>
            </a:r>
            <a:r>
              <a:rPr sz="2800" b="1" spc="-20" dirty="0">
                <a:latin typeface="Trebuchet MS"/>
                <a:cs typeface="Trebuchet MS"/>
              </a:rPr>
              <a:t> 	</a:t>
            </a:r>
            <a:r>
              <a:rPr sz="2800" b="1" spc="-50" dirty="0">
                <a:latin typeface="Trebuchet MS"/>
                <a:cs typeface="Trebuchet MS"/>
              </a:rPr>
              <a:t>protocol</a:t>
            </a:r>
            <a:r>
              <a:rPr sz="2800" spc="-50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8704" y="2029543"/>
            <a:ext cx="5008591" cy="3978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Layered</a:t>
            </a:r>
            <a:r>
              <a:rPr spc="-425" dirty="0"/>
              <a:t> </a:t>
            </a:r>
            <a:r>
              <a:rPr spc="-27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6250"/>
            <a:ext cx="10360025" cy="282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45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case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1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layered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architecture,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transferred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from</a:t>
            </a:r>
            <a:r>
              <a:rPr sz="2400" spc="9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layer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9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one</a:t>
            </a:r>
            <a:endParaRPr sz="2400">
              <a:latin typeface="Trebuchet MS"/>
              <a:cs typeface="Trebuchet MS"/>
            </a:endParaRPr>
          </a:p>
          <a:p>
            <a:pPr marL="241300" marR="5715">
              <a:lnSpc>
                <a:spcPct val="70000"/>
              </a:lnSpc>
              <a:spcBef>
                <a:spcPts val="430"/>
              </a:spcBef>
            </a:pPr>
            <a:r>
              <a:rPr sz="2400" dirty="0">
                <a:latin typeface="Trebuchet MS"/>
                <a:cs typeface="Trebuchet MS"/>
              </a:rPr>
              <a:t>machine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to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layer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of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another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machine.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Instead,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each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layer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80" dirty="0">
                <a:latin typeface="Trebuchet MS"/>
                <a:cs typeface="Trebuchet MS"/>
              </a:rPr>
              <a:t>passes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the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data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layer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immediately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just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below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it,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until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lowest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layer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reached.</a:t>
            </a:r>
            <a:endParaRPr sz="2400">
              <a:latin typeface="Trebuchet MS"/>
              <a:cs typeface="Trebuchet MS"/>
            </a:endParaRPr>
          </a:p>
          <a:p>
            <a:pPr marL="240029" marR="5715" indent="-227965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  <a:tab pos="1308100" algn="l"/>
                <a:tab pos="2205355" algn="l"/>
                <a:tab pos="2628265" algn="l"/>
                <a:tab pos="3108325" algn="l"/>
                <a:tab pos="3792220" algn="l"/>
                <a:tab pos="5149215" algn="l"/>
                <a:tab pos="6503670" algn="l"/>
                <a:tab pos="7781290" algn="l"/>
                <a:tab pos="8828405" algn="l"/>
                <a:tab pos="9514205" algn="l"/>
              </a:tabLst>
            </a:pPr>
            <a:r>
              <a:rPr sz="2400" spc="-10" dirty="0">
                <a:latin typeface="Trebuchet MS"/>
                <a:cs typeface="Trebuchet MS"/>
              </a:rPr>
              <a:t>Below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layer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1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is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the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physical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medium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through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which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the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35" dirty="0">
                <a:latin typeface="Trebuchet MS"/>
                <a:cs typeface="Trebuchet MS"/>
              </a:rPr>
              <a:t>actual 	</a:t>
            </a:r>
            <a:r>
              <a:rPr sz="2400" spc="-10" dirty="0">
                <a:latin typeface="Trebuchet MS"/>
                <a:cs typeface="Trebuchet MS"/>
              </a:rPr>
              <a:t>communication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takes</a:t>
            </a:r>
            <a:r>
              <a:rPr sz="2400" spc="-229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place.</a:t>
            </a:r>
            <a:endParaRPr sz="2400">
              <a:latin typeface="Trebuchet MS"/>
              <a:cs typeface="Trebuchet MS"/>
            </a:endParaRPr>
          </a:p>
          <a:p>
            <a:pPr marL="240029" marR="5080" indent="-227965">
              <a:lnSpc>
                <a:spcPct val="7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layered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architecture,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unmanageable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tasks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are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divided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into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several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small 	and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manageable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tasks.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ts val="2450"/>
              </a:lnSpc>
              <a:spcBef>
                <a:spcPts val="13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95" dirty="0">
                <a:latin typeface="Trebuchet MS"/>
                <a:cs typeface="Trebuchet MS"/>
              </a:rPr>
              <a:t>The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data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passed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from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the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upper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layer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to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lower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layer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through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interface.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  <a:p>
            <a:pPr marL="241300">
              <a:lnSpc>
                <a:spcPts val="2450"/>
              </a:lnSpc>
              <a:tabLst>
                <a:tab pos="1486535" algn="l"/>
                <a:tab pos="3296920" algn="l"/>
                <a:tab pos="4624705" algn="l"/>
                <a:tab pos="4992370" algn="l"/>
                <a:tab pos="6457950" algn="l"/>
                <a:tab pos="7831455" algn="l"/>
                <a:tab pos="8351520" algn="l"/>
                <a:tab pos="9079865" algn="l"/>
              </a:tabLst>
            </a:pPr>
            <a:r>
              <a:rPr sz="2400" spc="-10" dirty="0">
                <a:latin typeface="Trebuchet MS"/>
                <a:cs typeface="Trebuchet MS"/>
              </a:rPr>
              <a:t>Layered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architecture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provides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40" dirty="0">
                <a:latin typeface="Trebuchet MS"/>
                <a:cs typeface="Trebuchet MS"/>
              </a:rPr>
              <a:t>clean-</a:t>
            </a:r>
            <a:r>
              <a:rPr sz="2400" spc="-25" dirty="0">
                <a:latin typeface="Trebuchet MS"/>
                <a:cs typeface="Trebuchet MS"/>
              </a:rPr>
              <a:t>cut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interface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85" dirty="0">
                <a:latin typeface="Trebuchet MS"/>
                <a:cs typeface="Trebuchet MS"/>
              </a:rPr>
              <a:t>so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that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minimum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4432172"/>
            <a:ext cx="10128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22120" algn="l"/>
                <a:tab pos="2125980" algn="l"/>
                <a:tab pos="3216275" algn="l"/>
                <a:tab pos="4304030" algn="l"/>
                <a:tab pos="5596890" algn="l"/>
                <a:tab pos="6645275" algn="l"/>
                <a:tab pos="7006590" algn="l"/>
                <a:tab pos="7746365" algn="l"/>
                <a:tab pos="8980805" algn="l"/>
                <a:tab pos="9688195" algn="l"/>
              </a:tabLst>
            </a:pPr>
            <a:r>
              <a:rPr sz="2400" spc="-10" dirty="0">
                <a:latin typeface="Trebuchet MS"/>
                <a:cs typeface="Trebuchet MS"/>
              </a:rPr>
              <a:t>information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is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shared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among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different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layers.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It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also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ensures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that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60" dirty="0">
                <a:latin typeface="Trebuchet MS"/>
                <a:cs typeface="Trebuchet MS"/>
              </a:rPr>
              <a:t>the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844" y="4688204"/>
            <a:ext cx="10129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91410" algn="l"/>
                <a:tab pos="2934335" algn="l"/>
                <a:tab pos="3711575" algn="l"/>
                <a:tab pos="4631690" algn="l"/>
                <a:tab pos="5401945" algn="l"/>
                <a:tab pos="6015990" algn="l"/>
                <a:tab pos="7056755" algn="l"/>
                <a:tab pos="8500745" algn="l"/>
                <a:tab pos="9088755" algn="l"/>
              </a:tabLst>
            </a:pPr>
            <a:r>
              <a:rPr sz="2400" spc="-10" dirty="0">
                <a:latin typeface="Trebuchet MS"/>
                <a:cs typeface="Trebuchet MS"/>
              </a:rPr>
              <a:t>implementation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of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one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layer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can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be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easily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replaced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by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40" dirty="0">
                <a:latin typeface="Trebuchet MS"/>
                <a:cs typeface="Trebuchet MS"/>
              </a:rPr>
              <a:t>another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4944236"/>
            <a:ext cx="8593455" cy="77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implementation.</a:t>
            </a:r>
            <a:endParaRPr sz="24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set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of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layers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and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protocols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known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95" dirty="0">
                <a:latin typeface="Trebuchet MS"/>
                <a:cs typeface="Trebuchet MS"/>
              </a:rPr>
              <a:t>as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b="1" spc="-75" dirty="0">
                <a:latin typeface="Trebuchet MS"/>
                <a:cs typeface="Trebuchet MS"/>
              </a:rPr>
              <a:t>network</a:t>
            </a:r>
            <a:r>
              <a:rPr sz="2400" b="1" spc="-200" dirty="0">
                <a:latin typeface="Trebuchet MS"/>
                <a:cs typeface="Trebuchet MS"/>
              </a:rPr>
              <a:t> </a:t>
            </a:r>
            <a:r>
              <a:rPr sz="2400" b="1" spc="-30" dirty="0">
                <a:latin typeface="Trebuchet MS"/>
                <a:cs typeface="Trebuchet MS"/>
              </a:rPr>
              <a:t>architecture</a:t>
            </a:r>
            <a:r>
              <a:rPr sz="2400" spc="-3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Why</a:t>
            </a:r>
            <a:r>
              <a:rPr spc="-450" dirty="0"/>
              <a:t> </a:t>
            </a:r>
            <a:r>
              <a:rPr spc="-150" dirty="0"/>
              <a:t>do</a:t>
            </a:r>
            <a:r>
              <a:rPr spc="-445" dirty="0"/>
              <a:t> </a:t>
            </a:r>
            <a:r>
              <a:rPr spc="-215" dirty="0"/>
              <a:t>we</a:t>
            </a:r>
            <a:r>
              <a:rPr spc="-450" dirty="0"/>
              <a:t> </a:t>
            </a:r>
            <a:r>
              <a:rPr spc="-300" dirty="0"/>
              <a:t>require</a:t>
            </a:r>
            <a:r>
              <a:rPr spc="-455" dirty="0"/>
              <a:t> </a:t>
            </a:r>
            <a:r>
              <a:rPr spc="-240" dirty="0"/>
              <a:t>Layered</a:t>
            </a:r>
            <a:r>
              <a:rPr spc="-445" dirty="0"/>
              <a:t> </a:t>
            </a:r>
            <a:r>
              <a:rPr spc="-165" dirty="0"/>
              <a:t>Architecture?</a:t>
            </a:r>
          </a:p>
        </p:txBody>
      </p:sp>
      <p:sp>
        <p:nvSpPr>
          <p:cNvPr id="3" name="object 3"/>
          <p:cNvSpPr/>
          <p:nvPr/>
        </p:nvSpPr>
        <p:spPr>
          <a:xfrm>
            <a:off x="632841" y="2323719"/>
            <a:ext cx="5346065" cy="1670685"/>
          </a:xfrm>
          <a:custGeom>
            <a:avLst/>
            <a:gdLst/>
            <a:ahLst/>
            <a:cxnLst/>
            <a:rect l="l" t="t" r="r" b="b"/>
            <a:pathLst>
              <a:path w="5346065" h="1670685">
                <a:moveTo>
                  <a:pt x="0" y="1670557"/>
                </a:moveTo>
                <a:lnTo>
                  <a:pt x="5345684" y="1670557"/>
                </a:lnTo>
                <a:lnTo>
                  <a:pt x="5345684" y="0"/>
                </a:lnTo>
                <a:lnTo>
                  <a:pt x="0" y="0"/>
                </a:lnTo>
                <a:lnTo>
                  <a:pt x="0" y="1670557"/>
                </a:lnTo>
                <a:close/>
              </a:path>
            </a:pathLst>
          </a:custGeom>
          <a:ln w="1270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51838" y="2232197"/>
            <a:ext cx="3916045" cy="157861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900" b="1" spc="-35" dirty="0">
                <a:latin typeface="Trebuchet MS"/>
                <a:cs typeface="Trebuchet MS"/>
              </a:rPr>
              <a:t>Divide-</a:t>
            </a:r>
            <a:r>
              <a:rPr sz="1900" b="1" spc="-25" dirty="0">
                <a:latin typeface="Trebuchet MS"/>
                <a:cs typeface="Trebuchet MS"/>
              </a:rPr>
              <a:t>and-</a:t>
            </a:r>
            <a:r>
              <a:rPr sz="1900" b="1" spc="-30" dirty="0">
                <a:latin typeface="Trebuchet MS"/>
                <a:cs typeface="Trebuchet MS"/>
              </a:rPr>
              <a:t>conquer</a:t>
            </a:r>
            <a:r>
              <a:rPr sz="1900" b="1" spc="-50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Approach:</a:t>
            </a:r>
            <a:endParaRPr sz="1900">
              <a:latin typeface="Trebuchet MS"/>
              <a:cs typeface="Trebuchet MS"/>
            </a:endParaRPr>
          </a:p>
          <a:p>
            <a:pPr marL="125730" marR="5080" indent="-113030">
              <a:lnSpc>
                <a:spcPct val="91500"/>
              </a:lnSpc>
              <a:spcBef>
                <a:spcPts val="840"/>
              </a:spcBef>
              <a:buChar char="•"/>
              <a:tabLst>
                <a:tab pos="127000" algn="l"/>
              </a:tabLst>
            </a:pPr>
            <a:r>
              <a:rPr sz="1500" spc="-35" dirty="0">
                <a:latin typeface="Trebuchet MS"/>
                <a:cs typeface="Trebuchet MS"/>
              </a:rPr>
              <a:t>Divide-</a:t>
            </a:r>
            <a:r>
              <a:rPr sz="1500" spc="-20" dirty="0">
                <a:latin typeface="Trebuchet MS"/>
                <a:cs typeface="Trebuchet MS"/>
              </a:rPr>
              <a:t>and-conquer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approach</a:t>
            </a:r>
            <a:r>
              <a:rPr sz="1500" spc="-8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makes</a:t>
            </a:r>
            <a:r>
              <a:rPr sz="1500" spc="-7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</a:t>
            </a:r>
            <a:r>
              <a:rPr sz="1500" spc="-9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design 	</a:t>
            </a:r>
            <a:r>
              <a:rPr sz="1500" dirty="0">
                <a:latin typeface="Trebuchet MS"/>
                <a:cs typeface="Trebuchet MS"/>
              </a:rPr>
              <a:t>process</a:t>
            </a:r>
            <a:r>
              <a:rPr sz="1500" spc="-95" dirty="0">
                <a:latin typeface="Trebuchet MS"/>
                <a:cs typeface="Trebuchet MS"/>
              </a:rPr>
              <a:t> </a:t>
            </a:r>
            <a:r>
              <a:rPr sz="1500" spc="-40" dirty="0">
                <a:latin typeface="Trebuchet MS"/>
                <a:cs typeface="Trebuchet MS"/>
              </a:rPr>
              <a:t>in</a:t>
            </a:r>
            <a:r>
              <a:rPr sz="1500" spc="-9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such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</a:t>
            </a:r>
            <a:r>
              <a:rPr sz="1500" spc="-90" dirty="0">
                <a:latin typeface="Trebuchet MS"/>
                <a:cs typeface="Trebuchet MS"/>
              </a:rPr>
              <a:t> </a:t>
            </a:r>
            <a:r>
              <a:rPr sz="1500" spc="-45" dirty="0">
                <a:latin typeface="Trebuchet MS"/>
                <a:cs typeface="Trebuchet MS"/>
              </a:rPr>
              <a:t>way</a:t>
            </a:r>
            <a:r>
              <a:rPr sz="1500" spc="-85" dirty="0">
                <a:latin typeface="Trebuchet MS"/>
                <a:cs typeface="Trebuchet MS"/>
              </a:rPr>
              <a:t> </a:t>
            </a:r>
            <a:r>
              <a:rPr sz="1500" spc="-75" dirty="0">
                <a:latin typeface="Trebuchet MS"/>
                <a:cs typeface="Trebuchet MS"/>
              </a:rPr>
              <a:t>that</a:t>
            </a:r>
            <a:r>
              <a:rPr sz="1500" spc="-95" dirty="0">
                <a:latin typeface="Trebuchet MS"/>
                <a:cs typeface="Trebuchet MS"/>
              </a:rPr>
              <a:t> </a:t>
            </a:r>
            <a:r>
              <a:rPr sz="1500" spc="-60" dirty="0">
                <a:latin typeface="Trebuchet MS"/>
                <a:cs typeface="Trebuchet MS"/>
              </a:rPr>
              <a:t>the</a:t>
            </a:r>
            <a:r>
              <a:rPr sz="1500" spc="-8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unmanageable 	</a:t>
            </a:r>
            <a:r>
              <a:rPr sz="1500" dirty="0">
                <a:latin typeface="Trebuchet MS"/>
                <a:cs typeface="Trebuchet MS"/>
              </a:rPr>
              <a:t>tasks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55" dirty="0">
                <a:latin typeface="Trebuchet MS"/>
                <a:cs typeface="Trebuchet MS"/>
              </a:rPr>
              <a:t>are</a:t>
            </a:r>
            <a:r>
              <a:rPr sz="1500" spc="-105" dirty="0">
                <a:latin typeface="Trebuchet MS"/>
                <a:cs typeface="Trebuchet MS"/>
              </a:rPr>
              <a:t> </a:t>
            </a:r>
            <a:r>
              <a:rPr sz="1500" spc="-45" dirty="0">
                <a:latin typeface="Trebuchet MS"/>
                <a:cs typeface="Trebuchet MS"/>
              </a:rPr>
              <a:t>divided</a:t>
            </a:r>
            <a:r>
              <a:rPr sz="1500" spc="-125" dirty="0">
                <a:latin typeface="Trebuchet MS"/>
                <a:cs typeface="Trebuchet MS"/>
              </a:rPr>
              <a:t> </a:t>
            </a:r>
            <a:r>
              <a:rPr sz="1500" spc="-55" dirty="0">
                <a:latin typeface="Trebuchet MS"/>
                <a:cs typeface="Trebuchet MS"/>
              </a:rPr>
              <a:t>into</a:t>
            </a:r>
            <a:r>
              <a:rPr sz="1500" spc="-10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small</a:t>
            </a:r>
            <a:r>
              <a:rPr sz="1500" spc="-13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and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manageable 	</a:t>
            </a:r>
            <a:r>
              <a:rPr sz="1500" spc="-25" dirty="0">
                <a:latin typeface="Trebuchet MS"/>
                <a:cs typeface="Trebuchet MS"/>
              </a:rPr>
              <a:t>tasks.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In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40" dirty="0">
                <a:latin typeface="Trebuchet MS"/>
                <a:cs typeface="Trebuchet MS"/>
              </a:rPr>
              <a:t>short,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45" dirty="0">
                <a:latin typeface="Trebuchet MS"/>
                <a:cs typeface="Trebuchet MS"/>
              </a:rPr>
              <a:t>we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can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say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75" dirty="0">
                <a:latin typeface="Trebuchet MS"/>
                <a:cs typeface="Trebuchet MS"/>
              </a:rPr>
              <a:t>that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this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approach 	</a:t>
            </a:r>
            <a:r>
              <a:rPr sz="1500" dirty="0">
                <a:latin typeface="Trebuchet MS"/>
                <a:cs typeface="Trebuchet MS"/>
              </a:rPr>
              <a:t>reduces</a:t>
            </a:r>
            <a:r>
              <a:rPr sz="1500" spc="-145" dirty="0">
                <a:latin typeface="Trebuchet MS"/>
                <a:cs typeface="Trebuchet MS"/>
              </a:rPr>
              <a:t> </a:t>
            </a:r>
            <a:r>
              <a:rPr sz="1500" spc="-60" dirty="0">
                <a:latin typeface="Trebuchet MS"/>
                <a:cs typeface="Trebuchet MS"/>
              </a:rPr>
              <a:t>the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45" dirty="0">
                <a:latin typeface="Trebuchet MS"/>
                <a:cs typeface="Trebuchet MS"/>
              </a:rPr>
              <a:t>complexity</a:t>
            </a:r>
            <a:r>
              <a:rPr sz="1500" spc="-135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of</a:t>
            </a:r>
            <a:r>
              <a:rPr sz="1500" spc="-125" dirty="0">
                <a:latin typeface="Trebuchet MS"/>
                <a:cs typeface="Trebuchet MS"/>
              </a:rPr>
              <a:t> </a:t>
            </a:r>
            <a:r>
              <a:rPr sz="1500" spc="-60" dirty="0">
                <a:latin typeface="Trebuchet MS"/>
                <a:cs typeface="Trebuchet MS"/>
              </a:rPr>
              <a:t>the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design.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03758" y="2076195"/>
            <a:ext cx="1182370" cy="1767205"/>
            <a:chOff x="403758" y="2076195"/>
            <a:chExt cx="1182370" cy="1767205"/>
          </a:xfrm>
        </p:grpSpPr>
        <p:sp>
          <p:nvSpPr>
            <p:cNvPr id="6" name="object 6"/>
            <p:cNvSpPr/>
            <p:nvPr/>
          </p:nvSpPr>
          <p:spPr>
            <a:xfrm>
              <a:off x="410108" y="2082545"/>
              <a:ext cx="1169670" cy="1754505"/>
            </a:xfrm>
            <a:custGeom>
              <a:avLst/>
              <a:gdLst/>
              <a:ahLst/>
              <a:cxnLst/>
              <a:rect l="l" t="t" r="r" b="b"/>
              <a:pathLst>
                <a:path w="1169670" h="1754504">
                  <a:moveTo>
                    <a:pt x="1169365" y="0"/>
                  </a:moveTo>
                  <a:lnTo>
                    <a:pt x="0" y="0"/>
                  </a:lnTo>
                  <a:lnTo>
                    <a:pt x="0" y="1753996"/>
                  </a:lnTo>
                  <a:lnTo>
                    <a:pt x="1169365" y="1753996"/>
                  </a:lnTo>
                  <a:lnTo>
                    <a:pt x="1169365" y="0"/>
                  </a:lnTo>
                  <a:close/>
                </a:path>
              </a:pathLst>
            </a:custGeom>
            <a:solidFill>
              <a:srgbClr val="F4C8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0108" y="2082545"/>
              <a:ext cx="1169670" cy="1754505"/>
            </a:xfrm>
            <a:custGeom>
              <a:avLst/>
              <a:gdLst/>
              <a:ahLst/>
              <a:cxnLst/>
              <a:rect l="l" t="t" r="r" b="b"/>
              <a:pathLst>
                <a:path w="1169670" h="1754504">
                  <a:moveTo>
                    <a:pt x="0" y="1753996"/>
                  </a:moveTo>
                  <a:lnTo>
                    <a:pt x="1169365" y="1753996"/>
                  </a:lnTo>
                  <a:lnTo>
                    <a:pt x="1169365" y="0"/>
                  </a:lnTo>
                  <a:lnTo>
                    <a:pt x="0" y="0"/>
                  </a:lnTo>
                  <a:lnTo>
                    <a:pt x="0" y="175399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6436233" y="2323719"/>
            <a:ext cx="5346065" cy="1670685"/>
          </a:xfrm>
          <a:custGeom>
            <a:avLst/>
            <a:gdLst/>
            <a:ahLst/>
            <a:cxnLst/>
            <a:rect l="l" t="t" r="r" b="b"/>
            <a:pathLst>
              <a:path w="5346065" h="1670685">
                <a:moveTo>
                  <a:pt x="0" y="1670557"/>
                </a:moveTo>
                <a:lnTo>
                  <a:pt x="5345684" y="1670557"/>
                </a:lnTo>
                <a:lnTo>
                  <a:pt x="5345684" y="0"/>
                </a:lnTo>
                <a:lnTo>
                  <a:pt x="0" y="0"/>
                </a:lnTo>
                <a:lnTo>
                  <a:pt x="0" y="1670557"/>
                </a:lnTo>
                <a:close/>
              </a:path>
            </a:pathLst>
          </a:custGeom>
          <a:ln w="1270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556118" y="2232197"/>
            <a:ext cx="4164965" cy="115887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900" b="1" spc="-10" dirty="0">
                <a:latin typeface="Trebuchet MS"/>
                <a:cs typeface="Trebuchet MS"/>
              </a:rPr>
              <a:t>Modularity:</a:t>
            </a:r>
            <a:endParaRPr sz="1900">
              <a:latin typeface="Trebuchet MS"/>
              <a:cs typeface="Trebuchet MS"/>
            </a:endParaRPr>
          </a:p>
          <a:p>
            <a:pPr marL="125730" marR="5080" indent="-113030">
              <a:lnSpc>
                <a:spcPts val="1639"/>
              </a:lnSpc>
              <a:spcBef>
                <a:spcPts val="875"/>
              </a:spcBef>
              <a:buChar char="•"/>
              <a:tabLst>
                <a:tab pos="127000" algn="l"/>
              </a:tabLst>
            </a:pPr>
            <a:r>
              <a:rPr sz="1500" spc="-45" dirty="0">
                <a:latin typeface="Trebuchet MS"/>
                <a:cs typeface="Trebuchet MS"/>
              </a:rPr>
              <a:t>Layered</a:t>
            </a:r>
            <a:r>
              <a:rPr sz="1500" spc="-100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architecture</a:t>
            </a:r>
            <a:r>
              <a:rPr sz="1500" spc="-8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is</a:t>
            </a:r>
            <a:r>
              <a:rPr sz="1500" spc="-90" dirty="0">
                <a:latin typeface="Trebuchet MS"/>
                <a:cs typeface="Trebuchet MS"/>
              </a:rPr>
              <a:t> </a:t>
            </a:r>
            <a:r>
              <a:rPr sz="1500" spc="-35" dirty="0">
                <a:latin typeface="Trebuchet MS"/>
                <a:cs typeface="Trebuchet MS"/>
              </a:rPr>
              <a:t>more</a:t>
            </a:r>
            <a:r>
              <a:rPr sz="1500" spc="-100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modular.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Modularity 	</a:t>
            </a:r>
            <a:r>
              <a:rPr sz="1500" spc="-25" dirty="0">
                <a:latin typeface="Trebuchet MS"/>
                <a:cs typeface="Trebuchet MS"/>
              </a:rPr>
              <a:t>provides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60" dirty="0">
                <a:latin typeface="Trebuchet MS"/>
                <a:cs typeface="Trebuchet MS"/>
              </a:rPr>
              <a:t>the</a:t>
            </a:r>
            <a:r>
              <a:rPr sz="1500" spc="-90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independence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of</a:t>
            </a:r>
            <a:r>
              <a:rPr sz="1500" spc="-95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layers,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which</a:t>
            </a:r>
            <a:r>
              <a:rPr sz="1500" spc="-100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is 	easier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65" dirty="0">
                <a:latin typeface="Trebuchet MS"/>
                <a:cs typeface="Trebuchet MS"/>
              </a:rPr>
              <a:t>to</a:t>
            </a:r>
            <a:r>
              <a:rPr sz="1500" spc="-110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understand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and</a:t>
            </a:r>
            <a:r>
              <a:rPr sz="1500" spc="-114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implement.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07125" y="2076195"/>
            <a:ext cx="1182370" cy="1767205"/>
            <a:chOff x="6207125" y="2076195"/>
            <a:chExt cx="1182370" cy="1767205"/>
          </a:xfrm>
        </p:grpSpPr>
        <p:sp>
          <p:nvSpPr>
            <p:cNvPr id="11" name="object 11"/>
            <p:cNvSpPr/>
            <p:nvPr/>
          </p:nvSpPr>
          <p:spPr>
            <a:xfrm>
              <a:off x="6213475" y="2082545"/>
              <a:ext cx="1169670" cy="1754505"/>
            </a:xfrm>
            <a:custGeom>
              <a:avLst/>
              <a:gdLst/>
              <a:ahLst/>
              <a:cxnLst/>
              <a:rect l="l" t="t" r="r" b="b"/>
              <a:pathLst>
                <a:path w="1169670" h="1754504">
                  <a:moveTo>
                    <a:pt x="1169365" y="0"/>
                  </a:moveTo>
                  <a:lnTo>
                    <a:pt x="0" y="0"/>
                  </a:lnTo>
                  <a:lnTo>
                    <a:pt x="0" y="1753996"/>
                  </a:lnTo>
                  <a:lnTo>
                    <a:pt x="1169365" y="1753996"/>
                  </a:lnTo>
                  <a:lnTo>
                    <a:pt x="1169365" y="0"/>
                  </a:lnTo>
                  <a:close/>
                </a:path>
              </a:pathLst>
            </a:custGeom>
            <a:solidFill>
              <a:srgbClr val="BBC6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13475" y="2082545"/>
              <a:ext cx="1169670" cy="1754505"/>
            </a:xfrm>
            <a:custGeom>
              <a:avLst/>
              <a:gdLst/>
              <a:ahLst/>
              <a:cxnLst/>
              <a:rect l="l" t="t" r="r" b="b"/>
              <a:pathLst>
                <a:path w="1169670" h="1754504">
                  <a:moveTo>
                    <a:pt x="0" y="1753996"/>
                  </a:moveTo>
                  <a:lnTo>
                    <a:pt x="1169365" y="1753996"/>
                  </a:lnTo>
                  <a:lnTo>
                    <a:pt x="1169365" y="0"/>
                  </a:lnTo>
                  <a:lnTo>
                    <a:pt x="0" y="0"/>
                  </a:lnTo>
                  <a:lnTo>
                    <a:pt x="0" y="175399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632841" y="4426711"/>
            <a:ext cx="5346065" cy="1670685"/>
          </a:xfrm>
          <a:custGeom>
            <a:avLst/>
            <a:gdLst/>
            <a:ahLst/>
            <a:cxnLst/>
            <a:rect l="l" t="t" r="r" b="b"/>
            <a:pathLst>
              <a:path w="5346065" h="1670685">
                <a:moveTo>
                  <a:pt x="0" y="1670558"/>
                </a:moveTo>
                <a:lnTo>
                  <a:pt x="5345684" y="1670558"/>
                </a:lnTo>
                <a:lnTo>
                  <a:pt x="5345684" y="0"/>
                </a:lnTo>
                <a:lnTo>
                  <a:pt x="0" y="0"/>
                </a:lnTo>
                <a:lnTo>
                  <a:pt x="0" y="1670558"/>
                </a:lnTo>
                <a:close/>
              </a:path>
            </a:pathLst>
          </a:custGeom>
          <a:ln w="12699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51838" y="4335698"/>
            <a:ext cx="3806190" cy="115887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900" b="1" dirty="0">
                <a:latin typeface="Trebuchet MS"/>
                <a:cs typeface="Trebuchet MS"/>
              </a:rPr>
              <a:t>Easy</a:t>
            </a:r>
            <a:r>
              <a:rPr sz="1900" b="1" spc="-135" dirty="0">
                <a:latin typeface="Trebuchet MS"/>
                <a:cs typeface="Trebuchet MS"/>
              </a:rPr>
              <a:t> </a:t>
            </a:r>
            <a:r>
              <a:rPr sz="1900" b="1" spc="-50" dirty="0">
                <a:latin typeface="Trebuchet MS"/>
                <a:cs typeface="Trebuchet MS"/>
              </a:rPr>
              <a:t>to</a:t>
            </a:r>
            <a:r>
              <a:rPr sz="1900" b="1" spc="-130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Modify:</a:t>
            </a:r>
            <a:endParaRPr sz="1900">
              <a:latin typeface="Trebuchet MS"/>
              <a:cs typeface="Trebuchet MS"/>
            </a:endParaRPr>
          </a:p>
          <a:p>
            <a:pPr marL="125730" marR="5080" indent="-113030" algn="just">
              <a:lnSpc>
                <a:spcPts val="1639"/>
              </a:lnSpc>
              <a:spcBef>
                <a:spcPts val="875"/>
              </a:spcBef>
              <a:buChar char="•"/>
              <a:tabLst>
                <a:tab pos="127000" algn="l"/>
              </a:tabLst>
            </a:pPr>
            <a:r>
              <a:rPr sz="1500" spc="-195" dirty="0">
                <a:latin typeface="Trebuchet MS"/>
                <a:cs typeface="Trebuchet MS"/>
              </a:rPr>
              <a:t>It</a:t>
            </a:r>
            <a:r>
              <a:rPr sz="1500" spc="8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ensures</a:t>
            </a:r>
            <a:r>
              <a:rPr sz="1500" spc="-110" dirty="0">
                <a:latin typeface="Trebuchet MS"/>
                <a:cs typeface="Trebuchet MS"/>
              </a:rPr>
              <a:t> </a:t>
            </a:r>
            <a:r>
              <a:rPr sz="1500" spc="-105" dirty="0">
                <a:latin typeface="Trebuchet MS"/>
                <a:cs typeface="Trebuchet MS"/>
              </a:rPr>
              <a:t>the</a:t>
            </a:r>
            <a:r>
              <a:rPr sz="1500" spc="-10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independence</a:t>
            </a:r>
            <a:r>
              <a:rPr sz="1500" spc="-80" dirty="0">
                <a:latin typeface="Trebuchet MS"/>
                <a:cs typeface="Trebuchet MS"/>
              </a:rPr>
              <a:t> </a:t>
            </a:r>
            <a:r>
              <a:rPr sz="1500" spc="-125" dirty="0">
                <a:latin typeface="Trebuchet MS"/>
                <a:cs typeface="Trebuchet MS"/>
              </a:rPr>
              <a:t>of</a:t>
            </a:r>
            <a:r>
              <a:rPr sz="1500" spc="10" dirty="0">
                <a:latin typeface="Trebuchet MS"/>
                <a:cs typeface="Trebuchet MS"/>
              </a:rPr>
              <a:t> </a:t>
            </a:r>
            <a:r>
              <a:rPr sz="1500" spc="-40" dirty="0">
                <a:latin typeface="Trebuchet MS"/>
                <a:cs typeface="Trebuchet MS"/>
              </a:rPr>
              <a:t>layers</a:t>
            </a:r>
            <a:r>
              <a:rPr sz="1500" spc="-55" dirty="0">
                <a:latin typeface="Trebuchet MS"/>
                <a:cs typeface="Trebuchet MS"/>
              </a:rPr>
              <a:t> </a:t>
            </a:r>
            <a:r>
              <a:rPr sz="1500" spc="50" dirty="0">
                <a:latin typeface="Trebuchet MS"/>
                <a:cs typeface="Trebuchet MS"/>
              </a:rPr>
              <a:t>so</a:t>
            </a:r>
            <a:r>
              <a:rPr sz="1500" spc="-5" dirty="0">
                <a:latin typeface="Trebuchet MS"/>
                <a:cs typeface="Trebuchet MS"/>
              </a:rPr>
              <a:t> </a:t>
            </a:r>
            <a:r>
              <a:rPr sz="1500" spc="-30" dirty="0">
                <a:latin typeface="Trebuchet MS"/>
                <a:cs typeface="Trebuchet MS"/>
              </a:rPr>
              <a:t>that 	</a:t>
            </a:r>
            <a:r>
              <a:rPr sz="1500" spc="-45" dirty="0">
                <a:latin typeface="Trebuchet MS"/>
                <a:cs typeface="Trebuchet MS"/>
              </a:rPr>
              <a:t>implementation</a:t>
            </a:r>
            <a:r>
              <a:rPr sz="1500" spc="-70" dirty="0">
                <a:latin typeface="Trebuchet MS"/>
                <a:cs typeface="Trebuchet MS"/>
              </a:rPr>
              <a:t> </a:t>
            </a:r>
            <a:r>
              <a:rPr sz="1500" spc="-120" dirty="0">
                <a:latin typeface="Trebuchet MS"/>
                <a:cs typeface="Trebuchet MS"/>
              </a:rPr>
              <a:t>in</a:t>
            </a:r>
            <a:r>
              <a:rPr sz="1500" spc="10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one</a:t>
            </a:r>
            <a:r>
              <a:rPr sz="1500" spc="-90" dirty="0">
                <a:latin typeface="Trebuchet MS"/>
                <a:cs typeface="Trebuchet MS"/>
              </a:rPr>
              <a:t> </a:t>
            </a:r>
            <a:r>
              <a:rPr sz="1500" spc="-70" dirty="0">
                <a:latin typeface="Trebuchet MS"/>
                <a:cs typeface="Trebuchet MS"/>
              </a:rPr>
              <a:t>layer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can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spc="-60" dirty="0">
                <a:latin typeface="Trebuchet MS"/>
                <a:cs typeface="Trebuchet MS"/>
              </a:rPr>
              <a:t>be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changed 	</a:t>
            </a:r>
            <a:r>
              <a:rPr sz="1500" spc="-55" dirty="0">
                <a:latin typeface="Trebuchet MS"/>
                <a:cs typeface="Trebuchet MS"/>
              </a:rPr>
              <a:t>without</a:t>
            </a:r>
            <a:r>
              <a:rPr sz="1500" spc="-95" dirty="0">
                <a:latin typeface="Trebuchet MS"/>
                <a:cs typeface="Trebuchet MS"/>
              </a:rPr>
              <a:t> </a:t>
            </a:r>
            <a:r>
              <a:rPr sz="1500" spc="-60" dirty="0">
                <a:latin typeface="Trebuchet MS"/>
                <a:cs typeface="Trebuchet MS"/>
              </a:rPr>
              <a:t>affecting</a:t>
            </a:r>
            <a:r>
              <a:rPr sz="1500" spc="-95" dirty="0">
                <a:latin typeface="Trebuchet MS"/>
                <a:cs typeface="Trebuchet MS"/>
              </a:rPr>
              <a:t> </a:t>
            </a:r>
            <a:r>
              <a:rPr sz="1500" spc="-55" dirty="0">
                <a:latin typeface="Trebuchet MS"/>
                <a:cs typeface="Trebuchet MS"/>
              </a:rPr>
              <a:t>other</a:t>
            </a:r>
            <a:r>
              <a:rPr sz="1500" spc="-9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layers.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3758" y="4179150"/>
            <a:ext cx="1182370" cy="1767205"/>
            <a:chOff x="403758" y="4179150"/>
            <a:chExt cx="1182370" cy="1767205"/>
          </a:xfrm>
        </p:grpSpPr>
        <p:sp>
          <p:nvSpPr>
            <p:cNvPr id="16" name="object 16"/>
            <p:cNvSpPr/>
            <p:nvPr/>
          </p:nvSpPr>
          <p:spPr>
            <a:xfrm>
              <a:off x="410108" y="4185500"/>
              <a:ext cx="1169670" cy="1754505"/>
            </a:xfrm>
            <a:custGeom>
              <a:avLst/>
              <a:gdLst/>
              <a:ahLst/>
              <a:cxnLst/>
              <a:rect l="l" t="t" r="r" b="b"/>
              <a:pathLst>
                <a:path w="1169670" h="1754504">
                  <a:moveTo>
                    <a:pt x="1169365" y="0"/>
                  </a:moveTo>
                  <a:lnTo>
                    <a:pt x="0" y="0"/>
                  </a:lnTo>
                  <a:lnTo>
                    <a:pt x="0" y="1753997"/>
                  </a:lnTo>
                  <a:lnTo>
                    <a:pt x="1169365" y="1753997"/>
                  </a:lnTo>
                  <a:lnTo>
                    <a:pt x="1169365" y="0"/>
                  </a:lnTo>
                  <a:close/>
                </a:path>
              </a:pathLst>
            </a:custGeom>
            <a:solidFill>
              <a:srgbClr val="BBD5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0108" y="4185500"/>
              <a:ext cx="1169670" cy="1754505"/>
            </a:xfrm>
            <a:custGeom>
              <a:avLst/>
              <a:gdLst/>
              <a:ahLst/>
              <a:cxnLst/>
              <a:rect l="l" t="t" r="r" b="b"/>
              <a:pathLst>
                <a:path w="1169670" h="1754504">
                  <a:moveTo>
                    <a:pt x="0" y="1753997"/>
                  </a:moveTo>
                  <a:lnTo>
                    <a:pt x="1169365" y="1753997"/>
                  </a:lnTo>
                  <a:lnTo>
                    <a:pt x="1169365" y="0"/>
                  </a:lnTo>
                  <a:lnTo>
                    <a:pt x="0" y="0"/>
                  </a:lnTo>
                  <a:lnTo>
                    <a:pt x="0" y="175399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6436233" y="4426711"/>
            <a:ext cx="5346065" cy="1670685"/>
          </a:xfrm>
          <a:custGeom>
            <a:avLst/>
            <a:gdLst/>
            <a:ahLst/>
            <a:cxnLst/>
            <a:rect l="l" t="t" r="r" b="b"/>
            <a:pathLst>
              <a:path w="5346065" h="1670685">
                <a:moveTo>
                  <a:pt x="0" y="1670558"/>
                </a:moveTo>
                <a:lnTo>
                  <a:pt x="5345684" y="1670558"/>
                </a:lnTo>
                <a:lnTo>
                  <a:pt x="5345684" y="0"/>
                </a:lnTo>
                <a:lnTo>
                  <a:pt x="0" y="0"/>
                </a:lnTo>
                <a:lnTo>
                  <a:pt x="0" y="1670558"/>
                </a:lnTo>
                <a:close/>
              </a:path>
            </a:pathLst>
          </a:custGeom>
          <a:ln w="12699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556118" y="4335698"/>
            <a:ext cx="3769995" cy="94996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900" b="1" dirty="0">
                <a:latin typeface="Trebuchet MS"/>
                <a:cs typeface="Trebuchet MS"/>
              </a:rPr>
              <a:t>Easy</a:t>
            </a:r>
            <a:r>
              <a:rPr sz="1900" b="1" spc="-135" dirty="0">
                <a:latin typeface="Trebuchet MS"/>
                <a:cs typeface="Trebuchet MS"/>
              </a:rPr>
              <a:t> </a:t>
            </a:r>
            <a:r>
              <a:rPr sz="1900" b="1" spc="-50" dirty="0">
                <a:latin typeface="Trebuchet MS"/>
                <a:cs typeface="Trebuchet MS"/>
              </a:rPr>
              <a:t>to</a:t>
            </a:r>
            <a:r>
              <a:rPr sz="1900" b="1" spc="-130" dirty="0">
                <a:latin typeface="Trebuchet MS"/>
                <a:cs typeface="Trebuchet MS"/>
              </a:rPr>
              <a:t> </a:t>
            </a:r>
            <a:r>
              <a:rPr sz="1900" b="1" spc="-20" dirty="0">
                <a:latin typeface="Trebuchet MS"/>
                <a:cs typeface="Trebuchet MS"/>
              </a:rPr>
              <a:t>Test:</a:t>
            </a:r>
            <a:endParaRPr sz="1900">
              <a:latin typeface="Trebuchet MS"/>
              <a:cs typeface="Trebuchet MS"/>
            </a:endParaRPr>
          </a:p>
          <a:p>
            <a:pPr marL="125730" marR="5080" indent="-113030">
              <a:lnSpc>
                <a:spcPts val="1639"/>
              </a:lnSpc>
              <a:spcBef>
                <a:spcPts val="875"/>
              </a:spcBef>
              <a:buChar char="•"/>
              <a:tabLst>
                <a:tab pos="127000" algn="l"/>
              </a:tabLst>
            </a:pPr>
            <a:r>
              <a:rPr sz="1500" dirty="0">
                <a:latin typeface="Trebuchet MS"/>
                <a:cs typeface="Trebuchet MS"/>
              </a:rPr>
              <a:t>Each</a:t>
            </a:r>
            <a:r>
              <a:rPr sz="1500" spc="-105" dirty="0">
                <a:latin typeface="Trebuchet MS"/>
                <a:cs typeface="Trebuchet MS"/>
              </a:rPr>
              <a:t> </a:t>
            </a:r>
            <a:r>
              <a:rPr sz="1500" spc="-55" dirty="0">
                <a:latin typeface="Trebuchet MS"/>
                <a:cs typeface="Trebuchet MS"/>
              </a:rPr>
              <a:t>layer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of</a:t>
            </a:r>
            <a:r>
              <a:rPr sz="1500" spc="-105" dirty="0">
                <a:latin typeface="Trebuchet MS"/>
                <a:cs typeface="Trebuchet MS"/>
              </a:rPr>
              <a:t> </a:t>
            </a:r>
            <a:r>
              <a:rPr sz="1500" spc="-60" dirty="0">
                <a:latin typeface="Trebuchet MS"/>
                <a:cs typeface="Trebuchet MS"/>
              </a:rPr>
              <a:t>the</a:t>
            </a:r>
            <a:r>
              <a:rPr sz="1500" spc="-95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layered</a:t>
            </a:r>
            <a:r>
              <a:rPr sz="1500" spc="-125" dirty="0">
                <a:latin typeface="Trebuchet MS"/>
                <a:cs typeface="Trebuchet MS"/>
              </a:rPr>
              <a:t> </a:t>
            </a:r>
            <a:r>
              <a:rPr sz="1500" spc="-50" dirty="0">
                <a:latin typeface="Trebuchet MS"/>
                <a:cs typeface="Trebuchet MS"/>
              </a:rPr>
              <a:t>architecture</a:t>
            </a:r>
            <a:r>
              <a:rPr sz="1500" spc="-9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can</a:t>
            </a:r>
            <a:r>
              <a:rPr sz="1500" spc="-95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be 	</a:t>
            </a:r>
            <a:r>
              <a:rPr sz="1500" spc="-35" dirty="0">
                <a:latin typeface="Trebuchet MS"/>
                <a:cs typeface="Trebuchet MS"/>
              </a:rPr>
              <a:t>analyzed</a:t>
            </a:r>
            <a:r>
              <a:rPr sz="1500" spc="-12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and</a:t>
            </a:r>
            <a:r>
              <a:rPr sz="1500" spc="-110" dirty="0">
                <a:latin typeface="Trebuchet MS"/>
                <a:cs typeface="Trebuchet MS"/>
              </a:rPr>
              <a:t> </a:t>
            </a:r>
            <a:r>
              <a:rPr sz="1500" spc="-45" dirty="0">
                <a:latin typeface="Trebuchet MS"/>
                <a:cs typeface="Trebuchet MS"/>
              </a:rPr>
              <a:t>tested</a:t>
            </a:r>
            <a:r>
              <a:rPr sz="1500" spc="-9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individually.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07125" y="4179150"/>
            <a:ext cx="1182370" cy="1767205"/>
            <a:chOff x="6207125" y="4179150"/>
            <a:chExt cx="1182370" cy="1767205"/>
          </a:xfrm>
        </p:grpSpPr>
        <p:sp>
          <p:nvSpPr>
            <p:cNvPr id="21" name="object 21"/>
            <p:cNvSpPr/>
            <p:nvPr/>
          </p:nvSpPr>
          <p:spPr>
            <a:xfrm>
              <a:off x="6213475" y="4185500"/>
              <a:ext cx="1169670" cy="1754505"/>
            </a:xfrm>
            <a:custGeom>
              <a:avLst/>
              <a:gdLst/>
              <a:ahLst/>
              <a:cxnLst/>
              <a:rect l="l" t="t" r="r" b="b"/>
              <a:pathLst>
                <a:path w="1169670" h="1754504">
                  <a:moveTo>
                    <a:pt x="1169365" y="0"/>
                  </a:moveTo>
                  <a:lnTo>
                    <a:pt x="0" y="0"/>
                  </a:lnTo>
                  <a:lnTo>
                    <a:pt x="0" y="1753997"/>
                  </a:lnTo>
                  <a:lnTo>
                    <a:pt x="1169365" y="1753997"/>
                  </a:lnTo>
                  <a:lnTo>
                    <a:pt x="1169365" y="0"/>
                  </a:lnTo>
                  <a:close/>
                </a:path>
              </a:pathLst>
            </a:custGeom>
            <a:solidFill>
              <a:srgbClr val="D5BD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13475" y="4185500"/>
              <a:ext cx="1169670" cy="1754505"/>
            </a:xfrm>
            <a:custGeom>
              <a:avLst/>
              <a:gdLst/>
              <a:ahLst/>
              <a:cxnLst/>
              <a:rect l="l" t="t" r="r" b="b"/>
              <a:pathLst>
                <a:path w="1169670" h="1754504">
                  <a:moveTo>
                    <a:pt x="0" y="1753997"/>
                  </a:moveTo>
                  <a:lnTo>
                    <a:pt x="1169365" y="1753997"/>
                  </a:lnTo>
                  <a:lnTo>
                    <a:pt x="1169365" y="0"/>
                  </a:lnTo>
                  <a:lnTo>
                    <a:pt x="0" y="0"/>
                  </a:lnTo>
                  <a:lnTo>
                    <a:pt x="0" y="1753997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271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 MT</vt:lpstr>
      <vt:lpstr>Trebuchet MS</vt:lpstr>
      <vt:lpstr>Office Theme</vt:lpstr>
      <vt:lpstr>PowerPoint Presentation</vt:lpstr>
      <vt:lpstr>Computer Network Models</vt:lpstr>
      <vt:lpstr>Layered Architecture</vt:lpstr>
      <vt:lpstr>Basic Elements of Layered Architecture</vt:lpstr>
      <vt:lpstr>Layered Architecture</vt:lpstr>
      <vt:lpstr>Layered Architecture</vt:lpstr>
      <vt:lpstr>Why do we require Layered Architecture?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2025-06-30T07:09:24Z</dcterms:created>
  <dcterms:modified xsi:type="dcterms:W3CDTF">2025-06-30T07:17:20Z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2024-12-30T00:00:00Z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