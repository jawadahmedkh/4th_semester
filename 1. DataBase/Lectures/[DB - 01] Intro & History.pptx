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918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51575" y="2022473"/>
            <a:ext cx="2756534" cy="3458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58061" y="2186127"/>
            <a:ext cx="8176895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061" y="3033775"/>
            <a:ext cx="9661525" cy="282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293" y="3391151"/>
            <a:ext cx="4589145" cy="1059264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 marR="5080">
              <a:lnSpc>
                <a:spcPts val="3670"/>
              </a:lnSpc>
              <a:spcBef>
                <a:spcPts val="685"/>
              </a:spcBef>
            </a:pPr>
            <a:r>
              <a:rPr sz="3400" spc="-10" smtClean="0">
                <a:latin typeface="Calibri Light"/>
                <a:cs typeface="Calibri Light"/>
              </a:rPr>
              <a:t>Database</a:t>
            </a:r>
            <a:r>
              <a:rPr sz="3400" spc="-130" smtClean="0">
                <a:latin typeface="Calibri Light"/>
                <a:cs typeface="Calibri Light"/>
              </a:rPr>
              <a:t> </a:t>
            </a:r>
            <a:r>
              <a:rPr sz="3400" spc="-10" dirty="0">
                <a:latin typeface="Calibri Light"/>
                <a:cs typeface="Calibri Light"/>
              </a:rPr>
              <a:t>Systems </a:t>
            </a:r>
            <a:r>
              <a:rPr sz="3400" dirty="0">
                <a:latin typeface="Calibri Light"/>
                <a:cs typeface="Calibri Light"/>
              </a:rPr>
              <a:t>[</a:t>
            </a:r>
            <a:r>
              <a:rPr sz="3400" i="1" dirty="0">
                <a:latin typeface="Calibri Light"/>
                <a:cs typeface="Calibri Light"/>
              </a:rPr>
              <a:t>Introduction</a:t>
            </a:r>
            <a:r>
              <a:rPr sz="3400" i="1" spc="-95" dirty="0">
                <a:latin typeface="Calibri Light"/>
                <a:cs typeface="Calibri Light"/>
              </a:rPr>
              <a:t> </a:t>
            </a:r>
            <a:r>
              <a:rPr sz="3400" i="1" dirty="0">
                <a:latin typeface="Calibri Light"/>
                <a:cs typeface="Calibri Light"/>
              </a:rPr>
              <a:t>to</a:t>
            </a:r>
            <a:r>
              <a:rPr sz="3400" i="1" spc="-145" dirty="0">
                <a:latin typeface="Calibri Light"/>
                <a:cs typeface="Calibri Light"/>
              </a:rPr>
              <a:t> </a:t>
            </a:r>
            <a:r>
              <a:rPr sz="3400" i="1" spc="-10" dirty="0">
                <a:latin typeface="Calibri Light"/>
                <a:cs typeface="Calibri Light"/>
              </a:rPr>
              <a:t>Database</a:t>
            </a:r>
            <a:r>
              <a:rPr sz="3400" spc="-10" dirty="0">
                <a:latin typeface="Calibri Light"/>
                <a:cs typeface="Calibri Light"/>
              </a:rPr>
              <a:t>]</a:t>
            </a:r>
            <a:endParaRPr sz="3400" dirty="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6235065" cy="6858000"/>
            <a:chOff x="0" y="0"/>
            <a:chExt cx="6235065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520" y="2247017"/>
              <a:ext cx="2439079" cy="32912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234684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5"/>
            <a:ext cx="5639435" cy="6477000"/>
            <a:chOff x="0" y="6095"/>
            <a:chExt cx="5639435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8872"/>
              <a:ext cx="5638829" cy="6248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84911"/>
              <a:ext cx="5509278" cy="6121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095"/>
              <a:ext cx="5638800" cy="64770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83411" y="3054172"/>
            <a:ext cx="28524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What</a:t>
            </a:r>
            <a:r>
              <a:rPr sz="4000" spc="-7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is</a:t>
            </a:r>
            <a:r>
              <a:rPr sz="4000" spc="-70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Data?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70167" y="1439926"/>
            <a:ext cx="5081905" cy="389890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41300" marR="737235" indent="-228600">
              <a:lnSpc>
                <a:spcPts val="1939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b="1" dirty="0">
                <a:latin typeface="Calibri"/>
                <a:cs typeface="Calibri"/>
              </a:rPr>
              <a:t>Data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collection 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distinct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small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unit</a:t>
            </a:r>
            <a:r>
              <a:rPr sz="1800" spc="-25" dirty="0">
                <a:latin typeface="Calibri"/>
                <a:cs typeface="Calibri"/>
              </a:rPr>
              <a:t> of </a:t>
            </a:r>
            <a:r>
              <a:rPr sz="1800" spc="-10" dirty="0">
                <a:latin typeface="Calibri"/>
                <a:cs typeface="Calibri"/>
              </a:rPr>
              <a:t>information.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ts val="2055"/>
              </a:lnSpc>
              <a:spcBef>
                <a:spcPts val="265"/>
              </a:spcBef>
              <a:buFont typeface="Arial MT"/>
              <a:buChar char="•"/>
              <a:tabLst>
                <a:tab pos="697865" algn="l"/>
              </a:tabLst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variety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like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text,</a:t>
            </a:r>
            <a:endParaRPr sz="1800">
              <a:latin typeface="Calibri"/>
              <a:cs typeface="Calibri"/>
            </a:endParaRPr>
          </a:p>
          <a:p>
            <a:pPr marL="698500">
              <a:lnSpc>
                <a:spcPts val="2055"/>
              </a:lnSpc>
            </a:pPr>
            <a:r>
              <a:rPr sz="1800" dirty="0">
                <a:latin typeface="Calibri"/>
                <a:cs typeface="Calibri"/>
              </a:rPr>
              <a:t>numbers,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media,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bytes,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  <a:p>
            <a:pPr marL="698500" marR="5080" lvl="1" indent="-228600">
              <a:lnSpc>
                <a:spcPts val="1939"/>
              </a:lnSpc>
              <a:spcBef>
                <a:spcPts val="535"/>
              </a:spcBef>
              <a:buFont typeface="Arial MT"/>
              <a:buChar char="•"/>
              <a:tabLst>
                <a:tab pos="698500" algn="l"/>
              </a:tabLst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pieces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paper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electronic </a:t>
            </a:r>
            <a:r>
              <a:rPr sz="1800" spc="-20" dirty="0">
                <a:latin typeface="Calibri"/>
                <a:cs typeface="Calibri"/>
              </a:rPr>
              <a:t>memory,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ts val="2055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spc="-10" dirty="0">
                <a:latin typeface="Calibri"/>
                <a:cs typeface="Calibri"/>
              </a:rPr>
              <a:t>Word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</a:t>
            </a:r>
            <a:r>
              <a:rPr sz="1800" b="1" i="1" dirty="0">
                <a:latin typeface="Calibri"/>
                <a:cs typeface="Calibri"/>
              </a:rPr>
              <a:t>Data</a:t>
            </a:r>
            <a:r>
              <a:rPr sz="1800" dirty="0">
                <a:latin typeface="Calibri"/>
                <a:cs typeface="Calibri"/>
              </a:rPr>
              <a:t>'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originated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'</a:t>
            </a:r>
            <a:r>
              <a:rPr sz="1800" b="1" i="1" spc="-10" dirty="0">
                <a:latin typeface="Calibri"/>
                <a:cs typeface="Calibri"/>
              </a:rPr>
              <a:t>datum</a:t>
            </a:r>
            <a:r>
              <a:rPr sz="1800" spc="-10" dirty="0">
                <a:latin typeface="Calibri"/>
                <a:cs typeface="Calibri"/>
              </a:rPr>
              <a:t>'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5"/>
              </a:lnSpc>
            </a:pP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</a:t>
            </a:r>
            <a:r>
              <a:rPr sz="1800" b="1" i="1" dirty="0">
                <a:latin typeface="Calibri"/>
                <a:cs typeface="Calibri"/>
              </a:rPr>
              <a:t>single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piece</a:t>
            </a:r>
            <a:r>
              <a:rPr sz="1800" b="1" i="1" spc="-4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of</a:t>
            </a:r>
            <a:r>
              <a:rPr sz="1800" b="1" i="1" spc="-20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information</a:t>
            </a:r>
            <a:r>
              <a:rPr sz="1800" spc="-10" dirty="0">
                <a:latin typeface="Calibri"/>
                <a:cs typeface="Calibri"/>
              </a:rPr>
              <a:t>.’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plural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datum.</a:t>
            </a:r>
            <a:endParaRPr sz="1800">
              <a:latin typeface="Calibri"/>
              <a:cs typeface="Calibri"/>
            </a:endParaRPr>
          </a:p>
          <a:p>
            <a:pPr marL="241300" marR="220345" indent="-228600">
              <a:lnSpc>
                <a:spcPct val="901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computing,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25" dirty="0">
                <a:latin typeface="Calibri"/>
                <a:cs typeface="Calibri"/>
              </a:rPr>
              <a:t> be </a:t>
            </a:r>
            <a:r>
              <a:rPr sz="1800" spc="-10" dirty="0">
                <a:latin typeface="Calibri"/>
                <a:cs typeface="Calibri"/>
              </a:rPr>
              <a:t>translated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efficient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movement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 </a:t>
            </a:r>
            <a:r>
              <a:rPr sz="1800" spc="-10" dirty="0">
                <a:latin typeface="Calibri"/>
                <a:cs typeface="Calibri"/>
              </a:rPr>
              <a:t>processing.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Data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interchangeable.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5"/>
            <a:ext cx="5639435" cy="6477000"/>
            <a:chOff x="0" y="6095"/>
            <a:chExt cx="5639435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8872"/>
              <a:ext cx="5638829" cy="6248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84911"/>
              <a:ext cx="5509278" cy="6121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095"/>
              <a:ext cx="5638800" cy="64770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83411" y="2779852"/>
            <a:ext cx="215265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latin typeface="Calibri Light"/>
                <a:cs typeface="Calibri Light"/>
              </a:rPr>
              <a:t>What</a:t>
            </a:r>
            <a:r>
              <a:rPr sz="4000" spc="-114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is Database?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70167" y="448132"/>
            <a:ext cx="5146040" cy="5133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2055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database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organized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collection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that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5"/>
              </a:lnSpc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easily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managed.</a:t>
            </a:r>
            <a:endParaRPr sz="1800">
              <a:latin typeface="Calibri"/>
              <a:cs typeface="Calibri"/>
            </a:endParaRPr>
          </a:p>
          <a:p>
            <a:pPr marL="241300" marR="354965" indent="-228600">
              <a:lnSpc>
                <a:spcPts val="1939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spc="-40" dirty="0">
                <a:latin typeface="Calibri"/>
                <a:cs typeface="Calibri"/>
              </a:rPr>
              <a:t>You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organize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tables,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rows,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columns,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index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make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easier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relevant information.</a:t>
            </a:r>
            <a:endParaRPr sz="1800">
              <a:latin typeface="Calibri"/>
              <a:cs typeface="Calibri"/>
            </a:endParaRPr>
          </a:p>
          <a:p>
            <a:pPr marL="241300" marR="157480" indent="-228600">
              <a:lnSpc>
                <a:spcPts val="1939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b="1" dirty="0">
                <a:latin typeface="Calibri"/>
                <a:cs typeface="Calibri"/>
              </a:rPr>
              <a:t>Database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handlers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create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way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only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software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provides </a:t>
            </a: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users.</a:t>
            </a:r>
            <a:endParaRPr sz="1800">
              <a:latin typeface="Calibri"/>
              <a:cs typeface="Calibri"/>
            </a:endParaRPr>
          </a:p>
          <a:p>
            <a:pPr marL="241300" marR="231140" indent="-228600">
              <a:lnSpc>
                <a:spcPts val="1939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main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purpose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operate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a </a:t>
            </a:r>
            <a:r>
              <a:rPr sz="1800" dirty="0">
                <a:latin typeface="Calibri"/>
                <a:cs typeface="Calibri"/>
              </a:rPr>
              <a:t>large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amount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storing,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retrieving,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managing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marL="241300" marR="381000" indent="-228600" algn="just">
              <a:lnSpc>
                <a:spcPts val="1939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dynamic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websites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World </a:t>
            </a:r>
            <a:r>
              <a:rPr sz="1800" dirty="0">
                <a:latin typeface="Calibri"/>
                <a:cs typeface="Calibri"/>
              </a:rPr>
              <a:t>Wide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Web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nowadays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handled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through databases.</a:t>
            </a:r>
            <a:endParaRPr sz="1800">
              <a:latin typeface="Calibri"/>
              <a:cs typeface="Calibri"/>
            </a:endParaRPr>
          </a:p>
          <a:p>
            <a:pPr marL="698500" marR="971550" lvl="1" indent="-228600">
              <a:lnSpc>
                <a:spcPts val="1939"/>
              </a:lnSpc>
              <a:spcBef>
                <a:spcPts val="509"/>
              </a:spcBef>
              <a:buFont typeface="Arial MT"/>
              <a:buChar char="•"/>
              <a:tabLst>
                <a:tab pos="698500" algn="l"/>
              </a:tabLst>
            </a:pPr>
            <a:r>
              <a:rPr sz="1800" dirty="0">
                <a:latin typeface="Calibri"/>
                <a:cs typeface="Calibri"/>
              </a:rPr>
              <a:t>For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example,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checks</a:t>
            </a:r>
            <a:r>
              <a:rPr sz="1800" spc="-25" dirty="0">
                <a:latin typeface="Calibri"/>
                <a:cs typeface="Calibri"/>
              </a:rPr>
              <a:t> the </a:t>
            </a:r>
            <a:r>
              <a:rPr sz="1800" spc="-10" dirty="0">
                <a:latin typeface="Calibri"/>
                <a:cs typeface="Calibri"/>
              </a:rPr>
              <a:t>availability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rooms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hotel.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ts val="2050"/>
              </a:lnSpc>
              <a:spcBef>
                <a:spcPts val="260"/>
              </a:spcBef>
              <a:buFont typeface="Arial MT"/>
              <a:buChar char="•"/>
              <a:tabLst>
                <a:tab pos="697865" algn="l"/>
              </a:tabLst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example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dynamic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website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uses</a:t>
            </a:r>
            <a:endParaRPr sz="1800">
              <a:latin typeface="Calibri"/>
              <a:cs typeface="Calibri"/>
            </a:endParaRPr>
          </a:p>
          <a:p>
            <a:pPr marL="698500">
              <a:lnSpc>
                <a:spcPts val="2050"/>
              </a:lnSpc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database.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5"/>
            <a:ext cx="5639435" cy="6477000"/>
            <a:chOff x="0" y="6095"/>
            <a:chExt cx="5639435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8872"/>
              <a:ext cx="5638829" cy="6248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84911"/>
              <a:ext cx="5509278" cy="6121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095"/>
              <a:ext cx="5638800" cy="64770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83411" y="2779852"/>
            <a:ext cx="215265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latin typeface="Calibri Light"/>
                <a:cs typeface="Calibri Light"/>
              </a:rPr>
              <a:t>What</a:t>
            </a:r>
            <a:r>
              <a:rPr sz="4000" spc="-114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is Database?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70167" y="1686814"/>
            <a:ext cx="5145405" cy="265684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1300" marR="5080" indent="-228600">
              <a:lnSpc>
                <a:spcPct val="90100"/>
              </a:lnSpc>
              <a:spcBef>
                <a:spcPts val="31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databases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available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like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MySQL, </a:t>
            </a:r>
            <a:r>
              <a:rPr sz="1800" dirty="0">
                <a:latin typeface="Calibri"/>
                <a:cs typeface="Calibri"/>
              </a:rPr>
              <a:t>Sybase,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Oracle,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MongoDB,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Informix,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PostgreSQL,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SQL </a:t>
            </a:r>
            <a:r>
              <a:rPr sz="1800" spc="-20" dirty="0">
                <a:latin typeface="Calibri"/>
                <a:cs typeface="Calibri"/>
              </a:rPr>
              <a:t>Server,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  <a:p>
            <a:pPr marL="241300" marR="332105" indent="-228600">
              <a:lnSpc>
                <a:spcPts val="1939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Modern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managed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DataBase Management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(DBMS).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ts val="2055"/>
              </a:lnSpc>
              <a:spcBef>
                <a:spcPts val="76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b="1" dirty="0">
                <a:latin typeface="Calibri"/>
                <a:cs typeface="Calibri"/>
              </a:rPr>
              <a:t>SQL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(Structured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Query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Language)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operate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5"/>
              </a:lnSpc>
            </a:pPr>
            <a:r>
              <a:rPr sz="1800" dirty="0">
                <a:latin typeface="Calibri"/>
                <a:cs typeface="Calibri"/>
              </a:rPr>
              <a:t>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database.</a:t>
            </a:r>
            <a:endParaRPr sz="1800">
              <a:latin typeface="Calibri"/>
              <a:cs typeface="Calibri"/>
            </a:endParaRPr>
          </a:p>
          <a:p>
            <a:pPr marL="241300" marR="782320" indent="-228600">
              <a:lnSpc>
                <a:spcPts val="1939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SQL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depends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relational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algebra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tuple relational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calculus.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839592"/>
            <a:ext cx="2220595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spc="-10" dirty="0">
                <a:latin typeface="Calibri Light"/>
                <a:cs typeface="Calibri Light"/>
              </a:rPr>
              <a:t>Evolution</a:t>
            </a:r>
            <a:r>
              <a:rPr sz="3600" spc="-175" dirty="0">
                <a:latin typeface="Calibri Light"/>
                <a:cs typeface="Calibri Light"/>
              </a:rPr>
              <a:t> </a:t>
            </a:r>
            <a:r>
              <a:rPr sz="3600" spc="-25" dirty="0">
                <a:latin typeface="Calibri Light"/>
                <a:cs typeface="Calibri Light"/>
              </a:rPr>
              <a:t>of </a:t>
            </a:r>
            <a:r>
              <a:rPr sz="3600" spc="-10" dirty="0">
                <a:latin typeface="Calibri Light"/>
                <a:cs typeface="Calibri Light"/>
              </a:rPr>
              <a:t>Databases</a:t>
            </a:r>
            <a:endParaRPr sz="36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716" y="0"/>
            <a:ext cx="4325620" cy="2641600"/>
            <a:chOff x="13716" y="0"/>
            <a:chExt cx="4325620" cy="2641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" y="0"/>
              <a:ext cx="4325112" cy="26410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6" y="0"/>
              <a:ext cx="4285488" cy="242163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337175" y="2817114"/>
            <a:ext cx="5866765" cy="11690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41300" marR="5080" indent="-228600">
              <a:lnSpc>
                <a:spcPts val="1939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completed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50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years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journey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evolution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flat-</a:t>
            </a:r>
            <a:r>
              <a:rPr sz="1800" dirty="0">
                <a:latin typeface="Calibri"/>
                <a:cs typeface="Calibri"/>
              </a:rPr>
              <a:t>file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relational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objects relational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systems.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gone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through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several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generations.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35923" y="4114812"/>
            <a:ext cx="3656076" cy="27431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12552"/>
            <a:ext cx="5196840" cy="6235700"/>
            <a:chOff x="0" y="512552"/>
            <a:chExt cx="5196840" cy="6235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12552"/>
              <a:ext cx="5164827" cy="62357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66925"/>
              <a:ext cx="5196765" cy="610957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18819" y="2839592"/>
            <a:ext cx="3634740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dirty="0">
                <a:latin typeface="Calibri Light"/>
                <a:cs typeface="Calibri Light"/>
              </a:rPr>
              <a:t>The</a:t>
            </a:r>
            <a:r>
              <a:rPr sz="3600" spc="-80" dirty="0">
                <a:latin typeface="Calibri Light"/>
                <a:cs typeface="Calibri Light"/>
              </a:rPr>
              <a:t> </a:t>
            </a:r>
            <a:r>
              <a:rPr sz="3600" spc="-10" dirty="0">
                <a:latin typeface="Calibri Light"/>
                <a:cs typeface="Calibri Light"/>
              </a:rPr>
              <a:t>Evolution</a:t>
            </a:r>
            <a:r>
              <a:rPr sz="3600" spc="-60" dirty="0">
                <a:latin typeface="Calibri Light"/>
                <a:cs typeface="Calibri Light"/>
              </a:rPr>
              <a:t> </a:t>
            </a:r>
            <a:r>
              <a:rPr sz="3600" dirty="0">
                <a:latin typeface="Calibri Light"/>
                <a:cs typeface="Calibri Light"/>
              </a:rPr>
              <a:t>:</a:t>
            </a:r>
            <a:r>
              <a:rPr sz="3600" spc="-75" dirty="0">
                <a:latin typeface="Calibri Light"/>
                <a:cs typeface="Calibri Light"/>
              </a:rPr>
              <a:t> </a:t>
            </a:r>
            <a:r>
              <a:rPr sz="3600" spc="-10" dirty="0">
                <a:latin typeface="Calibri Light"/>
                <a:cs typeface="Calibri Light"/>
              </a:rPr>
              <a:t>File- Based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1575" y="1940178"/>
            <a:ext cx="4975225" cy="290385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41300" marR="41275" indent="-229235">
              <a:lnSpc>
                <a:spcPts val="1939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1968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year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File-</a:t>
            </a:r>
            <a:r>
              <a:rPr sz="1800" dirty="0">
                <a:latin typeface="Calibri"/>
                <a:cs typeface="Calibri"/>
              </a:rPr>
              <a:t>Based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were </a:t>
            </a:r>
            <a:r>
              <a:rPr sz="1800" spc="-10" dirty="0">
                <a:latin typeface="Calibri"/>
                <a:cs typeface="Calibri"/>
              </a:rPr>
              <a:t>introduced.</a:t>
            </a:r>
            <a:endParaRPr sz="1800">
              <a:latin typeface="Calibri"/>
              <a:cs typeface="Calibri"/>
            </a:endParaRPr>
          </a:p>
          <a:p>
            <a:pPr marL="241300" marR="67310" indent="-229235">
              <a:lnSpc>
                <a:spcPts val="1939"/>
              </a:lnSpc>
              <a:spcBef>
                <a:spcPts val="102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file-</a:t>
            </a:r>
            <a:r>
              <a:rPr sz="1800" dirty="0">
                <a:latin typeface="Calibri"/>
                <a:cs typeface="Calibri"/>
              </a:rPr>
              <a:t>based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databases,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maintained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a </a:t>
            </a:r>
            <a:r>
              <a:rPr sz="1800" dirty="0">
                <a:latin typeface="Calibri"/>
                <a:cs typeface="Calibri"/>
              </a:rPr>
              <a:t>flat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file.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Though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advantages,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there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several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limitations.</a:t>
            </a:r>
            <a:endParaRPr sz="1800">
              <a:latin typeface="Calibri"/>
              <a:cs typeface="Calibri"/>
            </a:endParaRPr>
          </a:p>
          <a:p>
            <a:pPr marL="241300" marR="5080" indent="-229235">
              <a:lnSpc>
                <a:spcPts val="1939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One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major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advantages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file</a:t>
            </a:r>
            <a:r>
              <a:rPr sz="1800" spc="-10" dirty="0">
                <a:latin typeface="Calibri"/>
                <a:cs typeface="Calibri"/>
              </a:rPr>
              <a:t> system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various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methods,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e.g.,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sequential, indexed,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random.</a:t>
            </a:r>
            <a:endParaRPr sz="1800">
              <a:latin typeface="Calibri"/>
              <a:cs typeface="Calibri"/>
            </a:endParaRPr>
          </a:p>
          <a:p>
            <a:pPr marL="241300" marR="586105" indent="-229235">
              <a:lnSpc>
                <a:spcPts val="1939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requires extensive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programming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third- generation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language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COBOL,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BASIC.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3411" y="763904"/>
            <a:ext cx="9638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85" dirty="0"/>
              <a:t> </a:t>
            </a:r>
            <a:r>
              <a:rPr spc="-10" dirty="0"/>
              <a:t>Evolution</a:t>
            </a:r>
            <a:r>
              <a:rPr spc="-60" dirty="0"/>
              <a:t> </a:t>
            </a:r>
            <a:r>
              <a:rPr dirty="0"/>
              <a:t>:</a:t>
            </a:r>
            <a:r>
              <a:rPr spc="-75" dirty="0"/>
              <a:t> </a:t>
            </a:r>
            <a:r>
              <a:rPr spc="-10" dirty="0"/>
              <a:t>Hierarchical</a:t>
            </a:r>
            <a:r>
              <a:rPr spc="-75" dirty="0"/>
              <a:t> </a:t>
            </a:r>
            <a:r>
              <a:rPr dirty="0"/>
              <a:t>Data</a:t>
            </a:r>
            <a:r>
              <a:rPr spc="-75" dirty="0"/>
              <a:t> </a:t>
            </a:r>
            <a:r>
              <a:rPr dirty="0"/>
              <a:t>Model</a:t>
            </a:r>
            <a:r>
              <a:rPr spc="-80" dirty="0"/>
              <a:t> </a:t>
            </a:r>
            <a:r>
              <a:rPr dirty="0"/>
              <a:t>(1968-</a:t>
            </a:r>
            <a:r>
              <a:rPr spc="-10" dirty="0"/>
              <a:t>1980)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34454" y="2853308"/>
            <a:ext cx="4866005" cy="312547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41300" marR="257810" indent="-228600">
              <a:lnSpc>
                <a:spcPts val="1839"/>
              </a:lnSpc>
              <a:spcBef>
                <a:spcPts val="330"/>
              </a:spcBef>
              <a:buFont typeface="Arial MT"/>
              <a:buChar char="•"/>
              <a:tabLst>
                <a:tab pos="241300" algn="l"/>
              </a:tabLst>
            </a:pPr>
            <a:r>
              <a:rPr sz="1700" spc="-10" dirty="0">
                <a:latin typeface="Calibri"/>
                <a:cs typeface="Calibri"/>
              </a:rPr>
              <a:t>Prominent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hierarchical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database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model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was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IBM's </a:t>
            </a:r>
            <a:r>
              <a:rPr sz="1700" dirty="0">
                <a:latin typeface="Calibri"/>
                <a:cs typeface="Calibri"/>
              </a:rPr>
              <a:t>first</a:t>
            </a:r>
            <a:r>
              <a:rPr sz="1700" spc="-75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DBMS.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ts val="1939"/>
              </a:lnSpc>
              <a:spcBef>
                <a:spcPts val="760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dirty="0">
                <a:latin typeface="Calibri"/>
                <a:cs typeface="Calibri"/>
              </a:rPr>
              <a:t>It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was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called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IMS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(Information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Management</a:t>
            </a:r>
            <a:endParaRPr sz="1700">
              <a:latin typeface="Calibri"/>
              <a:cs typeface="Calibri"/>
            </a:endParaRPr>
          </a:p>
          <a:p>
            <a:pPr marL="241300">
              <a:lnSpc>
                <a:spcPts val="1939"/>
              </a:lnSpc>
            </a:pPr>
            <a:r>
              <a:rPr sz="1700" spc="-10" dirty="0">
                <a:latin typeface="Calibri"/>
                <a:cs typeface="Calibri"/>
              </a:rPr>
              <a:t>System).</a:t>
            </a:r>
            <a:endParaRPr sz="1700">
              <a:latin typeface="Calibri"/>
              <a:cs typeface="Calibri"/>
            </a:endParaRPr>
          </a:p>
          <a:p>
            <a:pPr marL="241300" marR="521334" indent="-228600">
              <a:lnSpc>
                <a:spcPts val="1839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sz="1700" dirty="0">
                <a:latin typeface="Calibri"/>
                <a:cs typeface="Calibri"/>
              </a:rPr>
              <a:t>In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this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model,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files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are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related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parent/child manner.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dirty="0">
                <a:latin typeface="Calibri"/>
                <a:cs typeface="Calibri"/>
              </a:rPr>
              <a:t>Small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circle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represents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objects.</a:t>
            </a:r>
            <a:endParaRPr sz="170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1700" dirty="0">
                <a:latin typeface="Calibri"/>
                <a:cs typeface="Calibri"/>
              </a:rPr>
              <a:t>Like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file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system,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this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model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also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had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some</a:t>
            </a:r>
            <a:r>
              <a:rPr sz="1700" spc="5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limitations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like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complex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implementation,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lack </a:t>
            </a:r>
            <a:r>
              <a:rPr sz="1700" spc="-10" dirty="0">
                <a:latin typeface="Calibri"/>
                <a:cs typeface="Calibri"/>
              </a:rPr>
              <a:t>structural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independence,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can't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easily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handle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many- </a:t>
            </a:r>
            <a:r>
              <a:rPr sz="1700" dirty="0">
                <a:latin typeface="Calibri"/>
                <a:cs typeface="Calibri"/>
              </a:rPr>
              <a:t>many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relationship,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etc.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837688"/>
            <a:ext cx="5477510" cy="4020820"/>
            <a:chOff x="0" y="2837688"/>
            <a:chExt cx="5477510" cy="40208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796284"/>
              <a:ext cx="2298109" cy="30617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6611" y="2837688"/>
              <a:ext cx="4390644" cy="321716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06256" y="6095"/>
            <a:ext cx="3282696" cy="283159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4543" y="0"/>
            <a:ext cx="3264407" cy="25801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592704"/>
            <a:ext cx="2750820" cy="156210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dirty="0">
                <a:latin typeface="Calibri Light"/>
                <a:cs typeface="Calibri Light"/>
              </a:rPr>
              <a:t>The</a:t>
            </a:r>
            <a:r>
              <a:rPr sz="3600" spc="-114" dirty="0">
                <a:latin typeface="Calibri Light"/>
                <a:cs typeface="Calibri Light"/>
              </a:rPr>
              <a:t> </a:t>
            </a:r>
            <a:r>
              <a:rPr sz="3600" spc="-10" dirty="0">
                <a:latin typeface="Calibri Light"/>
                <a:cs typeface="Calibri Light"/>
              </a:rPr>
              <a:t>Evolution</a:t>
            </a:r>
            <a:r>
              <a:rPr sz="3600" spc="-90" dirty="0">
                <a:latin typeface="Calibri Light"/>
                <a:cs typeface="Calibri Light"/>
              </a:rPr>
              <a:t> </a:t>
            </a:r>
            <a:r>
              <a:rPr sz="3600" spc="-50" dirty="0">
                <a:latin typeface="Calibri Light"/>
                <a:cs typeface="Calibri Light"/>
              </a:rPr>
              <a:t>: </a:t>
            </a:r>
            <a:r>
              <a:rPr sz="3600" dirty="0">
                <a:latin typeface="Calibri Light"/>
                <a:cs typeface="Calibri Light"/>
              </a:rPr>
              <a:t>Network</a:t>
            </a:r>
            <a:r>
              <a:rPr sz="3600" spc="-105" dirty="0">
                <a:latin typeface="Calibri Light"/>
                <a:cs typeface="Calibri Light"/>
              </a:rPr>
              <a:t> </a:t>
            </a:r>
            <a:r>
              <a:rPr sz="3600" spc="-20" dirty="0">
                <a:latin typeface="Calibri Light"/>
                <a:cs typeface="Calibri Light"/>
              </a:rPr>
              <a:t>data </a:t>
            </a:r>
            <a:r>
              <a:rPr sz="3600" spc="-10" dirty="0">
                <a:latin typeface="Calibri Light"/>
                <a:cs typeface="Calibri Light"/>
              </a:rPr>
              <a:t>model</a:t>
            </a:r>
            <a:endParaRPr sz="36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6611" y="4572"/>
            <a:ext cx="7295388" cy="68534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712457" y="1395730"/>
            <a:ext cx="4331970" cy="253238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41300" marR="35560" indent="-228600">
              <a:lnSpc>
                <a:spcPts val="1839"/>
              </a:lnSpc>
              <a:spcBef>
                <a:spcPts val="330"/>
              </a:spcBef>
              <a:buFont typeface="Arial MT"/>
              <a:buChar char="•"/>
              <a:tabLst>
                <a:tab pos="241300" algn="l"/>
              </a:tabLst>
            </a:pPr>
            <a:r>
              <a:rPr sz="1700" b="1" dirty="0">
                <a:latin typeface="Calibri"/>
                <a:cs typeface="Calibri"/>
              </a:rPr>
              <a:t>Charles</a:t>
            </a:r>
            <a:r>
              <a:rPr sz="1700" b="1" spc="-3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Bachman</a:t>
            </a:r>
            <a:r>
              <a:rPr sz="1700" b="1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developed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first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DBMS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at </a:t>
            </a:r>
            <a:r>
              <a:rPr sz="1700" dirty="0">
                <a:latin typeface="Calibri"/>
                <a:cs typeface="Calibri"/>
              </a:rPr>
              <a:t>Honeywell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called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Integrated</a:t>
            </a:r>
            <a:r>
              <a:rPr sz="1700" spc="-8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Data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Store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(IDS).</a:t>
            </a:r>
            <a:endParaRPr sz="1700">
              <a:latin typeface="Calibri"/>
              <a:cs typeface="Calibri"/>
            </a:endParaRPr>
          </a:p>
          <a:p>
            <a:pPr marL="241300" marR="31750" indent="-228600">
              <a:lnSpc>
                <a:spcPts val="1839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1700" dirty="0">
                <a:latin typeface="Calibri"/>
                <a:cs typeface="Calibri"/>
              </a:rPr>
              <a:t>It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was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developed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early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1960s,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but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it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was </a:t>
            </a:r>
            <a:r>
              <a:rPr sz="1700" spc="-10" dirty="0">
                <a:latin typeface="Calibri"/>
                <a:cs typeface="Calibri"/>
              </a:rPr>
              <a:t>standardized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1971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by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CODASYL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group (Conference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on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Data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Systems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Languages).</a:t>
            </a:r>
            <a:endParaRPr sz="1700">
              <a:latin typeface="Calibri"/>
              <a:cs typeface="Calibri"/>
            </a:endParaRPr>
          </a:p>
          <a:p>
            <a:pPr marL="241300" marR="5080" indent="-228600">
              <a:lnSpc>
                <a:spcPts val="1839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1700" dirty="0">
                <a:latin typeface="Calibri"/>
                <a:cs typeface="Calibri"/>
              </a:rPr>
              <a:t>In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this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model,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files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are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related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as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owners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and </a:t>
            </a:r>
            <a:r>
              <a:rPr sz="1700" dirty="0">
                <a:latin typeface="Calibri"/>
                <a:cs typeface="Calibri"/>
              </a:rPr>
              <a:t>members,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like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common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network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model.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ts val="1939"/>
              </a:lnSpc>
              <a:spcBef>
                <a:spcPts val="775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dirty="0">
                <a:latin typeface="Calibri"/>
                <a:cs typeface="Calibri"/>
              </a:rPr>
              <a:t>Network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data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model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identified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following</a:t>
            </a:r>
            <a:endParaRPr sz="1700">
              <a:latin typeface="Calibri"/>
              <a:cs typeface="Calibri"/>
            </a:endParaRPr>
          </a:p>
          <a:p>
            <a:pPr marL="241300">
              <a:lnSpc>
                <a:spcPts val="1939"/>
              </a:lnSpc>
            </a:pPr>
            <a:r>
              <a:rPr sz="1700" spc="-10" dirty="0">
                <a:latin typeface="Calibri"/>
                <a:cs typeface="Calibri"/>
              </a:rPr>
              <a:t>components: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69657" y="3900906"/>
            <a:ext cx="3865245" cy="91694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dirty="0">
                <a:latin typeface="Calibri"/>
                <a:cs typeface="Calibri"/>
              </a:rPr>
              <a:t>Network</a:t>
            </a:r>
            <a:r>
              <a:rPr sz="1700" spc="-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schema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(Database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organization)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spc="-10" dirty="0">
                <a:latin typeface="Calibri"/>
                <a:cs typeface="Calibri"/>
              </a:rPr>
              <a:t>Sub-</a:t>
            </a:r>
            <a:r>
              <a:rPr sz="1700" dirty="0">
                <a:latin typeface="Calibri"/>
                <a:cs typeface="Calibri"/>
              </a:rPr>
              <a:t>schema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(views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 </a:t>
            </a:r>
            <a:r>
              <a:rPr sz="1700" spc="-10" dirty="0">
                <a:latin typeface="Calibri"/>
                <a:cs typeface="Calibri"/>
              </a:rPr>
              <a:t>database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per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user)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dirty="0">
                <a:latin typeface="Calibri"/>
                <a:cs typeface="Calibri"/>
              </a:rPr>
              <a:t>Data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management</a:t>
            </a:r>
            <a:r>
              <a:rPr sz="1700" spc="-8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language</a:t>
            </a:r>
            <a:r>
              <a:rPr sz="1700" spc="-9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(procedural)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12457" y="4892116"/>
            <a:ext cx="4497705" cy="519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ts val="1939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dirty="0">
                <a:latin typeface="Calibri"/>
                <a:cs typeface="Calibri"/>
              </a:rPr>
              <a:t>This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model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also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had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some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limitations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like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system</a:t>
            </a:r>
            <a:endParaRPr sz="1700">
              <a:latin typeface="Calibri"/>
              <a:cs typeface="Calibri"/>
            </a:endParaRPr>
          </a:p>
          <a:p>
            <a:pPr marL="241300">
              <a:lnSpc>
                <a:spcPts val="1939"/>
              </a:lnSpc>
            </a:pPr>
            <a:r>
              <a:rPr sz="1700" dirty="0">
                <a:latin typeface="Calibri"/>
                <a:cs typeface="Calibri"/>
              </a:rPr>
              <a:t>complexity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difficult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design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maintain.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5"/>
            <a:ext cx="5639435" cy="6477000"/>
            <a:chOff x="0" y="6095"/>
            <a:chExt cx="5639435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8872"/>
              <a:ext cx="5638829" cy="6248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84911"/>
              <a:ext cx="5509278" cy="6121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095"/>
              <a:ext cx="5638800" cy="64770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83411" y="2231517"/>
            <a:ext cx="3215640" cy="22809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sz="4000" dirty="0">
                <a:latin typeface="Calibri Light"/>
                <a:cs typeface="Calibri Light"/>
              </a:rPr>
              <a:t>The</a:t>
            </a:r>
            <a:r>
              <a:rPr sz="4000" spc="-110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Evolution</a:t>
            </a:r>
            <a:r>
              <a:rPr sz="4000" spc="-114" dirty="0">
                <a:latin typeface="Calibri Light"/>
                <a:cs typeface="Calibri Light"/>
              </a:rPr>
              <a:t> </a:t>
            </a:r>
            <a:r>
              <a:rPr sz="4000" spc="-50" dirty="0">
                <a:latin typeface="Calibri Light"/>
                <a:cs typeface="Calibri Light"/>
              </a:rPr>
              <a:t>: </a:t>
            </a:r>
            <a:r>
              <a:rPr sz="4000" spc="-10" dirty="0">
                <a:latin typeface="Calibri Light"/>
                <a:cs typeface="Calibri Light"/>
              </a:rPr>
              <a:t>Relational Database</a:t>
            </a:r>
            <a:r>
              <a:rPr sz="4000" spc="-175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(1970 </a:t>
            </a:r>
            <a:r>
              <a:rPr sz="4000" dirty="0">
                <a:latin typeface="Calibri Light"/>
                <a:cs typeface="Calibri Light"/>
              </a:rPr>
              <a:t>–</a:t>
            </a:r>
            <a:r>
              <a:rPr sz="4000" spc="-5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Present)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70167" y="1005966"/>
            <a:ext cx="4930140" cy="1789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205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era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Relational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Database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0"/>
              </a:lnSpc>
            </a:pPr>
            <a:r>
              <a:rPr sz="1800" spc="-10" dirty="0">
                <a:latin typeface="Calibri"/>
                <a:cs typeface="Calibri"/>
              </a:rPr>
              <a:t>Management.</a:t>
            </a:r>
            <a:endParaRPr sz="1800">
              <a:latin typeface="Calibri"/>
              <a:cs typeface="Calibri"/>
            </a:endParaRPr>
          </a:p>
          <a:p>
            <a:pPr marL="241300" marR="5080" indent="-228600">
              <a:lnSpc>
                <a:spcPts val="1939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1970,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relational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proposed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20" dirty="0">
                <a:latin typeface="Calibri"/>
                <a:cs typeface="Calibri"/>
              </a:rPr>
              <a:t> E.F. </a:t>
            </a:r>
            <a:r>
              <a:rPr sz="1800" spc="-10" dirty="0">
                <a:latin typeface="Calibri"/>
                <a:cs typeface="Calibri"/>
              </a:rPr>
              <a:t>Codd.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ts val="205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spc="-10" dirty="0">
                <a:latin typeface="Calibri"/>
                <a:cs typeface="Calibri"/>
              </a:rPr>
              <a:t>Relational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main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0"/>
              </a:lnSpc>
            </a:pPr>
            <a:r>
              <a:rPr sz="1800" dirty="0">
                <a:latin typeface="Calibri"/>
                <a:cs typeface="Calibri"/>
              </a:rPr>
              <a:t>terminologies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called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instance</a:t>
            </a:r>
            <a:r>
              <a:rPr sz="1800" b="1" i="1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schema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27368" y="2771394"/>
            <a:ext cx="4648835" cy="89154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instance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rows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columns</a:t>
            </a:r>
            <a:endParaRPr sz="1800">
              <a:latin typeface="Calibri"/>
              <a:cs typeface="Calibri"/>
            </a:endParaRPr>
          </a:p>
          <a:p>
            <a:pPr marL="241300" marR="5080" indent="-228600">
              <a:lnSpc>
                <a:spcPts val="1939"/>
              </a:lnSpc>
              <a:spcBef>
                <a:spcPts val="52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Schema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specifies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structure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like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name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relation,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type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column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name.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70167" y="3737305"/>
            <a:ext cx="5118100" cy="2035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2055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This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some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mathematical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concept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like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set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5"/>
              </a:lnSpc>
            </a:pPr>
            <a:r>
              <a:rPr sz="1800" dirty="0">
                <a:latin typeface="Calibri"/>
                <a:cs typeface="Calibri"/>
              </a:rPr>
              <a:t>theory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predicate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logic.</a:t>
            </a:r>
            <a:endParaRPr sz="1800">
              <a:latin typeface="Calibri"/>
              <a:cs typeface="Calibri"/>
            </a:endParaRPr>
          </a:p>
          <a:p>
            <a:pPr marL="241300" marR="410209" indent="-228600">
              <a:lnSpc>
                <a:spcPts val="1939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internet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application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been </a:t>
            </a:r>
            <a:r>
              <a:rPr sz="1800" spc="-10" dirty="0">
                <a:latin typeface="Calibri"/>
                <a:cs typeface="Calibri"/>
              </a:rPr>
              <a:t>created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1995.</a:t>
            </a:r>
            <a:endParaRPr sz="1800">
              <a:latin typeface="Calibri"/>
              <a:cs typeface="Calibri"/>
            </a:endParaRPr>
          </a:p>
          <a:p>
            <a:pPr marL="241300" marR="306070" indent="-228600">
              <a:lnSpc>
                <a:spcPts val="195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During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era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relational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many </a:t>
            </a:r>
            <a:r>
              <a:rPr sz="1800" dirty="0">
                <a:latin typeface="Calibri"/>
                <a:cs typeface="Calibri"/>
              </a:rPr>
              <a:t>more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introduced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like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object-oriented </a:t>
            </a:r>
            <a:r>
              <a:rPr sz="1800" dirty="0">
                <a:latin typeface="Calibri"/>
                <a:cs typeface="Calibri"/>
              </a:rPr>
              <a:t>model,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object-</a:t>
            </a:r>
            <a:r>
              <a:rPr sz="1800" dirty="0">
                <a:latin typeface="Calibri"/>
                <a:cs typeface="Calibri"/>
              </a:rPr>
              <a:t>relational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70" dirty="0"/>
              <a:t> </a:t>
            </a:r>
            <a:r>
              <a:rPr spc="-10" dirty="0"/>
              <a:t>Evolution</a:t>
            </a:r>
            <a:r>
              <a:rPr spc="-45" dirty="0"/>
              <a:t> </a:t>
            </a:r>
            <a:r>
              <a:rPr dirty="0"/>
              <a:t>:</a:t>
            </a:r>
            <a:r>
              <a:rPr spc="-65" dirty="0"/>
              <a:t> </a:t>
            </a:r>
            <a:r>
              <a:rPr dirty="0"/>
              <a:t>Cloud</a:t>
            </a:r>
            <a:r>
              <a:rPr spc="-55" dirty="0"/>
              <a:t> </a:t>
            </a:r>
            <a:r>
              <a:rPr spc="-10" dirty="0"/>
              <a:t>database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866888" y="0"/>
            <a:ext cx="4325620" cy="2641600"/>
            <a:chOff x="7866888" y="0"/>
            <a:chExt cx="4325620" cy="2641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66888" y="0"/>
              <a:ext cx="4325111" cy="26410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8036" y="0"/>
              <a:ext cx="4283964" cy="242163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258061" y="3096514"/>
            <a:ext cx="9316720" cy="270256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15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dirty="0">
                <a:latin typeface="Calibri"/>
                <a:cs typeface="Calibri"/>
              </a:rPr>
              <a:t>Cloud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database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facilitates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you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store,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manage,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retrieve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their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structured,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unstructured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via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cloud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platform.</a:t>
            </a:r>
            <a:endParaRPr sz="15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dirty="0">
                <a:latin typeface="Calibri"/>
                <a:cs typeface="Calibri"/>
              </a:rPr>
              <a:t>This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accessible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over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Internet.</a:t>
            </a:r>
            <a:endParaRPr sz="15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dirty="0">
                <a:latin typeface="Calibri"/>
                <a:cs typeface="Calibri"/>
              </a:rPr>
              <a:t>Cloud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databases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also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called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database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service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(DBaaS)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because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they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offered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managed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service.</a:t>
            </a:r>
            <a:endParaRPr sz="15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dirty="0">
                <a:latin typeface="Calibri"/>
                <a:cs typeface="Calibri"/>
              </a:rPr>
              <a:t>Some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best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cloud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options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are:</a:t>
            </a:r>
            <a:endParaRPr sz="15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698500" algn="l"/>
              </a:tabLst>
            </a:pPr>
            <a:r>
              <a:rPr sz="1500" spc="-10" dirty="0">
                <a:latin typeface="Calibri"/>
                <a:cs typeface="Calibri"/>
              </a:rPr>
              <a:t>AWS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(Amazon</a:t>
            </a:r>
            <a:r>
              <a:rPr sz="1500" spc="-7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Web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Services)</a:t>
            </a:r>
            <a:endParaRPr sz="15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698500" algn="l"/>
              </a:tabLst>
            </a:pPr>
            <a:r>
              <a:rPr sz="1500" spc="-10" dirty="0">
                <a:latin typeface="Calibri"/>
                <a:cs typeface="Calibri"/>
              </a:rPr>
              <a:t>Snowflake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Computing</a:t>
            </a:r>
            <a:endParaRPr sz="15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698500" algn="l"/>
              </a:tabLst>
            </a:pPr>
            <a:r>
              <a:rPr sz="1500" dirty="0">
                <a:latin typeface="Calibri"/>
                <a:cs typeface="Calibri"/>
              </a:rPr>
              <a:t>Oracle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Database</a:t>
            </a:r>
            <a:r>
              <a:rPr sz="1500" spc="-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Cloud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Services</a:t>
            </a:r>
            <a:endParaRPr sz="15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698500" algn="l"/>
              </a:tabLst>
            </a:pPr>
            <a:r>
              <a:rPr sz="1500" dirty="0">
                <a:latin typeface="Calibri"/>
                <a:cs typeface="Calibri"/>
              </a:rPr>
              <a:t>Microsoft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SQL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server</a:t>
            </a:r>
            <a:endParaRPr sz="15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698500" algn="l"/>
              </a:tabLst>
            </a:pPr>
            <a:r>
              <a:rPr sz="1500" dirty="0">
                <a:latin typeface="Calibri"/>
                <a:cs typeface="Calibri"/>
              </a:rPr>
              <a:t>Google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cloud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spanner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85" dirty="0"/>
              <a:t> </a:t>
            </a:r>
            <a:r>
              <a:rPr spc="-10" dirty="0"/>
              <a:t>Evolution</a:t>
            </a:r>
            <a:r>
              <a:rPr spc="-65" dirty="0"/>
              <a:t> </a:t>
            </a:r>
            <a:r>
              <a:rPr dirty="0"/>
              <a:t>:</a:t>
            </a:r>
            <a:r>
              <a:rPr spc="-80" dirty="0"/>
              <a:t> </a:t>
            </a:r>
            <a:r>
              <a:rPr dirty="0"/>
              <a:t>Cloud</a:t>
            </a:r>
            <a:r>
              <a:rPr spc="-70" dirty="0"/>
              <a:t> </a:t>
            </a:r>
            <a:r>
              <a:rPr spc="-10" dirty="0"/>
              <a:t>database</a:t>
            </a:r>
            <a:r>
              <a:rPr spc="-85" dirty="0"/>
              <a:t> </a:t>
            </a:r>
            <a:r>
              <a:rPr spc="-10" dirty="0"/>
              <a:t>(Advantages)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866888" y="0"/>
            <a:ext cx="4325620" cy="2641600"/>
            <a:chOff x="7866888" y="0"/>
            <a:chExt cx="4325620" cy="2641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66888" y="0"/>
              <a:ext cx="4325111" cy="26410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8036" y="0"/>
              <a:ext cx="4283964" cy="242163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258061" y="3600069"/>
            <a:ext cx="9455150" cy="178943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41300" marR="5080" indent="-228600">
              <a:lnSpc>
                <a:spcPts val="1939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b="1" dirty="0">
                <a:latin typeface="Calibri"/>
                <a:cs typeface="Calibri"/>
              </a:rPr>
              <a:t>Lower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costs: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Generally, </a:t>
            </a:r>
            <a:r>
              <a:rPr sz="1800" spc="-10" dirty="0">
                <a:latin typeface="Calibri"/>
                <a:cs typeface="Calibri"/>
              </a:rPr>
              <a:t>company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provider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invest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databases.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maintain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 </a:t>
            </a:r>
            <a:r>
              <a:rPr sz="1800" dirty="0">
                <a:latin typeface="Calibri"/>
                <a:cs typeface="Calibri"/>
              </a:rPr>
              <a:t>support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centers.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ts val="205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b="1" dirty="0">
                <a:latin typeface="Calibri"/>
                <a:cs typeface="Calibri"/>
              </a:rPr>
              <a:t>Automated: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Cloud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enriched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variety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automated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processes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recovery,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0"/>
              </a:lnSpc>
            </a:pPr>
            <a:r>
              <a:rPr sz="1800" spc="-25" dirty="0">
                <a:latin typeface="Calibri"/>
                <a:cs typeface="Calibri"/>
              </a:rPr>
              <a:t>failover,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auto-</a:t>
            </a:r>
            <a:r>
              <a:rPr sz="1800" spc="-10" dirty="0">
                <a:latin typeface="Calibri"/>
                <a:cs typeface="Calibri"/>
              </a:rPr>
              <a:t>scaling.</a:t>
            </a:r>
            <a:endParaRPr sz="1800">
              <a:latin typeface="Calibri"/>
              <a:cs typeface="Calibri"/>
            </a:endParaRPr>
          </a:p>
          <a:p>
            <a:pPr marL="241300" marR="161290" indent="-228600">
              <a:lnSpc>
                <a:spcPts val="1939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b="1" dirty="0">
                <a:latin typeface="Calibri"/>
                <a:cs typeface="Calibri"/>
              </a:rPr>
              <a:t>Increased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Accessibility:</a:t>
            </a:r>
            <a:r>
              <a:rPr sz="1800" b="1" spc="-95" dirty="0">
                <a:latin typeface="Calibri"/>
                <a:cs typeface="Calibri"/>
              </a:rPr>
              <a:t> </a:t>
            </a:r>
            <a:r>
              <a:rPr sz="1800" spc="-40" dirty="0">
                <a:latin typeface="Calibri"/>
                <a:cs typeface="Calibri"/>
              </a:rPr>
              <a:t>You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cloud-</a:t>
            </a:r>
            <a:r>
              <a:rPr sz="1800" dirty="0">
                <a:latin typeface="Calibri"/>
                <a:cs typeface="Calibri"/>
              </a:rPr>
              <a:t>based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location,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anytime.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All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just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internet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connection.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5"/>
            <a:ext cx="5639435" cy="6477000"/>
            <a:chOff x="0" y="6095"/>
            <a:chExt cx="5639435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8872"/>
              <a:ext cx="5638829" cy="6248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84911"/>
              <a:ext cx="5509278" cy="6121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095"/>
              <a:ext cx="5638800" cy="64770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83411" y="2779852"/>
            <a:ext cx="3399154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latin typeface="Calibri Light"/>
                <a:cs typeface="Calibri Light"/>
              </a:rPr>
              <a:t>The</a:t>
            </a:r>
            <a:r>
              <a:rPr sz="4000" spc="-114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Evolution</a:t>
            </a:r>
            <a:r>
              <a:rPr sz="4000" spc="-125" dirty="0">
                <a:latin typeface="Calibri Light"/>
                <a:cs typeface="Calibri Light"/>
              </a:rPr>
              <a:t> </a:t>
            </a:r>
            <a:r>
              <a:rPr sz="4000" spc="-50" dirty="0">
                <a:latin typeface="Calibri Light"/>
                <a:cs typeface="Calibri Light"/>
              </a:rPr>
              <a:t>: </a:t>
            </a:r>
            <a:r>
              <a:rPr sz="4000" dirty="0">
                <a:latin typeface="Calibri Light"/>
                <a:cs typeface="Calibri Light"/>
              </a:rPr>
              <a:t>NoSQL</a:t>
            </a:r>
            <a:r>
              <a:rPr sz="4000" spc="-114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Database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70167" y="1224788"/>
            <a:ext cx="5104765" cy="290385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41300" marR="135255" indent="-228600">
              <a:lnSpc>
                <a:spcPts val="1939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NoSQL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(not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only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SQL)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approach</a:t>
            </a:r>
            <a:r>
              <a:rPr sz="1800" spc="-25" dirty="0">
                <a:latin typeface="Calibri"/>
                <a:cs typeface="Calibri"/>
              </a:rPr>
              <a:t> to </a:t>
            </a:r>
            <a:r>
              <a:rPr sz="1800" dirty="0">
                <a:latin typeface="Calibri"/>
                <a:cs typeface="Calibri"/>
              </a:rPr>
              <a:t>design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accommodate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a </a:t>
            </a:r>
            <a:r>
              <a:rPr sz="1800" dirty="0">
                <a:latin typeface="Calibri"/>
                <a:cs typeface="Calibri"/>
              </a:rPr>
              <a:t>wide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variety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models.</a:t>
            </a:r>
            <a:endParaRPr sz="1800">
              <a:latin typeface="Calibri"/>
              <a:cs typeface="Calibri"/>
            </a:endParaRPr>
          </a:p>
          <a:p>
            <a:pPr marL="241300" marR="5080" indent="-228600" algn="just">
              <a:lnSpc>
                <a:spcPts val="1939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alternative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traditional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relational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databases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placed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schema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perfectly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designed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before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built.</a:t>
            </a:r>
            <a:endParaRPr sz="1800">
              <a:latin typeface="Calibri"/>
              <a:cs typeface="Calibri"/>
            </a:endParaRPr>
          </a:p>
          <a:p>
            <a:pPr marL="240665" indent="-227965" algn="just">
              <a:lnSpc>
                <a:spcPts val="2055"/>
              </a:lnSpc>
              <a:spcBef>
                <a:spcPts val="76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NoSQL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useful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large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</a:t>
            </a:r>
            <a:endParaRPr sz="1800">
              <a:latin typeface="Calibri"/>
              <a:cs typeface="Calibri"/>
            </a:endParaRPr>
          </a:p>
          <a:p>
            <a:pPr marL="241300" algn="just">
              <a:lnSpc>
                <a:spcPts val="2055"/>
              </a:lnSpc>
            </a:pPr>
            <a:r>
              <a:rPr sz="1800" dirty="0">
                <a:latin typeface="Calibri"/>
                <a:cs typeface="Calibri"/>
              </a:rPr>
              <a:t>distributed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marL="241300" marR="433705" indent="-228600">
              <a:lnSpc>
                <a:spcPts val="1939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Some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examples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NoSQL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with </a:t>
            </a:r>
            <a:r>
              <a:rPr sz="1800" dirty="0">
                <a:latin typeface="Calibri"/>
                <a:cs typeface="Calibri"/>
              </a:rPr>
              <a:t>their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category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are: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27368" y="4139310"/>
            <a:ext cx="4265930" cy="1414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205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spc="-10" dirty="0">
                <a:latin typeface="Calibri"/>
                <a:cs typeface="Calibri"/>
              </a:rPr>
              <a:t>MongoDB,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CouchDB,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Cloudant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(Document-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0"/>
              </a:lnSpc>
            </a:pPr>
            <a:r>
              <a:rPr sz="1800" b="1" spc="-10" dirty="0">
                <a:latin typeface="Calibri"/>
                <a:cs typeface="Calibri"/>
              </a:rPr>
              <a:t>based)</a:t>
            </a:r>
            <a:endParaRPr sz="1800">
              <a:latin typeface="Calibri"/>
              <a:cs typeface="Calibri"/>
            </a:endParaRPr>
          </a:p>
          <a:p>
            <a:pPr marL="241300" marR="120014" indent="-228600">
              <a:lnSpc>
                <a:spcPts val="1939"/>
              </a:lnSpc>
              <a:spcBef>
                <a:spcPts val="53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spc="-10" dirty="0">
                <a:latin typeface="Calibri"/>
                <a:cs typeface="Calibri"/>
              </a:rPr>
              <a:t>Memcached,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Redis,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Coherence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(key-</a:t>
            </a:r>
            <a:r>
              <a:rPr sz="1800" b="1" spc="-10" dirty="0">
                <a:latin typeface="Calibri"/>
                <a:cs typeface="Calibri"/>
              </a:rPr>
              <a:t>value store)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HBase,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Table,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Accumulo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(Tabular)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55802"/>
            <a:ext cx="5378450" cy="6402705"/>
            <a:chOff x="0" y="455802"/>
            <a:chExt cx="5378450" cy="64027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09015"/>
              <a:ext cx="5186163" cy="623923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54735"/>
              <a:ext cx="5218101" cy="61217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455802"/>
              <a:ext cx="5378187" cy="640219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83411" y="2505836"/>
            <a:ext cx="3400425" cy="173228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sz="4000" dirty="0">
                <a:latin typeface="Calibri Light"/>
                <a:cs typeface="Calibri Light"/>
              </a:rPr>
              <a:t>The</a:t>
            </a:r>
            <a:r>
              <a:rPr sz="4000" spc="-110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Evolution</a:t>
            </a:r>
            <a:r>
              <a:rPr sz="4000" spc="-114" dirty="0">
                <a:latin typeface="Calibri Light"/>
                <a:cs typeface="Calibri Light"/>
              </a:rPr>
              <a:t> </a:t>
            </a:r>
            <a:r>
              <a:rPr sz="4000" spc="-50" dirty="0">
                <a:latin typeface="Calibri Light"/>
                <a:cs typeface="Calibri Light"/>
              </a:rPr>
              <a:t>: </a:t>
            </a:r>
            <a:r>
              <a:rPr sz="4000" dirty="0">
                <a:latin typeface="Calibri Light"/>
                <a:cs typeface="Calibri Light"/>
              </a:rPr>
              <a:t>NoSQL</a:t>
            </a:r>
            <a:r>
              <a:rPr sz="4000" spc="-110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Database (Advantage)</a:t>
            </a:r>
            <a:endParaRPr sz="4000">
              <a:latin typeface="Calibri Light"/>
              <a:cs typeface="Calibri Ligh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348729" y="996441"/>
            <a:ext cx="5041900" cy="732155"/>
            <a:chOff x="6348729" y="996441"/>
            <a:chExt cx="5041900" cy="732155"/>
          </a:xfrm>
        </p:grpSpPr>
        <p:sp>
          <p:nvSpPr>
            <p:cNvPr id="8" name="object 8"/>
            <p:cNvSpPr/>
            <p:nvPr/>
          </p:nvSpPr>
          <p:spPr>
            <a:xfrm>
              <a:off x="6355079" y="1002791"/>
              <a:ext cx="5029200" cy="719455"/>
            </a:xfrm>
            <a:custGeom>
              <a:avLst/>
              <a:gdLst/>
              <a:ahLst/>
              <a:cxnLst/>
              <a:rect l="l" t="t" r="r" b="b"/>
              <a:pathLst>
                <a:path w="5029200" h="719455">
                  <a:moveTo>
                    <a:pt x="4909312" y="0"/>
                  </a:moveTo>
                  <a:lnTo>
                    <a:pt x="119887" y="0"/>
                  </a:lnTo>
                  <a:lnTo>
                    <a:pt x="73241" y="9427"/>
                  </a:lnTo>
                  <a:lnTo>
                    <a:pt x="35131" y="35131"/>
                  </a:lnTo>
                  <a:lnTo>
                    <a:pt x="9427" y="73241"/>
                  </a:lnTo>
                  <a:lnTo>
                    <a:pt x="0" y="119887"/>
                  </a:lnTo>
                  <a:lnTo>
                    <a:pt x="0" y="599440"/>
                  </a:lnTo>
                  <a:lnTo>
                    <a:pt x="9427" y="646086"/>
                  </a:lnTo>
                  <a:lnTo>
                    <a:pt x="35131" y="684196"/>
                  </a:lnTo>
                  <a:lnTo>
                    <a:pt x="73241" y="709900"/>
                  </a:lnTo>
                  <a:lnTo>
                    <a:pt x="119887" y="719328"/>
                  </a:lnTo>
                  <a:lnTo>
                    <a:pt x="4909312" y="719328"/>
                  </a:lnTo>
                  <a:lnTo>
                    <a:pt x="4955958" y="709900"/>
                  </a:lnTo>
                  <a:lnTo>
                    <a:pt x="4994068" y="684196"/>
                  </a:lnTo>
                  <a:lnTo>
                    <a:pt x="5019772" y="646086"/>
                  </a:lnTo>
                  <a:lnTo>
                    <a:pt x="5029200" y="599440"/>
                  </a:lnTo>
                  <a:lnTo>
                    <a:pt x="5029200" y="119887"/>
                  </a:lnTo>
                  <a:lnTo>
                    <a:pt x="5019772" y="73241"/>
                  </a:lnTo>
                  <a:lnTo>
                    <a:pt x="4994068" y="35131"/>
                  </a:lnTo>
                  <a:lnTo>
                    <a:pt x="4955958" y="9427"/>
                  </a:lnTo>
                  <a:lnTo>
                    <a:pt x="490931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55079" y="1002791"/>
              <a:ext cx="5029200" cy="719455"/>
            </a:xfrm>
            <a:custGeom>
              <a:avLst/>
              <a:gdLst/>
              <a:ahLst/>
              <a:cxnLst/>
              <a:rect l="l" t="t" r="r" b="b"/>
              <a:pathLst>
                <a:path w="5029200" h="719455">
                  <a:moveTo>
                    <a:pt x="0" y="119887"/>
                  </a:moveTo>
                  <a:lnTo>
                    <a:pt x="9427" y="73241"/>
                  </a:lnTo>
                  <a:lnTo>
                    <a:pt x="35131" y="35131"/>
                  </a:lnTo>
                  <a:lnTo>
                    <a:pt x="73241" y="9427"/>
                  </a:lnTo>
                  <a:lnTo>
                    <a:pt x="119887" y="0"/>
                  </a:lnTo>
                  <a:lnTo>
                    <a:pt x="4909312" y="0"/>
                  </a:lnTo>
                  <a:lnTo>
                    <a:pt x="4955958" y="9427"/>
                  </a:lnTo>
                  <a:lnTo>
                    <a:pt x="4994068" y="35131"/>
                  </a:lnTo>
                  <a:lnTo>
                    <a:pt x="5019772" y="73241"/>
                  </a:lnTo>
                  <a:lnTo>
                    <a:pt x="5029200" y="119887"/>
                  </a:lnTo>
                  <a:lnTo>
                    <a:pt x="5029200" y="599440"/>
                  </a:lnTo>
                  <a:lnTo>
                    <a:pt x="5019772" y="646086"/>
                  </a:lnTo>
                  <a:lnTo>
                    <a:pt x="4994068" y="684196"/>
                  </a:lnTo>
                  <a:lnTo>
                    <a:pt x="4955958" y="709900"/>
                  </a:lnTo>
                  <a:lnTo>
                    <a:pt x="4909312" y="719328"/>
                  </a:lnTo>
                  <a:lnTo>
                    <a:pt x="119887" y="719328"/>
                  </a:lnTo>
                  <a:lnTo>
                    <a:pt x="73241" y="709900"/>
                  </a:lnTo>
                  <a:lnTo>
                    <a:pt x="35131" y="684196"/>
                  </a:lnTo>
                  <a:lnTo>
                    <a:pt x="9427" y="646086"/>
                  </a:lnTo>
                  <a:lnTo>
                    <a:pt x="0" y="599440"/>
                  </a:lnTo>
                  <a:lnTo>
                    <a:pt x="0" y="11988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492621" y="1076325"/>
            <a:ext cx="25380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sz="30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FFFFFF"/>
                </a:solidFill>
                <a:latin typeface="Calibri"/>
                <a:cs typeface="Calibri"/>
              </a:rPr>
              <a:t>Scalability: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48729" y="3422650"/>
            <a:ext cx="5041900" cy="734060"/>
            <a:chOff x="6348729" y="3422650"/>
            <a:chExt cx="5041900" cy="734060"/>
          </a:xfrm>
        </p:grpSpPr>
        <p:sp>
          <p:nvSpPr>
            <p:cNvPr id="12" name="object 12"/>
            <p:cNvSpPr/>
            <p:nvPr/>
          </p:nvSpPr>
          <p:spPr>
            <a:xfrm>
              <a:off x="6355079" y="3429000"/>
              <a:ext cx="5029200" cy="721360"/>
            </a:xfrm>
            <a:custGeom>
              <a:avLst/>
              <a:gdLst/>
              <a:ahLst/>
              <a:cxnLst/>
              <a:rect l="l" t="t" r="r" b="b"/>
              <a:pathLst>
                <a:path w="5029200" h="721360">
                  <a:moveTo>
                    <a:pt x="4909058" y="0"/>
                  </a:moveTo>
                  <a:lnTo>
                    <a:pt x="120142" y="0"/>
                  </a:lnTo>
                  <a:lnTo>
                    <a:pt x="73402" y="9449"/>
                  </a:lnTo>
                  <a:lnTo>
                    <a:pt x="35210" y="35210"/>
                  </a:lnTo>
                  <a:lnTo>
                    <a:pt x="9449" y="73402"/>
                  </a:lnTo>
                  <a:lnTo>
                    <a:pt x="0" y="120141"/>
                  </a:lnTo>
                  <a:lnTo>
                    <a:pt x="0" y="600710"/>
                  </a:lnTo>
                  <a:lnTo>
                    <a:pt x="9449" y="647449"/>
                  </a:lnTo>
                  <a:lnTo>
                    <a:pt x="35210" y="685641"/>
                  </a:lnTo>
                  <a:lnTo>
                    <a:pt x="73402" y="711402"/>
                  </a:lnTo>
                  <a:lnTo>
                    <a:pt x="120142" y="720851"/>
                  </a:lnTo>
                  <a:lnTo>
                    <a:pt x="4909058" y="720851"/>
                  </a:lnTo>
                  <a:lnTo>
                    <a:pt x="4955797" y="711402"/>
                  </a:lnTo>
                  <a:lnTo>
                    <a:pt x="4993989" y="685641"/>
                  </a:lnTo>
                  <a:lnTo>
                    <a:pt x="5019750" y="647449"/>
                  </a:lnTo>
                  <a:lnTo>
                    <a:pt x="5029200" y="600710"/>
                  </a:lnTo>
                  <a:lnTo>
                    <a:pt x="5029200" y="120141"/>
                  </a:lnTo>
                  <a:lnTo>
                    <a:pt x="5019750" y="73402"/>
                  </a:lnTo>
                  <a:lnTo>
                    <a:pt x="4993989" y="35210"/>
                  </a:lnTo>
                  <a:lnTo>
                    <a:pt x="4955797" y="9449"/>
                  </a:lnTo>
                  <a:lnTo>
                    <a:pt x="4909058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55079" y="3429000"/>
              <a:ext cx="5029200" cy="721360"/>
            </a:xfrm>
            <a:custGeom>
              <a:avLst/>
              <a:gdLst/>
              <a:ahLst/>
              <a:cxnLst/>
              <a:rect l="l" t="t" r="r" b="b"/>
              <a:pathLst>
                <a:path w="5029200" h="721360">
                  <a:moveTo>
                    <a:pt x="0" y="120141"/>
                  </a:moveTo>
                  <a:lnTo>
                    <a:pt x="9449" y="73402"/>
                  </a:lnTo>
                  <a:lnTo>
                    <a:pt x="35210" y="35210"/>
                  </a:lnTo>
                  <a:lnTo>
                    <a:pt x="73402" y="9449"/>
                  </a:lnTo>
                  <a:lnTo>
                    <a:pt x="120142" y="0"/>
                  </a:lnTo>
                  <a:lnTo>
                    <a:pt x="4909058" y="0"/>
                  </a:lnTo>
                  <a:lnTo>
                    <a:pt x="4955797" y="9449"/>
                  </a:lnTo>
                  <a:lnTo>
                    <a:pt x="4993989" y="35210"/>
                  </a:lnTo>
                  <a:lnTo>
                    <a:pt x="5019750" y="73402"/>
                  </a:lnTo>
                  <a:lnTo>
                    <a:pt x="5029200" y="120141"/>
                  </a:lnTo>
                  <a:lnTo>
                    <a:pt x="5029200" y="600710"/>
                  </a:lnTo>
                  <a:lnTo>
                    <a:pt x="5019750" y="647449"/>
                  </a:lnTo>
                  <a:lnTo>
                    <a:pt x="4993989" y="685641"/>
                  </a:lnTo>
                  <a:lnTo>
                    <a:pt x="4955797" y="711402"/>
                  </a:lnTo>
                  <a:lnTo>
                    <a:pt x="4909058" y="720851"/>
                  </a:lnTo>
                  <a:lnTo>
                    <a:pt x="120142" y="720851"/>
                  </a:lnTo>
                  <a:lnTo>
                    <a:pt x="73402" y="711402"/>
                  </a:lnTo>
                  <a:lnTo>
                    <a:pt x="35210" y="685641"/>
                  </a:lnTo>
                  <a:lnTo>
                    <a:pt x="9449" y="647449"/>
                  </a:lnTo>
                  <a:lnTo>
                    <a:pt x="0" y="600710"/>
                  </a:lnTo>
                  <a:lnTo>
                    <a:pt x="0" y="12014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492621" y="1697482"/>
            <a:ext cx="4568190" cy="4088129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51460" marR="5080" indent="-229235">
              <a:lnSpc>
                <a:spcPct val="91500"/>
              </a:lnSpc>
              <a:spcBef>
                <a:spcPts val="335"/>
              </a:spcBef>
              <a:buChar char="•"/>
              <a:tabLst>
                <a:tab pos="251460" algn="l"/>
              </a:tabLst>
            </a:pPr>
            <a:r>
              <a:rPr sz="2300" dirty="0">
                <a:latin typeface="Calibri"/>
                <a:cs typeface="Calibri"/>
              </a:rPr>
              <a:t>NoSQL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can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handle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extensive </a:t>
            </a:r>
            <a:r>
              <a:rPr sz="2300" dirty="0">
                <a:latin typeface="Calibri"/>
                <a:cs typeface="Calibri"/>
              </a:rPr>
              <a:t>amount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because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of </a:t>
            </a:r>
            <a:r>
              <a:rPr sz="2300" spc="-10" dirty="0">
                <a:latin typeface="Calibri"/>
                <a:cs typeface="Calibri"/>
              </a:rPr>
              <a:t>scalability.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If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grows,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NoSQL </a:t>
            </a:r>
            <a:r>
              <a:rPr sz="2300" dirty="0">
                <a:latin typeface="Calibri"/>
                <a:cs typeface="Calibri"/>
              </a:rPr>
              <a:t>database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scale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handle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that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data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efficient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manner.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3000" b="1" dirty="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sz="30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FFFFFF"/>
                </a:solidFill>
                <a:latin typeface="Calibri"/>
                <a:cs typeface="Calibri"/>
              </a:rPr>
              <a:t>Availability:</a:t>
            </a:r>
            <a:endParaRPr sz="3000">
              <a:latin typeface="Calibri"/>
              <a:cs typeface="Calibri"/>
            </a:endParaRPr>
          </a:p>
          <a:p>
            <a:pPr marL="251460" marR="256540" indent="-229235">
              <a:lnSpc>
                <a:spcPct val="91500"/>
              </a:lnSpc>
              <a:spcBef>
                <a:spcPts val="1525"/>
              </a:spcBef>
              <a:buChar char="•"/>
              <a:tabLst>
                <a:tab pos="251460" algn="l"/>
              </a:tabLst>
            </a:pPr>
            <a:r>
              <a:rPr sz="2300" dirty="0">
                <a:latin typeface="Calibri"/>
                <a:cs typeface="Calibri"/>
              </a:rPr>
              <a:t>NoSQL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supports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auto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replication. </a:t>
            </a:r>
            <a:r>
              <a:rPr sz="2300" dirty="0">
                <a:latin typeface="Calibri"/>
                <a:cs typeface="Calibri"/>
              </a:rPr>
              <a:t>Auto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replication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makes</a:t>
            </a:r>
            <a:r>
              <a:rPr sz="2300" spc="-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highly </a:t>
            </a:r>
            <a:r>
              <a:rPr sz="2300" dirty="0">
                <a:latin typeface="Calibri"/>
                <a:cs typeface="Calibri"/>
              </a:rPr>
              <a:t>available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because,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case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any </a:t>
            </a:r>
            <a:r>
              <a:rPr sz="2300" dirty="0">
                <a:latin typeface="Calibri"/>
                <a:cs typeface="Calibri"/>
              </a:rPr>
              <a:t>failure,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replicates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itself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the </a:t>
            </a:r>
            <a:r>
              <a:rPr sz="2300" dirty="0">
                <a:latin typeface="Calibri"/>
                <a:cs typeface="Calibri"/>
              </a:rPr>
              <a:t>previous</a:t>
            </a:r>
            <a:r>
              <a:rPr sz="2300" spc="-10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consistent</a:t>
            </a:r>
            <a:r>
              <a:rPr sz="2300" spc="-9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state.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12552"/>
            <a:ext cx="5196840" cy="6235700"/>
            <a:chOff x="0" y="512552"/>
            <a:chExt cx="5196840" cy="6235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12552"/>
              <a:ext cx="5164827" cy="62357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66925"/>
              <a:ext cx="5196765" cy="610957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18819" y="2592704"/>
            <a:ext cx="27508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 Light"/>
                <a:cs typeface="Calibri Light"/>
              </a:rPr>
              <a:t>The</a:t>
            </a:r>
            <a:r>
              <a:rPr sz="3600" spc="-114" dirty="0">
                <a:latin typeface="Calibri Light"/>
                <a:cs typeface="Calibri Light"/>
              </a:rPr>
              <a:t> </a:t>
            </a:r>
            <a:r>
              <a:rPr sz="3600" spc="-10" dirty="0">
                <a:latin typeface="Calibri Light"/>
                <a:cs typeface="Calibri Light"/>
              </a:rPr>
              <a:t>Evolution</a:t>
            </a:r>
            <a:r>
              <a:rPr sz="3600" spc="-90" dirty="0">
                <a:latin typeface="Calibri Light"/>
                <a:cs typeface="Calibri Light"/>
              </a:rPr>
              <a:t> </a:t>
            </a:r>
            <a:r>
              <a:rPr sz="3600" spc="-50" dirty="0">
                <a:latin typeface="Calibri Light"/>
                <a:cs typeface="Calibri Light"/>
              </a:rPr>
              <a:t>: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8819" y="3086480"/>
            <a:ext cx="3065780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dirty="0">
                <a:latin typeface="Calibri Light"/>
                <a:cs typeface="Calibri Light"/>
              </a:rPr>
              <a:t>NoSQL</a:t>
            </a:r>
            <a:r>
              <a:rPr sz="3600" spc="-100" dirty="0">
                <a:latin typeface="Calibri Light"/>
                <a:cs typeface="Calibri Light"/>
              </a:rPr>
              <a:t> </a:t>
            </a:r>
            <a:r>
              <a:rPr sz="3600" spc="-10" dirty="0">
                <a:latin typeface="Calibri Light"/>
                <a:cs typeface="Calibri Light"/>
              </a:rPr>
              <a:t>Database (Disadvantage)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51575" y="1159255"/>
            <a:ext cx="4991100" cy="231965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b="1" dirty="0">
                <a:latin typeface="Calibri"/>
                <a:cs typeface="Calibri"/>
              </a:rPr>
              <a:t>Open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source:</a:t>
            </a:r>
            <a:endParaRPr sz="1800">
              <a:latin typeface="Calibri"/>
              <a:cs typeface="Calibri"/>
            </a:endParaRPr>
          </a:p>
          <a:p>
            <a:pPr marL="698500" marR="5080" lvl="1" indent="-228600">
              <a:lnSpc>
                <a:spcPts val="1939"/>
              </a:lnSpc>
              <a:spcBef>
                <a:spcPts val="540"/>
              </a:spcBef>
              <a:buFont typeface="Arial MT"/>
              <a:buChar char="•"/>
              <a:tabLst>
                <a:tab pos="698500" algn="l"/>
              </a:tabLst>
            </a:pPr>
            <a:r>
              <a:rPr sz="1800" dirty="0">
                <a:latin typeface="Calibri"/>
                <a:cs typeface="Calibri"/>
              </a:rPr>
              <a:t>NoSQL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open-</a:t>
            </a:r>
            <a:r>
              <a:rPr sz="1800" dirty="0">
                <a:latin typeface="Calibri"/>
                <a:cs typeface="Calibri"/>
              </a:rPr>
              <a:t>source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reliable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standard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NoSQL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yet.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b="1" dirty="0">
                <a:latin typeface="Calibri"/>
                <a:cs typeface="Calibri"/>
              </a:rPr>
              <a:t>Management</a:t>
            </a:r>
            <a:r>
              <a:rPr sz="1800" b="1" spc="-10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challenge:</a:t>
            </a:r>
            <a:endParaRPr sz="1800">
              <a:latin typeface="Calibri"/>
              <a:cs typeface="Calibri"/>
            </a:endParaRPr>
          </a:p>
          <a:p>
            <a:pPr marL="698500" marR="313690" lvl="1" indent="-228600">
              <a:lnSpc>
                <a:spcPts val="1939"/>
              </a:lnSpc>
              <a:spcBef>
                <a:spcPts val="535"/>
              </a:spcBef>
              <a:buFont typeface="Arial MT"/>
              <a:buChar char="•"/>
              <a:tabLst>
                <a:tab pos="698500" algn="l"/>
              </a:tabLst>
            </a:pPr>
            <a:r>
              <a:rPr sz="1800" dirty="0">
                <a:latin typeface="Calibri"/>
                <a:cs typeface="Calibri"/>
              </a:rPr>
              <a:t>Data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management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NoSQL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much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more </a:t>
            </a:r>
            <a:r>
              <a:rPr sz="1800" spc="-10" dirty="0">
                <a:latin typeface="Calibri"/>
                <a:cs typeface="Calibri"/>
              </a:rPr>
              <a:t>complicated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relational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databases.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very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challenging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install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even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more </a:t>
            </a:r>
            <a:r>
              <a:rPr sz="1800" dirty="0">
                <a:latin typeface="Calibri"/>
                <a:cs typeface="Calibri"/>
              </a:rPr>
              <a:t>hectic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manage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daily.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51575" y="3514939"/>
            <a:ext cx="5024120" cy="207391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b="1" dirty="0">
                <a:latin typeface="Calibri"/>
                <a:cs typeface="Calibri"/>
              </a:rPr>
              <a:t>GUI is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not</a:t>
            </a:r>
            <a:r>
              <a:rPr sz="1800" b="1" spc="-10" dirty="0">
                <a:latin typeface="Calibri"/>
                <a:cs typeface="Calibri"/>
              </a:rPr>
              <a:t> available:</a:t>
            </a:r>
            <a:endParaRPr sz="1800">
              <a:latin typeface="Calibri"/>
              <a:cs typeface="Calibri"/>
            </a:endParaRPr>
          </a:p>
          <a:p>
            <a:pPr marL="698500" marR="275590" lvl="1" indent="-228600">
              <a:lnSpc>
                <a:spcPts val="1939"/>
              </a:lnSpc>
              <a:spcBef>
                <a:spcPts val="540"/>
              </a:spcBef>
              <a:buFont typeface="Arial MT"/>
              <a:buChar char="•"/>
              <a:tabLst>
                <a:tab pos="698500" algn="l"/>
              </a:tabLst>
            </a:pPr>
            <a:r>
              <a:rPr sz="1800" dirty="0">
                <a:latin typeface="Calibri"/>
                <a:cs typeface="Calibri"/>
              </a:rPr>
              <a:t>GUI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tools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NoSQL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easily </a:t>
            </a:r>
            <a:r>
              <a:rPr sz="1800" dirty="0">
                <a:latin typeface="Calibri"/>
                <a:cs typeface="Calibri"/>
              </a:rPr>
              <a:t>available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market.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b="1" spc="-10" dirty="0">
                <a:latin typeface="Calibri"/>
                <a:cs typeface="Calibri"/>
              </a:rPr>
              <a:t>Backup:</a:t>
            </a:r>
            <a:endParaRPr sz="1800">
              <a:latin typeface="Calibri"/>
              <a:cs typeface="Calibri"/>
            </a:endParaRPr>
          </a:p>
          <a:p>
            <a:pPr marL="698500" marR="5080" lvl="1" indent="-228600">
              <a:lnSpc>
                <a:spcPts val="1950"/>
              </a:lnSpc>
              <a:spcBef>
                <a:spcPts val="530"/>
              </a:spcBef>
              <a:buFont typeface="Arial MT"/>
              <a:buChar char="•"/>
              <a:tabLst>
                <a:tab pos="698500" algn="l"/>
              </a:tabLst>
            </a:pPr>
            <a:r>
              <a:rPr sz="1800" dirty="0">
                <a:latin typeface="Calibri"/>
                <a:cs typeface="Calibri"/>
              </a:rPr>
              <a:t>Backup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great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weak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point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NoSQL databases.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Some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databases,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like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MongoDB,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powerful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approaches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backup.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592704"/>
            <a:ext cx="3538854" cy="156210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dirty="0">
                <a:latin typeface="Calibri Light"/>
                <a:cs typeface="Calibri Light"/>
              </a:rPr>
              <a:t>The</a:t>
            </a:r>
            <a:r>
              <a:rPr sz="3600" spc="-80" dirty="0">
                <a:latin typeface="Calibri Light"/>
                <a:cs typeface="Calibri Light"/>
              </a:rPr>
              <a:t> </a:t>
            </a:r>
            <a:r>
              <a:rPr sz="3600" spc="-10" dirty="0">
                <a:latin typeface="Calibri Light"/>
                <a:cs typeface="Calibri Light"/>
              </a:rPr>
              <a:t>Evolution</a:t>
            </a:r>
            <a:r>
              <a:rPr sz="3600" spc="-60" dirty="0">
                <a:latin typeface="Calibri Light"/>
                <a:cs typeface="Calibri Light"/>
              </a:rPr>
              <a:t> </a:t>
            </a:r>
            <a:r>
              <a:rPr sz="3600" dirty="0">
                <a:latin typeface="Calibri Light"/>
                <a:cs typeface="Calibri Light"/>
              </a:rPr>
              <a:t>:</a:t>
            </a:r>
            <a:r>
              <a:rPr sz="3600" spc="-75" dirty="0">
                <a:latin typeface="Calibri Light"/>
                <a:cs typeface="Calibri Light"/>
              </a:rPr>
              <a:t> </a:t>
            </a:r>
            <a:r>
              <a:rPr sz="3600" spc="-25" dirty="0">
                <a:latin typeface="Calibri Light"/>
                <a:cs typeface="Calibri Light"/>
              </a:rPr>
              <a:t>The </a:t>
            </a:r>
            <a:r>
              <a:rPr sz="3600" dirty="0">
                <a:latin typeface="Calibri Light"/>
                <a:cs typeface="Calibri Light"/>
              </a:rPr>
              <a:t>Object-</a:t>
            </a:r>
            <a:r>
              <a:rPr sz="3600" spc="-10" dirty="0">
                <a:latin typeface="Calibri Light"/>
                <a:cs typeface="Calibri Light"/>
              </a:rPr>
              <a:t>Oriented Databases</a:t>
            </a:r>
            <a:endParaRPr sz="36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716" y="0"/>
            <a:ext cx="4325620" cy="2641600"/>
            <a:chOff x="13716" y="0"/>
            <a:chExt cx="4325620" cy="2641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" y="0"/>
              <a:ext cx="4325112" cy="26410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6" y="0"/>
              <a:ext cx="4285488" cy="242163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337175" y="1575308"/>
            <a:ext cx="5939155" cy="365188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41300" marR="321945" indent="-228600">
              <a:lnSpc>
                <a:spcPts val="1939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object-</a:t>
            </a:r>
            <a:r>
              <a:rPr sz="1800" dirty="0">
                <a:latin typeface="Calibri"/>
                <a:cs typeface="Calibri"/>
              </a:rPr>
              <a:t>oriented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contain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object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classes.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ts val="2055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Objects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real-</a:t>
            </a:r>
            <a:r>
              <a:rPr sz="1800" dirty="0">
                <a:latin typeface="Calibri"/>
                <a:cs typeface="Calibri"/>
              </a:rPr>
              <a:t>world</a:t>
            </a:r>
            <a:r>
              <a:rPr sz="1800" spc="-20" dirty="0">
                <a:latin typeface="Calibri"/>
                <a:cs typeface="Calibri"/>
              </a:rPr>
              <a:t> entity,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types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collection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5"/>
              </a:lnSpc>
            </a:pP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objects.</a:t>
            </a:r>
            <a:endParaRPr sz="1800">
              <a:latin typeface="Calibri"/>
              <a:cs typeface="Calibri"/>
            </a:endParaRPr>
          </a:p>
          <a:p>
            <a:pPr marL="241300" marR="288925" indent="-228600">
              <a:lnSpc>
                <a:spcPts val="1939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An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object-</a:t>
            </a:r>
            <a:r>
              <a:rPr sz="1800" dirty="0">
                <a:latin typeface="Calibri"/>
                <a:cs typeface="Calibri"/>
              </a:rPr>
              <a:t>oriented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combination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relational </a:t>
            </a:r>
            <a:r>
              <a:rPr sz="1800" dirty="0">
                <a:latin typeface="Calibri"/>
                <a:cs typeface="Calibri"/>
              </a:rPr>
              <a:t>model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features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objects-</a:t>
            </a:r>
            <a:r>
              <a:rPr sz="1800" dirty="0">
                <a:latin typeface="Calibri"/>
                <a:cs typeface="Calibri"/>
              </a:rPr>
              <a:t>oriented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principles.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ts val="2055"/>
              </a:lnSpc>
              <a:spcBef>
                <a:spcPts val="76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alternative implementation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relational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5"/>
              </a:lnSpc>
            </a:pPr>
            <a:r>
              <a:rPr sz="1800" spc="-10" dirty="0">
                <a:latin typeface="Calibri"/>
                <a:cs typeface="Calibri"/>
              </a:rPr>
              <a:t>model.</a:t>
            </a:r>
            <a:endParaRPr sz="1800">
              <a:latin typeface="Calibri"/>
              <a:cs typeface="Calibri"/>
            </a:endParaRPr>
          </a:p>
          <a:p>
            <a:pPr marL="241300" marR="148590" indent="-228600">
              <a:lnSpc>
                <a:spcPts val="1939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spc="-10" dirty="0">
                <a:latin typeface="Calibri"/>
                <a:cs typeface="Calibri"/>
              </a:rPr>
              <a:t>Object-</a:t>
            </a:r>
            <a:r>
              <a:rPr sz="1800" dirty="0">
                <a:latin typeface="Calibri"/>
                <a:cs typeface="Calibri"/>
              </a:rPr>
              <a:t>oriented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hold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rules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object-oriented programming.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ts val="2055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An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object-</a:t>
            </a:r>
            <a:r>
              <a:rPr sz="1800" dirty="0">
                <a:latin typeface="Calibri"/>
                <a:cs typeface="Calibri"/>
              </a:rPr>
              <a:t>oriented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management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hybrid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5"/>
              </a:lnSpc>
            </a:pPr>
            <a:r>
              <a:rPr sz="1800" spc="-10" dirty="0">
                <a:latin typeface="Calibri"/>
                <a:cs typeface="Calibri"/>
              </a:rPr>
              <a:t>application.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35923" y="4114812"/>
            <a:ext cx="3656076" cy="274318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8768" y="307924"/>
            <a:ext cx="8096250" cy="130111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z="4400" dirty="0"/>
              <a:t>The</a:t>
            </a:r>
            <a:r>
              <a:rPr sz="4400" spc="-50" dirty="0"/>
              <a:t> </a:t>
            </a:r>
            <a:r>
              <a:rPr sz="4400" spc="-10" dirty="0"/>
              <a:t>Evolution</a:t>
            </a:r>
            <a:r>
              <a:rPr sz="4400" spc="-25" dirty="0"/>
              <a:t> </a:t>
            </a:r>
            <a:r>
              <a:rPr sz="4400" dirty="0"/>
              <a:t>:</a:t>
            </a:r>
            <a:r>
              <a:rPr sz="4400" spc="-50" dirty="0"/>
              <a:t> </a:t>
            </a:r>
            <a:r>
              <a:rPr sz="4400" dirty="0"/>
              <a:t>The</a:t>
            </a:r>
            <a:r>
              <a:rPr sz="4400" spc="-60" dirty="0"/>
              <a:t> </a:t>
            </a:r>
            <a:r>
              <a:rPr sz="4400" spc="-10" dirty="0"/>
              <a:t>Object-Oriented </a:t>
            </a:r>
            <a:r>
              <a:rPr sz="4400" dirty="0"/>
              <a:t>Databases</a:t>
            </a:r>
            <a:r>
              <a:rPr sz="4400" spc="-170" dirty="0"/>
              <a:t> </a:t>
            </a:r>
            <a:r>
              <a:rPr sz="4400" spc="-10" dirty="0"/>
              <a:t>(Properties)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8768" y="2022473"/>
            <a:ext cx="3811904" cy="294830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400" b="1" spc="-10" dirty="0">
                <a:latin typeface="Calibri"/>
                <a:cs typeface="Calibri"/>
              </a:rPr>
              <a:t>Object-</a:t>
            </a:r>
            <a:r>
              <a:rPr sz="2400" b="1" dirty="0">
                <a:latin typeface="Calibri"/>
                <a:cs typeface="Calibri"/>
              </a:rPr>
              <a:t>oriented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programming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35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Objects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Classes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Inheritance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Polymorphism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Encapsulation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/>
              <a:t>Relational</a:t>
            </a:r>
            <a:r>
              <a:rPr spc="-135" dirty="0"/>
              <a:t> </a:t>
            </a:r>
            <a:r>
              <a:rPr spc="-10" dirty="0"/>
              <a:t>database</a:t>
            </a:r>
          </a:p>
          <a:p>
            <a:pPr marL="240665" indent="-227965">
              <a:lnSpc>
                <a:spcPct val="100000"/>
              </a:lnSpc>
              <a:spcBef>
                <a:spcPts val="35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0" spc="-10" dirty="0">
                <a:latin typeface="Calibri"/>
                <a:cs typeface="Calibri"/>
              </a:rPr>
              <a:t>Atomicity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0" spc="-10" dirty="0">
                <a:latin typeface="Calibri"/>
                <a:cs typeface="Calibri"/>
              </a:rPr>
              <a:t>Consistency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0" spc="-10" dirty="0">
                <a:latin typeface="Calibri"/>
                <a:cs typeface="Calibri"/>
              </a:rPr>
              <a:t>Integrity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0" spc="-10" dirty="0">
                <a:latin typeface="Calibri"/>
                <a:cs typeface="Calibri"/>
              </a:rPr>
              <a:t>Durability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0" spc="-10" dirty="0">
                <a:latin typeface="Calibri"/>
                <a:cs typeface="Calibri"/>
              </a:rPr>
              <a:t>Concurrency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0" dirty="0">
                <a:latin typeface="Calibri"/>
                <a:cs typeface="Calibri"/>
              </a:rPr>
              <a:t>Query</a:t>
            </a:r>
            <a:r>
              <a:rPr sz="2800" b="0" spc="-45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processing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3411" y="940053"/>
            <a:ext cx="3980815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dirty="0"/>
              <a:t>The</a:t>
            </a:r>
            <a:r>
              <a:rPr spc="-80" dirty="0"/>
              <a:t> </a:t>
            </a:r>
            <a:r>
              <a:rPr spc="-10" dirty="0"/>
              <a:t>Evolution</a:t>
            </a:r>
            <a:r>
              <a:rPr spc="-60" dirty="0"/>
              <a:t> </a:t>
            </a:r>
            <a:r>
              <a:rPr dirty="0"/>
              <a:t>:</a:t>
            </a:r>
            <a:r>
              <a:rPr spc="-75" dirty="0"/>
              <a:t> </a:t>
            </a:r>
            <a:r>
              <a:rPr spc="-20" dirty="0"/>
              <a:t>Graph </a:t>
            </a:r>
            <a:r>
              <a:rPr spc="-10" dirty="0"/>
              <a:t>Databases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3411" y="2769489"/>
            <a:ext cx="4720590" cy="289877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38760" marR="223520" indent="-226060" algn="just">
              <a:lnSpc>
                <a:spcPts val="1620"/>
              </a:lnSpc>
              <a:spcBef>
                <a:spcPts val="305"/>
              </a:spcBef>
              <a:buFont typeface="Arial MT"/>
              <a:buChar char="•"/>
              <a:tabLst>
                <a:tab pos="241300" algn="l"/>
              </a:tabLst>
            </a:pPr>
            <a:r>
              <a:rPr sz="1500" dirty="0">
                <a:latin typeface="Calibri"/>
                <a:cs typeface="Calibri"/>
              </a:rPr>
              <a:t>A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graph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database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NoSQL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database.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graphical 	representation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data.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contains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nodes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edges.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50" dirty="0">
                <a:latin typeface="Calibri"/>
                <a:cs typeface="Calibri"/>
              </a:rPr>
              <a:t>A 	</a:t>
            </a:r>
            <a:r>
              <a:rPr sz="1500" dirty="0">
                <a:latin typeface="Calibri"/>
                <a:cs typeface="Calibri"/>
              </a:rPr>
              <a:t>node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represents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entity,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each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edge</a:t>
            </a:r>
            <a:r>
              <a:rPr sz="1500" spc="-10" dirty="0">
                <a:latin typeface="Calibri"/>
                <a:cs typeface="Calibri"/>
              </a:rPr>
              <a:t> represents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50" dirty="0">
                <a:latin typeface="Calibri"/>
                <a:cs typeface="Calibri"/>
              </a:rPr>
              <a:t>a 	</a:t>
            </a:r>
            <a:r>
              <a:rPr sz="1500" spc="-10" dirty="0">
                <a:latin typeface="Calibri"/>
                <a:cs typeface="Calibri"/>
              </a:rPr>
              <a:t>relationship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between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two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edges.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Every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node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graph 	</a:t>
            </a:r>
            <a:r>
              <a:rPr sz="1500" dirty="0">
                <a:latin typeface="Calibri"/>
                <a:cs typeface="Calibri"/>
              </a:rPr>
              <a:t>database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represents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unique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identifier.</a:t>
            </a:r>
            <a:endParaRPr sz="1500">
              <a:latin typeface="Calibri"/>
              <a:cs typeface="Calibri"/>
            </a:endParaRPr>
          </a:p>
          <a:p>
            <a:pPr marL="241300" marR="354330" indent="-228600">
              <a:lnSpc>
                <a:spcPct val="90100"/>
              </a:lnSpc>
              <a:spcBef>
                <a:spcPts val="970"/>
              </a:spcBef>
              <a:buFont typeface="Arial MT"/>
              <a:buChar char="•"/>
              <a:tabLst>
                <a:tab pos="241300" algn="l"/>
              </a:tabLst>
            </a:pPr>
            <a:r>
              <a:rPr sz="1500" dirty="0">
                <a:latin typeface="Calibri"/>
                <a:cs typeface="Calibri"/>
              </a:rPr>
              <a:t>Graph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databases</a:t>
            </a:r>
            <a:r>
              <a:rPr sz="1500" spc="-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beneficial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searching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the </a:t>
            </a:r>
            <a:r>
              <a:rPr sz="1500" spc="-10" dirty="0">
                <a:latin typeface="Calibri"/>
                <a:cs typeface="Calibri"/>
              </a:rPr>
              <a:t>relationship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between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because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they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highlight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the </a:t>
            </a:r>
            <a:r>
              <a:rPr sz="1500" spc="-10" dirty="0">
                <a:latin typeface="Calibri"/>
                <a:cs typeface="Calibri"/>
              </a:rPr>
              <a:t>relationship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between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relevant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data.</a:t>
            </a:r>
            <a:endParaRPr sz="1500">
              <a:latin typeface="Calibri"/>
              <a:cs typeface="Calibri"/>
            </a:endParaRPr>
          </a:p>
          <a:p>
            <a:pPr marL="238760" marR="310515" indent="-226060" algn="just">
              <a:lnSpc>
                <a:spcPts val="162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1500" dirty="0">
                <a:latin typeface="Calibri"/>
                <a:cs typeface="Calibri"/>
              </a:rPr>
              <a:t>Graph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databases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very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useful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when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database 	</a:t>
            </a:r>
            <a:r>
              <a:rPr sz="1500" dirty="0">
                <a:latin typeface="Calibri"/>
                <a:cs typeface="Calibri"/>
              </a:rPr>
              <a:t>contains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complex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relationship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dynamic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schema.</a:t>
            </a:r>
            <a:endParaRPr sz="1500">
              <a:latin typeface="Calibri"/>
              <a:cs typeface="Calibri"/>
            </a:endParaRPr>
          </a:p>
          <a:p>
            <a:pPr marL="241300" marR="5080" indent="-228600">
              <a:lnSpc>
                <a:spcPts val="162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1500" dirty="0">
                <a:latin typeface="Calibri"/>
                <a:cs typeface="Calibri"/>
              </a:rPr>
              <a:t>It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mostly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used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 </a:t>
            </a:r>
            <a:r>
              <a:rPr sz="1500" b="1" dirty="0">
                <a:latin typeface="Calibri"/>
                <a:cs typeface="Calibri"/>
              </a:rPr>
              <a:t>supply</a:t>
            </a:r>
            <a:r>
              <a:rPr sz="1500" b="1" spc="-2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chain</a:t>
            </a:r>
            <a:r>
              <a:rPr sz="1500" b="1" spc="-35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management</a:t>
            </a:r>
            <a:r>
              <a:rPr sz="1500" spc="-10" dirty="0">
                <a:latin typeface="Calibri"/>
                <a:cs typeface="Calibri"/>
              </a:rPr>
              <a:t>,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identifying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source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IP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telephony.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70320" y="0"/>
            <a:ext cx="5821680" cy="6685915"/>
            <a:chOff x="6370320" y="0"/>
            <a:chExt cx="5821680" cy="66859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70320" y="0"/>
              <a:ext cx="5821680" cy="668577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17564" y="99091"/>
              <a:ext cx="5774436" cy="63153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00060" y="3043427"/>
              <a:ext cx="3662172" cy="7909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Evolution</a:t>
            </a:r>
            <a:r>
              <a:rPr spc="-40" dirty="0"/>
              <a:t> </a:t>
            </a:r>
            <a:r>
              <a:rPr dirty="0"/>
              <a:t>:</a:t>
            </a:r>
            <a:r>
              <a:rPr spc="-55" dirty="0"/>
              <a:t> </a:t>
            </a:r>
            <a:r>
              <a:rPr spc="-20" dirty="0"/>
              <a:t>DBMS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866888" y="0"/>
            <a:ext cx="4325620" cy="2641600"/>
            <a:chOff x="7866888" y="0"/>
            <a:chExt cx="4325620" cy="2641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66888" y="0"/>
              <a:ext cx="4325111" cy="26410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8036" y="0"/>
              <a:ext cx="4283964" cy="242163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9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/>
              <a:t>DataBase</a:t>
            </a:r>
            <a:r>
              <a:rPr spc="-50" dirty="0"/>
              <a:t> </a:t>
            </a:r>
            <a:r>
              <a:rPr spc="-10" dirty="0"/>
              <a:t>Management</a:t>
            </a:r>
            <a:r>
              <a:rPr spc="-40" dirty="0"/>
              <a:t> </a:t>
            </a:r>
            <a:r>
              <a:rPr spc="-10" dirty="0"/>
              <a:t>System</a:t>
            </a:r>
            <a:r>
              <a:rPr spc="-4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software</a:t>
            </a:r>
            <a:r>
              <a:rPr spc="-25" dirty="0"/>
              <a:t> </a:t>
            </a:r>
            <a:r>
              <a:rPr dirty="0"/>
              <a:t>which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used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store</a:t>
            </a:r>
            <a:r>
              <a:rPr spc="-35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retrieve</a:t>
            </a:r>
            <a:r>
              <a:rPr spc="-2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database.</a:t>
            </a:r>
          </a:p>
          <a:p>
            <a:pPr marL="240665" indent="-22796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/>
              <a:t>For</a:t>
            </a:r>
            <a:r>
              <a:rPr spc="-45" dirty="0"/>
              <a:t> </a:t>
            </a:r>
            <a:r>
              <a:rPr dirty="0"/>
              <a:t>example,</a:t>
            </a:r>
            <a:r>
              <a:rPr spc="-40" dirty="0"/>
              <a:t> </a:t>
            </a:r>
            <a:r>
              <a:rPr dirty="0"/>
              <a:t>Oracle,</a:t>
            </a:r>
            <a:r>
              <a:rPr spc="-30" dirty="0"/>
              <a:t> </a:t>
            </a:r>
            <a:r>
              <a:rPr dirty="0"/>
              <a:t>MySQL,</a:t>
            </a:r>
            <a:r>
              <a:rPr spc="-40" dirty="0"/>
              <a:t> </a:t>
            </a:r>
            <a:r>
              <a:rPr dirty="0"/>
              <a:t>etc.;</a:t>
            </a:r>
            <a:r>
              <a:rPr spc="-40" dirty="0"/>
              <a:t> </a:t>
            </a:r>
            <a:r>
              <a:rPr dirty="0"/>
              <a:t>these</a:t>
            </a:r>
            <a:r>
              <a:rPr spc="-45" dirty="0"/>
              <a:t> </a:t>
            </a:r>
            <a:r>
              <a:rPr dirty="0"/>
              <a:t>are</a:t>
            </a:r>
            <a:r>
              <a:rPr spc="-30" dirty="0"/>
              <a:t> </a:t>
            </a:r>
            <a:r>
              <a:rPr dirty="0"/>
              <a:t>some</a:t>
            </a:r>
            <a:r>
              <a:rPr spc="-50" dirty="0"/>
              <a:t> </a:t>
            </a:r>
            <a:r>
              <a:rPr dirty="0"/>
              <a:t>popular</a:t>
            </a:r>
            <a:r>
              <a:rPr spc="-30" dirty="0"/>
              <a:t> </a:t>
            </a:r>
            <a:r>
              <a:rPr dirty="0"/>
              <a:t>DBMS</a:t>
            </a:r>
            <a:r>
              <a:rPr spc="-45" dirty="0"/>
              <a:t> </a:t>
            </a:r>
            <a:r>
              <a:rPr spc="-10" dirty="0"/>
              <a:t>tools.</a:t>
            </a:r>
          </a:p>
          <a:p>
            <a:pPr marL="698500" lvl="1" indent="-228600">
              <a:lnSpc>
                <a:spcPts val="2055"/>
              </a:lnSpc>
              <a:spcBef>
                <a:spcPts val="275"/>
              </a:spcBef>
              <a:buFont typeface="Arial MT"/>
              <a:buChar char="•"/>
              <a:tabLst>
                <a:tab pos="698500" algn="l"/>
              </a:tabLst>
            </a:pPr>
            <a:r>
              <a:rPr sz="1800" dirty="0">
                <a:latin typeface="Calibri"/>
                <a:cs typeface="Calibri"/>
              </a:rPr>
              <a:t>DBMS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provides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interface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perform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various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operations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like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creation,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deletion,</a:t>
            </a:r>
            <a:endParaRPr sz="1800">
              <a:latin typeface="Calibri"/>
              <a:cs typeface="Calibri"/>
            </a:endParaRPr>
          </a:p>
          <a:p>
            <a:pPr marL="698500">
              <a:lnSpc>
                <a:spcPts val="2055"/>
              </a:lnSpc>
            </a:pPr>
            <a:r>
              <a:rPr spc="-10" dirty="0"/>
              <a:t>modification,</a:t>
            </a:r>
            <a:r>
              <a:rPr spc="10" dirty="0"/>
              <a:t> </a:t>
            </a:r>
            <a:r>
              <a:rPr spc="-20" dirty="0"/>
              <a:t>etc.</a:t>
            </a:r>
          </a:p>
          <a:p>
            <a:pPr marL="698500" lvl="1" indent="-228600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698500" algn="l"/>
              </a:tabLst>
            </a:pPr>
            <a:r>
              <a:rPr sz="1800" dirty="0">
                <a:latin typeface="Calibri"/>
                <a:cs typeface="Calibri"/>
              </a:rPr>
              <a:t>DBMS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allows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create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their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databases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their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requirement.</a:t>
            </a:r>
            <a:endParaRPr sz="1800">
              <a:latin typeface="Calibri"/>
              <a:cs typeface="Calibri"/>
            </a:endParaRPr>
          </a:p>
          <a:p>
            <a:pPr marL="698500" lvl="1" indent="-228600">
              <a:lnSpc>
                <a:spcPts val="2050"/>
              </a:lnSpc>
              <a:spcBef>
                <a:spcPts val="290"/>
              </a:spcBef>
              <a:buFont typeface="Arial MT"/>
              <a:buChar char="•"/>
              <a:tabLst>
                <a:tab pos="698500" algn="l"/>
              </a:tabLst>
            </a:pPr>
            <a:r>
              <a:rPr sz="1800" dirty="0">
                <a:latin typeface="Calibri"/>
                <a:cs typeface="Calibri"/>
              </a:rPr>
              <a:t>DBMS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accepts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request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application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provides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specific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through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operating</a:t>
            </a:r>
            <a:endParaRPr sz="1800">
              <a:latin typeface="Calibri"/>
              <a:cs typeface="Calibri"/>
            </a:endParaRPr>
          </a:p>
          <a:p>
            <a:pPr marL="698500">
              <a:lnSpc>
                <a:spcPts val="2050"/>
              </a:lnSpc>
            </a:pPr>
            <a:r>
              <a:rPr spc="-10" dirty="0"/>
              <a:t>system.</a:t>
            </a:r>
          </a:p>
          <a:p>
            <a:pPr marL="698500" lvl="1" indent="-228600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8500" algn="l"/>
              </a:tabLst>
            </a:pPr>
            <a:r>
              <a:rPr sz="1800" dirty="0">
                <a:latin typeface="Calibri"/>
                <a:cs typeface="Calibri"/>
              </a:rPr>
              <a:t>DBMS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contains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group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acts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according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instruction.</a:t>
            </a:r>
            <a:endParaRPr sz="1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698500" algn="l"/>
              </a:tabLst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provides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security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database.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30480"/>
            </a:xfrm>
            <a:custGeom>
              <a:avLst/>
              <a:gdLst/>
              <a:ahLst/>
              <a:cxnLst/>
              <a:rect l="l" t="t" r="r" b="b"/>
              <a:pathLst>
                <a:path w="12192000" h="30480">
                  <a:moveTo>
                    <a:pt x="0" y="30480"/>
                  </a:moveTo>
                  <a:lnTo>
                    <a:pt x="12192000" y="3048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8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0480"/>
              <a:ext cx="12192000" cy="6827520"/>
            </a:xfrm>
            <a:custGeom>
              <a:avLst/>
              <a:gdLst/>
              <a:ahLst/>
              <a:cxnLst/>
              <a:rect l="l" t="t" r="r" b="b"/>
              <a:pathLst>
                <a:path w="12192000" h="6827520">
                  <a:moveTo>
                    <a:pt x="12192000" y="0"/>
                  </a:moveTo>
                  <a:lnTo>
                    <a:pt x="0" y="0"/>
                  </a:lnTo>
                  <a:lnTo>
                    <a:pt x="0" y="6827520"/>
                  </a:lnTo>
                  <a:lnTo>
                    <a:pt x="12192000" y="682752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5282"/>
              <a:ext cx="5647913" cy="62497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4592"/>
              <a:ext cx="5518421" cy="613105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5647944" cy="647242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83411" y="2779852"/>
            <a:ext cx="270764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10" dirty="0">
                <a:latin typeface="Calibri Light"/>
                <a:cs typeface="Calibri Light"/>
              </a:rPr>
              <a:t>Advantage</a:t>
            </a:r>
            <a:r>
              <a:rPr sz="4000" spc="-17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of </a:t>
            </a:r>
            <a:r>
              <a:rPr sz="4000" spc="-20" dirty="0">
                <a:latin typeface="Calibri Light"/>
                <a:cs typeface="Calibri Light"/>
              </a:rPr>
              <a:t>DBMS</a:t>
            </a:r>
            <a:endParaRPr sz="4000">
              <a:latin typeface="Calibri Light"/>
              <a:cs typeface="Calibri Ligh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085078" y="1272286"/>
            <a:ext cx="5127625" cy="864869"/>
            <a:chOff x="6085078" y="1272286"/>
            <a:chExt cx="5127625" cy="864869"/>
          </a:xfrm>
        </p:grpSpPr>
        <p:sp>
          <p:nvSpPr>
            <p:cNvPr id="10" name="object 10"/>
            <p:cNvSpPr/>
            <p:nvPr/>
          </p:nvSpPr>
          <p:spPr>
            <a:xfrm>
              <a:off x="6091428" y="1278636"/>
              <a:ext cx="5114925" cy="852169"/>
            </a:xfrm>
            <a:custGeom>
              <a:avLst/>
              <a:gdLst/>
              <a:ahLst/>
              <a:cxnLst/>
              <a:rect l="l" t="t" r="r" b="b"/>
              <a:pathLst>
                <a:path w="5114925" h="852169">
                  <a:moveTo>
                    <a:pt x="5114544" y="0"/>
                  </a:moveTo>
                  <a:lnTo>
                    <a:pt x="0" y="0"/>
                  </a:lnTo>
                  <a:lnTo>
                    <a:pt x="0" y="851915"/>
                  </a:lnTo>
                  <a:lnTo>
                    <a:pt x="5114544" y="851915"/>
                  </a:lnTo>
                  <a:lnTo>
                    <a:pt x="511454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91428" y="1278636"/>
              <a:ext cx="5114925" cy="852169"/>
            </a:xfrm>
            <a:custGeom>
              <a:avLst/>
              <a:gdLst/>
              <a:ahLst/>
              <a:cxnLst/>
              <a:rect l="l" t="t" r="r" b="b"/>
              <a:pathLst>
                <a:path w="5114925" h="852169">
                  <a:moveTo>
                    <a:pt x="0" y="851915"/>
                  </a:moveTo>
                  <a:lnTo>
                    <a:pt x="5114544" y="851915"/>
                  </a:lnTo>
                  <a:lnTo>
                    <a:pt x="5114544" y="0"/>
                  </a:lnTo>
                  <a:lnTo>
                    <a:pt x="0" y="0"/>
                  </a:lnTo>
                  <a:lnTo>
                    <a:pt x="0" y="851915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476491" y="1547621"/>
            <a:ext cx="4239895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5730" marR="5080" indent="-113030">
              <a:lnSpc>
                <a:spcPts val="1639"/>
              </a:lnSpc>
              <a:spcBef>
                <a:spcPts val="285"/>
              </a:spcBef>
              <a:buChar char="•"/>
              <a:tabLst>
                <a:tab pos="127000" algn="l"/>
              </a:tabLst>
            </a:pPr>
            <a:r>
              <a:rPr sz="1500" dirty="0">
                <a:latin typeface="Calibri"/>
                <a:cs typeface="Calibri"/>
              </a:rPr>
              <a:t>It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stores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all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single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database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file,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so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can 	</a:t>
            </a:r>
            <a:r>
              <a:rPr sz="1500" dirty="0">
                <a:latin typeface="Calibri"/>
                <a:cs typeface="Calibri"/>
              </a:rPr>
              <a:t>control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-7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redundancy.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341109" y="1051305"/>
            <a:ext cx="3592829" cy="456565"/>
            <a:chOff x="6341109" y="1051305"/>
            <a:chExt cx="3592829" cy="456565"/>
          </a:xfrm>
        </p:grpSpPr>
        <p:sp>
          <p:nvSpPr>
            <p:cNvPr id="14" name="object 14"/>
            <p:cNvSpPr/>
            <p:nvPr/>
          </p:nvSpPr>
          <p:spPr>
            <a:xfrm>
              <a:off x="6347459" y="1057655"/>
              <a:ext cx="3580129" cy="443865"/>
            </a:xfrm>
            <a:custGeom>
              <a:avLst/>
              <a:gdLst/>
              <a:ahLst/>
              <a:cxnLst/>
              <a:rect l="l" t="t" r="r" b="b"/>
              <a:pathLst>
                <a:path w="3580129" h="443865">
                  <a:moveTo>
                    <a:pt x="3505962" y="0"/>
                  </a:moveTo>
                  <a:lnTo>
                    <a:pt x="73913" y="0"/>
                  </a:lnTo>
                  <a:lnTo>
                    <a:pt x="45166" y="5816"/>
                  </a:lnTo>
                  <a:lnTo>
                    <a:pt x="21669" y="21669"/>
                  </a:lnTo>
                  <a:lnTo>
                    <a:pt x="5816" y="45166"/>
                  </a:lnTo>
                  <a:lnTo>
                    <a:pt x="0" y="73914"/>
                  </a:lnTo>
                  <a:lnTo>
                    <a:pt x="0" y="369570"/>
                  </a:lnTo>
                  <a:lnTo>
                    <a:pt x="5816" y="398317"/>
                  </a:lnTo>
                  <a:lnTo>
                    <a:pt x="21669" y="421814"/>
                  </a:lnTo>
                  <a:lnTo>
                    <a:pt x="45166" y="437667"/>
                  </a:lnTo>
                  <a:lnTo>
                    <a:pt x="73913" y="443484"/>
                  </a:lnTo>
                  <a:lnTo>
                    <a:pt x="3505962" y="443484"/>
                  </a:lnTo>
                  <a:lnTo>
                    <a:pt x="3534709" y="437667"/>
                  </a:lnTo>
                  <a:lnTo>
                    <a:pt x="3558206" y="421814"/>
                  </a:lnTo>
                  <a:lnTo>
                    <a:pt x="3574059" y="398317"/>
                  </a:lnTo>
                  <a:lnTo>
                    <a:pt x="3579875" y="369570"/>
                  </a:lnTo>
                  <a:lnTo>
                    <a:pt x="3579875" y="73914"/>
                  </a:lnTo>
                  <a:lnTo>
                    <a:pt x="3574059" y="45166"/>
                  </a:lnTo>
                  <a:lnTo>
                    <a:pt x="3558206" y="21669"/>
                  </a:lnTo>
                  <a:lnTo>
                    <a:pt x="3534709" y="5816"/>
                  </a:lnTo>
                  <a:lnTo>
                    <a:pt x="350596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47459" y="1057655"/>
              <a:ext cx="3580129" cy="443865"/>
            </a:xfrm>
            <a:custGeom>
              <a:avLst/>
              <a:gdLst/>
              <a:ahLst/>
              <a:cxnLst/>
              <a:rect l="l" t="t" r="r" b="b"/>
              <a:pathLst>
                <a:path w="3580129" h="443865">
                  <a:moveTo>
                    <a:pt x="0" y="73914"/>
                  </a:moveTo>
                  <a:lnTo>
                    <a:pt x="5816" y="45166"/>
                  </a:lnTo>
                  <a:lnTo>
                    <a:pt x="21669" y="21669"/>
                  </a:lnTo>
                  <a:lnTo>
                    <a:pt x="45166" y="5816"/>
                  </a:lnTo>
                  <a:lnTo>
                    <a:pt x="73913" y="0"/>
                  </a:lnTo>
                  <a:lnTo>
                    <a:pt x="3505962" y="0"/>
                  </a:lnTo>
                  <a:lnTo>
                    <a:pt x="3534709" y="5816"/>
                  </a:lnTo>
                  <a:lnTo>
                    <a:pt x="3558206" y="21669"/>
                  </a:lnTo>
                  <a:lnTo>
                    <a:pt x="3574059" y="45166"/>
                  </a:lnTo>
                  <a:lnTo>
                    <a:pt x="3579875" y="73914"/>
                  </a:lnTo>
                  <a:lnTo>
                    <a:pt x="3579875" y="369570"/>
                  </a:lnTo>
                  <a:lnTo>
                    <a:pt x="3574059" y="398317"/>
                  </a:lnTo>
                  <a:lnTo>
                    <a:pt x="3558206" y="421814"/>
                  </a:lnTo>
                  <a:lnTo>
                    <a:pt x="3534709" y="437667"/>
                  </a:lnTo>
                  <a:lnTo>
                    <a:pt x="3505962" y="443484"/>
                  </a:lnTo>
                  <a:lnTo>
                    <a:pt x="73913" y="443484"/>
                  </a:lnTo>
                  <a:lnTo>
                    <a:pt x="45166" y="437667"/>
                  </a:lnTo>
                  <a:lnTo>
                    <a:pt x="21669" y="421814"/>
                  </a:lnTo>
                  <a:lnTo>
                    <a:pt x="5816" y="398317"/>
                  </a:lnTo>
                  <a:lnTo>
                    <a:pt x="0" y="369570"/>
                  </a:lnTo>
                  <a:lnTo>
                    <a:pt x="0" y="73914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6491985" y="1130300"/>
            <a:ext cx="171703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Controls redundancy: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085078" y="2425954"/>
            <a:ext cx="5127625" cy="863600"/>
            <a:chOff x="6085078" y="2425954"/>
            <a:chExt cx="5127625" cy="863600"/>
          </a:xfrm>
        </p:grpSpPr>
        <p:sp>
          <p:nvSpPr>
            <p:cNvPr id="18" name="object 18"/>
            <p:cNvSpPr/>
            <p:nvPr/>
          </p:nvSpPr>
          <p:spPr>
            <a:xfrm>
              <a:off x="6091428" y="2432304"/>
              <a:ext cx="5114925" cy="850900"/>
            </a:xfrm>
            <a:custGeom>
              <a:avLst/>
              <a:gdLst/>
              <a:ahLst/>
              <a:cxnLst/>
              <a:rect l="l" t="t" r="r" b="b"/>
              <a:pathLst>
                <a:path w="5114925" h="850900">
                  <a:moveTo>
                    <a:pt x="5114544" y="0"/>
                  </a:moveTo>
                  <a:lnTo>
                    <a:pt x="0" y="0"/>
                  </a:lnTo>
                  <a:lnTo>
                    <a:pt x="0" y="850391"/>
                  </a:lnTo>
                  <a:lnTo>
                    <a:pt x="5114544" y="850391"/>
                  </a:lnTo>
                  <a:lnTo>
                    <a:pt x="511454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91428" y="2432304"/>
              <a:ext cx="5114925" cy="850900"/>
            </a:xfrm>
            <a:custGeom>
              <a:avLst/>
              <a:gdLst/>
              <a:ahLst/>
              <a:cxnLst/>
              <a:rect l="l" t="t" r="r" b="b"/>
              <a:pathLst>
                <a:path w="5114925" h="850900">
                  <a:moveTo>
                    <a:pt x="0" y="850391"/>
                  </a:moveTo>
                  <a:lnTo>
                    <a:pt x="5114544" y="850391"/>
                  </a:lnTo>
                  <a:lnTo>
                    <a:pt x="5114544" y="0"/>
                  </a:lnTo>
                  <a:lnTo>
                    <a:pt x="0" y="0"/>
                  </a:lnTo>
                  <a:lnTo>
                    <a:pt x="0" y="850391"/>
                  </a:lnTo>
                  <a:close/>
                </a:path>
              </a:pathLst>
            </a:custGeom>
            <a:ln w="12700">
              <a:solidFill>
                <a:srgbClr val="52C9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476491" y="2700654"/>
            <a:ext cx="4332605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5730" marR="5080" indent="-113030">
              <a:lnSpc>
                <a:spcPts val="1639"/>
              </a:lnSpc>
              <a:spcBef>
                <a:spcPts val="285"/>
              </a:spcBef>
              <a:buChar char="•"/>
              <a:tabLst>
                <a:tab pos="127000" algn="l"/>
              </a:tabLst>
            </a:pPr>
            <a:r>
              <a:rPr sz="1500" dirty="0">
                <a:latin typeface="Calibri"/>
                <a:cs typeface="Calibri"/>
              </a:rPr>
              <a:t>An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authorized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user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share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among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multiple 	users.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341109" y="2204973"/>
            <a:ext cx="3592829" cy="454659"/>
            <a:chOff x="6341109" y="2204973"/>
            <a:chExt cx="3592829" cy="454659"/>
          </a:xfrm>
        </p:grpSpPr>
        <p:sp>
          <p:nvSpPr>
            <p:cNvPr id="22" name="object 22"/>
            <p:cNvSpPr/>
            <p:nvPr/>
          </p:nvSpPr>
          <p:spPr>
            <a:xfrm>
              <a:off x="6347459" y="2211323"/>
              <a:ext cx="3580129" cy="441959"/>
            </a:xfrm>
            <a:custGeom>
              <a:avLst/>
              <a:gdLst/>
              <a:ahLst/>
              <a:cxnLst/>
              <a:rect l="l" t="t" r="r" b="b"/>
              <a:pathLst>
                <a:path w="3580129" h="441960">
                  <a:moveTo>
                    <a:pt x="3506216" y="0"/>
                  </a:moveTo>
                  <a:lnTo>
                    <a:pt x="73660" y="0"/>
                  </a:lnTo>
                  <a:lnTo>
                    <a:pt x="45005" y="5794"/>
                  </a:lnTo>
                  <a:lnTo>
                    <a:pt x="21589" y="21589"/>
                  </a:lnTo>
                  <a:lnTo>
                    <a:pt x="5794" y="45005"/>
                  </a:lnTo>
                  <a:lnTo>
                    <a:pt x="0" y="73660"/>
                  </a:lnTo>
                  <a:lnTo>
                    <a:pt x="0" y="368300"/>
                  </a:lnTo>
                  <a:lnTo>
                    <a:pt x="5794" y="396954"/>
                  </a:lnTo>
                  <a:lnTo>
                    <a:pt x="21589" y="420369"/>
                  </a:lnTo>
                  <a:lnTo>
                    <a:pt x="45005" y="436165"/>
                  </a:lnTo>
                  <a:lnTo>
                    <a:pt x="73660" y="441960"/>
                  </a:lnTo>
                  <a:lnTo>
                    <a:pt x="3506216" y="441960"/>
                  </a:lnTo>
                  <a:lnTo>
                    <a:pt x="3534870" y="436165"/>
                  </a:lnTo>
                  <a:lnTo>
                    <a:pt x="3558286" y="420370"/>
                  </a:lnTo>
                  <a:lnTo>
                    <a:pt x="3574081" y="396954"/>
                  </a:lnTo>
                  <a:lnTo>
                    <a:pt x="3579875" y="368300"/>
                  </a:lnTo>
                  <a:lnTo>
                    <a:pt x="3579875" y="73660"/>
                  </a:lnTo>
                  <a:lnTo>
                    <a:pt x="3574081" y="45005"/>
                  </a:lnTo>
                  <a:lnTo>
                    <a:pt x="3558286" y="21590"/>
                  </a:lnTo>
                  <a:lnTo>
                    <a:pt x="3534870" y="5794"/>
                  </a:lnTo>
                  <a:lnTo>
                    <a:pt x="3506216" y="0"/>
                  </a:lnTo>
                  <a:close/>
                </a:path>
              </a:pathLst>
            </a:custGeom>
            <a:solidFill>
              <a:srgbClr val="52C9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347459" y="2211323"/>
              <a:ext cx="3580129" cy="441959"/>
            </a:xfrm>
            <a:custGeom>
              <a:avLst/>
              <a:gdLst/>
              <a:ahLst/>
              <a:cxnLst/>
              <a:rect l="l" t="t" r="r" b="b"/>
              <a:pathLst>
                <a:path w="3580129" h="441960">
                  <a:moveTo>
                    <a:pt x="0" y="73660"/>
                  </a:moveTo>
                  <a:lnTo>
                    <a:pt x="5794" y="45005"/>
                  </a:lnTo>
                  <a:lnTo>
                    <a:pt x="21589" y="21589"/>
                  </a:lnTo>
                  <a:lnTo>
                    <a:pt x="45005" y="5794"/>
                  </a:lnTo>
                  <a:lnTo>
                    <a:pt x="73660" y="0"/>
                  </a:lnTo>
                  <a:lnTo>
                    <a:pt x="3506216" y="0"/>
                  </a:lnTo>
                  <a:lnTo>
                    <a:pt x="3534870" y="5794"/>
                  </a:lnTo>
                  <a:lnTo>
                    <a:pt x="3558286" y="21590"/>
                  </a:lnTo>
                  <a:lnTo>
                    <a:pt x="3574081" y="45005"/>
                  </a:lnTo>
                  <a:lnTo>
                    <a:pt x="3579875" y="73660"/>
                  </a:lnTo>
                  <a:lnTo>
                    <a:pt x="3579875" y="368300"/>
                  </a:lnTo>
                  <a:lnTo>
                    <a:pt x="3574081" y="396954"/>
                  </a:lnTo>
                  <a:lnTo>
                    <a:pt x="3558286" y="420370"/>
                  </a:lnTo>
                  <a:lnTo>
                    <a:pt x="3534870" y="436165"/>
                  </a:lnTo>
                  <a:lnTo>
                    <a:pt x="3506216" y="441960"/>
                  </a:lnTo>
                  <a:lnTo>
                    <a:pt x="73660" y="441960"/>
                  </a:lnTo>
                  <a:lnTo>
                    <a:pt x="45005" y="436165"/>
                  </a:lnTo>
                  <a:lnTo>
                    <a:pt x="21589" y="420369"/>
                  </a:lnTo>
                  <a:lnTo>
                    <a:pt x="5794" y="396954"/>
                  </a:lnTo>
                  <a:lnTo>
                    <a:pt x="0" y="368300"/>
                  </a:lnTo>
                  <a:lnTo>
                    <a:pt x="0" y="7366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91985" y="2283714"/>
            <a:ext cx="10706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5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sharing: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085078" y="3578097"/>
            <a:ext cx="5127625" cy="1076960"/>
            <a:chOff x="6085078" y="3578097"/>
            <a:chExt cx="5127625" cy="1076960"/>
          </a:xfrm>
        </p:grpSpPr>
        <p:sp>
          <p:nvSpPr>
            <p:cNvPr id="26" name="object 26"/>
            <p:cNvSpPr/>
            <p:nvPr/>
          </p:nvSpPr>
          <p:spPr>
            <a:xfrm>
              <a:off x="6091428" y="3584447"/>
              <a:ext cx="5114925" cy="1064260"/>
            </a:xfrm>
            <a:custGeom>
              <a:avLst/>
              <a:gdLst/>
              <a:ahLst/>
              <a:cxnLst/>
              <a:rect l="l" t="t" r="r" b="b"/>
              <a:pathLst>
                <a:path w="5114925" h="1064260">
                  <a:moveTo>
                    <a:pt x="5114544" y="0"/>
                  </a:moveTo>
                  <a:lnTo>
                    <a:pt x="0" y="0"/>
                  </a:lnTo>
                  <a:lnTo>
                    <a:pt x="0" y="1063752"/>
                  </a:lnTo>
                  <a:lnTo>
                    <a:pt x="5114544" y="1063752"/>
                  </a:lnTo>
                  <a:lnTo>
                    <a:pt x="511454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91428" y="3584447"/>
              <a:ext cx="5114925" cy="1064260"/>
            </a:xfrm>
            <a:custGeom>
              <a:avLst/>
              <a:gdLst/>
              <a:ahLst/>
              <a:cxnLst/>
              <a:rect l="l" t="t" r="r" b="b"/>
              <a:pathLst>
                <a:path w="5114925" h="1064260">
                  <a:moveTo>
                    <a:pt x="0" y="1063752"/>
                  </a:moveTo>
                  <a:lnTo>
                    <a:pt x="5114544" y="1063752"/>
                  </a:lnTo>
                  <a:lnTo>
                    <a:pt x="5114544" y="0"/>
                  </a:lnTo>
                  <a:lnTo>
                    <a:pt x="0" y="0"/>
                  </a:lnTo>
                  <a:lnTo>
                    <a:pt x="0" y="1063752"/>
                  </a:lnTo>
                  <a:close/>
                </a:path>
              </a:pathLst>
            </a:custGeom>
            <a:ln w="12700">
              <a:solidFill>
                <a:srgbClr val="48BE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476491" y="3853942"/>
            <a:ext cx="4203700" cy="67183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5730" marR="5080" indent="-113030">
              <a:lnSpc>
                <a:spcPts val="1639"/>
              </a:lnSpc>
              <a:spcBef>
                <a:spcPts val="285"/>
              </a:spcBef>
              <a:buChar char="•"/>
              <a:tabLst>
                <a:tab pos="127000" algn="l"/>
              </a:tabLst>
            </a:pPr>
            <a:r>
              <a:rPr sz="1500" dirty="0">
                <a:latin typeface="Calibri"/>
                <a:cs typeface="Calibri"/>
              </a:rPr>
              <a:t>It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provides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Backup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recovery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subsystem.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This 	</a:t>
            </a:r>
            <a:r>
              <a:rPr sz="1500" spc="-10" dirty="0">
                <a:latin typeface="Calibri"/>
                <a:cs typeface="Calibri"/>
              </a:rPr>
              <a:t>recovery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system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creates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automatic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from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system 	failure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restores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if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required.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341109" y="3357117"/>
            <a:ext cx="3592829" cy="456565"/>
            <a:chOff x="6341109" y="3357117"/>
            <a:chExt cx="3592829" cy="456565"/>
          </a:xfrm>
        </p:grpSpPr>
        <p:sp>
          <p:nvSpPr>
            <p:cNvPr id="30" name="object 30"/>
            <p:cNvSpPr/>
            <p:nvPr/>
          </p:nvSpPr>
          <p:spPr>
            <a:xfrm>
              <a:off x="6347459" y="3363467"/>
              <a:ext cx="3580129" cy="443865"/>
            </a:xfrm>
            <a:custGeom>
              <a:avLst/>
              <a:gdLst/>
              <a:ahLst/>
              <a:cxnLst/>
              <a:rect l="l" t="t" r="r" b="b"/>
              <a:pathLst>
                <a:path w="3580129" h="443864">
                  <a:moveTo>
                    <a:pt x="3505962" y="0"/>
                  </a:moveTo>
                  <a:lnTo>
                    <a:pt x="73913" y="0"/>
                  </a:lnTo>
                  <a:lnTo>
                    <a:pt x="45166" y="5816"/>
                  </a:lnTo>
                  <a:lnTo>
                    <a:pt x="21669" y="21669"/>
                  </a:lnTo>
                  <a:lnTo>
                    <a:pt x="5816" y="45166"/>
                  </a:lnTo>
                  <a:lnTo>
                    <a:pt x="0" y="73914"/>
                  </a:lnTo>
                  <a:lnTo>
                    <a:pt x="0" y="369570"/>
                  </a:lnTo>
                  <a:lnTo>
                    <a:pt x="5816" y="398317"/>
                  </a:lnTo>
                  <a:lnTo>
                    <a:pt x="21669" y="421814"/>
                  </a:lnTo>
                  <a:lnTo>
                    <a:pt x="45166" y="437667"/>
                  </a:lnTo>
                  <a:lnTo>
                    <a:pt x="73913" y="443484"/>
                  </a:lnTo>
                  <a:lnTo>
                    <a:pt x="3505962" y="443484"/>
                  </a:lnTo>
                  <a:lnTo>
                    <a:pt x="3534709" y="437667"/>
                  </a:lnTo>
                  <a:lnTo>
                    <a:pt x="3558206" y="421814"/>
                  </a:lnTo>
                  <a:lnTo>
                    <a:pt x="3574059" y="398317"/>
                  </a:lnTo>
                  <a:lnTo>
                    <a:pt x="3579875" y="369570"/>
                  </a:lnTo>
                  <a:lnTo>
                    <a:pt x="3579875" y="73914"/>
                  </a:lnTo>
                  <a:lnTo>
                    <a:pt x="3574059" y="45166"/>
                  </a:lnTo>
                  <a:lnTo>
                    <a:pt x="3558206" y="21669"/>
                  </a:lnTo>
                  <a:lnTo>
                    <a:pt x="3534709" y="5816"/>
                  </a:lnTo>
                  <a:lnTo>
                    <a:pt x="3505962" y="0"/>
                  </a:lnTo>
                  <a:close/>
                </a:path>
              </a:pathLst>
            </a:custGeom>
            <a:solidFill>
              <a:srgbClr val="48BE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347459" y="3363467"/>
              <a:ext cx="3580129" cy="443865"/>
            </a:xfrm>
            <a:custGeom>
              <a:avLst/>
              <a:gdLst/>
              <a:ahLst/>
              <a:cxnLst/>
              <a:rect l="l" t="t" r="r" b="b"/>
              <a:pathLst>
                <a:path w="3580129" h="443864">
                  <a:moveTo>
                    <a:pt x="0" y="73914"/>
                  </a:moveTo>
                  <a:lnTo>
                    <a:pt x="5816" y="45166"/>
                  </a:lnTo>
                  <a:lnTo>
                    <a:pt x="21669" y="21669"/>
                  </a:lnTo>
                  <a:lnTo>
                    <a:pt x="45166" y="5816"/>
                  </a:lnTo>
                  <a:lnTo>
                    <a:pt x="73913" y="0"/>
                  </a:lnTo>
                  <a:lnTo>
                    <a:pt x="3505962" y="0"/>
                  </a:lnTo>
                  <a:lnTo>
                    <a:pt x="3534709" y="5816"/>
                  </a:lnTo>
                  <a:lnTo>
                    <a:pt x="3558206" y="21669"/>
                  </a:lnTo>
                  <a:lnTo>
                    <a:pt x="3574059" y="45166"/>
                  </a:lnTo>
                  <a:lnTo>
                    <a:pt x="3579875" y="73914"/>
                  </a:lnTo>
                  <a:lnTo>
                    <a:pt x="3579875" y="369570"/>
                  </a:lnTo>
                  <a:lnTo>
                    <a:pt x="3574059" y="398317"/>
                  </a:lnTo>
                  <a:lnTo>
                    <a:pt x="3558206" y="421814"/>
                  </a:lnTo>
                  <a:lnTo>
                    <a:pt x="3534709" y="437667"/>
                  </a:lnTo>
                  <a:lnTo>
                    <a:pt x="3505962" y="443484"/>
                  </a:lnTo>
                  <a:lnTo>
                    <a:pt x="73913" y="443484"/>
                  </a:lnTo>
                  <a:lnTo>
                    <a:pt x="45166" y="437667"/>
                  </a:lnTo>
                  <a:lnTo>
                    <a:pt x="21669" y="421814"/>
                  </a:lnTo>
                  <a:lnTo>
                    <a:pt x="5816" y="398317"/>
                  </a:lnTo>
                  <a:lnTo>
                    <a:pt x="0" y="369570"/>
                  </a:lnTo>
                  <a:lnTo>
                    <a:pt x="0" y="73914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491985" y="3436746"/>
            <a:ext cx="6515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Backup: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085078" y="4722621"/>
            <a:ext cx="5127625" cy="1085850"/>
            <a:chOff x="6085078" y="4722621"/>
            <a:chExt cx="5127625" cy="1085850"/>
          </a:xfrm>
        </p:grpSpPr>
        <p:sp>
          <p:nvSpPr>
            <p:cNvPr id="34" name="object 34"/>
            <p:cNvSpPr/>
            <p:nvPr/>
          </p:nvSpPr>
          <p:spPr>
            <a:xfrm>
              <a:off x="6091428" y="4949951"/>
              <a:ext cx="5114925" cy="852169"/>
            </a:xfrm>
            <a:custGeom>
              <a:avLst/>
              <a:gdLst/>
              <a:ahLst/>
              <a:cxnLst/>
              <a:rect l="l" t="t" r="r" b="b"/>
              <a:pathLst>
                <a:path w="5114925" h="852170">
                  <a:moveTo>
                    <a:pt x="5114544" y="0"/>
                  </a:moveTo>
                  <a:lnTo>
                    <a:pt x="0" y="0"/>
                  </a:lnTo>
                  <a:lnTo>
                    <a:pt x="0" y="851916"/>
                  </a:lnTo>
                  <a:lnTo>
                    <a:pt x="5114544" y="851916"/>
                  </a:lnTo>
                  <a:lnTo>
                    <a:pt x="511454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91428" y="4949951"/>
              <a:ext cx="5114925" cy="852169"/>
            </a:xfrm>
            <a:custGeom>
              <a:avLst/>
              <a:gdLst/>
              <a:ahLst/>
              <a:cxnLst/>
              <a:rect l="l" t="t" r="r" b="b"/>
              <a:pathLst>
                <a:path w="5114925" h="852170">
                  <a:moveTo>
                    <a:pt x="0" y="851916"/>
                  </a:moveTo>
                  <a:lnTo>
                    <a:pt x="5114544" y="851916"/>
                  </a:lnTo>
                  <a:lnTo>
                    <a:pt x="5114544" y="0"/>
                  </a:lnTo>
                  <a:lnTo>
                    <a:pt x="0" y="0"/>
                  </a:lnTo>
                  <a:lnTo>
                    <a:pt x="0" y="851916"/>
                  </a:lnTo>
                  <a:close/>
                </a:path>
              </a:pathLst>
            </a:custGeom>
            <a:ln w="12699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347460" y="4728971"/>
              <a:ext cx="3580129" cy="443865"/>
            </a:xfrm>
            <a:custGeom>
              <a:avLst/>
              <a:gdLst/>
              <a:ahLst/>
              <a:cxnLst/>
              <a:rect l="l" t="t" r="r" b="b"/>
              <a:pathLst>
                <a:path w="3580129" h="443864">
                  <a:moveTo>
                    <a:pt x="3505962" y="0"/>
                  </a:moveTo>
                  <a:lnTo>
                    <a:pt x="73913" y="0"/>
                  </a:lnTo>
                  <a:lnTo>
                    <a:pt x="45166" y="5816"/>
                  </a:lnTo>
                  <a:lnTo>
                    <a:pt x="21669" y="21669"/>
                  </a:lnTo>
                  <a:lnTo>
                    <a:pt x="5816" y="45166"/>
                  </a:lnTo>
                  <a:lnTo>
                    <a:pt x="0" y="73913"/>
                  </a:lnTo>
                  <a:lnTo>
                    <a:pt x="0" y="369569"/>
                  </a:lnTo>
                  <a:lnTo>
                    <a:pt x="5816" y="398317"/>
                  </a:lnTo>
                  <a:lnTo>
                    <a:pt x="21669" y="421814"/>
                  </a:lnTo>
                  <a:lnTo>
                    <a:pt x="45166" y="437667"/>
                  </a:lnTo>
                  <a:lnTo>
                    <a:pt x="73913" y="443483"/>
                  </a:lnTo>
                  <a:lnTo>
                    <a:pt x="3505962" y="443483"/>
                  </a:lnTo>
                  <a:lnTo>
                    <a:pt x="3534709" y="437667"/>
                  </a:lnTo>
                  <a:lnTo>
                    <a:pt x="3558206" y="421814"/>
                  </a:lnTo>
                  <a:lnTo>
                    <a:pt x="3574059" y="398317"/>
                  </a:lnTo>
                  <a:lnTo>
                    <a:pt x="3579875" y="369569"/>
                  </a:lnTo>
                  <a:lnTo>
                    <a:pt x="3579875" y="73913"/>
                  </a:lnTo>
                  <a:lnTo>
                    <a:pt x="3574059" y="45166"/>
                  </a:lnTo>
                  <a:lnTo>
                    <a:pt x="3558206" y="21669"/>
                  </a:lnTo>
                  <a:lnTo>
                    <a:pt x="3534709" y="5816"/>
                  </a:lnTo>
                  <a:lnTo>
                    <a:pt x="3505962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347460" y="4728971"/>
              <a:ext cx="3580129" cy="443865"/>
            </a:xfrm>
            <a:custGeom>
              <a:avLst/>
              <a:gdLst/>
              <a:ahLst/>
              <a:cxnLst/>
              <a:rect l="l" t="t" r="r" b="b"/>
              <a:pathLst>
                <a:path w="3580129" h="443864">
                  <a:moveTo>
                    <a:pt x="0" y="73913"/>
                  </a:moveTo>
                  <a:lnTo>
                    <a:pt x="5816" y="45166"/>
                  </a:lnTo>
                  <a:lnTo>
                    <a:pt x="21669" y="21669"/>
                  </a:lnTo>
                  <a:lnTo>
                    <a:pt x="45166" y="5816"/>
                  </a:lnTo>
                  <a:lnTo>
                    <a:pt x="73913" y="0"/>
                  </a:lnTo>
                  <a:lnTo>
                    <a:pt x="3505962" y="0"/>
                  </a:lnTo>
                  <a:lnTo>
                    <a:pt x="3534709" y="5816"/>
                  </a:lnTo>
                  <a:lnTo>
                    <a:pt x="3558206" y="21669"/>
                  </a:lnTo>
                  <a:lnTo>
                    <a:pt x="3574059" y="45166"/>
                  </a:lnTo>
                  <a:lnTo>
                    <a:pt x="3579875" y="73913"/>
                  </a:lnTo>
                  <a:lnTo>
                    <a:pt x="3579875" y="369569"/>
                  </a:lnTo>
                  <a:lnTo>
                    <a:pt x="3574059" y="398317"/>
                  </a:lnTo>
                  <a:lnTo>
                    <a:pt x="3558206" y="421814"/>
                  </a:lnTo>
                  <a:lnTo>
                    <a:pt x="3534709" y="437667"/>
                  </a:lnTo>
                  <a:lnTo>
                    <a:pt x="3505962" y="443483"/>
                  </a:lnTo>
                  <a:lnTo>
                    <a:pt x="73913" y="443483"/>
                  </a:lnTo>
                  <a:lnTo>
                    <a:pt x="45166" y="437667"/>
                  </a:lnTo>
                  <a:lnTo>
                    <a:pt x="21669" y="421814"/>
                  </a:lnTo>
                  <a:lnTo>
                    <a:pt x="5816" y="398317"/>
                  </a:lnTo>
                  <a:lnTo>
                    <a:pt x="0" y="369569"/>
                  </a:lnTo>
                  <a:lnTo>
                    <a:pt x="0" y="7391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476491" y="4802504"/>
            <a:ext cx="4260850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15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15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interfaces:</a:t>
            </a:r>
            <a:endParaRPr sz="1500">
              <a:latin typeface="Calibri"/>
              <a:cs typeface="Calibri"/>
            </a:endParaRPr>
          </a:p>
          <a:p>
            <a:pPr marL="125730" marR="5080" indent="-113030">
              <a:lnSpc>
                <a:spcPts val="1639"/>
              </a:lnSpc>
              <a:spcBef>
                <a:spcPts val="1675"/>
              </a:spcBef>
              <a:buChar char="•"/>
              <a:tabLst>
                <a:tab pos="127000" algn="l"/>
              </a:tabLst>
            </a:pPr>
            <a:r>
              <a:rPr sz="1500" dirty="0">
                <a:latin typeface="Calibri"/>
                <a:cs typeface="Calibri"/>
              </a:rPr>
              <a:t>It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provides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different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type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user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interfaces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like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GUI, 	</a:t>
            </a:r>
            <a:r>
              <a:rPr sz="1500" spc="-10" dirty="0">
                <a:latin typeface="Calibri"/>
                <a:cs typeface="Calibri"/>
              </a:rPr>
              <a:t>application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interfaces.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30480"/>
            </a:xfrm>
            <a:custGeom>
              <a:avLst/>
              <a:gdLst/>
              <a:ahLst/>
              <a:cxnLst/>
              <a:rect l="l" t="t" r="r" b="b"/>
              <a:pathLst>
                <a:path w="12192000" h="30480">
                  <a:moveTo>
                    <a:pt x="0" y="30480"/>
                  </a:moveTo>
                  <a:lnTo>
                    <a:pt x="12192000" y="3048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8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0480"/>
              <a:ext cx="12192000" cy="6827520"/>
            </a:xfrm>
            <a:custGeom>
              <a:avLst/>
              <a:gdLst/>
              <a:ahLst/>
              <a:cxnLst/>
              <a:rect l="l" t="t" r="r" b="b"/>
              <a:pathLst>
                <a:path w="12192000" h="6827520">
                  <a:moveTo>
                    <a:pt x="12192000" y="0"/>
                  </a:moveTo>
                  <a:lnTo>
                    <a:pt x="0" y="0"/>
                  </a:lnTo>
                  <a:lnTo>
                    <a:pt x="0" y="6827520"/>
                  </a:lnTo>
                  <a:lnTo>
                    <a:pt x="12192000" y="682752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5282"/>
              <a:ext cx="5647913" cy="62497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4592"/>
              <a:ext cx="5518421" cy="613105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5647944" cy="647242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83411" y="2505836"/>
            <a:ext cx="3277870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20" dirty="0">
                <a:latin typeface="Calibri Light"/>
                <a:cs typeface="Calibri Light"/>
              </a:rPr>
              <a:t>Disadvantage</a:t>
            </a:r>
            <a:r>
              <a:rPr sz="4000" spc="-13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of </a:t>
            </a:r>
            <a:r>
              <a:rPr sz="4000" spc="-20" dirty="0">
                <a:latin typeface="Calibri Light"/>
                <a:cs typeface="Calibri Light"/>
              </a:rPr>
              <a:t>DBMS</a:t>
            </a:r>
            <a:endParaRPr sz="4000">
              <a:latin typeface="Calibri Light"/>
              <a:cs typeface="Calibri Ligh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085078" y="1029969"/>
            <a:ext cx="5127625" cy="1442720"/>
            <a:chOff x="6085078" y="1029969"/>
            <a:chExt cx="5127625" cy="1442720"/>
          </a:xfrm>
        </p:grpSpPr>
        <p:sp>
          <p:nvSpPr>
            <p:cNvPr id="10" name="object 10"/>
            <p:cNvSpPr/>
            <p:nvPr/>
          </p:nvSpPr>
          <p:spPr>
            <a:xfrm>
              <a:off x="6091428" y="1330451"/>
              <a:ext cx="5114925" cy="1135380"/>
            </a:xfrm>
            <a:custGeom>
              <a:avLst/>
              <a:gdLst/>
              <a:ahLst/>
              <a:cxnLst/>
              <a:rect l="l" t="t" r="r" b="b"/>
              <a:pathLst>
                <a:path w="5114925" h="1135380">
                  <a:moveTo>
                    <a:pt x="5114544" y="0"/>
                  </a:moveTo>
                  <a:lnTo>
                    <a:pt x="0" y="0"/>
                  </a:lnTo>
                  <a:lnTo>
                    <a:pt x="0" y="1135380"/>
                  </a:lnTo>
                  <a:lnTo>
                    <a:pt x="5114544" y="1135380"/>
                  </a:lnTo>
                  <a:lnTo>
                    <a:pt x="511454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91428" y="1330451"/>
              <a:ext cx="5114925" cy="1135380"/>
            </a:xfrm>
            <a:custGeom>
              <a:avLst/>
              <a:gdLst/>
              <a:ahLst/>
              <a:cxnLst/>
              <a:rect l="l" t="t" r="r" b="b"/>
              <a:pathLst>
                <a:path w="5114925" h="1135380">
                  <a:moveTo>
                    <a:pt x="0" y="1135380"/>
                  </a:moveTo>
                  <a:lnTo>
                    <a:pt x="5114544" y="1135380"/>
                  </a:lnTo>
                  <a:lnTo>
                    <a:pt x="5114544" y="0"/>
                  </a:lnTo>
                  <a:lnTo>
                    <a:pt x="0" y="0"/>
                  </a:lnTo>
                  <a:lnTo>
                    <a:pt x="0" y="1135380"/>
                  </a:lnTo>
                  <a:close/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47460" y="1036319"/>
              <a:ext cx="3580129" cy="589915"/>
            </a:xfrm>
            <a:custGeom>
              <a:avLst/>
              <a:gdLst/>
              <a:ahLst/>
              <a:cxnLst/>
              <a:rect l="l" t="t" r="r" b="b"/>
              <a:pathLst>
                <a:path w="3580129" h="589914">
                  <a:moveTo>
                    <a:pt x="3481578" y="0"/>
                  </a:moveTo>
                  <a:lnTo>
                    <a:pt x="98298" y="0"/>
                  </a:lnTo>
                  <a:lnTo>
                    <a:pt x="60061" y="7733"/>
                  </a:lnTo>
                  <a:lnTo>
                    <a:pt x="28813" y="28813"/>
                  </a:lnTo>
                  <a:lnTo>
                    <a:pt x="7733" y="60061"/>
                  </a:lnTo>
                  <a:lnTo>
                    <a:pt x="0" y="98297"/>
                  </a:lnTo>
                  <a:lnTo>
                    <a:pt x="0" y="491489"/>
                  </a:lnTo>
                  <a:lnTo>
                    <a:pt x="7733" y="529726"/>
                  </a:lnTo>
                  <a:lnTo>
                    <a:pt x="28813" y="560974"/>
                  </a:lnTo>
                  <a:lnTo>
                    <a:pt x="60061" y="582054"/>
                  </a:lnTo>
                  <a:lnTo>
                    <a:pt x="98298" y="589788"/>
                  </a:lnTo>
                  <a:lnTo>
                    <a:pt x="3481578" y="589788"/>
                  </a:lnTo>
                  <a:lnTo>
                    <a:pt x="3519814" y="582054"/>
                  </a:lnTo>
                  <a:lnTo>
                    <a:pt x="3551062" y="560974"/>
                  </a:lnTo>
                  <a:lnTo>
                    <a:pt x="3572142" y="529726"/>
                  </a:lnTo>
                  <a:lnTo>
                    <a:pt x="3579875" y="491489"/>
                  </a:lnTo>
                  <a:lnTo>
                    <a:pt x="3579875" y="98297"/>
                  </a:lnTo>
                  <a:lnTo>
                    <a:pt x="3572142" y="60061"/>
                  </a:lnTo>
                  <a:lnTo>
                    <a:pt x="3551062" y="28813"/>
                  </a:lnTo>
                  <a:lnTo>
                    <a:pt x="3519814" y="7733"/>
                  </a:lnTo>
                  <a:lnTo>
                    <a:pt x="348157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47460" y="1036319"/>
              <a:ext cx="3580129" cy="589915"/>
            </a:xfrm>
            <a:custGeom>
              <a:avLst/>
              <a:gdLst/>
              <a:ahLst/>
              <a:cxnLst/>
              <a:rect l="l" t="t" r="r" b="b"/>
              <a:pathLst>
                <a:path w="3580129" h="589914">
                  <a:moveTo>
                    <a:pt x="0" y="98297"/>
                  </a:moveTo>
                  <a:lnTo>
                    <a:pt x="7733" y="60061"/>
                  </a:lnTo>
                  <a:lnTo>
                    <a:pt x="28813" y="28813"/>
                  </a:lnTo>
                  <a:lnTo>
                    <a:pt x="60061" y="7733"/>
                  </a:lnTo>
                  <a:lnTo>
                    <a:pt x="98298" y="0"/>
                  </a:lnTo>
                  <a:lnTo>
                    <a:pt x="3481578" y="0"/>
                  </a:lnTo>
                  <a:lnTo>
                    <a:pt x="3519814" y="7733"/>
                  </a:lnTo>
                  <a:lnTo>
                    <a:pt x="3551062" y="28813"/>
                  </a:lnTo>
                  <a:lnTo>
                    <a:pt x="3572142" y="60061"/>
                  </a:lnTo>
                  <a:lnTo>
                    <a:pt x="3579875" y="98297"/>
                  </a:lnTo>
                  <a:lnTo>
                    <a:pt x="3579875" y="491489"/>
                  </a:lnTo>
                  <a:lnTo>
                    <a:pt x="3572142" y="529726"/>
                  </a:lnTo>
                  <a:lnTo>
                    <a:pt x="3551062" y="560974"/>
                  </a:lnTo>
                  <a:lnTo>
                    <a:pt x="3519814" y="582054"/>
                  </a:lnTo>
                  <a:lnTo>
                    <a:pt x="3481578" y="589788"/>
                  </a:lnTo>
                  <a:lnTo>
                    <a:pt x="98298" y="589788"/>
                  </a:lnTo>
                  <a:lnTo>
                    <a:pt x="60061" y="582054"/>
                  </a:lnTo>
                  <a:lnTo>
                    <a:pt x="28813" y="560974"/>
                  </a:lnTo>
                  <a:lnTo>
                    <a:pt x="7733" y="529726"/>
                  </a:lnTo>
                  <a:lnTo>
                    <a:pt x="0" y="491489"/>
                  </a:lnTo>
                  <a:lnTo>
                    <a:pt x="0" y="9829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476491" y="1135126"/>
            <a:ext cx="4051300" cy="1167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Size:</a:t>
            </a:r>
            <a:endParaRPr sz="2000">
              <a:latin typeface="Calibri"/>
              <a:cs typeface="Calibri"/>
            </a:endParaRPr>
          </a:p>
          <a:p>
            <a:pPr marL="240029" marR="5080" indent="-227329">
              <a:lnSpc>
                <a:spcPts val="2210"/>
              </a:lnSpc>
              <a:spcBef>
                <a:spcPts val="2210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occupies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large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disk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space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large 	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run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efficiently.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085078" y="2861817"/>
            <a:ext cx="5127625" cy="1430020"/>
            <a:chOff x="6085078" y="2861817"/>
            <a:chExt cx="5127625" cy="1430020"/>
          </a:xfrm>
        </p:grpSpPr>
        <p:sp>
          <p:nvSpPr>
            <p:cNvPr id="16" name="object 16"/>
            <p:cNvSpPr/>
            <p:nvPr/>
          </p:nvSpPr>
          <p:spPr>
            <a:xfrm>
              <a:off x="6091428" y="2868167"/>
              <a:ext cx="5114925" cy="1417320"/>
            </a:xfrm>
            <a:custGeom>
              <a:avLst/>
              <a:gdLst/>
              <a:ahLst/>
              <a:cxnLst/>
              <a:rect l="l" t="t" r="r" b="b"/>
              <a:pathLst>
                <a:path w="5114925" h="1417320">
                  <a:moveTo>
                    <a:pt x="5114544" y="0"/>
                  </a:moveTo>
                  <a:lnTo>
                    <a:pt x="0" y="0"/>
                  </a:lnTo>
                  <a:lnTo>
                    <a:pt x="0" y="1417319"/>
                  </a:lnTo>
                  <a:lnTo>
                    <a:pt x="5114544" y="1417319"/>
                  </a:lnTo>
                  <a:lnTo>
                    <a:pt x="511454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91428" y="2868167"/>
              <a:ext cx="5114925" cy="1417320"/>
            </a:xfrm>
            <a:custGeom>
              <a:avLst/>
              <a:gdLst/>
              <a:ahLst/>
              <a:cxnLst/>
              <a:rect l="l" t="t" r="r" b="b"/>
              <a:pathLst>
                <a:path w="5114925" h="1417320">
                  <a:moveTo>
                    <a:pt x="0" y="1417319"/>
                  </a:moveTo>
                  <a:lnTo>
                    <a:pt x="5114544" y="1417319"/>
                  </a:lnTo>
                  <a:lnTo>
                    <a:pt x="5114544" y="0"/>
                  </a:lnTo>
                  <a:lnTo>
                    <a:pt x="0" y="0"/>
                  </a:lnTo>
                  <a:lnTo>
                    <a:pt x="0" y="1417319"/>
                  </a:lnTo>
                  <a:close/>
                </a:path>
              </a:pathLst>
            </a:custGeom>
            <a:ln w="12699">
              <a:solidFill>
                <a:srgbClr val="C481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76491" y="3228543"/>
            <a:ext cx="3978910" cy="8909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40029" marR="5080" indent="-227329">
              <a:lnSpc>
                <a:spcPct val="91800"/>
              </a:lnSpc>
              <a:spcBef>
                <a:spcPts val="300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DBMS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requires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high-</a:t>
            </a:r>
            <a:r>
              <a:rPr sz="2000" dirty="0">
                <a:latin typeface="Calibri"/>
                <a:cs typeface="Calibri"/>
              </a:rPr>
              <a:t>speed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 	</a:t>
            </a:r>
            <a:r>
              <a:rPr sz="2000" spc="-10" dirty="0">
                <a:latin typeface="Calibri"/>
                <a:cs typeface="Calibri"/>
              </a:rPr>
              <a:t>processor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larger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run 	</a:t>
            </a:r>
            <a:r>
              <a:rPr sz="2000" dirty="0">
                <a:latin typeface="Calibri"/>
                <a:cs typeface="Calibri"/>
              </a:rPr>
              <a:t>DBMS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software,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costly.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341109" y="2566161"/>
            <a:ext cx="3592829" cy="604520"/>
            <a:chOff x="6341109" y="2566161"/>
            <a:chExt cx="3592829" cy="604520"/>
          </a:xfrm>
        </p:grpSpPr>
        <p:sp>
          <p:nvSpPr>
            <p:cNvPr id="20" name="object 20"/>
            <p:cNvSpPr/>
            <p:nvPr/>
          </p:nvSpPr>
          <p:spPr>
            <a:xfrm>
              <a:off x="6347459" y="2572511"/>
              <a:ext cx="3580129" cy="591820"/>
            </a:xfrm>
            <a:custGeom>
              <a:avLst/>
              <a:gdLst/>
              <a:ahLst/>
              <a:cxnLst/>
              <a:rect l="l" t="t" r="r" b="b"/>
              <a:pathLst>
                <a:path w="3580129" h="591819">
                  <a:moveTo>
                    <a:pt x="3481323" y="0"/>
                  </a:moveTo>
                  <a:lnTo>
                    <a:pt x="98551" y="0"/>
                  </a:lnTo>
                  <a:lnTo>
                    <a:pt x="60168" y="7737"/>
                  </a:lnTo>
                  <a:lnTo>
                    <a:pt x="28844" y="28844"/>
                  </a:lnTo>
                  <a:lnTo>
                    <a:pt x="7737" y="60168"/>
                  </a:lnTo>
                  <a:lnTo>
                    <a:pt x="0" y="98551"/>
                  </a:lnTo>
                  <a:lnTo>
                    <a:pt x="0" y="492760"/>
                  </a:lnTo>
                  <a:lnTo>
                    <a:pt x="7737" y="531143"/>
                  </a:lnTo>
                  <a:lnTo>
                    <a:pt x="28844" y="562467"/>
                  </a:lnTo>
                  <a:lnTo>
                    <a:pt x="60168" y="583574"/>
                  </a:lnTo>
                  <a:lnTo>
                    <a:pt x="98551" y="591312"/>
                  </a:lnTo>
                  <a:lnTo>
                    <a:pt x="3481323" y="591312"/>
                  </a:lnTo>
                  <a:lnTo>
                    <a:pt x="3519707" y="583574"/>
                  </a:lnTo>
                  <a:lnTo>
                    <a:pt x="3551031" y="562467"/>
                  </a:lnTo>
                  <a:lnTo>
                    <a:pt x="3572138" y="531143"/>
                  </a:lnTo>
                  <a:lnTo>
                    <a:pt x="3579875" y="492760"/>
                  </a:lnTo>
                  <a:lnTo>
                    <a:pt x="3579875" y="98551"/>
                  </a:lnTo>
                  <a:lnTo>
                    <a:pt x="3572138" y="60168"/>
                  </a:lnTo>
                  <a:lnTo>
                    <a:pt x="3551031" y="28844"/>
                  </a:lnTo>
                  <a:lnTo>
                    <a:pt x="3519707" y="7737"/>
                  </a:lnTo>
                  <a:lnTo>
                    <a:pt x="3481323" y="0"/>
                  </a:lnTo>
                  <a:close/>
                </a:path>
              </a:pathLst>
            </a:custGeom>
            <a:solidFill>
              <a:srgbClr val="C481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347459" y="2572511"/>
              <a:ext cx="3580129" cy="591820"/>
            </a:xfrm>
            <a:custGeom>
              <a:avLst/>
              <a:gdLst/>
              <a:ahLst/>
              <a:cxnLst/>
              <a:rect l="l" t="t" r="r" b="b"/>
              <a:pathLst>
                <a:path w="3580129" h="591819">
                  <a:moveTo>
                    <a:pt x="0" y="98551"/>
                  </a:moveTo>
                  <a:lnTo>
                    <a:pt x="7737" y="60168"/>
                  </a:lnTo>
                  <a:lnTo>
                    <a:pt x="28844" y="28844"/>
                  </a:lnTo>
                  <a:lnTo>
                    <a:pt x="60168" y="7737"/>
                  </a:lnTo>
                  <a:lnTo>
                    <a:pt x="98551" y="0"/>
                  </a:lnTo>
                  <a:lnTo>
                    <a:pt x="3481323" y="0"/>
                  </a:lnTo>
                  <a:lnTo>
                    <a:pt x="3519707" y="7737"/>
                  </a:lnTo>
                  <a:lnTo>
                    <a:pt x="3551031" y="28844"/>
                  </a:lnTo>
                  <a:lnTo>
                    <a:pt x="3572138" y="60168"/>
                  </a:lnTo>
                  <a:lnTo>
                    <a:pt x="3579875" y="98551"/>
                  </a:lnTo>
                  <a:lnTo>
                    <a:pt x="3579875" y="492760"/>
                  </a:lnTo>
                  <a:lnTo>
                    <a:pt x="3572138" y="531143"/>
                  </a:lnTo>
                  <a:lnTo>
                    <a:pt x="3551031" y="562467"/>
                  </a:lnTo>
                  <a:lnTo>
                    <a:pt x="3519707" y="583574"/>
                  </a:lnTo>
                  <a:lnTo>
                    <a:pt x="3481323" y="591312"/>
                  </a:lnTo>
                  <a:lnTo>
                    <a:pt x="98551" y="591312"/>
                  </a:lnTo>
                  <a:lnTo>
                    <a:pt x="60168" y="583574"/>
                  </a:lnTo>
                  <a:lnTo>
                    <a:pt x="28844" y="562467"/>
                  </a:lnTo>
                  <a:lnTo>
                    <a:pt x="7737" y="531143"/>
                  </a:lnTo>
                  <a:lnTo>
                    <a:pt x="0" y="492760"/>
                  </a:lnTo>
                  <a:lnTo>
                    <a:pt x="0" y="9855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499352" y="2672283"/>
            <a:ext cx="5543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Cost: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085078" y="4387341"/>
            <a:ext cx="5127625" cy="1442720"/>
            <a:chOff x="6085078" y="4387341"/>
            <a:chExt cx="5127625" cy="1442720"/>
          </a:xfrm>
        </p:grpSpPr>
        <p:sp>
          <p:nvSpPr>
            <p:cNvPr id="24" name="object 24"/>
            <p:cNvSpPr/>
            <p:nvPr/>
          </p:nvSpPr>
          <p:spPr>
            <a:xfrm>
              <a:off x="6091428" y="4689347"/>
              <a:ext cx="5114925" cy="1134110"/>
            </a:xfrm>
            <a:custGeom>
              <a:avLst/>
              <a:gdLst/>
              <a:ahLst/>
              <a:cxnLst/>
              <a:rect l="l" t="t" r="r" b="b"/>
              <a:pathLst>
                <a:path w="5114925" h="1134110">
                  <a:moveTo>
                    <a:pt x="5114544" y="0"/>
                  </a:moveTo>
                  <a:lnTo>
                    <a:pt x="0" y="0"/>
                  </a:lnTo>
                  <a:lnTo>
                    <a:pt x="0" y="1133855"/>
                  </a:lnTo>
                  <a:lnTo>
                    <a:pt x="5114544" y="1133855"/>
                  </a:lnTo>
                  <a:lnTo>
                    <a:pt x="511454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091428" y="4689347"/>
              <a:ext cx="5114925" cy="1134110"/>
            </a:xfrm>
            <a:custGeom>
              <a:avLst/>
              <a:gdLst/>
              <a:ahLst/>
              <a:cxnLst/>
              <a:rect l="l" t="t" r="r" b="b"/>
              <a:pathLst>
                <a:path w="5114925" h="1134110">
                  <a:moveTo>
                    <a:pt x="0" y="1133855"/>
                  </a:moveTo>
                  <a:lnTo>
                    <a:pt x="5114544" y="1133855"/>
                  </a:lnTo>
                  <a:lnTo>
                    <a:pt x="5114544" y="0"/>
                  </a:lnTo>
                  <a:lnTo>
                    <a:pt x="0" y="0"/>
                  </a:lnTo>
                  <a:lnTo>
                    <a:pt x="0" y="1133855"/>
                  </a:lnTo>
                  <a:close/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347460" y="4393691"/>
              <a:ext cx="3580129" cy="591820"/>
            </a:xfrm>
            <a:custGeom>
              <a:avLst/>
              <a:gdLst/>
              <a:ahLst/>
              <a:cxnLst/>
              <a:rect l="l" t="t" r="r" b="b"/>
              <a:pathLst>
                <a:path w="3580129" h="591820">
                  <a:moveTo>
                    <a:pt x="3481323" y="0"/>
                  </a:moveTo>
                  <a:lnTo>
                    <a:pt x="98551" y="0"/>
                  </a:lnTo>
                  <a:lnTo>
                    <a:pt x="60168" y="7737"/>
                  </a:lnTo>
                  <a:lnTo>
                    <a:pt x="28844" y="28844"/>
                  </a:lnTo>
                  <a:lnTo>
                    <a:pt x="7737" y="60168"/>
                  </a:lnTo>
                  <a:lnTo>
                    <a:pt x="0" y="98551"/>
                  </a:lnTo>
                  <a:lnTo>
                    <a:pt x="0" y="492759"/>
                  </a:lnTo>
                  <a:lnTo>
                    <a:pt x="7737" y="531143"/>
                  </a:lnTo>
                  <a:lnTo>
                    <a:pt x="28844" y="562467"/>
                  </a:lnTo>
                  <a:lnTo>
                    <a:pt x="60168" y="583574"/>
                  </a:lnTo>
                  <a:lnTo>
                    <a:pt x="98551" y="591311"/>
                  </a:lnTo>
                  <a:lnTo>
                    <a:pt x="3481323" y="591311"/>
                  </a:lnTo>
                  <a:lnTo>
                    <a:pt x="3519707" y="583574"/>
                  </a:lnTo>
                  <a:lnTo>
                    <a:pt x="3551031" y="562467"/>
                  </a:lnTo>
                  <a:lnTo>
                    <a:pt x="3572138" y="531143"/>
                  </a:lnTo>
                  <a:lnTo>
                    <a:pt x="3579875" y="492759"/>
                  </a:lnTo>
                  <a:lnTo>
                    <a:pt x="3579875" y="98551"/>
                  </a:lnTo>
                  <a:lnTo>
                    <a:pt x="3572138" y="60168"/>
                  </a:lnTo>
                  <a:lnTo>
                    <a:pt x="3551031" y="28844"/>
                  </a:lnTo>
                  <a:lnTo>
                    <a:pt x="3519707" y="7737"/>
                  </a:lnTo>
                  <a:lnTo>
                    <a:pt x="3481323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47460" y="4393691"/>
              <a:ext cx="3580129" cy="591820"/>
            </a:xfrm>
            <a:custGeom>
              <a:avLst/>
              <a:gdLst/>
              <a:ahLst/>
              <a:cxnLst/>
              <a:rect l="l" t="t" r="r" b="b"/>
              <a:pathLst>
                <a:path w="3580129" h="591820">
                  <a:moveTo>
                    <a:pt x="0" y="98551"/>
                  </a:moveTo>
                  <a:lnTo>
                    <a:pt x="7737" y="60168"/>
                  </a:lnTo>
                  <a:lnTo>
                    <a:pt x="28844" y="28844"/>
                  </a:lnTo>
                  <a:lnTo>
                    <a:pt x="60168" y="7737"/>
                  </a:lnTo>
                  <a:lnTo>
                    <a:pt x="98551" y="0"/>
                  </a:lnTo>
                  <a:lnTo>
                    <a:pt x="3481323" y="0"/>
                  </a:lnTo>
                  <a:lnTo>
                    <a:pt x="3519707" y="7737"/>
                  </a:lnTo>
                  <a:lnTo>
                    <a:pt x="3551031" y="28844"/>
                  </a:lnTo>
                  <a:lnTo>
                    <a:pt x="3572138" y="60168"/>
                  </a:lnTo>
                  <a:lnTo>
                    <a:pt x="3579875" y="98551"/>
                  </a:lnTo>
                  <a:lnTo>
                    <a:pt x="3579875" y="492759"/>
                  </a:lnTo>
                  <a:lnTo>
                    <a:pt x="3572138" y="531143"/>
                  </a:lnTo>
                  <a:lnTo>
                    <a:pt x="3551031" y="562467"/>
                  </a:lnTo>
                  <a:lnTo>
                    <a:pt x="3519707" y="583574"/>
                  </a:lnTo>
                  <a:lnTo>
                    <a:pt x="3481323" y="591311"/>
                  </a:lnTo>
                  <a:lnTo>
                    <a:pt x="98551" y="591311"/>
                  </a:lnTo>
                  <a:lnTo>
                    <a:pt x="60168" y="583574"/>
                  </a:lnTo>
                  <a:lnTo>
                    <a:pt x="28844" y="562467"/>
                  </a:lnTo>
                  <a:lnTo>
                    <a:pt x="7737" y="531143"/>
                  </a:lnTo>
                  <a:lnTo>
                    <a:pt x="0" y="492759"/>
                  </a:lnTo>
                  <a:lnTo>
                    <a:pt x="0" y="9855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476491" y="4493767"/>
            <a:ext cx="3964940" cy="1167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Complexity: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ts val="2305"/>
              </a:lnSpc>
              <a:spcBef>
                <a:spcPts val="1980"/>
              </a:spcBef>
              <a:buChar char="•"/>
              <a:tabLst>
                <a:tab pos="240029" algn="l"/>
              </a:tabLst>
            </a:pPr>
            <a:r>
              <a:rPr sz="2000" dirty="0">
                <a:latin typeface="Calibri"/>
                <a:cs typeface="Calibri"/>
              </a:rPr>
              <a:t>DBMS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creates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additional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complexity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305"/>
              </a:lnSpc>
            </a:pP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requirements.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839592"/>
            <a:ext cx="2750820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dirty="0">
                <a:latin typeface="Calibri Light"/>
                <a:cs typeface="Calibri Light"/>
              </a:rPr>
              <a:t>The</a:t>
            </a:r>
            <a:r>
              <a:rPr sz="3600" spc="-114" dirty="0">
                <a:latin typeface="Calibri Light"/>
                <a:cs typeface="Calibri Light"/>
              </a:rPr>
              <a:t> </a:t>
            </a:r>
            <a:r>
              <a:rPr sz="3600" spc="-10" dirty="0">
                <a:latin typeface="Calibri Light"/>
                <a:cs typeface="Calibri Light"/>
              </a:rPr>
              <a:t>Evolution</a:t>
            </a:r>
            <a:r>
              <a:rPr sz="3600" spc="-90" dirty="0">
                <a:latin typeface="Calibri Light"/>
                <a:cs typeface="Calibri Light"/>
              </a:rPr>
              <a:t> </a:t>
            </a:r>
            <a:r>
              <a:rPr sz="3600" spc="-50" dirty="0">
                <a:latin typeface="Calibri Light"/>
                <a:cs typeface="Calibri Light"/>
              </a:rPr>
              <a:t>: </a:t>
            </a:r>
            <a:r>
              <a:rPr sz="3600" spc="-10" dirty="0">
                <a:latin typeface="Calibri Light"/>
                <a:cs typeface="Calibri Light"/>
              </a:rPr>
              <a:t>RDBMS</a:t>
            </a:r>
            <a:endParaRPr sz="36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716" y="0"/>
            <a:ext cx="4325620" cy="2641600"/>
            <a:chOff x="13716" y="0"/>
            <a:chExt cx="4325620" cy="2641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" y="0"/>
              <a:ext cx="4325112" cy="26410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6" y="0"/>
              <a:ext cx="4285488" cy="242163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337175" y="1766442"/>
            <a:ext cx="5962650" cy="112585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1300" marR="5080" indent="-228600">
              <a:lnSpc>
                <a:spcPts val="1620"/>
              </a:lnSpc>
              <a:spcBef>
                <a:spcPts val="305"/>
              </a:spcBef>
              <a:buFont typeface="Arial MT"/>
              <a:buChar char="•"/>
              <a:tabLst>
                <a:tab pos="241300" algn="l"/>
              </a:tabLst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word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RDBMS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termed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'Relational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Database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Management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System.' </a:t>
            </a:r>
            <a:r>
              <a:rPr sz="1500" dirty="0">
                <a:latin typeface="Calibri"/>
                <a:cs typeface="Calibri"/>
              </a:rPr>
              <a:t>It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represented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table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contains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rows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column.</a:t>
            </a:r>
            <a:endParaRPr sz="15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dirty="0">
                <a:latin typeface="Calibri"/>
                <a:cs typeface="Calibri"/>
              </a:rPr>
              <a:t>RDBMS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based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on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Relational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model;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was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introduced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by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E.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80" dirty="0">
                <a:latin typeface="Calibri"/>
                <a:cs typeface="Calibri"/>
              </a:rPr>
              <a:t>F.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Codd.</a:t>
            </a:r>
            <a:endParaRPr sz="15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dirty="0">
                <a:latin typeface="Calibri"/>
                <a:cs typeface="Calibri"/>
              </a:rPr>
              <a:t>A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relational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database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contains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following components: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94375" y="2865501"/>
            <a:ext cx="2586990" cy="164274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spc="-10" dirty="0">
                <a:latin typeface="Calibri"/>
                <a:cs typeface="Calibri"/>
              </a:rPr>
              <a:t>Table</a:t>
            </a:r>
            <a:endParaRPr sz="15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spc="-10" dirty="0">
                <a:latin typeface="Calibri"/>
                <a:cs typeface="Calibri"/>
              </a:rPr>
              <a:t>Record/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Tuple</a:t>
            </a:r>
            <a:endParaRPr sz="15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dirty="0">
                <a:latin typeface="Calibri"/>
                <a:cs typeface="Calibri"/>
              </a:rPr>
              <a:t>Field/Column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name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/Attribute</a:t>
            </a:r>
            <a:endParaRPr sz="15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spc="-10" dirty="0">
                <a:latin typeface="Calibri"/>
                <a:cs typeface="Calibri"/>
              </a:rPr>
              <a:t>Instance</a:t>
            </a:r>
            <a:endParaRPr sz="15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spc="-10" dirty="0">
                <a:latin typeface="Calibri"/>
                <a:cs typeface="Calibri"/>
              </a:rPr>
              <a:t>Schema</a:t>
            </a:r>
            <a:endParaRPr sz="15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30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spc="-20" dirty="0">
                <a:latin typeface="Calibri"/>
                <a:cs typeface="Calibri"/>
              </a:rPr>
              <a:t>Keys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37175" y="4586478"/>
            <a:ext cx="5359400" cy="4597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41300" marR="5080" indent="-228600">
              <a:lnSpc>
                <a:spcPts val="1620"/>
              </a:lnSpc>
              <a:spcBef>
                <a:spcPts val="300"/>
              </a:spcBef>
              <a:buFont typeface="Arial MT"/>
              <a:buChar char="•"/>
              <a:tabLst>
                <a:tab pos="241300" algn="l"/>
              </a:tabLst>
            </a:pPr>
            <a:r>
              <a:rPr sz="1500" dirty="0">
                <a:latin typeface="Calibri"/>
                <a:cs typeface="Calibri"/>
              </a:rPr>
              <a:t>An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RDBMS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tabular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DBMS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maintains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0" dirty="0">
                <a:latin typeface="Calibri"/>
                <a:cs typeface="Calibri"/>
              </a:rPr>
              <a:t> security,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integrity, </a:t>
            </a:r>
            <a:r>
              <a:rPr sz="1500" spc="-20" dirty="0">
                <a:latin typeface="Calibri"/>
                <a:cs typeface="Calibri"/>
              </a:rPr>
              <a:t>accuracy,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consistency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data.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35923" y="4114812"/>
            <a:ext cx="3656076" cy="27431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1551</Words>
  <Application>Microsoft Office PowerPoint</Application>
  <PresentationFormat>Widescreen</PresentationFormat>
  <Paragraphs>172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 MT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Evolution : Hierarchical Data Model (1968-1980)</vt:lpstr>
      <vt:lpstr>PowerPoint Presentation</vt:lpstr>
      <vt:lpstr>PowerPoint Presentation</vt:lpstr>
      <vt:lpstr>The Evolution : Cloud database</vt:lpstr>
      <vt:lpstr>The Evolution : Cloud database (Advantages)</vt:lpstr>
      <vt:lpstr>PowerPoint Presentation</vt:lpstr>
      <vt:lpstr>High Scalability:</vt:lpstr>
      <vt:lpstr>PowerPoint Presentation</vt:lpstr>
      <vt:lpstr>PowerPoint Presentation</vt:lpstr>
      <vt:lpstr>The Evolution : The Object-Oriented Databases (Properties)</vt:lpstr>
      <vt:lpstr>The Evolution : Graph Databases</vt:lpstr>
      <vt:lpstr>The Evolution : DBMS</vt:lpstr>
      <vt:lpstr>Controls redundancy: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Hammad Waseem</dc:creator>
  <cp:lastModifiedBy>Windows User</cp:lastModifiedBy>
  <cp:revision>1</cp:revision>
  <dcterms:created xsi:type="dcterms:W3CDTF">2025-06-30T07:15:24Z</dcterms:created>
  <dcterms:modified xsi:type="dcterms:W3CDTF">2025-06-30T07:26:00Z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2023-11-22T00:00:00Z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2025-06-30T00:00:00Z</vt:filetime>
  </property>
  <property fmtid="{D5CDD505-2E9C-101B-9397-08002B2CF9AE}" pid="5" name="Producer">
    <vt:lpwstr>Microsoft® PowerPoint® for Microsoft 365</vt:lpwstr>
  </property>
</Properties>
</file>