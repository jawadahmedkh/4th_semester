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8872"/>
            <a:ext cx="5527421" cy="6248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84911"/>
            <a:ext cx="5638829" cy="6121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84911"/>
            <a:ext cx="5509278" cy="61214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095"/>
            <a:ext cx="5638800" cy="647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6586" y="692022"/>
            <a:ext cx="5375275" cy="69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916679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Convert</a:t>
            </a:r>
            <a:r>
              <a:rPr sz="3400" i="1" spc="-11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ER</a:t>
            </a:r>
            <a:r>
              <a:rPr sz="3400" i="1" spc="-13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into</a:t>
            </a:r>
            <a:r>
              <a:rPr sz="3400" i="1" spc="-130" dirty="0">
                <a:latin typeface="Calibri Light"/>
                <a:cs typeface="Calibri Light"/>
              </a:rPr>
              <a:t> </a:t>
            </a:r>
            <a:r>
              <a:rPr sz="3400" i="1" spc="-30" dirty="0">
                <a:latin typeface="Calibri Light"/>
                <a:cs typeface="Calibri Light"/>
              </a:rPr>
              <a:t>Table</a:t>
            </a:r>
            <a:r>
              <a:rPr sz="3400" spc="-3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779852"/>
            <a:ext cx="261810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Reduction</a:t>
            </a:r>
            <a:r>
              <a:rPr sz="4000" spc="-14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dirty="0">
                <a:latin typeface="Calibri Light"/>
                <a:cs typeface="Calibri Light"/>
              </a:rPr>
              <a:t>ERD</a:t>
            </a:r>
            <a:r>
              <a:rPr sz="4000" spc="-4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to</a:t>
            </a:r>
            <a:r>
              <a:rPr sz="4000" spc="-3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Table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2121484"/>
            <a:ext cx="5092065" cy="2166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 algn="just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represented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using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notations,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notations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0029" marR="13144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entity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</a:t>
            </a:r>
            <a:r>
              <a:rPr sz="2400" b="1" dirty="0">
                <a:latin typeface="Calibri"/>
                <a:cs typeface="Calibri"/>
              </a:rPr>
              <a:t>relationship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b="1" dirty="0">
                <a:latin typeface="Calibri"/>
                <a:cs typeface="Calibri"/>
              </a:rPr>
              <a:t>tabular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form.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85216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Calibri Light"/>
                <a:cs typeface="Calibri Light"/>
              </a:rPr>
              <a:t>ERD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7052" y="551687"/>
            <a:ext cx="7507224" cy="53202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318516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Points</a:t>
            </a:r>
            <a:r>
              <a:rPr sz="4000" spc="-19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to </a:t>
            </a:r>
            <a:r>
              <a:rPr sz="4000" dirty="0">
                <a:latin typeface="Calibri Light"/>
                <a:cs typeface="Calibri Light"/>
              </a:rPr>
              <a:t>Remember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for </a:t>
            </a:r>
            <a:r>
              <a:rPr sz="4000" spc="-10" dirty="0">
                <a:latin typeface="Calibri Light"/>
                <a:cs typeface="Calibri Light"/>
              </a:rPr>
              <a:t>Converting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ERD </a:t>
            </a:r>
            <a:r>
              <a:rPr sz="4000" dirty="0">
                <a:latin typeface="Calibri Light"/>
                <a:cs typeface="Calibri Light"/>
              </a:rPr>
              <a:t>to</a:t>
            </a:r>
            <a:r>
              <a:rPr sz="4000" spc="-7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Table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70575" y="1128253"/>
            <a:ext cx="5672455" cy="454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LECTURE,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595"/>
              </a:lnSpc>
            </a:pPr>
            <a:r>
              <a:rPr sz="2400" spc="-35" dirty="0">
                <a:latin typeface="Calibri"/>
                <a:cs typeface="Calibri"/>
              </a:rPr>
              <a:t>STUDENT,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forms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0029" marR="9334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single-</a:t>
            </a:r>
            <a:r>
              <a:rPr sz="2800" dirty="0">
                <a:latin typeface="Calibri"/>
                <a:cs typeface="Calibri"/>
              </a:rPr>
              <a:t>valued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column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entity,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STUDENT_NAME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STUDENT_ID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697230" marR="10160" lvl="1" indent="-227329">
              <a:lnSpc>
                <a:spcPts val="2590"/>
              </a:lnSpc>
              <a:spcBef>
                <a:spcPts val="5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Similarly,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COURSE_NAME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COURSE_ID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COURSE 	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318516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Points</a:t>
            </a:r>
            <a:r>
              <a:rPr sz="4000" spc="-19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to </a:t>
            </a:r>
            <a:r>
              <a:rPr sz="4000" dirty="0">
                <a:latin typeface="Calibri Light"/>
                <a:cs typeface="Calibri Light"/>
              </a:rPr>
              <a:t>Remember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for </a:t>
            </a:r>
            <a:r>
              <a:rPr sz="4000" spc="-10" dirty="0">
                <a:latin typeface="Calibri Light"/>
                <a:cs typeface="Calibri Light"/>
              </a:rPr>
              <a:t>Converting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ERD </a:t>
            </a:r>
            <a:r>
              <a:rPr sz="4000" dirty="0">
                <a:latin typeface="Calibri Light"/>
                <a:cs typeface="Calibri Light"/>
              </a:rPr>
              <a:t>to</a:t>
            </a:r>
            <a:r>
              <a:rPr sz="4000" spc="-7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Table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9046" y="470154"/>
            <a:ext cx="5777230" cy="58775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823594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type 	</a:t>
            </a:r>
            <a:r>
              <a:rPr sz="2800" spc="-10" dirty="0">
                <a:latin typeface="Calibri"/>
                <a:cs typeface="Calibri"/>
              </a:rPr>
              <a:t>represented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key.</a:t>
            </a:r>
            <a:endParaRPr sz="2800">
              <a:latin typeface="Calibri"/>
              <a:cs typeface="Calibri"/>
            </a:endParaRPr>
          </a:p>
          <a:p>
            <a:pPr marL="697230" marR="527050" lvl="1" indent="-227329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COURSE_ID, 	</a:t>
            </a:r>
            <a:r>
              <a:rPr sz="2400" spc="-20" dirty="0">
                <a:latin typeface="Calibri"/>
                <a:cs typeface="Calibri"/>
              </a:rPr>
              <a:t>STUDENT_ID,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SUBJECT_ID,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698500" marR="159385">
              <a:lnSpc>
                <a:spcPts val="259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LECTURE_ID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  <a:p>
            <a:pPr marL="240029" marR="866775" indent="-227329">
              <a:lnSpc>
                <a:spcPts val="302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multivalued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spc="-10" dirty="0">
                <a:latin typeface="Calibri"/>
                <a:cs typeface="Calibri"/>
              </a:rPr>
              <a:t>represented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hobby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a 	</a:t>
            </a:r>
            <a:r>
              <a:rPr sz="2400" dirty="0">
                <a:latin typeface="Calibri"/>
                <a:cs typeface="Calibri"/>
              </a:rPr>
              <a:t>multivalued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	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table.</a:t>
            </a:r>
            <a:endParaRPr sz="2400">
              <a:latin typeface="Calibri"/>
              <a:cs typeface="Calibri"/>
            </a:endParaRPr>
          </a:p>
          <a:p>
            <a:pPr marL="697230" marR="344170" lvl="1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STUD_HOBBY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STUDENT_ID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55" dirty="0">
                <a:latin typeface="Calibri"/>
                <a:cs typeface="Calibri"/>
              </a:rPr>
              <a:t>HOBBY.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composite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2231517"/>
            <a:ext cx="3185160" cy="2280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dirty="0">
                <a:latin typeface="Calibri Light"/>
                <a:cs typeface="Calibri Light"/>
              </a:rPr>
              <a:t>Points</a:t>
            </a:r>
            <a:r>
              <a:rPr sz="4000" spc="-19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to </a:t>
            </a:r>
            <a:r>
              <a:rPr sz="4000" dirty="0">
                <a:latin typeface="Calibri Light"/>
                <a:cs typeface="Calibri Light"/>
              </a:rPr>
              <a:t>Remember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for </a:t>
            </a:r>
            <a:r>
              <a:rPr sz="4000" spc="-10" dirty="0">
                <a:latin typeface="Calibri Light"/>
                <a:cs typeface="Calibri Light"/>
              </a:rPr>
              <a:t>Converting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ERD </a:t>
            </a:r>
            <a:r>
              <a:rPr sz="4000" dirty="0">
                <a:latin typeface="Calibri Light"/>
                <a:cs typeface="Calibri Light"/>
              </a:rPr>
              <a:t>to</a:t>
            </a:r>
            <a:r>
              <a:rPr sz="4000" spc="-75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Table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29046" y="631901"/>
            <a:ext cx="5716905" cy="54851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0607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Composite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	</a:t>
            </a:r>
            <a:r>
              <a:rPr sz="2800" spc="-10" dirty="0">
                <a:latin typeface="Calibri"/>
                <a:cs typeface="Calibri"/>
              </a:rPr>
              <a:t>components.</a:t>
            </a:r>
            <a:endParaRPr sz="2800">
              <a:latin typeface="Calibri"/>
              <a:cs typeface="Calibri"/>
            </a:endParaRPr>
          </a:p>
          <a:p>
            <a:pPr marL="697230" marR="154940" lvl="1" indent="-227329">
              <a:lnSpc>
                <a:spcPct val="9000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 	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composite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CITY, </a:t>
            </a:r>
            <a:r>
              <a:rPr sz="2400" dirty="0">
                <a:latin typeface="Calibri"/>
                <a:cs typeface="Calibri"/>
              </a:rPr>
              <a:t>PIN,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DOOR#,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STREET,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70" dirty="0">
                <a:latin typeface="Calibri"/>
                <a:cs typeface="Calibri"/>
              </a:rPr>
              <a:t>STATE.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these 	attributes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individual 	column.</a:t>
            </a:r>
            <a:endParaRPr sz="2400">
              <a:latin typeface="Calibri"/>
              <a:cs typeface="Calibri"/>
            </a:endParaRPr>
          </a:p>
          <a:p>
            <a:pPr marL="240029" marR="68580" indent="-227329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considered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table.</a:t>
            </a:r>
            <a:endParaRPr sz="2800">
              <a:latin typeface="Calibri"/>
              <a:cs typeface="Calibri"/>
            </a:endParaRPr>
          </a:p>
          <a:p>
            <a:pPr marL="697230" marR="5080" lvl="1" indent="-227329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derived 	</a:t>
            </a:r>
            <a:r>
              <a:rPr sz="2400" dirty="0">
                <a:latin typeface="Calibri"/>
                <a:cs typeface="Calibri"/>
              </a:rPr>
              <a:t>attribute.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any 	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20" dirty="0">
                <a:latin typeface="Calibri"/>
                <a:cs typeface="Calibri"/>
              </a:rPr>
              <a:t>difference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Birth.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411" y="3054172"/>
            <a:ext cx="2580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ERD</a:t>
            </a:r>
            <a:r>
              <a:rPr sz="4000" spc="-4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to</a:t>
            </a:r>
            <a:r>
              <a:rPr sz="4000" spc="-40" dirty="0">
                <a:latin typeface="Calibri Light"/>
                <a:cs typeface="Calibri Light"/>
              </a:rPr>
              <a:t> </a:t>
            </a:r>
            <a:r>
              <a:rPr sz="4000" spc="-50" dirty="0">
                <a:latin typeface="Calibri Light"/>
                <a:cs typeface="Calibri Light"/>
              </a:rPr>
              <a:t>Table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204" y="2121484"/>
            <a:ext cx="4963160" cy="21666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tables.</a:t>
            </a:r>
            <a:endParaRPr sz="2400">
              <a:latin typeface="Calibri"/>
              <a:cs typeface="Calibri"/>
            </a:endParaRPr>
          </a:p>
          <a:p>
            <a:pPr marL="240029" marR="84518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Calibri"/>
                <a:cs typeface="Calibri"/>
              </a:rPr>
              <a:t>Table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ER 	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below: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3411" y="3054172"/>
            <a:ext cx="3113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5" dirty="0">
                <a:solidFill>
                  <a:srgbClr val="000000"/>
                </a:solidFill>
                <a:latin typeface="Calibri Light"/>
                <a:cs typeface="Calibri Light"/>
              </a:rPr>
              <a:t>Table</a:t>
            </a:r>
            <a:r>
              <a:rPr sz="4000" spc="-1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000000"/>
                </a:solidFill>
                <a:latin typeface="Calibri Light"/>
                <a:cs typeface="Calibri Light"/>
              </a:rPr>
              <a:t>Structure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9259" y="1182624"/>
            <a:ext cx="6609715" cy="4493260"/>
            <a:chOff x="5509259" y="1182624"/>
            <a:chExt cx="6609715" cy="449326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9259" y="1182624"/>
              <a:ext cx="6609588" cy="4492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35217" y="1869186"/>
              <a:ext cx="6006465" cy="3336290"/>
            </a:xfrm>
            <a:custGeom>
              <a:avLst/>
              <a:gdLst/>
              <a:ahLst/>
              <a:cxnLst/>
              <a:rect l="l" t="t" r="r" b="b"/>
              <a:pathLst>
                <a:path w="6006465" h="3336290">
                  <a:moveTo>
                    <a:pt x="0" y="0"/>
                  </a:moveTo>
                  <a:lnTo>
                    <a:pt x="1097280" y="0"/>
                  </a:lnTo>
                </a:path>
                <a:path w="6006465" h="3336290">
                  <a:moveTo>
                    <a:pt x="2720340" y="57912"/>
                  </a:moveTo>
                  <a:lnTo>
                    <a:pt x="3817620" y="57912"/>
                  </a:lnTo>
                </a:path>
                <a:path w="6006465" h="3336290">
                  <a:moveTo>
                    <a:pt x="4908804" y="77724"/>
                  </a:moveTo>
                  <a:lnTo>
                    <a:pt x="6006084" y="77724"/>
                  </a:lnTo>
                </a:path>
                <a:path w="6006465" h="3336290">
                  <a:moveTo>
                    <a:pt x="2720340" y="1798320"/>
                  </a:moveTo>
                  <a:lnTo>
                    <a:pt x="3817620" y="1798320"/>
                  </a:lnTo>
                </a:path>
                <a:path w="6006465" h="3336290">
                  <a:moveTo>
                    <a:pt x="1623060" y="3336036"/>
                  </a:moveTo>
                  <a:lnTo>
                    <a:pt x="2720340" y="333603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14542" y="5755335"/>
            <a:ext cx="53562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COURSE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COURSE_ID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COURSE_NAME)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SUBJECT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SUBJECT_ID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SUBJECT_NAME,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LECTURER_ID)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LECTURER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LECTURER_ID</a:t>
            </a:r>
            <a:r>
              <a:rPr sz="1800" spc="-10" dirty="0">
                <a:latin typeface="Calibri"/>
                <a:cs typeface="Calibri"/>
              </a:rPr>
              <a:t>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LECTURER_NAME,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COURSE_ID)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118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Structure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2</cp:revision>
  <dcterms:created xsi:type="dcterms:W3CDTF">2025-06-30T07:22:09Z</dcterms:created>
  <dcterms:modified xsi:type="dcterms:W3CDTF">2025-07-03T05:14:01Z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