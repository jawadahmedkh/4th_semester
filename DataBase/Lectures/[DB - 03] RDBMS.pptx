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42" d="100"/>
          <a:sy n="42" d="100"/>
        </p:scale>
        <p:origin x="918" y="5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0" i="0">
                <a:solidFill>
                  <a:schemeClr val="tx1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6/30/2025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512552"/>
            <a:ext cx="5164827" cy="6235700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566925"/>
            <a:ext cx="5196765" cy="6109571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chemeClr val="tx1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6/30/2025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512552"/>
            <a:ext cx="5164827" cy="6235700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566925"/>
            <a:ext cx="5196765" cy="6109571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chemeClr val="tx1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59195" y="2142870"/>
            <a:ext cx="5031105" cy="376427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600" b="1" i="1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6/30/2025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chemeClr val="tx1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6/30/2025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6/30/2025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118872"/>
            <a:ext cx="5638829" cy="6248400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0" y="184911"/>
            <a:ext cx="5509278" cy="6121400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0" y="6095"/>
            <a:ext cx="5638800" cy="647700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18819" y="2839592"/>
            <a:ext cx="3496310" cy="10680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0" i="0">
                <a:solidFill>
                  <a:schemeClr val="tx1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044565" y="1858772"/>
            <a:ext cx="5237480" cy="34791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6/30/2025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0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670293" y="3391151"/>
            <a:ext cx="3307715" cy="1456809"/>
          </a:xfrm>
          <a:prstGeom prst="rect">
            <a:avLst/>
          </a:prstGeom>
        </p:spPr>
        <p:txBody>
          <a:bodyPr vert="horz" wrap="square" lIns="0" tIns="1092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60"/>
              </a:spcBef>
            </a:pPr>
            <a:endParaRPr sz="2000" dirty="0">
              <a:latin typeface="Calibri"/>
              <a:cs typeface="Calibri"/>
            </a:endParaRPr>
          </a:p>
          <a:p>
            <a:pPr marL="12700" marR="134620">
              <a:lnSpc>
                <a:spcPts val="3670"/>
              </a:lnSpc>
              <a:spcBef>
                <a:spcPts val="685"/>
              </a:spcBef>
            </a:pPr>
            <a:r>
              <a:rPr sz="3400" spc="-10" dirty="0">
                <a:latin typeface="Calibri Light"/>
                <a:cs typeface="Calibri Light"/>
              </a:rPr>
              <a:t>Database</a:t>
            </a:r>
            <a:r>
              <a:rPr sz="3400" spc="-130" dirty="0">
                <a:latin typeface="Calibri Light"/>
                <a:cs typeface="Calibri Light"/>
              </a:rPr>
              <a:t> </a:t>
            </a:r>
            <a:r>
              <a:rPr sz="3400" spc="-10" dirty="0">
                <a:latin typeface="Calibri Light"/>
                <a:cs typeface="Calibri Light"/>
              </a:rPr>
              <a:t>Systems </a:t>
            </a:r>
            <a:r>
              <a:rPr sz="3400" dirty="0">
                <a:latin typeface="Calibri Light"/>
                <a:cs typeface="Calibri Light"/>
              </a:rPr>
              <a:t>[</a:t>
            </a:r>
            <a:r>
              <a:rPr sz="3400" i="1" dirty="0">
                <a:latin typeface="Calibri Light"/>
                <a:cs typeface="Calibri Light"/>
              </a:rPr>
              <a:t>What</a:t>
            </a:r>
            <a:r>
              <a:rPr sz="3400" i="1" spc="-30" dirty="0">
                <a:latin typeface="Calibri Light"/>
                <a:cs typeface="Calibri Light"/>
              </a:rPr>
              <a:t> </a:t>
            </a:r>
            <a:r>
              <a:rPr sz="3400" i="1" dirty="0">
                <a:latin typeface="Calibri Light"/>
                <a:cs typeface="Calibri Light"/>
              </a:rPr>
              <a:t>is</a:t>
            </a:r>
            <a:r>
              <a:rPr sz="3400" i="1" spc="-45" dirty="0">
                <a:latin typeface="Calibri Light"/>
                <a:cs typeface="Calibri Light"/>
              </a:rPr>
              <a:t> </a:t>
            </a:r>
            <a:r>
              <a:rPr sz="3400" i="1" spc="-10" dirty="0">
                <a:latin typeface="Calibri Light"/>
                <a:cs typeface="Calibri Light"/>
              </a:rPr>
              <a:t>RDBMS?</a:t>
            </a:r>
            <a:r>
              <a:rPr sz="3400" spc="-10" dirty="0">
                <a:latin typeface="Calibri Light"/>
                <a:cs typeface="Calibri Light"/>
              </a:rPr>
              <a:t>]</a:t>
            </a:r>
            <a:endParaRPr sz="3400" dirty="0">
              <a:latin typeface="Calibri Light"/>
              <a:cs typeface="Calibri Light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0" y="0"/>
            <a:ext cx="6235065" cy="6858000"/>
            <a:chOff x="0" y="0"/>
            <a:chExt cx="6235065" cy="685800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98520" y="2247017"/>
              <a:ext cx="2439079" cy="3291216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0"/>
              <a:ext cx="6234684" cy="685800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83411" y="3054172"/>
            <a:ext cx="341947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dirty="0">
                <a:latin typeface="Calibri Light"/>
                <a:cs typeface="Calibri Light"/>
              </a:rPr>
              <a:t>What</a:t>
            </a:r>
            <a:r>
              <a:rPr sz="4000" spc="-70" dirty="0">
                <a:latin typeface="Calibri Light"/>
                <a:cs typeface="Calibri Light"/>
              </a:rPr>
              <a:t> </a:t>
            </a:r>
            <a:r>
              <a:rPr sz="4000" dirty="0">
                <a:latin typeface="Calibri Light"/>
                <a:cs typeface="Calibri Light"/>
              </a:rPr>
              <a:t>is</a:t>
            </a:r>
            <a:r>
              <a:rPr sz="4000" spc="-70" dirty="0">
                <a:latin typeface="Calibri Light"/>
                <a:cs typeface="Calibri Light"/>
              </a:rPr>
              <a:t> </a:t>
            </a:r>
            <a:r>
              <a:rPr sz="4000" spc="-10" dirty="0">
                <a:latin typeface="Calibri Light"/>
                <a:cs typeface="Calibri Light"/>
              </a:rPr>
              <a:t>RDBMS?</a:t>
            </a:r>
            <a:endParaRPr sz="4000">
              <a:latin typeface="Calibri Light"/>
              <a:cs typeface="Calibri Ligh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170167" y="1575561"/>
            <a:ext cx="5116830" cy="3609340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240029" marR="26034" indent="-227329">
              <a:lnSpc>
                <a:spcPts val="2590"/>
              </a:lnSpc>
              <a:spcBef>
                <a:spcPts val="425"/>
              </a:spcBef>
              <a:buFont typeface="Arial MT"/>
              <a:buChar char="•"/>
              <a:tabLst>
                <a:tab pos="241300" algn="l"/>
              </a:tabLst>
            </a:pPr>
            <a:r>
              <a:rPr sz="2400" dirty="0">
                <a:latin typeface="Calibri"/>
                <a:cs typeface="Calibri"/>
              </a:rPr>
              <a:t>RDBMS</a:t>
            </a:r>
            <a:r>
              <a:rPr sz="2400" spc="-9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stands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for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Relational</a:t>
            </a:r>
            <a:r>
              <a:rPr sz="2400" b="1" i="1" spc="-75" dirty="0">
                <a:latin typeface="Calibri"/>
                <a:cs typeface="Calibri"/>
              </a:rPr>
              <a:t> </a:t>
            </a:r>
            <a:r>
              <a:rPr sz="2400" b="1" i="1" spc="-10" dirty="0">
                <a:latin typeface="Calibri"/>
                <a:cs typeface="Calibri"/>
              </a:rPr>
              <a:t>Database 	</a:t>
            </a:r>
            <a:r>
              <a:rPr sz="2400" b="1" i="1" dirty="0">
                <a:latin typeface="Calibri"/>
                <a:cs typeface="Calibri"/>
              </a:rPr>
              <a:t>Management</a:t>
            </a:r>
            <a:r>
              <a:rPr sz="2400" b="1" i="1" spc="-120" dirty="0">
                <a:latin typeface="Calibri"/>
                <a:cs typeface="Calibri"/>
              </a:rPr>
              <a:t> </a:t>
            </a:r>
            <a:r>
              <a:rPr sz="2400" b="1" i="1" spc="-10" dirty="0">
                <a:latin typeface="Calibri"/>
                <a:cs typeface="Calibri"/>
              </a:rPr>
              <a:t>System</a:t>
            </a:r>
            <a:r>
              <a:rPr sz="2400" spc="-10" dirty="0">
                <a:latin typeface="Calibri"/>
                <a:cs typeface="Calibri"/>
              </a:rPr>
              <a:t>.</a:t>
            </a:r>
            <a:endParaRPr sz="2400">
              <a:latin typeface="Calibri"/>
              <a:cs typeface="Calibri"/>
            </a:endParaRPr>
          </a:p>
          <a:p>
            <a:pPr marL="240029" marR="247015" indent="-227329">
              <a:lnSpc>
                <a:spcPct val="90000"/>
              </a:lnSpc>
              <a:spcBef>
                <a:spcPts val="975"/>
              </a:spcBef>
              <a:buFont typeface="Arial MT"/>
              <a:buChar char="•"/>
              <a:tabLst>
                <a:tab pos="241300" algn="l"/>
              </a:tabLst>
            </a:pPr>
            <a:r>
              <a:rPr sz="2400" dirty="0">
                <a:latin typeface="Calibri"/>
                <a:cs typeface="Calibri"/>
              </a:rPr>
              <a:t>All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modern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database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management 	systems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like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SQL,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MS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SQL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30" dirty="0">
                <a:latin typeface="Calibri"/>
                <a:cs typeface="Calibri"/>
              </a:rPr>
              <a:t>Server,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IBM 	</a:t>
            </a:r>
            <a:r>
              <a:rPr sz="2400" dirty="0">
                <a:latin typeface="Calibri"/>
                <a:cs typeface="Calibri"/>
              </a:rPr>
              <a:t>DB2,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ORACLE,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My-</a:t>
            </a:r>
            <a:r>
              <a:rPr sz="2400" dirty="0">
                <a:latin typeface="Calibri"/>
                <a:cs typeface="Calibri"/>
              </a:rPr>
              <a:t>SQL,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10" dirty="0">
                <a:latin typeface="Calibri"/>
                <a:cs typeface="Calibri"/>
              </a:rPr>
              <a:t> Microsoft 	</a:t>
            </a:r>
            <a:r>
              <a:rPr sz="2400" dirty="0">
                <a:latin typeface="Calibri"/>
                <a:cs typeface="Calibri"/>
              </a:rPr>
              <a:t>Access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are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based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on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RDBMS.</a:t>
            </a:r>
            <a:endParaRPr sz="2400">
              <a:latin typeface="Calibri"/>
              <a:cs typeface="Calibri"/>
            </a:endParaRPr>
          </a:p>
          <a:p>
            <a:pPr marL="240029" marR="5080" indent="-227329">
              <a:lnSpc>
                <a:spcPct val="90000"/>
              </a:lnSpc>
              <a:spcBef>
                <a:spcPts val="1000"/>
              </a:spcBef>
              <a:buFont typeface="Arial MT"/>
              <a:buChar char="•"/>
              <a:tabLst>
                <a:tab pos="241300" algn="l"/>
              </a:tabLst>
            </a:pPr>
            <a:r>
              <a:rPr sz="2400" dirty="0">
                <a:latin typeface="Calibri"/>
                <a:cs typeface="Calibri"/>
              </a:rPr>
              <a:t>It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called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Relational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Database 	</a:t>
            </a:r>
            <a:r>
              <a:rPr sz="2400" dirty="0">
                <a:latin typeface="Calibri"/>
                <a:cs typeface="Calibri"/>
              </a:rPr>
              <a:t>Management</a:t>
            </a:r>
            <a:r>
              <a:rPr sz="2400" spc="-8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System</a:t>
            </a:r>
            <a:r>
              <a:rPr sz="2400" spc="-9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(RDBMS)</a:t>
            </a:r>
            <a:r>
              <a:rPr sz="2400" spc="-10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because 	</a:t>
            </a:r>
            <a:r>
              <a:rPr sz="2400" dirty="0">
                <a:latin typeface="Calibri"/>
                <a:cs typeface="Calibri"/>
              </a:rPr>
              <a:t>it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based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on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relational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model 	introduced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by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45" dirty="0">
                <a:latin typeface="Calibri"/>
                <a:cs typeface="Calibri"/>
              </a:rPr>
              <a:t>E.F.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Codd.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83411" y="3054172"/>
            <a:ext cx="267398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dirty="0">
                <a:latin typeface="Calibri Light"/>
                <a:cs typeface="Calibri Light"/>
              </a:rPr>
              <a:t>How</a:t>
            </a:r>
            <a:r>
              <a:rPr sz="4000" spc="-50" dirty="0">
                <a:latin typeface="Calibri Light"/>
                <a:cs typeface="Calibri Light"/>
              </a:rPr>
              <a:t> </a:t>
            </a:r>
            <a:r>
              <a:rPr sz="4000" dirty="0">
                <a:latin typeface="Calibri Light"/>
                <a:cs typeface="Calibri Light"/>
              </a:rPr>
              <a:t>it</a:t>
            </a:r>
            <a:r>
              <a:rPr sz="4000" spc="-50" dirty="0">
                <a:latin typeface="Calibri Light"/>
                <a:cs typeface="Calibri Light"/>
              </a:rPr>
              <a:t> </a:t>
            </a:r>
            <a:r>
              <a:rPr sz="4000" spc="-10" dirty="0">
                <a:latin typeface="Calibri Light"/>
                <a:cs typeface="Calibri Light"/>
              </a:rPr>
              <a:t>works</a:t>
            </a:r>
            <a:endParaRPr sz="4000">
              <a:latin typeface="Calibri Light"/>
              <a:cs typeface="Calibri Ligh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170167" y="1739849"/>
            <a:ext cx="5133340" cy="32810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0029" indent="-227329">
              <a:lnSpc>
                <a:spcPts val="2740"/>
              </a:lnSpc>
              <a:spcBef>
                <a:spcPts val="100"/>
              </a:spcBef>
              <a:buFont typeface="Arial MT"/>
              <a:buChar char="•"/>
              <a:tabLst>
                <a:tab pos="240029" algn="l"/>
              </a:tabLst>
            </a:pPr>
            <a:r>
              <a:rPr sz="2400" dirty="0">
                <a:latin typeface="Calibri"/>
                <a:cs typeface="Calibri"/>
              </a:rPr>
              <a:t>Data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represented </a:t>
            </a:r>
            <a:r>
              <a:rPr sz="2400" dirty="0">
                <a:latin typeface="Calibri"/>
                <a:cs typeface="Calibri"/>
              </a:rPr>
              <a:t>in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terms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tuples</a:t>
            </a:r>
            <a:endParaRPr sz="2400">
              <a:latin typeface="Calibri"/>
              <a:cs typeface="Calibri"/>
            </a:endParaRPr>
          </a:p>
          <a:p>
            <a:pPr marL="241300">
              <a:lnSpc>
                <a:spcPts val="2740"/>
              </a:lnSpc>
            </a:pPr>
            <a:r>
              <a:rPr sz="2400" dirty="0">
                <a:latin typeface="Calibri"/>
                <a:cs typeface="Calibri"/>
              </a:rPr>
              <a:t>(rows)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RDBMS.</a:t>
            </a:r>
            <a:endParaRPr sz="2400">
              <a:latin typeface="Calibri"/>
              <a:cs typeface="Calibri"/>
            </a:endParaRPr>
          </a:p>
          <a:p>
            <a:pPr marL="240029" marR="300355" indent="-227329">
              <a:lnSpc>
                <a:spcPct val="90000"/>
              </a:lnSpc>
              <a:spcBef>
                <a:spcPts val="1010"/>
              </a:spcBef>
              <a:buFont typeface="Arial MT"/>
              <a:buChar char="•"/>
              <a:tabLst>
                <a:tab pos="241300" algn="l"/>
              </a:tabLst>
            </a:pPr>
            <a:r>
              <a:rPr sz="2400" dirty="0">
                <a:latin typeface="Calibri"/>
                <a:cs typeface="Calibri"/>
              </a:rPr>
              <a:t>A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relational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database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most 	</a:t>
            </a:r>
            <a:r>
              <a:rPr sz="2400" dirty="0">
                <a:latin typeface="Calibri"/>
                <a:cs typeface="Calibri"/>
              </a:rPr>
              <a:t>commonly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used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database.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It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contains 	several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tables,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each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table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has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its 	</a:t>
            </a:r>
            <a:r>
              <a:rPr sz="2400" dirty="0">
                <a:latin typeface="Calibri"/>
                <a:cs typeface="Calibri"/>
              </a:rPr>
              <a:t>primary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key.</a:t>
            </a:r>
            <a:endParaRPr sz="2400">
              <a:latin typeface="Calibri"/>
              <a:cs typeface="Calibri"/>
            </a:endParaRPr>
          </a:p>
          <a:p>
            <a:pPr marL="240029" marR="5080" indent="-227329">
              <a:lnSpc>
                <a:spcPct val="90100"/>
              </a:lnSpc>
              <a:spcBef>
                <a:spcPts val="990"/>
              </a:spcBef>
              <a:buFont typeface="Arial MT"/>
              <a:buChar char="•"/>
              <a:tabLst>
                <a:tab pos="241300" algn="l"/>
              </a:tabLst>
            </a:pPr>
            <a:r>
              <a:rPr sz="2400" dirty="0">
                <a:latin typeface="Calibri"/>
                <a:cs typeface="Calibri"/>
              </a:rPr>
              <a:t>Due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collection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organized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set 	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tables,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data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can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be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accessed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easily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in 	</a:t>
            </a:r>
            <a:r>
              <a:rPr sz="2400" spc="-10" dirty="0">
                <a:latin typeface="Calibri"/>
                <a:cs typeface="Calibri"/>
              </a:rPr>
              <a:t>RDBMS.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83411" y="2779852"/>
            <a:ext cx="3073400" cy="1184275"/>
          </a:xfrm>
          <a:prstGeom prst="rect">
            <a:avLst/>
          </a:prstGeom>
        </p:spPr>
        <p:txBody>
          <a:bodyPr vert="horz" wrap="square" lIns="0" tIns="81280" rIns="0" bIns="0" rtlCol="0">
            <a:spAutoFit/>
          </a:bodyPr>
          <a:lstStyle/>
          <a:p>
            <a:pPr marL="12700" marR="5080">
              <a:lnSpc>
                <a:spcPts val="4320"/>
              </a:lnSpc>
              <a:spcBef>
                <a:spcPts val="640"/>
              </a:spcBef>
            </a:pPr>
            <a:r>
              <a:rPr sz="4000" dirty="0">
                <a:latin typeface="Calibri Light"/>
                <a:cs typeface="Calibri Light"/>
              </a:rPr>
              <a:t>Brief</a:t>
            </a:r>
            <a:r>
              <a:rPr sz="4000" spc="-90" dirty="0">
                <a:latin typeface="Calibri Light"/>
                <a:cs typeface="Calibri Light"/>
              </a:rPr>
              <a:t> </a:t>
            </a:r>
            <a:r>
              <a:rPr sz="4000" dirty="0">
                <a:latin typeface="Calibri Light"/>
                <a:cs typeface="Calibri Light"/>
              </a:rPr>
              <a:t>History</a:t>
            </a:r>
            <a:r>
              <a:rPr sz="4000" spc="-110" dirty="0">
                <a:latin typeface="Calibri Light"/>
                <a:cs typeface="Calibri Light"/>
              </a:rPr>
              <a:t> </a:t>
            </a:r>
            <a:r>
              <a:rPr sz="4000" spc="-25" dirty="0">
                <a:latin typeface="Calibri Light"/>
                <a:cs typeface="Calibri Light"/>
              </a:rPr>
              <a:t>of </a:t>
            </a:r>
            <a:r>
              <a:rPr sz="4000" spc="-10" dirty="0">
                <a:latin typeface="Calibri Light"/>
                <a:cs typeface="Calibri Light"/>
              </a:rPr>
              <a:t>RDBMS</a:t>
            </a:r>
            <a:endParaRPr sz="4000">
              <a:latin typeface="Calibri Light"/>
              <a:cs typeface="Calibri Ligh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170167" y="2462276"/>
            <a:ext cx="5140960" cy="1836420"/>
          </a:xfrm>
          <a:prstGeom prst="rect">
            <a:avLst/>
          </a:prstGeom>
        </p:spPr>
        <p:txBody>
          <a:bodyPr vert="horz" wrap="square" lIns="0" tIns="48895" rIns="0" bIns="0" rtlCol="0">
            <a:spAutoFit/>
          </a:bodyPr>
          <a:lstStyle/>
          <a:p>
            <a:pPr marL="240029" marR="5080" indent="-227329">
              <a:lnSpc>
                <a:spcPct val="90000"/>
              </a:lnSpc>
              <a:spcBef>
                <a:spcPts val="385"/>
              </a:spcBef>
              <a:buFont typeface="Arial MT"/>
              <a:buChar char="•"/>
              <a:tabLst>
                <a:tab pos="241300" algn="l"/>
              </a:tabLst>
            </a:pPr>
            <a:r>
              <a:rPr sz="2400" dirty="0">
                <a:latin typeface="Calibri"/>
                <a:cs typeface="Calibri"/>
              </a:rPr>
              <a:t>From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1970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1972,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45" dirty="0">
                <a:latin typeface="Calibri"/>
                <a:cs typeface="Calibri"/>
              </a:rPr>
              <a:t>E.F.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Codd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published 	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paper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propose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using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relational 	database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model.</a:t>
            </a:r>
            <a:endParaRPr sz="2400">
              <a:latin typeface="Calibri"/>
              <a:cs typeface="Calibri"/>
            </a:endParaRPr>
          </a:p>
          <a:p>
            <a:pPr marL="240029" marR="657860" indent="-227329">
              <a:lnSpc>
                <a:spcPts val="2590"/>
              </a:lnSpc>
              <a:spcBef>
                <a:spcPts val="1050"/>
              </a:spcBef>
              <a:buFont typeface="Arial MT"/>
              <a:buChar char="•"/>
              <a:tabLst>
                <a:tab pos="241300" algn="l"/>
              </a:tabLst>
            </a:pPr>
            <a:r>
              <a:rPr sz="2400" dirty="0">
                <a:latin typeface="Calibri"/>
                <a:cs typeface="Calibri"/>
              </a:rPr>
              <a:t>RDBMS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originally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based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on</a:t>
            </a:r>
            <a:r>
              <a:rPr sz="2400" spc="-20" dirty="0">
                <a:latin typeface="Calibri"/>
                <a:cs typeface="Calibri"/>
              </a:rPr>
              <a:t> E.F. 	</a:t>
            </a:r>
            <a:r>
              <a:rPr sz="2400" dirty="0">
                <a:latin typeface="Calibri"/>
                <a:cs typeface="Calibri"/>
              </a:rPr>
              <a:t>Codd's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relational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model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invention.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58061" y="2186127"/>
            <a:ext cx="452691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5" dirty="0"/>
              <a:t>Terminologies</a:t>
            </a:r>
            <a:r>
              <a:rPr spc="-40" dirty="0"/>
              <a:t> </a:t>
            </a:r>
            <a:r>
              <a:rPr dirty="0"/>
              <a:t>of</a:t>
            </a:r>
            <a:r>
              <a:rPr spc="-60" dirty="0"/>
              <a:t> </a:t>
            </a:r>
            <a:r>
              <a:rPr spc="-10" dirty="0"/>
              <a:t>RDBMS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7866888" y="0"/>
            <a:ext cx="4325620" cy="2641600"/>
            <a:chOff x="7866888" y="0"/>
            <a:chExt cx="4325620" cy="264160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866888" y="0"/>
              <a:ext cx="4325111" cy="2641060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908036" y="0"/>
              <a:ext cx="4283964" cy="2421636"/>
            </a:xfrm>
            <a:prstGeom prst="rect">
              <a:avLst/>
            </a:prstGeom>
          </p:spPr>
        </p:pic>
      </p:grpSp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054766" y="2904775"/>
            <a:ext cx="8103433" cy="334359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512552"/>
            <a:ext cx="5196840" cy="6235700"/>
            <a:chOff x="0" y="512552"/>
            <a:chExt cx="5196840" cy="62357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512552"/>
              <a:ext cx="5164827" cy="6235700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566925"/>
              <a:ext cx="5196765" cy="6109571"/>
            </a:xfrm>
            <a:prstGeom prst="rect">
              <a:avLst/>
            </a:prstGeom>
          </p:spPr>
        </p:pic>
      </p:grpSp>
      <p:sp>
        <p:nvSpPr>
          <p:cNvPr id="5" name="object 5"/>
          <p:cNvSpPr txBox="1"/>
          <p:nvPr/>
        </p:nvSpPr>
        <p:spPr>
          <a:xfrm>
            <a:off x="718819" y="2839592"/>
            <a:ext cx="2602230" cy="1068070"/>
          </a:xfrm>
          <a:prstGeom prst="rect">
            <a:avLst/>
          </a:prstGeom>
        </p:spPr>
        <p:txBody>
          <a:bodyPr vert="horz" wrap="square" lIns="0" tIns="74295" rIns="0" bIns="0" rtlCol="0">
            <a:spAutoFit/>
          </a:bodyPr>
          <a:lstStyle/>
          <a:p>
            <a:pPr marL="12700" marR="5080">
              <a:lnSpc>
                <a:spcPts val="3890"/>
              </a:lnSpc>
              <a:spcBef>
                <a:spcPts val="585"/>
              </a:spcBef>
            </a:pPr>
            <a:r>
              <a:rPr sz="3600" dirty="0">
                <a:latin typeface="Calibri Light"/>
                <a:cs typeface="Calibri Light"/>
              </a:rPr>
              <a:t>What</a:t>
            </a:r>
            <a:r>
              <a:rPr sz="3600" spc="-60" dirty="0">
                <a:latin typeface="Calibri Light"/>
                <a:cs typeface="Calibri Light"/>
              </a:rPr>
              <a:t> </a:t>
            </a:r>
            <a:r>
              <a:rPr sz="3600" dirty="0">
                <a:latin typeface="Calibri Light"/>
                <a:cs typeface="Calibri Light"/>
              </a:rPr>
              <a:t>is</a:t>
            </a:r>
            <a:r>
              <a:rPr sz="3600" spc="-70" dirty="0">
                <a:latin typeface="Calibri Light"/>
                <a:cs typeface="Calibri Light"/>
              </a:rPr>
              <a:t> </a:t>
            </a:r>
            <a:r>
              <a:rPr sz="3600" spc="-10" dirty="0">
                <a:latin typeface="Calibri Light"/>
                <a:cs typeface="Calibri Light"/>
              </a:rPr>
              <a:t>table/ Relation?</a:t>
            </a:r>
            <a:endParaRPr sz="3600">
              <a:latin typeface="Calibri Light"/>
              <a:cs typeface="Calibri Ligh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251575" y="957453"/>
            <a:ext cx="5059045" cy="4851400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240029" marR="287655" indent="-227965">
              <a:lnSpc>
                <a:spcPts val="2590"/>
              </a:lnSpc>
              <a:spcBef>
                <a:spcPts val="425"/>
              </a:spcBef>
              <a:buFont typeface="Arial MT"/>
              <a:buChar char="•"/>
              <a:tabLst>
                <a:tab pos="241300" algn="l"/>
              </a:tabLst>
            </a:pPr>
            <a:r>
              <a:rPr sz="2400" dirty="0">
                <a:latin typeface="Calibri"/>
                <a:cs typeface="Calibri"/>
              </a:rPr>
              <a:t>Everything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9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relational</a:t>
            </a:r>
            <a:r>
              <a:rPr sz="2400" spc="-9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database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is 	</a:t>
            </a:r>
            <a:r>
              <a:rPr sz="2400" dirty="0">
                <a:latin typeface="Calibri"/>
                <a:cs typeface="Calibri"/>
              </a:rPr>
              <a:t>stored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form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relations.</a:t>
            </a:r>
            <a:endParaRPr sz="2400">
              <a:latin typeface="Calibri"/>
              <a:cs typeface="Calibri"/>
            </a:endParaRPr>
          </a:p>
          <a:p>
            <a:pPr marL="240029" indent="-227329">
              <a:lnSpc>
                <a:spcPts val="2740"/>
              </a:lnSpc>
              <a:spcBef>
                <a:spcPts val="685"/>
              </a:spcBef>
              <a:buFont typeface="Arial MT"/>
              <a:buChar char="•"/>
              <a:tabLst>
                <a:tab pos="240029" algn="l"/>
              </a:tabLst>
            </a:pPr>
            <a:r>
              <a:rPr sz="2400" dirty="0">
                <a:latin typeface="Calibri"/>
                <a:cs typeface="Calibri"/>
              </a:rPr>
              <a:t>The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RDBMS</a:t>
            </a:r>
            <a:r>
              <a:rPr sz="2400" spc="-9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database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uses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tables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to</a:t>
            </a:r>
            <a:endParaRPr sz="2400">
              <a:latin typeface="Calibri"/>
              <a:cs typeface="Calibri"/>
            </a:endParaRPr>
          </a:p>
          <a:p>
            <a:pPr marL="241300">
              <a:lnSpc>
                <a:spcPts val="2740"/>
              </a:lnSpc>
            </a:pPr>
            <a:r>
              <a:rPr sz="2400" dirty="0">
                <a:latin typeface="Calibri"/>
                <a:cs typeface="Calibri"/>
              </a:rPr>
              <a:t>store</a:t>
            </a:r>
            <a:r>
              <a:rPr sz="2400" spc="-11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data.</a:t>
            </a:r>
            <a:endParaRPr sz="2400">
              <a:latin typeface="Calibri"/>
              <a:cs typeface="Calibri"/>
            </a:endParaRPr>
          </a:p>
          <a:p>
            <a:pPr marL="240029" marR="5080" indent="-227965">
              <a:lnSpc>
                <a:spcPct val="90000"/>
              </a:lnSpc>
              <a:spcBef>
                <a:spcPts val="994"/>
              </a:spcBef>
              <a:buFont typeface="Arial MT"/>
              <a:buChar char="•"/>
              <a:tabLst>
                <a:tab pos="241300" algn="l"/>
              </a:tabLst>
            </a:pPr>
            <a:r>
              <a:rPr sz="2400" dirty="0">
                <a:latin typeface="Calibri"/>
                <a:cs typeface="Calibri"/>
              </a:rPr>
              <a:t>A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table</a:t>
            </a:r>
            <a:r>
              <a:rPr sz="2400" b="1" i="1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collection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related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data 	</a:t>
            </a:r>
            <a:r>
              <a:rPr sz="2400" dirty="0">
                <a:latin typeface="Calibri"/>
                <a:cs typeface="Calibri"/>
              </a:rPr>
              <a:t>entries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contains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rows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columns 	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store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data.</a:t>
            </a:r>
            <a:endParaRPr sz="2400">
              <a:latin typeface="Calibri"/>
              <a:cs typeface="Calibri"/>
            </a:endParaRPr>
          </a:p>
          <a:p>
            <a:pPr marL="240029" marR="43180" indent="-227965" algn="just">
              <a:lnSpc>
                <a:spcPts val="2590"/>
              </a:lnSpc>
              <a:spcBef>
                <a:spcPts val="1035"/>
              </a:spcBef>
              <a:buFont typeface="Arial MT"/>
              <a:buChar char="•"/>
              <a:tabLst>
                <a:tab pos="241300" algn="l"/>
              </a:tabLst>
            </a:pPr>
            <a:r>
              <a:rPr sz="2400" dirty="0">
                <a:latin typeface="Calibri"/>
                <a:cs typeface="Calibri"/>
              </a:rPr>
              <a:t>Each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table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represents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some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real-</a:t>
            </a:r>
            <a:r>
              <a:rPr sz="2400" spc="-10" dirty="0">
                <a:latin typeface="Calibri"/>
                <a:cs typeface="Calibri"/>
              </a:rPr>
              <a:t>world 	</a:t>
            </a:r>
            <a:r>
              <a:rPr sz="2400" dirty="0">
                <a:latin typeface="Calibri"/>
                <a:cs typeface="Calibri"/>
              </a:rPr>
              <a:t>objects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such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as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person,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place,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or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event 	</a:t>
            </a:r>
            <a:r>
              <a:rPr sz="2400" dirty="0">
                <a:latin typeface="Calibri"/>
                <a:cs typeface="Calibri"/>
              </a:rPr>
              <a:t>about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which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information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collected.</a:t>
            </a:r>
            <a:endParaRPr sz="2400">
              <a:latin typeface="Calibri"/>
              <a:cs typeface="Calibri"/>
            </a:endParaRPr>
          </a:p>
          <a:p>
            <a:pPr marL="240029" marR="64769" indent="-227965" algn="just">
              <a:lnSpc>
                <a:spcPts val="2590"/>
              </a:lnSpc>
              <a:spcBef>
                <a:spcPts val="1020"/>
              </a:spcBef>
              <a:buFont typeface="Arial MT"/>
              <a:buChar char="•"/>
              <a:tabLst>
                <a:tab pos="241300" algn="l"/>
              </a:tabLst>
            </a:pPr>
            <a:r>
              <a:rPr sz="2400" dirty="0">
                <a:latin typeface="Calibri"/>
                <a:cs typeface="Calibri"/>
              </a:rPr>
              <a:t>The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organized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collection</a:t>
            </a:r>
            <a:r>
              <a:rPr sz="2400" spc="-9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data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into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spc="-50" dirty="0">
                <a:latin typeface="Calibri"/>
                <a:cs typeface="Calibri"/>
              </a:rPr>
              <a:t>a 	</a:t>
            </a:r>
            <a:r>
              <a:rPr sz="2400" dirty="0">
                <a:latin typeface="Calibri"/>
                <a:cs typeface="Calibri"/>
              </a:rPr>
              <a:t>relational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table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known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as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b="1" i="1" spc="-10" dirty="0">
                <a:latin typeface="Calibri"/>
                <a:cs typeface="Calibri"/>
              </a:rPr>
              <a:t>logical 	</a:t>
            </a:r>
            <a:r>
              <a:rPr sz="2400" b="1" i="1" dirty="0">
                <a:latin typeface="Calibri"/>
                <a:cs typeface="Calibri"/>
              </a:rPr>
              <a:t>view</a:t>
            </a:r>
            <a:r>
              <a:rPr sz="2400" b="1" i="1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database.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18819" y="2839592"/>
            <a:ext cx="2711450" cy="1068070"/>
          </a:xfrm>
          <a:prstGeom prst="rect">
            <a:avLst/>
          </a:prstGeom>
        </p:spPr>
        <p:txBody>
          <a:bodyPr vert="horz" wrap="square" lIns="0" tIns="74295" rIns="0" bIns="0" rtlCol="0">
            <a:spAutoFit/>
          </a:bodyPr>
          <a:lstStyle/>
          <a:p>
            <a:pPr marL="12700" marR="5080">
              <a:lnSpc>
                <a:spcPts val="3890"/>
              </a:lnSpc>
              <a:spcBef>
                <a:spcPts val="585"/>
              </a:spcBef>
            </a:pPr>
            <a:r>
              <a:rPr sz="3600" dirty="0">
                <a:latin typeface="Calibri Light"/>
                <a:cs typeface="Calibri Light"/>
              </a:rPr>
              <a:t>Properties</a:t>
            </a:r>
            <a:r>
              <a:rPr sz="3600" spc="-90" dirty="0">
                <a:latin typeface="Calibri Light"/>
                <a:cs typeface="Calibri Light"/>
              </a:rPr>
              <a:t> </a:t>
            </a:r>
            <a:r>
              <a:rPr sz="3600" dirty="0">
                <a:latin typeface="Calibri Light"/>
                <a:cs typeface="Calibri Light"/>
              </a:rPr>
              <a:t>of</a:t>
            </a:r>
            <a:r>
              <a:rPr sz="3600" spc="-90" dirty="0">
                <a:latin typeface="Calibri Light"/>
                <a:cs typeface="Calibri Light"/>
              </a:rPr>
              <a:t> </a:t>
            </a:r>
            <a:r>
              <a:rPr sz="3600" spc="-50" dirty="0">
                <a:latin typeface="Calibri Light"/>
                <a:cs typeface="Calibri Light"/>
              </a:rPr>
              <a:t>a </a:t>
            </a:r>
            <a:r>
              <a:rPr sz="3600" spc="-10" dirty="0">
                <a:latin typeface="Calibri Light"/>
                <a:cs typeface="Calibri Light"/>
              </a:rPr>
              <a:t>Relation</a:t>
            </a:r>
            <a:endParaRPr sz="3600">
              <a:latin typeface="Calibri Light"/>
              <a:cs typeface="Calibri Light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6172200" y="804672"/>
            <a:ext cx="5221605" cy="0"/>
          </a:xfrm>
          <a:custGeom>
            <a:avLst/>
            <a:gdLst/>
            <a:ahLst/>
            <a:cxnLst/>
            <a:rect l="l" t="t" r="r" b="b"/>
            <a:pathLst>
              <a:path w="5221605">
                <a:moveTo>
                  <a:pt x="0" y="0"/>
                </a:moveTo>
                <a:lnTo>
                  <a:pt x="5221224" y="0"/>
                </a:lnTo>
              </a:path>
            </a:pathLst>
          </a:custGeom>
          <a:ln w="12700">
            <a:solidFill>
              <a:srgbClr val="5B9BD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6259195" y="834897"/>
            <a:ext cx="4953635" cy="785495"/>
          </a:xfrm>
          <a:prstGeom prst="rect">
            <a:avLst/>
          </a:prstGeom>
        </p:spPr>
        <p:txBody>
          <a:bodyPr vert="horz" wrap="square" lIns="0" tIns="52705" rIns="0" bIns="0" rtlCol="0">
            <a:spAutoFit/>
          </a:bodyPr>
          <a:lstStyle/>
          <a:p>
            <a:pPr marL="12700" marR="5080">
              <a:lnSpc>
                <a:spcPts val="2860"/>
              </a:lnSpc>
              <a:spcBef>
                <a:spcPts val="415"/>
              </a:spcBef>
            </a:pPr>
            <a:r>
              <a:rPr sz="2600" dirty="0">
                <a:latin typeface="Calibri"/>
                <a:cs typeface="Calibri"/>
              </a:rPr>
              <a:t>Each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relation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has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unique</a:t>
            </a:r>
            <a:r>
              <a:rPr sz="2600" b="1" i="1" spc="-50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name</a:t>
            </a:r>
            <a:r>
              <a:rPr sz="2600" b="1" i="1" spc="-60" dirty="0">
                <a:latin typeface="Calibri"/>
                <a:cs typeface="Calibri"/>
              </a:rPr>
              <a:t> </a:t>
            </a:r>
            <a:r>
              <a:rPr sz="2600" spc="-25" dirty="0">
                <a:latin typeface="Calibri"/>
                <a:cs typeface="Calibri"/>
              </a:rPr>
              <a:t>by </a:t>
            </a:r>
            <a:r>
              <a:rPr sz="2600" dirty="0">
                <a:latin typeface="Calibri"/>
                <a:cs typeface="Calibri"/>
              </a:rPr>
              <a:t>which</a:t>
            </a:r>
            <a:r>
              <a:rPr sz="2600" spc="-2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it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is</a:t>
            </a:r>
            <a:r>
              <a:rPr sz="2600" spc="-2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identified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in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the</a:t>
            </a:r>
            <a:r>
              <a:rPr sz="2600" spc="-1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database.</a:t>
            </a:r>
            <a:endParaRPr sz="2600">
              <a:latin typeface="Calibri"/>
              <a:cs typeface="Calibri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6172200" y="2112264"/>
            <a:ext cx="5221605" cy="0"/>
          </a:xfrm>
          <a:custGeom>
            <a:avLst/>
            <a:gdLst/>
            <a:ahLst/>
            <a:cxnLst/>
            <a:rect l="l" t="t" r="r" b="b"/>
            <a:pathLst>
              <a:path w="5221605">
                <a:moveTo>
                  <a:pt x="0" y="0"/>
                </a:moveTo>
                <a:lnTo>
                  <a:pt x="5221224" y="0"/>
                </a:lnTo>
              </a:path>
            </a:pathLst>
          </a:custGeom>
          <a:ln w="12700">
            <a:solidFill>
              <a:srgbClr val="52C9B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6172200" y="3419855"/>
            <a:ext cx="5221605" cy="0"/>
          </a:xfrm>
          <a:custGeom>
            <a:avLst/>
            <a:gdLst/>
            <a:ahLst/>
            <a:cxnLst/>
            <a:rect l="l" t="t" r="r" b="b"/>
            <a:pathLst>
              <a:path w="5221605">
                <a:moveTo>
                  <a:pt x="0" y="0"/>
                </a:moveTo>
                <a:lnTo>
                  <a:pt x="5221224" y="0"/>
                </a:lnTo>
              </a:path>
            </a:pathLst>
          </a:custGeom>
          <a:ln w="12700">
            <a:solidFill>
              <a:srgbClr val="48BE6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6172200" y="4727447"/>
            <a:ext cx="5221605" cy="0"/>
          </a:xfrm>
          <a:custGeom>
            <a:avLst/>
            <a:gdLst/>
            <a:ahLst/>
            <a:cxnLst/>
            <a:rect l="l" t="t" r="r" b="b"/>
            <a:pathLst>
              <a:path w="5221605">
                <a:moveTo>
                  <a:pt x="0" y="0"/>
                </a:moveTo>
                <a:lnTo>
                  <a:pt x="5221224" y="0"/>
                </a:lnTo>
              </a:path>
            </a:pathLst>
          </a:custGeom>
          <a:ln w="12700">
            <a:solidFill>
              <a:srgbClr val="6FAC4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>
            <a:spLocks noGrp="1"/>
          </p:cNvSpPr>
          <p:nvPr>
            <p:ph sz="half" idx="3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ts val="2990"/>
              </a:lnSpc>
              <a:spcBef>
                <a:spcPts val="105"/>
              </a:spcBef>
            </a:pPr>
            <a:r>
              <a:rPr b="0" i="0" spc="-10" dirty="0">
                <a:latin typeface="Calibri"/>
                <a:cs typeface="Calibri"/>
              </a:rPr>
              <a:t>Relation</a:t>
            </a:r>
            <a:r>
              <a:rPr b="0" i="0" spc="-75" dirty="0">
                <a:latin typeface="Calibri"/>
                <a:cs typeface="Calibri"/>
              </a:rPr>
              <a:t> </a:t>
            </a:r>
            <a:r>
              <a:rPr dirty="0"/>
              <a:t>does</a:t>
            </a:r>
            <a:r>
              <a:rPr spc="-55" dirty="0"/>
              <a:t> </a:t>
            </a:r>
            <a:r>
              <a:rPr dirty="0"/>
              <a:t>not</a:t>
            </a:r>
            <a:r>
              <a:rPr spc="-40" dirty="0"/>
              <a:t> </a:t>
            </a:r>
            <a:r>
              <a:rPr b="0" i="0" dirty="0">
                <a:latin typeface="Calibri"/>
                <a:cs typeface="Calibri"/>
              </a:rPr>
              <a:t>contain</a:t>
            </a:r>
            <a:r>
              <a:rPr b="0" i="0" spc="-65" dirty="0">
                <a:latin typeface="Calibri"/>
                <a:cs typeface="Calibri"/>
              </a:rPr>
              <a:t> </a:t>
            </a:r>
            <a:r>
              <a:rPr spc="-10" dirty="0"/>
              <a:t>duplicate</a:t>
            </a:r>
          </a:p>
          <a:p>
            <a:pPr marL="12700">
              <a:lnSpc>
                <a:spcPts val="2990"/>
              </a:lnSpc>
            </a:pPr>
            <a:r>
              <a:rPr b="0" i="0" spc="-10" dirty="0">
                <a:latin typeface="Calibri"/>
                <a:cs typeface="Calibri"/>
              </a:rPr>
              <a:t>tuples.</a:t>
            </a:r>
          </a:p>
          <a:p>
            <a:pPr>
              <a:lnSpc>
                <a:spcPct val="100000"/>
              </a:lnSpc>
              <a:spcBef>
                <a:spcPts val="1455"/>
              </a:spcBef>
            </a:pPr>
            <a:endParaRPr b="0" i="0" spc="-10" dirty="0">
              <a:latin typeface="Calibri"/>
              <a:cs typeface="Calibri"/>
            </a:endParaRPr>
          </a:p>
          <a:p>
            <a:pPr marL="12700" marR="779145">
              <a:lnSpc>
                <a:spcPts val="2860"/>
              </a:lnSpc>
              <a:spcBef>
                <a:spcPts val="5"/>
              </a:spcBef>
            </a:pPr>
            <a:r>
              <a:rPr b="0" i="0" dirty="0">
                <a:latin typeface="Calibri"/>
                <a:cs typeface="Calibri"/>
              </a:rPr>
              <a:t>The</a:t>
            </a:r>
            <a:r>
              <a:rPr b="0" i="0" spc="-50" dirty="0">
                <a:latin typeface="Calibri"/>
                <a:cs typeface="Calibri"/>
              </a:rPr>
              <a:t> </a:t>
            </a:r>
            <a:r>
              <a:rPr b="0" i="0" dirty="0">
                <a:latin typeface="Calibri"/>
                <a:cs typeface="Calibri"/>
              </a:rPr>
              <a:t>tuples</a:t>
            </a:r>
            <a:r>
              <a:rPr b="0" i="0" spc="-40" dirty="0">
                <a:latin typeface="Calibri"/>
                <a:cs typeface="Calibri"/>
              </a:rPr>
              <a:t> </a:t>
            </a:r>
            <a:r>
              <a:rPr b="0" i="0" dirty="0">
                <a:latin typeface="Calibri"/>
                <a:cs typeface="Calibri"/>
              </a:rPr>
              <a:t>of</a:t>
            </a:r>
            <a:r>
              <a:rPr b="0" i="0" spc="-40" dirty="0">
                <a:latin typeface="Calibri"/>
                <a:cs typeface="Calibri"/>
              </a:rPr>
              <a:t> </a:t>
            </a:r>
            <a:r>
              <a:rPr b="0" i="0" dirty="0">
                <a:latin typeface="Calibri"/>
                <a:cs typeface="Calibri"/>
              </a:rPr>
              <a:t>a</a:t>
            </a:r>
            <a:r>
              <a:rPr b="0" i="0" spc="-40" dirty="0">
                <a:latin typeface="Calibri"/>
                <a:cs typeface="Calibri"/>
              </a:rPr>
              <a:t> </a:t>
            </a:r>
            <a:r>
              <a:rPr b="0" i="0" dirty="0">
                <a:latin typeface="Calibri"/>
                <a:cs typeface="Calibri"/>
              </a:rPr>
              <a:t>relation</a:t>
            </a:r>
            <a:r>
              <a:rPr b="0" i="0" spc="-55" dirty="0">
                <a:latin typeface="Calibri"/>
                <a:cs typeface="Calibri"/>
              </a:rPr>
              <a:t> </a:t>
            </a:r>
            <a:r>
              <a:rPr b="0" i="0" dirty="0">
                <a:latin typeface="Calibri"/>
                <a:cs typeface="Calibri"/>
              </a:rPr>
              <a:t>have</a:t>
            </a:r>
            <a:r>
              <a:rPr b="0" i="0" spc="-60" dirty="0">
                <a:latin typeface="Calibri"/>
                <a:cs typeface="Calibri"/>
              </a:rPr>
              <a:t> </a:t>
            </a:r>
            <a:r>
              <a:rPr spc="-25" dirty="0"/>
              <a:t>no </a:t>
            </a:r>
            <a:r>
              <a:rPr dirty="0"/>
              <a:t>specific</a:t>
            </a:r>
            <a:r>
              <a:rPr spc="-15" dirty="0"/>
              <a:t> </a:t>
            </a:r>
            <a:r>
              <a:rPr spc="-10" dirty="0"/>
              <a:t>order</a:t>
            </a:r>
            <a:r>
              <a:rPr b="0" i="0" spc="-10" dirty="0">
                <a:latin typeface="Calibri"/>
                <a:cs typeface="Calibri"/>
              </a:rPr>
              <a:t>.</a:t>
            </a:r>
          </a:p>
          <a:p>
            <a:pPr>
              <a:lnSpc>
                <a:spcPct val="100000"/>
              </a:lnSpc>
              <a:spcBef>
                <a:spcPts val="1400"/>
              </a:spcBef>
            </a:pPr>
            <a:endParaRPr b="0" i="0" spc="-10" dirty="0">
              <a:latin typeface="Calibri"/>
              <a:cs typeface="Calibri"/>
            </a:endParaRPr>
          </a:p>
          <a:p>
            <a:pPr marL="12700" marR="5080">
              <a:lnSpc>
                <a:spcPts val="2860"/>
              </a:lnSpc>
              <a:spcBef>
                <a:spcPts val="5"/>
              </a:spcBef>
            </a:pPr>
            <a:r>
              <a:rPr b="0" i="0" dirty="0">
                <a:latin typeface="Calibri"/>
                <a:cs typeface="Calibri"/>
              </a:rPr>
              <a:t>All</a:t>
            </a:r>
            <a:r>
              <a:rPr b="0" i="0" spc="-45" dirty="0">
                <a:latin typeface="Calibri"/>
                <a:cs typeface="Calibri"/>
              </a:rPr>
              <a:t> </a:t>
            </a:r>
            <a:r>
              <a:rPr b="0" i="0" spc="-10" dirty="0">
                <a:latin typeface="Calibri"/>
                <a:cs typeface="Calibri"/>
              </a:rPr>
              <a:t>attributes</a:t>
            </a:r>
            <a:r>
              <a:rPr b="0" i="0" spc="-75" dirty="0">
                <a:latin typeface="Calibri"/>
                <a:cs typeface="Calibri"/>
              </a:rPr>
              <a:t> </a:t>
            </a:r>
            <a:r>
              <a:rPr b="0" i="0" dirty="0">
                <a:latin typeface="Calibri"/>
                <a:cs typeface="Calibri"/>
              </a:rPr>
              <a:t>in</a:t>
            </a:r>
            <a:r>
              <a:rPr b="0" i="0" spc="-35" dirty="0">
                <a:latin typeface="Calibri"/>
                <a:cs typeface="Calibri"/>
              </a:rPr>
              <a:t> </a:t>
            </a:r>
            <a:r>
              <a:rPr b="0" i="0" dirty="0">
                <a:latin typeface="Calibri"/>
                <a:cs typeface="Calibri"/>
              </a:rPr>
              <a:t>a</a:t>
            </a:r>
            <a:r>
              <a:rPr b="0" i="0" spc="-35" dirty="0">
                <a:latin typeface="Calibri"/>
                <a:cs typeface="Calibri"/>
              </a:rPr>
              <a:t> </a:t>
            </a:r>
            <a:r>
              <a:rPr b="0" i="0" dirty="0">
                <a:latin typeface="Calibri"/>
                <a:cs typeface="Calibri"/>
              </a:rPr>
              <a:t>relation</a:t>
            </a:r>
            <a:r>
              <a:rPr b="0" i="0" spc="-50" dirty="0">
                <a:latin typeface="Calibri"/>
                <a:cs typeface="Calibri"/>
              </a:rPr>
              <a:t> </a:t>
            </a:r>
            <a:r>
              <a:rPr b="0" i="0" dirty="0">
                <a:latin typeface="Calibri"/>
                <a:cs typeface="Calibri"/>
              </a:rPr>
              <a:t>are</a:t>
            </a:r>
            <a:r>
              <a:rPr b="0" i="0" spc="-75" dirty="0">
                <a:latin typeface="Calibri"/>
                <a:cs typeface="Calibri"/>
              </a:rPr>
              <a:t> </a:t>
            </a:r>
            <a:r>
              <a:rPr spc="-10" dirty="0"/>
              <a:t>atomic</a:t>
            </a:r>
            <a:r>
              <a:rPr b="0" i="0" spc="-10" dirty="0">
                <a:latin typeface="Calibri"/>
                <a:cs typeface="Calibri"/>
              </a:rPr>
              <a:t>, </a:t>
            </a:r>
            <a:r>
              <a:rPr b="0" i="0" dirty="0">
                <a:latin typeface="Calibri"/>
                <a:cs typeface="Calibri"/>
              </a:rPr>
              <a:t>i.e.,</a:t>
            </a:r>
            <a:r>
              <a:rPr b="0" i="0" spc="-45" dirty="0">
                <a:latin typeface="Calibri"/>
                <a:cs typeface="Calibri"/>
              </a:rPr>
              <a:t> </a:t>
            </a:r>
            <a:r>
              <a:rPr b="0" i="0" dirty="0">
                <a:latin typeface="Calibri"/>
                <a:cs typeface="Calibri"/>
              </a:rPr>
              <a:t>each</a:t>
            </a:r>
            <a:r>
              <a:rPr b="0" i="0" spc="-40" dirty="0">
                <a:latin typeface="Calibri"/>
                <a:cs typeface="Calibri"/>
              </a:rPr>
              <a:t> </a:t>
            </a:r>
            <a:r>
              <a:rPr b="0" i="0" dirty="0">
                <a:latin typeface="Calibri"/>
                <a:cs typeface="Calibri"/>
              </a:rPr>
              <a:t>cell</a:t>
            </a:r>
            <a:r>
              <a:rPr b="0" i="0" spc="-30" dirty="0">
                <a:latin typeface="Calibri"/>
                <a:cs typeface="Calibri"/>
              </a:rPr>
              <a:t> </a:t>
            </a:r>
            <a:r>
              <a:rPr b="0" i="0" dirty="0">
                <a:latin typeface="Calibri"/>
                <a:cs typeface="Calibri"/>
              </a:rPr>
              <a:t>of</a:t>
            </a:r>
            <a:r>
              <a:rPr b="0" i="0" spc="-30" dirty="0">
                <a:latin typeface="Calibri"/>
                <a:cs typeface="Calibri"/>
              </a:rPr>
              <a:t> </a:t>
            </a:r>
            <a:r>
              <a:rPr b="0" i="0" dirty="0">
                <a:latin typeface="Calibri"/>
                <a:cs typeface="Calibri"/>
              </a:rPr>
              <a:t>a</a:t>
            </a:r>
            <a:r>
              <a:rPr b="0" i="0" spc="-30" dirty="0">
                <a:latin typeface="Calibri"/>
                <a:cs typeface="Calibri"/>
              </a:rPr>
              <a:t> </a:t>
            </a:r>
            <a:r>
              <a:rPr b="0" i="0" dirty="0">
                <a:latin typeface="Calibri"/>
                <a:cs typeface="Calibri"/>
              </a:rPr>
              <a:t>relation</a:t>
            </a:r>
            <a:r>
              <a:rPr b="0" i="0" spc="-50" dirty="0">
                <a:latin typeface="Calibri"/>
                <a:cs typeface="Calibri"/>
              </a:rPr>
              <a:t> </a:t>
            </a:r>
            <a:r>
              <a:rPr b="0" i="0" spc="-10" dirty="0">
                <a:latin typeface="Calibri"/>
                <a:cs typeface="Calibri"/>
              </a:rPr>
              <a:t>contains </a:t>
            </a:r>
            <a:r>
              <a:rPr b="0" i="0" dirty="0">
                <a:latin typeface="Calibri"/>
                <a:cs typeface="Calibri"/>
              </a:rPr>
              <a:t>exactly</a:t>
            </a:r>
            <a:r>
              <a:rPr b="0" i="0" spc="-95" dirty="0">
                <a:latin typeface="Calibri"/>
                <a:cs typeface="Calibri"/>
              </a:rPr>
              <a:t> </a:t>
            </a:r>
            <a:r>
              <a:rPr b="0" i="0" dirty="0">
                <a:latin typeface="Calibri"/>
                <a:cs typeface="Calibri"/>
              </a:rPr>
              <a:t>one</a:t>
            </a:r>
            <a:r>
              <a:rPr b="0" i="0" spc="-60" dirty="0">
                <a:latin typeface="Calibri"/>
                <a:cs typeface="Calibri"/>
              </a:rPr>
              <a:t> </a:t>
            </a:r>
            <a:r>
              <a:rPr b="0" i="0" spc="-10" dirty="0">
                <a:latin typeface="Calibri"/>
                <a:cs typeface="Calibri"/>
              </a:rPr>
              <a:t>value.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18819" y="2839592"/>
            <a:ext cx="2538095" cy="1068070"/>
          </a:xfrm>
          <a:prstGeom prst="rect">
            <a:avLst/>
          </a:prstGeom>
        </p:spPr>
        <p:txBody>
          <a:bodyPr vert="horz" wrap="square" lIns="0" tIns="74295" rIns="0" bIns="0" rtlCol="0">
            <a:spAutoFit/>
          </a:bodyPr>
          <a:lstStyle/>
          <a:p>
            <a:pPr marL="12700" marR="5715">
              <a:lnSpc>
                <a:spcPts val="3890"/>
              </a:lnSpc>
              <a:spcBef>
                <a:spcPts val="585"/>
              </a:spcBef>
            </a:pPr>
            <a:r>
              <a:rPr spc="-10" dirty="0"/>
              <a:t>Example: </a:t>
            </a:r>
            <a:r>
              <a:rPr dirty="0"/>
              <a:t>Student</a:t>
            </a:r>
            <a:r>
              <a:rPr spc="-150" dirty="0"/>
              <a:t> </a:t>
            </a:r>
            <a:r>
              <a:rPr spc="-50" dirty="0"/>
              <a:t>Table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6082665" y="1858772"/>
          <a:ext cx="5237480" cy="347916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65785"/>
                <a:gridCol w="1515110"/>
                <a:gridCol w="1177925"/>
                <a:gridCol w="1890395"/>
              </a:tblGrid>
              <a:tr h="591185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3200" b="1" spc="-2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ID</a:t>
                      </a:r>
                      <a:endParaRPr sz="3200">
                        <a:latin typeface="Calibri"/>
                        <a:cs typeface="Calibri"/>
                      </a:endParaRPr>
                    </a:p>
                  </a:txBody>
                  <a:tcPr marL="0" marR="0" marT="27305" marB="0">
                    <a:lnL w="12700">
                      <a:solidFill>
                        <a:srgbClr val="5B9BD4"/>
                      </a:solidFill>
                      <a:prstDash val="solid"/>
                    </a:lnL>
                    <a:solidFill>
                      <a:srgbClr val="5B9BD4"/>
                    </a:solidFill>
                  </a:tcPr>
                </a:tc>
                <a:tc>
                  <a:txBody>
                    <a:bodyPr/>
                    <a:lstStyle/>
                    <a:p>
                      <a:pPr marL="109220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3200" b="1" spc="-2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NAME</a:t>
                      </a:r>
                      <a:endParaRPr sz="3200">
                        <a:latin typeface="Calibri"/>
                        <a:cs typeface="Calibri"/>
                      </a:endParaRPr>
                    </a:p>
                  </a:txBody>
                  <a:tcPr marL="0" marR="0" marT="27305" marB="0">
                    <a:solidFill>
                      <a:srgbClr val="5B9BD4"/>
                    </a:solidFill>
                  </a:tcPr>
                </a:tc>
                <a:tc>
                  <a:txBody>
                    <a:bodyPr/>
                    <a:lstStyle/>
                    <a:p>
                      <a:pPr marL="137160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3200" b="1" spc="-2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AGE</a:t>
                      </a:r>
                      <a:endParaRPr sz="3200">
                        <a:latin typeface="Calibri"/>
                        <a:cs typeface="Calibri"/>
                      </a:endParaRPr>
                    </a:p>
                  </a:txBody>
                  <a:tcPr marL="0" marR="0" marT="27305" marB="0">
                    <a:solidFill>
                      <a:srgbClr val="5B9BD4"/>
                    </a:solidFill>
                  </a:tcPr>
                </a:tc>
                <a:tc>
                  <a:txBody>
                    <a:bodyPr/>
                    <a:lstStyle/>
                    <a:p>
                      <a:pPr marL="339725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32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COURSE</a:t>
                      </a:r>
                      <a:endParaRPr sz="3200">
                        <a:latin typeface="Calibri"/>
                        <a:cs typeface="Calibri"/>
                      </a:endParaRPr>
                    </a:p>
                  </a:txBody>
                  <a:tcPr marL="0" marR="0" marT="27305" marB="0">
                    <a:lnR w="12700">
                      <a:solidFill>
                        <a:srgbClr val="5B9BD4"/>
                      </a:solidFill>
                      <a:prstDash val="solid"/>
                    </a:lnR>
                    <a:solidFill>
                      <a:srgbClr val="5B9BD4"/>
                    </a:solidFill>
                  </a:tcPr>
                </a:tc>
              </a:tr>
              <a:tr h="572770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115"/>
                        </a:spcBef>
                      </a:pPr>
                      <a:r>
                        <a:rPr sz="3200" spc="-50" dirty="0">
                          <a:latin typeface="Calibri"/>
                          <a:cs typeface="Calibri"/>
                        </a:rPr>
                        <a:t>1</a:t>
                      </a:r>
                      <a:endParaRPr sz="3200">
                        <a:latin typeface="Calibri"/>
                        <a:cs typeface="Calibri"/>
                      </a:endParaRPr>
                    </a:p>
                  </a:txBody>
                  <a:tcPr marL="0" marR="0" marT="14605" marB="0">
                    <a:lnL w="12700">
                      <a:solidFill>
                        <a:srgbClr val="5B9BD4"/>
                      </a:solidFill>
                      <a:prstDash val="solid"/>
                    </a:lnL>
                    <a:lnB w="12700">
                      <a:solidFill>
                        <a:srgbClr val="5B9BD4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  <a:tc>
                  <a:txBody>
                    <a:bodyPr/>
                    <a:lstStyle/>
                    <a:p>
                      <a:pPr marL="109220">
                        <a:lnSpc>
                          <a:spcPct val="100000"/>
                        </a:lnSpc>
                        <a:spcBef>
                          <a:spcPts val="115"/>
                        </a:spcBef>
                      </a:pPr>
                      <a:r>
                        <a:rPr sz="3200" spc="-10" dirty="0">
                          <a:latin typeface="Calibri"/>
                          <a:cs typeface="Calibri"/>
                        </a:rPr>
                        <a:t>Ayyaz</a:t>
                      </a:r>
                      <a:endParaRPr sz="3200">
                        <a:latin typeface="Calibri"/>
                        <a:cs typeface="Calibri"/>
                      </a:endParaRPr>
                    </a:p>
                  </a:txBody>
                  <a:tcPr marL="0" marR="0" marT="14605" marB="0">
                    <a:lnB w="12700">
                      <a:solidFill>
                        <a:srgbClr val="5B9BD4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  <a:tc>
                  <a:txBody>
                    <a:bodyPr/>
                    <a:lstStyle/>
                    <a:p>
                      <a:pPr marL="137160">
                        <a:lnSpc>
                          <a:spcPct val="100000"/>
                        </a:lnSpc>
                        <a:spcBef>
                          <a:spcPts val="115"/>
                        </a:spcBef>
                      </a:pPr>
                      <a:r>
                        <a:rPr sz="3200" spc="-25" dirty="0">
                          <a:latin typeface="Calibri"/>
                          <a:cs typeface="Calibri"/>
                        </a:rPr>
                        <a:t>24</a:t>
                      </a:r>
                      <a:endParaRPr sz="3200">
                        <a:latin typeface="Calibri"/>
                        <a:cs typeface="Calibri"/>
                      </a:endParaRPr>
                    </a:p>
                  </a:txBody>
                  <a:tcPr marL="0" marR="0" marT="14605" marB="0">
                    <a:lnB w="12700">
                      <a:solidFill>
                        <a:srgbClr val="5B9BD4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  <a:tc>
                  <a:txBody>
                    <a:bodyPr/>
                    <a:lstStyle/>
                    <a:p>
                      <a:pPr marL="339725">
                        <a:lnSpc>
                          <a:spcPct val="100000"/>
                        </a:lnSpc>
                        <a:spcBef>
                          <a:spcPts val="115"/>
                        </a:spcBef>
                      </a:pPr>
                      <a:r>
                        <a:rPr sz="3200" dirty="0">
                          <a:latin typeface="Calibri"/>
                          <a:cs typeface="Calibri"/>
                        </a:rPr>
                        <a:t>B.</a:t>
                      </a:r>
                      <a:r>
                        <a:rPr sz="32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3200" spc="-20" dirty="0">
                          <a:latin typeface="Calibri"/>
                          <a:cs typeface="Calibri"/>
                        </a:rPr>
                        <a:t>Tech</a:t>
                      </a:r>
                      <a:endParaRPr sz="3200">
                        <a:latin typeface="Calibri"/>
                        <a:cs typeface="Calibri"/>
                      </a:endParaRPr>
                    </a:p>
                  </a:txBody>
                  <a:tcPr marL="0" marR="0" marT="14605" marB="0">
                    <a:lnR w="12700">
                      <a:solidFill>
                        <a:srgbClr val="5B9BD4"/>
                      </a:solidFill>
                      <a:prstDash val="solid"/>
                    </a:lnR>
                    <a:lnB w="12700">
                      <a:solidFill>
                        <a:srgbClr val="5B9BD4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</a:tr>
              <a:tr h="578485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sz="3200" spc="-50" dirty="0">
                          <a:latin typeface="Calibri"/>
                          <a:cs typeface="Calibri"/>
                        </a:rPr>
                        <a:t>2</a:t>
                      </a:r>
                      <a:endParaRPr sz="3200">
                        <a:latin typeface="Calibri"/>
                        <a:cs typeface="Calibri"/>
                      </a:endParaRPr>
                    </a:p>
                  </a:txBody>
                  <a:tcPr marL="0" marR="0" marT="20955" marB="0">
                    <a:lnL w="12700">
                      <a:solidFill>
                        <a:srgbClr val="5B9BD4"/>
                      </a:solidFill>
                      <a:prstDash val="solid"/>
                    </a:lnL>
                    <a:lnT w="12700">
                      <a:solidFill>
                        <a:srgbClr val="5B9BD4"/>
                      </a:solidFill>
                      <a:prstDash val="solid"/>
                    </a:lnT>
                    <a:lnB w="12700">
                      <a:solidFill>
                        <a:srgbClr val="5B9B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9220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sz="3200" spc="-10" dirty="0">
                          <a:latin typeface="Calibri"/>
                          <a:cs typeface="Calibri"/>
                        </a:rPr>
                        <a:t>Kamil</a:t>
                      </a:r>
                      <a:endParaRPr sz="3200">
                        <a:latin typeface="Calibri"/>
                        <a:cs typeface="Calibri"/>
                      </a:endParaRPr>
                    </a:p>
                  </a:txBody>
                  <a:tcPr marL="0" marR="0" marT="20955" marB="0">
                    <a:lnT w="12700">
                      <a:solidFill>
                        <a:srgbClr val="5B9BD4"/>
                      </a:solidFill>
                      <a:prstDash val="solid"/>
                    </a:lnT>
                    <a:lnB w="12700">
                      <a:solidFill>
                        <a:srgbClr val="5B9B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7160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sz="3200" spc="-25" dirty="0">
                          <a:latin typeface="Calibri"/>
                          <a:cs typeface="Calibri"/>
                        </a:rPr>
                        <a:t>20</a:t>
                      </a:r>
                      <a:endParaRPr sz="3200">
                        <a:latin typeface="Calibri"/>
                        <a:cs typeface="Calibri"/>
                      </a:endParaRPr>
                    </a:p>
                  </a:txBody>
                  <a:tcPr marL="0" marR="0" marT="20955" marB="0">
                    <a:lnT w="12700">
                      <a:solidFill>
                        <a:srgbClr val="5B9BD4"/>
                      </a:solidFill>
                      <a:prstDash val="solid"/>
                    </a:lnT>
                    <a:lnB w="12700">
                      <a:solidFill>
                        <a:srgbClr val="5B9B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39725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sz="3200" spc="-25" dirty="0">
                          <a:latin typeface="Calibri"/>
                          <a:cs typeface="Calibri"/>
                        </a:rPr>
                        <a:t>CA</a:t>
                      </a:r>
                      <a:endParaRPr sz="3200">
                        <a:latin typeface="Calibri"/>
                        <a:cs typeface="Calibri"/>
                      </a:endParaRPr>
                    </a:p>
                  </a:txBody>
                  <a:tcPr marL="0" marR="0" marT="20955" marB="0">
                    <a:lnR w="12700">
                      <a:solidFill>
                        <a:srgbClr val="5B9BD4"/>
                      </a:solidFill>
                      <a:prstDash val="solid"/>
                    </a:lnR>
                    <a:lnT w="12700">
                      <a:solidFill>
                        <a:srgbClr val="5B9BD4"/>
                      </a:solidFill>
                      <a:prstDash val="solid"/>
                    </a:lnT>
                    <a:lnB w="12700">
                      <a:solidFill>
                        <a:srgbClr val="5B9BD4"/>
                      </a:solidFill>
                      <a:prstDash val="solid"/>
                    </a:lnB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sz="3200" spc="-50" dirty="0">
                          <a:latin typeface="Calibri"/>
                          <a:cs typeface="Calibri"/>
                        </a:rPr>
                        <a:t>3</a:t>
                      </a:r>
                      <a:endParaRPr sz="3200">
                        <a:latin typeface="Calibri"/>
                        <a:cs typeface="Calibri"/>
                      </a:endParaRPr>
                    </a:p>
                  </a:txBody>
                  <a:tcPr marL="0" marR="0" marT="20955" marB="0">
                    <a:lnL w="12700">
                      <a:solidFill>
                        <a:srgbClr val="5B9BD4"/>
                      </a:solidFill>
                      <a:prstDash val="solid"/>
                    </a:lnL>
                    <a:lnT w="12700">
                      <a:solidFill>
                        <a:srgbClr val="5B9BD4"/>
                      </a:solidFill>
                      <a:prstDash val="solid"/>
                    </a:lnT>
                    <a:lnB w="12700">
                      <a:solidFill>
                        <a:srgbClr val="5B9BD4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  <a:tc>
                  <a:txBody>
                    <a:bodyPr/>
                    <a:lstStyle/>
                    <a:p>
                      <a:pPr marL="109220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sz="3200" spc="-10" dirty="0">
                          <a:latin typeface="Calibri"/>
                          <a:cs typeface="Calibri"/>
                        </a:rPr>
                        <a:t>Saqib</a:t>
                      </a:r>
                      <a:endParaRPr sz="3200">
                        <a:latin typeface="Calibri"/>
                        <a:cs typeface="Calibri"/>
                      </a:endParaRPr>
                    </a:p>
                  </a:txBody>
                  <a:tcPr marL="0" marR="0" marT="20955" marB="0">
                    <a:lnT w="12700">
                      <a:solidFill>
                        <a:srgbClr val="5B9BD4"/>
                      </a:solidFill>
                      <a:prstDash val="solid"/>
                    </a:lnT>
                    <a:lnB w="12700">
                      <a:solidFill>
                        <a:srgbClr val="5B9BD4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  <a:tc>
                  <a:txBody>
                    <a:bodyPr/>
                    <a:lstStyle/>
                    <a:p>
                      <a:pPr marL="137160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sz="3200" spc="-25" dirty="0">
                          <a:latin typeface="Calibri"/>
                          <a:cs typeface="Calibri"/>
                        </a:rPr>
                        <a:t>21</a:t>
                      </a:r>
                      <a:endParaRPr sz="3200">
                        <a:latin typeface="Calibri"/>
                        <a:cs typeface="Calibri"/>
                      </a:endParaRPr>
                    </a:p>
                  </a:txBody>
                  <a:tcPr marL="0" marR="0" marT="20955" marB="0">
                    <a:lnT w="12700">
                      <a:solidFill>
                        <a:srgbClr val="5B9BD4"/>
                      </a:solidFill>
                      <a:prstDash val="solid"/>
                    </a:lnT>
                    <a:lnB w="12700">
                      <a:solidFill>
                        <a:srgbClr val="5B9BD4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  <a:tc>
                  <a:txBody>
                    <a:bodyPr/>
                    <a:lstStyle/>
                    <a:p>
                      <a:pPr marL="339725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sz="3200" spc="-25" dirty="0">
                          <a:latin typeface="Calibri"/>
                          <a:cs typeface="Calibri"/>
                        </a:rPr>
                        <a:t>BCA</a:t>
                      </a:r>
                      <a:endParaRPr sz="3200">
                        <a:latin typeface="Calibri"/>
                        <a:cs typeface="Calibri"/>
                      </a:endParaRPr>
                    </a:p>
                  </a:txBody>
                  <a:tcPr marL="0" marR="0" marT="20955" marB="0">
                    <a:lnR w="12700">
                      <a:solidFill>
                        <a:srgbClr val="5B9BD4"/>
                      </a:solidFill>
                      <a:prstDash val="solid"/>
                    </a:lnR>
                    <a:lnT w="12700">
                      <a:solidFill>
                        <a:srgbClr val="5B9BD4"/>
                      </a:solidFill>
                      <a:prstDash val="solid"/>
                    </a:lnT>
                    <a:lnB w="12700">
                      <a:solidFill>
                        <a:srgbClr val="5B9BD4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3200" spc="-50" dirty="0">
                          <a:latin typeface="Calibri"/>
                          <a:cs typeface="Calibri"/>
                        </a:rPr>
                        <a:t>4</a:t>
                      </a:r>
                      <a:endParaRPr sz="3200">
                        <a:latin typeface="Calibri"/>
                        <a:cs typeface="Calibri"/>
                      </a:endParaRPr>
                    </a:p>
                  </a:txBody>
                  <a:tcPr marL="0" marR="0" marT="21590" marB="0">
                    <a:lnL w="12700">
                      <a:solidFill>
                        <a:srgbClr val="5B9BD4"/>
                      </a:solidFill>
                      <a:prstDash val="solid"/>
                    </a:lnL>
                    <a:lnT w="12700">
                      <a:solidFill>
                        <a:srgbClr val="5B9BD4"/>
                      </a:solidFill>
                      <a:prstDash val="solid"/>
                    </a:lnT>
                    <a:lnB w="12700">
                      <a:solidFill>
                        <a:srgbClr val="5B9B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9220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3200" spc="-10" dirty="0">
                          <a:latin typeface="Calibri"/>
                          <a:cs typeface="Calibri"/>
                        </a:rPr>
                        <a:t>Kamran</a:t>
                      </a:r>
                      <a:endParaRPr sz="3200">
                        <a:latin typeface="Calibri"/>
                        <a:cs typeface="Calibri"/>
                      </a:endParaRPr>
                    </a:p>
                  </a:txBody>
                  <a:tcPr marL="0" marR="0" marT="21590" marB="0">
                    <a:lnT w="12700">
                      <a:solidFill>
                        <a:srgbClr val="5B9BD4"/>
                      </a:solidFill>
                      <a:prstDash val="solid"/>
                    </a:lnT>
                    <a:lnB w="12700">
                      <a:solidFill>
                        <a:srgbClr val="5B9B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7160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3200" spc="-25" dirty="0">
                          <a:latin typeface="Calibri"/>
                          <a:cs typeface="Calibri"/>
                        </a:rPr>
                        <a:t>22</a:t>
                      </a:r>
                      <a:endParaRPr sz="3200">
                        <a:latin typeface="Calibri"/>
                        <a:cs typeface="Calibri"/>
                      </a:endParaRPr>
                    </a:p>
                  </a:txBody>
                  <a:tcPr marL="0" marR="0" marT="21590" marB="0">
                    <a:lnT w="12700">
                      <a:solidFill>
                        <a:srgbClr val="5B9BD4"/>
                      </a:solidFill>
                      <a:prstDash val="solid"/>
                    </a:lnT>
                    <a:lnB w="12700">
                      <a:solidFill>
                        <a:srgbClr val="5B9B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39725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3200" spc="-25" dirty="0">
                          <a:latin typeface="Calibri"/>
                          <a:cs typeface="Calibri"/>
                        </a:rPr>
                        <a:t>MCA</a:t>
                      </a:r>
                      <a:endParaRPr sz="3200">
                        <a:latin typeface="Calibri"/>
                        <a:cs typeface="Calibri"/>
                      </a:endParaRPr>
                    </a:p>
                  </a:txBody>
                  <a:tcPr marL="0" marR="0" marT="21590" marB="0">
                    <a:lnR w="12700">
                      <a:solidFill>
                        <a:srgbClr val="5B9BD4"/>
                      </a:solidFill>
                      <a:prstDash val="solid"/>
                    </a:lnR>
                    <a:lnT w="12700">
                      <a:solidFill>
                        <a:srgbClr val="5B9BD4"/>
                      </a:solidFill>
                      <a:prstDash val="solid"/>
                    </a:lnT>
                    <a:lnB w="12700">
                      <a:solidFill>
                        <a:srgbClr val="5B9BD4"/>
                      </a:solidFill>
                      <a:prstDash val="solid"/>
                    </a:lnB>
                  </a:tcPr>
                </a:tc>
              </a:tr>
              <a:tr h="578485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3200" spc="-50" dirty="0">
                          <a:latin typeface="Calibri"/>
                          <a:cs typeface="Calibri"/>
                        </a:rPr>
                        <a:t>5</a:t>
                      </a:r>
                      <a:endParaRPr sz="3200">
                        <a:latin typeface="Calibri"/>
                        <a:cs typeface="Calibri"/>
                      </a:endParaRPr>
                    </a:p>
                  </a:txBody>
                  <a:tcPr marL="0" marR="0" marT="21590" marB="0">
                    <a:lnL w="12700">
                      <a:solidFill>
                        <a:srgbClr val="5B9BD4"/>
                      </a:solidFill>
                      <a:prstDash val="solid"/>
                    </a:lnL>
                    <a:lnT w="12700">
                      <a:solidFill>
                        <a:srgbClr val="5B9BD4"/>
                      </a:solidFill>
                      <a:prstDash val="solid"/>
                    </a:lnT>
                    <a:lnB w="12700">
                      <a:solidFill>
                        <a:srgbClr val="5B9BD4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  <a:tc>
                  <a:txBody>
                    <a:bodyPr/>
                    <a:lstStyle/>
                    <a:p>
                      <a:pPr marL="109220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3200" spc="-10" dirty="0">
                          <a:latin typeface="Calibri"/>
                          <a:cs typeface="Calibri"/>
                        </a:rPr>
                        <a:t>Saeed</a:t>
                      </a:r>
                      <a:endParaRPr sz="3200">
                        <a:latin typeface="Calibri"/>
                        <a:cs typeface="Calibri"/>
                      </a:endParaRPr>
                    </a:p>
                  </a:txBody>
                  <a:tcPr marL="0" marR="0" marT="21590" marB="0">
                    <a:lnT w="12700">
                      <a:solidFill>
                        <a:srgbClr val="5B9BD4"/>
                      </a:solidFill>
                      <a:prstDash val="solid"/>
                    </a:lnT>
                    <a:lnB w="12700">
                      <a:solidFill>
                        <a:srgbClr val="5B9BD4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  <a:tc>
                  <a:txBody>
                    <a:bodyPr/>
                    <a:lstStyle/>
                    <a:p>
                      <a:pPr marL="137160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3200" spc="-25" dirty="0">
                          <a:latin typeface="Calibri"/>
                          <a:cs typeface="Calibri"/>
                        </a:rPr>
                        <a:t>26</a:t>
                      </a:r>
                      <a:endParaRPr sz="3200">
                        <a:latin typeface="Calibri"/>
                        <a:cs typeface="Calibri"/>
                      </a:endParaRPr>
                    </a:p>
                  </a:txBody>
                  <a:tcPr marL="0" marR="0" marT="21590" marB="0">
                    <a:lnT w="12700">
                      <a:solidFill>
                        <a:srgbClr val="5B9BD4"/>
                      </a:solidFill>
                      <a:prstDash val="solid"/>
                    </a:lnT>
                    <a:lnB w="12700">
                      <a:solidFill>
                        <a:srgbClr val="5B9BD4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  <a:tc>
                  <a:txBody>
                    <a:bodyPr/>
                    <a:lstStyle/>
                    <a:p>
                      <a:pPr marL="339725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3200" spc="-25" dirty="0">
                          <a:latin typeface="Calibri"/>
                          <a:cs typeface="Calibri"/>
                        </a:rPr>
                        <a:t>BSC</a:t>
                      </a:r>
                      <a:endParaRPr sz="3200">
                        <a:latin typeface="Calibri"/>
                        <a:cs typeface="Calibri"/>
                      </a:endParaRPr>
                    </a:p>
                  </a:txBody>
                  <a:tcPr marL="0" marR="0" marT="21590" marB="0">
                    <a:lnR w="12700">
                      <a:solidFill>
                        <a:srgbClr val="5B9BD4"/>
                      </a:solidFill>
                      <a:prstDash val="solid"/>
                    </a:lnR>
                    <a:lnT w="12700">
                      <a:solidFill>
                        <a:srgbClr val="5B9BD4"/>
                      </a:solidFill>
                      <a:prstDash val="solid"/>
                    </a:lnT>
                    <a:lnB w="12700">
                      <a:solidFill>
                        <a:srgbClr val="5B9BD4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6095"/>
            <a:ext cx="5639435" cy="6477000"/>
            <a:chOff x="0" y="6095"/>
            <a:chExt cx="5639435" cy="6477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118872"/>
              <a:ext cx="5638829" cy="6248400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184911"/>
              <a:ext cx="5509278" cy="6121400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6095"/>
              <a:ext cx="5638800" cy="6477000"/>
            </a:xfrm>
            <a:prstGeom prst="rect">
              <a:avLst/>
            </a:prstGeom>
          </p:spPr>
        </p:pic>
      </p:grpSp>
      <p:sp>
        <p:nvSpPr>
          <p:cNvPr id="6" name="object 6"/>
          <p:cNvSpPr txBox="1"/>
          <p:nvPr/>
        </p:nvSpPr>
        <p:spPr>
          <a:xfrm>
            <a:off x="883411" y="2779852"/>
            <a:ext cx="3368675" cy="1184275"/>
          </a:xfrm>
          <a:prstGeom prst="rect">
            <a:avLst/>
          </a:prstGeom>
        </p:spPr>
        <p:txBody>
          <a:bodyPr vert="horz" wrap="square" lIns="0" tIns="81280" rIns="0" bIns="0" rtlCol="0">
            <a:spAutoFit/>
          </a:bodyPr>
          <a:lstStyle/>
          <a:p>
            <a:pPr marL="12700" marR="5080">
              <a:lnSpc>
                <a:spcPts val="4320"/>
              </a:lnSpc>
              <a:spcBef>
                <a:spcPts val="640"/>
              </a:spcBef>
            </a:pPr>
            <a:r>
              <a:rPr sz="4000" dirty="0">
                <a:latin typeface="Calibri Light"/>
                <a:cs typeface="Calibri Light"/>
              </a:rPr>
              <a:t>What</a:t>
            </a:r>
            <a:r>
              <a:rPr sz="4000" spc="-80" dirty="0">
                <a:latin typeface="Calibri Light"/>
                <a:cs typeface="Calibri Light"/>
              </a:rPr>
              <a:t> </a:t>
            </a:r>
            <a:r>
              <a:rPr sz="4000" dirty="0">
                <a:latin typeface="Calibri Light"/>
                <a:cs typeface="Calibri Light"/>
              </a:rPr>
              <a:t>is</a:t>
            </a:r>
            <a:r>
              <a:rPr sz="4000" spc="-75" dirty="0">
                <a:latin typeface="Calibri Light"/>
                <a:cs typeface="Calibri Light"/>
              </a:rPr>
              <a:t> </a:t>
            </a:r>
            <a:r>
              <a:rPr sz="4000" dirty="0">
                <a:latin typeface="Calibri Light"/>
                <a:cs typeface="Calibri Light"/>
              </a:rPr>
              <a:t>a</a:t>
            </a:r>
            <a:r>
              <a:rPr sz="4000" spc="-70" dirty="0">
                <a:latin typeface="Calibri Light"/>
                <a:cs typeface="Calibri Light"/>
              </a:rPr>
              <a:t> </a:t>
            </a:r>
            <a:r>
              <a:rPr sz="4000" dirty="0">
                <a:latin typeface="Calibri Light"/>
                <a:cs typeface="Calibri Light"/>
              </a:rPr>
              <a:t>row</a:t>
            </a:r>
            <a:r>
              <a:rPr sz="4000" spc="-90" dirty="0">
                <a:latin typeface="Calibri Light"/>
                <a:cs typeface="Calibri Light"/>
              </a:rPr>
              <a:t> </a:t>
            </a:r>
            <a:r>
              <a:rPr sz="4000" spc="-25" dirty="0">
                <a:latin typeface="Calibri Light"/>
                <a:cs typeface="Calibri Light"/>
              </a:rPr>
              <a:t>or </a:t>
            </a:r>
            <a:r>
              <a:rPr sz="4000" spc="-10" dirty="0">
                <a:latin typeface="Calibri Light"/>
                <a:cs typeface="Calibri Light"/>
              </a:rPr>
              <a:t>record?</a:t>
            </a:r>
            <a:endParaRPr sz="4000">
              <a:latin typeface="Calibri Light"/>
              <a:cs typeface="Calibri Ligh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170167" y="2005965"/>
            <a:ext cx="492633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0029" indent="-227329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240029" algn="l"/>
              </a:tabLst>
            </a:pPr>
            <a:r>
              <a:rPr sz="2400" dirty="0">
                <a:latin typeface="Calibri"/>
                <a:cs typeface="Calibri"/>
              </a:rPr>
              <a:t>A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row</a:t>
            </a:r>
            <a:r>
              <a:rPr sz="2400" b="1" i="1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table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also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called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b="1" i="1" spc="-10" dirty="0">
                <a:latin typeface="Calibri"/>
                <a:cs typeface="Calibri"/>
              </a:rPr>
              <a:t>record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6398767" y="2334844"/>
            <a:ext cx="108902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Calibri"/>
                <a:cs typeface="Calibri"/>
              </a:rPr>
              <a:t>or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b="1" i="1" spc="-10" dirty="0">
                <a:latin typeface="Calibri"/>
                <a:cs typeface="Calibri"/>
              </a:rPr>
              <a:t>tuple</a:t>
            </a:r>
            <a:r>
              <a:rPr sz="2400" spc="-10" dirty="0">
                <a:latin typeface="Calibri"/>
                <a:cs typeface="Calibri"/>
              </a:rPr>
              <a:t>.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170167" y="2792729"/>
            <a:ext cx="4998720" cy="1961514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240029" marR="141605" indent="-227329">
              <a:lnSpc>
                <a:spcPts val="2590"/>
              </a:lnSpc>
              <a:spcBef>
                <a:spcPts val="425"/>
              </a:spcBef>
              <a:buFont typeface="Arial MT"/>
              <a:buChar char="•"/>
              <a:tabLst>
                <a:tab pos="241300" algn="l"/>
              </a:tabLst>
            </a:pPr>
            <a:r>
              <a:rPr sz="2400" dirty="0">
                <a:latin typeface="Calibri"/>
                <a:cs typeface="Calibri"/>
              </a:rPr>
              <a:t>It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contains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specific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information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of 	</a:t>
            </a:r>
            <a:r>
              <a:rPr sz="2400" dirty="0">
                <a:latin typeface="Calibri"/>
                <a:cs typeface="Calibri"/>
              </a:rPr>
              <a:t>each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entry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table.</a:t>
            </a:r>
            <a:endParaRPr sz="240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spcBef>
                <a:spcPts val="675"/>
              </a:spcBef>
              <a:buFont typeface="Arial MT"/>
              <a:buChar char="•"/>
              <a:tabLst>
                <a:tab pos="240029" algn="l"/>
              </a:tabLst>
            </a:pPr>
            <a:r>
              <a:rPr sz="2400" dirty="0">
                <a:latin typeface="Calibri"/>
                <a:cs typeface="Calibri"/>
              </a:rPr>
              <a:t>It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horizontal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entity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table.</a:t>
            </a:r>
            <a:endParaRPr sz="2400">
              <a:latin typeface="Calibri"/>
              <a:cs typeface="Calibri"/>
            </a:endParaRPr>
          </a:p>
          <a:p>
            <a:pPr marL="240029" marR="5080" indent="-227329">
              <a:lnSpc>
                <a:spcPts val="2590"/>
              </a:lnSpc>
              <a:spcBef>
                <a:spcPts val="1035"/>
              </a:spcBef>
              <a:buFont typeface="Arial MT"/>
              <a:buChar char="•"/>
              <a:tabLst>
                <a:tab pos="241300" algn="l"/>
              </a:tabLst>
            </a:pPr>
            <a:r>
              <a:rPr sz="2400" dirty="0">
                <a:latin typeface="Calibri"/>
                <a:cs typeface="Calibri"/>
              </a:rPr>
              <a:t>For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example,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above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table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contains 	</a:t>
            </a:r>
            <a:r>
              <a:rPr sz="2400" dirty="0">
                <a:latin typeface="Calibri"/>
                <a:cs typeface="Calibri"/>
              </a:rPr>
              <a:t>5</a:t>
            </a:r>
            <a:r>
              <a:rPr sz="2400" spc="-10" dirty="0">
                <a:latin typeface="Calibri"/>
                <a:cs typeface="Calibri"/>
              </a:rPr>
              <a:t> records.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18819" y="3086480"/>
            <a:ext cx="360362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dirty="0">
                <a:latin typeface="Calibri Light"/>
                <a:cs typeface="Calibri Light"/>
              </a:rPr>
              <a:t>Properties</a:t>
            </a:r>
            <a:r>
              <a:rPr sz="3600" spc="-65" dirty="0">
                <a:latin typeface="Calibri Light"/>
                <a:cs typeface="Calibri Light"/>
              </a:rPr>
              <a:t> </a:t>
            </a:r>
            <a:r>
              <a:rPr sz="3600" dirty="0">
                <a:latin typeface="Calibri Light"/>
                <a:cs typeface="Calibri Light"/>
              </a:rPr>
              <a:t>of</a:t>
            </a:r>
            <a:r>
              <a:rPr sz="3600" spc="-65" dirty="0">
                <a:latin typeface="Calibri Light"/>
                <a:cs typeface="Calibri Light"/>
              </a:rPr>
              <a:t> </a:t>
            </a:r>
            <a:r>
              <a:rPr sz="3600" dirty="0">
                <a:latin typeface="Calibri Light"/>
                <a:cs typeface="Calibri Light"/>
              </a:rPr>
              <a:t>a</a:t>
            </a:r>
            <a:r>
              <a:rPr sz="3600" spc="-70" dirty="0">
                <a:latin typeface="Calibri Light"/>
                <a:cs typeface="Calibri Light"/>
              </a:rPr>
              <a:t> </a:t>
            </a:r>
            <a:r>
              <a:rPr sz="3600" spc="-25" dirty="0">
                <a:latin typeface="Calibri Light"/>
                <a:cs typeface="Calibri Light"/>
              </a:rPr>
              <a:t>Row</a:t>
            </a:r>
            <a:endParaRPr sz="3600">
              <a:latin typeface="Calibri Light"/>
              <a:cs typeface="Calibri Light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6172200" y="807719"/>
            <a:ext cx="5221605" cy="0"/>
          </a:xfrm>
          <a:custGeom>
            <a:avLst/>
            <a:gdLst/>
            <a:ahLst/>
            <a:cxnLst/>
            <a:rect l="l" t="t" r="r" b="b"/>
            <a:pathLst>
              <a:path w="5221605">
                <a:moveTo>
                  <a:pt x="0" y="0"/>
                </a:moveTo>
                <a:lnTo>
                  <a:pt x="5221224" y="0"/>
                </a:lnTo>
              </a:path>
            </a:pathLst>
          </a:custGeom>
          <a:ln w="12700">
            <a:solidFill>
              <a:srgbClr val="5B9BD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6263132" y="839851"/>
            <a:ext cx="4961255" cy="813435"/>
          </a:xfrm>
          <a:prstGeom prst="rect">
            <a:avLst/>
          </a:prstGeom>
        </p:spPr>
        <p:txBody>
          <a:bodyPr vert="horz" wrap="square" lIns="0" tIns="54610" rIns="0" bIns="0" rtlCol="0">
            <a:spAutoFit/>
          </a:bodyPr>
          <a:lstStyle/>
          <a:p>
            <a:pPr marL="12700" marR="5080">
              <a:lnSpc>
                <a:spcPts val="2960"/>
              </a:lnSpc>
              <a:spcBef>
                <a:spcPts val="430"/>
              </a:spcBef>
            </a:pPr>
            <a:r>
              <a:rPr sz="2700" b="1" i="1" dirty="0">
                <a:latin typeface="Calibri"/>
                <a:cs typeface="Calibri"/>
              </a:rPr>
              <a:t>No</a:t>
            </a:r>
            <a:r>
              <a:rPr sz="2700" b="1" i="1" spc="-60" dirty="0">
                <a:latin typeface="Calibri"/>
                <a:cs typeface="Calibri"/>
              </a:rPr>
              <a:t> </a:t>
            </a:r>
            <a:r>
              <a:rPr sz="2700" b="1" i="1" dirty="0">
                <a:latin typeface="Calibri"/>
                <a:cs typeface="Calibri"/>
              </a:rPr>
              <a:t>two</a:t>
            </a:r>
            <a:r>
              <a:rPr sz="2700" b="1" i="1" spc="-60" dirty="0">
                <a:latin typeface="Calibri"/>
                <a:cs typeface="Calibri"/>
              </a:rPr>
              <a:t> </a:t>
            </a:r>
            <a:r>
              <a:rPr sz="2700" b="1" i="1" dirty="0">
                <a:latin typeface="Calibri"/>
                <a:cs typeface="Calibri"/>
              </a:rPr>
              <a:t>tuples</a:t>
            </a:r>
            <a:r>
              <a:rPr sz="2700" b="1" i="1" spc="-55" dirty="0">
                <a:latin typeface="Calibri"/>
                <a:cs typeface="Calibri"/>
              </a:rPr>
              <a:t> </a:t>
            </a:r>
            <a:r>
              <a:rPr sz="2700" b="1" i="1" dirty="0">
                <a:latin typeface="Calibri"/>
                <a:cs typeface="Calibri"/>
              </a:rPr>
              <a:t>are</a:t>
            </a:r>
            <a:r>
              <a:rPr sz="2700" b="1" i="1" spc="-55" dirty="0">
                <a:latin typeface="Calibri"/>
                <a:cs typeface="Calibri"/>
              </a:rPr>
              <a:t> </a:t>
            </a:r>
            <a:r>
              <a:rPr sz="2700" b="1" i="1" dirty="0">
                <a:latin typeface="Calibri"/>
                <a:cs typeface="Calibri"/>
              </a:rPr>
              <a:t>identical</a:t>
            </a:r>
            <a:r>
              <a:rPr sz="2700" b="1" i="1" spc="-40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to</a:t>
            </a:r>
            <a:r>
              <a:rPr sz="2700" spc="-55" dirty="0">
                <a:latin typeface="Calibri"/>
                <a:cs typeface="Calibri"/>
              </a:rPr>
              <a:t> </a:t>
            </a:r>
            <a:r>
              <a:rPr sz="2700" spc="-20" dirty="0">
                <a:latin typeface="Calibri"/>
                <a:cs typeface="Calibri"/>
              </a:rPr>
              <a:t>each </a:t>
            </a:r>
            <a:r>
              <a:rPr sz="2700" dirty="0">
                <a:latin typeface="Calibri"/>
                <a:cs typeface="Calibri"/>
              </a:rPr>
              <a:t>other</a:t>
            </a:r>
            <a:r>
              <a:rPr sz="2700" spc="-10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in</a:t>
            </a:r>
            <a:r>
              <a:rPr sz="2700" spc="-20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all</a:t>
            </a:r>
            <a:r>
              <a:rPr sz="2700" spc="-10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their</a:t>
            </a:r>
            <a:r>
              <a:rPr sz="2700" spc="-10" dirty="0">
                <a:latin typeface="Calibri"/>
                <a:cs typeface="Calibri"/>
              </a:rPr>
              <a:t> entries.</a:t>
            </a:r>
            <a:endParaRPr sz="2700">
              <a:latin typeface="Calibri"/>
              <a:cs typeface="Calibri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6172200" y="2549651"/>
            <a:ext cx="5221605" cy="0"/>
          </a:xfrm>
          <a:custGeom>
            <a:avLst/>
            <a:gdLst/>
            <a:ahLst/>
            <a:cxnLst/>
            <a:rect l="l" t="t" r="r" b="b"/>
            <a:pathLst>
              <a:path w="5221605">
                <a:moveTo>
                  <a:pt x="0" y="0"/>
                </a:moveTo>
                <a:lnTo>
                  <a:pt x="5221224" y="0"/>
                </a:lnTo>
              </a:path>
            </a:pathLst>
          </a:custGeom>
          <a:ln w="12700">
            <a:solidFill>
              <a:srgbClr val="4DC58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6263132" y="2582036"/>
            <a:ext cx="5015865" cy="1189990"/>
          </a:xfrm>
          <a:prstGeom prst="rect">
            <a:avLst/>
          </a:prstGeom>
        </p:spPr>
        <p:txBody>
          <a:bodyPr vert="horz" wrap="square" lIns="0" tIns="54610" rIns="0" bIns="0" rtlCol="0">
            <a:spAutoFit/>
          </a:bodyPr>
          <a:lstStyle/>
          <a:p>
            <a:pPr marL="12700" marR="5080">
              <a:lnSpc>
                <a:spcPts val="2960"/>
              </a:lnSpc>
              <a:spcBef>
                <a:spcPts val="430"/>
              </a:spcBef>
            </a:pPr>
            <a:r>
              <a:rPr sz="2700" dirty="0">
                <a:latin typeface="Calibri"/>
                <a:cs typeface="Calibri"/>
              </a:rPr>
              <a:t>All</a:t>
            </a:r>
            <a:r>
              <a:rPr sz="2700" spc="-4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tuples</a:t>
            </a:r>
            <a:r>
              <a:rPr sz="2700" spc="-3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of</a:t>
            </a:r>
            <a:r>
              <a:rPr sz="2700" spc="-4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the</a:t>
            </a:r>
            <a:r>
              <a:rPr sz="2700" spc="-40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relation</a:t>
            </a:r>
            <a:r>
              <a:rPr sz="2700" spc="-50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have</a:t>
            </a:r>
            <a:r>
              <a:rPr sz="2700" spc="-50" dirty="0">
                <a:latin typeface="Calibri"/>
                <a:cs typeface="Calibri"/>
              </a:rPr>
              <a:t> </a:t>
            </a:r>
            <a:r>
              <a:rPr sz="2700" spc="-25" dirty="0">
                <a:latin typeface="Calibri"/>
                <a:cs typeface="Calibri"/>
              </a:rPr>
              <a:t>the </a:t>
            </a:r>
            <a:r>
              <a:rPr sz="2700" b="1" i="1" dirty="0">
                <a:latin typeface="Calibri"/>
                <a:cs typeface="Calibri"/>
              </a:rPr>
              <a:t>same</a:t>
            </a:r>
            <a:r>
              <a:rPr sz="2700" b="1" i="1" spc="-60" dirty="0">
                <a:latin typeface="Calibri"/>
                <a:cs typeface="Calibri"/>
              </a:rPr>
              <a:t> </a:t>
            </a:r>
            <a:r>
              <a:rPr sz="2700" b="1" i="1" dirty="0">
                <a:latin typeface="Calibri"/>
                <a:cs typeface="Calibri"/>
              </a:rPr>
              <a:t>format</a:t>
            </a:r>
            <a:r>
              <a:rPr sz="2700" b="1" i="1" spc="-40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and</a:t>
            </a:r>
            <a:r>
              <a:rPr sz="2700" spc="-60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the</a:t>
            </a:r>
            <a:r>
              <a:rPr sz="2700" spc="-55" dirty="0">
                <a:latin typeface="Calibri"/>
                <a:cs typeface="Calibri"/>
              </a:rPr>
              <a:t> </a:t>
            </a:r>
            <a:r>
              <a:rPr sz="2700" b="1" i="1" dirty="0">
                <a:latin typeface="Calibri"/>
                <a:cs typeface="Calibri"/>
              </a:rPr>
              <a:t>same</a:t>
            </a:r>
            <a:r>
              <a:rPr sz="2700" b="1" i="1" spc="-55" dirty="0">
                <a:latin typeface="Calibri"/>
                <a:cs typeface="Calibri"/>
              </a:rPr>
              <a:t> </a:t>
            </a:r>
            <a:r>
              <a:rPr sz="2700" b="1" i="1" spc="-10" dirty="0">
                <a:latin typeface="Calibri"/>
                <a:cs typeface="Calibri"/>
              </a:rPr>
              <a:t>number </a:t>
            </a:r>
            <a:r>
              <a:rPr sz="2700" b="1" i="1" dirty="0">
                <a:latin typeface="Calibri"/>
                <a:cs typeface="Calibri"/>
              </a:rPr>
              <a:t>of</a:t>
            </a:r>
            <a:r>
              <a:rPr sz="2700" b="1" i="1" spc="-10" dirty="0">
                <a:latin typeface="Calibri"/>
                <a:cs typeface="Calibri"/>
              </a:rPr>
              <a:t> entries</a:t>
            </a:r>
            <a:r>
              <a:rPr sz="2700" spc="-10" dirty="0">
                <a:latin typeface="Calibri"/>
                <a:cs typeface="Calibri"/>
              </a:rPr>
              <a:t>.</a:t>
            </a:r>
            <a:endParaRPr sz="2700">
              <a:latin typeface="Calibri"/>
              <a:cs typeface="Calibri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6172200" y="4290059"/>
            <a:ext cx="5221605" cy="0"/>
          </a:xfrm>
          <a:custGeom>
            <a:avLst/>
            <a:gdLst/>
            <a:ahLst/>
            <a:cxnLst/>
            <a:rect l="l" t="t" r="r" b="b"/>
            <a:pathLst>
              <a:path w="5221605">
                <a:moveTo>
                  <a:pt x="0" y="0"/>
                </a:moveTo>
                <a:lnTo>
                  <a:pt x="5221224" y="0"/>
                </a:lnTo>
              </a:path>
            </a:pathLst>
          </a:custGeom>
          <a:ln w="12700">
            <a:solidFill>
              <a:srgbClr val="6FAC4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6263132" y="4324350"/>
            <a:ext cx="4934585" cy="1189990"/>
          </a:xfrm>
          <a:prstGeom prst="rect">
            <a:avLst/>
          </a:prstGeom>
        </p:spPr>
        <p:txBody>
          <a:bodyPr vert="horz" wrap="square" lIns="0" tIns="54610" rIns="0" bIns="0" rtlCol="0">
            <a:spAutoFit/>
          </a:bodyPr>
          <a:lstStyle/>
          <a:p>
            <a:pPr marL="12700" marR="5080">
              <a:lnSpc>
                <a:spcPts val="2960"/>
              </a:lnSpc>
              <a:spcBef>
                <a:spcPts val="430"/>
              </a:spcBef>
            </a:pPr>
            <a:r>
              <a:rPr sz="2700" dirty="0">
                <a:latin typeface="Calibri"/>
                <a:cs typeface="Calibri"/>
              </a:rPr>
              <a:t>The</a:t>
            </a:r>
            <a:r>
              <a:rPr sz="2700" spc="-1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order</a:t>
            </a:r>
            <a:r>
              <a:rPr sz="2700" spc="-2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of</a:t>
            </a:r>
            <a:r>
              <a:rPr sz="2700" spc="-20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the</a:t>
            </a:r>
            <a:r>
              <a:rPr sz="2700" spc="-1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tuple</a:t>
            </a:r>
            <a:r>
              <a:rPr sz="2700" spc="-1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is</a:t>
            </a:r>
            <a:r>
              <a:rPr sz="2700" spc="-15" dirty="0">
                <a:latin typeface="Calibri"/>
                <a:cs typeface="Calibri"/>
              </a:rPr>
              <a:t> </a:t>
            </a:r>
            <a:r>
              <a:rPr sz="2700" b="1" i="1" spc="-10" dirty="0">
                <a:latin typeface="Calibri"/>
                <a:cs typeface="Calibri"/>
              </a:rPr>
              <a:t>irrelevant</a:t>
            </a:r>
            <a:r>
              <a:rPr sz="2700" spc="-10" dirty="0">
                <a:latin typeface="Calibri"/>
                <a:cs typeface="Calibri"/>
              </a:rPr>
              <a:t>. </a:t>
            </a:r>
            <a:r>
              <a:rPr sz="2700" dirty="0">
                <a:latin typeface="Calibri"/>
                <a:cs typeface="Calibri"/>
              </a:rPr>
              <a:t>They</a:t>
            </a:r>
            <a:r>
              <a:rPr sz="2700" spc="-4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are</a:t>
            </a:r>
            <a:r>
              <a:rPr sz="2700" spc="-40" dirty="0">
                <a:latin typeface="Calibri"/>
                <a:cs typeface="Calibri"/>
              </a:rPr>
              <a:t> </a:t>
            </a:r>
            <a:r>
              <a:rPr sz="2700" b="1" i="1" dirty="0">
                <a:latin typeface="Calibri"/>
                <a:cs typeface="Calibri"/>
              </a:rPr>
              <a:t>identified</a:t>
            </a:r>
            <a:r>
              <a:rPr sz="2700" b="1" i="1" spc="-35" dirty="0">
                <a:latin typeface="Calibri"/>
                <a:cs typeface="Calibri"/>
              </a:rPr>
              <a:t> </a:t>
            </a:r>
            <a:r>
              <a:rPr sz="2700" b="1" i="1" dirty="0">
                <a:latin typeface="Calibri"/>
                <a:cs typeface="Calibri"/>
              </a:rPr>
              <a:t>by</a:t>
            </a:r>
            <a:r>
              <a:rPr sz="2700" b="1" i="1" spc="-45" dirty="0">
                <a:latin typeface="Calibri"/>
                <a:cs typeface="Calibri"/>
              </a:rPr>
              <a:t> </a:t>
            </a:r>
            <a:r>
              <a:rPr sz="2700" b="1" i="1" spc="-10" dirty="0">
                <a:latin typeface="Calibri"/>
                <a:cs typeface="Calibri"/>
              </a:rPr>
              <a:t>their content</a:t>
            </a:r>
            <a:r>
              <a:rPr sz="2700" spc="-10" dirty="0">
                <a:latin typeface="Calibri"/>
                <a:cs typeface="Calibri"/>
              </a:rPr>
              <a:t>,</a:t>
            </a:r>
            <a:r>
              <a:rPr sz="2700" spc="-50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not</a:t>
            </a:r>
            <a:r>
              <a:rPr sz="2700" spc="-3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by</a:t>
            </a:r>
            <a:r>
              <a:rPr sz="2700" spc="-2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their</a:t>
            </a:r>
            <a:r>
              <a:rPr sz="2700" spc="-25" dirty="0">
                <a:latin typeface="Calibri"/>
                <a:cs typeface="Calibri"/>
              </a:rPr>
              <a:t> </a:t>
            </a:r>
            <a:r>
              <a:rPr sz="2700" spc="-10" dirty="0">
                <a:latin typeface="Calibri"/>
                <a:cs typeface="Calibri"/>
              </a:rPr>
              <a:t>position.</a:t>
            </a:r>
            <a:endParaRPr sz="27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74295" rIns="0" bIns="0" rtlCol="0">
            <a:spAutoFit/>
          </a:bodyPr>
          <a:lstStyle/>
          <a:p>
            <a:pPr marL="12700" marR="5080">
              <a:lnSpc>
                <a:spcPts val="3890"/>
              </a:lnSpc>
              <a:spcBef>
                <a:spcPts val="585"/>
              </a:spcBef>
            </a:pPr>
            <a:r>
              <a:rPr dirty="0"/>
              <a:t>One</a:t>
            </a:r>
            <a:r>
              <a:rPr spc="-85" dirty="0"/>
              <a:t> </a:t>
            </a:r>
            <a:r>
              <a:rPr spc="-10" dirty="0"/>
              <a:t>record/</a:t>
            </a:r>
            <a:r>
              <a:rPr spc="-100" dirty="0"/>
              <a:t> </a:t>
            </a:r>
            <a:r>
              <a:rPr dirty="0"/>
              <a:t>row</a:t>
            </a:r>
            <a:r>
              <a:rPr spc="-80" dirty="0"/>
              <a:t> </a:t>
            </a:r>
            <a:r>
              <a:rPr spc="-25" dirty="0"/>
              <a:t>in </a:t>
            </a:r>
            <a:r>
              <a:rPr dirty="0"/>
              <a:t>the</a:t>
            </a:r>
            <a:r>
              <a:rPr spc="-65" dirty="0"/>
              <a:t> </a:t>
            </a:r>
            <a:r>
              <a:rPr spc="-10" dirty="0"/>
              <a:t>table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6082665" y="1858772"/>
          <a:ext cx="5237480" cy="347916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65785"/>
                <a:gridCol w="1515110"/>
                <a:gridCol w="1177925"/>
                <a:gridCol w="1890395"/>
              </a:tblGrid>
              <a:tr h="591185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3200" b="1" spc="-2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ID</a:t>
                      </a:r>
                      <a:endParaRPr sz="3200">
                        <a:latin typeface="Calibri"/>
                        <a:cs typeface="Calibri"/>
                      </a:endParaRPr>
                    </a:p>
                  </a:txBody>
                  <a:tcPr marL="0" marR="0" marT="27305" marB="0">
                    <a:lnL w="12700">
                      <a:solidFill>
                        <a:srgbClr val="5B9BD4"/>
                      </a:solidFill>
                      <a:prstDash val="solid"/>
                    </a:lnL>
                    <a:solidFill>
                      <a:srgbClr val="5B9BD4"/>
                    </a:solidFill>
                  </a:tcPr>
                </a:tc>
                <a:tc>
                  <a:txBody>
                    <a:bodyPr/>
                    <a:lstStyle/>
                    <a:p>
                      <a:pPr marL="109220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3200" b="1" spc="-2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NAME</a:t>
                      </a:r>
                      <a:endParaRPr sz="3200">
                        <a:latin typeface="Calibri"/>
                        <a:cs typeface="Calibri"/>
                      </a:endParaRPr>
                    </a:p>
                  </a:txBody>
                  <a:tcPr marL="0" marR="0" marT="27305" marB="0">
                    <a:solidFill>
                      <a:srgbClr val="5B9BD4"/>
                    </a:solidFill>
                  </a:tcPr>
                </a:tc>
                <a:tc>
                  <a:txBody>
                    <a:bodyPr/>
                    <a:lstStyle/>
                    <a:p>
                      <a:pPr marL="137160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3200" b="1" spc="-2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AGE</a:t>
                      </a:r>
                      <a:endParaRPr sz="3200">
                        <a:latin typeface="Calibri"/>
                        <a:cs typeface="Calibri"/>
                      </a:endParaRPr>
                    </a:p>
                  </a:txBody>
                  <a:tcPr marL="0" marR="0" marT="27305" marB="0">
                    <a:solidFill>
                      <a:srgbClr val="5B9BD4"/>
                    </a:solidFill>
                  </a:tcPr>
                </a:tc>
                <a:tc>
                  <a:txBody>
                    <a:bodyPr/>
                    <a:lstStyle/>
                    <a:p>
                      <a:pPr marL="339725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32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COURSE</a:t>
                      </a:r>
                      <a:endParaRPr sz="3200">
                        <a:latin typeface="Calibri"/>
                        <a:cs typeface="Calibri"/>
                      </a:endParaRPr>
                    </a:p>
                  </a:txBody>
                  <a:tcPr marL="0" marR="0" marT="27305" marB="0">
                    <a:lnR w="12700">
                      <a:solidFill>
                        <a:srgbClr val="5B9BD4"/>
                      </a:solidFill>
                      <a:prstDash val="solid"/>
                    </a:lnR>
                    <a:solidFill>
                      <a:srgbClr val="5B9BD4"/>
                    </a:solidFill>
                  </a:tcPr>
                </a:tc>
              </a:tr>
              <a:tr h="572770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115"/>
                        </a:spcBef>
                      </a:pPr>
                      <a:r>
                        <a:rPr sz="3200" spc="-50" dirty="0">
                          <a:latin typeface="Calibri"/>
                          <a:cs typeface="Calibri"/>
                        </a:rPr>
                        <a:t>1</a:t>
                      </a:r>
                      <a:endParaRPr sz="3200">
                        <a:latin typeface="Calibri"/>
                        <a:cs typeface="Calibri"/>
                      </a:endParaRPr>
                    </a:p>
                  </a:txBody>
                  <a:tcPr marL="0" marR="0" marT="14605" marB="0">
                    <a:lnL w="12700">
                      <a:solidFill>
                        <a:srgbClr val="5B9BD4"/>
                      </a:solidFill>
                      <a:prstDash val="solid"/>
                    </a:lnL>
                    <a:lnB w="12700">
                      <a:solidFill>
                        <a:srgbClr val="5B9BD4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  <a:tc>
                  <a:txBody>
                    <a:bodyPr/>
                    <a:lstStyle/>
                    <a:p>
                      <a:pPr marL="109220">
                        <a:lnSpc>
                          <a:spcPct val="100000"/>
                        </a:lnSpc>
                        <a:spcBef>
                          <a:spcPts val="115"/>
                        </a:spcBef>
                      </a:pPr>
                      <a:r>
                        <a:rPr sz="3200" spc="-10" dirty="0">
                          <a:latin typeface="Calibri"/>
                          <a:cs typeface="Calibri"/>
                        </a:rPr>
                        <a:t>Ayyaz</a:t>
                      </a:r>
                      <a:endParaRPr sz="3200">
                        <a:latin typeface="Calibri"/>
                        <a:cs typeface="Calibri"/>
                      </a:endParaRPr>
                    </a:p>
                  </a:txBody>
                  <a:tcPr marL="0" marR="0" marT="14605" marB="0">
                    <a:lnB w="12700">
                      <a:solidFill>
                        <a:srgbClr val="5B9BD4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  <a:tc>
                  <a:txBody>
                    <a:bodyPr/>
                    <a:lstStyle/>
                    <a:p>
                      <a:pPr marL="137160">
                        <a:lnSpc>
                          <a:spcPct val="100000"/>
                        </a:lnSpc>
                        <a:spcBef>
                          <a:spcPts val="115"/>
                        </a:spcBef>
                      </a:pPr>
                      <a:r>
                        <a:rPr sz="3200" spc="-25" dirty="0">
                          <a:latin typeface="Calibri"/>
                          <a:cs typeface="Calibri"/>
                        </a:rPr>
                        <a:t>24</a:t>
                      </a:r>
                      <a:endParaRPr sz="3200">
                        <a:latin typeface="Calibri"/>
                        <a:cs typeface="Calibri"/>
                      </a:endParaRPr>
                    </a:p>
                  </a:txBody>
                  <a:tcPr marL="0" marR="0" marT="14605" marB="0">
                    <a:lnB w="12700">
                      <a:solidFill>
                        <a:srgbClr val="5B9BD4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  <a:tc>
                  <a:txBody>
                    <a:bodyPr/>
                    <a:lstStyle/>
                    <a:p>
                      <a:pPr marL="339725">
                        <a:lnSpc>
                          <a:spcPct val="100000"/>
                        </a:lnSpc>
                        <a:spcBef>
                          <a:spcPts val="115"/>
                        </a:spcBef>
                      </a:pPr>
                      <a:r>
                        <a:rPr sz="3200" dirty="0">
                          <a:latin typeface="Calibri"/>
                          <a:cs typeface="Calibri"/>
                        </a:rPr>
                        <a:t>B.</a:t>
                      </a:r>
                      <a:r>
                        <a:rPr sz="32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3200" spc="-20" dirty="0">
                          <a:latin typeface="Calibri"/>
                          <a:cs typeface="Calibri"/>
                        </a:rPr>
                        <a:t>Tech</a:t>
                      </a:r>
                      <a:endParaRPr sz="3200">
                        <a:latin typeface="Calibri"/>
                        <a:cs typeface="Calibri"/>
                      </a:endParaRPr>
                    </a:p>
                  </a:txBody>
                  <a:tcPr marL="0" marR="0" marT="14605" marB="0">
                    <a:lnR w="12700">
                      <a:solidFill>
                        <a:srgbClr val="5B9BD4"/>
                      </a:solidFill>
                      <a:prstDash val="solid"/>
                    </a:lnR>
                    <a:lnB w="12700">
                      <a:solidFill>
                        <a:srgbClr val="5B9BD4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</a:tr>
              <a:tr h="578485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sz="3200" spc="-50" dirty="0">
                          <a:latin typeface="Calibri"/>
                          <a:cs typeface="Calibri"/>
                        </a:rPr>
                        <a:t>2</a:t>
                      </a:r>
                      <a:endParaRPr sz="3200">
                        <a:latin typeface="Calibri"/>
                        <a:cs typeface="Calibri"/>
                      </a:endParaRPr>
                    </a:p>
                  </a:txBody>
                  <a:tcPr marL="0" marR="0" marT="20955" marB="0">
                    <a:lnL w="12700">
                      <a:solidFill>
                        <a:srgbClr val="5B9BD4"/>
                      </a:solidFill>
                      <a:prstDash val="solid"/>
                    </a:lnL>
                    <a:lnT w="12700">
                      <a:solidFill>
                        <a:srgbClr val="5B9BD4"/>
                      </a:solidFill>
                      <a:prstDash val="solid"/>
                    </a:lnT>
                    <a:lnB w="12700">
                      <a:solidFill>
                        <a:srgbClr val="5B9B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9220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sz="3200" spc="-10" dirty="0">
                          <a:latin typeface="Calibri"/>
                          <a:cs typeface="Calibri"/>
                        </a:rPr>
                        <a:t>Kamil</a:t>
                      </a:r>
                      <a:endParaRPr sz="3200">
                        <a:latin typeface="Calibri"/>
                        <a:cs typeface="Calibri"/>
                      </a:endParaRPr>
                    </a:p>
                  </a:txBody>
                  <a:tcPr marL="0" marR="0" marT="20955" marB="0">
                    <a:lnT w="12700">
                      <a:solidFill>
                        <a:srgbClr val="5B9BD4"/>
                      </a:solidFill>
                      <a:prstDash val="solid"/>
                    </a:lnT>
                    <a:lnB w="12700">
                      <a:solidFill>
                        <a:srgbClr val="5B9B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7160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sz="3200" spc="-25" dirty="0">
                          <a:latin typeface="Calibri"/>
                          <a:cs typeface="Calibri"/>
                        </a:rPr>
                        <a:t>20</a:t>
                      </a:r>
                      <a:endParaRPr sz="3200">
                        <a:latin typeface="Calibri"/>
                        <a:cs typeface="Calibri"/>
                      </a:endParaRPr>
                    </a:p>
                  </a:txBody>
                  <a:tcPr marL="0" marR="0" marT="20955" marB="0">
                    <a:lnT w="12700">
                      <a:solidFill>
                        <a:srgbClr val="5B9BD4"/>
                      </a:solidFill>
                      <a:prstDash val="solid"/>
                    </a:lnT>
                    <a:lnB w="12700">
                      <a:solidFill>
                        <a:srgbClr val="5B9B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39725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sz="3200" spc="-25" dirty="0">
                          <a:latin typeface="Calibri"/>
                          <a:cs typeface="Calibri"/>
                        </a:rPr>
                        <a:t>CA</a:t>
                      </a:r>
                      <a:endParaRPr sz="3200">
                        <a:latin typeface="Calibri"/>
                        <a:cs typeface="Calibri"/>
                      </a:endParaRPr>
                    </a:p>
                  </a:txBody>
                  <a:tcPr marL="0" marR="0" marT="20955" marB="0">
                    <a:lnR w="12700">
                      <a:solidFill>
                        <a:srgbClr val="5B9BD4"/>
                      </a:solidFill>
                      <a:prstDash val="solid"/>
                    </a:lnR>
                    <a:lnT w="12700">
                      <a:solidFill>
                        <a:srgbClr val="5B9BD4"/>
                      </a:solidFill>
                      <a:prstDash val="solid"/>
                    </a:lnT>
                    <a:lnB w="12700">
                      <a:solidFill>
                        <a:srgbClr val="5B9BD4"/>
                      </a:solidFill>
                      <a:prstDash val="solid"/>
                    </a:lnB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sz="3200" spc="-50" dirty="0">
                          <a:latin typeface="Calibri"/>
                          <a:cs typeface="Calibri"/>
                        </a:rPr>
                        <a:t>3</a:t>
                      </a:r>
                      <a:endParaRPr sz="3200">
                        <a:latin typeface="Calibri"/>
                        <a:cs typeface="Calibri"/>
                      </a:endParaRPr>
                    </a:p>
                  </a:txBody>
                  <a:tcPr marL="0" marR="0" marT="20955" marB="0">
                    <a:lnL w="12700">
                      <a:solidFill>
                        <a:srgbClr val="5B9BD4"/>
                      </a:solidFill>
                      <a:prstDash val="solid"/>
                    </a:lnL>
                    <a:lnT w="12700">
                      <a:solidFill>
                        <a:srgbClr val="5B9BD4"/>
                      </a:solidFill>
                      <a:prstDash val="solid"/>
                    </a:lnT>
                    <a:lnB w="12700">
                      <a:solidFill>
                        <a:srgbClr val="5B9BD4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  <a:tc>
                  <a:txBody>
                    <a:bodyPr/>
                    <a:lstStyle/>
                    <a:p>
                      <a:pPr marL="109220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sz="3200" spc="-10" dirty="0">
                          <a:latin typeface="Calibri"/>
                          <a:cs typeface="Calibri"/>
                        </a:rPr>
                        <a:t>Saqib</a:t>
                      </a:r>
                      <a:endParaRPr sz="3200">
                        <a:latin typeface="Calibri"/>
                        <a:cs typeface="Calibri"/>
                      </a:endParaRPr>
                    </a:p>
                  </a:txBody>
                  <a:tcPr marL="0" marR="0" marT="20955" marB="0">
                    <a:lnT w="12700">
                      <a:solidFill>
                        <a:srgbClr val="5B9BD4"/>
                      </a:solidFill>
                      <a:prstDash val="solid"/>
                    </a:lnT>
                    <a:lnB w="12700">
                      <a:solidFill>
                        <a:srgbClr val="5B9BD4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  <a:tc>
                  <a:txBody>
                    <a:bodyPr/>
                    <a:lstStyle/>
                    <a:p>
                      <a:pPr marL="137160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sz="3200" spc="-25" dirty="0">
                          <a:latin typeface="Calibri"/>
                          <a:cs typeface="Calibri"/>
                        </a:rPr>
                        <a:t>21</a:t>
                      </a:r>
                      <a:endParaRPr sz="3200">
                        <a:latin typeface="Calibri"/>
                        <a:cs typeface="Calibri"/>
                      </a:endParaRPr>
                    </a:p>
                  </a:txBody>
                  <a:tcPr marL="0" marR="0" marT="20955" marB="0">
                    <a:lnT w="12700">
                      <a:solidFill>
                        <a:srgbClr val="5B9BD4"/>
                      </a:solidFill>
                      <a:prstDash val="solid"/>
                    </a:lnT>
                    <a:lnB w="12700">
                      <a:solidFill>
                        <a:srgbClr val="5B9BD4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  <a:tc>
                  <a:txBody>
                    <a:bodyPr/>
                    <a:lstStyle/>
                    <a:p>
                      <a:pPr marL="339725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sz="3200" spc="-25" dirty="0">
                          <a:latin typeface="Calibri"/>
                          <a:cs typeface="Calibri"/>
                        </a:rPr>
                        <a:t>BCA</a:t>
                      </a:r>
                      <a:endParaRPr sz="3200">
                        <a:latin typeface="Calibri"/>
                        <a:cs typeface="Calibri"/>
                      </a:endParaRPr>
                    </a:p>
                  </a:txBody>
                  <a:tcPr marL="0" marR="0" marT="20955" marB="0">
                    <a:lnR w="12700">
                      <a:solidFill>
                        <a:srgbClr val="5B9BD4"/>
                      </a:solidFill>
                      <a:prstDash val="solid"/>
                    </a:lnR>
                    <a:lnT w="12700">
                      <a:solidFill>
                        <a:srgbClr val="5B9BD4"/>
                      </a:solidFill>
                      <a:prstDash val="solid"/>
                    </a:lnT>
                    <a:lnB w="12700">
                      <a:solidFill>
                        <a:srgbClr val="5B9BD4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3200" spc="-50" dirty="0">
                          <a:latin typeface="Calibri"/>
                          <a:cs typeface="Calibri"/>
                        </a:rPr>
                        <a:t>4</a:t>
                      </a:r>
                      <a:endParaRPr sz="3200">
                        <a:latin typeface="Calibri"/>
                        <a:cs typeface="Calibri"/>
                      </a:endParaRPr>
                    </a:p>
                  </a:txBody>
                  <a:tcPr marL="0" marR="0" marT="21590" marB="0">
                    <a:lnL w="12700">
                      <a:solidFill>
                        <a:srgbClr val="5B9BD4"/>
                      </a:solidFill>
                      <a:prstDash val="solid"/>
                    </a:lnL>
                    <a:lnT w="12700">
                      <a:solidFill>
                        <a:srgbClr val="5B9BD4"/>
                      </a:solidFill>
                      <a:prstDash val="solid"/>
                    </a:lnT>
                    <a:lnB w="12700">
                      <a:solidFill>
                        <a:srgbClr val="5B9B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9220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3200" spc="-10" dirty="0">
                          <a:latin typeface="Calibri"/>
                          <a:cs typeface="Calibri"/>
                        </a:rPr>
                        <a:t>Kamran</a:t>
                      </a:r>
                      <a:endParaRPr sz="3200">
                        <a:latin typeface="Calibri"/>
                        <a:cs typeface="Calibri"/>
                      </a:endParaRPr>
                    </a:p>
                  </a:txBody>
                  <a:tcPr marL="0" marR="0" marT="21590" marB="0">
                    <a:lnT w="12700">
                      <a:solidFill>
                        <a:srgbClr val="5B9BD4"/>
                      </a:solidFill>
                      <a:prstDash val="solid"/>
                    </a:lnT>
                    <a:lnB w="12700">
                      <a:solidFill>
                        <a:srgbClr val="5B9B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7160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3200" spc="-25" dirty="0">
                          <a:latin typeface="Calibri"/>
                          <a:cs typeface="Calibri"/>
                        </a:rPr>
                        <a:t>22</a:t>
                      </a:r>
                      <a:endParaRPr sz="3200">
                        <a:latin typeface="Calibri"/>
                        <a:cs typeface="Calibri"/>
                      </a:endParaRPr>
                    </a:p>
                  </a:txBody>
                  <a:tcPr marL="0" marR="0" marT="21590" marB="0">
                    <a:lnT w="12700">
                      <a:solidFill>
                        <a:srgbClr val="5B9BD4"/>
                      </a:solidFill>
                      <a:prstDash val="solid"/>
                    </a:lnT>
                    <a:lnB w="12700">
                      <a:solidFill>
                        <a:srgbClr val="5B9B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39725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3200" spc="-25" dirty="0">
                          <a:latin typeface="Calibri"/>
                          <a:cs typeface="Calibri"/>
                        </a:rPr>
                        <a:t>MCA</a:t>
                      </a:r>
                      <a:endParaRPr sz="3200">
                        <a:latin typeface="Calibri"/>
                        <a:cs typeface="Calibri"/>
                      </a:endParaRPr>
                    </a:p>
                  </a:txBody>
                  <a:tcPr marL="0" marR="0" marT="21590" marB="0">
                    <a:lnR w="12700">
                      <a:solidFill>
                        <a:srgbClr val="5B9BD4"/>
                      </a:solidFill>
                      <a:prstDash val="solid"/>
                    </a:lnR>
                    <a:lnT w="12700">
                      <a:solidFill>
                        <a:srgbClr val="5B9BD4"/>
                      </a:solidFill>
                      <a:prstDash val="solid"/>
                    </a:lnT>
                    <a:lnB w="12700">
                      <a:solidFill>
                        <a:srgbClr val="5B9BD4"/>
                      </a:solidFill>
                      <a:prstDash val="solid"/>
                    </a:lnB>
                  </a:tcPr>
                </a:tc>
              </a:tr>
              <a:tr h="578485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3200" spc="-50" dirty="0">
                          <a:latin typeface="Calibri"/>
                          <a:cs typeface="Calibri"/>
                        </a:rPr>
                        <a:t>5</a:t>
                      </a:r>
                      <a:endParaRPr sz="3200">
                        <a:latin typeface="Calibri"/>
                        <a:cs typeface="Calibri"/>
                      </a:endParaRPr>
                    </a:p>
                  </a:txBody>
                  <a:tcPr marL="0" marR="0" marT="21590" marB="0">
                    <a:lnL w="12700">
                      <a:solidFill>
                        <a:srgbClr val="5B9BD4"/>
                      </a:solidFill>
                      <a:prstDash val="solid"/>
                    </a:lnL>
                    <a:lnT w="12700">
                      <a:solidFill>
                        <a:srgbClr val="5B9BD4"/>
                      </a:solidFill>
                      <a:prstDash val="solid"/>
                    </a:lnT>
                    <a:lnB w="12700">
                      <a:solidFill>
                        <a:srgbClr val="5B9BD4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  <a:tc>
                  <a:txBody>
                    <a:bodyPr/>
                    <a:lstStyle/>
                    <a:p>
                      <a:pPr marL="109220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3200" spc="-10" dirty="0">
                          <a:latin typeface="Calibri"/>
                          <a:cs typeface="Calibri"/>
                        </a:rPr>
                        <a:t>Saeed</a:t>
                      </a:r>
                      <a:endParaRPr sz="3200">
                        <a:latin typeface="Calibri"/>
                        <a:cs typeface="Calibri"/>
                      </a:endParaRPr>
                    </a:p>
                  </a:txBody>
                  <a:tcPr marL="0" marR="0" marT="21590" marB="0">
                    <a:lnT w="12700">
                      <a:solidFill>
                        <a:srgbClr val="5B9BD4"/>
                      </a:solidFill>
                      <a:prstDash val="solid"/>
                    </a:lnT>
                    <a:lnB w="12700">
                      <a:solidFill>
                        <a:srgbClr val="5B9BD4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  <a:tc>
                  <a:txBody>
                    <a:bodyPr/>
                    <a:lstStyle/>
                    <a:p>
                      <a:pPr marL="137160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3200" spc="-25" dirty="0">
                          <a:latin typeface="Calibri"/>
                          <a:cs typeface="Calibri"/>
                        </a:rPr>
                        <a:t>26</a:t>
                      </a:r>
                      <a:endParaRPr sz="3200">
                        <a:latin typeface="Calibri"/>
                        <a:cs typeface="Calibri"/>
                      </a:endParaRPr>
                    </a:p>
                  </a:txBody>
                  <a:tcPr marL="0" marR="0" marT="21590" marB="0">
                    <a:lnT w="12700">
                      <a:solidFill>
                        <a:srgbClr val="5B9BD4"/>
                      </a:solidFill>
                      <a:prstDash val="solid"/>
                    </a:lnT>
                    <a:lnB w="12700">
                      <a:solidFill>
                        <a:srgbClr val="5B9BD4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  <a:tc>
                  <a:txBody>
                    <a:bodyPr/>
                    <a:lstStyle/>
                    <a:p>
                      <a:pPr marL="339725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3200" spc="-25" dirty="0">
                          <a:latin typeface="Calibri"/>
                          <a:cs typeface="Calibri"/>
                        </a:rPr>
                        <a:t>BSC</a:t>
                      </a:r>
                      <a:endParaRPr sz="3200">
                        <a:latin typeface="Calibri"/>
                        <a:cs typeface="Calibri"/>
                      </a:endParaRPr>
                    </a:p>
                  </a:txBody>
                  <a:tcPr marL="0" marR="0" marT="21590" marB="0">
                    <a:lnR w="12700">
                      <a:solidFill>
                        <a:srgbClr val="5B9BD4"/>
                      </a:solidFill>
                      <a:prstDash val="solid"/>
                    </a:lnR>
                    <a:lnT w="12700">
                      <a:solidFill>
                        <a:srgbClr val="5B9BD4"/>
                      </a:solidFill>
                      <a:prstDash val="solid"/>
                    </a:lnT>
                    <a:lnB w="12700">
                      <a:solidFill>
                        <a:srgbClr val="5B9BD4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6505955" y="77343"/>
          <a:ext cx="5230495" cy="114935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68325"/>
                <a:gridCol w="1376045"/>
                <a:gridCol w="1341755"/>
                <a:gridCol w="1856104"/>
              </a:tblGrid>
              <a:tr h="577850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2800" b="1" spc="-2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ID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28575" marB="0">
                    <a:lnL w="12700">
                      <a:solidFill>
                        <a:srgbClr val="5B9BD4"/>
                      </a:solidFill>
                      <a:prstDash val="solid"/>
                    </a:lnL>
                    <a:solidFill>
                      <a:srgbClr val="5B9BD4"/>
                    </a:solidFill>
                  </a:tcPr>
                </a:tc>
                <a:tc>
                  <a:txBody>
                    <a:bodyPr/>
                    <a:lstStyle/>
                    <a:p>
                      <a:pPr marL="158115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2800" b="1" spc="-2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NAME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28575" marB="0">
                    <a:solidFill>
                      <a:srgbClr val="5B9BD4"/>
                    </a:solidFill>
                  </a:tcPr>
                </a:tc>
                <a:tc>
                  <a:txBody>
                    <a:bodyPr/>
                    <a:lstStyle/>
                    <a:p>
                      <a:pPr marL="285115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2800" b="1" spc="-2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AGE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28575" marB="0">
                    <a:solidFill>
                      <a:srgbClr val="5B9BD4"/>
                    </a:solidFill>
                  </a:tcPr>
                </a:tc>
                <a:tc>
                  <a:txBody>
                    <a:bodyPr/>
                    <a:lstStyle/>
                    <a:p>
                      <a:pPr marL="445770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28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COURSE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28575" marB="0">
                    <a:lnR w="12700">
                      <a:solidFill>
                        <a:srgbClr val="5B9BD4"/>
                      </a:solidFill>
                      <a:prstDash val="solid"/>
                    </a:lnR>
                    <a:solidFill>
                      <a:srgbClr val="5B9BD4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sz="2800" spc="-50" dirty="0">
                          <a:latin typeface="Calibri"/>
                          <a:cs typeface="Calibri"/>
                        </a:rPr>
                        <a:t>1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22225" marB="0">
                    <a:lnL w="12700">
                      <a:solidFill>
                        <a:srgbClr val="5B9BD4"/>
                      </a:solidFill>
                      <a:prstDash val="solid"/>
                    </a:lnL>
                    <a:lnB w="12700">
                      <a:solidFill>
                        <a:srgbClr val="5B9BD4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  <a:tc>
                  <a:txBody>
                    <a:bodyPr/>
                    <a:lstStyle/>
                    <a:p>
                      <a:pPr marL="158115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sz="2800" spc="-10" dirty="0">
                          <a:latin typeface="Calibri"/>
                          <a:cs typeface="Calibri"/>
                        </a:rPr>
                        <a:t>Ayyaz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22225" marB="0">
                    <a:lnB w="12700">
                      <a:solidFill>
                        <a:srgbClr val="5B9BD4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  <a:tc>
                  <a:txBody>
                    <a:bodyPr/>
                    <a:lstStyle/>
                    <a:p>
                      <a:pPr marL="285115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sz="2800" spc="-25" dirty="0">
                          <a:latin typeface="Calibri"/>
                          <a:cs typeface="Calibri"/>
                        </a:rPr>
                        <a:t>24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22225" marB="0">
                    <a:lnB w="12700">
                      <a:solidFill>
                        <a:srgbClr val="5B9BD4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  <a:tc>
                  <a:txBody>
                    <a:bodyPr/>
                    <a:lstStyle/>
                    <a:p>
                      <a:pPr marL="445770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sz="2800" dirty="0">
                          <a:latin typeface="Calibri"/>
                          <a:cs typeface="Calibri"/>
                        </a:rPr>
                        <a:t>B.</a:t>
                      </a:r>
                      <a:r>
                        <a:rPr sz="28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800" spc="-20" dirty="0">
                          <a:latin typeface="Calibri"/>
                          <a:cs typeface="Calibri"/>
                        </a:rPr>
                        <a:t>Tech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22225" marB="0">
                    <a:lnR w="12700">
                      <a:solidFill>
                        <a:srgbClr val="5B9BD4"/>
                      </a:solidFill>
                      <a:prstDash val="solid"/>
                    </a:lnR>
                    <a:lnB w="12700">
                      <a:solidFill>
                        <a:srgbClr val="5B9BD4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</a:tr>
            </a:tbl>
          </a:graphicData>
        </a:graphic>
      </p:graphicFrame>
      <p:sp>
        <p:nvSpPr>
          <p:cNvPr id="5" name="object 5"/>
          <p:cNvSpPr/>
          <p:nvPr/>
        </p:nvSpPr>
        <p:spPr>
          <a:xfrm>
            <a:off x="6087617" y="1244346"/>
            <a:ext cx="5567680" cy="628015"/>
          </a:xfrm>
          <a:custGeom>
            <a:avLst/>
            <a:gdLst/>
            <a:ahLst/>
            <a:cxnLst/>
            <a:rect l="l" t="t" r="r" b="b"/>
            <a:pathLst>
              <a:path w="5567680" h="628014">
                <a:moveTo>
                  <a:pt x="0" y="627888"/>
                </a:moveTo>
                <a:lnTo>
                  <a:pt x="438404" y="0"/>
                </a:lnTo>
                <a:lnTo>
                  <a:pt x="5567172" y="0"/>
                </a:lnTo>
                <a:lnTo>
                  <a:pt x="5128768" y="627888"/>
                </a:lnTo>
                <a:lnTo>
                  <a:pt x="0" y="627888"/>
                </a:lnTo>
                <a:close/>
              </a:path>
            </a:pathLst>
          </a:custGeom>
          <a:ln w="19050">
            <a:solidFill>
              <a:srgbClr val="172C5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83411" y="2505836"/>
            <a:ext cx="2047239" cy="1732280"/>
          </a:xfrm>
          <a:prstGeom prst="rect">
            <a:avLst/>
          </a:prstGeom>
        </p:spPr>
        <p:txBody>
          <a:bodyPr vert="horz" wrap="square" lIns="0" tIns="73025" rIns="0" bIns="0" rtlCol="0">
            <a:spAutoFit/>
          </a:bodyPr>
          <a:lstStyle/>
          <a:p>
            <a:pPr marL="12700" marR="5080">
              <a:lnSpc>
                <a:spcPct val="90000"/>
              </a:lnSpc>
              <a:spcBef>
                <a:spcPts val="575"/>
              </a:spcBef>
            </a:pPr>
            <a:r>
              <a:rPr sz="4000" dirty="0">
                <a:latin typeface="Calibri Light"/>
                <a:cs typeface="Calibri Light"/>
              </a:rPr>
              <a:t>What</a:t>
            </a:r>
            <a:r>
              <a:rPr sz="4000" spc="-70" dirty="0">
                <a:latin typeface="Calibri Light"/>
                <a:cs typeface="Calibri Light"/>
              </a:rPr>
              <a:t> </a:t>
            </a:r>
            <a:r>
              <a:rPr sz="4000" dirty="0">
                <a:latin typeface="Calibri Light"/>
                <a:cs typeface="Calibri Light"/>
              </a:rPr>
              <a:t>is</a:t>
            </a:r>
            <a:r>
              <a:rPr sz="4000" spc="-65" dirty="0">
                <a:latin typeface="Calibri Light"/>
                <a:cs typeface="Calibri Light"/>
              </a:rPr>
              <a:t> </a:t>
            </a:r>
            <a:r>
              <a:rPr sz="4000" spc="-50" dirty="0">
                <a:latin typeface="Calibri Light"/>
                <a:cs typeface="Calibri Light"/>
              </a:rPr>
              <a:t>a </a:t>
            </a:r>
            <a:r>
              <a:rPr sz="4000" spc="-10" dirty="0">
                <a:latin typeface="Calibri Light"/>
                <a:cs typeface="Calibri Light"/>
              </a:rPr>
              <a:t>column/ </a:t>
            </a:r>
            <a:r>
              <a:rPr sz="4000" spc="-25" dirty="0">
                <a:latin typeface="Calibri Light"/>
                <a:cs typeface="Calibri Light"/>
              </a:rPr>
              <a:t>attribute?</a:t>
            </a:r>
            <a:endParaRPr sz="4000">
              <a:latin typeface="Calibri Light"/>
              <a:cs typeface="Calibri Ligh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170167" y="2133091"/>
            <a:ext cx="5134610" cy="2494915"/>
          </a:xfrm>
          <a:prstGeom prst="rect">
            <a:avLst/>
          </a:prstGeom>
        </p:spPr>
        <p:txBody>
          <a:bodyPr vert="horz" wrap="square" lIns="0" tIns="48895" rIns="0" bIns="0" rtlCol="0">
            <a:spAutoFit/>
          </a:bodyPr>
          <a:lstStyle/>
          <a:p>
            <a:pPr marL="240029" marR="5080" indent="-227329">
              <a:lnSpc>
                <a:spcPct val="90000"/>
              </a:lnSpc>
              <a:spcBef>
                <a:spcPts val="385"/>
              </a:spcBef>
              <a:buFont typeface="Arial MT"/>
              <a:buChar char="•"/>
              <a:tabLst>
                <a:tab pos="241300" algn="l"/>
              </a:tabLst>
            </a:pPr>
            <a:r>
              <a:rPr sz="2400" dirty="0">
                <a:latin typeface="Calibri"/>
                <a:cs typeface="Calibri"/>
              </a:rPr>
              <a:t>A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column</a:t>
            </a:r>
            <a:r>
              <a:rPr sz="2400" b="1" i="1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vertical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entity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table 	</a:t>
            </a:r>
            <a:r>
              <a:rPr sz="2400" dirty="0">
                <a:latin typeface="Calibri"/>
                <a:cs typeface="Calibri"/>
              </a:rPr>
              <a:t>which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contains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all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information 	</a:t>
            </a:r>
            <a:r>
              <a:rPr sz="2400" dirty="0">
                <a:latin typeface="Calibri"/>
                <a:cs typeface="Calibri"/>
              </a:rPr>
              <a:t>associated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with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specific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field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50" dirty="0">
                <a:latin typeface="Calibri"/>
                <a:cs typeface="Calibri"/>
              </a:rPr>
              <a:t>a 	</a:t>
            </a:r>
            <a:r>
              <a:rPr sz="2400" spc="-10" dirty="0">
                <a:latin typeface="Calibri"/>
                <a:cs typeface="Calibri"/>
              </a:rPr>
              <a:t>table.</a:t>
            </a:r>
            <a:endParaRPr sz="2400">
              <a:latin typeface="Calibri"/>
              <a:cs typeface="Calibri"/>
            </a:endParaRPr>
          </a:p>
          <a:p>
            <a:pPr marL="240029" marR="24130" indent="-227329">
              <a:lnSpc>
                <a:spcPct val="90100"/>
              </a:lnSpc>
              <a:spcBef>
                <a:spcPts val="1005"/>
              </a:spcBef>
              <a:buFont typeface="Arial MT"/>
              <a:buChar char="•"/>
              <a:tabLst>
                <a:tab pos="241300" algn="l"/>
              </a:tabLst>
            </a:pPr>
            <a:r>
              <a:rPr sz="2400" dirty="0">
                <a:latin typeface="Calibri"/>
                <a:cs typeface="Calibri"/>
              </a:rPr>
              <a:t>For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example,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"</a:t>
            </a:r>
            <a:r>
              <a:rPr sz="2400" b="1" dirty="0">
                <a:latin typeface="Calibri"/>
                <a:cs typeface="Calibri"/>
              </a:rPr>
              <a:t>name</a:t>
            </a:r>
            <a:r>
              <a:rPr sz="2400" dirty="0">
                <a:latin typeface="Calibri"/>
                <a:cs typeface="Calibri"/>
              </a:rPr>
              <a:t>"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column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the 	</a:t>
            </a:r>
            <a:r>
              <a:rPr sz="2400" dirty="0">
                <a:latin typeface="Calibri"/>
                <a:cs typeface="Calibri"/>
              </a:rPr>
              <a:t>above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table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which</a:t>
            </a:r>
            <a:r>
              <a:rPr sz="2400" spc="-8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contains</a:t>
            </a:r>
            <a:r>
              <a:rPr sz="2400" spc="-85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all 	</a:t>
            </a:r>
            <a:r>
              <a:rPr sz="2400" spc="-10" dirty="0">
                <a:latin typeface="Calibri"/>
                <a:cs typeface="Calibri"/>
              </a:rPr>
              <a:t>information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about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student's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name.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18819" y="2839592"/>
            <a:ext cx="2947670" cy="1068070"/>
          </a:xfrm>
          <a:prstGeom prst="rect">
            <a:avLst/>
          </a:prstGeom>
        </p:spPr>
        <p:txBody>
          <a:bodyPr vert="horz" wrap="square" lIns="0" tIns="74295" rIns="0" bIns="0" rtlCol="0">
            <a:spAutoFit/>
          </a:bodyPr>
          <a:lstStyle/>
          <a:p>
            <a:pPr marL="12700" marR="5080">
              <a:lnSpc>
                <a:spcPts val="3890"/>
              </a:lnSpc>
              <a:spcBef>
                <a:spcPts val="585"/>
              </a:spcBef>
            </a:pPr>
            <a:r>
              <a:rPr sz="3600" dirty="0">
                <a:latin typeface="Calibri Light"/>
                <a:cs typeface="Calibri Light"/>
              </a:rPr>
              <a:t>Properties</a:t>
            </a:r>
            <a:r>
              <a:rPr sz="3600" spc="-90" dirty="0">
                <a:latin typeface="Calibri Light"/>
                <a:cs typeface="Calibri Light"/>
              </a:rPr>
              <a:t> </a:t>
            </a:r>
            <a:r>
              <a:rPr sz="3600" dirty="0">
                <a:latin typeface="Calibri Light"/>
                <a:cs typeface="Calibri Light"/>
              </a:rPr>
              <a:t>of</a:t>
            </a:r>
            <a:r>
              <a:rPr sz="3600" spc="-90" dirty="0">
                <a:latin typeface="Calibri Light"/>
                <a:cs typeface="Calibri Light"/>
              </a:rPr>
              <a:t> </a:t>
            </a:r>
            <a:r>
              <a:rPr sz="3600" spc="-25" dirty="0">
                <a:latin typeface="Calibri Light"/>
                <a:cs typeface="Calibri Light"/>
              </a:rPr>
              <a:t>an </a:t>
            </a:r>
            <a:r>
              <a:rPr sz="3600" spc="-10" dirty="0">
                <a:latin typeface="Calibri Light"/>
                <a:cs typeface="Calibri Light"/>
              </a:rPr>
              <a:t>Attribute</a:t>
            </a:r>
            <a:endParaRPr sz="3600">
              <a:latin typeface="Calibri Light"/>
              <a:cs typeface="Calibri Light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6172200" y="804672"/>
            <a:ext cx="5221605" cy="0"/>
          </a:xfrm>
          <a:custGeom>
            <a:avLst/>
            <a:gdLst/>
            <a:ahLst/>
            <a:cxnLst/>
            <a:rect l="l" t="t" r="r" b="b"/>
            <a:pathLst>
              <a:path w="5221605">
                <a:moveTo>
                  <a:pt x="0" y="0"/>
                </a:moveTo>
                <a:lnTo>
                  <a:pt x="5221224" y="0"/>
                </a:lnTo>
              </a:path>
            </a:pathLst>
          </a:custGeom>
          <a:ln w="12700">
            <a:solidFill>
              <a:srgbClr val="5B9BD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6251575" y="831850"/>
            <a:ext cx="5034915" cy="726440"/>
          </a:xfrm>
          <a:prstGeom prst="rect">
            <a:avLst/>
          </a:prstGeom>
        </p:spPr>
        <p:txBody>
          <a:bodyPr vert="horz" wrap="square" lIns="0" tIns="48895" rIns="0" bIns="0" rtlCol="0">
            <a:spAutoFit/>
          </a:bodyPr>
          <a:lstStyle/>
          <a:p>
            <a:pPr marL="12700" marR="5080">
              <a:lnSpc>
                <a:spcPts val="2640"/>
              </a:lnSpc>
              <a:spcBef>
                <a:spcPts val="385"/>
              </a:spcBef>
            </a:pPr>
            <a:r>
              <a:rPr sz="2400" dirty="0">
                <a:latin typeface="Calibri"/>
                <a:cs typeface="Calibri"/>
              </a:rPr>
              <a:t>Every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attribute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relation</a:t>
            </a:r>
            <a:r>
              <a:rPr sz="2400" spc="-85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must</a:t>
            </a:r>
            <a:r>
              <a:rPr sz="2400" b="1" i="1" spc="-50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have</a:t>
            </a:r>
            <a:r>
              <a:rPr sz="2400" b="1" i="1" spc="-50" dirty="0">
                <a:latin typeface="Calibri"/>
                <a:cs typeface="Calibri"/>
              </a:rPr>
              <a:t> a </a:t>
            </a:r>
            <a:r>
              <a:rPr sz="2400" b="1" i="1" spc="-10" dirty="0">
                <a:latin typeface="Calibri"/>
                <a:cs typeface="Calibri"/>
              </a:rPr>
              <a:t>name</a:t>
            </a:r>
            <a:r>
              <a:rPr sz="2400" spc="-10" dirty="0">
                <a:latin typeface="Calibri"/>
                <a:cs typeface="Calibri"/>
              </a:rPr>
              <a:t>.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6172200" y="2112264"/>
            <a:ext cx="5221605" cy="0"/>
          </a:xfrm>
          <a:custGeom>
            <a:avLst/>
            <a:gdLst/>
            <a:ahLst/>
            <a:cxnLst/>
            <a:rect l="l" t="t" r="r" b="b"/>
            <a:pathLst>
              <a:path w="5221605">
                <a:moveTo>
                  <a:pt x="0" y="0"/>
                </a:moveTo>
                <a:lnTo>
                  <a:pt x="5221224" y="0"/>
                </a:lnTo>
              </a:path>
            </a:pathLst>
          </a:custGeom>
          <a:ln w="12700">
            <a:solidFill>
              <a:srgbClr val="52C9B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6251575" y="2139822"/>
            <a:ext cx="4132579" cy="727075"/>
          </a:xfrm>
          <a:prstGeom prst="rect">
            <a:avLst/>
          </a:prstGeom>
        </p:spPr>
        <p:txBody>
          <a:bodyPr vert="horz" wrap="square" lIns="0" tIns="48895" rIns="0" bIns="0" rtlCol="0">
            <a:spAutoFit/>
          </a:bodyPr>
          <a:lstStyle/>
          <a:p>
            <a:pPr marL="12700" marR="5080">
              <a:lnSpc>
                <a:spcPts val="2640"/>
              </a:lnSpc>
              <a:spcBef>
                <a:spcPts val="385"/>
              </a:spcBef>
            </a:pPr>
            <a:r>
              <a:rPr sz="2400" b="1" i="1" dirty="0">
                <a:latin typeface="Calibri"/>
                <a:cs typeface="Calibri"/>
              </a:rPr>
              <a:t>Null</a:t>
            </a:r>
            <a:r>
              <a:rPr sz="2400" b="1" i="1" spc="-40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values</a:t>
            </a:r>
            <a:r>
              <a:rPr sz="2400" b="1" i="1" spc="-35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are</a:t>
            </a:r>
            <a:r>
              <a:rPr sz="2400" b="1" i="1" spc="-35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permitted</a:t>
            </a:r>
            <a:r>
              <a:rPr sz="2400" b="1" i="1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for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the </a:t>
            </a:r>
            <a:r>
              <a:rPr sz="2400" spc="-10" dirty="0">
                <a:latin typeface="Calibri"/>
                <a:cs typeface="Calibri"/>
              </a:rPr>
              <a:t>attributes.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6172200" y="3419855"/>
            <a:ext cx="5221605" cy="0"/>
          </a:xfrm>
          <a:custGeom>
            <a:avLst/>
            <a:gdLst/>
            <a:ahLst/>
            <a:cxnLst/>
            <a:rect l="l" t="t" r="r" b="b"/>
            <a:pathLst>
              <a:path w="5221605">
                <a:moveTo>
                  <a:pt x="0" y="0"/>
                </a:moveTo>
                <a:lnTo>
                  <a:pt x="5221224" y="0"/>
                </a:lnTo>
              </a:path>
            </a:pathLst>
          </a:custGeom>
          <a:ln w="12700">
            <a:solidFill>
              <a:srgbClr val="48BE6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6172200" y="4727447"/>
            <a:ext cx="5221605" cy="0"/>
          </a:xfrm>
          <a:custGeom>
            <a:avLst/>
            <a:gdLst/>
            <a:ahLst/>
            <a:cxnLst/>
            <a:rect l="l" t="t" r="r" b="b"/>
            <a:pathLst>
              <a:path w="5221605">
                <a:moveTo>
                  <a:pt x="0" y="0"/>
                </a:moveTo>
                <a:lnTo>
                  <a:pt x="5221224" y="0"/>
                </a:lnTo>
              </a:path>
            </a:pathLst>
          </a:custGeom>
          <a:ln w="12700">
            <a:solidFill>
              <a:srgbClr val="6FAC4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6251575" y="3447669"/>
            <a:ext cx="4909185" cy="2034539"/>
          </a:xfrm>
          <a:prstGeom prst="rect">
            <a:avLst/>
          </a:prstGeom>
        </p:spPr>
        <p:txBody>
          <a:bodyPr vert="horz" wrap="square" lIns="0" tIns="43815" rIns="0" bIns="0" rtlCol="0">
            <a:spAutoFit/>
          </a:bodyPr>
          <a:lstStyle/>
          <a:p>
            <a:pPr marL="12700" marR="5080">
              <a:lnSpc>
                <a:spcPct val="91500"/>
              </a:lnSpc>
              <a:spcBef>
                <a:spcPts val="345"/>
              </a:spcBef>
            </a:pPr>
            <a:r>
              <a:rPr sz="2400" b="1" i="1" dirty="0">
                <a:latin typeface="Calibri"/>
                <a:cs typeface="Calibri"/>
              </a:rPr>
              <a:t>Default</a:t>
            </a:r>
            <a:r>
              <a:rPr sz="2400" b="1" i="1" spc="-60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values</a:t>
            </a:r>
            <a:r>
              <a:rPr sz="2400" b="1" i="1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can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be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specified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for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an </a:t>
            </a:r>
            <a:r>
              <a:rPr sz="2400" dirty="0">
                <a:latin typeface="Calibri"/>
                <a:cs typeface="Calibri"/>
              </a:rPr>
              <a:t>attribute</a:t>
            </a:r>
            <a:r>
              <a:rPr sz="2400" spc="-105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automatically</a:t>
            </a:r>
            <a:r>
              <a:rPr sz="2400" b="1" i="1" spc="-70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inserted</a:t>
            </a:r>
            <a:r>
              <a:rPr sz="2400" b="1" i="1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if</a:t>
            </a:r>
            <a:r>
              <a:rPr sz="2400" spc="-85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no </a:t>
            </a:r>
            <a:r>
              <a:rPr sz="2400" dirty="0">
                <a:latin typeface="Calibri"/>
                <a:cs typeface="Calibri"/>
              </a:rPr>
              <a:t>other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value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specified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for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attribute.</a:t>
            </a:r>
            <a:endParaRPr sz="2400">
              <a:latin typeface="Calibri"/>
              <a:cs typeface="Calibri"/>
            </a:endParaRPr>
          </a:p>
          <a:p>
            <a:pPr marL="12700" marR="69215">
              <a:lnSpc>
                <a:spcPts val="2640"/>
              </a:lnSpc>
              <a:spcBef>
                <a:spcPts val="2435"/>
              </a:spcBef>
            </a:pPr>
            <a:r>
              <a:rPr sz="2400" spc="-10" dirty="0">
                <a:latin typeface="Calibri"/>
                <a:cs typeface="Calibri"/>
              </a:rPr>
              <a:t>Attributes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that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uniquely</a:t>
            </a:r>
            <a:r>
              <a:rPr sz="2400" b="1" i="1" spc="-40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identify</a:t>
            </a:r>
            <a:r>
              <a:rPr sz="2400" b="1" i="1" spc="-25" dirty="0">
                <a:latin typeface="Calibri"/>
                <a:cs typeface="Calibri"/>
              </a:rPr>
              <a:t> </a:t>
            </a:r>
            <a:r>
              <a:rPr sz="2400" b="1" i="1" spc="-20" dirty="0">
                <a:latin typeface="Calibri"/>
                <a:cs typeface="Calibri"/>
              </a:rPr>
              <a:t>each </a:t>
            </a:r>
            <a:r>
              <a:rPr sz="2400" b="1" i="1" dirty="0">
                <a:latin typeface="Calibri"/>
                <a:cs typeface="Calibri"/>
              </a:rPr>
              <a:t>tuple</a:t>
            </a:r>
            <a:r>
              <a:rPr sz="2400" b="1" i="1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relation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are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primary</a:t>
            </a:r>
            <a:r>
              <a:rPr sz="2400" b="1" spc="-30" dirty="0">
                <a:latin typeface="Calibri"/>
                <a:cs typeface="Calibri"/>
              </a:rPr>
              <a:t> </a:t>
            </a:r>
            <a:r>
              <a:rPr sz="2400" b="1" spc="-20" dirty="0">
                <a:latin typeface="Calibri"/>
                <a:cs typeface="Calibri"/>
              </a:rPr>
              <a:t>key</a:t>
            </a:r>
            <a:r>
              <a:rPr sz="2400" spc="-20" dirty="0">
                <a:latin typeface="Calibri"/>
                <a:cs typeface="Calibri"/>
              </a:rPr>
              <a:t>.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74295" rIns="0" bIns="0" rtlCol="0">
            <a:spAutoFit/>
          </a:bodyPr>
          <a:lstStyle/>
          <a:p>
            <a:pPr marL="12700" marR="5080">
              <a:lnSpc>
                <a:spcPts val="3890"/>
              </a:lnSpc>
              <a:spcBef>
                <a:spcPts val="585"/>
              </a:spcBef>
            </a:pPr>
            <a:r>
              <a:rPr spc="-10" dirty="0"/>
              <a:t>Attribute/</a:t>
            </a:r>
            <a:r>
              <a:rPr spc="-175" dirty="0"/>
              <a:t> </a:t>
            </a:r>
            <a:r>
              <a:rPr spc="-10" dirty="0"/>
              <a:t>Column </a:t>
            </a:r>
            <a:r>
              <a:rPr dirty="0"/>
              <a:t>in</a:t>
            </a:r>
            <a:r>
              <a:rPr spc="-40" dirty="0"/>
              <a:t> </a:t>
            </a:r>
            <a:r>
              <a:rPr dirty="0"/>
              <a:t>the</a:t>
            </a:r>
            <a:r>
              <a:rPr spc="-50" dirty="0"/>
              <a:t> </a:t>
            </a:r>
            <a:r>
              <a:rPr spc="-10" dirty="0"/>
              <a:t>table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6244844" y="193929"/>
          <a:ext cx="4830445" cy="66154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15315"/>
                <a:gridCol w="1369060"/>
                <a:gridCol w="1069975"/>
                <a:gridCol w="1686560"/>
              </a:tblGrid>
              <a:tr h="505459">
                <a:tc rowSpan="2"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150"/>
                        </a:spcBef>
                      </a:pPr>
                      <a:r>
                        <a:rPr sz="3200" b="1" spc="-2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ID</a:t>
                      </a:r>
                      <a:endParaRPr sz="3200">
                        <a:latin typeface="Calibri"/>
                        <a:cs typeface="Calibri"/>
                      </a:endParaRPr>
                    </a:p>
                  </a:txBody>
                  <a:tcPr marL="0" marR="0" marT="19050" marB="0">
                    <a:lnL w="12700">
                      <a:solidFill>
                        <a:srgbClr val="5B9BD4"/>
                      </a:solidFill>
                      <a:prstDash val="solid"/>
                    </a:lnL>
                    <a:lnR w="19050">
                      <a:solidFill>
                        <a:srgbClr val="172C51"/>
                      </a:solidFill>
                      <a:prstDash val="solid"/>
                    </a:lnR>
                    <a:solidFill>
                      <a:srgbClr val="5B9BD4"/>
                    </a:solidFill>
                  </a:tcPr>
                </a:tc>
                <a:tc>
                  <a:txBody>
                    <a:bodyPr/>
                    <a:lstStyle/>
                    <a:p>
                      <a:pPr marL="59690">
                        <a:lnSpc>
                          <a:spcPts val="3729"/>
                        </a:lnSpc>
                        <a:spcBef>
                          <a:spcPts val="150"/>
                        </a:spcBef>
                      </a:pPr>
                      <a:r>
                        <a:rPr sz="3200" b="1" spc="-2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NAME</a:t>
                      </a:r>
                      <a:endParaRPr sz="3200">
                        <a:latin typeface="Calibri"/>
                        <a:cs typeface="Calibri"/>
                      </a:endParaRPr>
                    </a:p>
                  </a:txBody>
                  <a:tcPr marL="0" marR="0" marT="19050" marB="0">
                    <a:lnL w="19050">
                      <a:solidFill>
                        <a:srgbClr val="172C51"/>
                      </a:solidFill>
                      <a:prstDash val="solid"/>
                    </a:lnL>
                    <a:lnR w="19050">
                      <a:solidFill>
                        <a:srgbClr val="172C51"/>
                      </a:solidFill>
                      <a:prstDash val="solid"/>
                    </a:lnR>
                    <a:lnT w="19050">
                      <a:solidFill>
                        <a:srgbClr val="172C51"/>
                      </a:solidFill>
                      <a:prstDash val="solid"/>
                    </a:lnT>
                    <a:lnB w="19050">
                      <a:solidFill>
                        <a:srgbClr val="172C51"/>
                      </a:solidFill>
                      <a:prstDash val="solid"/>
                    </a:lnB>
                    <a:solidFill>
                      <a:srgbClr val="5B9BD4"/>
                    </a:solidFill>
                  </a:tcPr>
                </a:tc>
                <a:tc>
                  <a:txBody>
                    <a:bodyPr/>
                    <a:lstStyle/>
                    <a:p>
                      <a:pPr marL="247650">
                        <a:lnSpc>
                          <a:spcPts val="3729"/>
                        </a:lnSpc>
                        <a:spcBef>
                          <a:spcPts val="150"/>
                        </a:spcBef>
                      </a:pPr>
                      <a:r>
                        <a:rPr sz="3200" b="1" spc="-2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AGE</a:t>
                      </a:r>
                      <a:endParaRPr sz="3200">
                        <a:latin typeface="Calibri"/>
                        <a:cs typeface="Calibri"/>
                      </a:endParaRPr>
                    </a:p>
                  </a:txBody>
                  <a:tcPr marL="0" marR="0" marT="19050" marB="0">
                    <a:lnL w="19050">
                      <a:solidFill>
                        <a:srgbClr val="172C51"/>
                      </a:solidFill>
                      <a:prstDash val="solid"/>
                    </a:lnL>
                    <a:solidFill>
                      <a:srgbClr val="5B9BD4"/>
                    </a:solidFill>
                  </a:tcPr>
                </a:tc>
                <a:tc>
                  <a:txBody>
                    <a:bodyPr/>
                    <a:lstStyle/>
                    <a:p>
                      <a:pPr marL="136525">
                        <a:lnSpc>
                          <a:spcPts val="3729"/>
                        </a:lnSpc>
                        <a:spcBef>
                          <a:spcPts val="150"/>
                        </a:spcBef>
                      </a:pPr>
                      <a:r>
                        <a:rPr sz="32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COURSE</a:t>
                      </a:r>
                      <a:endParaRPr sz="3200">
                        <a:latin typeface="Calibri"/>
                        <a:cs typeface="Calibri"/>
                      </a:endParaRPr>
                    </a:p>
                  </a:txBody>
                  <a:tcPr marL="0" marR="0" marT="19050" marB="0">
                    <a:lnR w="12700">
                      <a:solidFill>
                        <a:srgbClr val="5B9BD4"/>
                      </a:solidFill>
                      <a:prstDash val="solid"/>
                    </a:lnR>
                    <a:solidFill>
                      <a:srgbClr val="5B9BD4"/>
                    </a:solidFill>
                  </a:tcPr>
                </a:tc>
              </a:tr>
              <a:tr h="78105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19050" marB="0">
                    <a:lnL w="12700">
                      <a:solidFill>
                        <a:srgbClr val="5B9BD4"/>
                      </a:solidFill>
                      <a:prstDash val="solid"/>
                    </a:lnL>
                    <a:lnR w="19050">
                      <a:solidFill>
                        <a:srgbClr val="172C51"/>
                      </a:solidFill>
                      <a:prstDash val="solid"/>
                    </a:lnR>
                    <a:solidFill>
                      <a:srgbClr val="5B9BD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172C51"/>
                      </a:solidFill>
                      <a:prstDash val="solid"/>
                    </a:lnL>
                    <a:lnR w="19050">
                      <a:solidFill>
                        <a:srgbClr val="172C51"/>
                      </a:solidFill>
                      <a:prstDash val="solid"/>
                    </a:lnR>
                    <a:lnT w="19050">
                      <a:solidFill>
                        <a:srgbClr val="172C51"/>
                      </a:solidFill>
                      <a:prstDash val="solid"/>
                    </a:lnT>
                    <a:solidFill>
                      <a:srgbClr val="5B9BD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172C51"/>
                      </a:solidFill>
                      <a:prstDash val="solid"/>
                    </a:lnL>
                    <a:solidFill>
                      <a:srgbClr val="5B9BD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2700">
                      <a:solidFill>
                        <a:srgbClr val="5B9BD4"/>
                      </a:solidFill>
                      <a:prstDash val="solid"/>
                    </a:lnR>
                    <a:solidFill>
                      <a:srgbClr val="5B9BD4"/>
                    </a:solidFill>
                  </a:tcPr>
                </a:tc>
              </a:tr>
              <a:tr h="572770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sz="3200" spc="-50" dirty="0">
                          <a:latin typeface="Calibri"/>
                          <a:cs typeface="Calibri"/>
                        </a:rPr>
                        <a:t>1</a:t>
                      </a:r>
                      <a:endParaRPr sz="3200">
                        <a:latin typeface="Calibri"/>
                        <a:cs typeface="Calibri"/>
                      </a:endParaRPr>
                    </a:p>
                  </a:txBody>
                  <a:tcPr marL="0" marR="0" marT="13970" marB="0">
                    <a:lnL w="12700">
                      <a:solidFill>
                        <a:srgbClr val="5B9BD4"/>
                      </a:solidFill>
                      <a:prstDash val="solid"/>
                    </a:lnL>
                    <a:lnR w="19050">
                      <a:solidFill>
                        <a:srgbClr val="172C51"/>
                      </a:solidFill>
                      <a:prstDash val="solid"/>
                    </a:lnR>
                    <a:lnB w="12700">
                      <a:solidFill>
                        <a:srgbClr val="5B9BD4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  <a:tc>
                  <a:txBody>
                    <a:bodyPr/>
                    <a:lstStyle/>
                    <a:p>
                      <a:pPr marL="59690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sz="3200" spc="-10" dirty="0">
                          <a:latin typeface="Calibri"/>
                          <a:cs typeface="Calibri"/>
                        </a:rPr>
                        <a:t>Ayyaz</a:t>
                      </a:r>
                      <a:endParaRPr sz="3200">
                        <a:latin typeface="Calibri"/>
                        <a:cs typeface="Calibri"/>
                      </a:endParaRPr>
                    </a:p>
                  </a:txBody>
                  <a:tcPr marL="0" marR="0" marT="13970" marB="0">
                    <a:lnL w="19050">
                      <a:solidFill>
                        <a:srgbClr val="172C51"/>
                      </a:solidFill>
                      <a:prstDash val="solid"/>
                    </a:lnL>
                    <a:lnR w="19050">
                      <a:solidFill>
                        <a:srgbClr val="172C51"/>
                      </a:solidFill>
                      <a:prstDash val="solid"/>
                    </a:lnR>
                    <a:lnB w="12700">
                      <a:solidFill>
                        <a:srgbClr val="5B9BD4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  <a:tc>
                  <a:txBody>
                    <a:bodyPr/>
                    <a:lstStyle/>
                    <a:p>
                      <a:pPr marL="247650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sz="3200" spc="-25" dirty="0">
                          <a:latin typeface="Calibri"/>
                          <a:cs typeface="Calibri"/>
                        </a:rPr>
                        <a:t>24</a:t>
                      </a:r>
                      <a:endParaRPr sz="3200">
                        <a:latin typeface="Calibri"/>
                        <a:cs typeface="Calibri"/>
                      </a:endParaRPr>
                    </a:p>
                  </a:txBody>
                  <a:tcPr marL="0" marR="0" marT="13970" marB="0">
                    <a:lnL w="19050">
                      <a:solidFill>
                        <a:srgbClr val="172C51"/>
                      </a:solidFill>
                      <a:prstDash val="solid"/>
                    </a:lnL>
                    <a:lnB w="12700">
                      <a:solidFill>
                        <a:srgbClr val="5B9BD4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  <a:tc>
                  <a:txBody>
                    <a:bodyPr/>
                    <a:lstStyle/>
                    <a:p>
                      <a:pPr marL="136525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sz="3200" dirty="0">
                          <a:latin typeface="Calibri"/>
                          <a:cs typeface="Calibri"/>
                        </a:rPr>
                        <a:t>B.</a:t>
                      </a:r>
                      <a:r>
                        <a:rPr sz="32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3200" spc="-20" dirty="0">
                          <a:latin typeface="Calibri"/>
                          <a:cs typeface="Calibri"/>
                        </a:rPr>
                        <a:t>Tech</a:t>
                      </a:r>
                      <a:endParaRPr sz="3200">
                        <a:latin typeface="Calibri"/>
                        <a:cs typeface="Calibri"/>
                      </a:endParaRPr>
                    </a:p>
                  </a:txBody>
                  <a:tcPr marL="0" marR="0" marT="13970" marB="0">
                    <a:lnR w="12700">
                      <a:solidFill>
                        <a:srgbClr val="5B9BD4"/>
                      </a:solidFill>
                      <a:prstDash val="solid"/>
                    </a:lnR>
                    <a:lnB w="12700">
                      <a:solidFill>
                        <a:srgbClr val="5B9BD4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r>
                        <a:rPr sz="3200" spc="-50" dirty="0">
                          <a:latin typeface="Calibri"/>
                          <a:cs typeface="Calibri"/>
                        </a:rPr>
                        <a:t>2</a:t>
                      </a:r>
                      <a:endParaRPr sz="3200">
                        <a:latin typeface="Calibri"/>
                        <a:cs typeface="Calibri"/>
                      </a:endParaRPr>
                    </a:p>
                  </a:txBody>
                  <a:tcPr marL="0" marR="0" marT="20320" marB="0">
                    <a:lnL w="12700">
                      <a:solidFill>
                        <a:srgbClr val="5B9BD4"/>
                      </a:solidFill>
                      <a:prstDash val="solid"/>
                    </a:lnL>
                    <a:lnR w="19050">
                      <a:solidFill>
                        <a:srgbClr val="172C51"/>
                      </a:solidFill>
                      <a:prstDash val="solid"/>
                    </a:lnR>
                    <a:lnT w="12700">
                      <a:solidFill>
                        <a:srgbClr val="5B9BD4"/>
                      </a:solidFill>
                      <a:prstDash val="solid"/>
                    </a:lnT>
                    <a:lnB w="12700">
                      <a:solidFill>
                        <a:srgbClr val="5B9B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9690"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r>
                        <a:rPr sz="3200" spc="-10" dirty="0">
                          <a:latin typeface="Calibri"/>
                          <a:cs typeface="Calibri"/>
                        </a:rPr>
                        <a:t>Kamil</a:t>
                      </a:r>
                      <a:endParaRPr sz="3200">
                        <a:latin typeface="Calibri"/>
                        <a:cs typeface="Calibri"/>
                      </a:endParaRPr>
                    </a:p>
                  </a:txBody>
                  <a:tcPr marL="0" marR="0" marT="20320" marB="0">
                    <a:lnL w="19050">
                      <a:solidFill>
                        <a:srgbClr val="172C51"/>
                      </a:solidFill>
                      <a:prstDash val="solid"/>
                    </a:lnL>
                    <a:lnR w="19050">
                      <a:solidFill>
                        <a:srgbClr val="172C51"/>
                      </a:solidFill>
                      <a:prstDash val="solid"/>
                    </a:lnR>
                    <a:lnT w="12700">
                      <a:solidFill>
                        <a:srgbClr val="5B9BD4"/>
                      </a:solidFill>
                      <a:prstDash val="solid"/>
                    </a:lnT>
                    <a:lnB w="12700">
                      <a:solidFill>
                        <a:srgbClr val="5B9B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47650"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r>
                        <a:rPr sz="3200" spc="-25" dirty="0">
                          <a:latin typeface="Calibri"/>
                          <a:cs typeface="Calibri"/>
                        </a:rPr>
                        <a:t>20</a:t>
                      </a:r>
                      <a:endParaRPr sz="3200">
                        <a:latin typeface="Calibri"/>
                        <a:cs typeface="Calibri"/>
                      </a:endParaRPr>
                    </a:p>
                  </a:txBody>
                  <a:tcPr marL="0" marR="0" marT="20320" marB="0">
                    <a:lnL w="19050">
                      <a:solidFill>
                        <a:srgbClr val="172C51"/>
                      </a:solidFill>
                      <a:prstDash val="solid"/>
                    </a:lnL>
                    <a:lnT w="12700">
                      <a:solidFill>
                        <a:srgbClr val="5B9BD4"/>
                      </a:solidFill>
                      <a:prstDash val="solid"/>
                    </a:lnT>
                    <a:lnB w="12700">
                      <a:solidFill>
                        <a:srgbClr val="5B9B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6525"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r>
                        <a:rPr sz="3200" spc="-25" dirty="0">
                          <a:latin typeface="Calibri"/>
                          <a:cs typeface="Calibri"/>
                        </a:rPr>
                        <a:t>CA</a:t>
                      </a:r>
                      <a:endParaRPr sz="3200">
                        <a:latin typeface="Calibri"/>
                        <a:cs typeface="Calibri"/>
                      </a:endParaRPr>
                    </a:p>
                  </a:txBody>
                  <a:tcPr marL="0" marR="0" marT="20320" marB="0">
                    <a:lnR w="12700">
                      <a:solidFill>
                        <a:srgbClr val="5B9BD4"/>
                      </a:solidFill>
                      <a:prstDash val="solid"/>
                    </a:lnR>
                    <a:lnT w="12700">
                      <a:solidFill>
                        <a:srgbClr val="5B9BD4"/>
                      </a:solidFill>
                      <a:prstDash val="solid"/>
                    </a:lnT>
                    <a:lnB w="12700">
                      <a:solidFill>
                        <a:srgbClr val="5B9BD4"/>
                      </a:solidFill>
                      <a:prstDash val="solid"/>
                    </a:lnB>
                  </a:tcPr>
                </a:tc>
              </a:tr>
              <a:tr h="578485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r>
                        <a:rPr sz="3200" spc="-50" dirty="0">
                          <a:latin typeface="Calibri"/>
                          <a:cs typeface="Calibri"/>
                        </a:rPr>
                        <a:t>3</a:t>
                      </a:r>
                      <a:endParaRPr sz="3200">
                        <a:latin typeface="Calibri"/>
                        <a:cs typeface="Calibri"/>
                      </a:endParaRPr>
                    </a:p>
                  </a:txBody>
                  <a:tcPr marL="0" marR="0" marT="20320" marB="0">
                    <a:lnL w="12700">
                      <a:solidFill>
                        <a:srgbClr val="5B9BD4"/>
                      </a:solidFill>
                      <a:prstDash val="solid"/>
                    </a:lnL>
                    <a:lnR w="19050">
                      <a:solidFill>
                        <a:srgbClr val="172C51"/>
                      </a:solidFill>
                      <a:prstDash val="solid"/>
                    </a:lnR>
                    <a:lnT w="12700">
                      <a:solidFill>
                        <a:srgbClr val="5B9BD4"/>
                      </a:solidFill>
                      <a:prstDash val="solid"/>
                    </a:lnT>
                    <a:lnB w="12700">
                      <a:solidFill>
                        <a:srgbClr val="5B9BD4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  <a:tc>
                  <a:txBody>
                    <a:bodyPr/>
                    <a:lstStyle/>
                    <a:p>
                      <a:pPr marL="59690"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r>
                        <a:rPr sz="3200" spc="-10" dirty="0">
                          <a:latin typeface="Calibri"/>
                          <a:cs typeface="Calibri"/>
                        </a:rPr>
                        <a:t>Saqib</a:t>
                      </a:r>
                      <a:endParaRPr sz="3200">
                        <a:latin typeface="Calibri"/>
                        <a:cs typeface="Calibri"/>
                      </a:endParaRPr>
                    </a:p>
                  </a:txBody>
                  <a:tcPr marL="0" marR="0" marT="20320" marB="0">
                    <a:lnL w="19050">
                      <a:solidFill>
                        <a:srgbClr val="172C51"/>
                      </a:solidFill>
                      <a:prstDash val="solid"/>
                    </a:lnL>
                    <a:lnR w="19050">
                      <a:solidFill>
                        <a:srgbClr val="172C51"/>
                      </a:solidFill>
                      <a:prstDash val="solid"/>
                    </a:lnR>
                    <a:lnT w="12700">
                      <a:solidFill>
                        <a:srgbClr val="5B9BD4"/>
                      </a:solidFill>
                      <a:prstDash val="solid"/>
                    </a:lnT>
                    <a:lnB w="12700">
                      <a:solidFill>
                        <a:srgbClr val="5B9BD4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  <a:tc>
                  <a:txBody>
                    <a:bodyPr/>
                    <a:lstStyle/>
                    <a:p>
                      <a:pPr marL="247650"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r>
                        <a:rPr sz="3200" spc="-25" dirty="0">
                          <a:latin typeface="Calibri"/>
                          <a:cs typeface="Calibri"/>
                        </a:rPr>
                        <a:t>21</a:t>
                      </a:r>
                      <a:endParaRPr sz="3200">
                        <a:latin typeface="Calibri"/>
                        <a:cs typeface="Calibri"/>
                      </a:endParaRPr>
                    </a:p>
                  </a:txBody>
                  <a:tcPr marL="0" marR="0" marT="20320" marB="0">
                    <a:lnL w="19050">
                      <a:solidFill>
                        <a:srgbClr val="172C51"/>
                      </a:solidFill>
                      <a:prstDash val="solid"/>
                    </a:lnL>
                    <a:lnT w="12700">
                      <a:solidFill>
                        <a:srgbClr val="5B9BD4"/>
                      </a:solidFill>
                      <a:prstDash val="solid"/>
                    </a:lnT>
                    <a:lnB w="12700">
                      <a:solidFill>
                        <a:srgbClr val="5B9BD4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  <a:tc>
                  <a:txBody>
                    <a:bodyPr/>
                    <a:lstStyle/>
                    <a:p>
                      <a:pPr marL="136525"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r>
                        <a:rPr sz="3200" spc="-25" dirty="0">
                          <a:latin typeface="Calibri"/>
                          <a:cs typeface="Calibri"/>
                        </a:rPr>
                        <a:t>BCA</a:t>
                      </a:r>
                      <a:endParaRPr sz="3200">
                        <a:latin typeface="Calibri"/>
                        <a:cs typeface="Calibri"/>
                      </a:endParaRPr>
                    </a:p>
                  </a:txBody>
                  <a:tcPr marL="0" marR="0" marT="20320" marB="0">
                    <a:lnR w="12700">
                      <a:solidFill>
                        <a:srgbClr val="5B9BD4"/>
                      </a:solidFill>
                      <a:prstDash val="solid"/>
                    </a:lnR>
                    <a:lnT w="12700">
                      <a:solidFill>
                        <a:srgbClr val="5B9BD4"/>
                      </a:solidFill>
                      <a:prstDash val="solid"/>
                    </a:lnT>
                    <a:lnB w="12700">
                      <a:solidFill>
                        <a:srgbClr val="5B9BD4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sz="3200" spc="-50" dirty="0">
                          <a:latin typeface="Calibri"/>
                          <a:cs typeface="Calibri"/>
                        </a:rPr>
                        <a:t>4</a:t>
                      </a:r>
                      <a:endParaRPr sz="3200">
                        <a:latin typeface="Calibri"/>
                        <a:cs typeface="Calibri"/>
                      </a:endParaRPr>
                    </a:p>
                  </a:txBody>
                  <a:tcPr marL="0" marR="0" marT="20955" marB="0">
                    <a:lnL w="12700">
                      <a:solidFill>
                        <a:srgbClr val="5B9BD4"/>
                      </a:solidFill>
                      <a:prstDash val="solid"/>
                    </a:lnL>
                    <a:lnR w="19050">
                      <a:solidFill>
                        <a:srgbClr val="172C51"/>
                      </a:solidFill>
                      <a:prstDash val="solid"/>
                    </a:lnR>
                    <a:lnT w="12700">
                      <a:solidFill>
                        <a:srgbClr val="5B9BD4"/>
                      </a:solidFill>
                      <a:prstDash val="solid"/>
                    </a:lnT>
                    <a:lnB w="12700">
                      <a:solidFill>
                        <a:srgbClr val="5B9B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9690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sz="3200" spc="-10" dirty="0">
                          <a:latin typeface="Calibri"/>
                          <a:cs typeface="Calibri"/>
                        </a:rPr>
                        <a:t>Kamran</a:t>
                      </a:r>
                      <a:endParaRPr sz="3200">
                        <a:latin typeface="Calibri"/>
                        <a:cs typeface="Calibri"/>
                      </a:endParaRPr>
                    </a:p>
                  </a:txBody>
                  <a:tcPr marL="0" marR="0" marT="20955" marB="0">
                    <a:lnL w="19050">
                      <a:solidFill>
                        <a:srgbClr val="172C51"/>
                      </a:solidFill>
                      <a:prstDash val="solid"/>
                    </a:lnL>
                    <a:lnR w="19050">
                      <a:solidFill>
                        <a:srgbClr val="172C51"/>
                      </a:solidFill>
                      <a:prstDash val="solid"/>
                    </a:lnR>
                    <a:lnT w="12700">
                      <a:solidFill>
                        <a:srgbClr val="5B9BD4"/>
                      </a:solidFill>
                      <a:prstDash val="solid"/>
                    </a:lnT>
                    <a:lnB w="12700">
                      <a:solidFill>
                        <a:srgbClr val="5B9B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47650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sz="3200" spc="-25" dirty="0">
                          <a:latin typeface="Calibri"/>
                          <a:cs typeface="Calibri"/>
                        </a:rPr>
                        <a:t>22</a:t>
                      </a:r>
                      <a:endParaRPr sz="3200">
                        <a:latin typeface="Calibri"/>
                        <a:cs typeface="Calibri"/>
                      </a:endParaRPr>
                    </a:p>
                  </a:txBody>
                  <a:tcPr marL="0" marR="0" marT="20955" marB="0">
                    <a:lnL w="19050">
                      <a:solidFill>
                        <a:srgbClr val="172C51"/>
                      </a:solidFill>
                      <a:prstDash val="solid"/>
                    </a:lnL>
                    <a:lnT w="12700">
                      <a:solidFill>
                        <a:srgbClr val="5B9BD4"/>
                      </a:solidFill>
                      <a:prstDash val="solid"/>
                    </a:lnT>
                    <a:lnB w="12700">
                      <a:solidFill>
                        <a:srgbClr val="5B9B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6525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sz="3200" spc="-25" dirty="0">
                          <a:latin typeface="Calibri"/>
                          <a:cs typeface="Calibri"/>
                        </a:rPr>
                        <a:t>MCA</a:t>
                      </a:r>
                      <a:endParaRPr sz="3200">
                        <a:latin typeface="Calibri"/>
                        <a:cs typeface="Calibri"/>
                      </a:endParaRPr>
                    </a:p>
                  </a:txBody>
                  <a:tcPr marL="0" marR="0" marT="20955" marB="0">
                    <a:lnR w="12700">
                      <a:solidFill>
                        <a:srgbClr val="5B9BD4"/>
                      </a:solidFill>
                      <a:prstDash val="solid"/>
                    </a:lnR>
                    <a:lnT w="12700">
                      <a:solidFill>
                        <a:srgbClr val="5B9BD4"/>
                      </a:solidFill>
                      <a:prstDash val="solid"/>
                    </a:lnT>
                    <a:lnB w="12700">
                      <a:solidFill>
                        <a:srgbClr val="5B9BD4"/>
                      </a:solidFill>
                      <a:prstDash val="solid"/>
                    </a:lnB>
                  </a:tcPr>
                </a:tc>
              </a:tr>
              <a:tr h="578485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sz="3200" spc="-50" dirty="0">
                          <a:latin typeface="Calibri"/>
                          <a:cs typeface="Calibri"/>
                        </a:rPr>
                        <a:t>5</a:t>
                      </a:r>
                      <a:endParaRPr sz="3200">
                        <a:latin typeface="Calibri"/>
                        <a:cs typeface="Calibri"/>
                      </a:endParaRPr>
                    </a:p>
                  </a:txBody>
                  <a:tcPr marL="0" marR="0" marT="20955" marB="0">
                    <a:lnL w="12700">
                      <a:solidFill>
                        <a:srgbClr val="5B9BD4"/>
                      </a:solidFill>
                      <a:prstDash val="solid"/>
                    </a:lnL>
                    <a:lnR w="19050">
                      <a:solidFill>
                        <a:srgbClr val="172C51"/>
                      </a:solidFill>
                      <a:prstDash val="solid"/>
                    </a:lnR>
                    <a:lnT w="12700">
                      <a:solidFill>
                        <a:srgbClr val="5B9BD4"/>
                      </a:solidFill>
                      <a:prstDash val="solid"/>
                    </a:lnT>
                    <a:lnB w="12700">
                      <a:solidFill>
                        <a:srgbClr val="5B9BD4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  <a:tc>
                  <a:txBody>
                    <a:bodyPr/>
                    <a:lstStyle/>
                    <a:p>
                      <a:pPr marL="59690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sz="3200" spc="-10" dirty="0">
                          <a:latin typeface="Calibri"/>
                          <a:cs typeface="Calibri"/>
                        </a:rPr>
                        <a:t>Saeed</a:t>
                      </a:r>
                      <a:endParaRPr sz="3200">
                        <a:latin typeface="Calibri"/>
                        <a:cs typeface="Calibri"/>
                      </a:endParaRPr>
                    </a:p>
                  </a:txBody>
                  <a:tcPr marL="0" marR="0" marT="20955" marB="0">
                    <a:lnL w="19050">
                      <a:solidFill>
                        <a:srgbClr val="172C51"/>
                      </a:solidFill>
                      <a:prstDash val="solid"/>
                    </a:lnL>
                    <a:lnR w="19050">
                      <a:solidFill>
                        <a:srgbClr val="172C51"/>
                      </a:solidFill>
                      <a:prstDash val="solid"/>
                    </a:lnR>
                    <a:lnT w="12700">
                      <a:solidFill>
                        <a:srgbClr val="5B9BD4"/>
                      </a:solidFill>
                      <a:prstDash val="solid"/>
                    </a:lnT>
                    <a:lnB w="12700">
                      <a:solidFill>
                        <a:srgbClr val="5B9BD4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  <a:tc>
                  <a:txBody>
                    <a:bodyPr/>
                    <a:lstStyle/>
                    <a:p>
                      <a:pPr marL="247650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sz="3200" spc="-25" dirty="0">
                          <a:latin typeface="Calibri"/>
                          <a:cs typeface="Calibri"/>
                        </a:rPr>
                        <a:t>26</a:t>
                      </a:r>
                      <a:endParaRPr sz="3200">
                        <a:latin typeface="Calibri"/>
                        <a:cs typeface="Calibri"/>
                      </a:endParaRPr>
                    </a:p>
                  </a:txBody>
                  <a:tcPr marL="0" marR="0" marT="20955" marB="0">
                    <a:lnL w="19050">
                      <a:solidFill>
                        <a:srgbClr val="172C51"/>
                      </a:solidFill>
                      <a:prstDash val="solid"/>
                    </a:lnL>
                    <a:lnT w="12700">
                      <a:solidFill>
                        <a:srgbClr val="5B9BD4"/>
                      </a:solidFill>
                      <a:prstDash val="solid"/>
                    </a:lnT>
                    <a:lnB w="12700">
                      <a:solidFill>
                        <a:srgbClr val="5B9BD4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  <a:tc>
                  <a:txBody>
                    <a:bodyPr/>
                    <a:lstStyle/>
                    <a:p>
                      <a:pPr marL="136525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sz="3200" spc="-25" dirty="0">
                          <a:latin typeface="Calibri"/>
                          <a:cs typeface="Calibri"/>
                        </a:rPr>
                        <a:t>BSC</a:t>
                      </a:r>
                      <a:endParaRPr sz="3200">
                        <a:latin typeface="Calibri"/>
                        <a:cs typeface="Calibri"/>
                      </a:endParaRPr>
                    </a:p>
                  </a:txBody>
                  <a:tcPr marL="0" marR="0" marT="20955" marB="0">
                    <a:lnR w="12700">
                      <a:solidFill>
                        <a:srgbClr val="5B9BD4"/>
                      </a:solidFill>
                      <a:prstDash val="solid"/>
                    </a:lnR>
                    <a:lnT w="12700">
                      <a:solidFill>
                        <a:srgbClr val="5B9BD4"/>
                      </a:solidFill>
                      <a:prstDash val="solid"/>
                    </a:lnT>
                    <a:lnB w="12700">
                      <a:solidFill>
                        <a:srgbClr val="5B9BD4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</a:tr>
              <a:tr h="67945">
                <a:tc rowSpan="7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2700">
                      <a:solidFill>
                        <a:srgbClr val="5B9BD4"/>
                      </a:solidFill>
                      <a:prstDash val="solid"/>
                    </a:lnR>
                    <a:lnT w="12700">
                      <a:solidFill>
                        <a:srgbClr val="5B9BD4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5B9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>
                      <a:solidFill>
                        <a:srgbClr val="172C51"/>
                      </a:solidFill>
                      <a:prstDash val="solid"/>
                    </a:lnR>
                    <a:lnT w="12700">
                      <a:solidFill>
                        <a:srgbClr val="5B9BD4"/>
                      </a:solidFill>
                      <a:prstDash val="solid"/>
                    </a:lnT>
                    <a:lnB w="19050">
                      <a:solidFill>
                        <a:srgbClr val="172C51"/>
                      </a:solidFill>
                      <a:prstDash val="solid"/>
                    </a:lnB>
                    <a:solidFill>
                      <a:srgbClr val="5B9BD4"/>
                    </a:solidFill>
                  </a:tcPr>
                </a:tc>
                <a:tc rowSpan="7"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 cap="flat" cmpd="sng" algn="ctr">
                      <a:solidFill>
                        <a:srgbClr val="172C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>
                      <a:solidFill>
                        <a:srgbClr val="5B9BD4"/>
                      </a:solidFill>
                      <a:prstDash val="solid"/>
                    </a:lnT>
                  </a:tcPr>
                </a:tc>
                <a:tc rowSpan="7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</a:tr>
              <a:tr h="505459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R w="12700">
                      <a:solidFill>
                        <a:srgbClr val="5B9BD4"/>
                      </a:solidFill>
                      <a:prstDash val="solid"/>
                    </a:lnR>
                    <a:lnT w="12700">
                      <a:solidFill>
                        <a:srgbClr val="5B9BD4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74930">
                        <a:lnSpc>
                          <a:spcPts val="3290"/>
                        </a:lnSpc>
                      </a:pPr>
                      <a:r>
                        <a:rPr sz="2800" b="1" spc="-2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NAME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9050">
                      <a:solidFill>
                        <a:srgbClr val="172C51"/>
                      </a:solidFill>
                      <a:prstDash val="solid"/>
                    </a:lnL>
                    <a:lnR w="19050">
                      <a:solidFill>
                        <a:srgbClr val="172C51"/>
                      </a:solidFill>
                      <a:prstDash val="solid"/>
                    </a:lnR>
                    <a:lnT w="19050">
                      <a:solidFill>
                        <a:srgbClr val="172C51"/>
                      </a:solidFill>
                      <a:prstDash val="solid"/>
                    </a:lnT>
                    <a:lnB w="19050">
                      <a:solidFill>
                        <a:srgbClr val="172C51"/>
                      </a:solidFill>
                      <a:prstDash val="solid"/>
                    </a:lnB>
                    <a:solidFill>
                      <a:srgbClr val="5B9BD4"/>
                    </a:solidFill>
                  </a:tcPr>
                </a:tc>
                <a:tc gridSpan="2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38100">
                      <a:solidFill>
                        <a:srgbClr val="5B9BD4"/>
                      </a:solidFill>
                      <a:prstDash val="solid"/>
                    </a:lnL>
                    <a:lnT w="12700">
                      <a:solidFill>
                        <a:srgbClr val="5B9BD4"/>
                      </a:solidFill>
                      <a:prstDash val="solid"/>
                    </a:lnT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</a:tr>
              <a:tr h="49784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R w="12700">
                      <a:solidFill>
                        <a:srgbClr val="5B9BD4"/>
                      </a:solidFill>
                      <a:prstDash val="solid"/>
                    </a:lnR>
                    <a:lnT w="12700">
                      <a:solidFill>
                        <a:srgbClr val="5B9BD4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74930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2800" spc="-10" dirty="0">
                          <a:latin typeface="Calibri"/>
                          <a:cs typeface="Calibri"/>
                        </a:rPr>
                        <a:t>Ayyaz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3175" marB="0">
                    <a:lnL w="12700">
                      <a:solidFill>
                        <a:srgbClr val="5B9BD4"/>
                      </a:solidFill>
                      <a:prstDash val="solid"/>
                    </a:lnL>
                    <a:lnR w="12700">
                      <a:solidFill>
                        <a:srgbClr val="5B9BD4"/>
                      </a:solidFill>
                      <a:prstDash val="solid"/>
                    </a:lnR>
                    <a:lnT w="19050">
                      <a:solidFill>
                        <a:srgbClr val="172C51"/>
                      </a:solidFill>
                      <a:prstDash val="solid"/>
                    </a:lnT>
                    <a:lnB w="12700">
                      <a:solidFill>
                        <a:srgbClr val="5B9BD4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  <a:tc gridSpan="2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38100">
                      <a:solidFill>
                        <a:srgbClr val="5B9BD4"/>
                      </a:solidFill>
                      <a:prstDash val="solid"/>
                    </a:lnL>
                    <a:lnT w="12700">
                      <a:solidFill>
                        <a:srgbClr val="5B9BD4"/>
                      </a:solidFill>
                      <a:prstDash val="solid"/>
                    </a:lnT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</a:tr>
              <a:tr h="518159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R w="12700">
                      <a:solidFill>
                        <a:srgbClr val="5B9BD4"/>
                      </a:solidFill>
                      <a:prstDash val="solid"/>
                    </a:lnR>
                    <a:lnT w="12700">
                      <a:solidFill>
                        <a:srgbClr val="5B9BD4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74930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2800" spc="-10" dirty="0">
                          <a:latin typeface="Calibri"/>
                          <a:cs typeface="Calibri"/>
                        </a:rPr>
                        <a:t>Kamil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23495" marB="0">
                    <a:lnL w="12700">
                      <a:solidFill>
                        <a:srgbClr val="5B9BD4"/>
                      </a:solidFill>
                      <a:prstDash val="solid"/>
                    </a:lnL>
                    <a:lnR w="12700">
                      <a:solidFill>
                        <a:srgbClr val="5B9BD4"/>
                      </a:solidFill>
                      <a:prstDash val="solid"/>
                    </a:lnR>
                    <a:lnT w="12700">
                      <a:solidFill>
                        <a:srgbClr val="5B9BD4"/>
                      </a:solidFill>
                      <a:prstDash val="solid"/>
                    </a:lnT>
                    <a:lnB w="12700">
                      <a:solidFill>
                        <a:srgbClr val="5B9BD4"/>
                      </a:solidFill>
                      <a:prstDash val="solid"/>
                    </a:lnB>
                  </a:tcPr>
                </a:tc>
                <a:tc gridSpan="2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38100">
                      <a:solidFill>
                        <a:srgbClr val="5B9BD4"/>
                      </a:solidFill>
                      <a:prstDash val="solid"/>
                    </a:lnL>
                    <a:lnT w="12700">
                      <a:solidFill>
                        <a:srgbClr val="5B9BD4"/>
                      </a:solidFill>
                      <a:prstDash val="solid"/>
                    </a:lnT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</a:tr>
              <a:tr h="518159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R w="12700">
                      <a:solidFill>
                        <a:srgbClr val="5B9BD4"/>
                      </a:solidFill>
                      <a:prstDash val="solid"/>
                    </a:lnR>
                    <a:lnT w="12700">
                      <a:solidFill>
                        <a:srgbClr val="5B9BD4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74930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2800" spc="-10" dirty="0">
                          <a:latin typeface="Calibri"/>
                          <a:cs typeface="Calibri"/>
                        </a:rPr>
                        <a:t>Saqib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23495" marB="0">
                    <a:lnL w="12700">
                      <a:solidFill>
                        <a:srgbClr val="5B9BD4"/>
                      </a:solidFill>
                      <a:prstDash val="solid"/>
                    </a:lnL>
                    <a:lnR w="12700">
                      <a:solidFill>
                        <a:srgbClr val="5B9BD4"/>
                      </a:solidFill>
                      <a:prstDash val="solid"/>
                    </a:lnR>
                    <a:lnT w="12700">
                      <a:solidFill>
                        <a:srgbClr val="5B9BD4"/>
                      </a:solidFill>
                      <a:prstDash val="solid"/>
                    </a:lnT>
                    <a:lnB w="12700">
                      <a:solidFill>
                        <a:srgbClr val="5B9BD4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  <a:tc gridSpan="2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38100">
                      <a:solidFill>
                        <a:srgbClr val="5B9BD4"/>
                      </a:solidFill>
                      <a:prstDash val="solid"/>
                    </a:lnL>
                    <a:lnT w="12700">
                      <a:solidFill>
                        <a:srgbClr val="5B9BD4"/>
                      </a:solidFill>
                      <a:prstDash val="solid"/>
                    </a:lnT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</a:tr>
              <a:tr h="518159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R w="12700">
                      <a:solidFill>
                        <a:srgbClr val="5B9BD4"/>
                      </a:solidFill>
                      <a:prstDash val="solid"/>
                    </a:lnR>
                    <a:lnT w="12700">
                      <a:solidFill>
                        <a:srgbClr val="5B9BD4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74930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2800" spc="-10" dirty="0">
                          <a:latin typeface="Calibri"/>
                          <a:cs typeface="Calibri"/>
                        </a:rPr>
                        <a:t>Kamran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23495" marB="0">
                    <a:lnL w="12700">
                      <a:solidFill>
                        <a:srgbClr val="5B9BD4"/>
                      </a:solidFill>
                      <a:prstDash val="solid"/>
                    </a:lnL>
                    <a:lnR w="12700">
                      <a:solidFill>
                        <a:srgbClr val="5B9BD4"/>
                      </a:solidFill>
                      <a:prstDash val="solid"/>
                    </a:lnR>
                    <a:lnT w="12700">
                      <a:solidFill>
                        <a:srgbClr val="5B9BD4"/>
                      </a:solidFill>
                      <a:prstDash val="solid"/>
                    </a:lnT>
                    <a:lnB w="12700">
                      <a:solidFill>
                        <a:srgbClr val="5B9BD4"/>
                      </a:solidFill>
                      <a:prstDash val="solid"/>
                    </a:lnB>
                  </a:tcPr>
                </a:tc>
                <a:tc gridSpan="2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38100">
                      <a:solidFill>
                        <a:srgbClr val="5B9BD4"/>
                      </a:solidFill>
                      <a:prstDash val="solid"/>
                    </a:lnL>
                    <a:lnT w="12700">
                      <a:solidFill>
                        <a:srgbClr val="5B9BD4"/>
                      </a:solidFill>
                      <a:prstDash val="solid"/>
                    </a:lnT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</a:tr>
              <a:tr h="518159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R w="12700">
                      <a:solidFill>
                        <a:srgbClr val="5B9BD4"/>
                      </a:solidFill>
                      <a:prstDash val="solid"/>
                    </a:lnR>
                    <a:lnT w="12700">
                      <a:solidFill>
                        <a:srgbClr val="5B9BD4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74930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2800" spc="-10" dirty="0">
                          <a:latin typeface="Calibri"/>
                          <a:cs typeface="Calibri"/>
                        </a:rPr>
                        <a:t>Saeed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23495" marB="0">
                    <a:lnL w="12700">
                      <a:solidFill>
                        <a:srgbClr val="5B9BD4"/>
                      </a:solidFill>
                      <a:prstDash val="solid"/>
                    </a:lnL>
                    <a:lnR w="12700">
                      <a:solidFill>
                        <a:srgbClr val="5B9BD4"/>
                      </a:solidFill>
                      <a:prstDash val="solid"/>
                    </a:lnR>
                    <a:lnT w="12700">
                      <a:solidFill>
                        <a:srgbClr val="5B9BD4"/>
                      </a:solidFill>
                      <a:prstDash val="solid"/>
                    </a:lnT>
                    <a:lnB w="12700">
                      <a:solidFill>
                        <a:srgbClr val="5B9BD4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  <a:tc gridSpan="2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38100">
                      <a:solidFill>
                        <a:srgbClr val="5B9BD4"/>
                      </a:solidFill>
                      <a:prstDash val="solid"/>
                    </a:lnL>
                    <a:lnT w="12700">
                      <a:solidFill>
                        <a:srgbClr val="5B9BD4"/>
                      </a:solidFill>
                      <a:prstDash val="solid"/>
                    </a:lnT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83411" y="2779852"/>
            <a:ext cx="2573020" cy="1184275"/>
          </a:xfrm>
          <a:prstGeom prst="rect">
            <a:avLst/>
          </a:prstGeom>
        </p:spPr>
        <p:txBody>
          <a:bodyPr vert="horz" wrap="square" lIns="0" tIns="81280" rIns="0" bIns="0" rtlCol="0">
            <a:spAutoFit/>
          </a:bodyPr>
          <a:lstStyle/>
          <a:p>
            <a:pPr marL="12700" marR="5080">
              <a:lnSpc>
                <a:spcPts val="4320"/>
              </a:lnSpc>
              <a:spcBef>
                <a:spcPts val="640"/>
              </a:spcBef>
            </a:pPr>
            <a:r>
              <a:rPr sz="4000" dirty="0">
                <a:latin typeface="Calibri Light"/>
                <a:cs typeface="Calibri Light"/>
              </a:rPr>
              <a:t>What</a:t>
            </a:r>
            <a:r>
              <a:rPr sz="4000" spc="-70" dirty="0">
                <a:latin typeface="Calibri Light"/>
                <a:cs typeface="Calibri Light"/>
              </a:rPr>
              <a:t> </a:t>
            </a:r>
            <a:r>
              <a:rPr sz="4000" dirty="0">
                <a:latin typeface="Calibri Light"/>
                <a:cs typeface="Calibri Light"/>
              </a:rPr>
              <a:t>is</a:t>
            </a:r>
            <a:r>
              <a:rPr sz="4000" spc="-70" dirty="0">
                <a:latin typeface="Calibri Light"/>
                <a:cs typeface="Calibri Light"/>
              </a:rPr>
              <a:t> </a:t>
            </a:r>
            <a:r>
              <a:rPr sz="4000" spc="-20" dirty="0">
                <a:latin typeface="Calibri Light"/>
                <a:cs typeface="Calibri Light"/>
              </a:rPr>
              <a:t>data </a:t>
            </a:r>
            <a:r>
              <a:rPr sz="4000" dirty="0">
                <a:latin typeface="Calibri Light"/>
                <a:cs typeface="Calibri Light"/>
              </a:rPr>
              <a:t>item/</a:t>
            </a:r>
            <a:r>
              <a:rPr sz="4000" spc="-140" dirty="0">
                <a:latin typeface="Calibri Light"/>
                <a:cs typeface="Calibri Light"/>
              </a:rPr>
              <a:t> </a:t>
            </a:r>
            <a:r>
              <a:rPr sz="4000" spc="-10" dirty="0">
                <a:latin typeface="Calibri Light"/>
                <a:cs typeface="Calibri Light"/>
              </a:rPr>
              <a:t>cell?</a:t>
            </a:r>
            <a:endParaRPr sz="4000">
              <a:latin typeface="Calibri Light"/>
              <a:cs typeface="Calibri Ligh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170167" y="2626563"/>
            <a:ext cx="5113655" cy="150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0029" indent="-227329">
              <a:lnSpc>
                <a:spcPts val="2735"/>
              </a:lnSpc>
              <a:spcBef>
                <a:spcPts val="100"/>
              </a:spcBef>
              <a:buFont typeface="Arial MT"/>
              <a:buChar char="•"/>
              <a:tabLst>
                <a:tab pos="240029" algn="l"/>
              </a:tabLst>
            </a:pPr>
            <a:r>
              <a:rPr sz="2400" dirty="0">
                <a:latin typeface="Calibri"/>
                <a:cs typeface="Calibri"/>
              </a:rPr>
              <a:t>The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smallest</a:t>
            </a:r>
            <a:r>
              <a:rPr sz="2400" b="1" i="1" spc="-60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unit</a:t>
            </a:r>
            <a:r>
              <a:rPr sz="2400" b="1" i="1" spc="-40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of</a:t>
            </a:r>
            <a:r>
              <a:rPr sz="2400" b="1" i="1" spc="-50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data</a:t>
            </a:r>
            <a:r>
              <a:rPr sz="2400" b="1" i="1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table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is</a:t>
            </a:r>
            <a:endParaRPr sz="2400">
              <a:latin typeface="Calibri"/>
              <a:cs typeface="Calibri"/>
            </a:endParaRPr>
          </a:p>
          <a:p>
            <a:pPr marL="241300">
              <a:lnSpc>
                <a:spcPts val="2735"/>
              </a:lnSpc>
            </a:pPr>
            <a:r>
              <a:rPr sz="2400" dirty="0">
                <a:latin typeface="Calibri"/>
                <a:cs typeface="Calibri"/>
              </a:rPr>
              <a:t>the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individual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data</a:t>
            </a:r>
            <a:r>
              <a:rPr sz="2400" spc="-8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item.</a:t>
            </a:r>
            <a:endParaRPr sz="2400">
              <a:latin typeface="Calibri"/>
              <a:cs typeface="Calibri"/>
            </a:endParaRPr>
          </a:p>
          <a:p>
            <a:pPr marL="240029" marR="118110" indent="-227329">
              <a:lnSpc>
                <a:spcPts val="2590"/>
              </a:lnSpc>
              <a:spcBef>
                <a:spcPts val="1050"/>
              </a:spcBef>
              <a:buFont typeface="Arial MT"/>
              <a:buChar char="•"/>
              <a:tabLst>
                <a:tab pos="241300" algn="l"/>
              </a:tabLst>
            </a:pPr>
            <a:r>
              <a:rPr sz="2400" dirty="0">
                <a:latin typeface="Calibri"/>
                <a:cs typeface="Calibri"/>
              </a:rPr>
              <a:t>It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stored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at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i="1" spc="-10" dirty="0">
                <a:latin typeface="Calibri"/>
                <a:cs typeface="Calibri"/>
              </a:rPr>
              <a:t>intersection</a:t>
            </a:r>
            <a:r>
              <a:rPr sz="2400" i="1" spc="-45" dirty="0">
                <a:latin typeface="Calibri"/>
                <a:cs typeface="Calibri"/>
              </a:rPr>
              <a:t> </a:t>
            </a:r>
            <a:r>
              <a:rPr sz="2400" i="1" dirty="0">
                <a:latin typeface="Calibri"/>
                <a:cs typeface="Calibri"/>
              </a:rPr>
              <a:t>of</a:t>
            </a:r>
            <a:r>
              <a:rPr sz="2400" i="1" spc="-25" dirty="0">
                <a:latin typeface="Calibri"/>
                <a:cs typeface="Calibri"/>
              </a:rPr>
              <a:t> </a:t>
            </a:r>
            <a:r>
              <a:rPr sz="2400" i="1" spc="-10" dirty="0">
                <a:latin typeface="Calibri"/>
                <a:cs typeface="Calibri"/>
              </a:rPr>
              <a:t>tuples 	</a:t>
            </a:r>
            <a:r>
              <a:rPr sz="2400" i="1" dirty="0">
                <a:latin typeface="Calibri"/>
                <a:cs typeface="Calibri"/>
              </a:rPr>
              <a:t>and</a:t>
            </a:r>
            <a:r>
              <a:rPr sz="2400" i="1" spc="-55" dirty="0">
                <a:latin typeface="Calibri"/>
                <a:cs typeface="Calibri"/>
              </a:rPr>
              <a:t> </a:t>
            </a:r>
            <a:r>
              <a:rPr sz="2400" i="1" spc="-10" dirty="0">
                <a:latin typeface="Calibri"/>
                <a:cs typeface="Calibri"/>
              </a:rPr>
              <a:t>attributes</a:t>
            </a:r>
            <a:r>
              <a:rPr sz="2400" spc="-10" dirty="0">
                <a:latin typeface="Calibri"/>
                <a:cs typeface="Calibri"/>
              </a:rPr>
              <a:t>.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18819" y="2839592"/>
            <a:ext cx="3343275" cy="1068070"/>
          </a:xfrm>
          <a:prstGeom prst="rect">
            <a:avLst/>
          </a:prstGeom>
        </p:spPr>
        <p:txBody>
          <a:bodyPr vert="horz" wrap="square" lIns="0" tIns="74295" rIns="0" bIns="0" rtlCol="0">
            <a:spAutoFit/>
          </a:bodyPr>
          <a:lstStyle/>
          <a:p>
            <a:pPr marL="12700" marR="5080">
              <a:lnSpc>
                <a:spcPts val="3890"/>
              </a:lnSpc>
              <a:spcBef>
                <a:spcPts val="585"/>
              </a:spcBef>
            </a:pPr>
            <a:r>
              <a:rPr dirty="0"/>
              <a:t>Properties</a:t>
            </a:r>
            <a:r>
              <a:rPr spc="-90" dirty="0"/>
              <a:t> </a:t>
            </a:r>
            <a:r>
              <a:rPr dirty="0"/>
              <a:t>of</a:t>
            </a:r>
            <a:r>
              <a:rPr spc="-90" dirty="0"/>
              <a:t> </a:t>
            </a:r>
            <a:r>
              <a:rPr spc="-25" dirty="0"/>
              <a:t>Data </a:t>
            </a:r>
            <a:r>
              <a:rPr spc="-10" dirty="0"/>
              <a:t>Items</a:t>
            </a:r>
          </a:p>
        </p:txBody>
      </p:sp>
      <p:sp>
        <p:nvSpPr>
          <p:cNvPr id="3" name="object 3"/>
          <p:cNvSpPr/>
          <p:nvPr/>
        </p:nvSpPr>
        <p:spPr>
          <a:xfrm>
            <a:off x="6420611" y="716280"/>
            <a:ext cx="5012690" cy="1567180"/>
          </a:xfrm>
          <a:custGeom>
            <a:avLst/>
            <a:gdLst/>
            <a:ahLst/>
            <a:cxnLst/>
            <a:rect l="l" t="t" r="r" b="b"/>
            <a:pathLst>
              <a:path w="5012690" h="1567180">
                <a:moveTo>
                  <a:pt x="0" y="1566672"/>
                </a:moveTo>
                <a:lnTo>
                  <a:pt x="5012436" y="1566672"/>
                </a:lnTo>
                <a:lnTo>
                  <a:pt x="5012436" y="0"/>
                </a:lnTo>
                <a:lnTo>
                  <a:pt x="0" y="0"/>
                </a:lnTo>
                <a:lnTo>
                  <a:pt x="0" y="1566672"/>
                </a:lnTo>
                <a:close/>
              </a:path>
            </a:pathLst>
          </a:custGeom>
          <a:ln w="6349">
            <a:solidFill>
              <a:srgbClr val="5B9BD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7469251" y="1232408"/>
            <a:ext cx="3303904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dirty="0">
                <a:latin typeface="Calibri"/>
                <a:cs typeface="Calibri"/>
              </a:rPr>
              <a:t>Data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items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are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b="1" i="1" spc="-10" dirty="0">
                <a:latin typeface="Calibri"/>
                <a:cs typeface="Calibri"/>
              </a:rPr>
              <a:t>atomic</a:t>
            </a:r>
            <a:r>
              <a:rPr sz="2800" spc="-10" dirty="0">
                <a:latin typeface="Calibri"/>
                <a:cs typeface="Calibri"/>
              </a:rPr>
              <a:t>.</a:t>
            </a:r>
            <a:endParaRPr sz="2800">
              <a:latin typeface="Calibri"/>
              <a:cs typeface="Calibri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6205473" y="482854"/>
            <a:ext cx="1108710" cy="1658620"/>
            <a:chOff x="6205473" y="482854"/>
            <a:chExt cx="1108710" cy="1658620"/>
          </a:xfrm>
        </p:grpSpPr>
        <p:sp>
          <p:nvSpPr>
            <p:cNvPr id="6" name="object 6"/>
            <p:cNvSpPr/>
            <p:nvPr/>
          </p:nvSpPr>
          <p:spPr>
            <a:xfrm>
              <a:off x="6211823" y="489204"/>
              <a:ext cx="1096010" cy="1645920"/>
            </a:xfrm>
            <a:custGeom>
              <a:avLst/>
              <a:gdLst/>
              <a:ahLst/>
              <a:cxnLst/>
              <a:rect l="l" t="t" r="r" b="b"/>
              <a:pathLst>
                <a:path w="1096009" h="1645920">
                  <a:moveTo>
                    <a:pt x="1095755" y="0"/>
                  </a:moveTo>
                  <a:lnTo>
                    <a:pt x="0" y="0"/>
                  </a:lnTo>
                  <a:lnTo>
                    <a:pt x="0" y="1645920"/>
                  </a:lnTo>
                  <a:lnTo>
                    <a:pt x="1095755" y="1645920"/>
                  </a:lnTo>
                  <a:lnTo>
                    <a:pt x="1095755" y="0"/>
                  </a:lnTo>
                  <a:close/>
                </a:path>
              </a:pathLst>
            </a:custGeom>
            <a:solidFill>
              <a:srgbClr val="C4D4E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6211823" y="489204"/>
              <a:ext cx="1096010" cy="1645920"/>
            </a:xfrm>
            <a:custGeom>
              <a:avLst/>
              <a:gdLst/>
              <a:ahLst/>
              <a:cxnLst/>
              <a:rect l="l" t="t" r="r" b="b"/>
              <a:pathLst>
                <a:path w="1096009" h="1645920">
                  <a:moveTo>
                    <a:pt x="0" y="1645920"/>
                  </a:moveTo>
                  <a:lnTo>
                    <a:pt x="1095755" y="1645920"/>
                  </a:lnTo>
                  <a:lnTo>
                    <a:pt x="1095755" y="0"/>
                  </a:lnTo>
                  <a:lnTo>
                    <a:pt x="0" y="0"/>
                  </a:lnTo>
                  <a:lnTo>
                    <a:pt x="0" y="1645920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/>
          <p:nvPr/>
        </p:nvSpPr>
        <p:spPr>
          <a:xfrm>
            <a:off x="6420611" y="2988564"/>
            <a:ext cx="5012690" cy="1565275"/>
          </a:xfrm>
          <a:custGeom>
            <a:avLst/>
            <a:gdLst/>
            <a:ahLst/>
            <a:cxnLst/>
            <a:rect l="l" t="t" r="r" b="b"/>
            <a:pathLst>
              <a:path w="5012690" h="1565275">
                <a:moveTo>
                  <a:pt x="0" y="1565148"/>
                </a:moveTo>
                <a:lnTo>
                  <a:pt x="5012436" y="1565148"/>
                </a:lnTo>
                <a:lnTo>
                  <a:pt x="5012436" y="0"/>
                </a:lnTo>
                <a:lnTo>
                  <a:pt x="0" y="0"/>
                </a:lnTo>
                <a:lnTo>
                  <a:pt x="0" y="1565148"/>
                </a:lnTo>
                <a:close/>
              </a:path>
            </a:pathLst>
          </a:custGeom>
          <a:ln w="6350">
            <a:solidFill>
              <a:srgbClr val="5B9BD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7469251" y="3113912"/>
            <a:ext cx="3830954" cy="1232535"/>
          </a:xfrm>
          <a:prstGeom prst="rect">
            <a:avLst/>
          </a:prstGeom>
        </p:spPr>
        <p:txBody>
          <a:bodyPr vert="horz" wrap="square" lIns="0" tIns="48260" rIns="0" bIns="0" rtlCol="0">
            <a:spAutoFit/>
          </a:bodyPr>
          <a:lstStyle/>
          <a:p>
            <a:pPr marL="12700" marR="5080">
              <a:lnSpc>
                <a:spcPct val="91500"/>
              </a:lnSpc>
              <a:spcBef>
                <a:spcPts val="380"/>
              </a:spcBef>
            </a:pPr>
            <a:r>
              <a:rPr sz="2800" dirty="0">
                <a:latin typeface="Calibri"/>
                <a:cs typeface="Calibri"/>
              </a:rPr>
              <a:t>The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data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items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for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an </a:t>
            </a:r>
            <a:r>
              <a:rPr sz="2800" spc="-10" dirty="0">
                <a:latin typeface="Calibri"/>
                <a:cs typeface="Calibri"/>
              </a:rPr>
              <a:t>attribute</a:t>
            </a:r>
            <a:r>
              <a:rPr sz="2800" spc="-20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should</a:t>
            </a:r>
            <a:r>
              <a:rPr sz="2800" b="1" i="1" spc="-35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be</a:t>
            </a:r>
            <a:r>
              <a:rPr sz="2800" b="1" i="1" spc="-25" dirty="0">
                <a:latin typeface="Calibri"/>
                <a:cs typeface="Calibri"/>
              </a:rPr>
              <a:t> </a:t>
            </a:r>
            <a:r>
              <a:rPr sz="2800" b="1" i="1" spc="-10" dirty="0">
                <a:latin typeface="Calibri"/>
                <a:cs typeface="Calibri"/>
              </a:rPr>
              <a:t>drawn </a:t>
            </a:r>
            <a:r>
              <a:rPr sz="2800" b="1" i="1" dirty="0">
                <a:latin typeface="Calibri"/>
                <a:cs typeface="Calibri"/>
              </a:rPr>
              <a:t>from</a:t>
            </a:r>
            <a:r>
              <a:rPr sz="2800" b="1" i="1" spc="-65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the</a:t>
            </a:r>
            <a:r>
              <a:rPr sz="2800" b="1" i="1" spc="-50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same</a:t>
            </a:r>
            <a:r>
              <a:rPr sz="2800" b="1" i="1" spc="-60" dirty="0">
                <a:latin typeface="Calibri"/>
                <a:cs typeface="Calibri"/>
              </a:rPr>
              <a:t> </a:t>
            </a:r>
            <a:r>
              <a:rPr sz="2800" b="1" i="1" spc="-10" dirty="0">
                <a:latin typeface="Calibri"/>
                <a:cs typeface="Calibri"/>
              </a:rPr>
              <a:t>domain</a:t>
            </a:r>
            <a:r>
              <a:rPr sz="2800" spc="-10" dirty="0">
                <a:latin typeface="Calibri"/>
                <a:cs typeface="Calibri"/>
              </a:rPr>
              <a:t>.</a:t>
            </a:r>
            <a:endParaRPr sz="2800">
              <a:latin typeface="Calibri"/>
              <a:cs typeface="Calibri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6205473" y="2755138"/>
            <a:ext cx="1108710" cy="1657350"/>
            <a:chOff x="6205473" y="2755138"/>
            <a:chExt cx="1108710" cy="1657350"/>
          </a:xfrm>
        </p:grpSpPr>
        <p:sp>
          <p:nvSpPr>
            <p:cNvPr id="11" name="object 11"/>
            <p:cNvSpPr/>
            <p:nvPr/>
          </p:nvSpPr>
          <p:spPr>
            <a:xfrm>
              <a:off x="6211823" y="2761488"/>
              <a:ext cx="1096010" cy="1644650"/>
            </a:xfrm>
            <a:custGeom>
              <a:avLst/>
              <a:gdLst/>
              <a:ahLst/>
              <a:cxnLst/>
              <a:rect l="l" t="t" r="r" b="b"/>
              <a:pathLst>
                <a:path w="1096009" h="1644650">
                  <a:moveTo>
                    <a:pt x="1095755" y="0"/>
                  </a:moveTo>
                  <a:lnTo>
                    <a:pt x="0" y="0"/>
                  </a:lnTo>
                  <a:lnTo>
                    <a:pt x="0" y="1644395"/>
                  </a:lnTo>
                  <a:lnTo>
                    <a:pt x="1095755" y="1644395"/>
                  </a:lnTo>
                  <a:lnTo>
                    <a:pt x="1095755" y="0"/>
                  </a:lnTo>
                  <a:close/>
                </a:path>
              </a:pathLst>
            </a:custGeom>
            <a:solidFill>
              <a:srgbClr val="C8DBC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6211823" y="2761488"/>
              <a:ext cx="1096010" cy="1644650"/>
            </a:xfrm>
            <a:custGeom>
              <a:avLst/>
              <a:gdLst/>
              <a:ahLst/>
              <a:cxnLst/>
              <a:rect l="l" t="t" r="r" b="b"/>
              <a:pathLst>
                <a:path w="1096009" h="1644650">
                  <a:moveTo>
                    <a:pt x="0" y="1644395"/>
                  </a:moveTo>
                  <a:lnTo>
                    <a:pt x="1095755" y="1644395"/>
                  </a:lnTo>
                  <a:lnTo>
                    <a:pt x="1095755" y="0"/>
                  </a:lnTo>
                  <a:lnTo>
                    <a:pt x="0" y="0"/>
                  </a:lnTo>
                  <a:lnTo>
                    <a:pt x="0" y="1644395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6788911" y="4937505"/>
            <a:ext cx="454469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In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below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example,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data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item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in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the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800" dirty="0">
                <a:latin typeface="Calibri"/>
                <a:cs typeface="Calibri"/>
              </a:rPr>
              <a:t>student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table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consists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of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Ajeet,</a:t>
            </a:r>
            <a:r>
              <a:rPr sz="1800" spc="-6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24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and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Btech,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etc</a:t>
            </a:r>
            <a:endParaRPr sz="1800">
              <a:latin typeface="Calibri"/>
              <a:cs typeface="Calibri"/>
            </a:endParaRPr>
          </a:p>
        </p:txBody>
      </p:sp>
      <p:graphicFrame>
        <p:nvGraphicFramePr>
          <p:cNvPr id="14" name="object 14"/>
          <p:cNvGraphicFramePr>
            <a:graphicFrameLocks noGrp="1"/>
          </p:cNvGraphicFramePr>
          <p:nvPr/>
        </p:nvGraphicFramePr>
        <p:xfrm>
          <a:off x="6703059" y="5628119"/>
          <a:ext cx="4812030" cy="104266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42290"/>
                <a:gridCol w="1288415"/>
                <a:gridCol w="1219200"/>
                <a:gridCol w="1672590"/>
              </a:tblGrid>
              <a:tr h="530860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2800" b="1" spc="-2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ID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29845" marB="0">
                    <a:lnL w="12700">
                      <a:solidFill>
                        <a:srgbClr val="5B9BD4"/>
                      </a:solidFill>
                      <a:prstDash val="solid"/>
                    </a:lnL>
                    <a:solidFill>
                      <a:srgbClr val="5B9BD4"/>
                    </a:solidFill>
                  </a:tcPr>
                </a:tc>
                <a:tc>
                  <a:txBody>
                    <a:bodyPr/>
                    <a:lstStyle/>
                    <a:p>
                      <a:pPr marL="132715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2800" b="1" spc="-2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NAME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29845" marB="0">
                    <a:solidFill>
                      <a:srgbClr val="5B9BD4"/>
                    </a:solidFill>
                  </a:tcPr>
                </a:tc>
                <a:tc>
                  <a:txBody>
                    <a:bodyPr/>
                    <a:lstStyle/>
                    <a:p>
                      <a:pPr marL="224154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2800" b="1" spc="-2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AGE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29845" marB="0">
                    <a:solidFill>
                      <a:srgbClr val="5B9BD4"/>
                    </a:solidFill>
                  </a:tcPr>
                </a:tc>
                <a:tc>
                  <a:txBody>
                    <a:bodyPr/>
                    <a:lstStyle/>
                    <a:p>
                      <a:pPr marL="384810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28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COURSE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29845" marB="0">
                    <a:lnR w="12700">
                      <a:solidFill>
                        <a:srgbClr val="5B9BD4"/>
                      </a:solidFill>
                      <a:prstDash val="solid"/>
                    </a:lnR>
                    <a:solidFill>
                      <a:srgbClr val="5B9BD4"/>
                    </a:solidFill>
                  </a:tcPr>
                </a:tc>
              </a:tr>
              <a:tr h="511809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sz="2800" spc="-50" dirty="0">
                          <a:latin typeface="Calibri"/>
                          <a:cs typeface="Calibri"/>
                        </a:rPr>
                        <a:t>1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17145" marB="0">
                    <a:lnL w="12700">
                      <a:solidFill>
                        <a:srgbClr val="5B9BD4"/>
                      </a:solidFill>
                      <a:prstDash val="solid"/>
                    </a:lnL>
                    <a:lnB w="12700">
                      <a:solidFill>
                        <a:srgbClr val="5B9BD4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  <a:tc>
                  <a:txBody>
                    <a:bodyPr/>
                    <a:lstStyle/>
                    <a:p>
                      <a:pPr marL="132715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sz="2800" spc="-10" dirty="0">
                          <a:latin typeface="Calibri"/>
                          <a:cs typeface="Calibri"/>
                        </a:rPr>
                        <a:t>Ayyaz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17145" marB="0">
                    <a:lnB w="12700">
                      <a:solidFill>
                        <a:srgbClr val="5B9BD4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  <a:tc>
                  <a:txBody>
                    <a:bodyPr/>
                    <a:lstStyle/>
                    <a:p>
                      <a:pPr marL="224154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sz="2800" spc="-25" dirty="0">
                          <a:latin typeface="Calibri"/>
                          <a:cs typeface="Calibri"/>
                        </a:rPr>
                        <a:t>24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17145" marB="0">
                    <a:lnB w="12700">
                      <a:solidFill>
                        <a:srgbClr val="5B9BD4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  <a:tc>
                  <a:txBody>
                    <a:bodyPr/>
                    <a:lstStyle/>
                    <a:p>
                      <a:pPr marL="384810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sz="2800" dirty="0">
                          <a:latin typeface="Calibri"/>
                          <a:cs typeface="Calibri"/>
                        </a:rPr>
                        <a:t>B.</a:t>
                      </a:r>
                      <a:r>
                        <a:rPr sz="28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800" spc="-20" dirty="0">
                          <a:latin typeface="Calibri"/>
                          <a:cs typeface="Calibri"/>
                        </a:rPr>
                        <a:t>Tech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17145" marB="0">
                    <a:lnR w="12700">
                      <a:solidFill>
                        <a:srgbClr val="5B9BD4"/>
                      </a:solidFill>
                      <a:prstDash val="solid"/>
                    </a:lnR>
                    <a:lnB w="12700">
                      <a:solidFill>
                        <a:srgbClr val="5B9BD4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83411" y="3054172"/>
            <a:ext cx="149288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10" dirty="0">
                <a:latin typeface="Calibri Light"/>
                <a:cs typeface="Calibri Light"/>
              </a:rPr>
              <a:t>Degree</a:t>
            </a:r>
            <a:endParaRPr sz="4000">
              <a:latin typeface="Calibri Light"/>
              <a:cs typeface="Calibri Ligh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170167" y="1029970"/>
            <a:ext cx="4654550" cy="1049655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240029" marR="5080" indent="-227329" algn="just">
              <a:lnSpc>
                <a:spcPts val="2590"/>
              </a:lnSpc>
              <a:spcBef>
                <a:spcPts val="425"/>
              </a:spcBef>
              <a:buFont typeface="Arial MT"/>
              <a:buChar char="•"/>
              <a:tabLst>
                <a:tab pos="241300" algn="l"/>
              </a:tabLst>
            </a:pPr>
            <a:r>
              <a:rPr sz="2400" dirty="0">
                <a:latin typeface="Calibri"/>
                <a:cs typeface="Calibri"/>
              </a:rPr>
              <a:t>The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total</a:t>
            </a:r>
            <a:r>
              <a:rPr sz="2400" b="1" i="1" spc="-65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number</a:t>
            </a:r>
            <a:r>
              <a:rPr sz="2400" b="1" i="1" spc="-75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of</a:t>
            </a:r>
            <a:r>
              <a:rPr sz="2400" b="1" i="1" spc="-70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attributes</a:t>
            </a:r>
            <a:r>
              <a:rPr sz="2400" b="1" i="1" spc="-45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that 	</a:t>
            </a:r>
            <a:r>
              <a:rPr sz="2400" dirty="0">
                <a:latin typeface="Calibri"/>
                <a:cs typeface="Calibri"/>
              </a:rPr>
              <a:t>comprise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relation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known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as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the 	</a:t>
            </a:r>
            <a:r>
              <a:rPr sz="2400" b="1" dirty="0">
                <a:latin typeface="Calibri"/>
                <a:cs typeface="Calibri"/>
              </a:rPr>
              <a:t>degree</a:t>
            </a:r>
            <a:r>
              <a:rPr sz="2400" b="1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table.</a:t>
            </a:r>
            <a:endParaRPr sz="2400">
              <a:latin typeface="Calibri"/>
              <a:cs typeface="Calibri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6083934" y="2308732"/>
          <a:ext cx="5237480" cy="34785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65785"/>
                <a:gridCol w="1515110"/>
                <a:gridCol w="1177290"/>
                <a:gridCol w="1889760"/>
              </a:tblGrid>
              <a:tr h="591185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3200" b="1" spc="-2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ID</a:t>
                      </a:r>
                      <a:endParaRPr sz="3200">
                        <a:latin typeface="Calibri"/>
                        <a:cs typeface="Calibri"/>
                      </a:endParaRPr>
                    </a:p>
                  </a:txBody>
                  <a:tcPr marL="0" marR="0" marT="27305" marB="0">
                    <a:lnL w="12700">
                      <a:solidFill>
                        <a:srgbClr val="5B9BD4"/>
                      </a:solidFill>
                      <a:prstDash val="solid"/>
                    </a:lnL>
                    <a:solidFill>
                      <a:srgbClr val="5B9BD4"/>
                    </a:solidFill>
                  </a:tcPr>
                </a:tc>
                <a:tc>
                  <a:txBody>
                    <a:bodyPr/>
                    <a:lstStyle/>
                    <a:p>
                      <a:pPr marL="109220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3200" b="1" spc="-2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NAME</a:t>
                      </a:r>
                      <a:endParaRPr sz="3200">
                        <a:latin typeface="Calibri"/>
                        <a:cs typeface="Calibri"/>
                      </a:endParaRPr>
                    </a:p>
                  </a:txBody>
                  <a:tcPr marL="0" marR="0" marT="27305" marB="0">
                    <a:solidFill>
                      <a:srgbClr val="5B9BD4"/>
                    </a:solidFill>
                  </a:tcPr>
                </a:tc>
                <a:tc>
                  <a:txBody>
                    <a:bodyPr/>
                    <a:lstStyle/>
                    <a:p>
                      <a:pPr marL="137160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3200" b="1" spc="-2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AGE</a:t>
                      </a:r>
                      <a:endParaRPr sz="3200">
                        <a:latin typeface="Calibri"/>
                        <a:cs typeface="Calibri"/>
                      </a:endParaRPr>
                    </a:p>
                  </a:txBody>
                  <a:tcPr marL="0" marR="0" marT="27305" marB="0">
                    <a:solidFill>
                      <a:srgbClr val="5B9BD4"/>
                    </a:solidFill>
                  </a:tcPr>
                </a:tc>
                <a:tc>
                  <a:txBody>
                    <a:bodyPr/>
                    <a:lstStyle/>
                    <a:p>
                      <a:pPr marL="339725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32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COURSE</a:t>
                      </a:r>
                      <a:endParaRPr sz="3200">
                        <a:latin typeface="Calibri"/>
                        <a:cs typeface="Calibri"/>
                      </a:endParaRPr>
                    </a:p>
                  </a:txBody>
                  <a:tcPr marL="0" marR="0" marT="27305" marB="0">
                    <a:lnR w="12700">
                      <a:solidFill>
                        <a:srgbClr val="5B9BD4"/>
                      </a:solidFill>
                      <a:prstDash val="solid"/>
                    </a:lnR>
                    <a:solidFill>
                      <a:srgbClr val="5B9BD4"/>
                    </a:solidFill>
                  </a:tcPr>
                </a:tc>
              </a:tr>
              <a:tr h="572770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114"/>
                        </a:spcBef>
                      </a:pPr>
                      <a:r>
                        <a:rPr sz="3200" spc="-50" dirty="0">
                          <a:latin typeface="Calibri"/>
                          <a:cs typeface="Calibri"/>
                        </a:rPr>
                        <a:t>1</a:t>
                      </a:r>
                      <a:endParaRPr sz="3200">
                        <a:latin typeface="Calibri"/>
                        <a:cs typeface="Calibri"/>
                      </a:endParaRPr>
                    </a:p>
                  </a:txBody>
                  <a:tcPr marL="0" marR="0" marT="14604" marB="0">
                    <a:lnL w="12700">
                      <a:solidFill>
                        <a:srgbClr val="5B9BD4"/>
                      </a:solidFill>
                      <a:prstDash val="solid"/>
                    </a:lnL>
                    <a:lnB w="12700">
                      <a:solidFill>
                        <a:srgbClr val="5B9BD4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  <a:tc>
                  <a:txBody>
                    <a:bodyPr/>
                    <a:lstStyle/>
                    <a:p>
                      <a:pPr marL="109220">
                        <a:lnSpc>
                          <a:spcPct val="100000"/>
                        </a:lnSpc>
                        <a:spcBef>
                          <a:spcPts val="114"/>
                        </a:spcBef>
                      </a:pPr>
                      <a:r>
                        <a:rPr sz="3200" spc="-10" dirty="0">
                          <a:latin typeface="Calibri"/>
                          <a:cs typeface="Calibri"/>
                        </a:rPr>
                        <a:t>Ayyaz</a:t>
                      </a:r>
                      <a:endParaRPr sz="3200">
                        <a:latin typeface="Calibri"/>
                        <a:cs typeface="Calibri"/>
                      </a:endParaRPr>
                    </a:p>
                  </a:txBody>
                  <a:tcPr marL="0" marR="0" marT="14604" marB="0">
                    <a:lnB w="12700">
                      <a:solidFill>
                        <a:srgbClr val="5B9BD4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  <a:tc>
                  <a:txBody>
                    <a:bodyPr/>
                    <a:lstStyle/>
                    <a:p>
                      <a:pPr marL="137160">
                        <a:lnSpc>
                          <a:spcPct val="100000"/>
                        </a:lnSpc>
                        <a:spcBef>
                          <a:spcPts val="114"/>
                        </a:spcBef>
                      </a:pPr>
                      <a:r>
                        <a:rPr sz="3200" spc="-25" dirty="0">
                          <a:latin typeface="Calibri"/>
                          <a:cs typeface="Calibri"/>
                        </a:rPr>
                        <a:t>24</a:t>
                      </a:r>
                      <a:endParaRPr sz="3200">
                        <a:latin typeface="Calibri"/>
                        <a:cs typeface="Calibri"/>
                      </a:endParaRPr>
                    </a:p>
                  </a:txBody>
                  <a:tcPr marL="0" marR="0" marT="14604" marB="0">
                    <a:lnB w="12700">
                      <a:solidFill>
                        <a:srgbClr val="5B9BD4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  <a:tc>
                  <a:txBody>
                    <a:bodyPr/>
                    <a:lstStyle/>
                    <a:p>
                      <a:pPr marL="339725">
                        <a:lnSpc>
                          <a:spcPct val="100000"/>
                        </a:lnSpc>
                        <a:spcBef>
                          <a:spcPts val="114"/>
                        </a:spcBef>
                      </a:pPr>
                      <a:r>
                        <a:rPr sz="3200" dirty="0">
                          <a:latin typeface="Calibri"/>
                          <a:cs typeface="Calibri"/>
                        </a:rPr>
                        <a:t>B.</a:t>
                      </a:r>
                      <a:r>
                        <a:rPr sz="32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3200" spc="-20" dirty="0">
                          <a:latin typeface="Calibri"/>
                          <a:cs typeface="Calibri"/>
                        </a:rPr>
                        <a:t>Tech</a:t>
                      </a:r>
                      <a:endParaRPr sz="3200">
                        <a:latin typeface="Calibri"/>
                        <a:cs typeface="Calibri"/>
                      </a:endParaRPr>
                    </a:p>
                  </a:txBody>
                  <a:tcPr marL="0" marR="0" marT="14604" marB="0">
                    <a:lnR w="12700">
                      <a:solidFill>
                        <a:srgbClr val="5B9BD4"/>
                      </a:solidFill>
                      <a:prstDash val="solid"/>
                    </a:lnR>
                    <a:lnB w="12700">
                      <a:solidFill>
                        <a:srgbClr val="5B9BD4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</a:tr>
              <a:tr h="578485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sz="3200" spc="-50" dirty="0">
                          <a:latin typeface="Calibri"/>
                          <a:cs typeface="Calibri"/>
                        </a:rPr>
                        <a:t>2</a:t>
                      </a:r>
                      <a:endParaRPr sz="3200">
                        <a:latin typeface="Calibri"/>
                        <a:cs typeface="Calibri"/>
                      </a:endParaRPr>
                    </a:p>
                  </a:txBody>
                  <a:tcPr marL="0" marR="0" marT="20955" marB="0">
                    <a:lnL w="12700">
                      <a:solidFill>
                        <a:srgbClr val="5B9BD4"/>
                      </a:solidFill>
                      <a:prstDash val="solid"/>
                    </a:lnL>
                    <a:lnT w="12700">
                      <a:solidFill>
                        <a:srgbClr val="5B9BD4"/>
                      </a:solidFill>
                      <a:prstDash val="solid"/>
                    </a:lnT>
                    <a:lnB w="12700">
                      <a:solidFill>
                        <a:srgbClr val="5B9B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9220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sz="3200" spc="-10" dirty="0">
                          <a:latin typeface="Calibri"/>
                          <a:cs typeface="Calibri"/>
                        </a:rPr>
                        <a:t>Kamil</a:t>
                      </a:r>
                      <a:endParaRPr sz="3200">
                        <a:latin typeface="Calibri"/>
                        <a:cs typeface="Calibri"/>
                      </a:endParaRPr>
                    </a:p>
                  </a:txBody>
                  <a:tcPr marL="0" marR="0" marT="20955" marB="0">
                    <a:lnT w="12700">
                      <a:solidFill>
                        <a:srgbClr val="5B9BD4"/>
                      </a:solidFill>
                      <a:prstDash val="solid"/>
                    </a:lnT>
                    <a:lnB w="12700">
                      <a:solidFill>
                        <a:srgbClr val="5B9B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7160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sz="3200" spc="-25" dirty="0">
                          <a:latin typeface="Calibri"/>
                          <a:cs typeface="Calibri"/>
                        </a:rPr>
                        <a:t>20</a:t>
                      </a:r>
                      <a:endParaRPr sz="3200">
                        <a:latin typeface="Calibri"/>
                        <a:cs typeface="Calibri"/>
                      </a:endParaRPr>
                    </a:p>
                  </a:txBody>
                  <a:tcPr marL="0" marR="0" marT="20955" marB="0">
                    <a:lnT w="12700">
                      <a:solidFill>
                        <a:srgbClr val="5B9BD4"/>
                      </a:solidFill>
                      <a:prstDash val="solid"/>
                    </a:lnT>
                    <a:lnB w="12700">
                      <a:solidFill>
                        <a:srgbClr val="5B9B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39725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sz="3200" spc="-25" dirty="0">
                          <a:latin typeface="Calibri"/>
                          <a:cs typeface="Calibri"/>
                        </a:rPr>
                        <a:t>CA</a:t>
                      </a:r>
                      <a:endParaRPr sz="3200">
                        <a:latin typeface="Calibri"/>
                        <a:cs typeface="Calibri"/>
                      </a:endParaRPr>
                    </a:p>
                  </a:txBody>
                  <a:tcPr marL="0" marR="0" marT="20955" marB="0">
                    <a:lnR w="12700">
                      <a:solidFill>
                        <a:srgbClr val="5B9BD4"/>
                      </a:solidFill>
                      <a:prstDash val="solid"/>
                    </a:lnR>
                    <a:lnT w="12700">
                      <a:solidFill>
                        <a:srgbClr val="5B9BD4"/>
                      </a:solidFill>
                      <a:prstDash val="solid"/>
                    </a:lnT>
                    <a:lnB w="12700">
                      <a:solidFill>
                        <a:srgbClr val="5B9BD4"/>
                      </a:solidFill>
                      <a:prstDash val="solid"/>
                    </a:lnB>
                  </a:tcPr>
                </a:tc>
              </a:tr>
              <a:tr h="578485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sz="3200" spc="-50" dirty="0">
                          <a:latin typeface="Calibri"/>
                          <a:cs typeface="Calibri"/>
                        </a:rPr>
                        <a:t>3</a:t>
                      </a:r>
                      <a:endParaRPr sz="3200">
                        <a:latin typeface="Calibri"/>
                        <a:cs typeface="Calibri"/>
                      </a:endParaRPr>
                    </a:p>
                  </a:txBody>
                  <a:tcPr marL="0" marR="0" marT="20955" marB="0">
                    <a:lnL w="12700">
                      <a:solidFill>
                        <a:srgbClr val="5B9BD4"/>
                      </a:solidFill>
                      <a:prstDash val="solid"/>
                    </a:lnL>
                    <a:lnT w="12700">
                      <a:solidFill>
                        <a:srgbClr val="5B9BD4"/>
                      </a:solidFill>
                      <a:prstDash val="solid"/>
                    </a:lnT>
                    <a:lnB w="12700">
                      <a:solidFill>
                        <a:srgbClr val="5B9BD4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  <a:tc>
                  <a:txBody>
                    <a:bodyPr/>
                    <a:lstStyle/>
                    <a:p>
                      <a:pPr marL="109220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sz="3200" spc="-10" dirty="0">
                          <a:latin typeface="Calibri"/>
                          <a:cs typeface="Calibri"/>
                        </a:rPr>
                        <a:t>Saqib</a:t>
                      </a:r>
                      <a:endParaRPr sz="3200">
                        <a:latin typeface="Calibri"/>
                        <a:cs typeface="Calibri"/>
                      </a:endParaRPr>
                    </a:p>
                  </a:txBody>
                  <a:tcPr marL="0" marR="0" marT="20955" marB="0">
                    <a:lnT w="12700">
                      <a:solidFill>
                        <a:srgbClr val="5B9BD4"/>
                      </a:solidFill>
                      <a:prstDash val="solid"/>
                    </a:lnT>
                    <a:lnB w="12700">
                      <a:solidFill>
                        <a:srgbClr val="5B9BD4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  <a:tc>
                  <a:txBody>
                    <a:bodyPr/>
                    <a:lstStyle/>
                    <a:p>
                      <a:pPr marL="137160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sz="3200" spc="-25" dirty="0">
                          <a:latin typeface="Calibri"/>
                          <a:cs typeface="Calibri"/>
                        </a:rPr>
                        <a:t>21</a:t>
                      </a:r>
                      <a:endParaRPr sz="3200">
                        <a:latin typeface="Calibri"/>
                        <a:cs typeface="Calibri"/>
                      </a:endParaRPr>
                    </a:p>
                  </a:txBody>
                  <a:tcPr marL="0" marR="0" marT="20955" marB="0">
                    <a:lnT w="12700">
                      <a:solidFill>
                        <a:srgbClr val="5B9BD4"/>
                      </a:solidFill>
                      <a:prstDash val="solid"/>
                    </a:lnT>
                    <a:lnB w="12700">
                      <a:solidFill>
                        <a:srgbClr val="5B9BD4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  <a:tc>
                  <a:txBody>
                    <a:bodyPr/>
                    <a:lstStyle/>
                    <a:p>
                      <a:pPr marL="339725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sz="3200" spc="-25" dirty="0">
                          <a:latin typeface="Calibri"/>
                          <a:cs typeface="Calibri"/>
                        </a:rPr>
                        <a:t>BCA</a:t>
                      </a:r>
                      <a:endParaRPr sz="3200">
                        <a:latin typeface="Calibri"/>
                        <a:cs typeface="Calibri"/>
                      </a:endParaRPr>
                    </a:p>
                  </a:txBody>
                  <a:tcPr marL="0" marR="0" marT="20955" marB="0">
                    <a:lnR w="12700">
                      <a:solidFill>
                        <a:srgbClr val="5B9BD4"/>
                      </a:solidFill>
                      <a:prstDash val="solid"/>
                    </a:lnR>
                    <a:lnT w="12700">
                      <a:solidFill>
                        <a:srgbClr val="5B9BD4"/>
                      </a:solidFill>
                      <a:prstDash val="solid"/>
                    </a:lnT>
                    <a:lnB w="12700">
                      <a:solidFill>
                        <a:srgbClr val="5B9BD4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</a:tr>
              <a:tr h="578485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3200" spc="-50" dirty="0">
                          <a:latin typeface="Calibri"/>
                          <a:cs typeface="Calibri"/>
                        </a:rPr>
                        <a:t>4</a:t>
                      </a:r>
                      <a:endParaRPr sz="3200">
                        <a:latin typeface="Calibri"/>
                        <a:cs typeface="Calibri"/>
                      </a:endParaRPr>
                    </a:p>
                  </a:txBody>
                  <a:tcPr marL="0" marR="0" marT="21590" marB="0">
                    <a:lnL w="12700">
                      <a:solidFill>
                        <a:srgbClr val="5B9BD4"/>
                      </a:solidFill>
                      <a:prstDash val="solid"/>
                    </a:lnL>
                    <a:lnT w="12700">
                      <a:solidFill>
                        <a:srgbClr val="5B9BD4"/>
                      </a:solidFill>
                      <a:prstDash val="solid"/>
                    </a:lnT>
                    <a:lnB w="12700">
                      <a:solidFill>
                        <a:srgbClr val="5B9B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9220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3200" spc="-10" dirty="0">
                          <a:latin typeface="Calibri"/>
                          <a:cs typeface="Calibri"/>
                        </a:rPr>
                        <a:t>Kamran</a:t>
                      </a:r>
                      <a:endParaRPr sz="3200">
                        <a:latin typeface="Calibri"/>
                        <a:cs typeface="Calibri"/>
                      </a:endParaRPr>
                    </a:p>
                  </a:txBody>
                  <a:tcPr marL="0" marR="0" marT="21590" marB="0">
                    <a:lnT w="12700">
                      <a:solidFill>
                        <a:srgbClr val="5B9BD4"/>
                      </a:solidFill>
                      <a:prstDash val="solid"/>
                    </a:lnT>
                    <a:lnB w="12700">
                      <a:solidFill>
                        <a:srgbClr val="5B9B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7160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3200" spc="-25" dirty="0">
                          <a:latin typeface="Calibri"/>
                          <a:cs typeface="Calibri"/>
                        </a:rPr>
                        <a:t>22</a:t>
                      </a:r>
                      <a:endParaRPr sz="3200">
                        <a:latin typeface="Calibri"/>
                        <a:cs typeface="Calibri"/>
                      </a:endParaRPr>
                    </a:p>
                  </a:txBody>
                  <a:tcPr marL="0" marR="0" marT="21590" marB="0">
                    <a:lnT w="12700">
                      <a:solidFill>
                        <a:srgbClr val="5B9BD4"/>
                      </a:solidFill>
                      <a:prstDash val="solid"/>
                    </a:lnT>
                    <a:lnB w="12700">
                      <a:solidFill>
                        <a:srgbClr val="5B9B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39725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3200" spc="-25" dirty="0">
                          <a:latin typeface="Calibri"/>
                          <a:cs typeface="Calibri"/>
                        </a:rPr>
                        <a:t>MCA</a:t>
                      </a:r>
                      <a:endParaRPr sz="3200">
                        <a:latin typeface="Calibri"/>
                        <a:cs typeface="Calibri"/>
                      </a:endParaRPr>
                    </a:p>
                  </a:txBody>
                  <a:tcPr marL="0" marR="0" marT="21590" marB="0">
                    <a:lnR w="12700">
                      <a:solidFill>
                        <a:srgbClr val="5B9BD4"/>
                      </a:solidFill>
                      <a:prstDash val="solid"/>
                    </a:lnR>
                    <a:lnT w="12700">
                      <a:solidFill>
                        <a:srgbClr val="5B9BD4"/>
                      </a:solidFill>
                      <a:prstDash val="solid"/>
                    </a:lnT>
                    <a:lnB w="12700">
                      <a:solidFill>
                        <a:srgbClr val="5B9BD4"/>
                      </a:solidFill>
                      <a:prstDash val="solid"/>
                    </a:lnB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3200" spc="-50" dirty="0">
                          <a:latin typeface="Calibri"/>
                          <a:cs typeface="Calibri"/>
                        </a:rPr>
                        <a:t>5</a:t>
                      </a:r>
                      <a:endParaRPr sz="3200">
                        <a:latin typeface="Calibri"/>
                        <a:cs typeface="Calibri"/>
                      </a:endParaRPr>
                    </a:p>
                  </a:txBody>
                  <a:tcPr marL="0" marR="0" marT="21590" marB="0">
                    <a:lnL w="12700">
                      <a:solidFill>
                        <a:srgbClr val="5B9BD4"/>
                      </a:solidFill>
                      <a:prstDash val="solid"/>
                    </a:lnL>
                    <a:lnT w="12700">
                      <a:solidFill>
                        <a:srgbClr val="5B9BD4"/>
                      </a:solidFill>
                      <a:prstDash val="solid"/>
                    </a:lnT>
                    <a:lnB w="12700">
                      <a:solidFill>
                        <a:srgbClr val="5B9BD4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  <a:tc>
                  <a:txBody>
                    <a:bodyPr/>
                    <a:lstStyle/>
                    <a:p>
                      <a:pPr marL="109220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3200" spc="-10" dirty="0">
                          <a:latin typeface="Calibri"/>
                          <a:cs typeface="Calibri"/>
                        </a:rPr>
                        <a:t>Saeed</a:t>
                      </a:r>
                      <a:endParaRPr sz="3200">
                        <a:latin typeface="Calibri"/>
                        <a:cs typeface="Calibri"/>
                      </a:endParaRPr>
                    </a:p>
                  </a:txBody>
                  <a:tcPr marL="0" marR="0" marT="21590" marB="0">
                    <a:lnT w="12700">
                      <a:solidFill>
                        <a:srgbClr val="5B9BD4"/>
                      </a:solidFill>
                      <a:prstDash val="solid"/>
                    </a:lnT>
                    <a:lnB w="12700">
                      <a:solidFill>
                        <a:srgbClr val="5B9BD4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  <a:tc>
                  <a:txBody>
                    <a:bodyPr/>
                    <a:lstStyle/>
                    <a:p>
                      <a:pPr marL="137160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3200" spc="-25" dirty="0">
                          <a:latin typeface="Calibri"/>
                          <a:cs typeface="Calibri"/>
                        </a:rPr>
                        <a:t>26</a:t>
                      </a:r>
                      <a:endParaRPr sz="3200">
                        <a:latin typeface="Calibri"/>
                        <a:cs typeface="Calibri"/>
                      </a:endParaRPr>
                    </a:p>
                  </a:txBody>
                  <a:tcPr marL="0" marR="0" marT="21590" marB="0">
                    <a:lnT w="12700">
                      <a:solidFill>
                        <a:srgbClr val="5B9BD4"/>
                      </a:solidFill>
                      <a:prstDash val="solid"/>
                    </a:lnT>
                    <a:lnB w="12700">
                      <a:solidFill>
                        <a:srgbClr val="5B9BD4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  <a:tc>
                  <a:txBody>
                    <a:bodyPr/>
                    <a:lstStyle/>
                    <a:p>
                      <a:pPr marL="339725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3200" spc="-25" dirty="0">
                          <a:latin typeface="Calibri"/>
                          <a:cs typeface="Calibri"/>
                        </a:rPr>
                        <a:t>BSC</a:t>
                      </a:r>
                      <a:endParaRPr sz="3200">
                        <a:latin typeface="Calibri"/>
                        <a:cs typeface="Calibri"/>
                      </a:endParaRPr>
                    </a:p>
                  </a:txBody>
                  <a:tcPr marL="0" marR="0" marT="21590" marB="0">
                    <a:lnR w="12700">
                      <a:solidFill>
                        <a:srgbClr val="5B9BD4"/>
                      </a:solidFill>
                      <a:prstDash val="solid"/>
                    </a:lnR>
                    <a:lnT w="12700">
                      <a:solidFill>
                        <a:srgbClr val="5B9BD4"/>
                      </a:solidFill>
                      <a:prstDash val="solid"/>
                    </a:lnT>
                    <a:lnB w="12700">
                      <a:solidFill>
                        <a:srgbClr val="5B9BD4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</a:tr>
            </a:tbl>
          </a:graphicData>
        </a:graphic>
      </p:graphicFrame>
      <p:sp>
        <p:nvSpPr>
          <p:cNvPr id="5" name="object 5"/>
          <p:cNvSpPr txBox="1"/>
          <p:nvPr/>
        </p:nvSpPr>
        <p:spPr>
          <a:xfrm>
            <a:off x="6167120" y="5944006"/>
            <a:ext cx="4319270" cy="635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latin typeface="Calibri"/>
                <a:cs typeface="Calibri"/>
              </a:rPr>
              <a:t>The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student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table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has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4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attributes,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and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spc="-25" dirty="0">
                <a:latin typeface="Calibri"/>
                <a:cs typeface="Calibri"/>
              </a:rPr>
              <a:t>its</a:t>
            </a:r>
            <a:endParaRPr sz="20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000" b="1" i="1" dirty="0">
                <a:latin typeface="Calibri"/>
                <a:cs typeface="Calibri"/>
              </a:rPr>
              <a:t>degree</a:t>
            </a:r>
            <a:r>
              <a:rPr sz="2000" b="1" i="1" spc="-40" dirty="0">
                <a:latin typeface="Calibri"/>
                <a:cs typeface="Calibri"/>
              </a:rPr>
              <a:t> </a:t>
            </a:r>
            <a:r>
              <a:rPr sz="2000" b="1" i="1" dirty="0">
                <a:latin typeface="Calibri"/>
                <a:cs typeface="Calibri"/>
              </a:rPr>
              <a:t>is</a:t>
            </a:r>
            <a:r>
              <a:rPr sz="2000" b="1" i="1" spc="-30" dirty="0">
                <a:latin typeface="Calibri"/>
                <a:cs typeface="Calibri"/>
              </a:rPr>
              <a:t> </a:t>
            </a:r>
            <a:r>
              <a:rPr sz="2000" b="1" i="1" spc="-25" dirty="0">
                <a:latin typeface="Calibri"/>
                <a:cs typeface="Calibri"/>
              </a:rPr>
              <a:t>4</a:t>
            </a:r>
            <a:r>
              <a:rPr sz="2000" spc="-25" dirty="0">
                <a:latin typeface="Calibri"/>
                <a:cs typeface="Calibri"/>
              </a:rPr>
              <a:t>.</a:t>
            </a:r>
            <a:endParaRPr sz="2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83411" y="3054172"/>
            <a:ext cx="220091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10" dirty="0">
                <a:latin typeface="Calibri Light"/>
                <a:cs typeface="Calibri Light"/>
              </a:rPr>
              <a:t>Cardinality</a:t>
            </a:r>
            <a:endParaRPr sz="4000">
              <a:latin typeface="Calibri Light"/>
              <a:cs typeface="Calibri Ligh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170167" y="637159"/>
            <a:ext cx="4925060" cy="1836420"/>
          </a:xfrm>
          <a:prstGeom prst="rect">
            <a:avLst/>
          </a:prstGeom>
        </p:spPr>
        <p:txBody>
          <a:bodyPr vert="horz" wrap="square" lIns="0" tIns="48895" rIns="0" bIns="0" rtlCol="0">
            <a:spAutoFit/>
          </a:bodyPr>
          <a:lstStyle/>
          <a:p>
            <a:pPr marL="240029" marR="5080" indent="-227329">
              <a:lnSpc>
                <a:spcPct val="90000"/>
              </a:lnSpc>
              <a:spcBef>
                <a:spcPts val="385"/>
              </a:spcBef>
              <a:buFont typeface="Arial MT"/>
              <a:buChar char="•"/>
              <a:tabLst>
                <a:tab pos="241300" algn="l"/>
              </a:tabLst>
            </a:pPr>
            <a:r>
              <a:rPr sz="2400" dirty="0">
                <a:latin typeface="Calibri"/>
                <a:cs typeface="Calibri"/>
              </a:rPr>
              <a:t>The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total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number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tuples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at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any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one 	</a:t>
            </a:r>
            <a:r>
              <a:rPr sz="2400" dirty="0">
                <a:latin typeface="Calibri"/>
                <a:cs typeface="Calibri"/>
              </a:rPr>
              <a:t>time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relation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known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as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the 	</a:t>
            </a:r>
            <a:r>
              <a:rPr sz="2400" dirty="0">
                <a:latin typeface="Calibri"/>
                <a:cs typeface="Calibri"/>
              </a:rPr>
              <a:t>table's</a:t>
            </a:r>
            <a:r>
              <a:rPr sz="2400" spc="-9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cardinality.</a:t>
            </a:r>
            <a:endParaRPr sz="2400">
              <a:latin typeface="Calibri"/>
              <a:cs typeface="Calibri"/>
            </a:endParaRPr>
          </a:p>
          <a:p>
            <a:pPr marL="240029" marR="212090" indent="-227329">
              <a:lnSpc>
                <a:spcPts val="2590"/>
              </a:lnSpc>
              <a:spcBef>
                <a:spcPts val="1050"/>
              </a:spcBef>
              <a:buFont typeface="Arial MT"/>
              <a:buChar char="•"/>
              <a:tabLst>
                <a:tab pos="241300" algn="l"/>
              </a:tabLst>
            </a:pPr>
            <a:r>
              <a:rPr sz="2400" dirty="0">
                <a:latin typeface="Calibri"/>
                <a:cs typeface="Calibri"/>
              </a:rPr>
              <a:t>The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relation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whose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cardinality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0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is 	</a:t>
            </a:r>
            <a:r>
              <a:rPr sz="2400" dirty="0">
                <a:latin typeface="Calibri"/>
                <a:cs typeface="Calibri"/>
              </a:rPr>
              <a:t>called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empty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table.</a:t>
            </a:r>
            <a:endParaRPr sz="2400">
              <a:latin typeface="Calibri"/>
              <a:cs typeface="Calibri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6163055" y="2545079"/>
          <a:ext cx="5237480" cy="347852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65785"/>
                <a:gridCol w="1515110"/>
                <a:gridCol w="1177290"/>
                <a:gridCol w="1889760"/>
              </a:tblGrid>
              <a:tr h="591820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3200" b="1" spc="-2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ID</a:t>
                      </a:r>
                      <a:endParaRPr sz="3200">
                        <a:latin typeface="Calibri"/>
                        <a:cs typeface="Calibri"/>
                      </a:endParaRPr>
                    </a:p>
                  </a:txBody>
                  <a:tcPr marL="0" marR="0" marT="27305" marB="0">
                    <a:lnL w="12700">
                      <a:solidFill>
                        <a:srgbClr val="5B9BD4"/>
                      </a:solidFill>
                      <a:prstDash val="solid"/>
                    </a:lnL>
                    <a:solidFill>
                      <a:srgbClr val="5B9BD4"/>
                    </a:solidFill>
                  </a:tcPr>
                </a:tc>
                <a:tc>
                  <a:txBody>
                    <a:bodyPr/>
                    <a:lstStyle/>
                    <a:p>
                      <a:pPr marL="109220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3200" b="1" spc="-2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NAME</a:t>
                      </a:r>
                      <a:endParaRPr sz="3200">
                        <a:latin typeface="Calibri"/>
                        <a:cs typeface="Calibri"/>
                      </a:endParaRPr>
                    </a:p>
                  </a:txBody>
                  <a:tcPr marL="0" marR="0" marT="27305" marB="0">
                    <a:solidFill>
                      <a:srgbClr val="5B9BD4"/>
                    </a:solidFill>
                  </a:tcPr>
                </a:tc>
                <a:tc>
                  <a:txBody>
                    <a:bodyPr/>
                    <a:lstStyle/>
                    <a:p>
                      <a:pPr marL="137160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3200" b="1" spc="-2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AGE</a:t>
                      </a:r>
                      <a:endParaRPr sz="3200">
                        <a:latin typeface="Calibri"/>
                        <a:cs typeface="Calibri"/>
                      </a:endParaRPr>
                    </a:p>
                  </a:txBody>
                  <a:tcPr marL="0" marR="0" marT="27305" marB="0">
                    <a:solidFill>
                      <a:srgbClr val="5B9BD4"/>
                    </a:solidFill>
                  </a:tcPr>
                </a:tc>
                <a:tc>
                  <a:txBody>
                    <a:bodyPr/>
                    <a:lstStyle/>
                    <a:p>
                      <a:pPr marL="339725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32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COURSE</a:t>
                      </a:r>
                      <a:endParaRPr sz="3200">
                        <a:latin typeface="Calibri"/>
                        <a:cs typeface="Calibri"/>
                      </a:endParaRPr>
                    </a:p>
                  </a:txBody>
                  <a:tcPr marL="0" marR="0" marT="27305" marB="0">
                    <a:lnR w="12700">
                      <a:solidFill>
                        <a:srgbClr val="5B9BD4"/>
                      </a:solidFill>
                      <a:prstDash val="solid"/>
                    </a:lnR>
                    <a:solidFill>
                      <a:srgbClr val="5B9BD4"/>
                    </a:solidFill>
                  </a:tcPr>
                </a:tc>
              </a:tr>
              <a:tr h="572135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114"/>
                        </a:spcBef>
                      </a:pPr>
                      <a:r>
                        <a:rPr sz="3200" spc="-50" dirty="0">
                          <a:latin typeface="Calibri"/>
                          <a:cs typeface="Calibri"/>
                        </a:rPr>
                        <a:t>1</a:t>
                      </a:r>
                      <a:endParaRPr sz="3200">
                        <a:latin typeface="Calibri"/>
                        <a:cs typeface="Calibri"/>
                      </a:endParaRPr>
                    </a:p>
                  </a:txBody>
                  <a:tcPr marL="0" marR="0" marT="14604" marB="0">
                    <a:lnL w="12700">
                      <a:solidFill>
                        <a:srgbClr val="5B9BD4"/>
                      </a:solidFill>
                      <a:prstDash val="solid"/>
                    </a:lnL>
                    <a:lnB w="12700">
                      <a:solidFill>
                        <a:srgbClr val="5B9BD4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  <a:tc>
                  <a:txBody>
                    <a:bodyPr/>
                    <a:lstStyle/>
                    <a:p>
                      <a:pPr marL="109220">
                        <a:lnSpc>
                          <a:spcPct val="100000"/>
                        </a:lnSpc>
                        <a:spcBef>
                          <a:spcPts val="114"/>
                        </a:spcBef>
                      </a:pPr>
                      <a:r>
                        <a:rPr sz="3200" spc="-10" dirty="0">
                          <a:latin typeface="Calibri"/>
                          <a:cs typeface="Calibri"/>
                        </a:rPr>
                        <a:t>Ayyaz</a:t>
                      </a:r>
                      <a:endParaRPr sz="3200">
                        <a:latin typeface="Calibri"/>
                        <a:cs typeface="Calibri"/>
                      </a:endParaRPr>
                    </a:p>
                  </a:txBody>
                  <a:tcPr marL="0" marR="0" marT="14604" marB="0">
                    <a:lnB w="12700">
                      <a:solidFill>
                        <a:srgbClr val="5B9BD4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  <a:tc>
                  <a:txBody>
                    <a:bodyPr/>
                    <a:lstStyle/>
                    <a:p>
                      <a:pPr marL="137160">
                        <a:lnSpc>
                          <a:spcPct val="100000"/>
                        </a:lnSpc>
                        <a:spcBef>
                          <a:spcPts val="114"/>
                        </a:spcBef>
                      </a:pPr>
                      <a:r>
                        <a:rPr sz="3200" spc="-25" dirty="0">
                          <a:latin typeface="Calibri"/>
                          <a:cs typeface="Calibri"/>
                        </a:rPr>
                        <a:t>24</a:t>
                      </a:r>
                      <a:endParaRPr sz="3200">
                        <a:latin typeface="Calibri"/>
                        <a:cs typeface="Calibri"/>
                      </a:endParaRPr>
                    </a:p>
                  </a:txBody>
                  <a:tcPr marL="0" marR="0" marT="14604" marB="0">
                    <a:lnB w="12700">
                      <a:solidFill>
                        <a:srgbClr val="5B9BD4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  <a:tc>
                  <a:txBody>
                    <a:bodyPr/>
                    <a:lstStyle/>
                    <a:p>
                      <a:pPr marL="339725">
                        <a:lnSpc>
                          <a:spcPct val="100000"/>
                        </a:lnSpc>
                        <a:spcBef>
                          <a:spcPts val="114"/>
                        </a:spcBef>
                      </a:pPr>
                      <a:r>
                        <a:rPr sz="3200" dirty="0">
                          <a:latin typeface="Calibri"/>
                          <a:cs typeface="Calibri"/>
                        </a:rPr>
                        <a:t>B.</a:t>
                      </a:r>
                      <a:r>
                        <a:rPr sz="32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3200" spc="-20" dirty="0">
                          <a:latin typeface="Calibri"/>
                          <a:cs typeface="Calibri"/>
                        </a:rPr>
                        <a:t>Tech</a:t>
                      </a:r>
                      <a:endParaRPr sz="3200">
                        <a:latin typeface="Calibri"/>
                        <a:cs typeface="Calibri"/>
                      </a:endParaRPr>
                    </a:p>
                  </a:txBody>
                  <a:tcPr marL="0" marR="0" marT="14604" marB="0">
                    <a:lnR w="12700">
                      <a:solidFill>
                        <a:srgbClr val="5B9BD4"/>
                      </a:solidFill>
                      <a:prstDash val="solid"/>
                    </a:lnR>
                    <a:lnB w="12700">
                      <a:solidFill>
                        <a:srgbClr val="5B9BD4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</a:tr>
              <a:tr h="578485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sz="3200" spc="-50" dirty="0">
                          <a:latin typeface="Calibri"/>
                          <a:cs typeface="Calibri"/>
                        </a:rPr>
                        <a:t>2</a:t>
                      </a:r>
                      <a:endParaRPr sz="3200">
                        <a:latin typeface="Calibri"/>
                        <a:cs typeface="Calibri"/>
                      </a:endParaRPr>
                    </a:p>
                  </a:txBody>
                  <a:tcPr marL="0" marR="0" marT="20955" marB="0">
                    <a:lnL w="12700">
                      <a:solidFill>
                        <a:srgbClr val="5B9BD4"/>
                      </a:solidFill>
                      <a:prstDash val="solid"/>
                    </a:lnL>
                    <a:lnT w="12700">
                      <a:solidFill>
                        <a:srgbClr val="5B9BD4"/>
                      </a:solidFill>
                      <a:prstDash val="solid"/>
                    </a:lnT>
                    <a:lnB w="12700">
                      <a:solidFill>
                        <a:srgbClr val="5B9B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9220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sz="3200" spc="-10" dirty="0">
                          <a:latin typeface="Calibri"/>
                          <a:cs typeface="Calibri"/>
                        </a:rPr>
                        <a:t>Kamil</a:t>
                      </a:r>
                      <a:endParaRPr sz="3200">
                        <a:latin typeface="Calibri"/>
                        <a:cs typeface="Calibri"/>
                      </a:endParaRPr>
                    </a:p>
                  </a:txBody>
                  <a:tcPr marL="0" marR="0" marT="20955" marB="0">
                    <a:lnT w="12700">
                      <a:solidFill>
                        <a:srgbClr val="5B9BD4"/>
                      </a:solidFill>
                      <a:prstDash val="solid"/>
                    </a:lnT>
                    <a:lnB w="12700">
                      <a:solidFill>
                        <a:srgbClr val="5B9B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7160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sz="3200" spc="-25" dirty="0">
                          <a:latin typeface="Calibri"/>
                          <a:cs typeface="Calibri"/>
                        </a:rPr>
                        <a:t>20</a:t>
                      </a:r>
                      <a:endParaRPr sz="3200">
                        <a:latin typeface="Calibri"/>
                        <a:cs typeface="Calibri"/>
                      </a:endParaRPr>
                    </a:p>
                  </a:txBody>
                  <a:tcPr marL="0" marR="0" marT="20955" marB="0">
                    <a:lnT w="12700">
                      <a:solidFill>
                        <a:srgbClr val="5B9BD4"/>
                      </a:solidFill>
                      <a:prstDash val="solid"/>
                    </a:lnT>
                    <a:lnB w="12700">
                      <a:solidFill>
                        <a:srgbClr val="5B9B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39725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sz="3200" spc="-25" dirty="0">
                          <a:latin typeface="Calibri"/>
                          <a:cs typeface="Calibri"/>
                        </a:rPr>
                        <a:t>CA</a:t>
                      </a:r>
                      <a:endParaRPr sz="3200">
                        <a:latin typeface="Calibri"/>
                        <a:cs typeface="Calibri"/>
                      </a:endParaRPr>
                    </a:p>
                  </a:txBody>
                  <a:tcPr marL="0" marR="0" marT="20955" marB="0">
                    <a:lnR w="12700">
                      <a:solidFill>
                        <a:srgbClr val="5B9BD4"/>
                      </a:solidFill>
                      <a:prstDash val="solid"/>
                    </a:lnR>
                    <a:lnT w="12700">
                      <a:solidFill>
                        <a:srgbClr val="5B9BD4"/>
                      </a:solidFill>
                      <a:prstDash val="solid"/>
                    </a:lnT>
                    <a:lnB w="12700">
                      <a:solidFill>
                        <a:srgbClr val="5B9BD4"/>
                      </a:solidFill>
                      <a:prstDash val="solid"/>
                    </a:lnB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3200" spc="-50" dirty="0">
                          <a:latin typeface="Calibri"/>
                          <a:cs typeface="Calibri"/>
                        </a:rPr>
                        <a:t>3</a:t>
                      </a:r>
                      <a:endParaRPr sz="3200">
                        <a:latin typeface="Calibri"/>
                        <a:cs typeface="Calibri"/>
                      </a:endParaRPr>
                    </a:p>
                  </a:txBody>
                  <a:tcPr marL="0" marR="0" marT="21590" marB="0">
                    <a:lnL w="12700">
                      <a:solidFill>
                        <a:srgbClr val="5B9BD4"/>
                      </a:solidFill>
                      <a:prstDash val="solid"/>
                    </a:lnL>
                    <a:lnT w="12700">
                      <a:solidFill>
                        <a:srgbClr val="5B9BD4"/>
                      </a:solidFill>
                      <a:prstDash val="solid"/>
                    </a:lnT>
                    <a:lnB w="12700">
                      <a:solidFill>
                        <a:srgbClr val="5B9BD4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  <a:tc>
                  <a:txBody>
                    <a:bodyPr/>
                    <a:lstStyle/>
                    <a:p>
                      <a:pPr marL="109220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3200" spc="-10" dirty="0">
                          <a:latin typeface="Calibri"/>
                          <a:cs typeface="Calibri"/>
                        </a:rPr>
                        <a:t>Saqib</a:t>
                      </a:r>
                      <a:endParaRPr sz="3200">
                        <a:latin typeface="Calibri"/>
                        <a:cs typeface="Calibri"/>
                      </a:endParaRPr>
                    </a:p>
                  </a:txBody>
                  <a:tcPr marL="0" marR="0" marT="21590" marB="0">
                    <a:lnT w="12700">
                      <a:solidFill>
                        <a:srgbClr val="5B9BD4"/>
                      </a:solidFill>
                      <a:prstDash val="solid"/>
                    </a:lnT>
                    <a:lnB w="12700">
                      <a:solidFill>
                        <a:srgbClr val="5B9BD4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  <a:tc>
                  <a:txBody>
                    <a:bodyPr/>
                    <a:lstStyle/>
                    <a:p>
                      <a:pPr marL="137160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3200" spc="-25" dirty="0">
                          <a:latin typeface="Calibri"/>
                          <a:cs typeface="Calibri"/>
                        </a:rPr>
                        <a:t>21</a:t>
                      </a:r>
                      <a:endParaRPr sz="3200">
                        <a:latin typeface="Calibri"/>
                        <a:cs typeface="Calibri"/>
                      </a:endParaRPr>
                    </a:p>
                  </a:txBody>
                  <a:tcPr marL="0" marR="0" marT="21590" marB="0">
                    <a:lnT w="12700">
                      <a:solidFill>
                        <a:srgbClr val="5B9BD4"/>
                      </a:solidFill>
                      <a:prstDash val="solid"/>
                    </a:lnT>
                    <a:lnB w="12700">
                      <a:solidFill>
                        <a:srgbClr val="5B9BD4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  <a:tc>
                  <a:txBody>
                    <a:bodyPr/>
                    <a:lstStyle/>
                    <a:p>
                      <a:pPr marL="339725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3200" spc="-25" dirty="0">
                          <a:latin typeface="Calibri"/>
                          <a:cs typeface="Calibri"/>
                        </a:rPr>
                        <a:t>BCA</a:t>
                      </a:r>
                      <a:endParaRPr sz="3200">
                        <a:latin typeface="Calibri"/>
                        <a:cs typeface="Calibri"/>
                      </a:endParaRPr>
                    </a:p>
                  </a:txBody>
                  <a:tcPr marL="0" marR="0" marT="21590" marB="0">
                    <a:lnR w="12700">
                      <a:solidFill>
                        <a:srgbClr val="5B9BD4"/>
                      </a:solidFill>
                      <a:prstDash val="solid"/>
                    </a:lnR>
                    <a:lnT w="12700">
                      <a:solidFill>
                        <a:srgbClr val="5B9BD4"/>
                      </a:solidFill>
                      <a:prstDash val="solid"/>
                    </a:lnT>
                    <a:lnB w="12700">
                      <a:solidFill>
                        <a:srgbClr val="5B9BD4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</a:tr>
              <a:tr h="578485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3200" spc="-50" dirty="0">
                          <a:latin typeface="Calibri"/>
                          <a:cs typeface="Calibri"/>
                        </a:rPr>
                        <a:t>4</a:t>
                      </a:r>
                      <a:endParaRPr sz="3200">
                        <a:latin typeface="Calibri"/>
                        <a:cs typeface="Calibri"/>
                      </a:endParaRPr>
                    </a:p>
                  </a:txBody>
                  <a:tcPr marL="0" marR="0" marT="21590" marB="0">
                    <a:lnL w="12700">
                      <a:solidFill>
                        <a:srgbClr val="5B9BD4"/>
                      </a:solidFill>
                      <a:prstDash val="solid"/>
                    </a:lnL>
                    <a:lnT w="12700">
                      <a:solidFill>
                        <a:srgbClr val="5B9BD4"/>
                      </a:solidFill>
                      <a:prstDash val="solid"/>
                    </a:lnT>
                    <a:lnB w="12700">
                      <a:solidFill>
                        <a:srgbClr val="5B9B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9220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3200" spc="-10" dirty="0">
                          <a:latin typeface="Calibri"/>
                          <a:cs typeface="Calibri"/>
                        </a:rPr>
                        <a:t>Kamran</a:t>
                      </a:r>
                      <a:endParaRPr sz="3200">
                        <a:latin typeface="Calibri"/>
                        <a:cs typeface="Calibri"/>
                      </a:endParaRPr>
                    </a:p>
                  </a:txBody>
                  <a:tcPr marL="0" marR="0" marT="21590" marB="0">
                    <a:lnT w="12700">
                      <a:solidFill>
                        <a:srgbClr val="5B9BD4"/>
                      </a:solidFill>
                      <a:prstDash val="solid"/>
                    </a:lnT>
                    <a:lnB w="12700">
                      <a:solidFill>
                        <a:srgbClr val="5B9B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7160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3200" spc="-25" dirty="0">
                          <a:latin typeface="Calibri"/>
                          <a:cs typeface="Calibri"/>
                        </a:rPr>
                        <a:t>22</a:t>
                      </a:r>
                      <a:endParaRPr sz="3200">
                        <a:latin typeface="Calibri"/>
                        <a:cs typeface="Calibri"/>
                      </a:endParaRPr>
                    </a:p>
                  </a:txBody>
                  <a:tcPr marL="0" marR="0" marT="21590" marB="0">
                    <a:lnT w="12700">
                      <a:solidFill>
                        <a:srgbClr val="5B9BD4"/>
                      </a:solidFill>
                      <a:prstDash val="solid"/>
                    </a:lnT>
                    <a:lnB w="12700">
                      <a:solidFill>
                        <a:srgbClr val="5B9B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39725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3200" spc="-25" dirty="0">
                          <a:latin typeface="Calibri"/>
                          <a:cs typeface="Calibri"/>
                        </a:rPr>
                        <a:t>MCA</a:t>
                      </a:r>
                      <a:endParaRPr sz="3200">
                        <a:latin typeface="Calibri"/>
                        <a:cs typeface="Calibri"/>
                      </a:endParaRPr>
                    </a:p>
                  </a:txBody>
                  <a:tcPr marL="0" marR="0" marT="21590" marB="0">
                    <a:lnR w="12700">
                      <a:solidFill>
                        <a:srgbClr val="5B9BD4"/>
                      </a:solidFill>
                      <a:prstDash val="solid"/>
                    </a:lnR>
                    <a:lnT w="12700">
                      <a:solidFill>
                        <a:srgbClr val="5B9BD4"/>
                      </a:solidFill>
                      <a:prstDash val="solid"/>
                    </a:lnT>
                    <a:lnB w="12700">
                      <a:solidFill>
                        <a:srgbClr val="5B9BD4"/>
                      </a:solidFill>
                      <a:prstDash val="solid"/>
                    </a:lnB>
                  </a:tcPr>
                </a:tc>
              </a:tr>
              <a:tr h="578485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3200" spc="-50" dirty="0">
                          <a:latin typeface="Calibri"/>
                          <a:cs typeface="Calibri"/>
                        </a:rPr>
                        <a:t>5</a:t>
                      </a:r>
                      <a:endParaRPr sz="3200">
                        <a:latin typeface="Calibri"/>
                        <a:cs typeface="Calibri"/>
                      </a:endParaRPr>
                    </a:p>
                  </a:txBody>
                  <a:tcPr marL="0" marR="0" marT="21590" marB="0">
                    <a:lnL w="12700">
                      <a:solidFill>
                        <a:srgbClr val="5B9BD4"/>
                      </a:solidFill>
                      <a:prstDash val="solid"/>
                    </a:lnL>
                    <a:lnT w="12700">
                      <a:solidFill>
                        <a:srgbClr val="5B9BD4"/>
                      </a:solidFill>
                      <a:prstDash val="solid"/>
                    </a:lnT>
                    <a:lnB w="12700">
                      <a:solidFill>
                        <a:srgbClr val="5B9BD4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  <a:tc>
                  <a:txBody>
                    <a:bodyPr/>
                    <a:lstStyle/>
                    <a:p>
                      <a:pPr marL="109220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3200" spc="-10" dirty="0">
                          <a:latin typeface="Calibri"/>
                          <a:cs typeface="Calibri"/>
                        </a:rPr>
                        <a:t>Saeed</a:t>
                      </a:r>
                      <a:endParaRPr sz="3200">
                        <a:latin typeface="Calibri"/>
                        <a:cs typeface="Calibri"/>
                      </a:endParaRPr>
                    </a:p>
                  </a:txBody>
                  <a:tcPr marL="0" marR="0" marT="21590" marB="0">
                    <a:lnT w="12700">
                      <a:solidFill>
                        <a:srgbClr val="5B9BD4"/>
                      </a:solidFill>
                      <a:prstDash val="solid"/>
                    </a:lnT>
                    <a:lnB w="12700">
                      <a:solidFill>
                        <a:srgbClr val="5B9BD4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  <a:tc>
                  <a:txBody>
                    <a:bodyPr/>
                    <a:lstStyle/>
                    <a:p>
                      <a:pPr marL="137160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3200" spc="-25" dirty="0">
                          <a:latin typeface="Calibri"/>
                          <a:cs typeface="Calibri"/>
                        </a:rPr>
                        <a:t>26</a:t>
                      </a:r>
                      <a:endParaRPr sz="3200">
                        <a:latin typeface="Calibri"/>
                        <a:cs typeface="Calibri"/>
                      </a:endParaRPr>
                    </a:p>
                  </a:txBody>
                  <a:tcPr marL="0" marR="0" marT="21590" marB="0">
                    <a:lnT w="12700">
                      <a:solidFill>
                        <a:srgbClr val="5B9BD4"/>
                      </a:solidFill>
                      <a:prstDash val="solid"/>
                    </a:lnT>
                    <a:lnB w="12700">
                      <a:solidFill>
                        <a:srgbClr val="5B9BD4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  <a:tc>
                  <a:txBody>
                    <a:bodyPr/>
                    <a:lstStyle/>
                    <a:p>
                      <a:pPr marL="339725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3200" spc="-25" dirty="0">
                          <a:latin typeface="Calibri"/>
                          <a:cs typeface="Calibri"/>
                        </a:rPr>
                        <a:t>BSC</a:t>
                      </a:r>
                      <a:endParaRPr sz="3200">
                        <a:latin typeface="Calibri"/>
                        <a:cs typeface="Calibri"/>
                      </a:endParaRPr>
                    </a:p>
                  </a:txBody>
                  <a:tcPr marL="0" marR="0" marT="21590" marB="0">
                    <a:lnR w="12700">
                      <a:solidFill>
                        <a:srgbClr val="5B9BD4"/>
                      </a:solidFill>
                      <a:prstDash val="solid"/>
                    </a:lnR>
                    <a:lnT w="12700">
                      <a:solidFill>
                        <a:srgbClr val="5B9BD4"/>
                      </a:solidFill>
                      <a:prstDash val="solid"/>
                    </a:lnT>
                    <a:lnB w="12700">
                      <a:solidFill>
                        <a:srgbClr val="5B9BD4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</a:tr>
            </a:tbl>
          </a:graphicData>
        </a:graphic>
      </p:graphicFrame>
      <p:sp>
        <p:nvSpPr>
          <p:cNvPr id="5" name="object 5"/>
          <p:cNvSpPr txBox="1"/>
          <p:nvPr/>
        </p:nvSpPr>
        <p:spPr>
          <a:xfrm>
            <a:off x="6167120" y="6092139"/>
            <a:ext cx="540639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latin typeface="Calibri"/>
                <a:cs typeface="Calibri"/>
              </a:rPr>
              <a:t>The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student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table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has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5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rows,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and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its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cardinality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is</a:t>
            </a:r>
            <a:r>
              <a:rPr sz="2000" spc="-25" dirty="0">
                <a:latin typeface="Calibri"/>
                <a:cs typeface="Calibri"/>
              </a:rPr>
              <a:t> 5.</a:t>
            </a:r>
            <a:endParaRPr sz="2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83411" y="3054172"/>
            <a:ext cx="161671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10" dirty="0">
                <a:latin typeface="Calibri Light"/>
                <a:cs typeface="Calibri Light"/>
              </a:rPr>
              <a:t>Domain</a:t>
            </a:r>
            <a:endParaRPr sz="4000">
              <a:latin typeface="Calibri Light"/>
              <a:cs typeface="Calibri Ligh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170167" y="1927986"/>
            <a:ext cx="5084445" cy="2907030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240029" marR="572770" indent="-227329">
              <a:lnSpc>
                <a:spcPts val="2590"/>
              </a:lnSpc>
              <a:spcBef>
                <a:spcPts val="425"/>
              </a:spcBef>
              <a:buFont typeface="Arial MT"/>
              <a:buChar char="•"/>
              <a:tabLst>
                <a:tab pos="241300" algn="l"/>
              </a:tabLst>
            </a:pPr>
            <a:r>
              <a:rPr sz="2400" dirty="0">
                <a:latin typeface="Calibri"/>
                <a:cs typeface="Calibri"/>
              </a:rPr>
              <a:t>The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domain</a:t>
            </a:r>
            <a:r>
              <a:rPr sz="2400" b="1" spc="-55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refers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b="1" i="1" spc="-10" dirty="0">
                <a:latin typeface="Calibri"/>
                <a:cs typeface="Calibri"/>
              </a:rPr>
              <a:t>possible 	</a:t>
            </a:r>
            <a:r>
              <a:rPr sz="2400" b="1" i="1" dirty="0">
                <a:latin typeface="Calibri"/>
                <a:cs typeface="Calibri"/>
              </a:rPr>
              <a:t>values</a:t>
            </a:r>
            <a:r>
              <a:rPr sz="2400" b="1" i="1" spc="-65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each</a:t>
            </a:r>
            <a:r>
              <a:rPr sz="2400" b="1" i="1" spc="-70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attribute</a:t>
            </a:r>
            <a:r>
              <a:rPr sz="2400" b="1" i="1" spc="-35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can</a:t>
            </a:r>
            <a:r>
              <a:rPr sz="2400" b="1" i="1" spc="-50" dirty="0">
                <a:latin typeface="Calibri"/>
                <a:cs typeface="Calibri"/>
              </a:rPr>
              <a:t> </a:t>
            </a:r>
            <a:r>
              <a:rPr sz="2400" b="1" i="1" spc="-10" dirty="0">
                <a:latin typeface="Calibri"/>
                <a:cs typeface="Calibri"/>
              </a:rPr>
              <a:t>contain</a:t>
            </a:r>
            <a:r>
              <a:rPr sz="2400" spc="-10" dirty="0">
                <a:latin typeface="Calibri"/>
                <a:cs typeface="Calibri"/>
              </a:rPr>
              <a:t>.</a:t>
            </a:r>
            <a:endParaRPr sz="2400">
              <a:latin typeface="Calibri"/>
              <a:cs typeface="Calibri"/>
            </a:endParaRPr>
          </a:p>
          <a:p>
            <a:pPr marL="240029" marR="105410" indent="-227329">
              <a:lnSpc>
                <a:spcPts val="2590"/>
              </a:lnSpc>
              <a:spcBef>
                <a:spcPts val="1015"/>
              </a:spcBef>
              <a:buFont typeface="Arial MT"/>
              <a:buChar char="•"/>
              <a:tabLst>
                <a:tab pos="241300" algn="l"/>
              </a:tabLst>
            </a:pPr>
            <a:r>
              <a:rPr sz="2400" dirty="0">
                <a:latin typeface="Calibri"/>
                <a:cs typeface="Calibri"/>
              </a:rPr>
              <a:t>It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can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be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specified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using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standard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data 	</a:t>
            </a:r>
            <a:r>
              <a:rPr sz="2400" dirty="0">
                <a:latin typeface="Calibri"/>
                <a:cs typeface="Calibri"/>
              </a:rPr>
              <a:t>types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such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as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integers,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floating 	</a:t>
            </a:r>
            <a:r>
              <a:rPr sz="2400" dirty="0">
                <a:latin typeface="Calibri"/>
                <a:cs typeface="Calibri"/>
              </a:rPr>
              <a:t>numbers,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etc.</a:t>
            </a:r>
            <a:endParaRPr sz="240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spcBef>
                <a:spcPts val="680"/>
              </a:spcBef>
              <a:buFont typeface="Arial MT"/>
              <a:buChar char="•"/>
              <a:tabLst>
                <a:tab pos="240029" algn="l"/>
              </a:tabLst>
            </a:pPr>
            <a:r>
              <a:rPr sz="2400" dirty="0">
                <a:latin typeface="Calibri"/>
                <a:cs typeface="Calibri"/>
              </a:rPr>
              <a:t>For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example,</a:t>
            </a:r>
            <a:endParaRPr sz="2400">
              <a:latin typeface="Calibri"/>
              <a:cs typeface="Calibri"/>
            </a:endParaRPr>
          </a:p>
          <a:p>
            <a:pPr marL="698500" marR="5080" lvl="1" indent="-228600">
              <a:lnSpc>
                <a:spcPts val="2160"/>
              </a:lnSpc>
              <a:spcBef>
                <a:spcPts val="550"/>
              </a:spcBef>
              <a:buFont typeface="Arial MT"/>
              <a:buChar char="•"/>
              <a:tabLst>
                <a:tab pos="698500" algn="l"/>
              </a:tabLst>
            </a:pPr>
            <a:r>
              <a:rPr sz="2000" dirty="0">
                <a:latin typeface="Calibri"/>
                <a:cs typeface="Calibri"/>
              </a:rPr>
              <a:t>An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attribute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entitled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Marital_Status</a:t>
            </a:r>
            <a:r>
              <a:rPr sz="2000" b="1" spc="-55" dirty="0">
                <a:latin typeface="Calibri"/>
                <a:cs typeface="Calibri"/>
              </a:rPr>
              <a:t> </a:t>
            </a:r>
            <a:r>
              <a:rPr sz="2000" spc="-25" dirty="0">
                <a:latin typeface="Calibri"/>
                <a:cs typeface="Calibri"/>
              </a:rPr>
              <a:t>may </a:t>
            </a:r>
            <a:r>
              <a:rPr sz="2000" dirty="0">
                <a:latin typeface="Calibri"/>
                <a:cs typeface="Calibri"/>
              </a:rPr>
              <a:t>be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limited to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i="1" dirty="0">
                <a:latin typeface="Calibri"/>
                <a:cs typeface="Calibri"/>
              </a:rPr>
              <a:t>married</a:t>
            </a:r>
            <a:r>
              <a:rPr sz="2000" i="1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or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i="1" dirty="0">
                <a:latin typeface="Calibri"/>
                <a:cs typeface="Calibri"/>
              </a:rPr>
              <a:t>unmarried</a:t>
            </a:r>
            <a:r>
              <a:rPr sz="2000" i="1" spc="-5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values.</a:t>
            </a:r>
            <a:endParaRPr sz="2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83411" y="3054172"/>
            <a:ext cx="252793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dirty="0">
                <a:latin typeface="Calibri Light"/>
                <a:cs typeface="Calibri Light"/>
              </a:rPr>
              <a:t>NULL</a:t>
            </a:r>
            <a:r>
              <a:rPr sz="4000" spc="-15" dirty="0">
                <a:latin typeface="Calibri Light"/>
                <a:cs typeface="Calibri Light"/>
              </a:rPr>
              <a:t> </a:t>
            </a:r>
            <a:r>
              <a:rPr sz="4000" spc="-35" dirty="0">
                <a:latin typeface="Calibri Light"/>
                <a:cs typeface="Calibri Light"/>
              </a:rPr>
              <a:t>Values</a:t>
            </a:r>
            <a:endParaRPr sz="4000">
              <a:latin typeface="Calibri Light"/>
              <a:cs typeface="Calibri Ligh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170167" y="2462276"/>
            <a:ext cx="5011420" cy="1836420"/>
          </a:xfrm>
          <a:prstGeom prst="rect">
            <a:avLst/>
          </a:prstGeom>
        </p:spPr>
        <p:txBody>
          <a:bodyPr vert="horz" wrap="square" lIns="0" tIns="48895" rIns="0" bIns="0" rtlCol="0">
            <a:spAutoFit/>
          </a:bodyPr>
          <a:lstStyle/>
          <a:p>
            <a:pPr marL="240029" marR="191135" indent="-227329">
              <a:lnSpc>
                <a:spcPct val="90000"/>
              </a:lnSpc>
              <a:spcBef>
                <a:spcPts val="385"/>
              </a:spcBef>
              <a:buFont typeface="Arial MT"/>
              <a:buChar char="•"/>
              <a:tabLst>
                <a:tab pos="241300" algn="l"/>
              </a:tabLst>
            </a:pPr>
            <a:r>
              <a:rPr sz="2400" dirty="0">
                <a:latin typeface="Calibri"/>
                <a:cs typeface="Calibri"/>
              </a:rPr>
              <a:t>The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NULL</a:t>
            </a:r>
            <a:r>
              <a:rPr sz="2400" b="1" spc="-8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value</a:t>
            </a:r>
            <a:r>
              <a:rPr sz="2400" b="1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table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specifies 	</a:t>
            </a:r>
            <a:r>
              <a:rPr sz="2400" dirty="0">
                <a:latin typeface="Calibri"/>
                <a:cs typeface="Calibri"/>
              </a:rPr>
              <a:t>that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field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has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been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left</a:t>
            </a:r>
            <a:r>
              <a:rPr sz="2400" b="1" i="1" spc="-35" dirty="0">
                <a:latin typeface="Calibri"/>
                <a:cs typeface="Calibri"/>
              </a:rPr>
              <a:t> </a:t>
            </a:r>
            <a:r>
              <a:rPr sz="2400" b="1" i="1" spc="-10" dirty="0">
                <a:latin typeface="Calibri"/>
                <a:cs typeface="Calibri"/>
              </a:rPr>
              <a:t>blank 	</a:t>
            </a:r>
            <a:r>
              <a:rPr sz="2400" dirty="0">
                <a:latin typeface="Calibri"/>
                <a:cs typeface="Calibri"/>
              </a:rPr>
              <a:t>during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record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creation.</a:t>
            </a:r>
            <a:endParaRPr sz="2400">
              <a:latin typeface="Calibri"/>
              <a:cs typeface="Calibri"/>
            </a:endParaRPr>
          </a:p>
          <a:p>
            <a:pPr marL="240029" marR="5080" indent="-227329">
              <a:lnSpc>
                <a:spcPts val="2590"/>
              </a:lnSpc>
              <a:spcBef>
                <a:spcPts val="1050"/>
              </a:spcBef>
              <a:buFont typeface="Arial MT"/>
              <a:buChar char="•"/>
              <a:tabLst>
                <a:tab pos="241300" algn="l"/>
              </a:tabLst>
            </a:pPr>
            <a:r>
              <a:rPr sz="2400" dirty="0">
                <a:latin typeface="Calibri"/>
                <a:cs typeface="Calibri"/>
              </a:rPr>
              <a:t>It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different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from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value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filled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with 	</a:t>
            </a:r>
            <a:r>
              <a:rPr sz="2400" spc="-10" dirty="0">
                <a:latin typeface="Calibri"/>
                <a:cs typeface="Calibri"/>
              </a:rPr>
              <a:t>zero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or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field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that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contains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space.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6095"/>
            <a:ext cx="5639435" cy="6477000"/>
            <a:chOff x="0" y="6095"/>
            <a:chExt cx="5639435" cy="6477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118872"/>
              <a:ext cx="5638829" cy="6248400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184911"/>
              <a:ext cx="5509278" cy="6121400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6095"/>
              <a:ext cx="5638800" cy="6477000"/>
            </a:xfrm>
            <a:prstGeom prst="rect">
              <a:avLst/>
            </a:prstGeom>
          </p:spPr>
        </p:pic>
      </p:grpSp>
      <p:sp>
        <p:nvSpPr>
          <p:cNvPr id="6" name="object 6"/>
          <p:cNvSpPr txBox="1"/>
          <p:nvPr/>
        </p:nvSpPr>
        <p:spPr>
          <a:xfrm>
            <a:off x="883411" y="3054172"/>
            <a:ext cx="279400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dirty="0">
                <a:latin typeface="Calibri Light"/>
                <a:cs typeface="Calibri Light"/>
              </a:rPr>
              <a:t>Data</a:t>
            </a:r>
            <a:r>
              <a:rPr sz="4000" spc="-170" dirty="0">
                <a:latin typeface="Calibri Light"/>
                <a:cs typeface="Calibri Light"/>
              </a:rPr>
              <a:t> </a:t>
            </a:r>
            <a:r>
              <a:rPr sz="4000" spc="-10" dirty="0">
                <a:latin typeface="Calibri Light"/>
                <a:cs typeface="Calibri Light"/>
              </a:rPr>
              <a:t>Integrity</a:t>
            </a:r>
            <a:endParaRPr sz="4000">
              <a:latin typeface="Calibri Light"/>
              <a:cs typeface="Calibri Light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5632450" y="851661"/>
            <a:ext cx="6350000" cy="1299210"/>
            <a:chOff x="5632450" y="851661"/>
            <a:chExt cx="6350000" cy="1299210"/>
          </a:xfrm>
        </p:grpSpPr>
        <p:sp>
          <p:nvSpPr>
            <p:cNvPr id="8" name="object 8"/>
            <p:cNvSpPr/>
            <p:nvPr/>
          </p:nvSpPr>
          <p:spPr>
            <a:xfrm>
              <a:off x="5638800" y="1123187"/>
              <a:ext cx="6337300" cy="1021080"/>
            </a:xfrm>
            <a:custGeom>
              <a:avLst/>
              <a:gdLst/>
              <a:ahLst/>
              <a:cxnLst/>
              <a:rect l="l" t="t" r="r" b="b"/>
              <a:pathLst>
                <a:path w="6337300" h="1021080">
                  <a:moveTo>
                    <a:pt x="0" y="1021080"/>
                  </a:moveTo>
                  <a:lnTo>
                    <a:pt x="6336792" y="1021080"/>
                  </a:lnTo>
                  <a:lnTo>
                    <a:pt x="6336792" y="0"/>
                  </a:lnTo>
                  <a:lnTo>
                    <a:pt x="0" y="0"/>
                  </a:lnTo>
                  <a:lnTo>
                    <a:pt x="0" y="1021080"/>
                  </a:lnTo>
                  <a:close/>
                </a:path>
              </a:pathLst>
            </a:custGeom>
            <a:ln w="12700">
              <a:solidFill>
                <a:srgbClr val="5B9B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5955791" y="858011"/>
              <a:ext cx="4434840" cy="532130"/>
            </a:xfrm>
            <a:custGeom>
              <a:avLst/>
              <a:gdLst/>
              <a:ahLst/>
              <a:cxnLst/>
              <a:rect l="l" t="t" r="r" b="b"/>
              <a:pathLst>
                <a:path w="4434840" h="532130">
                  <a:moveTo>
                    <a:pt x="4346194" y="0"/>
                  </a:moveTo>
                  <a:lnTo>
                    <a:pt x="88646" y="0"/>
                  </a:lnTo>
                  <a:lnTo>
                    <a:pt x="54167" y="6975"/>
                  </a:lnTo>
                  <a:lnTo>
                    <a:pt x="25987" y="25987"/>
                  </a:lnTo>
                  <a:lnTo>
                    <a:pt x="6975" y="54167"/>
                  </a:lnTo>
                  <a:lnTo>
                    <a:pt x="0" y="88646"/>
                  </a:lnTo>
                  <a:lnTo>
                    <a:pt x="0" y="443229"/>
                  </a:lnTo>
                  <a:lnTo>
                    <a:pt x="6975" y="477708"/>
                  </a:lnTo>
                  <a:lnTo>
                    <a:pt x="25987" y="505888"/>
                  </a:lnTo>
                  <a:lnTo>
                    <a:pt x="54167" y="524900"/>
                  </a:lnTo>
                  <a:lnTo>
                    <a:pt x="88646" y="531876"/>
                  </a:lnTo>
                  <a:lnTo>
                    <a:pt x="4346194" y="531876"/>
                  </a:lnTo>
                  <a:lnTo>
                    <a:pt x="4380672" y="524900"/>
                  </a:lnTo>
                  <a:lnTo>
                    <a:pt x="4408852" y="505888"/>
                  </a:lnTo>
                  <a:lnTo>
                    <a:pt x="4427864" y="477708"/>
                  </a:lnTo>
                  <a:lnTo>
                    <a:pt x="4434840" y="443229"/>
                  </a:lnTo>
                  <a:lnTo>
                    <a:pt x="4434840" y="88646"/>
                  </a:lnTo>
                  <a:lnTo>
                    <a:pt x="4427864" y="54167"/>
                  </a:lnTo>
                  <a:lnTo>
                    <a:pt x="4408852" y="25987"/>
                  </a:lnTo>
                  <a:lnTo>
                    <a:pt x="4380672" y="6975"/>
                  </a:lnTo>
                  <a:lnTo>
                    <a:pt x="4346194" y="0"/>
                  </a:lnTo>
                  <a:close/>
                </a:path>
              </a:pathLst>
            </a:custGeom>
            <a:solidFill>
              <a:srgbClr val="5B9B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5955791" y="858011"/>
              <a:ext cx="4434840" cy="532130"/>
            </a:xfrm>
            <a:custGeom>
              <a:avLst/>
              <a:gdLst/>
              <a:ahLst/>
              <a:cxnLst/>
              <a:rect l="l" t="t" r="r" b="b"/>
              <a:pathLst>
                <a:path w="4434840" h="532130">
                  <a:moveTo>
                    <a:pt x="0" y="88646"/>
                  </a:moveTo>
                  <a:lnTo>
                    <a:pt x="6975" y="54167"/>
                  </a:lnTo>
                  <a:lnTo>
                    <a:pt x="25987" y="25987"/>
                  </a:lnTo>
                  <a:lnTo>
                    <a:pt x="54167" y="6975"/>
                  </a:lnTo>
                  <a:lnTo>
                    <a:pt x="88646" y="0"/>
                  </a:lnTo>
                  <a:lnTo>
                    <a:pt x="4346194" y="0"/>
                  </a:lnTo>
                  <a:lnTo>
                    <a:pt x="4380672" y="6975"/>
                  </a:lnTo>
                  <a:lnTo>
                    <a:pt x="4408852" y="25987"/>
                  </a:lnTo>
                  <a:lnTo>
                    <a:pt x="4427864" y="54167"/>
                  </a:lnTo>
                  <a:lnTo>
                    <a:pt x="4434840" y="88646"/>
                  </a:lnTo>
                  <a:lnTo>
                    <a:pt x="4434840" y="443229"/>
                  </a:lnTo>
                  <a:lnTo>
                    <a:pt x="4427864" y="477708"/>
                  </a:lnTo>
                  <a:lnTo>
                    <a:pt x="4408852" y="505888"/>
                  </a:lnTo>
                  <a:lnTo>
                    <a:pt x="4380672" y="524900"/>
                  </a:lnTo>
                  <a:lnTo>
                    <a:pt x="4346194" y="531876"/>
                  </a:lnTo>
                  <a:lnTo>
                    <a:pt x="88646" y="531876"/>
                  </a:lnTo>
                  <a:lnTo>
                    <a:pt x="54167" y="524900"/>
                  </a:lnTo>
                  <a:lnTo>
                    <a:pt x="25987" y="505888"/>
                  </a:lnTo>
                  <a:lnTo>
                    <a:pt x="6975" y="477708"/>
                  </a:lnTo>
                  <a:lnTo>
                    <a:pt x="0" y="443229"/>
                  </a:lnTo>
                  <a:lnTo>
                    <a:pt x="0" y="88646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6118605" y="947673"/>
            <a:ext cx="5250180" cy="10502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1115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Entity</a:t>
            </a:r>
            <a:r>
              <a:rPr sz="18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integrity:</a:t>
            </a:r>
            <a:endParaRPr sz="1800">
              <a:latin typeface="Calibri"/>
              <a:cs typeface="Calibri"/>
            </a:endParaRPr>
          </a:p>
          <a:p>
            <a:pPr marL="184785" marR="5080" indent="-172720">
              <a:lnSpc>
                <a:spcPts val="1970"/>
              </a:lnSpc>
              <a:spcBef>
                <a:spcPts val="2005"/>
              </a:spcBef>
              <a:buChar char="•"/>
              <a:tabLst>
                <a:tab pos="184785" algn="l"/>
              </a:tabLst>
            </a:pPr>
            <a:r>
              <a:rPr sz="1800" dirty="0">
                <a:latin typeface="Calibri"/>
                <a:cs typeface="Calibri"/>
              </a:rPr>
              <a:t>It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specifies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that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there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should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be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no</a:t>
            </a:r>
            <a:r>
              <a:rPr sz="1800" b="1" spc="-50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duplicate</a:t>
            </a:r>
            <a:r>
              <a:rPr sz="1800" b="1" spc="-60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rows</a:t>
            </a:r>
            <a:r>
              <a:rPr sz="1800" b="1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in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spc="-50" dirty="0">
                <a:latin typeface="Calibri"/>
                <a:cs typeface="Calibri"/>
              </a:rPr>
              <a:t>a </a:t>
            </a:r>
            <a:r>
              <a:rPr sz="1800" spc="-10" dirty="0">
                <a:latin typeface="Calibri"/>
                <a:cs typeface="Calibri"/>
              </a:rPr>
              <a:t>table.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5638800" y="2506979"/>
            <a:ext cx="6337300" cy="1021080"/>
          </a:xfrm>
          <a:custGeom>
            <a:avLst/>
            <a:gdLst/>
            <a:ahLst/>
            <a:cxnLst/>
            <a:rect l="l" t="t" r="r" b="b"/>
            <a:pathLst>
              <a:path w="6337300" h="1021079">
                <a:moveTo>
                  <a:pt x="0" y="1021080"/>
                </a:moveTo>
                <a:lnTo>
                  <a:pt x="6336792" y="1021080"/>
                </a:lnTo>
                <a:lnTo>
                  <a:pt x="6336792" y="0"/>
                </a:lnTo>
                <a:lnTo>
                  <a:pt x="0" y="0"/>
                </a:lnTo>
                <a:lnTo>
                  <a:pt x="0" y="1021080"/>
                </a:lnTo>
                <a:close/>
              </a:path>
            </a:pathLst>
          </a:custGeom>
          <a:ln w="12700">
            <a:solidFill>
              <a:srgbClr val="52C9B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6118605" y="2831972"/>
            <a:ext cx="5372100" cy="5499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84785" indent="-172085">
              <a:lnSpc>
                <a:spcPts val="2065"/>
              </a:lnSpc>
              <a:spcBef>
                <a:spcPts val="100"/>
              </a:spcBef>
              <a:buChar char="•"/>
              <a:tabLst>
                <a:tab pos="184785" algn="l"/>
              </a:tabLst>
            </a:pPr>
            <a:r>
              <a:rPr sz="1800" dirty="0">
                <a:latin typeface="Calibri"/>
                <a:cs typeface="Calibri"/>
              </a:rPr>
              <a:t>It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enforces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valid</a:t>
            </a:r>
            <a:r>
              <a:rPr sz="1800" b="1" spc="-40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entries</a:t>
            </a:r>
            <a:r>
              <a:rPr sz="1800" b="1" spc="-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for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given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column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by</a:t>
            </a:r>
            <a:endParaRPr sz="1800">
              <a:latin typeface="Calibri"/>
              <a:cs typeface="Calibri"/>
            </a:endParaRPr>
          </a:p>
          <a:p>
            <a:pPr marL="184785">
              <a:lnSpc>
                <a:spcPts val="2065"/>
              </a:lnSpc>
            </a:pPr>
            <a:r>
              <a:rPr sz="1800" b="1" i="1" dirty="0">
                <a:latin typeface="Calibri"/>
                <a:cs typeface="Calibri"/>
              </a:rPr>
              <a:t>restricting</a:t>
            </a:r>
            <a:r>
              <a:rPr sz="1800" b="1" i="1" spc="-60" dirty="0">
                <a:latin typeface="Calibri"/>
                <a:cs typeface="Calibri"/>
              </a:rPr>
              <a:t> </a:t>
            </a:r>
            <a:r>
              <a:rPr sz="1800" b="1" i="1" dirty="0">
                <a:latin typeface="Calibri"/>
                <a:cs typeface="Calibri"/>
              </a:rPr>
              <a:t>the</a:t>
            </a:r>
            <a:r>
              <a:rPr sz="1800" b="1" i="1" spc="-35" dirty="0">
                <a:latin typeface="Calibri"/>
                <a:cs typeface="Calibri"/>
              </a:rPr>
              <a:t> </a:t>
            </a:r>
            <a:r>
              <a:rPr sz="1800" b="1" i="1" dirty="0">
                <a:latin typeface="Calibri"/>
                <a:cs typeface="Calibri"/>
              </a:rPr>
              <a:t>type,</a:t>
            </a:r>
            <a:r>
              <a:rPr sz="1800" b="1" i="1" spc="-50" dirty="0">
                <a:latin typeface="Calibri"/>
                <a:cs typeface="Calibri"/>
              </a:rPr>
              <a:t> </a:t>
            </a:r>
            <a:r>
              <a:rPr sz="1800" b="1" i="1" dirty="0">
                <a:latin typeface="Calibri"/>
                <a:cs typeface="Calibri"/>
              </a:rPr>
              <a:t>the</a:t>
            </a:r>
            <a:r>
              <a:rPr sz="1800" b="1" i="1" spc="-35" dirty="0">
                <a:latin typeface="Calibri"/>
                <a:cs typeface="Calibri"/>
              </a:rPr>
              <a:t> </a:t>
            </a:r>
            <a:r>
              <a:rPr sz="1800" b="1" i="1" dirty="0">
                <a:latin typeface="Calibri"/>
                <a:cs typeface="Calibri"/>
              </a:rPr>
              <a:t>format,</a:t>
            </a:r>
            <a:r>
              <a:rPr sz="1800" b="1" i="1" spc="-55" dirty="0">
                <a:latin typeface="Calibri"/>
                <a:cs typeface="Calibri"/>
              </a:rPr>
              <a:t> </a:t>
            </a:r>
            <a:r>
              <a:rPr sz="1800" b="1" i="1" dirty="0">
                <a:latin typeface="Calibri"/>
                <a:cs typeface="Calibri"/>
              </a:rPr>
              <a:t>or</a:t>
            </a:r>
            <a:r>
              <a:rPr sz="1800" b="1" i="1" spc="-40" dirty="0">
                <a:latin typeface="Calibri"/>
                <a:cs typeface="Calibri"/>
              </a:rPr>
              <a:t> </a:t>
            </a:r>
            <a:r>
              <a:rPr sz="1800" b="1" i="1" dirty="0">
                <a:latin typeface="Calibri"/>
                <a:cs typeface="Calibri"/>
              </a:rPr>
              <a:t>the</a:t>
            </a:r>
            <a:r>
              <a:rPr sz="1800" b="1" i="1" spc="-35" dirty="0">
                <a:latin typeface="Calibri"/>
                <a:cs typeface="Calibri"/>
              </a:rPr>
              <a:t> </a:t>
            </a:r>
            <a:r>
              <a:rPr sz="1800" b="1" i="1" dirty="0">
                <a:latin typeface="Calibri"/>
                <a:cs typeface="Calibri"/>
              </a:rPr>
              <a:t>range</a:t>
            </a:r>
            <a:r>
              <a:rPr sz="1800" b="1" i="1" spc="-50" dirty="0">
                <a:latin typeface="Calibri"/>
                <a:cs typeface="Calibri"/>
              </a:rPr>
              <a:t> </a:t>
            </a:r>
            <a:r>
              <a:rPr sz="1800" b="1" i="1" dirty="0">
                <a:latin typeface="Calibri"/>
                <a:cs typeface="Calibri"/>
              </a:rPr>
              <a:t>of</a:t>
            </a:r>
            <a:r>
              <a:rPr sz="1800" b="1" i="1" spc="-35" dirty="0">
                <a:latin typeface="Calibri"/>
                <a:cs typeface="Calibri"/>
              </a:rPr>
              <a:t> </a:t>
            </a:r>
            <a:r>
              <a:rPr sz="1800" b="1" i="1" spc="-10" dirty="0">
                <a:latin typeface="Calibri"/>
                <a:cs typeface="Calibri"/>
              </a:rPr>
              <a:t>values</a:t>
            </a:r>
            <a:r>
              <a:rPr sz="1800" spc="-10" dirty="0">
                <a:latin typeface="Calibri"/>
                <a:cs typeface="Calibri"/>
              </a:rPr>
              <a:t>.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5949441" y="2235454"/>
            <a:ext cx="4447540" cy="543560"/>
            <a:chOff x="5949441" y="2235454"/>
            <a:chExt cx="4447540" cy="543560"/>
          </a:xfrm>
        </p:grpSpPr>
        <p:sp>
          <p:nvSpPr>
            <p:cNvPr id="15" name="object 15"/>
            <p:cNvSpPr/>
            <p:nvPr/>
          </p:nvSpPr>
          <p:spPr>
            <a:xfrm>
              <a:off x="5955791" y="2241804"/>
              <a:ext cx="4434840" cy="530860"/>
            </a:xfrm>
            <a:custGeom>
              <a:avLst/>
              <a:gdLst/>
              <a:ahLst/>
              <a:cxnLst/>
              <a:rect l="l" t="t" r="r" b="b"/>
              <a:pathLst>
                <a:path w="4434840" h="530860">
                  <a:moveTo>
                    <a:pt x="4346448" y="0"/>
                  </a:moveTo>
                  <a:lnTo>
                    <a:pt x="88392" y="0"/>
                  </a:lnTo>
                  <a:lnTo>
                    <a:pt x="54006" y="6953"/>
                  </a:lnTo>
                  <a:lnTo>
                    <a:pt x="25908" y="25907"/>
                  </a:lnTo>
                  <a:lnTo>
                    <a:pt x="6953" y="54006"/>
                  </a:lnTo>
                  <a:lnTo>
                    <a:pt x="0" y="88392"/>
                  </a:lnTo>
                  <a:lnTo>
                    <a:pt x="0" y="441960"/>
                  </a:lnTo>
                  <a:lnTo>
                    <a:pt x="6953" y="476345"/>
                  </a:lnTo>
                  <a:lnTo>
                    <a:pt x="25907" y="504443"/>
                  </a:lnTo>
                  <a:lnTo>
                    <a:pt x="54006" y="523398"/>
                  </a:lnTo>
                  <a:lnTo>
                    <a:pt x="88392" y="530351"/>
                  </a:lnTo>
                  <a:lnTo>
                    <a:pt x="4346448" y="530351"/>
                  </a:lnTo>
                  <a:lnTo>
                    <a:pt x="4380833" y="523398"/>
                  </a:lnTo>
                  <a:lnTo>
                    <a:pt x="4408932" y="504444"/>
                  </a:lnTo>
                  <a:lnTo>
                    <a:pt x="4427886" y="476345"/>
                  </a:lnTo>
                  <a:lnTo>
                    <a:pt x="4434840" y="441960"/>
                  </a:lnTo>
                  <a:lnTo>
                    <a:pt x="4434840" y="88392"/>
                  </a:lnTo>
                  <a:lnTo>
                    <a:pt x="4427886" y="54006"/>
                  </a:lnTo>
                  <a:lnTo>
                    <a:pt x="4408932" y="25908"/>
                  </a:lnTo>
                  <a:lnTo>
                    <a:pt x="4380833" y="6953"/>
                  </a:lnTo>
                  <a:lnTo>
                    <a:pt x="4346448" y="0"/>
                  </a:lnTo>
                  <a:close/>
                </a:path>
              </a:pathLst>
            </a:custGeom>
            <a:solidFill>
              <a:srgbClr val="52C9B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5955791" y="2241804"/>
              <a:ext cx="4434840" cy="530860"/>
            </a:xfrm>
            <a:custGeom>
              <a:avLst/>
              <a:gdLst/>
              <a:ahLst/>
              <a:cxnLst/>
              <a:rect l="l" t="t" r="r" b="b"/>
              <a:pathLst>
                <a:path w="4434840" h="530860">
                  <a:moveTo>
                    <a:pt x="0" y="88392"/>
                  </a:moveTo>
                  <a:lnTo>
                    <a:pt x="6953" y="54006"/>
                  </a:lnTo>
                  <a:lnTo>
                    <a:pt x="25908" y="25907"/>
                  </a:lnTo>
                  <a:lnTo>
                    <a:pt x="54006" y="6953"/>
                  </a:lnTo>
                  <a:lnTo>
                    <a:pt x="88392" y="0"/>
                  </a:lnTo>
                  <a:lnTo>
                    <a:pt x="4346448" y="0"/>
                  </a:lnTo>
                  <a:lnTo>
                    <a:pt x="4380833" y="6953"/>
                  </a:lnTo>
                  <a:lnTo>
                    <a:pt x="4408932" y="25908"/>
                  </a:lnTo>
                  <a:lnTo>
                    <a:pt x="4427886" y="54006"/>
                  </a:lnTo>
                  <a:lnTo>
                    <a:pt x="4434840" y="88392"/>
                  </a:lnTo>
                  <a:lnTo>
                    <a:pt x="4434840" y="441960"/>
                  </a:lnTo>
                  <a:lnTo>
                    <a:pt x="4427886" y="476345"/>
                  </a:lnTo>
                  <a:lnTo>
                    <a:pt x="4408932" y="504444"/>
                  </a:lnTo>
                  <a:lnTo>
                    <a:pt x="4380833" y="523398"/>
                  </a:lnTo>
                  <a:lnTo>
                    <a:pt x="4346448" y="530351"/>
                  </a:lnTo>
                  <a:lnTo>
                    <a:pt x="88392" y="530351"/>
                  </a:lnTo>
                  <a:lnTo>
                    <a:pt x="54006" y="523398"/>
                  </a:lnTo>
                  <a:lnTo>
                    <a:pt x="25907" y="504443"/>
                  </a:lnTo>
                  <a:lnTo>
                    <a:pt x="6953" y="476345"/>
                  </a:lnTo>
                  <a:lnTo>
                    <a:pt x="0" y="441960"/>
                  </a:lnTo>
                  <a:lnTo>
                    <a:pt x="0" y="88392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6137275" y="2331465"/>
            <a:ext cx="164211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Domain</a:t>
            </a:r>
            <a:r>
              <a:rPr sz="1800" spc="-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integrity: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5632450" y="3619246"/>
            <a:ext cx="6350000" cy="1299210"/>
            <a:chOff x="5632450" y="3619246"/>
            <a:chExt cx="6350000" cy="1299210"/>
          </a:xfrm>
        </p:grpSpPr>
        <p:sp>
          <p:nvSpPr>
            <p:cNvPr id="19" name="object 19"/>
            <p:cNvSpPr/>
            <p:nvPr/>
          </p:nvSpPr>
          <p:spPr>
            <a:xfrm>
              <a:off x="5638800" y="3890772"/>
              <a:ext cx="6337300" cy="1021080"/>
            </a:xfrm>
            <a:custGeom>
              <a:avLst/>
              <a:gdLst/>
              <a:ahLst/>
              <a:cxnLst/>
              <a:rect l="l" t="t" r="r" b="b"/>
              <a:pathLst>
                <a:path w="6337300" h="1021079">
                  <a:moveTo>
                    <a:pt x="0" y="1021079"/>
                  </a:moveTo>
                  <a:lnTo>
                    <a:pt x="6336792" y="1021079"/>
                  </a:lnTo>
                  <a:lnTo>
                    <a:pt x="6336792" y="0"/>
                  </a:lnTo>
                  <a:lnTo>
                    <a:pt x="0" y="0"/>
                  </a:lnTo>
                  <a:lnTo>
                    <a:pt x="0" y="1021079"/>
                  </a:lnTo>
                  <a:close/>
                </a:path>
              </a:pathLst>
            </a:custGeom>
            <a:ln w="12700">
              <a:solidFill>
                <a:srgbClr val="48BE6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5955791" y="3625596"/>
              <a:ext cx="4434840" cy="530860"/>
            </a:xfrm>
            <a:custGeom>
              <a:avLst/>
              <a:gdLst/>
              <a:ahLst/>
              <a:cxnLst/>
              <a:rect l="l" t="t" r="r" b="b"/>
              <a:pathLst>
                <a:path w="4434840" h="530860">
                  <a:moveTo>
                    <a:pt x="4346448" y="0"/>
                  </a:moveTo>
                  <a:lnTo>
                    <a:pt x="88392" y="0"/>
                  </a:lnTo>
                  <a:lnTo>
                    <a:pt x="54006" y="6953"/>
                  </a:lnTo>
                  <a:lnTo>
                    <a:pt x="25908" y="25907"/>
                  </a:lnTo>
                  <a:lnTo>
                    <a:pt x="6953" y="54006"/>
                  </a:lnTo>
                  <a:lnTo>
                    <a:pt x="0" y="88391"/>
                  </a:lnTo>
                  <a:lnTo>
                    <a:pt x="0" y="441959"/>
                  </a:lnTo>
                  <a:lnTo>
                    <a:pt x="6953" y="476345"/>
                  </a:lnTo>
                  <a:lnTo>
                    <a:pt x="25907" y="504443"/>
                  </a:lnTo>
                  <a:lnTo>
                    <a:pt x="54006" y="523398"/>
                  </a:lnTo>
                  <a:lnTo>
                    <a:pt x="88392" y="530351"/>
                  </a:lnTo>
                  <a:lnTo>
                    <a:pt x="4346448" y="530351"/>
                  </a:lnTo>
                  <a:lnTo>
                    <a:pt x="4380833" y="523398"/>
                  </a:lnTo>
                  <a:lnTo>
                    <a:pt x="4408932" y="504444"/>
                  </a:lnTo>
                  <a:lnTo>
                    <a:pt x="4427886" y="476345"/>
                  </a:lnTo>
                  <a:lnTo>
                    <a:pt x="4434840" y="441959"/>
                  </a:lnTo>
                  <a:lnTo>
                    <a:pt x="4434840" y="88391"/>
                  </a:lnTo>
                  <a:lnTo>
                    <a:pt x="4427886" y="54006"/>
                  </a:lnTo>
                  <a:lnTo>
                    <a:pt x="4408932" y="25907"/>
                  </a:lnTo>
                  <a:lnTo>
                    <a:pt x="4380833" y="6953"/>
                  </a:lnTo>
                  <a:lnTo>
                    <a:pt x="4346448" y="0"/>
                  </a:lnTo>
                  <a:close/>
                </a:path>
              </a:pathLst>
            </a:custGeom>
            <a:solidFill>
              <a:srgbClr val="48BE6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5955791" y="3625596"/>
              <a:ext cx="4434840" cy="530860"/>
            </a:xfrm>
            <a:custGeom>
              <a:avLst/>
              <a:gdLst/>
              <a:ahLst/>
              <a:cxnLst/>
              <a:rect l="l" t="t" r="r" b="b"/>
              <a:pathLst>
                <a:path w="4434840" h="530860">
                  <a:moveTo>
                    <a:pt x="0" y="88391"/>
                  </a:moveTo>
                  <a:lnTo>
                    <a:pt x="6953" y="54006"/>
                  </a:lnTo>
                  <a:lnTo>
                    <a:pt x="25908" y="25907"/>
                  </a:lnTo>
                  <a:lnTo>
                    <a:pt x="54006" y="6953"/>
                  </a:lnTo>
                  <a:lnTo>
                    <a:pt x="88392" y="0"/>
                  </a:lnTo>
                  <a:lnTo>
                    <a:pt x="4346448" y="0"/>
                  </a:lnTo>
                  <a:lnTo>
                    <a:pt x="4380833" y="6953"/>
                  </a:lnTo>
                  <a:lnTo>
                    <a:pt x="4408932" y="25907"/>
                  </a:lnTo>
                  <a:lnTo>
                    <a:pt x="4427886" y="54006"/>
                  </a:lnTo>
                  <a:lnTo>
                    <a:pt x="4434840" y="88391"/>
                  </a:lnTo>
                  <a:lnTo>
                    <a:pt x="4434840" y="441959"/>
                  </a:lnTo>
                  <a:lnTo>
                    <a:pt x="4427886" y="476345"/>
                  </a:lnTo>
                  <a:lnTo>
                    <a:pt x="4408932" y="504444"/>
                  </a:lnTo>
                  <a:lnTo>
                    <a:pt x="4380833" y="523398"/>
                  </a:lnTo>
                  <a:lnTo>
                    <a:pt x="4346448" y="530351"/>
                  </a:lnTo>
                  <a:lnTo>
                    <a:pt x="88392" y="530351"/>
                  </a:lnTo>
                  <a:lnTo>
                    <a:pt x="54006" y="523398"/>
                  </a:lnTo>
                  <a:lnTo>
                    <a:pt x="25907" y="504443"/>
                  </a:lnTo>
                  <a:lnTo>
                    <a:pt x="6953" y="476345"/>
                  </a:lnTo>
                  <a:lnTo>
                    <a:pt x="0" y="441959"/>
                  </a:lnTo>
                  <a:lnTo>
                    <a:pt x="0" y="88391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6118605" y="3715257"/>
            <a:ext cx="5234305" cy="10502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3264535" algn="ctr">
              <a:lnSpc>
                <a:spcPct val="100000"/>
              </a:lnSpc>
              <a:spcBef>
                <a:spcPts val="100"/>
              </a:spcBef>
            </a:pPr>
            <a:r>
              <a:rPr sz="1800" spc="-20" dirty="0">
                <a:solidFill>
                  <a:srgbClr val="FFFFFF"/>
                </a:solidFill>
                <a:latin typeface="Calibri"/>
                <a:cs typeface="Calibri"/>
              </a:rPr>
              <a:t>Referential</a:t>
            </a:r>
            <a:r>
              <a:rPr sz="1800" spc="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integrity:</a:t>
            </a:r>
            <a:endParaRPr sz="1800">
              <a:latin typeface="Calibri"/>
              <a:cs typeface="Calibri"/>
            </a:endParaRPr>
          </a:p>
          <a:p>
            <a:pPr marL="184785" indent="-172085">
              <a:lnSpc>
                <a:spcPts val="2065"/>
              </a:lnSpc>
              <a:spcBef>
                <a:spcPts val="1780"/>
              </a:spcBef>
              <a:buChar char="•"/>
              <a:tabLst>
                <a:tab pos="184785" algn="l"/>
              </a:tabLst>
            </a:pPr>
            <a:r>
              <a:rPr sz="1800" dirty="0">
                <a:latin typeface="Calibri"/>
                <a:cs typeface="Calibri"/>
              </a:rPr>
              <a:t>Specifies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that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rows</a:t>
            </a:r>
            <a:r>
              <a:rPr sz="1800" b="1" spc="-3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cannot</a:t>
            </a:r>
            <a:r>
              <a:rPr sz="1800" b="1" spc="-60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be</a:t>
            </a:r>
            <a:r>
              <a:rPr sz="1800" b="1" spc="-4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deleted</a:t>
            </a:r>
            <a:r>
              <a:rPr sz="1800" dirty="0">
                <a:latin typeface="Calibri"/>
                <a:cs typeface="Calibri"/>
              </a:rPr>
              <a:t>,</a:t>
            </a:r>
            <a:r>
              <a:rPr sz="1800" spc="-6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which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are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used</a:t>
            </a:r>
            <a:endParaRPr sz="1800">
              <a:latin typeface="Calibri"/>
              <a:cs typeface="Calibri"/>
            </a:endParaRPr>
          </a:p>
          <a:p>
            <a:pPr marR="3270250" algn="ctr">
              <a:lnSpc>
                <a:spcPts val="2065"/>
              </a:lnSpc>
            </a:pPr>
            <a:r>
              <a:rPr sz="1800" dirty="0">
                <a:latin typeface="Calibri"/>
                <a:cs typeface="Calibri"/>
              </a:rPr>
              <a:t>by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other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records.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5632450" y="5001514"/>
            <a:ext cx="6350000" cy="1555115"/>
            <a:chOff x="5632450" y="5001514"/>
            <a:chExt cx="6350000" cy="1555115"/>
          </a:xfrm>
        </p:grpSpPr>
        <p:sp>
          <p:nvSpPr>
            <p:cNvPr id="24" name="object 24"/>
            <p:cNvSpPr/>
            <p:nvPr/>
          </p:nvSpPr>
          <p:spPr>
            <a:xfrm>
              <a:off x="5638800" y="5274564"/>
              <a:ext cx="6337300" cy="1275715"/>
            </a:xfrm>
            <a:custGeom>
              <a:avLst/>
              <a:gdLst/>
              <a:ahLst/>
              <a:cxnLst/>
              <a:rect l="l" t="t" r="r" b="b"/>
              <a:pathLst>
                <a:path w="6337300" h="1275715">
                  <a:moveTo>
                    <a:pt x="0" y="1275588"/>
                  </a:moveTo>
                  <a:lnTo>
                    <a:pt x="6336792" y="1275588"/>
                  </a:lnTo>
                  <a:lnTo>
                    <a:pt x="6336792" y="0"/>
                  </a:lnTo>
                  <a:lnTo>
                    <a:pt x="0" y="0"/>
                  </a:lnTo>
                  <a:lnTo>
                    <a:pt x="0" y="1275588"/>
                  </a:lnTo>
                  <a:close/>
                </a:path>
              </a:pathLst>
            </a:custGeom>
            <a:ln w="12700">
              <a:solidFill>
                <a:srgbClr val="6FAC4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5955791" y="5007864"/>
              <a:ext cx="4434840" cy="532130"/>
            </a:xfrm>
            <a:custGeom>
              <a:avLst/>
              <a:gdLst/>
              <a:ahLst/>
              <a:cxnLst/>
              <a:rect l="l" t="t" r="r" b="b"/>
              <a:pathLst>
                <a:path w="4434840" h="532129">
                  <a:moveTo>
                    <a:pt x="4346194" y="0"/>
                  </a:moveTo>
                  <a:lnTo>
                    <a:pt x="88646" y="0"/>
                  </a:lnTo>
                  <a:lnTo>
                    <a:pt x="54167" y="6975"/>
                  </a:lnTo>
                  <a:lnTo>
                    <a:pt x="25987" y="25987"/>
                  </a:lnTo>
                  <a:lnTo>
                    <a:pt x="6975" y="54167"/>
                  </a:lnTo>
                  <a:lnTo>
                    <a:pt x="0" y="88646"/>
                  </a:lnTo>
                  <a:lnTo>
                    <a:pt x="0" y="443230"/>
                  </a:lnTo>
                  <a:lnTo>
                    <a:pt x="6975" y="477708"/>
                  </a:lnTo>
                  <a:lnTo>
                    <a:pt x="25987" y="505888"/>
                  </a:lnTo>
                  <a:lnTo>
                    <a:pt x="54167" y="524900"/>
                  </a:lnTo>
                  <a:lnTo>
                    <a:pt x="88646" y="531876"/>
                  </a:lnTo>
                  <a:lnTo>
                    <a:pt x="4346194" y="531876"/>
                  </a:lnTo>
                  <a:lnTo>
                    <a:pt x="4380672" y="524900"/>
                  </a:lnTo>
                  <a:lnTo>
                    <a:pt x="4408852" y="505888"/>
                  </a:lnTo>
                  <a:lnTo>
                    <a:pt x="4427864" y="477708"/>
                  </a:lnTo>
                  <a:lnTo>
                    <a:pt x="4434840" y="443230"/>
                  </a:lnTo>
                  <a:lnTo>
                    <a:pt x="4434840" y="88646"/>
                  </a:lnTo>
                  <a:lnTo>
                    <a:pt x="4427864" y="54167"/>
                  </a:lnTo>
                  <a:lnTo>
                    <a:pt x="4408852" y="25987"/>
                  </a:lnTo>
                  <a:lnTo>
                    <a:pt x="4380672" y="6975"/>
                  </a:lnTo>
                  <a:lnTo>
                    <a:pt x="4346194" y="0"/>
                  </a:lnTo>
                  <a:close/>
                </a:path>
              </a:pathLst>
            </a:custGeom>
            <a:solidFill>
              <a:srgbClr val="6FAC4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5955791" y="5007864"/>
              <a:ext cx="4434840" cy="532130"/>
            </a:xfrm>
            <a:custGeom>
              <a:avLst/>
              <a:gdLst/>
              <a:ahLst/>
              <a:cxnLst/>
              <a:rect l="l" t="t" r="r" b="b"/>
              <a:pathLst>
                <a:path w="4434840" h="532129">
                  <a:moveTo>
                    <a:pt x="0" y="88646"/>
                  </a:moveTo>
                  <a:lnTo>
                    <a:pt x="6975" y="54167"/>
                  </a:lnTo>
                  <a:lnTo>
                    <a:pt x="25987" y="25987"/>
                  </a:lnTo>
                  <a:lnTo>
                    <a:pt x="54167" y="6975"/>
                  </a:lnTo>
                  <a:lnTo>
                    <a:pt x="88646" y="0"/>
                  </a:lnTo>
                  <a:lnTo>
                    <a:pt x="4346194" y="0"/>
                  </a:lnTo>
                  <a:lnTo>
                    <a:pt x="4380672" y="6975"/>
                  </a:lnTo>
                  <a:lnTo>
                    <a:pt x="4408852" y="25987"/>
                  </a:lnTo>
                  <a:lnTo>
                    <a:pt x="4427864" y="54167"/>
                  </a:lnTo>
                  <a:lnTo>
                    <a:pt x="4434840" y="88646"/>
                  </a:lnTo>
                  <a:lnTo>
                    <a:pt x="4434840" y="443230"/>
                  </a:lnTo>
                  <a:lnTo>
                    <a:pt x="4427864" y="477708"/>
                  </a:lnTo>
                  <a:lnTo>
                    <a:pt x="4408852" y="505888"/>
                  </a:lnTo>
                  <a:lnTo>
                    <a:pt x="4380672" y="524900"/>
                  </a:lnTo>
                  <a:lnTo>
                    <a:pt x="4346194" y="531876"/>
                  </a:lnTo>
                  <a:lnTo>
                    <a:pt x="88646" y="531876"/>
                  </a:lnTo>
                  <a:lnTo>
                    <a:pt x="54167" y="524900"/>
                  </a:lnTo>
                  <a:lnTo>
                    <a:pt x="25987" y="505888"/>
                  </a:lnTo>
                  <a:lnTo>
                    <a:pt x="6975" y="477708"/>
                  </a:lnTo>
                  <a:lnTo>
                    <a:pt x="0" y="443230"/>
                  </a:lnTo>
                  <a:lnTo>
                    <a:pt x="0" y="88646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7" name="object 27"/>
          <p:cNvSpPr txBox="1"/>
          <p:nvPr/>
        </p:nvSpPr>
        <p:spPr>
          <a:xfrm>
            <a:off x="6118605" y="5099050"/>
            <a:ext cx="5366385" cy="13023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1115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User-defined</a:t>
            </a:r>
            <a:r>
              <a:rPr sz="1800" spc="-10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integrity:</a:t>
            </a:r>
            <a:endParaRPr sz="1800">
              <a:latin typeface="Calibri"/>
              <a:cs typeface="Calibri"/>
            </a:endParaRPr>
          </a:p>
          <a:p>
            <a:pPr marL="184785" marR="5080" indent="-172720">
              <a:lnSpc>
                <a:spcPct val="91400"/>
              </a:lnSpc>
              <a:spcBef>
                <a:spcPts val="1964"/>
              </a:spcBef>
              <a:buChar char="•"/>
              <a:tabLst>
                <a:tab pos="184785" algn="l"/>
              </a:tabLst>
            </a:pPr>
            <a:r>
              <a:rPr sz="1800" dirty="0">
                <a:latin typeface="Calibri"/>
                <a:cs typeface="Calibri"/>
              </a:rPr>
              <a:t>It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b="1" spc="-10" dirty="0">
                <a:latin typeface="Calibri"/>
                <a:cs typeface="Calibri"/>
              </a:rPr>
              <a:t>enforces</a:t>
            </a:r>
            <a:r>
              <a:rPr sz="1800" b="1" spc="-3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some</a:t>
            </a:r>
            <a:r>
              <a:rPr sz="1800" b="1" spc="-20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specific</a:t>
            </a:r>
            <a:r>
              <a:rPr sz="1800" b="1" spc="-2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business</a:t>
            </a:r>
            <a:r>
              <a:rPr sz="1800" b="1" spc="-4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rules</a:t>
            </a:r>
            <a:r>
              <a:rPr sz="1800" b="1" spc="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defined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by </a:t>
            </a:r>
            <a:r>
              <a:rPr sz="1800" dirty="0">
                <a:latin typeface="Calibri"/>
                <a:cs typeface="Calibri"/>
              </a:rPr>
              <a:t>users.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These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rules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are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different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from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entity,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domain, </a:t>
            </a:r>
            <a:r>
              <a:rPr sz="1800" dirty="0">
                <a:latin typeface="Calibri"/>
                <a:cs typeface="Calibri"/>
              </a:rPr>
              <a:t>or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referential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integrity.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8" name="object 28"/>
          <p:cNvSpPr txBox="1">
            <a:spLocks noGrp="1"/>
          </p:cNvSpPr>
          <p:nvPr>
            <p:ph type="title"/>
          </p:nvPr>
        </p:nvSpPr>
        <p:spPr>
          <a:xfrm>
            <a:off x="5588634" y="210134"/>
            <a:ext cx="642302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Following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are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categories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of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data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integrity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exist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with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each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RDBMS: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83411" y="2505836"/>
            <a:ext cx="3174365" cy="1732280"/>
          </a:xfrm>
          <a:prstGeom prst="rect">
            <a:avLst/>
          </a:prstGeom>
        </p:spPr>
        <p:txBody>
          <a:bodyPr vert="horz" wrap="square" lIns="0" tIns="73025" rIns="0" bIns="0" rtlCol="0">
            <a:spAutoFit/>
          </a:bodyPr>
          <a:lstStyle/>
          <a:p>
            <a:pPr marL="12700" marR="5080">
              <a:lnSpc>
                <a:spcPct val="90000"/>
              </a:lnSpc>
              <a:spcBef>
                <a:spcPts val="575"/>
              </a:spcBef>
            </a:pPr>
            <a:r>
              <a:rPr sz="4000" spc="-10" dirty="0">
                <a:latin typeface="Calibri Light"/>
                <a:cs typeface="Calibri Light"/>
              </a:rPr>
              <a:t>Difference </a:t>
            </a:r>
            <a:r>
              <a:rPr sz="4000" dirty="0">
                <a:latin typeface="Calibri Light"/>
                <a:cs typeface="Calibri Light"/>
              </a:rPr>
              <a:t>between</a:t>
            </a:r>
            <a:r>
              <a:rPr sz="4000" spc="-120" dirty="0">
                <a:latin typeface="Calibri Light"/>
                <a:cs typeface="Calibri Light"/>
              </a:rPr>
              <a:t> </a:t>
            </a:r>
            <a:r>
              <a:rPr sz="4000" spc="-20" dirty="0">
                <a:latin typeface="Calibri Light"/>
                <a:cs typeface="Calibri Light"/>
              </a:rPr>
              <a:t>DBMS </a:t>
            </a:r>
            <a:r>
              <a:rPr sz="4000" dirty="0">
                <a:latin typeface="Calibri Light"/>
                <a:cs typeface="Calibri Light"/>
              </a:rPr>
              <a:t>and</a:t>
            </a:r>
            <a:r>
              <a:rPr sz="4000" spc="-65" dirty="0">
                <a:latin typeface="Calibri Light"/>
                <a:cs typeface="Calibri Light"/>
              </a:rPr>
              <a:t> </a:t>
            </a:r>
            <a:r>
              <a:rPr sz="4000" spc="-10" dirty="0">
                <a:latin typeface="Calibri Light"/>
                <a:cs typeface="Calibri Light"/>
              </a:rPr>
              <a:t>RDBMS</a:t>
            </a:r>
            <a:endParaRPr sz="4000">
              <a:latin typeface="Calibri Light"/>
              <a:cs typeface="Calibri Ligh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170167" y="2297684"/>
            <a:ext cx="5071110" cy="2165985"/>
          </a:xfrm>
          <a:prstGeom prst="rect">
            <a:avLst/>
          </a:prstGeom>
        </p:spPr>
        <p:txBody>
          <a:bodyPr vert="horz" wrap="square" lIns="0" tIns="48895" rIns="0" bIns="0" rtlCol="0">
            <a:spAutoFit/>
          </a:bodyPr>
          <a:lstStyle/>
          <a:p>
            <a:pPr marL="240029" marR="5080" indent="-227329">
              <a:lnSpc>
                <a:spcPct val="90000"/>
              </a:lnSpc>
              <a:spcBef>
                <a:spcPts val="385"/>
              </a:spcBef>
              <a:buFont typeface="Arial MT"/>
              <a:buChar char="•"/>
              <a:tabLst>
                <a:tab pos="241300" algn="l"/>
              </a:tabLst>
            </a:pPr>
            <a:r>
              <a:rPr sz="2400" dirty="0">
                <a:latin typeface="Calibri"/>
                <a:cs typeface="Calibri"/>
              </a:rPr>
              <a:t>Although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DBMS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RDBMS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both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are 	</a:t>
            </a:r>
            <a:r>
              <a:rPr sz="2400" dirty="0">
                <a:latin typeface="Calibri"/>
                <a:cs typeface="Calibri"/>
              </a:rPr>
              <a:t>used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store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information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physical 	database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but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there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are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some 	</a:t>
            </a:r>
            <a:r>
              <a:rPr sz="2400" spc="-10" dirty="0">
                <a:latin typeface="Calibri"/>
                <a:cs typeface="Calibri"/>
              </a:rPr>
              <a:t>remarkable</a:t>
            </a:r>
            <a:r>
              <a:rPr sz="2400" spc="-12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differences</a:t>
            </a:r>
            <a:r>
              <a:rPr sz="2400" spc="-9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between</a:t>
            </a:r>
            <a:r>
              <a:rPr sz="2400" spc="-11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them.</a:t>
            </a:r>
            <a:endParaRPr sz="2400">
              <a:latin typeface="Calibri"/>
              <a:cs typeface="Calibri"/>
            </a:endParaRPr>
          </a:p>
          <a:p>
            <a:pPr marL="240029" marR="248920" indent="-227329">
              <a:lnSpc>
                <a:spcPts val="2590"/>
              </a:lnSpc>
              <a:spcBef>
                <a:spcPts val="1050"/>
              </a:spcBef>
              <a:buFont typeface="Arial MT"/>
              <a:buChar char="•"/>
              <a:tabLst>
                <a:tab pos="241300" algn="l"/>
              </a:tabLst>
            </a:pPr>
            <a:r>
              <a:rPr sz="2400" dirty="0">
                <a:latin typeface="Calibri"/>
                <a:cs typeface="Calibri"/>
              </a:rPr>
              <a:t>The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main</a:t>
            </a:r>
            <a:r>
              <a:rPr sz="2400" spc="-8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differences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between</a:t>
            </a:r>
            <a:r>
              <a:rPr sz="2400" spc="-85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DBMS 	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RDBMS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are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given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below: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92" y="0"/>
            <a:ext cx="12192000" cy="499109"/>
          </a:xfrm>
          <a:custGeom>
            <a:avLst/>
            <a:gdLst/>
            <a:ahLst/>
            <a:cxnLst/>
            <a:rect l="l" t="t" r="r" b="b"/>
            <a:pathLst>
              <a:path w="12192000" h="499109">
                <a:moveTo>
                  <a:pt x="12191708" y="0"/>
                </a:moveTo>
                <a:lnTo>
                  <a:pt x="6095873" y="0"/>
                </a:lnTo>
                <a:lnTo>
                  <a:pt x="0" y="0"/>
                </a:lnTo>
                <a:lnTo>
                  <a:pt x="0" y="499110"/>
                </a:lnTo>
                <a:lnTo>
                  <a:pt x="6095835" y="499110"/>
                </a:lnTo>
                <a:lnTo>
                  <a:pt x="12191708" y="499110"/>
                </a:lnTo>
                <a:lnTo>
                  <a:pt x="12191708" y="0"/>
                </a:lnTo>
                <a:close/>
              </a:path>
            </a:pathLst>
          </a:custGeom>
          <a:solidFill>
            <a:srgbClr val="4471C4"/>
          </a:solid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0" y="-3175"/>
          <a:ext cx="12268200" cy="646874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092825"/>
                <a:gridCol w="6092825"/>
              </a:tblGrid>
              <a:tr h="51498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50"/>
                        </a:spcBef>
                      </a:pPr>
                      <a:r>
                        <a:rPr sz="2800" b="1" spc="-2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DBMS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19050" marB="0">
                    <a:lnL w="9525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635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471C4"/>
                    </a:solidFill>
                  </a:tcPr>
                </a:tc>
                <a:tc>
                  <a:txBody>
                    <a:bodyPr/>
                    <a:lstStyle/>
                    <a:p>
                      <a:pPr marL="5715" algn="ctr">
                        <a:lnSpc>
                          <a:spcPct val="100000"/>
                        </a:lnSpc>
                        <a:spcBef>
                          <a:spcPts val="150"/>
                        </a:spcBef>
                      </a:pPr>
                      <a:r>
                        <a:rPr sz="28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RDBMS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190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6350">
                      <a:solidFill>
                        <a:srgbClr val="FFFFFF"/>
                      </a:solidFill>
                      <a:prstDash val="solid"/>
                    </a:lnR>
                    <a:lnT w="635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471C4"/>
                    </a:solidFill>
                  </a:tcPr>
                </a:tc>
              </a:tr>
              <a:tr h="465455">
                <a:tc>
                  <a:txBody>
                    <a:bodyPr/>
                    <a:lstStyle/>
                    <a:p>
                      <a:pPr marL="88265">
                        <a:lnSpc>
                          <a:spcPct val="100000"/>
                        </a:lnSpc>
                        <a:spcBef>
                          <a:spcPts val="635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DBMS</a:t>
                      </a:r>
                      <a:r>
                        <a:rPr sz="18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applications</a:t>
                      </a:r>
                      <a:r>
                        <a:rPr sz="18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store</a:t>
                      </a:r>
                      <a:r>
                        <a:rPr sz="18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dirty="0">
                          <a:latin typeface="Calibri"/>
                          <a:cs typeface="Calibri"/>
                        </a:rPr>
                        <a:t>data</a:t>
                      </a:r>
                      <a:r>
                        <a:rPr sz="1800" b="1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dirty="0">
                          <a:latin typeface="Calibri"/>
                          <a:cs typeface="Calibri"/>
                        </a:rPr>
                        <a:t>as</a:t>
                      </a:r>
                      <a:r>
                        <a:rPr sz="1800" b="1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spc="-10" dirty="0">
                          <a:latin typeface="Calibri"/>
                          <a:cs typeface="Calibri"/>
                        </a:rPr>
                        <a:t>file.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80645" marB="0">
                    <a:lnL w="9525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635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RDBMS</a:t>
                      </a:r>
                      <a:r>
                        <a:rPr sz="18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applications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store</a:t>
                      </a:r>
                      <a:r>
                        <a:rPr sz="18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dirty="0">
                          <a:latin typeface="Calibri"/>
                          <a:cs typeface="Calibri"/>
                        </a:rPr>
                        <a:t>data</a:t>
                      </a:r>
                      <a:r>
                        <a:rPr sz="1800" b="1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dirty="0">
                          <a:latin typeface="Calibri"/>
                          <a:cs typeface="Calibri"/>
                        </a:rPr>
                        <a:t>in</a:t>
                      </a:r>
                      <a:r>
                        <a:rPr sz="1800" b="1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dirty="0">
                          <a:latin typeface="Calibri"/>
                          <a:cs typeface="Calibri"/>
                        </a:rPr>
                        <a:t>a</a:t>
                      </a:r>
                      <a:r>
                        <a:rPr sz="1800" b="1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dirty="0">
                          <a:latin typeface="Calibri"/>
                          <a:cs typeface="Calibri"/>
                        </a:rPr>
                        <a:t>tabular</a:t>
                      </a:r>
                      <a:r>
                        <a:rPr sz="1800" b="1" spc="-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spc="-10" dirty="0">
                          <a:latin typeface="Calibri"/>
                          <a:cs typeface="Calibri"/>
                        </a:rPr>
                        <a:t>form.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806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635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</a:tr>
              <a:tr h="714375">
                <a:tc>
                  <a:txBody>
                    <a:bodyPr/>
                    <a:lstStyle/>
                    <a:p>
                      <a:pPr marL="88265" marR="318135">
                        <a:lnSpc>
                          <a:spcPct val="100000"/>
                        </a:lnSpc>
                        <a:spcBef>
                          <a:spcPts val="535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In</a:t>
                      </a:r>
                      <a:r>
                        <a:rPr sz="18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DBMS,</a:t>
                      </a:r>
                      <a:r>
                        <a:rPr sz="18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data</a:t>
                      </a:r>
                      <a:r>
                        <a:rPr sz="18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is</a:t>
                      </a:r>
                      <a:r>
                        <a:rPr sz="18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generally</a:t>
                      </a:r>
                      <a:r>
                        <a:rPr sz="18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stored</a:t>
                      </a:r>
                      <a:r>
                        <a:rPr sz="18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in</a:t>
                      </a:r>
                      <a:r>
                        <a:rPr sz="18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either</a:t>
                      </a:r>
                      <a:r>
                        <a:rPr sz="18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a</a:t>
                      </a:r>
                      <a:r>
                        <a:rPr sz="18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hierarchical</a:t>
                      </a:r>
                      <a:r>
                        <a:rPr sz="18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20" dirty="0">
                          <a:latin typeface="Calibri"/>
                          <a:cs typeface="Calibri"/>
                        </a:rPr>
                        <a:t>form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or</a:t>
                      </a:r>
                      <a:r>
                        <a:rPr sz="18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a</a:t>
                      </a:r>
                      <a:r>
                        <a:rPr sz="18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navigational</a:t>
                      </a:r>
                      <a:r>
                        <a:rPr sz="18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form.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67945" marB="0">
                    <a:lnL w="9525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220345">
                        <a:lnSpc>
                          <a:spcPct val="100000"/>
                        </a:lnSpc>
                        <a:spcBef>
                          <a:spcPts val="535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In</a:t>
                      </a:r>
                      <a:r>
                        <a:rPr sz="1800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RDBMS,</a:t>
                      </a:r>
                      <a:r>
                        <a:rPr sz="18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the</a:t>
                      </a:r>
                      <a:r>
                        <a:rPr sz="18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tables</a:t>
                      </a:r>
                      <a:r>
                        <a:rPr sz="18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have</a:t>
                      </a:r>
                      <a:r>
                        <a:rPr sz="1800" spc="-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an</a:t>
                      </a:r>
                      <a:r>
                        <a:rPr sz="1800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identifier</a:t>
                      </a:r>
                      <a:r>
                        <a:rPr sz="18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called</a:t>
                      </a:r>
                      <a:r>
                        <a:rPr sz="18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primary</a:t>
                      </a:r>
                      <a:r>
                        <a:rPr sz="1800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key</a:t>
                      </a:r>
                      <a:r>
                        <a:rPr sz="1800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25" dirty="0">
                          <a:latin typeface="Calibri"/>
                          <a:cs typeface="Calibri"/>
                        </a:rPr>
                        <a:t>and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the</a:t>
                      </a:r>
                      <a:r>
                        <a:rPr sz="18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data</a:t>
                      </a:r>
                      <a:r>
                        <a:rPr sz="18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values</a:t>
                      </a:r>
                      <a:r>
                        <a:rPr sz="1800" spc="-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are</a:t>
                      </a:r>
                      <a:r>
                        <a:rPr sz="18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stored</a:t>
                      </a:r>
                      <a:r>
                        <a:rPr sz="18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in</a:t>
                      </a:r>
                      <a:r>
                        <a:rPr sz="18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the</a:t>
                      </a:r>
                      <a:r>
                        <a:rPr sz="18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form</a:t>
                      </a:r>
                      <a:r>
                        <a:rPr sz="18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of</a:t>
                      </a:r>
                      <a:r>
                        <a:rPr sz="18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tables.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679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635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</a:tr>
              <a:tr h="380365">
                <a:tc>
                  <a:txBody>
                    <a:bodyPr/>
                    <a:lstStyle/>
                    <a:p>
                      <a:pPr marL="88265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800" b="1" spc="-10" dirty="0">
                          <a:latin typeface="Calibri"/>
                          <a:cs typeface="Calibri"/>
                        </a:rPr>
                        <a:t>Normalization</a:t>
                      </a:r>
                      <a:r>
                        <a:rPr sz="1800" b="1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dirty="0">
                          <a:latin typeface="Calibri"/>
                          <a:cs typeface="Calibri"/>
                        </a:rPr>
                        <a:t>is</a:t>
                      </a:r>
                      <a:r>
                        <a:rPr sz="1800" b="1" spc="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dirty="0">
                          <a:latin typeface="Calibri"/>
                          <a:cs typeface="Calibri"/>
                        </a:rPr>
                        <a:t>not</a:t>
                      </a:r>
                      <a:r>
                        <a:rPr sz="1800" b="1" spc="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present</a:t>
                      </a:r>
                      <a:r>
                        <a:rPr sz="18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in</a:t>
                      </a:r>
                      <a:r>
                        <a:rPr sz="1800" spc="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20" dirty="0">
                          <a:latin typeface="Calibri"/>
                          <a:cs typeface="Calibri"/>
                        </a:rPr>
                        <a:t>DBMS.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8100" marB="0">
                    <a:lnL w="9525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800" b="1" spc="-10" dirty="0">
                          <a:latin typeface="Calibri"/>
                          <a:cs typeface="Calibri"/>
                        </a:rPr>
                        <a:t>Normalization</a:t>
                      </a:r>
                      <a:r>
                        <a:rPr sz="1800" b="1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dirty="0">
                          <a:latin typeface="Calibri"/>
                          <a:cs typeface="Calibri"/>
                        </a:rPr>
                        <a:t>is</a:t>
                      </a:r>
                      <a:r>
                        <a:rPr sz="1800" b="1" spc="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present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in</a:t>
                      </a:r>
                      <a:r>
                        <a:rPr sz="1800" spc="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RDBMS.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635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</a:tr>
              <a:tr h="762635">
                <a:tc>
                  <a:txBody>
                    <a:bodyPr/>
                    <a:lstStyle/>
                    <a:p>
                      <a:pPr marL="88265" marR="877569">
                        <a:lnSpc>
                          <a:spcPct val="100000"/>
                        </a:lnSpc>
                        <a:spcBef>
                          <a:spcPts val="725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DBMS</a:t>
                      </a:r>
                      <a:r>
                        <a:rPr sz="18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does</a:t>
                      </a:r>
                      <a:r>
                        <a:rPr sz="18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dirty="0">
                          <a:latin typeface="Calibri"/>
                          <a:cs typeface="Calibri"/>
                        </a:rPr>
                        <a:t>not</a:t>
                      </a:r>
                      <a:r>
                        <a:rPr sz="1800" b="1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dirty="0">
                          <a:latin typeface="Calibri"/>
                          <a:cs typeface="Calibri"/>
                        </a:rPr>
                        <a:t>apply</a:t>
                      </a:r>
                      <a:r>
                        <a:rPr sz="1800" b="1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dirty="0">
                          <a:latin typeface="Calibri"/>
                          <a:cs typeface="Calibri"/>
                        </a:rPr>
                        <a:t>any</a:t>
                      </a:r>
                      <a:r>
                        <a:rPr sz="1800" b="1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dirty="0">
                          <a:latin typeface="Calibri"/>
                          <a:cs typeface="Calibri"/>
                        </a:rPr>
                        <a:t>security</a:t>
                      </a:r>
                      <a:r>
                        <a:rPr sz="1800" b="1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with</a:t>
                      </a:r>
                      <a:r>
                        <a:rPr sz="18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regards</a:t>
                      </a:r>
                      <a:r>
                        <a:rPr sz="18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to</a:t>
                      </a:r>
                      <a:r>
                        <a:rPr sz="18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20" dirty="0">
                          <a:latin typeface="Calibri"/>
                          <a:cs typeface="Calibri"/>
                        </a:rPr>
                        <a:t>data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manipulation.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92075" marB="0">
                    <a:lnL w="9525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94615">
                        <a:lnSpc>
                          <a:spcPct val="100000"/>
                        </a:lnSpc>
                        <a:spcBef>
                          <a:spcPts val="725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RDBMS</a:t>
                      </a:r>
                      <a:r>
                        <a:rPr sz="18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dirty="0">
                          <a:latin typeface="Calibri"/>
                          <a:cs typeface="Calibri"/>
                        </a:rPr>
                        <a:t>defines</a:t>
                      </a:r>
                      <a:r>
                        <a:rPr sz="1800" b="1" spc="-7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dirty="0">
                          <a:latin typeface="Calibri"/>
                          <a:cs typeface="Calibri"/>
                        </a:rPr>
                        <a:t>the</a:t>
                      </a:r>
                      <a:r>
                        <a:rPr sz="1800" b="1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dirty="0">
                          <a:latin typeface="Calibri"/>
                          <a:cs typeface="Calibri"/>
                        </a:rPr>
                        <a:t>integrity</a:t>
                      </a:r>
                      <a:r>
                        <a:rPr sz="1800" b="1" spc="-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spc="-10" dirty="0">
                          <a:latin typeface="Calibri"/>
                          <a:cs typeface="Calibri"/>
                        </a:rPr>
                        <a:t>constraint</a:t>
                      </a:r>
                      <a:r>
                        <a:rPr sz="1800" b="1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for</a:t>
                      </a:r>
                      <a:r>
                        <a:rPr sz="18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the</a:t>
                      </a:r>
                      <a:r>
                        <a:rPr sz="18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purpose</a:t>
                      </a:r>
                      <a:r>
                        <a:rPr sz="18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of</a:t>
                      </a:r>
                      <a:r>
                        <a:rPr sz="18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20" dirty="0">
                          <a:latin typeface="Calibri"/>
                          <a:cs typeface="Calibri"/>
                        </a:rPr>
                        <a:t>ACID (Atomicity,</a:t>
                      </a:r>
                      <a:r>
                        <a:rPr sz="1800" spc="-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20" dirty="0">
                          <a:latin typeface="Calibri"/>
                          <a:cs typeface="Calibri"/>
                        </a:rPr>
                        <a:t>Consistency,</a:t>
                      </a:r>
                      <a:r>
                        <a:rPr sz="1800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Isolation</a:t>
                      </a:r>
                      <a:r>
                        <a:rPr sz="1800" spc="-7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and</a:t>
                      </a:r>
                      <a:r>
                        <a:rPr sz="1800" spc="-6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Durability)</a:t>
                      </a:r>
                      <a:r>
                        <a:rPr sz="18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property.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920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635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</a:tr>
              <a:tr h="942975">
                <a:tc>
                  <a:txBody>
                    <a:bodyPr/>
                    <a:lstStyle/>
                    <a:p>
                      <a:pPr marL="88265" marR="862330">
                        <a:lnSpc>
                          <a:spcPct val="100000"/>
                        </a:lnSpc>
                        <a:spcBef>
                          <a:spcPts val="1440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DBMS</a:t>
                      </a:r>
                      <a:r>
                        <a:rPr sz="18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uses</a:t>
                      </a:r>
                      <a:r>
                        <a:rPr sz="1800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file</a:t>
                      </a:r>
                      <a:r>
                        <a:rPr sz="18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system</a:t>
                      </a:r>
                      <a:r>
                        <a:rPr sz="18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to</a:t>
                      </a:r>
                      <a:r>
                        <a:rPr sz="18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store</a:t>
                      </a:r>
                      <a:r>
                        <a:rPr sz="18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data,</a:t>
                      </a:r>
                      <a:r>
                        <a:rPr sz="18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so</a:t>
                      </a:r>
                      <a:r>
                        <a:rPr sz="18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there</a:t>
                      </a:r>
                      <a:r>
                        <a:rPr sz="18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will</a:t>
                      </a:r>
                      <a:r>
                        <a:rPr sz="18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be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spc="-25" dirty="0">
                          <a:latin typeface="Calibri"/>
                          <a:cs typeface="Calibri"/>
                        </a:rPr>
                        <a:t>no </a:t>
                      </a:r>
                      <a:r>
                        <a:rPr sz="1800" b="1" dirty="0">
                          <a:latin typeface="Calibri"/>
                          <a:cs typeface="Calibri"/>
                        </a:rPr>
                        <a:t>relation</a:t>
                      </a:r>
                      <a:r>
                        <a:rPr sz="1800" b="1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spc="-10" dirty="0">
                          <a:latin typeface="Calibri"/>
                          <a:cs typeface="Calibri"/>
                        </a:rPr>
                        <a:t>between</a:t>
                      </a:r>
                      <a:r>
                        <a:rPr sz="1800" b="1" spc="-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dirty="0">
                          <a:latin typeface="Calibri"/>
                          <a:cs typeface="Calibri"/>
                        </a:rPr>
                        <a:t>the</a:t>
                      </a:r>
                      <a:r>
                        <a:rPr sz="1800" b="1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spc="-10" dirty="0">
                          <a:latin typeface="Calibri"/>
                          <a:cs typeface="Calibri"/>
                        </a:rPr>
                        <a:t>tables.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82880" marB="0">
                    <a:lnL w="9525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430530" algn="just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in</a:t>
                      </a:r>
                      <a:r>
                        <a:rPr sz="18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RDBMS,</a:t>
                      </a:r>
                      <a:r>
                        <a:rPr sz="18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data</a:t>
                      </a:r>
                      <a:r>
                        <a:rPr sz="1800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values</a:t>
                      </a:r>
                      <a:r>
                        <a:rPr sz="18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are</a:t>
                      </a:r>
                      <a:r>
                        <a:rPr sz="18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stored</a:t>
                      </a:r>
                      <a:r>
                        <a:rPr sz="18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in</a:t>
                      </a:r>
                      <a:r>
                        <a:rPr sz="18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the</a:t>
                      </a:r>
                      <a:r>
                        <a:rPr sz="18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form</a:t>
                      </a:r>
                      <a:r>
                        <a:rPr sz="18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of</a:t>
                      </a:r>
                      <a:r>
                        <a:rPr sz="18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tables,</a:t>
                      </a:r>
                      <a:r>
                        <a:rPr sz="18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so</a:t>
                      </a:r>
                      <a:r>
                        <a:rPr sz="18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50" dirty="0">
                          <a:latin typeface="Calibri"/>
                          <a:cs typeface="Calibri"/>
                        </a:rPr>
                        <a:t>a </a:t>
                      </a:r>
                      <a:r>
                        <a:rPr sz="1800" b="1" dirty="0">
                          <a:latin typeface="Calibri"/>
                          <a:cs typeface="Calibri"/>
                        </a:rPr>
                        <a:t>relationship</a:t>
                      </a:r>
                      <a:r>
                        <a:rPr sz="1800" b="1" spc="-8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between</a:t>
                      </a:r>
                      <a:r>
                        <a:rPr sz="18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these</a:t>
                      </a:r>
                      <a:r>
                        <a:rPr sz="1800" spc="-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data</a:t>
                      </a:r>
                      <a:r>
                        <a:rPr sz="1800" spc="-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values</a:t>
                      </a:r>
                      <a:r>
                        <a:rPr sz="1800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will</a:t>
                      </a:r>
                      <a:r>
                        <a:rPr sz="1800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be</a:t>
                      </a:r>
                      <a:r>
                        <a:rPr sz="18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stored</a:t>
                      </a:r>
                      <a:r>
                        <a:rPr sz="1800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in</a:t>
                      </a:r>
                      <a:r>
                        <a:rPr sz="1800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25" dirty="0">
                          <a:latin typeface="Calibri"/>
                          <a:cs typeface="Calibri"/>
                        </a:rPr>
                        <a:t>the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form</a:t>
                      </a:r>
                      <a:r>
                        <a:rPr sz="18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of</a:t>
                      </a:r>
                      <a:r>
                        <a:rPr sz="18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a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table</a:t>
                      </a:r>
                      <a:r>
                        <a:rPr sz="18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as</a:t>
                      </a:r>
                      <a:r>
                        <a:rPr sz="18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20" dirty="0">
                          <a:latin typeface="Calibri"/>
                          <a:cs typeface="Calibri"/>
                        </a:rPr>
                        <a:t>well.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635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</a:tr>
              <a:tr h="768350">
                <a:tc>
                  <a:txBody>
                    <a:bodyPr/>
                    <a:lstStyle/>
                    <a:p>
                      <a:pPr marL="88265">
                        <a:lnSpc>
                          <a:spcPct val="100000"/>
                        </a:lnSpc>
                        <a:spcBef>
                          <a:spcPts val="750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DBMS</a:t>
                      </a:r>
                      <a:r>
                        <a:rPr sz="1800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has</a:t>
                      </a:r>
                      <a:r>
                        <a:rPr sz="18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to</a:t>
                      </a:r>
                      <a:r>
                        <a:rPr sz="1800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provide</a:t>
                      </a:r>
                      <a:r>
                        <a:rPr sz="18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some</a:t>
                      </a:r>
                      <a:r>
                        <a:rPr sz="18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uniform</a:t>
                      </a:r>
                      <a:r>
                        <a:rPr sz="18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methods</a:t>
                      </a:r>
                      <a:r>
                        <a:rPr sz="18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to</a:t>
                      </a:r>
                      <a:r>
                        <a:rPr sz="1800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access</a:t>
                      </a:r>
                      <a:r>
                        <a:rPr sz="18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25" dirty="0">
                          <a:latin typeface="Calibri"/>
                          <a:cs typeface="Calibri"/>
                        </a:rPr>
                        <a:t>the</a:t>
                      </a:r>
                      <a:endParaRPr sz="1800">
                        <a:latin typeface="Calibri"/>
                        <a:cs typeface="Calibri"/>
                      </a:endParaRPr>
                    </a:p>
                    <a:p>
                      <a:pPr marL="88265">
                        <a:lnSpc>
                          <a:spcPct val="100000"/>
                        </a:lnSpc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stored</a:t>
                      </a:r>
                      <a:r>
                        <a:rPr sz="18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information.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95250" marB="0">
                    <a:lnL w="9525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750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RDBMS</a:t>
                      </a:r>
                      <a:r>
                        <a:rPr sz="1800" spc="-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system</a:t>
                      </a:r>
                      <a:r>
                        <a:rPr sz="18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supports</a:t>
                      </a:r>
                      <a:r>
                        <a:rPr sz="1800" spc="-6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a</a:t>
                      </a:r>
                      <a:r>
                        <a:rPr sz="18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tabular</a:t>
                      </a:r>
                      <a:r>
                        <a:rPr sz="18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structure</a:t>
                      </a:r>
                      <a:r>
                        <a:rPr sz="18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of</a:t>
                      </a:r>
                      <a:r>
                        <a:rPr sz="1800" spc="-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the</a:t>
                      </a:r>
                      <a:r>
                        <a:rPr sz="18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data</a:t>
                      </a:r>
                      <a:r>
                        <a:rPr sz="1800" spc="-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and</a:t>
                      </a:r>
                      <a:r>
                        <a:rPr sz="1800" spc="-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50" dirty="0">
                          <a:latin typeface="Calibri"/>
                          <a:cs typeface="Calibri"/>
                        </a:rPr>
                        <a:t>a</a:t>
                      </a:r>
                      <a:endParaRPr sz="1800">
                        <a:latin typeface="Calibri"/>
                        <a:cs typeface="Calibri"/>
                      </a:endParaRPr>
                    </a:p>
                    <a:p>
                      <a:pPr marL="92075">
                        <a:lnSpc>
                          <a:spcPct val="100000"/>
                        </a:lnSpc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relationship</a:t>
                      </a:r>
                      <a:r>
                        <a:rPr sz="18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between</a:t>
                      </a:r>
                      <a:r>
                        <a:rPr sz="18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them</a:t>
                      </a:r>
                      <a:r>
                        <a:rPr sz="18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to</a:t>
                      </a:r>
                      <a:r>
                        <a:rPr sz="18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access</a:t>
                      </a:r>
                      <a:r>
                        <a:rPr sz="18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the</a:t>
                      </a:r>
                      <a:r>
                        <a:rPr sz="18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stored</a:t>
                      </a:r>
                      <a:r>
                        <a:rPr sz="18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information.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952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635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</a:tr>
              <a:tr h="505459">
                <a:tc>
                  <a:txBody>
                    <a:bodyPr/>
                    <a:lstStyle/>
                    <a:p>
                      <a:pPr marL="88265">
                        <a:lnSpc>
                          <a:spcPct val="100000"/>
                        </a:lnSpc>
                        <a:spcBef>
                          <a:spcPts val="800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DBMS</a:t>
                      </a:r>
                      <a:r>
                        <a:rPr sz="1800" spc="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dirty="0">
                          <a:latin typeface="Calibri"/>
                          <a:cs typeface="Calibri"/>
                        </a:rPr>
                        <a:t>does</a:t>
                      </a:r>
                      <a:r>
                        <a:rPr sz="1800" b="1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dirty="0">
                          <a:latin typeface="Calibri"/>
                          <a:cs typeface="Calibri"/>
                        </a:rPr>
                        <a:t>not</a:t>
                      </a:r>
                      <a:r>
                        <a:rPr sz="1800" b="1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dirty="0">
                          <a:latin typeface="Calibri"/>
                          <a:cs typeface="Calibri"/>
                        </a:rPr>
                        <a:t>support</a:t>
                      </a:r>
                      <a:r>
                        <a:rPr sz="1800" b="1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spc="-10" dirty="0">
                          <a:latin typeface="Calibri"/>
                          <a:cs typeface="Calibri"/>
                        </a:rPr>
                        <a:t>distributed</a:t>
                      </a:r>
                      <a:r>
                        <a:rPr sz="1800" b="1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spc="-10" dirty="0">
                          <a:latin typeface="Calibri"/>
                          <a:cs typeface="Calibri"/>
                        </a:rPr>
                        <a:t>database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.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01600" marB="0">
                    <a:lnL w="9525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800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RDBMS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dirty="0">
                          <a:latin typeface="Calibri"/>
                          <a:cs typeface="Calibri"/>
                        </a:rPr>
                        <a:t>supports</a:t>
                      </a:r>
                      <a:r>
                        <a:rPr sz="1800" b="1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spc="-10" dirty="0">
                          <a:latin typeface="Calibri"/>
                          <a:cs typeface="Calibri"/>
                        </a:rPr>
                        <a:t>distributed</a:t>
                      </a:r>
                      <a:r>
                        <a:rPr sz="1800" b="1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spc="-10" dirty="0">
                          <a:latin typeface="Calibri"/>
                          <a:cs typeface="Calibri"/>
                        </a:rPr>
                        <a:t>database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.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016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635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</a:tr>
              <a:tr h="748665">
                <a:tc>
                  <a:txBody>
                    <a:bodyPr/>
                    <a:lstStyle/>
                    <a:p>
                      <a:pPr marL="88265">
                        <a:lnSpc>
                          <a:spcPct val="100000"/>
                        </a:lnSpc>
                        <a:spcBef>
                          <a:spcPts val="680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DBMS</a:t>
                      </a:r>
                      <a:r>
                        <a:rPr sz="18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is</a:t>
                      </a:r>
                      <a:r>
                        <a:rPr sz="18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meant</a:t>
                      </a:r>
                      <a:r>
                        <a:rPr sz="18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to</a:t>
                      </a:r>
                      <a:r>
                        <a:rPr sz="18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be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for</a:t>
                      </a:r>
                      <a:r>
                        <a:rPr sz="18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small</a:t>
                      </a:r>
                      <a:r>
                        <a:rPr sz="18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organization</a:t>
                      </a:r>
                      <a:r>
                        <a:rPr sz="18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and </a:t>
                      </a:r>
                      <a:r>
                        <a:rPr sz="1800" b="1" dirty="0">
                          <a:latin typeface="Calibri"/>
                          <a:cs typeface="Calibri"/>
                        </a:rPr>
                        <a:t>deal</a:t>
                      </a:r>
                      <a:r>
                        <a:rPr sz="1800" b="1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dirty="0">
                          <a:latin typeface="Calibri"/>
                          <a:cs typeface="Calibri"/>
                        </a:rPr>
                        <a:t>with</a:t>
                      </a:r>
                      <a:r>
                        <a:rPr sz="1800" b="1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spc="-10" dirty="0">
                          <a:latin typeface="Calibri"/>
                          <a:cs typeface="Calibri"/>
                        </a:rPr>
                        <a:t>small</a:t>
                      </a:r>
                      <a:endParaRPr sz="1800">
                        <a:latin typeface="Calibri"/>
                        <a:cs typeface="Calibri"/>
                      </a:endParaRPr>
                    </a:p>
                    <a:p>
                      <a:pPr marL="88265">
                        <a:lnSpc>
                          <a:spcPct val="100000"/>
                        </a:lnSpc>
                      </a:pPr>
                      <a:r>
                        <a:rPr sz="1800" b="1" dirty="0">
                          <a:latin typeface="Calibri"/>
                          <a:cs typeface="Calibri"/>
                        </a:rPr>
                        <a:t>data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.</a:t>
                      </a:r>
                      <a:r>
                        <a:rPr sz="1800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it</a:t>
                      </a:r>
                      <a:r>
                        <a:rPr sz="18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supports</a:t>
                      </a:r>
                      <a:r>
                        <a:rPr sz="18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dirty="0">
                          <a:latin typeface="Calibri"/>
                          <a:cs typeface="Calibri"/>
                        </a:rPr>
                        <a:t>single</a:t>
                      </a:r>
                      <a:r>
                        <a:rPr sz="1800" b="1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spc="-20" dirty="0">
                          <a:latin typeface="Calibri"/>
                          <a:cs typeface="Calibri"/>
                        </a:rPr>
                        <a:t>user.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86360" marB="0">
                    <a:lnL w="9525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680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RDBMS</a:t>
                      </a:r>
                      <a:r>
                        <a:rPr sz="18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is</a:t>
                      </a:r>
                      <a:r>
                        <a:rPr sz="18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designed</a:t>
                      </a:r>
                      <a:r>
                        <a:rPr sz="18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to</a:t>
                      </a:r>
                      <a:r>
                        <a:rPr sz="18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dirty="0">
                          <a:latin typeface="Calibri"/>
                          <a:cs typeface="Calibri"/>
                        </a:rPr>
                        <a:t>handle</a:t>
                      </a:r>
                      <a:r>
                        <a:rPr sz="1800" b="1" spc="-7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dirty="0">
                          <a:latin typeface="Calibri"/>
                          <a:cs typeface="Calibri"/>
                        </a:rPr>
                        <a:t>large</a:t>
                      </a:r>
                      <a:r>
                        <a:rPr sz="1800" b="1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dirty="0">
                          <a:latin typeface="Calibri"/>
                          <a:cs typeface="Calibri"/>
                        </a:rPr>
                        <a:t>amount</a:t>
                      </a:r>
                      <a:r>
                        <a:rPr sz="1800" b="1" spc="-6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dirty="0">
                          <a:latin typeface="Calibri"/>
                          <a:cs typeface="Calibri"/>
                        </a:rPr>
                        <a:t>of</a:t>
                      </a:r>
                      <a:r>
                        <a:rPr sz="1800" b="1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dirty="0">
                          <a:latin typeface="Calibri"/>
                          <a:cs typeface="Calibri"/>
                        </a:rPr>
                        <a:t>data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.</a:t>
                      </a:r>
                      <a:r>
                        <a:rPr sz="1800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it</a:t>
                      </a:r>
                      <a:r>
                        <a:rPr sz="18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supports</a:t>
                      </a:r>
                      <a:endParaRPr sz="1800">
                        <a:latin typeface="Calibri"/>
                        <a:cs typeface="Calibri"/>
                      </a:endParaRPr>
                    </a:p>
                    <a:p>
                      <a:pPr marL="92075">
                        <a:lnSpc>
                          <a:spcPct val="100000"/>
                        </a:lnSpc>
                      </a:pPr>
                      <a:r>
                        <a:rPr sz="1800" b="1" dirty="0">
                          <a:latin typeface="Calibri"/>
                          <a:cs typeface="Calibri"/>
                        </a:rPr>
                        <a:t>multiple</a:t>
                      </a:r>
                      <a:r>
                        <a:rPr sz="1800" b="1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spc="-10" dirty="0">
                          <a:latin typeface="Calibri"/>
                          <a:cs typeface="Calibri"/>
                        </a:rPr>
                        <a:t>users.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8636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635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</a:tr>
              <a:tr h="665480">
                <a:tc>
                  <a:txBody>
                    <a:bodyPr/>
                    <a:lstStyle/>
                    <a:p>
                      <a:pPr marL="88265">
                        <a:lnSpc>
                          <a:spcPct val="100000"/>
                        </a:lnSpc>
                        <a:spcBef>
                          <a:spcPts val="1430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Examples</a:t>
                      </a:r>
                      <a:r>
                        <a:rPr sz="18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of</a:t>
                      </a:r>
                      <a:r>
                        <a:rPr sz="18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DBMS</a:t>
                      </a:r>
                      <a:r>
                        <a:rPr sz="18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are</a:t>
                      </a:r>
                      <a:r>
                        <a:rPr sz="18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file</a:t>
                      </a:r>
                      <a:r>
                        <a:rPr sz="18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systems,</a:t>
                      </a:r>
                      <a:r>
                        <a:rPr sz="18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dirty="0">
                          <a:latin typeface="Calibri"/>
                          <a:cs typeface="Calibri"/>
                        </a:rPr>
                        <a:t>xml</a:t>
                      </a:r>
                      <a:r>
                        <a:rPr sz="1800" b="1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20" dirty="0">
                          <a:latin typeface="Calibri"/>
                          <a:cs typeface="Calibri"/>
                        </a:rPr>
                        <a:t>etc.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81610" marB="0">
                    <a:lnL w="9525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1430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Example</a:t>
                      </a:r>
                      <a:r>
                        <a:rPr sz="18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of</a:t>
                      </a:r>
                      <a:r>
                        <a:rPr sz="18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RDBMS</a:t>
                      </a:r>
                      <a:r>
                        <a:rPr sz="18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are</a:t>
                      </a:r>
                      <a:r>
                        <a:rPr sz="18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dirty="0">
                          <a:latin typeface="Calibri"/>
                          <a:cs typeface="Calibri"/>
                        </a:rPr>
                        <a:t>mysql,</a:t>
                      </a:r>
                      <a:r>
                        <a:rPr sz="1800" b="1" spc="-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dirty="0">
                          <a:latin typeface="Calibri"/>
                          <a:cs typeface="Calibri"/>
                        </a:rPr>
                        <a:t>postgre,</a:t>
                      </a:r>
                      <a:r>
                        <a:rPr sz="1800" b="1" spc="-7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dirty="0">
                          <a:latin typeface="Calibri"/>
                          <a:cs typeface="Calibri"/>
                        </a:rPr>
                        <a:t>sql</a:t>
                      </a:r>
                      <a:r>
                        <a:rPr sz="1800" b="1" spc="-6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spc="-20" dirty="0">
                          <a:latin typeface="Calibri"/>
                          <a:cs typeface="Calibri"/>
                        </a:rPr>
                        <a:t>server,</a:t>
                      </a:r>
                      <a:r>
                        <a:rPr sz="1800" b="1" spc="-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dirty="0">
                          <a:latin typeface="Calibri"/>
                          <a:cs typeface="Calibri"/>
                        </a:rPr>
                        <a:t>oracle</a:t>
                      </a:r>
                      <a:r>
                        <a:rPr sz="1800" b="1" spc="-6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20" dirty="0">
                          <a:latin typeface="Calibri"/>
                          <a:cs typeface="Calibri"/>
                        </a:rPr>
                        <a:t>etc.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8161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635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462C1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944</Words>
  <Application>Microsoft Office PowerPoint</Application>
  <PresentationFormat>Widescreen</PresentationFormat>
  <Paragraphs>257</Paragraphs>
  <Slides>23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8" baseType="lpstr">
      <vt:lpstr>Arial MT</vt:lpstr>
      <vt:lpstr>Calibri</vt:lpstr>
      <vt:lpstr>Calibri Light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Terminologies of RDBMS</vt:lpstr>
      <vt:lpstr>PowerPoint Presentation</vt:lpstr>
      <vt:lpstr>Each relation has a unique name by which it is identified in the database.</vt:lpstr>
      <vt:lpstr>Example: Student Table</vt:lpstr>
      <vt:lpstr>or tuple.</vt:lpstr>
      <vt:lpstr>All tuples of the relation have the same format and the same number of entries.</vt:lpstr>
      <vt:lpstr>One record/ row in the table</vt:lpstr>
      <vt:lpstr>PowerPoint Presentation</vt:lpstr>
      <vt:lpstr>Null values are permitted for the attributes.</vt:lpstr>
      <vt:lpstr>Attribute/ Column in the table</vt:lpstr>
      <vt:lpstr>PowerPoint Presentation</vt:lpstr>
      <vt:lpstr>Properties of Data Items</vt:lpstr>
      <vt:lpstr>PowerPoint Presentation</vt:lpstr>
      <vt:lpstr>PowerPoint Presentation</vt:lpstr>
      <vt:lpstr>PowerPoint Presentation</vt:lpstr>
      <vt:lpstr>PowerPoint Presentation</vt:lpstr>
      <vt:lpstr>Following are the categories of data integrity exist with each RDBMS: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Muhammad Hammad Waseem</dc:creator>
  <cp:lastModifiedBy>Windows User</cp:lastModifiedBy>
  <cp:revision>1</cp:revision>
  <dcterms:created xsi:type="dcterms:W3CDTF">2025-06-30T07:15:59Z</dcterms:created>
  <dcterms:modified xsi:type="dcterms:W3CDTF">2025-06-30T07:26:48Z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2023-11-22T00:00:00Z</vt:filetime>
  </property>
  <property fmtid="{D5CDD505-2E9C-101B-9397-08002B2CF9AE}" pid="3" name="Creator">
    <vt:lpwstr>Microsoft® PowerPoint® for Microsoft 365</vt:lpwstr>
  </property>
  <property fmtid="{D5CDD505-2E9C-101B-9397-08002B2CF9AE}" pid="4" name="LastSaved">
    <vt:filetime>2025-06-30T00:00:00Z</vt:filetime>
  </property>
  <property fmtid="{D5CDD505-2E9C-101B-9397-08002B2CF9AE}" pid="5" name="Producer">
    <vt:lpwstr>Microsoft® PowerPoint® for Microsoft 365</vt:lpwstr>
  </property>
</Properties>
</file>