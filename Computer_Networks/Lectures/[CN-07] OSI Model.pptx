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31900" y="2578760"/>
            <a:ext cx="4926965" cy="3449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33565" y="2578760"/>
            <a:ext cx="4926965" cy="3449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5155"/>
            <a:ext cx="715835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91969"/>
            <a:ext cx="10358755" cy="4290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6920" y="1656079"/>
            <a:ext cx="6598284" cy="176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6840"/>
              </a:lnSpc>
              <a:spcBef>
                <a:spcPts val="100"/>
              </a:spcBef>
            </a:pPr>
            <a:r>
              <a:rPr sz="6000" b="1" spc="-254" dirty="0">
                <a:latin typeface="Trebuchet MS"/>
                <a:cs typeface="Trebuchet MS"/>
              </a:rPr>
              <a:t>Computer</a:t>
            </a:r>
            <a:r>
              <a:rPr sz="6000" b="1" spc="-650" dirty="0">
                <a:latin typeface="Trebuchet MS"/>
                <a:cs typeface="Trebuchet MS"/>
              </a:rPr>
              <a:t> </a:t>
            </a:r>
            <a:r>
              <a:rPr sz="6000" b="1" spc="-165" dirty="0">
                <a:latin typeface="Trebuchet MS"/>
                <a:cs typeface="Trebuchet MS"/>
              </a:rPr>
              <a:t>Networks</a:t>
            </a:r>
            <a:endParaRPr sz="6000">
              <a:latin typeface="Trebuchet MS"/>
              <a:cs typeface="Trebuchet MS"/>
            </a:endParaRPr>
          </a:p>
          <a:p>
            <a:pPr algn="ctr">
              <a:lnSpc>
                <a:spcPts val="6840"/>
              </a:lnSpc>
            </a:pPr>
            <a:r>
              <a:rPr sz="6000" spc="-60" dirty="0"/>
              <a:t>[</a:t>
            </a:r>
            <a:r>
              <a:rPr sz="5300" i="1" spc="-60" dirty="0">
                <a:latin typeface="Trebuchet MS"/>
                <a:cs typeface="Trebuchet MS"/>
              </a:rPr>
              <a:t>OSI</a:t>
            </a:r>
            <a:r>
              <a:rPr sz="5300" i="1" spc="-555" dirty="0">
                <a:latin typeface="Trebuchet MS"/>
                <a:cs typeface="Trebuchet MS"/>
              </a:rPr>
              <a:t> </a:t>
            </a:r>
            <a:r>
              <a:rPr sz="5300" i="1" spc="-270" dirty="0">
                <a:latin typeface="Trebuchet MS"/>
                <a:cs typeface="Trebuchet MS"/>
              </a:rPr>
              <a:t>Model</a:t>
            </a:r>
            <a:r>
              <a:rPr sz="6000" spc="-270" dirty="0"/>
              <a:t>]</a:t>
            </a:r>
            <a:endParaRPr sz="6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60" dirty="0"/>
              <a:t>OSI</a:t>
            </a:r>
            <a:r>
              <a:rPr spc="-470" dirty="0"/>
              <a:t> </a:t>
            </a:r>
            <a:r>
              <a:rPr spc="-9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7106"/>
            <a:ext cx="1036002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95" dirty="0">
                <a:latin typeface="Trebuchet MS"/>
                <a:cs typeface="Trebuchet MS"/>
              </a:rPr>
              <a:t>OSI</a:t>
            </a:r>
            <a:r>
              <a:rPr sz="2600" spc="21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stands</a:t>
            </a:r>
            <a:r>
              <a:rPr sz="2600" spc="2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for</a:t>
            </a:r>
            <a:r>
              <a:rPr sz="2600" spc="235" dirty="0">
                <a:latin typeface="Trebuchet MS"/>
                <a:cs typeface="Trebuchet MS"/>
              </a:rPr>
              <a:t> </a:t>
            </a:r>
            <a:r>
              <a:rPr sz="2600" b="1" dirty="0">
                <a:latin typeface="Trebuchet MS"/>
                <a:cs typeface="Trebuchet MS"/>
              </a:rPr>
              <a:t>Open</a:t>
            </a:r>
            <a:r>
              <a:rPr sz="2600" b="1" spc="210" dirty="0">
                <a:latin typeface="Trebuchet MS"/>
                <a:cs typeface="Trebuchet MS"/>
              </a:rPr>
              <a:t> </a:t>
            </a:r>
            <a:r>
              <a:rPr sz="2600" b="1" dirty="0">
                <a:latin typeface="Trebuchet MS"/>
                <a:cs typeface="Trebuchet MS"/>
              </a:rPr>
              <a:t>System</a:t>
            </a:r>
            <a:r>
              <a:rPr sz="2600" b="1" spc="215" dirty="0">
                <a:latin typeface="Trebuchet MS"/>
                <a:cs typeface="Trebuchet MS"/>
              </a:rPr>
              <a:t> </a:t>
            </a:r>
            <a:r>
              <a:rPr sz="2600" b="1" spc="-20" dirty="0">
                <a:latin typeface="Trebuchet MS"/>
                <a:cs typeface="Trebuchet MS"/>
              </a:rPr>
              <a:t>Interconnection</a:t>
            </a:r>
            <a:r>
              <a:rPr sz="2600" b="1" spc="229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is</a:t>
            </a:r>
            <a:r>
              <a:rPr sz="2600" spc="21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215" dirty="0">
                <a:latin typeface="Trebuchet MS"/>
                <a:cs typeface="Trebuchet MS"/>
              </a:rPr>
              <a:t> </a:t>
            </a:r>
            <a:r>
              <a:rPr sz="2600" spc="-45" dirty="0">
                <a:latin typeface="Trebuchet MS"/>
                <a:cs typeface="Trebuchet MS"/>
              </a:rPr>
              <a:t>reference</a:t>
            </a:r>
            <a:r>
              <a:rPr sz="2600" spc="22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model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844" y="2014474"/>
            <a:ext cx="1012761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33425" algn="l"/>
                <a:tab pos="2289175" algn="l"/>
                <a:tab pos="3042285" algn="l"/>
                <a:tab pos="4851400" algn="l"/>
                <a:tab pos="5674360" algn="l"/>
                <a:tab pos="6002020" algn="l"/>
                <a:tab pos="7400290" algn="l"/>
                <a:tab pos="9160510" algn="l"/>
                <a:tab pos="9575165" algn="l"/>
              </a:tabLst>
            </a:pPr>
            <a:r>
              <a:rPr sz="2600" spc="-20" dirty="0">
                <a:latin typeface="Trebuchet MS"/>
                <a:cs typeface="Trebuchet MS"/>
              </a:rPr>
              <a:t>that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10" dirty="0">
                <a:latin typeface="Trebuchet MS"/>
                <a:cs typeface="Trebuchet MS"/>
              </a:rPr>
              <a:t>describes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25" dirty="0">
                <a:latin typeface="Trebuchet MS"/>
                <a:cs typeface="Trebuchet MS"/>
              </a:rPr>
              <a:t>how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10" dirty="0">
                <a:latin typeface="Trebuchet MS"/>
                <a:cs typeface="Trebuchet MS"/>
              </a:rPr>
              <a:t>information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20" dirty="0">
                <a:latin typeface="Trebuchet MS"/>
                <a:cs typeface="Trebuchet MS"/>
              </a:rPr>
              <a:t>from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50" dirty="0">
                <a:latin typeface="Trebuchet MS"/>
                <a:cs typeface="Trebuchet MS"/>
              </a:rPr>
              <a:t>a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10" dirty="0">
                <a:latin typeface="Trebuchet MS"/>
                <a:cs typeface="Trebuchet MS"/>
              </a:rPr>
              <a:t>software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10" dirty="0">
                <a:latin typeface="Trebuchet MS"/>
                <a:cs typeface="Trebuchet MS"/>
              </a:rPr>
              <a:t>application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25" dirty="0">
                <a:latin typeface="Trebuchet MS"/>
                <a:cs typeface="Trebuchet MS"/>
              </a:rPr>
              <a:t>in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25" dirty="0">
                <a:latin typeface="Trebuchet MS"/>
                <a:cs typeface="Trebuchet MS"/>
              </a:rPr>
              <a:t>one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5844" y="2291842"/>
            <a:ext cx="1012761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675130" algn="l"/>
                <a:tab pos="2879090" algn="l"/>
                <a:tab pos="4249420" algn="l"/>
                <a:tab pos="4688205" algn="l"/>
                <a:tab pos="6141085" algn="l"/>
                <a:tab pos="7590790" algn="l"/>
                <a:tab pos="8142605" algn="l"/>
                <a:tab pos="8869045" algn="l"/>
              </a:tabLst>
            </a:pPr>
            <a:r>
              <a:rPr sz="2600" spc="-10" dirty="0">
                <a:latin typeface="Trebuchet MS"/>
                <a:cs typeface="Trebuchet MS"/>
              </a:rPr>
              <a:t>computer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20" dirty="0">
                <a:latin typeface="Trebuchet MS"/>
                <a:cs typeface="Trebuchet MS"/>
              </a:rPr>
              <a:t>moves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10" dirty="0">
                <a:latin typeface="Trebuchet MS"/>
                <a:cs typeface="Trebuchet MS"/>
              </a:rPr>
              <a:t>through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50" dirty="0">
                <a:latin typeface="Trebuchet MS"/>
                <a:cs typeface="Trebuchet MS"/>
              </a:rPr>
              <a:t>a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10" dirty="0">
                <a:latin typeface="Trebuchet MS"/>
                <a:cs typeface="Trebuchet MS"/>
              </a:rPr>
              <a:t>physical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10" dirty="0">
                <a:latin typeface="Trebuchet MS"/>
                <a:cs typeface="Trebuchet MS"/>
              </a:rPr>
              <a:t>medium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25" dirty="0">
                <a:latin typeface="Trebuchet MS"/>
                <a:cs typeface="Trebuchet MS"/>
              </a:rPr>
              <a:t>to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25" dirty="0">
                <a:latin typeface="Trebuchet MS"/>
                <a:cs typeface="Trebuchet MS"/>
              </a:rPr>
              <a:t>the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45" dirty="0">
                <a:latin typeface="Trebuchet MS"/>
                <a:cs typeface="Trebuchet MS"/>
              </a:rPr>
              <a:t>software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5844" y="2568905"/>
            <a:ext cx="468058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50" dirty="0">
                <a:latin typeface="Trebuchet MS"/>
                <a:cs typeface="Trebuchet MS"/>
              </a:rPr>
              <a:t>application</a:t>
            </a:r>
            <a:r>
              <a:rPr sz="2600" spc="-200" dirty="0">
                <a:latin typeface="Trebuchet MS"/>
                <a:cs typeface="Trebuchet MS"/>
              </a:rPr>
              <a:t> </a:t>
            </a:r>
            <a:r>
              <a:rPr sz="2600" spc="-60" dirty="0">
                <a:latin typeface="Trebuchet MS"/>
                <a:cs typeface="Trebuchet MS"/>
              </a:rPr>
              <a:t>in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spc="-65" dirty="0">
                <a:latin typeface="Trebuchet MS"/>
                <a:cs typeface="Trebuchet MS"/>
              </a:rPr>
              <a:t>another</a:t>
            </a:r>
            <a:r>
              <a:rPr sz="2600" spc="-190" dirty="0">
                <a:latin typeface="Trebuchet MS"/>
                <a:cs typeface="Trebuchet MS"/>
              </a:rPr>
              <a:t> </a:t>
            </a:r>
            <a:r>
              <a:rPr sz="2600" spc="-40" dirty="0">
                <a:latin typeface="Trebuchet MS"/>
                <a:cs typeface="Trebuchet MS"/>
              </a:rPr>
              <a:t>computer.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2973451"/>
            <a:ext cx="1035558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  <a:tab pos="907415" algn="l"/>
                <a:tab pos="2260600" algn="l"/>
                <a:tab pos="2694940" algn="l"/>
                <a:tab pos="3684270" algn="l"/>
                <a:tab pos="4775200" algn="l"/>
                <a:tab pos="5472430" algn="l"/>
                <a:tab pos="6330315" algn="l"/>
                <a:tab pos="7174230" algn="l"/>
                <a:tab pos="8629015" algn="l"/>
                <a:tab pos="8956675" algn="l"/>
              </a:tabLst>
            </a:pPr>
            <a:r>
              <a:rPr sz="2600" spc="70" dirty="0">
                <a:latin typeface="Trebuchet MS"/>
                <a:cs typeface="Trebuchet MS"/>
              </a:rPr>
              <a:t>OSI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35" dirty="0">
                <a:latin typeface="Trebuchet MS"/>
                <a:cs typeface="Trebuchet MS"/>
              </a:rPr>
              <a:t>consists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25" dirty="0">
                <a:latin typeface="Trebuchet MS"/>
                <a:cs typeface="Trebuchet MS"/>
              </a:rPr>
              <a:t>of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10" dirty="0">
                <a:latin typeface="Trebuchet MS"/>
                <a:cs typeface="Trebuchet MS"/>
              </a:rPr>
              <a:t>seven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10" dirty="0">
                <a:latin typeface="Trebuchet MS"/>
                <a:cs typeface="Trebuchet MS"/>
              </a:rPr>
              <a:t>layers,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25" dirty="0">
                <a:latin typeface="Trebuchet MS"/>
                <a:cs typeface="Trebuchet MS"/>
              </a:rPr>
              <a:t>and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20" dirty="0">
                <a:latin typeface="Trebuchet MS"/>
                <a:cs typeface="Trebuchet MS"/>
              </a:rPr>
              <a:t>each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10" dirty="0">
                <a:latin typeface="Trebuchet MS"/>
                <a:cs typeface="Trebuchet MS"/>
              </a:rPr>
              <a:t>layer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10" dirty="0">
                <a:latin typeface="Trebuchet MS"/>
                <a:cs typeface="Trebuchet MS"/>
              </a:rPr>
              <a:t>performs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50" dirty="0">
                <a:latin typeface="Trebuchet MS"/>
                <a:cs typeface="Trebuchet MS"/>
              </a:rPr>
              <a:t>a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55" dirty="0">
                <a:latin typeface="Trebuchet MS"/>
                <a:cs typeface="Trebuchet MS"/>
              </a:rPr>
              <a:t>particular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5844" y="3250819"/>
            <a:ext cx="253174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80" dirty="0">
                <a:latin typeface="Trebuchet MS"/>
                <a:cs typeface="Trebuchet MS"/>
              </a:rPr>
              <a:t>network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function.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939" y="3654678"/>
            <a:ext cx="1035685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  <a:tab pos="980440" algn="l"/>
                <a:tab pos="2111375" algn="l"/>
                <a:tab pos="2908300" algn="l"/>
                <a:tab pos="4627880" algn="l"/>
                <a:tab pos="5184140" algn="l"/>
                <a:tab pos="5871210" algn="l"/>
                <a:tab pos="7921625" algn="l"/>
                <a:tab pos="9956165" algn="l"/>
              </a:tabLst>
            </a:pPr>
            <a:r>
              <a:rPr sz="2600" spc="70" dirty="0">
                <a:latin typeface="Trebuchet MS"/>
                <a:cs typeface="Trebuchet MS"/>
              </a:rPr>
              <a:t>OSI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10" dirty="0">
                <a:latin typeface="Trebuchet MS"/>
                <a:cs typeface="Trebuchet MS"/>
              </a:rPr>
              <a:t>model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25" dirty="0">
                <a:latin typeface="Trebuchet MS"/>
                <a:cs typeface="Trebuchet MS"/>
              </a:rPr>
              <a:t>was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10" dirty="0">
                <a:latin typeface="Trebuchet MS"/>
                <a:cs typeface="Trebuchet MS"/>
              </a:rPr>
              <a:t>developed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25" dirty="0">
                <a:latin typeface="Trebuchet MS"/>
                <a:cs typeface="Trebuchet MS"/>
              </a:rPr>
              <a:t>by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25" dirty="0">
                <a:latin typeface="Trebuchet MS"/>
                <a:cs typeface="Trebuchet MS"/>
              </a:rPr>
              <a:t>the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10" dirty="0">
                <a:latin typeface="Trebuchet MS"/>
                <a:cs typeface="Trebuchet MS"/>
              </a:rPr>
              <a:t>International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10" dirty="0">
                <a:latin typeface="Trebuchet MS"/>
                <a:cs typeface="Trebuchet MS"/>
              </a:rPr>
              <a:t>Organization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100" dirty="0">
                <a:latin typeface="Trebuchet MS"/>
                <a:cs typeface="Trebuchet MS"/>
              </a:rPr>
              <a:t>for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5844" y="3931742"/>
            <a:ext cx="1012698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84755" algn="l"/>
                <a:tab pos="3414395" algn="l"/>
                <a:tab pos="3897629" algn="l"/>
                <a:tab pos="4917440" algn="l"/>
                <a:tab pos="5681980" algn="l"/>
                <a:tab pos="6089015" algn="l"/>
                <a:tab pos="6549390" algn="l"/>
                <a:tab pos="7371080" algn="l"/>
                <a:tab pos="9198610" algn="l"/>
                <a:tab pos="9756775" algn="l"/>
              </a:tabLst>
            </a:pPr>
            <a:r>
              <a:rPr sz="2600" spc="-10" dirty="0">
                <a:latin typeface="Trebuchet MS"/>
                <a:cs typeface="Trebuchet MS"/>
              </a:rPr>
              <a:t>Standardization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20" dirty="0">
                <a:latin typeface="Trebuchet MS"/>
                <a:cs typeface="Trebuchet MS"/>
              </a:rPr>
              <a:t>(ISO)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25" dirty="0">
                <a:latin typeface="Trebuchet MS"/>
                <a:cs typeface="Trebuchet MS"/>
              </a:rPr>
              <a:t>in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10" dirty="0">
                <a:latin typeface="Trebuchet MS"/>
                <a:cs typeface="Trebuchet MS"/>
              </a:rPr>
              <a:t>1984,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25" dirty="0">
                <a:latin typeface="Trebuchet MS"/>
                <a:cs typeface="Trebuchet MS"/>
              </a:rPr>
              <a:t>and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25" dirty="0">
                <a:latin typeface="Trebuchet MS"/>
                <a:cs typeface="Trebuchet MS"/>
              </a:rPr>
              <a:t>it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25" dirty="0">
                <a:latin typeface="Trebuchet MS"/>
                <a:cs typeface="Trebuchet MS"/>
              </a:rPr>
              <a:t>is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25" dirty="0">
                <a:latin typeface="Trebuchet MS"/>
                <a:cs typeface="Trebuchet MS"/>
              </a:rPr>
              <a:t>now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10" dirty="0">
                <a:latin typeface="Trebuchet MS"/>
                <a:cs typeface="Trebuchet MS"/>
              </a:rPr>
              <a:t>considered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80" dirty="0">
                <a:latin typeface="Trebuchet MS"/>
                <a:cs typeface="Trebuchet MS"/>
              </a:rPr>
              <a:t>as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25" dirty="0">
                <a:latin typeface="Trebuchet MS"/>
                <a:cs typeface="Trebuchet MS"/>
              </a:rPr>
              <a:t>an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5844" y="4209669"/>
            <a:ext cx="860806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75" dirty="0">
                <a:latin typeface="Trebuchet MS"/>
                <a:cs typeface="Trebuchet MS"/>
              </a:rPr>
              <a:t>architectural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model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for</a:t>
            </a:r>
            <a:r>
              <a:rPr sz="2600" spc="-17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inter-</a:t>
            </a:r>
            <a:r>
              <a:rPr sz="2600" spc="-40" dirty="0">
                <a:latin typeface="Trebuchet MS"/>
                <a:cs typeface="Trebuchet MS"/>
              </a:rPr>
              <a:t>computer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communications.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6939" y="4615052"/>
            <a:ext cx="1035558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95" dirty="0">
                <a:latin typeface="Trebuchet MS"/>
                <a:cs typeface="Trebuchet MS"/>
              </a:rPr>
              <a:t>OSI</a:t>
            </a:r>
            <a:r>
              <a:rPr sz="2600" spc="-11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model</a:t>
            </a:r>
            <a:r>
              <a:rPr sz="2600" spc="-10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divides</a:t>
            </a:r>
            <a:r>
              <a:rPr sz="2600" spc="-110" dirty="0">
                <a:latin typeface="Trebuchet MS"/>
                <a:cs typeface="Trebuchet MS"/>
              </a:rPr>
              <a:t> </a:t>
            </a:r>
            <a:r>
              <a:rPr sz="2600" spc="-40" dirty="0">
                <a:latin typeface="Trebuchet MS"/>
                <a:cs typeface="Trebuchet MS"/>
              </a:rPr>
              <a:t>the</a:t>
            </a:r>
            <a:r>
              <a:rPr sz="2600" spc="-100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whole</a:t>
            </a:r>
            <a:r>
              <a:rPr sz="2600" spc="-11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task</a:t>
            </a:r>
            <a:r>
              <a:rPr sz="2600" spc="-100" dirty="0">
                <a:latin typeface="Trebuchet MS"/>
                <a:cs typeface="Trebuchet MS"/>
              </a:rPr>
              <a:t> </a:t>
            </a:r>
            <a:r>
              <a:rPr sz="2600" spc="-45" dirty="0">
                <a:latin typeface="Trebuchet MS"/>
                <a:cs typeface="Trebuchet MS"/>
              </a:rPr>
              <a:t>into</a:t>
            </a:r>
            <a:r>
              <a:rPr sz="2600" spc="-10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seven</a:t>
            </a:r>
            <a:r>
              <a:rPr sz="2600" spc="-10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smaller</a:t>
            </a:r>
            <a:r>
              <a:rPr sz="2600" spc="-9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-10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manageable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5844" y="4892421"/>
            <a:ext cx="653097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30" dirty="0">
                <a:latin typeface="Trebuchet MS"/>
                <a:cs typeface="Trebuchet MS"/>
              </a:rPr>
              <a:t>tasks.</a:t>
            </a:r>
            <a:r>
              <a:rPr sz="2600" spc="-18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Each</a:t>
            </a:r>
            <a:r>
              <a:rPr sz="2600" spc="-165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layer</a:t>
            </a:r>
            <a:r>
              <a:rPr sz="2600" spc="-16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is</a:t>
            </a:r>
            <a:r>
              <a:rPr sz="2600" spc="-18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assigned</a:t>
            </a:r>
            <a:r>
              <a:rPr sz="2600" spc="-15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-175" dirty="0">
                <a:latin typeface="Trebuchet MS"/>
                <a:cs typeface="Trebuchet MS"/>
              </a:rPr>
              <a:t> </a:t>
            </a:r>
            <a:r>
              <a:rPr sz="2600" spc="-65" dirty="0">
                <a:latin typeface="Trebuchet MS"/>
                <a:cs typeface="Trebuchet MS"/>
              </a:rPr>
              <a:t>particular</a:t>
            </a:r>
            <a:r>
              <a:rPr sz="2600" spc="-16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task.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6939" y="5296306"/>
            <a:ext cx="1035939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rebuchet MS"/>
                <a:cs typeface="Trebuchet MS"/>
              </a:rPr>
              <a:t>Each</a:t>
            </a:r>
            <a:r>
              <a:rPr sz="2600" spc="-120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layer</a:t>
            </a:r>
            <a:r>
              <a:rPr sz="2600" spc="-1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is</a:t>
            </a:r>
            <a:r>
              <a:rPr sz="2600" spc="-130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self-contained,</a:t>
            </a:r>
            <a:r>
              <a:rPr sz="2600" spc="-120" dirty="0">
                <a:latin typeface="Trebuchet MS"/>
                <a:cs typeface="Trebuchet MS"/>
              </a:rPr>
              <a:t> </a:t>
            </a:r>
            <a:r>
              <a:rPr sz="2600" spc="120" dirty="0">
                <a:latin typeface="Trebuchet MS"/>
                <a:cs typeface="Trebuchet MS"/>
              </a:rPr>
              <a:t>so</a:t>
            </a:r>
            <a:r>
              <a:rPr sz="2600" spc="-12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that</a:t>
            </a:r>
            <a:r>
              <a:rPr sz="2600" spc="-120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task</a:t>
            </a:r>
            <a:r>
              <a:rPr sz="2600" spc="-12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assigned</a:t>
            </a:r>
            <a:r>
              <a:rPr sz="2600" spc="-114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to</a:t>
            </a:r>
            <a:r>
              <a:rPr sz="2600" spc="-12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each</a:t>
            </a:r>
            <a:r>
              <a:rPr sz="2600" spc="-120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layer</a:t>
            </a:r>
            <a:r>
              <a:rPr sz="2600" spc="-12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can</a:t>
            </a:r>
            <a:r>
              <a:rPr sz="2600" spc="-120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be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45844" y="5573369"/>
            <a:ext cx="371411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65" dirty="0">
                <a:latin typeface="Trebuchet MS"/>
                <a:cs typeface="Trebuchet MS"/>
              </a:rPr>
              <a:t>performed</a:t>
            </a:r>
            <a:r>
              <a:rPr sz="2600" spc="-185" dirty="0">
                <a:latin typeface="Trebuchet MS"/>
                <a:cs typeface="Trebuchet MS"/>
              </a:rPr>
              <a:t> </a:t>
            </a:r>
            <a:r>
              <a:rPr sz="2600" spc="-65" dirty="0">
                <a:latin typeface="Trebuchet MS"/>
                <a:cs typeface="Trebuchet MS"/>
              </a:rPr>
              <a:t>independently.</a:t>
            </a:r>
            <a:endParaRPr sz="2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64808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65" dirty="0"/>
              <a:t>Characteristics</a:t>
            </a:r>
            <a:r>
              <a:rPr spc="-484" dirty="0"/>
              <a:t> </a:t>
            </a:r>
            <a:r>
              <a:rPr spc="-265" dirty="0"/>
              <a:t>of</a:t>
            </a:r>
            <a:r>
              <a:rPr spc="-445" dirty="0"/>
              <a:t> </a:t>
            </a:r>
            <a:r>
              <a:rPr spc="60" dirty="0"/>
              <a:t>OSI</a:t>
            </a:r>
            <a:r>
              <a:rPr spc="-440" dirty="0"/>
              <a:t> </a:t>
            </a:r>
            <a:r>
              <a:rPr spc="-50"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8201" y="1689480"/>
            <a:ext cx="7547787" cy="47296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64808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65" dirty="0"/>
              <a:t>Characteristics</a:t>
            </a:r>
            <a:r>
              <a:rPr spc="-484" dirty="0"/>
              <a:t> </a:t>
            </a:r>
            <a:r>
              <a:rPr spc="-265" dirty="0"/>
              <a:t>of</a:t>
            </a:r>
            <a:r>
              <a:rPr spc="-445" dirty="0"/>
              <a:t> </a:t>
            </a:r>
            <a:r>
              <a:rPr spc="60" dirty="0"/>
              <a:t>OSI</a:t>
            </a:r>
            <a:r>
              <a:rPr spc="-440" dirty="0"/>
              <a:t> </a:t>
            </a:r>
            <a:r>
              <a:rPr spc="-50" dirty="0"/>
              <a:t>Model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1900" y="1974062"/>
            <a:ext cx="4926965" cy="617855"/>
            <a:chOff x="831900" y="1974062"/>
            <a:chExt cx="4926965" cy="6178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250" y="1980412"/>
              <a:ext cx="4913757" cy="6047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38250" y="1980412"/>
              <a:ext cx="4914265" cy="605155"/>
            </a:xfrm>
            <a:custGeom>
              <a:avLst/>
              <a:gdLst/>
              <a:ahLst/>
              <a:cxnLst/>
              <a:rect l="l" t="t" r="r" b="b"/>
              <a:pathLst>
                <a:path w="4914265" h="605155">
                  <a:moveTo>
                    <a:pt x="0" y="604799"/>
                  </a:moveTo>
                  <a:lnTo>
                    <a:pt x="4913757" y="604799"/>
                  </a:lnTo>
                  <a:lnTo>
                    <a:pt x="4913757" y="0"/>
                  </a:lnTo>
                  <a:lnTo>
                    <a:pt x="0" y="0"/>
                  </a:lnTo>
                  <a:lnTo>
                    <a:pt x="0" y="604799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44600" y="2075815"/>
            <a:ext cx="490156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100" b="1" spc="90" dirty="0">
                <a:latin typeface="Trebuchet MS"/>
                <a:cs typeface="Trebuchet MS"/>
              </a:rPr>
              <a:t>OSI</a:t>
            </a:r>
            <a:r>
              <a:rPr sz="2100" b="1" spc="-190" dirty="0">
                <a:latin typeface="Trebuchet MS"/>
                <a:cs typeface="Trebuchet MS"/>
              </a:rPr>
              <a:t> </a:t>
            </a:r>
            <a:r>
              <a:rPr sz="2100" b="1" spc="-40" dirty="0">
                <a:latin typeface="Trebuchet MS"/>
                <a:cs typeface="Trebuchet MS"/>
              </a:rPr>
              <a:t>Upper</a:t>
            </a:r>
            <a:r>
              <a:rPr sz="2100" b="1" spc="-200" dirty="0">
                <a:latin typeface="Trebuchet MS"/>
                <a:cs typeface="Trebuchet MS"/>
              </a:rPr>
              <a:t> </a:t>
            </a:r>
            <a:r>
              <a:rPr sz="2100" b="1" spc="-10" dirty="0">
                <a:latin typeface="Trebuchet MS"/>
                <a:cs typeface="Trebuchet MS"/>
              </a:rPr>
              <a:t>Layer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8250" y="2585110"/>
            <a:ext cx="4914265" cy="3437254"/>
          </a:xfrm>
          <a:custGeom>
            <a:avLst/>
            <a:gdLst/>
            <a:ahLst/>
            <a:cxnLst/>
            <a:rect l="l" t="t" r="r" b="b"/>
            <a:pathLst>
              <a:path w="4914265" h="3437254">
                <a:moveTo>
                  <a:pt x="0" y="3437128"/>
                </a:moveTo>
                <a:lnTo>
                  <a:pt x="4913757" y="3437128"/>
                </a:lnTo>
                <a:lnTo>
                  <a:pt x="4913757" y="0"/>
                </a:lnTo>
                <a:lnTo>
                  <a:pt x="0" y="0"/>
                </a:lnTo>
                <a:lnTo>
                  <a:pt x="0" y="3437128"/>
                </a:lnTo>
                <a:close/>
              </a:path>
            </a:pathLst>
          </a:custGeom>
          <a:ln w="12700">
            <a:solidFill>
              <a:srgbClr val="CCDF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31900" y="2578760"/>
            <a:ext cx="4926965" cy="3449954"/>
          </a:xfrm>
          <a:prstGeom prst="rect">
            <a:avLst/>
          </a:prstGeom>
          <a:solidFill>
            <a:srgbClr val="CCDFEE">
              <a:alpha val="90194"/>
            </a:srgbClr>
          </a:solidFill>
        </p:spPr>
        <p:txBody>
          <a:bodyPr vert="horz" wrap="square" lIns="0" tIns="97790" rIns="0" bIns="0" rtlCol="0">
            <a:spAutoFit/>
          </a:bodyPr>
          <a:lstStyle/>
          <a:p>
            <a:pPr marL="346710" marR="585470" indent="-228600">
              <a:lnSpc>
                <a:spcPct val="91700"/>
              </a:lnSpc>
              <a:spcBef>
                <a:spcPts val="770"/>
              </a:spcBef>
              <a:buChar char="•"/>
              <a:tabLst>
                <a:tab pos="346710" algn="l"/>
              </a:tabLst>
            </a:pPr>
            <a:r>
              <a:rPr sz="2100" spc="-114" dirty="0">
                <a:latin typeface="Trebuchet MS"/>
                <a:cs typeface="Trebuchet MS"/>
              </a:rPr>
              <a:t>It</a:t>
            </a:r>
            <a:r>
              <a:rPr sz="2100" spc="-175" dirty="0">
                <a:latin typeface="Trebuchet MS"/>
                <a:cs typeface="Trebuchet MS"/>
              </a:rPr>
              <a:t> </a:t>
            </a:r>
            <a:r>
              <a:rPr sz="2100" spc="-55" dirty="0">
                <a:latin typeface="Trebuchet MS"/>
                <a:cs typeface="Trebuchet MS"/>
              </a:rPr>
              <a:t>mainly</a:t>
            </a:r>
            <a:r>
              <a:rPr sz="2100" spc="-18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deals</a:t>
            </a:r>
            <a:r>
              <a:rPr sz="2100" spc="-170" dirty="0">
                <a:latin typeface="Trebuchet MS"/>
                <a:cs typeface="Trebuchet MS"/>
              </a:rPr>
              <a:t> </a:t>
            </a:r>
            <a:r>
              <a:rPr sz="2100" spc="-95" dirty="0">
                <a:latin typeface="Trebuchet MS"/>
                <a:cs typeface="Trebuchet MS"/>
              </a:rPr>
              <a:t>with</a:t>
            </a:r>
            <a:r>
              <a:rPr sz="2100" spc="-175" dirty="0">
                <a:latin typeface="Trebuchet MS"/>
                <a:cs typeface="Trebuchet MS"/>
              </a:rPr>
              <a:t> </a:t>
            </a:r>
            <a:r>
              <a:rPr sz="2100" spc="-80" dirty="0">
                <a:latin typeface="Trebuchet MS"/>
                <a:cs typeface="Trebuchet MS"/>
              </a:rPr>
              <a:t>the</a:t>
            </a:r>
            <a:r>
              <a:rPr sz="2100" spc="-185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application </a:t>
            </a:r>
            <a:r>
              <a:rPr sz="2100" spc="-80" dirty="0">
                <a:latin typeface="Trebuchet MS"/>
                <a:cs typeface="Trebuchet MS"/>
              </a:rPr>
              <a:t>related</a:t>
            </a:r>
            <a:r>
              <a:rPr sz="2100" spc="-15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issues,</a:t>
            </a:r>
            <a:r>
              <a:rPr sz="2100" spc="-15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and</a:t>
            </a:r>
            <a:r>
              <a:rPr sz="2100" spc="-150" dirty="0">
                <a:latin typeface="Trebuchet MS"/>
                <a:cs typeface="Trebuchet MS"/>
              </a:rPr>
              <a:t> </a:t>
            </a:r>
            <a:r>
              <a:rPr sz="2100" spc="-85" dirty="0">
                <a:latin typeface="Trebuchet MS"/>
                <a:cs typeface="Trebuchet MS"/>
              </a:rPr>
              <a:t>they</a:t>
            </a:r>
            <a:r>
              <a:rPr sz="2100" spc="-140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are </a:t>
            </a:r>
            <a:r>
              <a:rPr sz="2100" spc="-50" dirty="0">
                <a:latin typeface="Trebuchet MS"/>
                <a:cs typeface="Trebuchet MS"/>
              </a:rPr>
              <a:t>implemented</a:t>
            </a:r>
            <a:r>
              <a:rPr sz="2100" spc="-165" dirty="0">
                <a:latin typeface="Trebuchet MS"/>
                <a:cs typeface="Trebuchet MS"/>
              </a:rPr>
              <a:t> </a:t>
            </a:r>
            <a:r>
              <a:rPr sz="2100" spc="-50" dirty="0">
                <a:latin typeface="Trebuchet MS"/>
                <a:cs typeface="Trebuchet MS"/>
              </a:rPr>
              <a:t>only</a:t>
            </a:r>
            <a:r>
              <a:rPr sz="2100" spc="-175" dirty="0">
                <a:latin typeface="Trebuchet MS"/>
                <a:cs typeface="Trebuchet MS"/>
              </a:rPr>
              <a:t> </a:t>
            </a:r>
            <a:r>
              <a:rPr sz="2100" spc="-55" dirty="0">
                <a:latin typeface="Trebuchet MS"/>
                <a:cs typeface="Trebuchet MS"/>
              </a:rPr>
              <a:t>in</a:t>
            </a:r>
            <a:r>
              <a:rPr sz="2100" spc="-175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the</a:t>
            </a:r>
            <a:r>
              <a:rPr sz="2100" spc="-19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software.</a:t>
            </a:r>
            <a:endParaRPr sz="2100">
              <a:latin typeface="Trebuchet MS"/>
              <a:cs typeface="Trebuchet MS"/>
            </a:endParaRPr>
          </a:p>
          <a:p>
            <a:pPr marL="346710" marR="337185" indent="-228600">
              <a:lnSpc>
                <a:spcPct val="91600"/>
              </a:lnSpc>
              <a:spcBef>
                <a:spcPts val="380"/>
              </a:spcBef>
              <a:buChar char="•"/>
              <a:tabLst>
                <a:tab pos="346710" algn="l"/>
              </a:tabLst>
            </a:pPr>
            <a:r>
              <a:rPr sz="2100" spc="-100" dirty="0">
                <a:latin typeface="Trebuchet MS"/>
                <a:cs typeface="Trebuchet MS"/>
              </a:rPr>
              <a:t>The</a:t>
            </a:r>
            <a:r>
              <a:rPr sz="2100" spc="-165" dirty="0">
                <a:latin typeface="Trebuchet MS"/>
                <a:cs typeface="Trebuchet MS"/>
              </a:rPr>
              <a:t> </a:t>
            </a:r>
            <a:r>
              <a:rPr sz="2100" spc="-40" dirty="0">
                <a:latin typeface="Trebuchet MS"/>
                <a:cs typeface="Trebuchet MS"/>
              </a:rPr>
              <a:t>application</a:t>
            </a:r>
            <a:r>
              <a:rPr sz="2100" spc="-170" dirty="0">
                <a:latin typeface="Trebuchet MS"/>
                <a:cs typeface="Trebuchet MS"/>
              </a:rPr>
              <a:t> </a:t>
            </a:r>
            <a:r>
              <a:rPr sz="2100" spc="-80" dirty="0">
                <a:latin typeface="Trebuchet MS"/>
                <a:cs typeface="Trebuchet MS"/>
              </a:rPr>
              <a:t>layer</a:t>
            </a:r>
            <a:r>
              <a:rPr sz="2100" spc="-15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is</a:t>
            </a:r>
            <a:r>
              <a:rPr sz="2100" spc="-17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closest</a:t>
            </a:r>
            <a:r>
              <a:rPr sz="2100" spc="-160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to</a:t>
            </a:r>
            <a:r>
              <a:rPr sz="2100" spc="-175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the </a:t>
            </a:r>
            <a:r>
              <a:rPr sz="2100" spc="-30" dirty="0">
                <a:latin typeface="Trebuchet MS"/>
                <a:cs typeface="Trebuchet MS"/>
              </a:rPr>
              <a:t>end</a:t>
            </a:r>
            <a:r>
              <a:rPr sz="2100" spc="-190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user.</a:t>
            </a:r>
            <a:r>
              <a:rPr sz="2100" spc="-190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Both</a:t>
            </a:r>
            <a:r>
              <a:rPr sz="2100" spc="-190" dirty="0">
                <a:latin typeface="Trebuchet MS"/>
                <a:cs typeface="Trebuchet MS"/>
              </a:rPr>
              <a:t> </a:t>
            </a:r>
            <a:r>
              <a:rPr sz="2100" spc="-80" dirty="0">
                <a:latin typeface="Trebuchet MS"/>
                <a:cs typeface="Trebuchet MS"/>
              </a:rPr>
              <a:t>the</a:t>
            </a:r>
            <a:r>
              <a:rPr sz="2100" spc="-190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end</a:t>
            </a:r>
            <a:r>
              <a:rPr sz="2100" spc="-18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user</a:t>
            </a:r>
            <a:r>
              <a:rPr sz="2100" spc="-19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and</a:t>
            </a:r>
            <a:r>
              <a:rPr sz="2100" spc="-190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the </a:t>
            </a:r>
            <a:r>
              <a:rPr sz="2100" spc="-45" dirty="0">
                <a:latin typeface="Trebuchet MS"/>
                <a:cs typeface="Trebuchet MS"/>
              </a:rPr>
              <a:t>application</a:t>
            </a:r>
            <a:r>
              <a:rPr sz="2100" spc="-165" dirty="0">
                <a:latin typeface="Trebuchet MS"/>
                <a:cs typeface="Trebuchet MS"/>
              </a:rPr>
              <a:t> </a:t>
            </a:r>
            <a:r>
              <a:rPr sz="2100" spc="-80" dirty="0">
                <a:latin typeface="Trebuchet MS"/>
                <a:cs typeface="Trebuchet MS"/>
              </a:rPr>
              <a:t>layer</a:t>
            </a:r>
            <a:r>
              <a:rPr sz="2100" spc="-155" dirty="0">
                <a:latin typeface="Trebuchet MS"/>
                <a:cs typeface="Trebuchet MS"/>
              </a:rPr>
              <a:t> </a:t>
            </a:r>
            <a:r>
              <a:rPr sz="2100" spc="-85" dirty="0">
                <a:latin typeface="Trebuchet MS"/>
                <a:cs typeface="Trebuchet MS"/>
              </a:rPr>
              <a:t>interact</a:t>
            </a:r>
            <a:r>
              <a:rPr sz="2100" spc="-170" dirty="0">
                <a:latin typeface="Trebuchet MS"/>
                <a:cs typeface="Trebuchet MS"/>
              </a:rPr>
              <a:t> </a:t>
            </a:r>
            <a:r>
              <a:rPr sz="2100" spc="-95" dirty="0">
                <a:latin typeface="Trebuchet MS"/>
                <a:cs typeface="Trebuchet MS"/>
              </a:rPr>
              <a:t>with</a:t>
            </a:r>
            <a:r>
              <a:rPr sz="2100" spc="-150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the </a:t>
            </a:r>
            <a:r>
              <a:rPr sz="2100" spc="-50" dirty="0">
                <a:latin typeface="Trebuchet MS"/>
                <a:cs typeface="Trebuchet MS"/>
              </a:rPr>
              <a:t>software</a:t>
            </a:r>
            <a:r>
              <a:rPr sz="2100" spc="-16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applications.</a:t>
            </a:r>
            <a:endParaRPr sz="2100">
              <a:latin typeface="Trebuchet MS"/>
              <a:cs typeface="Trebuchet MS"/>
            </a:endParaRPr>
          </a:p>
          <a:p>
            <a:pPr marL="346710" indent="-228600">
              <a:lnSpc>
                <a:spcPts val="2410"/>
              </a:lnSpc>
              <a:spcBef>
                <a:spcPts val="170"/>
              </a:spcBef>
              <a:buChar char="•"/>
              <a:tabLst>
                <a:tab pos="346710" algn="l"/>
              </a:tabLst>
            </a:pPr>
            <a:r>
              <a:rPr sz="2100" spc="-10" dirty="0">
                <a:latin typeface="Trebuchet MS"/>
                <a:cs typeface="Trebuchet MS"/>
              </a:rPr>
              <a:t>An</a:t>
            </a:r>
            <a:r>
              <a:rPr sz="2100" spc="-180" dirty="0">
                <a:latin typeface="Trebuchet MS"/>
                <a:cs typeface="Trebuchet MS"/>
              </a:rPr>
              <a:t> </a:t>
            </a:r>
            <a:r>
              <a:rPr sz="2100" spc="-45" dirty="0">
                <a:latin typeface="Trebuchet MS"/>
                <a:cs typeface="Trebuchet MS"/>
              </a:rPr>
              <a:t>upper</a:t>
            </a:r>
            <a:r>
              <a:rPr sz="2100" spc="-180" dirty="0">
                <a:latin typeface="Trebuchet MS"/>
                <a:cs typeface="Trebuchet MS"/>
              </a:rPr>
              <a:t> </a:t>
            </a:r>
            <a:r>
              <a:rPr sz="2100" spc="-80" dirty="0">
                <a:latin typeface="Trebuchet MS"/>
                <a:cs typeface="Trebuchet MS"/>
              </a:rPr>
              <a:t>layer</a:t>
            </a:r>
            <a:r>
              <a:rPr sz="2100" spc="-170" dirty="0">
                <a:latin typeface="Trebuchet MS"/>
                <a:cs typeface="Trebuchet MS"/>
              </a:rPr>
              <a:t> </a:t>
            </a:r>
            <a:r>
              <a:rPr sz="2100" spc="-70" dirty="0">
                <a:latin typeface="Trebuchet MS"/>
                <a:cs typeface="Trebuchet MS"/>
              </a:rPr>
              <a:t>refers</a:t>
            </a:r>
            <a:r>
              <a:rPr sz="2100" spc="-195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to</a:t>
            </a:r>
            <a:r>
              <a:rPr sz="2100" spc="-185" dirty="0">
                <a:latin typeface="Trebuchet MS"/>
                <a:cs typeface="Trebuchet MS"/>
              </a:rPr>
              <a:t> </a:t>
            </a:r>
            <a:r>
              <a:rPr sz="2100" spc="-80" dirty="0">
                <a:latin typeface="Trebuchet MS"/>
                <a:cs typeface="Trebuchet MS"/>
              </a:rPr>
              <a:t>the</a:t>
            </a:r>
            <a:r>
              <a:rPr sz="2100" spc="-180" dirty="0">
                <a:latin typeface="Trebuchet MS"/>
                <a:cs typeface="Trebuchet MS"/>
              </a:rPr>
              <a:t> </a:t>
            </a:r>
            <a:r>
              <a:rPr sz="2100" spc="-80" dirty="0">
                <a:latin typeface="Trebuchet MS"/>
                <a:cs typeface="Trebuchet MS"/>
              </a:rPr>
              <a:t>layer</a:t>
            </a:r>
            <a:r>
              <a:rPr sz="2100" spc="-180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just</a:t>
            </a:r>
            <a:endParaRPr sz="2100">
              <a:latin typeface="Trebuchet MS"/>
              <a:cs typeface="Trebuchet MS"/>
            </a:endParaRPr>
          </a:p>
          <a:p>
            <a:pPr marL="346710">
              <a:lnSpc>
                <a:spcPts val="2410"/>
              </a:lnSpc>
            </a:pPr>
            <a:r>
              <a:rPr sz="2100" spc="-35" dirty="0">
                <a:latin typeface="Trebuchet MS"/>
                <a:cs typeface="Trebuchet MS"/>
              </a:rPr>
              <a:t>above</a:t>
            </a:r>
            <a:r>
              <a:rPr sz="2100" spc="-165" dirty="0">
                <a:latin typeface="Trebuchet MS"/>
                <a:cs typeface="Trebuchet MS"/>
              </a:rPr>
              <a:t> </a:t>
            </a:r>
            <a:r>
              <a:rPr sz="2100" spc="-55" dirty="0">
                <a:latin typeface="Trebuchet MS"/>
                <a:cs typeface="Trebuchet MS"/>
              </a:rPr>
              <a:t>another</a:t>
            </a:r>
            <a:r>
              <a:rPr sz="2100" spc="-16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layer.</a:t>
            </a:r>
            <a:endParaRPr sz="21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433565" y="1974062"/>
            <a:ext cx="4926965" cy="617855"/>
            <a:chOff x="6433565" y="1974062"/>
            <a:chExt cx="4926965" cy="61785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39915" y="1980412"/>
              <a:ext cx="4913757" cy="6047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439915" y="1980412"/>
              <a:ext cx="4914265" cy="605155"/>
            </a:xfrm>
            <a:custGeom>
              <a:avLst/>
              <a:gdLst/>
              <a:ahLst/>
              <a:cxnLst/>
              <a:rect l="l" t="t" r="r" b="b"/>
              <a:pathLst>
                <a:path w="4914265" h="605155">
                  <a:moveTo>
                    <a:pt x="0" y="604799"/>
                  </a:moveTo>
                  <a:lnTo>
                    <a:pt x="4913757" y="604799"/>
                  </a:lnTo>
                  <a:lnTo>
                    <a:pt x="4913757" y="0"/>
                  </a:lnTo>
                  <a:lnTo>
                    <a:pt x="0" y="0"/>
                  </a:lnTo>
                  <a:lnTo>
                    <a:pt x="0" y="604799"/>
                  </a:lnTo>
                  <a:close/>
                </a:path>
              </a:pathLst>
            </a:custGeom>
            <a:ln w="12700">
              <a:solidFill>
                <a:srgbClr val="9F2B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446265" y="2075815"/>
            <a:ext cx="490156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2100" b="1" spc="90" dirty="0">
                <a:latin typeface="Trebuchet MS"/>
                <a:cs typeface="Trebuchet MS"/>
              </a:rPr>
              <a:t>OSI</a:t>
            </a:r>
            <a:r>
              <a:rPr sz="2100" b="1" spc="-190" dirty="0">
                <a:latin typeface="Trebuchet MS"/>
                <a:cs typeface="Trebuchet MS"/>
              </a:rPr>
              <a:t> </a:t>
            </a:r>
            <a:r>
              <a:rPr sz="2100" b="1" spc="-85" dirty="0">
                <a:latin typeface="Trebuchet MS"/>
                <a:cs typeface="Trebuchet MS"/>
              </a:rPr>
              <a:t>Lower</a:t>
            </a:r>
            <a:r>
              <a:rPr sz="2100" b="1" spc="-175" dirty="0">
                <a:latin typeface="Trebuchet MS"/>
                <a:cs typeface="Trebuchet MS"/>
              </a:rPr>
              <a:t> </a:t>
            </a:r>
            <a:r>
              <a:rPr sz="2100" b="1" spc="-20" dirty="0">
                <a:latin typeface="Trebuchet MS"/>
                <a:cs typeface="Trebuchet MS"/>
              </a:rPr>
              <a:t>Layer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39915" y="2585110"/>
            <a:ext cx="4914265" cy="3437254"/>
          </a:xfrm>
          <a:custGeom>
            <a:avLst/>
            <a:gdLst/>
            <a:ahLst/>
            <a:cxnLst/>
            <a:rect l="l" t="t" r="r" b="b"/>
            <a:pathLst>
              <a:path w="4914265" h="3437254">
                <a:moveTo>
                  <a:pt x="0" y="3437128"/>
                </a:moveTo>
                <a:lnTo>
                  <a:pt x="4913757" y="3437128"/>
                </a:lnTo>
                <a:lnTo>
                  <a:pt x="4913757" y="0"/>
                </a:lnTo>
                <a:lnTo>
                  <a:pt x="0" y="0"/>
                </a:lnTo>
                <a:lnTo>
                  <a:pt x="0" y="3437128"/>
                </a:lnTo>
                <a:close/>
              </a:path>
            </a:pathLst>
          </a:custGeom>
          <a:ln w="12700">
            <a:solidFill>
              <a:srgbClr val="DFCDD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433565" y="2578760"/>
            <a:ext cx="4926965" cy="3449954"/>
          </a:xfrm>
          <a:prstGeom prst="rect">
            <a:avLst/>
          </a:prstGeom>
          <a:solidFill>
            <a:srgbClr val="DFCDDC">
              <a:alpha val="90194"/>
            </a:srgbClr>
          </a:solidFill>
        </p:spPr>
        <p:txBody>
          <a:bodyPr vert="horz" wrap="square" lIns="0" tIns="71755" rIns="0" bIns="0" rtlCol="0">
            <a:spAutoFit/>
          </a:bodyPr>
          <a:lstStyle/>
          <a:p>
            <a:pPr marL="347980" indent="-228600" algn="just">
              <a:lnSpc>
                <a:spcPct val="100000"/>
              </a:lnSpc>
              <a:spcBef>
                <a:spcPts val="565"/>
              </a:spcBef>
              <a:buChar char="•"/>
              <a:tabLst>
                <a:tab pos="347980" algn="l"/>
              </a:tabLst>
            </a:pPr>
            <a:r>
              <a:rPr sz="2100" spc="-114" dirty="0">
                <a:latin typeface="Trebuchet MS"/>
                <a:cs typeface="Trebuchet MS"/>
              </a:rPr>
              <a:t>It</a:t>
            </a:r>
            <a:r>
              <a:rPr sz="2100" spc="-17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deals</a:t>
            </a:r>
            <a:r>
              <a:rPr sz="2100" spc="-175" dirty="0">
                <a:latin typeface="Trebuchet MS"/>
                <a:cs typeface="Trebuchet MS"/>
              </a:rPr>
              <a:t> </a:t>
            </a:r>
            <a:r>
              <a:rPr sz="2100" spc="-90" dirty="0">
                <a:latin typeface="Trebuchet MS"/>
                <a:cs typeface="Trebuchet MS"/>
              </a:rPr>
              <a:t>with</a:t>
            </a:r>
            <a:r>
              <a:rPr sz="2100" spc="-175" dirty="0">
                <a:latin typeface="Trebuchet MS"/>
                <a:cs typeface="Trebuchet MS"/>
              </a:rPr>
              <a:t> </a:t>
            </a:r>
            <a:r>
              <a:rPr sz="2100" spc="-80" dirty="0">
                <a:latin typeface="Trebuchet MS"/>
                <a:cs typeface="Trebuchet MS"/>
              </a:rPr>
              <a:t>the</a:t>
            </a:r>
            <a:r>
              <a:rPr sz="2100" spc="-180" dirty="0">
                <a:latin typeface="Trebuchet MS"/>
                <a:cs typeface="Trebuchet MS"/>
              </a:rPr>
              <a:t> </a:t>
            </a:r>
            <a:r>
              <a:rPr sz="2100" spc="-55" dirty="0">
                <a:latin typeface="Trebuchet MS"/>
                <a:cs typeface="Trebuchet MS"/>
              </a:rPr>
              <a:t>data</a:t>
            </a:r>
            <a:r>
              <a:rPr sz="2100" spc="-175" dirty="0">
                <a:latin typeface="Trebuchet MS"/>
                <a:cs typeface="Trebuchet MS"/>
              </a:rPr>
              <a:t> </a:t>
            </a:r>
            <a:r>
              <a:rPr sz="2100" spc="-55" dirty="0">
                <a:latin typeface="Trebuchet MS"/>
                <a:cs typeface="Trebuchet MS"/>
              </a:rPr>
              <a:t>transport</a:t>
            </a:r>
            <a:r>
              <a:rPr sz="2100" spc="-19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issues.</a:t>
            </a:r>
            <a:endParaRPr sz="2100">
              <a:latin typeface="Trebuchet MS"/>
              <a:cs typeface="Trebuchet MS"/>
            </a:endParaRPr>
          </a:p>
          <a:p>
            <a:pPr marL="347980" marR="577850" indent="-228600" algn="just">
              <a:lnSpc>
                <a:spcPts val="2300"/>
              </a:lnSpc>
              <a:spcBef>
                <a:spcPts val="439"/>
              </a:spcBef>
              <a:buChar char="•"/>
              <a:tabLst>
                <a:tab pos="347980" algn="l"/>
              </a:tabLst>
            </a:pPr>
            <a:r>
              <a:rPr sz="2100" spc="-175" dirty="0">
                <a:latin typeface="Trebuchet MS"/>
                <a:cs typeface="Trebuchet MS"/>
              </a:rPr>
              <a:t>The</a:t>
            </a:r>
            <a:r>
              <a:rPr sz="2100" spc="15" dirty="0">
                <a:latin typeface="Trebuchet MS"/>
                <a:cs typeface="Trebuchet MS"/>
              </a:rPr>
              <a:t> </a:t>
            </a:r>
            <a:r>
              <a:rPr sz="2100" spc="-85" dirty="0">
                <a:latin typeface="Trebuchet MS"/>
                <a:cs typeface="Trebuchet MS"/>
              </a:rPr>
              <a:t>data</a:t>
            </a:r>
            <a:r>
              <a:rPr sz="2100" spc="-75" dirty="0">
                <a:latin typeface="Trebuchet MS"/>
                <a:cs typeface="Trebuchet MS"/>
              </a:rPr>
              <a:t> </a:t>
            </a:r>
            <a:r>
              <a:rPr sz="2100" spc="-105" dirty="0">
                <a:latin typeface="Trebuchet MS"/>
                <a:cs typeface="Trebuchet MS"/>
              </a:rPr>
              <a:t>link</a:t>
            </a:r>
            <a:r>
              <a:rPr sz="2100" spc="-55" dirty="0">
                <a:latin typeface="Trebuchet MS"/>
                <a:cs typeface="Trebuchet MS"/>
              </a:rPr>
              <a:t> </a:t>
            </a:r>
            <a:r>
              <a:rPr sz="2100" spc="-105" dirty="0">
                <a:latin typeface="Trebuchet MS"/>
                <a:cs typeface="Trebuchet MS"/>
              </a:rPr>
              <a:t>layer</a:t>
            </a:r>
            <a:r>
              <a:rPr sz="2100" spc="-55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and</a:t>
            </a:r>
            <a:r>
              <a:rPr sz="2100" spc="-60" dirty="0">
                <a:latin typeface="Trebuchet MS"/>
                <a:cs typeface="Trebuchet MS"/>
              </a:rPr>
              <a:t> </a:t>
            </a:r>
            <a:r>
              <a:rPr sz="2100" spc="-140" dirty="0">
                <a:latin typeface="Trebuchet MS"/>
                <a:cs typeface="Trebuchet MS"/>
              </a:rPr>
              <a:t>the</a:t>
            </a:r>
            <a:r>
              <a:rPr sz="2100" spc="-2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physical </a:t>
            </a:r>
            <a:r>
              <a:rPr sz="2100" spc="-105" dirty="0">
                <a:latin typeface="Trebuchet MS"/>
                <a:cs typeface="Trebuchet MS"/>
              </a:rPr>
              <a:t>layer</a:t>
            </a:r>
            <a:r>
              <a:rPr sz="2100" spc="-55" dirty="0">
                <a:latin typeface="Trebuchet MS"/>
                <a:cs typeface="Trebuchet MS"/>
              </a:rPr>
              <a:t> </a:t>
            </a:r>
            <a:r>
              <a:rPr sz="2100" spc="-114" dirty="0">
                <a:latin typeface="Trebuchet MS"/>
                <a:cs typeface="Trebuchet MS"/>
              </a:rPr>
              <a:t>are</a:t>
            </a:r>
            <a:r>
              <a:rPr sz="2100" spc="-45" dirty="0">
                <a:latin typeface="Trebuchet MS"/>
                <a:cs typeface="Trebuchet MS"/>
              </a:rPr>
              <a:t> </a:t>
            </a:r>
            <a:r>
              <a:rPr sz="2100" spc="-55" dirty="0">
                <a:latin typeface="Trebuchet MS"/>
                <a:cs typeface="Trebuchet MS"/>
              </a:rPr>
              <a:t>implemented</a:t>
            </a:r>
            <a:r>
              <a:rPr sz="2100" spc="-45" dirty="0">
                <a:latin typeface="Trebuchet MS"/>
                <a:cs typeface="Trebuchet MS"/>
              </a:rPr>
              <a:t> </a:t>
            </a:r>
            <a:r>
              <a:rPr sz="2100" spc="-170" dirty="0">
                <a:latin typeface="Trebuchet MS"/>
                <a:cs typeface="Trebuchet MS"/>
              </a:rPr>
              <a:t>in</a:t>
            </a:r>
            <a:r>
              <a:rPr sz="2100" spc="10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hardware </a:t>
            </a:r>
            <a:r>
              <a:rPr sz="2100" dirty="0">
                <a:latin typeface="Trebuchet MS"/>
                <a:cs typeface="Trebuchet MS"/>
              </a:rPr>
              <a:t>and</a:t>
            </a:r>
            <a:r>
              <a:rPr sz="2100" spc="-20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software.</a:t>
            </a:r>
            <a:endParaRPr sz="2100">
              <a:latin typeface="Trebuchet MS"/>
              <a:cs typeface="Trebuchet MS"/>
            </a:endParaRPr>
          </a:p>
          <a:p>
            <a:pPr marL="347980" marR="147955" indent="-228600">
              <a:lnSpc>
                <a:spcPct val="91700"/>
              </a:lnSpc>
              <a:spcBef>
                <a:spcPts val="345"/>
              </a:spcBef>
              <a:buChar char="•"/>
              <a:tabLst>
                <a:tab pos="347980" algn="l"/>
              </a:tabLst>
            </a:pPr>
            <a:r>
              <a:rPr sz="2100" spc="-100" dirty="0">
                <a:latin typeface="Trebuchet MS"/>
                <a:cs typeface="Trebuchet MS"/>
              </a:rPr>
              <a:t>The</a:t>
            </a:r>
            <a:r>
              <a:rPr sz="2100" spc="-165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physical</a:t>
            </a:r>
            <a:r>
              <a:rPr sz="2100" spc="-165" dirty="0">
                <a:latin typeface="Trebuchet MS"/>
                <a:cs typeface="Trebuchet MS"/>
              </a:rPr>
              <a:t> </a:t>
            </a:r>
            <a:r>
              <a:rPr sz="2100" spc="-80" dirty="0">
                <a:latin typeface="Trebuchet MS"/>
                <a:cs typeface="Trebuchet MS"/>
              </a:rPr>
              <a:t>layer</a:t>
            </a:r>
            <a:r>
              <a:rPr sz="2100" spc="-16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is</a:t>
            </a:r>
            <a:r>
              <a:rPr sz="2100" spc="-165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the</a:t>
            </a:r>
            <a:r>
              <a:rPr sz="2100" spc="-170" dirty="0">
                <a:latin typeface="Trebuchet MS"/>
                <a:cs typeface="Trebuchet MS"/>
              </a:rPr>
              <a:t> </a:t>
            </a:r>
            <a:r>
              <a:rPr sz="2100" spc="-45" dirty="0">
                <a:latin typeface="Trebuchet MS"/>
                <a:cs typeface="Trebuchet MS"/>
              </a:rPr>
              <a:t>lowest</a:t>
            </a:r>
            <a:r>
              <a:rPr sz="2100" spc="-165" dirty="0">
                <a:latin typeface="Trebuchet MS"/>
                <a:cs typeface="Trebuchet MS"/>
              </a:rPr>
              <a:t> </a:t>
            </a:r>
            <a:r>
              <a:rPr sz="2100" spc="-80" dirty="0">
                <a:latin typeface="Trebuchet MS"/>
                <a:cs typeface="Trebuchet MS"/>
              </a:rPr>
              <a:t>layer</a:t>
            </a:r>
            <a:r>
              <a:rPr sz="2100" spc="-160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of </a:t>
            </a:r>
            <a:r>
              <a:rPr sz="2100" spc="-80" dirty="0">
                <a:latin typeface="Trebuchet MS"/>
                <a:cs typeface="Trebuchet MS"/>
              </a:rPr>
              <a:t>the</a:t>
            </a:r>
            <a:r>
              <a:rPr sz="2100" spc="-175" dirty="0">
                <a:latin typeface="Trebuchet MS"/>
                <a:cs typeface="Trebuchet MS"/>
              </a:rPr>
              <a:t> </a:t>
            </a:r>
            <a:r>
              <a:rPr sz="2100" spc="75" dirty="0">
                <a:latin typeface="Trebuchet MS"/>
                <a:cs typeface="Trebuchet MS"/>
              </a:rPr>
              <a:t>OSI</a:t>
            </a:r>
            <a:r>
              <a:rPr sz="2100" spc="-170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model</a:t>
            </a:r>
            <a:r>
              <a:rPr sz="2100" spc="-17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and</a:t>
            </a:r>
            <a:r>
              <a:rPr sz="2100" spc="-17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is</a:t>
            </a:r>
            <a:r>
              <a:rPr sz="2100" spc="-15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closest</a:t>
            </a:r>
            <a:r>
              <a:rPr sz="2100" spc="-185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to</a:t>
            </a:r>
            <a:r>
              <a:rPr sz="2100" spc="-175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the </a:t>
            </a:r>
            <a:r>
              <a:rPr sz="2100" spc="-20" dirty="0">
                <a:latin typeface="Trebuchet MS"/>
                <a:cs typeface="Trebuchet MS"/>
              </a:rPr>
              <a:t>physical</a:t>
            </a:r>
            <a:r>
              <a:rPr sz="2100" spc="-13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medium.</a:t>
            </a:r>
            <a:endParaRPr sz="2100">
              <a:latin typeface="Trebuchet MS"/>
              <a:cs typeface="Trebuchet MS"/>
            </a:endParaRPr>
          </a:p>
          <a:p>
            <a:pPr marL="347980" marR="361315" indent="-228600">
              <a:lnSpc>
                <a:spcPct val="91700"/>
              </a:lnSpc>
              <a:spcBef>
                <a:spcPts val="380"/>
              </a:spcBef>
              <a:buChar char="•"/>
              <a:tabLst>
                <a:tab pos="347980" algn="l"/>
              </a:tabLst>
            </a:pPr>
            <a:r>
              <a:rPr sz="2100" spc="-100" dirty="0">
                <a:latin typeface="Trebuchet MS"/>
                <a:cs typeface="Trebuchet MS"/>
              </a:rPr>
              <a:t>The</a:t>
            </a:r>
            <a:r>
              <a:rPr sz="2100" spc="-165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physical</a:t>
            </a:r>
            <a:r>
              <a:rPr sz="2100" spc="-160" dirty="0">
                <a:latin typeface="Trebuchet MS"/>
                <a:cs typeface="Trebuchet MS"/>
              </a:rPr>
              <a:t> </a:t>
            </a:r>
            <a:r>
              <a:rPr sz="2100" spc="-80" dirty="0">
                <a:latin typeface="Trebuchet MS"/>
                <a:cs typeface="Trebuchet MS"/>
              </a:rPr>
              <a:t>layer</a:t>
            </a:r>
            <a:r>
              <a:rPr sz="2100" spc="-16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is</a:t>
            </a:r>
            <a:r>
              <a:rPr sz="2100" spc="-16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mainly responsible</a:t>
            </a:r>
            <a:r>
              <a:rPr sz="2100" spc="-180" dirty="0">
                <a:latin typeface="Trebuchet MS"/>
                <a:cs typeface="Trebuchet MS"/>
              </a:rPr>
              <a:t> </a:t>
            </a:r>
            <a:r>
              <a:rPr sz="2100" spc="-95" dirty="0">
                <a:latin typeface="Trebuchet MS"/>
                <a:cs typeface="Trebuchet MS"/>
              </a:rPr>
              <a:t>for</a:t>
            </a:r>
            <a:r>
              <a:rPr sz="2100" spc="-185" dirty="0">
                <a:latin typeface="Trebuchet MS"/>
                <a:cs typeface="Trebuchet MS"/>
              </a:rPr>
              <a:t> </a:t>
            </a:r>
            <a:r>
              <a:rPr sz="2100" spc="-30" dirty="0">
                <a:latin typeface="Trebuchet MS"/>
                <a:cs typeface="Trebuchet MS"/>
              </a:rPr>
              <a:t>placing</a:t>
            </a:r>
            <a:r>
              <a:rPr sz="2100" spc="-190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the </a:t>
            </a:r>
            <a:r>
              <a:rPr sz="2100" spc="-60" dirty="0">
                <a:latin typeface="Trebuchet MS"/>
                <a:cs typeface="Trebuchet MS"/>
              </a:rPr>
              <a:t>information</a:t>
            </a:r>
            <a:r>
              <a:rPr sz="2100" spc="-18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on</a:t>
            </a:r>
            <a:r>
              <a:rPr sz="2100" spc="-160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the</a:t>
            </a:r>
            <a:r>
              <a:rPr sz="2100" spc="-165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physical</a:t>
            </a:r>
            <a:r>
              <a:rPr sz="2100" spc="-16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medium.</a:t>
            </a:r>
            <a:endParaRPr sz="2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49295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7</a:t>
            </a:r>
            <a:r>
              <a:rPr spc="-465" dirty="0"/>
              <a:t> </a:t>
            </a:r>
            <a:r>
              <a:rPr spc="-165" dirty="0"/>
              <a:t>Layers</a:t>
            </a:r>
            <a:r>
              <a:rPr spc="-459" dirty="0"/>
              <a:t> </a:t>
            </a:r>
            <a:r>
              <a:rPr spc="-265" dirty="0"/>
              <a:t>of</a:t>
            </a:r>
            <a:r>
              <a:rPr spc="-459" dirty="0"/>
              <a:t> </a:t>
            </a:r>
            <a:r>
              <a:rPr spc="60" dirty="0"/>
              <a:t>OSI</a:t>
            </a:r>
            <a:r>
              <a:rPr spc="-455" dirty="0"/>
              <a:t> </a:t>
            </a:r>
            <a:r>
              <a:rPr spc="-6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917"/>
            <a:ext cx="10194290" cy="379984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130" dirty="0">
                <a:latin typeface="Trebuchet MS"/>
                <a:cs typeface="Trebuchet MS"/>
              </a:rPr>
              <a:t>There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are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seven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105" dirty="0">
                <a:latin typeface="Trebuchet MS"/>
                <a:cs typeface="Trebuchet MS"/>
              </a:rPr>
              <a:t>OSI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layers.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Each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layer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65" dirty="0">
                <a:latin typeface="Trebuchet MS"/>
                <a:cs typeface="Trebuchet MS"/>
              </a:rPr>
              <a:t>has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different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functions.</a:t>
            </a:r>
            <a:endParaRPr sz="28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25" dirty="0">
                <a:latin typeface="Trebuchet MS"/>
                <a:cs typeface="Trebuchet MS"/>
              </a:rPr>
              <a:t>A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list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of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seven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layers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are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given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below:</a:t>
            </a:r>
            <a:endParaRPr sz="28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10" dirty="0">
                <a:latin typeface="Trebuchet MS"/>
                <a:cs typeface="Trebuchet MS"/>
              </a:rPr>
              <a:t>Physical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Layer</a:t>
            </a:r>
            <a:endParaRPr sz="24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35" dirty="0">
                <a:latin typeface="Trebuchet MS"/>
                <a:cs typeface="Trebuchet MS"/>
              </a:rPr>
              <a:t>Data-</a:t>
            </a:r>
            <a:r>
              <a:rPr sz="2400" spc="-50" dirty="0">
                <a:latin typeface="Trebuchet MS"/>
                <a:cs typeface="Trebuchet MS"/>
              </a:rPr>
              <a:t>Link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Layer</a:t>
            </a:r>
            <a:endParaRPr sz="24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60" dirty="0">
                <a:latin typeface="Trebuchet MS"/>
                <a:cs typeface="Trebuchet MS"/>
              </a:rPr>
              <a:t>Network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Layer</a:t>
            </a:r>
            <a:endParaRPr sz="24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85" dirty="0">
                <a:latin typeface="Trebuchet MS"/>
                <a:cs typeface="Trebuchet MS"/>
              </a:rPr>
              <a:t>Transport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Layer</a:t>
            </a:r>
            <a:endParaRPr sz="24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55" dirty="0">
                <a:latin typeface="Trebuchet MS"/>
                <a:cs typeface="Trebuchet MS"/>
              </a:rPr>
              <a:t>Session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Layer</a:t>
            </a:r>
            <a:endParaRPr sz="24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55" dirty="0">
                <a:latin typeface="Trebuchet MS"/>
                <a:cs typeface="Trebuchet MS"/>
              </a:rPr>
              <a:t>Presentation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Layer</a:t>
            </a:r>
            <a:endParaRPr sz="24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50" dirty="0">
                <a:latin typeface="Trebuchet MS"/>
                <a:cs typeface="Trebuchet MS"/>
              </a:rPr>
              <a:t>Application</a:t>
            </a:r>
            <a:r>
              <a:rPr sz="2400" spc="-12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Layer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49295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7</a:t>
            </a:r>
            <a:r>
              <a:rPr spc="-465" dirty="0"/>
              <a:t> </a:t>
            </a:r>
            <a:r>
              <a:rPr spc="-165" dirty="0"/>
              <a:t>Layers</a:t>
            </a:r>
            <a:r>
              <a:rPr spc="-459" dirty="0"/>
              <a:t> </a:t>
            </a:r>
            <a:r>
              <a:rPr spc="-265" dirty="0"/>
              <a:t>of</a:t>
            </a:r>
            <a:r>
              <a:rPr spc="-459" dirty="0"/>
              <a:t> </a:t>
            </a:r>
            <a:r>
              <a:rPr spc="60" dirty="0"/>
              <a:t>OSI</a:t>
            </a:r>
            <a:r>
              <a:rPr spc="-455" dirty="0"/>
              <a:t> </a:t>
            </a:r>
            <a:r>
              <a:rPr spc="-60"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2050" y="2060730"/>
            <a:ext cx="9991725" cy="42008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32632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5" dirty="0"/>
              <a:t>Physical</a:t>
            </a:r>
            <a:r>
              <a:rPr spc="-465" dirty="0"/>
              <a:t> </a:t>
            </a:r>
            <a:r>
              <a:rPr spc="-185" dirty="0"/>
              <a:t>Layer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6985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The</a:t>
            </a:r>
            <a:r>
              <a:rPr spc="175" dirty="0"/>
              <a:t> </a:t>
            </a:r>
            <a:r>
              <a:rPr dirty="0"/>
              <a:t>main</a:t>
            </a:r>
            <a:r>
              <a:rPr spc="170" dirty="0"/>
              <a:t> </a:t>
            </a:r>
            <a:r>
              <a:rPr spc="-50" dirty="0"/>
              <a:t>functionality</a:t>
            </a:r>
            <a:r>
              <a:rPr spc="165" dirty="0"/>
              <a:t> </a:t>
            </a:r>
            <a:r>
              <a:rPr dirty="0"/>
              <a:t>of</a:t>
            </a:r>
            <a:r>
              <a:rPr spc="170" dirty="0"/>
              <a:t> </a:t>
            </a:r>
            <a:r>
              <a:rPr dirty="0"/>
              <a:t>the</a:t>
            </a:r>
            <a:r>
              <a:rPr spc="170" dirty="0"/>
              <a:t> </a:t>
            </a:r>
            <a:r>
              <a:rPr dirty="0"/>
              <a:t>physical</a:t>
            </a:r>
            <a:r>
              <a:rPr spc="180" dirty="0"/>
              <a:t> </a:t>
            </a:r>
            <a:r>
              <a:rPr spc="-10" dirty="0"/>
              <a:t>layer</a:t>
            </a:r>
            <a:r>
              <a:rPr spc="180" dirty="0"/>
              <a:t> </a:t>
            </a:r>
            <a:r>
              <a:rPr dirty="0"/>
              <a:t>is</a:t>
            </a:r>
            <a:r>
              <a:rPr spc="170" dirty="0"/>
              <a:t> </a:t>
            </a:r>
            <a:r>
              <a:rPr dirty="0"/>
              <a:t>to</a:t>
            </a:r>
            <a:r>
              <a:rPr spc="185" dirty="0"/>
              <a:t> </a:t>
            </a:r>
            <a:r>
              <a:rPr b="1" i="1" spc="-50" dirty="0">
                <a:latin typeface="Trebuchet MS"/>
                <a:cs typeface="Trebuchet MS"/>
              </a:rPr>
              <a:t>transmit</a:t>
            </a:r>
            <a:r>
              <a:rPr b="1" i="1" spc="190" dirty="0">
                <a:latin typeface="Trebuchet MS"/>
                <a:cs typeface="Trebuchet MS"/>
              </a:rPr>
              <a:t> </a:t>
            </a:r>
            <a:r>
              <a:rPr b="1" i="1" spc="-25" dirty="0">
                <a:latin typeface="Trebuchet MS"/>
                <a:cs typeface="Trebuchet MS"/>
              </a:rPr>
              <a:t>the 	</a:t>
            </a:r>
            <a:r>
              <a:rPr b="1" i="1" spc="-85" dirty="0">
                <a:latin typeface="Trebuchet MS"/>
                <a:cs typeface="Trebuchet MS"/>
              </a:rPr>
              <a:t>individual</a:t>
            </a:r>
            <a:r>
              <a:rPr b="1" i="1" spc="-225" dirty="0">
                <a:latin typeface="Trebuchet MS"/>
                <a:cs typeface="Trebuchet MS"/>
              </a:rPr>
              <a:t> </a:t>
            </a:r>
            <a:r>
              <a:rPr b="1" i="1" spc="-85" dirty="0">
                <a:latin typeface="Trebuchet MS"/>
                <a:cs typeface="Trebuchet MS"/>
              </a:rPr>
              <a:t>bits</a:t>
            </a:r>
            <a:r>
              <a:rPr b="1" i="1" spc="-254" dirty="0">
                <a:latin typeface="Trebuchet MS"/>
                <a:cs typeface="Trebuchet MS"/>
              </a:rPr>
              <a:t> </a:t>
            </a:r>
            <a:r>
              <a:rPr spc="-90" dirty="0"/>
              <a:t>from</a:t>
            </a:r>
            <a:r>
              <a:rPr spc="-245" dirty="0"/>
              <a:t> </a:t>
            </a:r>
            <a:r>
              <a:rPr dirty="0"/>
              <a:t>one</a:t>
            </a:r>
            <a:r>
              <a:rPr spc="-250" dirty="0"/>
              <a:t> </a:t>
            </a:r>
            <a:r>
              <a:rPr dirty="0"/>
              <a:t>node</a:t>
            </a:r>
            <a:r>
              <a:rPr spc="-235" dirty="0"/>
              <a:t> </a:t>
            </a:r>
            <a:r>
              <a:rPr spc="-105" dirty="0"/>
              <a:t>to</a:t>
            </a:r>
            <a:r>
              <a:rPr spc="-245" dirty="0"/>
              <a:t> </a:t>
            </a:r>
            <a:r>
              <a:rPr spc="-60" dirty="0"/>
              <a:t>another</a:t>
            </a:r>
            <a:r>
              <a:rPr spc="-250" dirty="0"/>
              <a:t> </a:t>
            </a:r>
            <a:r>
              <a:rPr spc="-10" dirty="0"/>
              <a:t>node.</a:t>
            </a:r>
          </a:p>
          <a:p>
            <a:pPr marL="240665" indent="-22796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665" algn="l"/>
              </a:tabLst>
            </a:pPr>
            <a:r>
              <a:rPr spc="-140" dirty="0"/>
              <a:t>It</a:t>
            </a:r>
            <a:r>
              <a:rPr spc="-260" dirty="0"/>
              <a:t> </a:t>
            </a:r>
            <a:r>
              <a:rPr dirty="0"/>
              <a:t>is</a:t>
            </a:r>
            <a:r>
              <a:rPr spc="-235" dirty="0"/>
              <a:t> </a:t>
            </a:r>
            <a:r>
              <a:rPr spc="-90" dirty="0"/>
              <a:t>the</a:t>
            </a:r>
            <a:r>
              <a:rPr spc="-245" dirty="0"/>
              <a:t> </a:t>
            </a:r>
            <a:r>
              <a:rPr spc="-50" dirty="0"/>
              <a:t>lowest</a:t>
            </a:r>
            <a:r>
              <a:rPr spc="-260" dirty="0"/>
              <a:t> </a:t>
            </a:r>
            <a:r>
              <a:rPr spc="-100" dirty="0"/>
              <a:t>layer</a:t>
            </a:r>
            <a:r>
              <a:rPr spc="-250" dirty="0"/>
              <a:t> </a:t>
            </a:r>
            <a:r>
              <a:rPr spc="-95" dirty="0"/>
              <a:t>of</a:t>
            </a:r>
            <a:r>
              <a:rPr spc="-240" dirty="0"/>
              <a:t> </a:t>
            </a:r>
            <a:r>
              <a:rPr spc="-90" dirty="0"/>
              <a:t>the</a:t>
            </a:r>
            <a:r>
              <a:rPr spc="-245" dirty="0"/>
              <a:t> </a:t>
            </a:r>
            <a:r>
              <a:rPr spc="100" dirty="0"/>
              <a:t>OSI</a:t>
            </a:r>
            <a:r>
              <a:rPr spc="-240" dirty="0"/>
              <a:t> </a:t>
            </a:r>
            <a:r>
              <a:rPr spc="-10" dirty="0"/>
              <a:t>model.</a:t>
            </a:r>
          </a:p>
          <a:p>
            <a:pPr marL="240665" indent="-2279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665" algn="l"/>
              </a:tabLst>
            </a:pPr>
            <a:r>
              <a:rPr spc="-140" dirty="0"/>
              <a:t>It</a:t>
            </a:r>
            <a:r>
              <a:rPr spc="-245" dirty="0"/>
              <a:t> </a:t>
            </a:r>
            <a:r>
              <a:rPr spc="-25" dirty="0"/>
              <a:t>establishes,</a:t>
            </a:r>
            <a:r>
              <a:rPr spc="-225" dirty="0"/>
              <a:t> </a:t>
            </a:r>
            <a:r>
              <a:rPr spc="-35" dirty="0"/>
              <a:t>maintains</a:t>
            </a:r>
            <a:r>
              <a:rPr spc="-260" dirty="0"/>
              <a:t> </a:t>
            </a:r>
            <a:r>
              <a:rPr dirty="0"/>
              <a:t>and</a:t>
            </a:r>
            <a:r>
              <a:rPr spc="-229" dirty="0"/>
              <a:t> </a:t>
            </a:r>
            <a:r>
              <a:rPr spc="-60" dirty="0"/>
              <a:t>deactivates</a:t>
            </a:r>
            <a:r>
              <a:rPr spc="-204" dirty="0"/>
              <a:t> </a:t>
            </a:r>
            <a:r>
              <a:rPr spc="-90" dirty="0"/>
              <a:t>the</a:t>
            </a:r>
            <a:r>
              <a:rPr spc="-235" dirty="0"/>
              <a:t> </a:t>
            </a:r>
            <a:r>
              <a:rPr spc="-10" dirty="0"/>
              <a:t>physical</a:t>
            </a:r>
            <a:r>
              <a:rPr spc="-215" dirty="0"/>
              <a:t> </a:t>
            </a:r>
            <a:r>
              <a:rPr spc="-10" dirty="0"/>
              <a:t>connection.</a:t>
            </a:r>
          </a:p>
          <a:p>
            <a:pPr marL="240029" marR="5080" indent="-227965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  <a:tab pos="614680" algn="l"/>
                <a:tab pos="2162810" algn="l"/>
                <a:tab pos="2829560" algn="l"/>
                <a:tab pos="4906645" algn="l"/>
                <a:tab pos="6513195" algn="l"/>
                <a:tab pos="7264400" algn="l"/>
                <a:tab pos="9107170" algn="l"/>
              </a:tabLst>
            </a:pPr>
            <a:r>
              <a:rPr spc="-25" dirty="0"/>
              <a:t>It</a:t>
            </a:r>
            <a:r>
              <a:rPr dirty="0"/>
              <a:t>	</a:t>
            </a:r>
            <a:r>
              <a:rPr spc="-10" dirty="0"/>
              <a:t>specifies</a:t>
            </a:r>
            <a:r>
              <a:rPr dirty="0"/>
              <a:t>	</a:t>
            </a:r>
            <a:r>
              <a:rPr spc="-25" dirty="0"/>
              <a:t>the</a:t>
            </a:r>
            <a:r>
              <a:rPr dirty="0"/>
              <a:t>	</a:t>
            </a:r>
            <a:r>
              <a:rPr spc="-10" dirty="0"/>
              <a:t>mechanical,</a:t>
            </a:r>
            <a:r>
              <a:rPr dirty="0"/>
              <a:t>	</a:t>
            </a:r>
            <a:r>
              <a:rPr spc="-10" dirty="0"/>
              <a:t>electrical</a:t>
            </a:r>
            <a:r>
              <a:rPr dirty="0"/>
              <a:t>	</a:t>
            </a:r>
            <a:r>
              <a:rPr spc="-25" dirty="0"/>
              <a:t>and</a:t>
            </a:r>
            <a:r>
              <a:rPr dirty="0"/>
              <a:t>	</a:t>
            </a:r>
            <a:r>
              <a:rPr spc="-10" dirty="0"/>
              <a:t>procedural</a:t>
            </a:r>
            <a:r>
              <a:rPr dirty="0"/>
              <a:t>	</a:t>
            </a:r>
            <a:r>
              <a:rPr spc="-85" dirty="0"/>
              <a:t>network 	</a:t>
            </a:r>
            <a:r>
              <a:rPr spc="-100" dirty="0"/>
              <a:t>interface</a:t>
            </a:r>
            <a:r>
              <a:rPr spc="-225" dirty="0"/>
              <a:t> </a:t>
            </a:r>
            <a:r>
              <a:rPr spc="-10" dirty="0"/>
              <a:t>specifications.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32632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5" dirty="0"/>
              <a:t>Physical</a:t>
            </a:r>
            <a:r>
              <a:rPr spc="-465" dirty="0"/>
              <a:t> </a:t>
            </a:r>
            <a:r>
              <a:rPr spc="-185" dirty="0"/>
              <a:t>Layer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7571" y="1872777"/>
            <a:ext cx="7743644" cy="42934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65436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Functions</a:t>
            </a:r>
            <a:r>
              <a:rPr spc="-490" dirty="0"/>
              <a:t> </a:t>
            </a:r>
            <a:r>
              <a:rPr spc="-265" dirty="0"/>
              <a:t>of</a:t>
            </a:r>
            <a:r>
              <a:rPr spc="-445" dirty="0"/>
              <a:t> </a:t>
            </a:r>
            <a:r>
              <a:rPr spc="-170" dirty="0"/>
              <a:t>a</a:t>
            </a:r>
            <a:r>
              <a:rPr spc="-450" dirty="0"/>
              <a:t> </a:t>
            </a:r>
            <a:r>
              <a:rPr spc="-135" dirty="0"/>
              <a:t>Physical</a:t>
            </a:r>
            <a:r>
              <a:rPr spc="-465" dirty="0"/>
              <a:t> </a:t>
            </a:r>
            <a:r>
              <a:rPr spc="-155" dirty="0"/>
              <a:t>Layer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2874645"/>
            <a:ext cx="10515600" cy="3302000"/>
          </a:xfrm>
          <a:custGeom>
            <a:avLst/>
            <a:gdLst/>
            <a:ahLst/>
            <a:cxnLst/>
            <a:rect l="l" t="t" r="r" b="b"/>
            <a:pathLst>
              <a:path w="10515600" h="3302000">
                <a:moveTo>
                  <a:pt x="0" y="3301390"/>
                </a:moveTo>
                <a:lnTo>
                  <a:pt x="10515600" y="3301390"/>
                </a:lnTo>
              </a:path>
              <a:path w="10515600" h="3302000">
                <a:moveTo>
                  <a:pt x="0" y="2200910"/>
                </a:moveTo>
                <a:lnTo>
                  <a:pt x="10515600" y="2200910"/>
                </a:lnTo>
              </a:path>
              <a:path w="10515600" h="3302000">
                <a:moveTo>
                  <a:pt x="0" y="1100454"/>
                </a:moveTo>
                <a:lnTo>
                  <a:pt x="10515600" y="1100454"/>
                </a:lnTo>
              </a:path>
              <a:path w="10515600" h="33020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19050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01973" y="2155393"/>
            <a:ext cx="73672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14" dirty="0">
                <a:latin typeface="Trebuchet MS"/>
                <a:cs typeface="Trebuchet MS"/>
              </a:rPr>
              <a:t>It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defines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the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way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how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two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or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more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devices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can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30" dirty="0">
                <a:latin typeface="Trebuchet MS"/>
                <a:cs typeface="Trebuchet MS"/>
              </a:rPr>
              <a:t>be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connected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1850" y="1820164"/>
            <a:ext cx="2747010" cy="1061085"/>
            <a:chOff x="831850" y="1820164"/>
            <a:chExt cx="2747010" cy="106108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200" y="1826514"/>
              <a:ext cx="2734055" cy="104813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38200" y="1826514"/>
              <a:ext cx="2734310" cy="1048385"/>
            </a:xfrm>
            <a:custGeom>
              <a:avLst/>
              <a:gdLst/>
              <a:ahLst/>
              <a:cxnLst/>
              <a:rect l="l" t="t" r="r" b="b"/>
              <a:pathLst>
                <a:path w="2734310" h="1048385">
                  <a:moveTo>
                    <a:pt x="174713" y="0"/>
                  </a:moveTo>
                  <a:lnTo>
                    <a:pt x="2559304" y="0"/>
                  </a:lnTo>
                  <a:lnTo>
                    <a:pt x="2605762" y="6241"/>
                  </a:lnTo>
                  <a:lnTo>
                    <a:pt x="2647507" y="23857"/>
                  </a:lnTo>
                  <a:lnTo>
                    <a:pt x="2682874" y="51180"/>
                  </a:lnTo>
                  <a:lnTo>
                    <a:pt x="2710198" y="86548"/>
                  </a:lnTo>
                  <a:lnTo>
                    <a:pt x="2727814" y="128293"/>
                  </a:lnTo>
                  <a:lnTo>
                    <a:pt x="2734055" y="174751"/>
                  </a:lnTo>
                  <a:lnTo>
                    <a:pt x="2734055" y="1048131"/>
                  </a:lnTo>
                  <a:lnTo>
                    <a:pt x="0" y="1048131"/>
                  </a:lnTo>
                  <a:lnTo>
                    <a:pt x="0" y="174751"/>
                  </a:lnTo>
                  <a:lnTo>
                    <a:pt x="6240" y="128293"/>
                  </a:lnTo>
                  <a:lnTo>
                    <a:pt x="23852" y="86548"/>
                  </a:lnTo>
                  <a:lnTo>
                    <a:pt x="51171" y="51181"/>
                  </a:lnTo>
                  <a:lnTo>
                    <a:pt x="86531" y="23857"/>
                  </a:lnTo>
                  <a:lnTo>
                    <a:pt x="128267" y="6241"/>
                  </a:lnTo>
                  <a:lnTo>
                    <a:pt x="174713" y="0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835276" y="1861566"/>
            <a:ext cx="740410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spc="-50" dirty="0">
                <a:latin typeface="Trebuchet MS"/>
                <a:cs typeface="Trebuchet MS"/>
              </a:rPr>
              <a:t>Line</a:t>
            </a:r>
            <a:endParaRPr sz="31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6157" y="2294381"/>
            <a:ext cx="3961129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658110" algn="l"/>
              </a:tabLst>
            </a:pPr>
            <a:r>
              <a:rPr sz="3100" spc="-10" dirty="0">
                <a:latin typeface="Trebuchet MS"/>
                <a:cs typeface="Trebuchet MS"/>
              </a:rPr>
              <a:t>Configuration:</a:t>
            </a:r>
            <a:r>
              <a:rPr sz="3100" dirty="0">
                <a:latin typeface="Trebuchet MS"/>
                <a:cs typeface="Trebuchet MS"/>
              </a:rPr>
              <a:t>	</a:t>
            </a:r>
            <a:r>
              <a:rPr sz="3300" spc="-44" baseline="-11363" dirty="0">
                <a:latin typeface="Trebuchet MS"/>
                <a:cs typeface="Trebuchet MS"/>
              </a:rPr>
              <a:t>physically.</a:t>
            </a:r>
            <a:endParaRPr sz="3300" baseline="-11363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01973" y="2949016"/>
            <a:ext cx="7160895" cy="97536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 algn="just">
              <a:lnSpc>
                <a:spcPct val="91600"/>
              </a:lnSpc>
              <a:spcBef>
                <a:spcPts val="320"/>
              </a:spcBef>
            </a:pPr>
            <a:r>
              <a:rPr sz="2200" spc="-275" dirty="0">
                <a:latin typeface="Trebuchet MS"/>
                <a:cs typeface="Trebuchet MS"/>
              </a:rPr>
              <a:t>It</a:t>
            </a:r>
            <a:r>
              <a:rPr sz="2200" spc="105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defines</a:t>
            </a:r>
            <a:r>
              <a:rPr sz="2200" spc="-114" dirty="0">
                <a:latin typeface="Trebuchet MS"/>
                <a:cs typeface="Trebuchet MS"/>
              </a:rPr>
              <a:t> </a:t>
            </a:r>
            <a:r>
              <a:rPr sz="2200" spc="-130" dirty="0">
                <a:latin typeface="Trebuchet MS"/>
                <a:cs typeface="Trebuchet MS"/>
              </a:rPr>
              <a:t>the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transmission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mode</a:t>
            </a:r>
            <a:r>
              <a:rPr sz="2200" spc="-145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whether</a:t>
            </a:r>
            <a:r>
              <a:rPr sz="2200" spc="-60" dirty="0">
                <a:latin typeface="Trebuchet MS"/>
                <a:cs typeface="Trebuchet MS"/>
              </a:rPr>
              <a:t> </a:t>
            </a:r>
            <a:r>
              <a:rPr sz="2200" spc="-330" dirty="0">
                <a:latin typeface="Trebuchet MS"/>
                <a:cs typeface="Trebuchet MS"/>
              </a:rPr>
              <a:t>it</a:t>
            </a:r>
            <a:r>
              <a:rPr sz="2200" spc="16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is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simplex,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half- </a:t>
            </a:r>
            <a:r>
              <a:rPr sz="2200" spc="-70" dirty="0">
                <a:latin typeface="Trebuchet MS"/>
                <a:cs typeface="Trebuchet MS"/>
              </a:rPr>
              <a:t>duplex</a:t>
            </a:r>
            <a:r>
              <a:rPr sz="2200" spc="-100" dirty="0">
                <a:latin typeface="Trebuchet MS"/>
                <a:cs typeface="Trebuchet MS"/>
              </a:rPr>
              <a:t> </a:t>
            </a:r>
            <a:r>
              <a:rPr sz="2200" spc="-145" dirty="0">
                <a:latin typeface="Trebuchet MS"/>
                <a:cs typeface="Trebuchet MS"/>
              </a:rPr>
              <a:t>or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full-</a:t>
            </a:r>
            <a:r>
              <a:rPr sz="2200" spc="-70" dirty="0">
                <a:latin typeface="Trebuchet MS"/>
                <a:cs typeface="Trebuchet MS"/>
              </a:rPr>
              <a:t>duplex</a:t>
            </a:r>
            <a:r>
              <a:rPr sz="2200" spc="-95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mode</a:t>
            </a:r>
            <a:r>
              <a:rPr sz="2200" spc="-110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between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spc="-150" dirty="0">
                <a:latin typeface="Trebuchet MS"/>
                <a:cs typeface="Trebuchet MS"/>
              </a:rPr>
              <a:t>the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spc="-130" dirty="0">
                <a:latin typeface="Trebuchet MS"/>
                <a:cs typeface="Trebuchet MS"/>
              </a:rPr>
              <a:t>two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devices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45" dirty="0">
                <a:latin typeface="Trebuchet MS"/>
                <a:cs typeface="Trebuchet MS"/>
              </a:rPr>
              <a:t>on</a:t>
            </a:r>
            <a:r>
              <a:rPr sz="2200" spc="-70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the </a:t>
            </a:r>
            <a:r>
              <a:rPr sz="2200" spc="-10" dirty="0">
                <a:latin typeface="Trebuchet MS"/>
                <a:cs typeface="Trebuchet MS"/>
              </a:rPr>
              <a:t>network.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31850" y="2920619"/>
            <a:ext cx="2747010" cy="1061085"/>
            <a:chOff x="831850" y="2920619"/>
            <a:chExt cx="2747010" cy="106108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200" y="2926969"/>
              <a:ext cx="2734055" cy="104813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38200" y="2926969"/>
              <a:ext cx="2734310" cy="1048385"/>
            </a:xfrm>
            <a:custGeom>
              <a:avLst/>
              <a:gdLst/>
              <a:ahLst/>
              <a:cxnLst/>
              <a:rect l="l" t="t" r="r" b="b"/>
              <a:pathLst>
                <a:path w="2734310" h="1048385">
                  <a:moveTo>
                    <a:pt x="174713" y="0"/>
                  </a:moveTo>
                  <a:lnTo>
                    <a:pt x="2559304" y="0"/>
                  </a:lnTo>
                  <a:lnTo>
                    <a:pt x="2605762" y="6241"/>
                  </a:lnTo>
                  <a:lnTo>
                    <a:pt x="2647507" y="23857"/>
                  </a:lnTo>
                  <a:lnTo>
                    <a:pt x="2682874" y="51180"/>
                  </a:lnTo>
                  <a:lnTo>
                    <a:pt x="2710198" y="86548"/>
                  </a:lnTo>
                  <a:lnTo>
                    <a:pt x="2727814" y="128293"/>
                  </a:lnTo>
                  <a:lnTo>
                    <a:pt x="2734055" y="174751"/>
                  </a:lnTo>
                  <a:lnTo>
                    <a:pt x="2734055" y="1048130"/>
                  </a:lnTo>
                  <a:lnTo>
                    <a:pt x="0" y="1048130"/>
                  </a:lnTo>
                  <a:lnTo>
                    <a:pt x="0" y="174751"/>
                  </a:lnTo>
                  <a:lnTo>
                    <a:pt x="6240" y="128293"/>
                  </a:lnTo>
                  <a:lnTo>
                    <a:pt x="23852" y="86548"/>
                  </a:lnTo>
                  <a:lnTo>
                    <a:pt x="51171" y="51181"/>
                  </a:lnTo>
                  <a:lnTo>
                    <a:pt x="86531" y="23857"/>
                  </a:lnTo>
                  <a:lnTo>
                    <a:pt x="128267" y="6241"/>
                  </a:lnTo>
                  <a:lnTo>
                    <a:pt x="174713" y="0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015085" y="2962148"/>
            <a:ext cx="2380615" cy="93027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 indent="772160">
              <a:lnSpc>
                <a:spcPts val="3410"/>
              </a:lnSpc>
              <a:spcBef>
                <a:spcPts val="465"/>
              </a:spcBef>
            </a:pPr>
            <a:r>
              <a:rPr sz="3100" spc="-20" dirty="0">
                <a:latin typeface="Trebuchet MS"/>
                <a:cs typeface="Trebuchet MS"/>
              </a:rPr>
              <a:t>Data </a:t>
            </a:r>
            <a:r>
              <a:rPr sz="3100" spc="-40" dirty="0">
                <a:latin typeface="Trebuchet MS"/>
                <a:cs typeface="Trebuchet MS"/>
              </a:rPr>
              <a:t>Transmission:</a:t>
            </a:r>
            <a:endParaRPr sz="31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31850" y="4021201"/>
            <a:ext cx="2747010" cy="1061085"/>
            <a:chOff x="831850" y="4021201"/>
            <a:chExt cx="2747010" cy="1061085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8200" y="4027551"/>
              <a:ext cx="2734055" cy="104800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38200" y="4027551"/>
              <a:ext cx="2734310" cy="1048385"/>
            </a:xfrm>
            <a:custGeom>
              <a:avLst/>
              <a:gdLst/>
              <a:ahLst/>
              <a:cxnLst/>
              <a:rect l="l" t="t" r="r" b="b"/>
              <a:pathLst>
                <a:path w="2734310" h="1048385">
                  <a:moveTo>
                    <a:pt x="174713" y="0"/>
                  </a:moveTo>
                  <a:lnTo>
                    <a:pt x="2559304" y="0"/>
                  </a:lnTo>
                  <a:lnTo>
                    <a:pt x="2605762" y="6232"/>
                  </a:lnTo>
                  <a:lnTo>
                    <a:pt x="2647507" y="23824"/>
                  </a:lnTo>
                  <a:lnTo>
                    <a:pt x="2682874" y="51117"/>
                  </a:lnTo>
                  <a:lnTo>
                    <a:pt x="2710198" y="86454"/>
                  </a:lnTo>
                  <a:lnTo>
                    <a:pt x="2727814" y="128175"/>
                  </a:lnTo>
                  <a:lnTo>
                    <a:pt x="2734055" y="174625"/>
                  </a:lnTo>
                  <a:lnTo>
                    <a:pt x="2734055" y="1048004"/>
                  </a:lnTo>
                  <a:lnTo>
                    <a:pt x="0" y="1048004"/>
                  </a:lnTo>
                  <a:lnTo>
                    <a:pt x="0" y="174625"/>
                  </a:lnTo>
                  <a:lnTo>
                    <a:pt x="6240" y="128175"/>
                  </a:lnTo>
                  <a:lnTo>
                    <a:pt x="23852" y="86454"/>
                  </a:lnTo>
                  <a:lnTo>
                    <a:pt x="51171" y="51117"/>
                  </a:lnTo>
                  <a:lnTo>
                    <a:pt x="86531" y="23824"/>
                  </a:lnTo>
                  <a:lnTo>
                    <a:pt x="128267" y="6232"/>
                  </a:lnTo>
                  <a:lnTo>
                    <a:pt x="174713" y="0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385442" y="4279138"/>
            <a:ext cx="8554720" cy="7454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375"/>
              </a:lnSpc>
              <a:spcBef>
                <a:spcPts val="95"/>
              </a:spcBef>
            </a:pPr>
            <a:r>
              <a:rPr sz="3100" spc="-10" dirty="0">
                <a:latin typeface="Trebuchet MS"/>
                <a:cs typeface="Trebuchet MS"/>
              </a:rPr>
              <a:t>Topology:</a:t>
            </a:r>
            <a:endParaRPr sz="3100">
              <a:latin typeface="Trebuchet MS"/>
              <a:cs typeface="Trebuchet MS"/>
            </a:endParaRPr>
          </a:p>
          <a:p>
            <a:pPr marL="2228850">
              <a:lnSpc>
                <a:spcPts val="2295"/>
              </a:lnSpc>
            </a:pPr>
            <a:r>
              <a:rPr sz="2200" spc="-114" dirty="0">
                <a:latin typeface="Trebuchet MS"/>
                <a:cs typeface="Trebuchet MS"/>
              </a:rPr>
              <a:t>It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30" dirty="0">
                <a:latin typeface="Trebuchet MS"/>
                <a:cs typeface="Trebuchet MS"/>
              </a:rPr>
              <a:t>defines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the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way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-30" dirty="0">
                <a:latin typeface="Trebuchet MS"/>
                <a:cs typeface="Trebuchet MS"/>
              </a:rPr>
              <a:t>how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network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devices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are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30" dirty="0">
                <a:latin typeface="Trebuchet MS"/>
                <a:cs typeface="Trebuchet MS"/>
              </a:rPr>
              <a:t>arranged.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01973" y="5457850"/>
            <a:ext cx="7153275" cy="66802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>
              <a:lnSpc>
                <a:spcPts val="2420"/>
              </a:lnSpc>
              <a:spcBef>
                <a:spcPts val="360"/>
              </a:spcBef>
            </a:pPr>
            <a:r>
              <a:rPr sz="2200" spc="-114" dirty="0">
                <a:latin typeface="Trebuchet MS"/>
                <a:cs typeface="Trebuchet MS"/>
              </a:rPr>
              <a:t>It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45" dirty="0">
                <a:latin typeface="Trebuchet MS"/>
                <a:cs typeface="Trebuchet MS"/>
              </a:rPr>
              <a:t>determines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the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90" dirty="0">
                <a:latin typeface="Trebuchet MS"/>
                <a:cs typeface="Trebuchet MS"/>
              </a:rPr>
              <a:t>type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of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the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signal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used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95" dirty="0">
                <a:latin typeface="Trebuchet MS"/>
                <a:cs typeface="Trebuchet MS"/>
              </a:rPr>
              <a:t>for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transmitting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the </a:t>
            </a:r>
            <a:r>
              <a:rPr sz="2200" spc="-10" dirty="0">
                <a:latin typeface="Trebuchet MS"/>
                <a:cs typeface="Trebuchet MS"/>
              </a:rPr>
              <a:t>information.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31850" y="5121655"/>
            <a:ext cx="2747010" cy="1061085"/>
            <a:chOff x="831850" y="5121655"/>
            <a:chExt cx="2747010" cy="1061085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8200" y="5128005"/>
              <a:ext cx="2734055" cy="104802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38200" y="5128005"/>
              <a:ext cx="2734310" cy="1048385"/>
            </a:xfrm>
            <a:custGeom>
              <a:avLst/>
              <a:gdLst/>
              <a:ahLst/>
              <a:cxnLst/>
              <a:rect l="l" t="t" r="r" b="b"/>
              <a:pathLst>
                <a:path w="2734310" h="1048385">
                  <a:moveTo>
                    <a:pt x="174713" y="0"/>
                  </a:moveTo>
                  <a:lnTo>
                    <a:pt x="2559304" y="0"/>
                  </a:lnTo>
                  <a:lnTo>
                    <a:pt x="2605762" y="6241"/>
                  </a:lnTo>
                  <a:lnTo>
                    <a:pt x="2647507" y="23852"/>
                  </a:lnTo>
                  <a:lnTo>
                    <a:pt x="2682874" y="51165"/>
                  </a:lnTo>
                  <a:lnTo>
                    <a:pt x="2710198" y="86510"/>
                  </a:lnTo>
                  <a:lnTo>
                    <a:pt x="2727814" y="128220"/>
                  </a:lnTo>
                  <a:lnTo>
                    <a:pt x="2734055" y="174625"/>
                  </a:lnTo>
                  <a:lnTo>
                    <a:pt x="2734055" y="1048029"/>
                  </a:lnTo>
                  <a:lnTo>
                    <a:pt x="0" y="1048029"/>
                  </a:lnTo>
                  <a:lnTo>
                    <a:pt x="0" y="174625"/>
                  </a:lnTo>
                  <a:lnTo>
                    <a:pt x="6240" y="128220"/>
                  </a:lnTo>
                  <a:lnTo>
                    <a:pt x="23852" y="86510"/>
                  </a:lnTo>
                  <a:lnTo>
                    <a:pt x="51171" y="51165"/>
                  </a:lnTo>
                  <a:lnTo>
                    <a:pt x="86531" y="23852"/>
                  </a:lnTo>
                  <a:lnTo>
                    <a:pt x="128267" y="6241"/>
                  </a:lnTo>
                  <a:lnTo>
                    <a:pt x="174713" y="0"/>
                  </a:lnTo>
                  <a:close/>
                </a:path>
              </a:pathLst>
            </a:custGeom>
            <a:ln w="12700">
              <a:solidFill>
                <a:srgbClr val="9F2B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522602" y="5379821"/>
            <a:ext cx="1365250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spc="-10" dirty="0">
                <a:latin typeface="Trebuchet MS"/>
                <a:cs typeface="Trebuchet MS"/>
              </a:rPr>
              <a:t>Signals:</a:t>
            </a:r>
            <a:endParaRPr sz="3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35617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Data-</a:t>
            </a:r>
            <a:r>
              <a:rPr spc="-235" dirty="0"/>
              <a:t>Link</a:t>
            </a:r>
            <a:r>
              <a:rPr spc="-445" dirty="0"/>
              <a:t> </a:t>
            </a:r>
            <a:r>
              <a:rPr spc="-19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966"/>
            <a:ext cx="10335260" cy="406527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40029" marR="1215390" indent="-227965">
              <a:lnSpc>
                <a:spcPts val="2690"/>
              </a:lnSpc>
              <a:spcBef>
                <a:spcPts val="74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65" dirty="0">
                <a:latin typeface="Trebuchet MS"/>
                <a:cs typeface="Trebuchet MS"/>
              </a:rPr>
              <a:t>This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layer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responsible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for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b="1" i="1" spc="-150" dirty="0">
                <a:latin typeface="Trebuchet MS"/>
                <a:cs typeface="Trebuchet MS"/>
              </a:rPr>
              <a:t>error-</a:t>
            </a:r>
            <a:r>
              <a:rPr sz="2800" b="1" i="1" spc="-125" dirty="0">
                <a:latin typeface="Trebuchet MS"/>
                <a:cs typeface="Trebuchet MS"/>
              </a:rPr>
              <a:t>free</a:t>
            </a:r>
            <a:r>
              <a:rPr sz="2800" b="1" i="1" spc="-185" dirty="0">
                <a:latin typeface="Trebuchet MS"/>
                <a:cs typeface="Trebuchet MS"/>
              </a:rPr>
              <a:t> </a:t>
            </a:r>
            <a:r>
              <a:rPr sz="2800" b="1" i="1" spc="-130" dirty="0">
                <a:latin typeface="Trebuchet MS"/>
                <a:cs typeface="Trebuchet MS"/>
              </a:rPr>
              <a:t>transfer</a:t>
            </a:r>
            <a:r>
              <a:rPr sz="2800" b="1" i="1" spc="-190" dirty="0">
                <a:latin typeface="Trebuchet MS"/>
                <a:cs typeface="Trebuchet MS"/>
              </a:rPr>
              <a:t> </a:t>
            </a:r>
            <a:r>
              <a:rPr sz="2800" b="1" i="1" spc="-130" dirty="0">
                <a:latin typeface="Trebuchet MS"/>
                <a:cs typeface="Trebuchet MS"/>
              </a:rPr>
              <a:t>of</a:t>
            </a:r>
            <a:r>
              <a:rPr sz="2800" b="1" i="1" spc="-225" dirty="0">
                <a:latin typeface="Trebuchet MS"/>
                <a:cs typeface="Trebuchet MS"/>
              </a:rPr>
              <a:t> </a:t>
            </a:r>
            <a:r>
              <a:rPr sz="2800" b="1" i="1" spc="-45" dirty="0">
                <a:latin typeface="Trebuchet MS"/>
                <a:cs typeface="Trebuchet MS"/>
              </a:rPr>
              <a:t>data 	</a:t>
            </a:r>
            <a:r>
              <a:rPr sz="2800" b="1" i="1" spc="-10" dirty="0">
                <a:latin typeface="Trebuchet MS"/>
                <a:cs typeface="Trebuchet MS"/>
              </a:rPr>
              <a:t>frames</a:t>
            </a:r>
            <a:r>
              <a:rPr sz="2800" spc="-10" dirty="0">
                <a:latin typeface="Trebuchet MS"/>
                <a:cs typeface="Trebuchet MS"/>
              </a:rPr>
              <a:t>.</a:t>
            </a:r>
            <a:endParaRPr sz="2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140" dirty="0">
                <a:latin typeface="Trebuchet MS"/>
                <a:cs typeface="Trebuchet MS"/>
              </a:rPr>
              <a:t>It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defines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format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of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data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on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network.</a:t>
            </a:r>
            <a:endParaRPr sz="2800">
              <a:latin typeface="Trebuchet MS"/>
              <a:cs typeface="Trebuchet MS"/>
            </a:endParaRPr>
          </a:p>
          <a:p>
            <a:pPr marL="240029" marR="108585" indent="-227965">
              <a:lnSpc>
                <a:spcPts val="269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40" dirty="0">
                <a:latin typeface="Trebuchet MS"/>
                <a:cs typeface="Trebuchet MS"/>
              </a:rPr>
              <a:t>It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provides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reliable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efficient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communication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between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two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or 	</a:t>
            </a:r>
            <a:r>
              <a:rPr sz="2800" spc="-55" dirty="0">
                <a:latin typeface="Trebuchet MS"/>
                <a:cs typeface="Trebuchet MS"/>
              </a:rPr>
              <a:t>more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devices.</a:t>
            </a:r>
            <a:endParaRPr sz="2800">
              <a:latin typeface="Trebuchet MS"/>
              <a:cs typeface="Trebuchet MS"/>
            </a:endParaRPr>
          </a:p>
          <a:p>
            <a:pPr marL="239395" marR="5080" indent="-227329">
              <a:lnSpc>
                <a:spcPts val="269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40" dirty="0">
                <a:latin typeface="Trebuchet MS"/>
                <a:cs typeface="Trebuchet MS"/>
              </a:rPr>
              <a:t>It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mainly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responsible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for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unique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identification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of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each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device 	</a:t>
            </a:r>
            <a:r>
              <a:rPr sz="2800" spc="-120" dirty="0">
                <a:latin typeface="Trebuchet MS"/>
                <a:cs typeface="Trebuchet MS"/>
              </a:rPr>
              <a:t>that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resides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on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local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network.</a:t>
            </a:r>
            <a:endParaRPr sz="2800">
              <a:latin typeface="Trebuchet MS"/>
              <a:cs typeface="Trebuchet MS"/>
            </a:endParaRPr>
          </a:p>
          <a:p>
            <a:pPr marL="240665" indent="-227965">
              <a:lnSpc>
                <a:spcPts val="3329"/>
              </a:lnSpc>
              <a:spcBef>
                <a:spcPts val="34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140" dirty="0">
                <a:latin typeface="Trebuchet MS"/>
                <a:cs typeface="Trebuchet MS"/>
              </a:rPr>
              <a:t>It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contains</a:t>
            </a:r>
            <a:r>
              <a:rPr sz="2800" spc="-18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two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sub-</a:t>
            </a:r>
            <a:r>
              <a:rPr sz="2800" spc="-10" dirty="0">
                <a:latin typeface="Trebuchet MS"/>
                <a:cs typeface="Trebuchet MS"/>
              </a:rPr>
              <a:t>layers:</a:t>
            </a:r>
            <a:endParaRPr sz="2800">
              <a:latin typeface="Trebuchet MS"/>
              <a:cs typeface="Trebuchet MS"/>
            </a:endParaRPr>
          </a:p>
          <a:p>
            <a:pPr marL="697230" lvl="1" indent="-227329">
              <a:lnSpc>
                <a:spcPts val="2815"/>
              </a:lnSpc>
              <a:buFont typeface="Arial MT"/>
              <a:buChar char="•"/>
              <a:tabLst>
                <a:tab pos="697230" algn="l"/>
              </a:tabLst>
            </a:pPr>
            <a:r>
              <a:rPr sz="2400" spc="-40" dirty="0">
                <a:latin typeface="Trebuchet MS"/>
                <a:cs typeface="Trebuchet MS"/>
              </a:rPr>
              <a:t>Logical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Link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Control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Layer</a:t>
            </a:r>
            <a:endParaRPr sz="2400">
              <a:latin typeface="Trebuchet MS"/>
              <a:cs typeface="Trebuchet MS"/>
            </a:endParaRPr>
          </a:p>
          <a:p>
            <a:pPr marL="697230" lvl="1" indent="-227329">
              <a:lnSpc>
                <a:spcPts val="2845"/>
              </a:lnSpc>
              <a:buFont typeface="Arial MT"/>
              <a:buChar char="•"/>
              <a:tabLst>
                <a:tab pos="697230" algn="l"/>
              </a:tabLst>
            </a:pPr>
            <a:r>
              <a:rPr sz="2400" spc="-10" dirty="0">
                <a:latin typeface="Trebuchet MS"/>
                <a:cs typeface="Trebuchet MS"/>
              </a:rPr>
              <a:t>Media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70" dirty="0">
                <a:latin typeface="Trebuchet MS"/>
                <a:cs typeface="Trebuchet MS"/>
              </a:rPr>
              <a:t>Access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Control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Layer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35617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Data-</a:t>
            </a:r>
            <a:r>
              <a:rPr spc="-235" dirty="0"/>
              <a:t>Link</a:t>
            </a:r>
            <a:r>
              <a:rPr spc="-445" dirty="0"/>
              <a:t> </a:t>
            </a:r>
            <a:r>
              <a:rPr spc="-190" dirty="0"/>
              <a:t>Layer</a:t>
            </a:r>
          </a:p>
        </p:txBody>
      </p:sp>
      <p:sp>
        <p:nvSpPr>
          <p:cNvPr id="3" name="object 3"/>
          <p:cNvSpPr/>
          <p:nvPr/>
        </p:nvSpPr>
        <p:spPr>
          <a:xfrm>
            <a:off x="1834514" y="1829689"/>
            <a:ext cx="3785235" cy="2825750"/>
          </a:xfrm>
          <a:custGeom>
            <a:avLst/>
            <a:gdLst/>
            <a:ahLst/>
            <a:cxnLst/>
            <a:rect l="l" t="t" r="r" b="b"/>
            <a:pathLst>
              <a:path w="3785235" h="2825750">
                <a:moveTo>
                  <a:pt x="226060" y="0"/>
                </a:moveTo>
                <a:lnTo>
                  <a:pt x="3559048" y="0"/>
                </a:lnTo>
                <a:lnTo>
                  <a:pt x="3604604" y="4593"/>
                </a:lnTo>
                <a:lnTo>
                  <a:pt x="3647037" y="17766"/>
                </a:lnTo>
                <a:lnTo>
                  <a:pt x="3685436" y="38609"/>
                </a:lnTo>
                <a:lnTo>
                  <a:pt x="3718893" y="66214"/>
                </a:lnTo>
                <a:lnTo>
                  <a:pt x="3746498" y="99671"/>
                </a:lnTo>
                <a:lnTo>
                  <a:pt x="3767341" y="138070"/>
                </a:lnTo>
                <a:lnTo>
                  <a:pt x="3780514" y="180503"/>
                </a:lnTo>
                <a:lnTo>
                  <a:pt x="3785108" y="226060"/>
                </a:lnTo>
                <a:lnTo>
                  <a:pt x="3785108" y="2825496"/>
                </a:lnTo>
                <a:lnTo>
                  <a:pt x="0" y="2825496"/>
                </a:lnTo>
                <a:lnTo>
                  <a:pt x="0" y="226060"/>
                </a:lnTo>
                <a:lnTo>
                  <a:pt x="4593" y="180503"/>
                </a:lnTo>
                <a:lnTo>
                  <a:pt x="17766" y="138070"/>
                </a:lnTo>
                <a:lnTo>
                  <a:pt x="38609" y="99671"/>
                </a:lnTo>
                <a:lnTo>
                  <a:pt x="66214" y="66214"/>
                </a:lnTo>
                <a:lnTo>
                  <a:pt x="99671" y="38609"/>
                </a:lnTo>
                <a:lnTo>
                  <a:pt x="138070" y="17766"/>
                </a:lnTo>
                <a:lnTo>
                  <a:pt x="180503" y="4593"/>
                </a:lnTo>
                <a:lnTo>
                  <a:pt x="226060" y="0"/>
                </a:lnTo>
                <a:close/>
              </a:path>
            </a:pathLst>
          </a:custGeom>
          <a:ln w="12699">
            <a:solidFill>
              <a:srgbClr val="9F2B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14905" y="1916429"/>
            <a:ext cx="3566795" cy="24949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41300" marR="257810" indent="-228600">
              <a:lnSpc>
                <a:spcPct val="91600"/>
              </a:lnSpc>
              <a:spcBef>
                <a:spcPts val="310"/>
              </a:spcBef>
              <a:buChar char="•"/>
              <a:tabLst>
                <a:tab pos="241300" algn="l"/>
              </a:tabLst>
            </a:pPr>
            <a:r>
              <a:rPr sz="2100" spc="-114" dirty="0">
                <a:latin typeface="Trebuchet MS"/>
                <a:cs typeface="Trebuchet MS"/>
              </a:rPr>
              <a:t>It</a:t>
            </a:r>
            <a:r>
              <a:rPr sz="2100" spc="-16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is</a:t>
            </a:r>
            <a:r>
              <a:rPr sz="2100" spc="-17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responsible</a:t>
            </a:r>
            <a:r>
              <a:rPr sz="2100" spc="-175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for </a:t>
            </a:r>
            <a:r>
              <a:rPr sz="2100" spc="-70" dirty="0">
                <a:latin typeface="Trebuchet MS"/>
                <a:cs typeface="Trebuchet MS"/>
              </a:rPr>
              <a:t>transferring</a:t>
            </a:r>
            <a:r>
              <a:rPr sz="2100" spc="-165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the</a:t>
            </a:r>
            <a:r>
              <a:rPr sz="2100" spc="-170" dirty="0">
                <a:latin typeface="Trebuchet MS"/>
                <a:cs typeface="Trebuchet MS"/>
              </a:rPr>
              <a:t> </a:t>
            </a:r>
            <a:r>
              <a:rPr sz="2100" b="1" i="1" spc="-35" dirty="0">
                <a:latin typeface="Trebuchet MS"/>
                <a:cs typeface="Trebuchet MS"/>
              </a:rPr>
              <a:t>packets</a:t>
            </a:r>
            <a:r>
              <a:rPr sz="2100" b="1" i="1" spc="-140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to </a:t>
            </a:r>
            <a:r>
              <a:rPr sz="2100" spc="-75" dirty="0">
                <a:latin typeface="Trebuchet MS"/>
                <a:cs typeface="Trebuchet MS"/>
              </a:rPr>
              <a:t>the</a:t>
            </a:r>
            <a:r>
              <a:rPr sz="2100" spc="-190" dirty="0">
                <a:latin typeface="Trebuchet MS"/>
                <a:cs typeface="Trebuchet MS"/>
              </a:rPr>
              <a:t> </a:t>
            </a:r>
            <a:r>
              <a:rPr sz="2100" spc="-45" dirty="0">
                <a:latin typeface="Trebuchet MS"/>
                <a:cs typeface="Trebuchet MS"/>
              </a:rPr>
              <a:t>Network</a:t>
            </a:r>
            <a:r>
              <a:rPr sz="2100" spc="-204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layer</a:t>
            </a:r>
            <a:r>
              <a:rPr sz="2100" spc="-185" dirty="0">
                <a:latin typeface="Trebuchet MS"/>
                <a:cs typeface="Trebuchet MS"/>
              </a:rPr>
              <a:t> </a:t>
            </a:r>
            <a:r>
              <a:rPr sz="2100" spc="-65" dirty="0">
                <a:latin typeface="Trebuchet MS"/>
                <a:cs typeface="Trebuchet MS"/>
              </a:rPr>
              <a:t>of</a:t>
            </a:r>
            <a:r>
              <a:rPr sz="2100" spc="-180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the </a:t>
            </a:r>
            <a:r>
              <a:rPr sz="2100" spc="-75" dirty="0">
                <a:latin typeface="Trebuchet MS"/>
                <a:cs typeface="Trebuchet MS"/>
              </a:rPr>
              <a:t>receiver</a:t>
            </a:r>
            <a:r>
              <a:rPr sz="2100" spc="-155" dirty="0">
                <a:latin typeface="Trebuchet MS"/>
                <a:cs typeface="Trebuchet MS"/>
              </a:rPr>
              <a:t> </a:t>
            </a:r>
            <a:r>
              <a:rPr sz="2100" spc="-90" dirty="0">
                <a:latin typeface="Trebuchet MS"/>
                <a:cs typeface="Trebuchet MS"/>
              </a:rPr>
              <a:t>that</a:t>
            </a:r>
            <a:r>
              <a:rPr sz="2100" spc="-14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is</a:t>
            </a:r>
            <a:r>
              <a:rPr sz="2100" spc="-15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receiving.</a:t>
            </a:r>
            <a:endParaRPr sz="2100">
              <a:latin typeface="Trebuchet MS"/>
              <a:cs typeface="Trebuchet MS"/>
            </a:endParaRPr>
          </a:p>
          <a:p>
            <a:pPr marL="241300" marR="314960" indent="-228600" algn="just">
              <a:lnSpc>
                <a:spcPct val="91700"/>
              </a:lnSpc>
              <a:spcBef>
                <a:spcPts val="375"/>
              </a:spcBef>
              <a:buChar char="•"/>
              <a:tabLst>
                <a:tab pos="241300" algn="l"/>
              </a:tabLst>
            </a:pPr>
            <a:r>
              <a:rPr sz="2100" spc="-270" dirty="0">
                <a:latin typeface="Trebuchet MS"/>
                <a:cs typeface="Trebuchet MS"/>
              </a:rPr>
              <a:t>It</a:t>
            </a:r>
            <a:r>
              <a:rPr sz="2100" spc="110" dirty="0">
                <a:latin typeface="Trebuchet MS"/>
                <a:cs typeface="Trebuchet MS"/>
              </a:rPr>
              <a:t> </a:t>
            </a:r>
            <a:r>
              <a:rPr sz="2100" spc="-65" dirty="0">
                <a:latin typeface="Trebuchet MS"/>
                <a:cs typeface="Trebuchet MS"/>
              </a:rPr>
              <a:t>identifies</a:t>
            </a:r>
            <a:r>
              <a:rPr sz="2100" spc="-95" dirty="0">
                <a:latin typeface="Trebuchet MS"/>
                <a:cs typeface="Trebuchet MS"/>
              </a:rPr>
              <a:t> </a:t>
            </a:r>
            <a:r>
              <a:rPr sz="2100" spc="-135" dirty="0">
                <a:latin typeface="Trebuchet MS"/>
                <a:cs typeface="Trebuchet MS"/>
              </a:rPr>
              <a:t>the</a:t>
            </a:r>
            <a:r>
              <a:rPr sz="2100" spc="-2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address</a:t>
            </a:r>
            <a:r>
              <a:rPr sz="2100" spc="-65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of </a:t>
            </a:r>
            <a:r>
              <a:rPr sz="2100" spc="-130" dirty="0">
                <a:latin typeface="Trebuchet MS"/>
                <a:cs typeface="Trebuchet MS"/>
              </a:rPr>
              <a:t>the</a:t>
            </a:r>
            <a:r>
              <a:rPr sz="2100" spc="-25" dirty="0">
                <a:latin typeface="Trebuchet MS"/>
                <a:cs typeface="Trebuchet MS"/>
              </a:rPr>
              <a:t> </a:t>
            </a:r>
            <a:r>
              <a:rPr sz="2100" spc="-90" dirty="0">
                <a:latin typeface="Trebuchet MS"/>
                <a:cs typeface="Trebuchet MS"/>
              </a:rPr>
              <a:t>network</a:t>
            </a:r>
            <a:r>
              <a:rPr sz="2100" spc="-35" dirty="0">
                <a:latin typeface="Trebuchet MS"/>
                <a:cs typeface="Trebuchet MS"/>
              </a:rPr>
              <a:t> </a:t>
            </a:r>
            <a:r>
              <a:rPr sz="2100" spc="-105" dirty="0">
                <a:latin typeface="Trebuchet MS"/>
                <a:cs typeface="Trebuchet MS"/>
              </a:rPr>
              <a:t>layer</a:t>
            </a:r>
            <a:r>
              <a:rPr sz="2100" spc="-25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protocol </a:t>
            </a:r>
            <a:r>
              <a:rPr sz="2100" spc="-60" dirty="0">
                <a:latin typeface="Trebuchet MS"/>
                <a:cs typeface="Trebuchet MS"/>
              </a:rPr>
              <a:t>from</a:t>
            </a:r>
            <a:r>
              <a:rPr sz="2100" spc="-204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the</a:t>
            </a:r>
            <a:r>
              <a:rPr sz="2100" spc="-18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header.</a:t>
            </a:r>
            <a:endParaRPr sz="2100">
              <a:latin typeface="Trebuchet MS"/>
              <a:cs typeface="Trebuchet MS"/>
            </a:endParaRPr>
          </a:p>
          <a:p>
            <a:pPr marL="241300" indent="-228600" algn="just">
              <a:lnSpc>
                <a:spcPct val="100000"/>
              </a:lnSpc>
              <a:spcBef>
                <a:spcPts val="170"/>
              </a:spcBef>
              <a:buChar char="•"/>
              <a:tabLst>
                <a:tab pos="241300" algn="l"/>
              </a:tabLst>
            </a:pPr>
            <a:r>
              <a:rPr sz="2100" spc="-110" dirty="0">
                <a:latin typeface="Trebuchet MS"/>
                <a:cs typeface="Trebuchet MS"/>
              </a:rPr>
              <a:t>It</a:t>
            </a:r>
            <a:r>
              <a:rPr sz="2100" spc="-15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also</a:t>
            </a:r>
            <a:r>
              <a:rPr sz="2100" spc="-170" dirty="0">
                <a:latin typeface="Trebuchet MS"/>
                <a:cs typeface="Trebuchet MS"/>
              </a:rPr>
              <a:t> </a:t>
            </a:r>
            <a:r>
              <a:rPr sz="2100" spc="-30" dirty="0">
                <a:latin typeface="Trebuchet MS"/>
                <a:cs typeface="Trebuchet MS"/>
              </a:rPr>
              <a:t>provides</a:t>
            </a:r>
            <a:r>
              <a:rPr sz="2100" spc="-180" dirty="0">
                <a:latin typeface="Trebuchet MS"/>
                <a:cs typeface="Trebuchet MS"/>
              </a:rPr>
              <a:t> </a:t>
            </a:r>
            <a:r>
              <a:rPr sz="2100" b="1" i="1" spc="-85" dirty="0">
                <a:latin typeface="Trebuchet MS"/>
                <a:cs typeface="Trebuchet MS"/>
              </a:rPr>
              <a:t>flow</a:t>
            </a:r>
            <a:r>
              <a:rPr sz="2100" b="1" i="1" spc="-150" dirty="0">
                <a:latin typeface="Trebuchet MS"/>
                <a:cs typeface="Trebuchet MS"/>
              </a:rPr>
              <a:t> </a:t>
            </a:r>
            <a:r>
              <a:rPr sz="2100" b="1" i="1" spc="-45" dirty="0">
                <a:latin typeface="Trebuchet MS"/>
                <a:cs typeface="Trebuchet MS"/>
              </a:rPr>
              <a:t>control</a:t>
            </a:r>
            <a:r>
              <a:rPr sz="2100" spc="-45" dirty="0">
                <a:latin typeface="Trebuchet MS"/>
                <a:cs typeface="Trebuchet MS"/>
              </a:rPr>
              <a:t>.</a:t>
            </a:r>
            <a:endParaRPr sz="21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28164" y="4648796"/>
            <a:ext cx="3797935" cy="1228090"/>
            <a:chOff x="1828164" y="4648796"/>
            <a:chExt cx="3797935" cy="12280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34514" y="4655146"/>
              <a:ext cx="3784980" cy="121494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34514" y="4655146"/>
              <a:ext cx="3785235" cy="1215390"/>
            </a:xfrm>
            <a:custGeom>
              <a:avLst/>
              <a:gdLst/>
              <a:ahLst/>
              <a:cxnLst/>
              <a:rect l="l" t="t" r="r" b="b"/>
              <a:pathLst>
                <a:path w="3785235" h="1215389">
                  <a:moveTo>
                    <a:pt x="0" y="1214945"/>
                  </a:moveTo>
                  <a:lnTo>
                    <a:pt x="3784980" y="1214945"/>
                  </a:lnTo>
                  <a:lnTo>
                    <a:pt x="3784980" y="0"/>
                  </a:lnTo>
                  <a:lnTo>
                    <a:pt x="0" y="0"/>
                  </a:lnTo>
                  <a:lnTo>
                    <a:pt x="0" y="1214945"/>
                  </a:lnTo>
                  <a:close/>
                </a:path>
              </a:pathLst>
            </a:custGeom>
            <a:ln w="12700">
              <a:solidFill>
                <a:srgbClr val="9F2B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944116" y="4731511"/>
            <a:ext cx="2381885" cy="96075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>
              <a:lnSpc>
                <a:spcPts val="3520"/>
              </a:lnSpc>
              <a:spcBef>
                <a:spcPts val="484"/>
              </a:spcBef>
            </a:pPr>
            <a:r>
              <a:rPr sz="3200" spc="-50" dirty="0">
                <a:latin typeface="Trebuchet MS"/>
                <a:cs typeface="Trebuchet MS"/>
              </a:rPr>
              <a:t>Logical</a:t>
            </a:r>
            <a:r>
              <a:rPr sz="3200" spc="-254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Link </a:t>
            </a:r>
            <a:r>
              <a:rPr sz="3200" spc="-40" dirty="0">
                <a:latin typeface="Trebuchet MS"/>
                <a:cs typeface="Trebuchet MS"/>
              </a:rPr>
              <a:t>Control</a:t>
            </a:r>
            <a:r>
              <a:rPr sz="3200" spc="-290" dirty="0">
                <a:latin typeface="Trebuchet MS"/>
                <a:cs typeface="Trebuchet MS"/>
              </a:rPr>
              <a:t> </a:t>
            </a:r>
            <a:r>
              <a:rPr sz="3200" spc="-75" dirty="0">
                <a:latin typeface="Trebuchet MS"/>
                <a:cs typeface="Trebuchet MS"/>
              </a:rPr>
              <a:t>Layer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600828" y="4841747"/>
            <a:ext cx="1337945" cy="1337945"/>
            <a:chOff x="4600828" y="4841747"/>
            <a:chExt cx="1337945" cy="1337945"/>
          </a:xfrm>
        </p:grpSpPr>
        <p:sp>
          <p:nvSpPr>
            <p:cNvPr id="10" name="object 10"/>
            <p:cNvSpPr/>
            <p:nvPr/>
          </p:nvSpPr>
          <p:spPr>
            <a:xfrm>
              <a:off x="4607178" y="4848097"/>
              <a:ext cx="1325245" cy="1325245"/>
            </a:xfrm>
            <a:custGeom>
              <a:avLst/>
              <a:gdLst/>
              <a:ahLst/>
              <a:cxnLst/>
              <a:rect l="l" t="t" r="r" b="b"/>
              <a:pathLst>
                <a:path w="1325245" h="1325245">
                  <a:moveTo>
                    <a:pt x="662305" y="0"/>
                  </a:moveTo>
                  <a:lnTo>
                    <a:pt x="615008" y="1663"/>
                  </a:lnTo>
                  <a:lnTo>
                    <a:pt x="568608" y="6577"/>
                  </a:lnTo>
                  <a:lnTo>
                    <a:pt x="523218" y="14631"/>
                  </a:lnTo>
                  <a:lnTo>
                    <a:pt x="478949" y="25712"/>
                  </a:lnTo>
                  <a:lnTo>
                    <a:pt x="435914" y="39709"/>
                  </a:lnTo>
                  <a:lnTo>
                    <a:pt x="394224" y="56508"/>
                  </a:lnTo>
                  <a:lnTo>
                    <a:pt x="353992" y="75999"/>
                  </a:lnTo>
                  <a:lnTo>
                    <a:pt x="315330" y="98069"/>
                  </a:lnTo>
                  <a:lnTo>
                    <a:pt x="278349" y="122606"/>
                  </a:lnTo>
                  <a:lnTo>
                    <a:pt x="243163" y="149499"/>
                  </a:lnTo>
                  <a:lnTo>
                    <a:pt x="209882" y="178634"/>
                  </a:lnTo>
                  <a:lnTo>
                    <a:pt x="178620" y="209900"/>
                  </a:lnTo>
                  <a:lnTo>
                    <a:pt x="149488" y="243186"/>
                  </a:lnTo>
                  <a:lnTo>
                    <a:pt x="122599" y="278378"/>
                  </a:lnTo>
                  <a:lnTo>
                    <a:pt x="98064" y="315365"/>
                  </a:lnTo>
                  <a:lnTo>
                    <a:pt x="75996" y="354035"/>
                  </a:lnTo>
                  <a:lnTo>
                    <a:pt x="56506" y="394275"/>
                  </a:lnTo>
                  <a:lnTo>
                    <a:pt x="39707" y="435975"/>
                  </a:lnTo>
                  <a:lnTo>
                    <a:pt x="25711" y="479021"/>
                  </a:lnTo>
                  <a:lnTo>
                    <a:pt x="14631" y="523302"/>
                  </a:lnTo>
                  <a:lnTo>
                    <a:pt x="6577" y="568705"/>
                  </a:lnTo>
                  <a:lnTo>
                    <a:pt x="1663" y="615119"/>
                  </a:lnTo>
                  <a:lnTo>
                    <a:pt x="0" y="662432"/>
                  </a:lnTo>
                  <a:lnTo>
                    <a:pt x="1663" y="709733"/>
                  </a:lnTo>
                  <a:lnTo>
                    <a:pt x="6577" y="756137"/>
                  </a:lnTo>
                  <a:lnTo>
                    <a:pt x="14631" y="801531"/>
                  </a:lnTo>
                  <a:lnTo>
                    <a:pt x="25711" y="845804"/>
                  </a:lnTo>
                  <a:lnTo>
                    <a:pt x="39707" y="888843"/>
                  </a:lnTo>
                  <a:lnTo>
                    <a:pt x="56506" y="930537"/>
                  </a:lnTo>
                  <a:lnTo>
                    <a:pt x="75996" y="970772"/>
                  </a:lnTo>
                  <a:lnTo>
                    <a:pt x="98064" y="1009437"/>
                  </a:lnTo>
                  <a:lnTo>
                    <a:pt x="122599" y="1046421"/>
                  </a:lnTo>
                  <a:lnTo>
                    <a:pt x="149488" y="1081610"/>
                  </a:lnTo>
                  <a:lnTo>
                    <a:pt x="178620" y="1114892"/>
                  </a:lnTo>
                  <a:lnTo>
                    <a:pt x="209882" y="1146157"/>
                  </a:lnTo>
                  <a:lnTo>
                    <a:pt x="243163" y="1175290"/>
                  </a:lnTo>
                  <a:lnTo>
                    <a:pt x="278349" y="1202181"/>
                  </a:lnTo>
                  <a:lnTo>
                    <a:pt x="315330" y="1226718"/>
                  </a:lnTo>
                  <a:lnTo>
                    <a:pt x="353992" y="1248787"/>
                  </a:lnTo>
                  <a:lnTo>
                    <a:pt x="394224" y="1268278"/>
                  </a:lnTo>
                  <a:lnTo>
                    <a:pt x="435914" y="1285078"/>
                  </a:lnTo>
                  <a:lnTo>
                    <a:pt x="478949" y="1299074"/>
                  </a:lnTo>
                  <a:lnTo>
                    <a:pt x="523218" y="1310156"/>
                  </a:lnTo>
                  <a:lnTo>
                    <a:pt x="568608" y="1318210"/>
                  </a:lnTo>
                  <a:lnTo>
                    <a:pt x="615008" y="1323124"/>
                  </a:lnTo>
                  <a:lnTo>
                    <a:pt x="662305" y="1324787"/>
                  </a:lnTo>
                  <a:lnTo>
                    <a:pt x="709617" y="1323124"/>
                  </a:lnTo>
                  <a:lnTo>
                    <a:pt x="756031" y="1318210"/>
                  </a:lnTo>
                  <a:lnTo>
                    <a:pt x="801434" y="1310156"/>
                  </a:lnTo>
                  <a:lnTo>
                    <a:pt x="845715" y="1299074"/>
                  </a:lnTo>
                  <a:lnTo>
                    <a:pt x="888761" y="1285078"/>
                  </a:lnTo>
                  <a:lnTo>
                    <a:pt x="930461" y="1268278"/>
                  </a:lnTo>
                  <a:lnTo>
                    <a:pt x="970701" y="1248787"/>
                  </a:lnTo>
                  <a:lnTo>
                    <a:pt x="1009371" y="1226718"/>
                  </a:lnTo>
                  <a:lnTo>
                    <a:pt x="1046358" y="1202181"/>
                  </a:lnTo>
                  <a:lnTo>
                    <a:pt x="1081550" y="1175290"/>
                  </a:lnTo>
                  <a:lnTo>
                    <a:pt x="1114836" y="1146157"/>
                  </a:lnTo>
                  <a:lnTo>
                    <a:pt x="1146102" y="1114892"/>
                  </a:lnTo>
                  <a:lnTo>
                    <a:pt x="1175237" y="1081610"/>
                  </a:lnTo>
                  <a:lnTo>
                    <a:pt x="1202130" y="1046421"/>
                  </a:lnTo>
                  <a:lnTo>
                    <a:pt x="1226667" y="1009437"/>
                  </a:lnTo>
                  <a:lnTo>
                    <a:pt x="1248737" y="970772"/>
                  </a:lnTo>
                  <a:lnTo>
                    <a:pt x="1268228" y="930537"/>
                  </a:lnTo>
                  <a:lnTo>
                    <a:pt x="1285027" y="888843"/>
                  </a:lnTo>
                  <a:lnTo>
                    <a:pt x="1299024" y="845804"/>
                  </a:lnTo>
                  <a:lnTo>
                    <a:pt x="1310105" y="801531"/>
                  </a:lnTo>
                  <a:lnTo>
                    <a:pt x="1318159" y="756137"/>
                  </a:lnTo>
                  <a:lnTo>
                    <a:pt x="1323073" y="709733"/>
                  </a:lnTo>
                  <a:lnTo>
                    <a:pt x="1324737" y="662432"/>
                  </a:lnTo>
                  <a:lnTo>
                    <a:pt x="1323073" y="615119"/>
                  </a:lnTo>
                  <a:lnTo>
                    <a:pt x="1318159" y="568705"/>
                  </a:lnTo>
                  <a:lnTo>
                    <a:pt x="1310105" y="523302"/>
                  </a:lnTo>
                  <a:lnTo>
                    <a:pt x="1299024" y="479021"/>
                  </a:lnTo>
                  <a:lnTo>
                    <a:pt x="1285027" y="435975"/>
                  </a:lnTo>
                  <a:lnTo>
                    <a:pt x="1268228" y="394275"/>
                  </a:lnTo>
                  <a:lnTo>
                    <a:pt x="1248737" y="354035"/>
                  </a:lnTo>
                  <a:lnTo>
                    <a:pt x="1226667" y="315365"/>
                  </a:lnTo>
                  <a:lnTo>
                    <a:pt x="1202130" y="278378"/>
                  </a:lnTo>
                  <a:lnTo>
                    <a:pt x="1175237" y="243186"/>
                  </a:lnTo>
                  <a:lnTo>
                    <a:pt x="1146102" y="209900"/>
                  </a:lnTo>
                  <a:lnTo>
                    <a:pt x="1114836" y="178634"/>
                  </a:lnTo>
                  <a:lnTo>
                    <a:pt x="1081550" y="149499"/>
                  </a:lnTo>
                  <a:lnTo>
                    <a:pt x="1046358" y="122606"/>
                  </a:lnTo>
                  <a:lnTo>
                    <a:pt x="1009371" y="98069"/>
                  </a:lnTo>
                  <a:lnTo>
                    <a:pt x="970701" y="75999"/>
                  </a:lnTo>
                  <a:lnTo>
                    <a:pt x="930461" y="56508"/>
                  </a:lnTo>
                  <a:lnTo>
                    <a:pt x="888761" y="39709"/>
                  </a:lnTo>
                  <a:lnTo>
                    <a:pt x="845715" y="25712"/>
                  </a:lnTo>
                  <a:lnTo>
                    <a:pt x="801434" y="14631"/>
                  </a:lnTo>
                  <a:lnTo>
                    <a:pt x="756031" y="6577"/>
                  </a:lnTo>
                  <a:lnTo>
                    <a:pt x="709617" y="1663"/>
                  </a:lnTo>
                  <a:lnTo>
                    <a:pt x="662305" y="0"/>
                  </a:lnTo>
                  <a:close/>
                </a:path>
              </a:pathLst>
            </a:custGeom>
            <a:solidFill>
              <a:srgbClr val="DFCDD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07178" y="4848097"/>
              <a:ext cx="1325245" cy="1325245"/>
            </a:xfrm>
            <a:custGeom>
              <a:avLst/>
              <a:gdLst/>
              <a:ahLst/>
              <a:cxnLst/>
              <a:rect l="l" t="t" r="r" b="b"/>
              <a:pathLst>
                <a:path w="1325245" h="1325245">
                  <a:moveTo>
                    <a:pt x="0" y="662432"/>
                  </a:moveTo>
                  <a:lnTo>
                    <a:pt x="1663" y="615119"/>
                  </a:lnTo>
                  <a:lnTo>
                    <a:pt x="6577" y="568705"/>
                  </a:lnTo>
                  <a:lnTo>
                    <a:pt x="14631" y="523302"/>
                  </a:lnTo>
                  <a:lnTo>
                    <a:pt x="25711" y="479021"/>
                  </a:lnTo>
                  <a:lnTo>
                    <a:pt x="39707" y="435975"/>
                  </a:lnTo>
                  <a:lnTo>
                    <a:pt x="56506" y="394275"/>
                  </a:lnTo>
                  <a:lnTo>
                    <a:pt x="75996" y="354035"/>
                  </a:lnTo>
                  <a:lnTo>
                    <a:pt x="98064" y="315365"/>
                  </a:lnTo>
                  <a:lnTo>
                    <a:pt x="122599" y="278378"/>
                  </a:lnTo>
                  <a:lnTo>
                    <a:pt x="149488" y="243186"/>
                  </a:lnTo>
                  <a:lnTo>
                    <a:pt x="178620" y="209900"/>
                  </a:lnTo>
                  <a:lnTo>
                    <a:pt x="209882" y="178634"/>
                  </a:lnTo>
                  <a:lnTo>
                    <a:pt x="243163" y="149499"/>
                  </a:lnTo>
                  <a:lnTo>
                    <a:pt x="278349" y="122606"/>
                  </a:lnTo>
                  <a:lnTo>
                    <a:pt x="315330" y="98069"/>
                  </a:lnTo>
                  <a:lnTo>
                    <a:pt x="353992" y="75999"/>
                  </a:lnTo>
                  <a:lnTo>
                    <a:pt x="394224" y="56508"/>
                  </a:lnTo>
                  <a:lnTo>
                    <a:pt x="435914" y="39709"/>
                  </a:lnTo>
                  <a:lnTo>
                    <a:pt x="478949" y="25712"/>
                  </a:lnTo>
                  <a:lnTo>
                    <a:pt x="523218" y="14631"/>
                  </a:lnTo>
                  <a:lnTo>
                    <a:pt x="568608" y="6577"/>
                  </a:lnTo>
                  <a:lnTo>
                    <a:pt x="615008" y="1663"/>
                  </a:lnTo>
                  <a:lnTo>
                    <a:pt x="662305" y="0"/>
                  </a:lnTo>
                  <a:lnTo>
                    <a:pt x="709617" y="1663"/>
                  </a:lnTo>
                  <a:lnTo>
                    <a:pt x="756031" y="6577"/>
                  </a:lnTo>
                  <a:lnTo>
                    <a:pt x="801434" y="14631"/>
                  </a:lnTo>
                  <a:lnTo>
                    <a:pt x="845715" y="25712"/>
                  </a:lnTo>
                  <a:lnTo>
                    <a:pt x="888761" y="39709"/>
                  </a:lnTo>
                  <a:lnTo>
                    <a:pt x="930461" y="56508"/>
                  </a:lnTo>
                  <a:lnTo>
                    <a:pt x="970701" y="75999"/>
                  </a:lnTo>
                  <a:lnTo>
                    <a:pt x="1009371" y="98069"/>
                  </a:lnTo>
                  <a:lnTo>
                    <a:pt x="1046358" y="122606"/>
                  </a:lnTo>
                  <a:lnTo>
                    <a:pt x="1081550" y="149499"/>
                  </a:lnTo>
                  <a:lnTo>
                    <a:pt x="1114836" y="178634"/>
                  </a:lnTo>
                  <a:lnTo>
                    <a:pt x="1146102" y="209900"/>
                  </a:lnTo>
                  <a:lnTo>
                    <a:pt x="1175237" y="243186"/>
                  </a:lnTo>
                  <a:lnTo>
                    <a:pt x="1202130" y="278378"/>
                  </a:lnTo>
                  <a:lnTo>
                    <a:pt x="1226667" y="315365"/>
                  </a:lnTo>
                  <a:lnTo>
                    <a:pt x="1248737" y="354035"/>
                  </a:lnTo>
                  <a:lnTo>
                    <a:pt x="1268228" y="394275"/>
                  </a:lnTo>
                  <a:lnTo>
                    <a:pt x="1285027" y="435975"/>
                  </a:lnTo>
                  <a:lnTo>
                    <a:pt x="1299024" y="479021"/>
                  </a:lnTo>
                  <a:lnTo>
                    <a:pt x="1310105" y="523302"/>
                  </a:lnTo>
                  <a:lnTo>
                    <a:pt x="1318159" y="568705"/>
                  </a:lnTo>
                  <a:lnTo>
                    <a:pt x="1323073" y="615119"/>
                  </a:lnTo>
                  <a:lnTo>
                    <a:pt x="1324737" y="662432"/>
                  </a:lnTo>
                  <a:lnTo>
                    <a:pt x="1323073" y="709733"/>
                  </a:lnTo>
                  <a:lnTo>
                    <a:pt x="1318159" y="756137"/>
                  </a:lnTo>
                  <a:lnTo>
                    <a:pt x="1310105" y="801531"/>
                  </a:lnTo>
                  <a:lnTo>
                    <a:pt x="1299024" y="845804"/>
                  </a:lnTo>
                  <a:lnTo>
                    <a:pt x="1285027" y="888843"/>
                  </a:lnTo>
                  <a:lnTo>
                    <a:pt x="1268228" y="930537"/>
                  </a:lnTo>
                  <a:lnTo>
                    <a:pt x="1248737" y="970772"/>
                  </a:lnTo>
                  <a:lnTo>
                    <a:pt x="1226667" y="1009437"/>
                  </a:lnTo>
                  <a:lnTo>
                    <a:pt x="1202130" y="1046421"/>
                  </a:lnTo>
                  <a:lnTo>
                    <a:pt x="1175237" y="1081610"/>
                  </a:lnTo>
                  <a:lnTo>
                    <a:pt x="1146102" y="1114892"/>
                  </a:lnTo>
                  <a:lnTo>
                    <a:pt x="1114836" y="1146157"/>
                  </a:lnTo>
                  <a:lnTo>
                    <a:pt x="1081550" y="1175290"/>
                  </a:lnTo>
                  <a:lnTo>
                    <a:pt x="1046358" y="1202181"/>
                  </a:lnTo>
                  <a:lnTo>
                    <a:pt x="1009371" y="1226718"/>
                  </a:lnTo>
                  <a:lnTo>
                    <a:pt x="970701" y="1248787"/>
                  </a:lnTo>
                  <a:lnTo>
                    <a:pt x="930461" y="1268278"/>
                  </a:lnTo>
                  <a:lnTo>
                    <a:pt x="888761" y="1285078"/>
                  </a:lnTo>
                  <a:lnTo>
                    <a:pt x="845715" y="1299074"/>
                  </a:lnTo>
                  <a:lnTo>
                    <a:pt x="801434" y="1310156"/>
                  </a:lnTo>
                  <a:lnTo>
                    <a:pt x="756031" y="1318210"/>
                  </a:lnTo>
                  <a:lnTo>
                    <a:pt x="709617" y="1323124"/>
                  </a:lnTo>
                  <a:lnTo>
                    <a:pt x="662305" y="1324787"/>
                  </a:lnTo>
                  <a:lnTo>
                    <a:pt x="615008" y="1323124"/>
                  </a:lnTo>
                  <a:lnTo>
                    <a:pt x="568608" y="1318210"/>
                  </a:lnTo>
                  <a:lnTo>
                    <a:pt x="523218" y="1310156"/>
                  </a:lnTo>
                  <a:lnTo>
                    <a:pt x="478949" y="1299074"/>
                  </a:lnTo>
                  <a:lnTo>
                    <a:pt x="435914" y="1285078"/>
                  </a:lnTo>
                  <a:lnTo>
                    <a:pt x="394224" y="1268278"/>
                  </a:lnTo>
                  <a:lnTo>
                    <a:pt x="353992" y="1248787"/>
                  </a:lnTo>
                  <a:lnTo>
                    <a:pt x="315330" y="1226718"/>
                  </a:lnTo>
                  <a:lnTo>
                    <a:pt x="278349" y="1202181"/>
                  </a:lnTo>
                  <a:lnTo>
                    <a:pt x="243163" y="1175290"/>
                  </a:lnTo>
                  <a:lnTo>
                    <a:pt x="209882" y="1146157"/>
                  </a:lnTo>
                  <a:lnTo>
                    <a:pt x="178620" y="1114892"/>
                  </a:lnTo>
                  <a:lnTo>
                    <a:pt x="149488" y="1081610"/>
                  </a:lnTo>
                  <a:lnTo>
                    <a:pt x="122599" y="1046421"/>
                  </a:lnTo>
                  <a:lnTo>
                    <a:pt x="98064" y="1009437"/>
                  </a:lnTo>
                  <a:lnTo>
                    <a:pt x="75996" y="970772"/>
                  </a:lnTo>
                  <a:lnTo>
                    <a:pt x="56506" y="930537"/>
                  </a:lnTo>
                  <a:lnTo>
                    <a:pt x="39707" y="888843"/>
                  </a:lnTo>
                  <a:lnTo>
                    <a:pt x="25711" y="845804"/>
                  </a:lnTo>
                  <a:lnTo>
                    <a:pt x="14631" y="801531"/>
                  </a:lnTo>
                  <a:lnTo>
                    <a:pt x="6577" y="756137"/>
                  </a:lnTo>
                  <a:lnTo>
                    <a:pt x="1663" y="709733"/>
                  </a:lnTo>
                  <a:lnTo>
                    <a:pt x="0" y="662432"/>
                  </a:lnTo>
                  <a:close/>
                </a:path>
              </a:pathLst>
            </a:custGeom>
            <a:ln w="12700">
              <a:solidFill>
                <a:srgbClr val="DFCD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6260084" y="1829689"/>
            <a:ext cx="3785235" cy="2825750"/>
          </a:xfrm>
          <a:custGeom>
            <a:avLst/>
            <a:gdLst/>
            <a:ahLst/>
            <a:cxnLst/>
            <a:rect l="l" t="t" r="r" b="b"/>
            <a:pathLst>
              <a:path w="3785234" h="2825750">
                <a:moveTo>
                  <a:pt x="226060" y="0"/>
                </a:moveTo>
                <a:lnTo>
                  <a:pt x="3559047" y="0"/>
                </a:lnTo>
                <a:lnTo>
                  <a:pt x="3604604" y="4593"/>
                </a:lnTo>
                <a:lnTo>
                  <a:pt x="3647037" y="17766"/>
                </a:lnTo>
                <a:lnTo>
                  <a:pt x="3685436" y="38609"/>
                </a:lnTo>
                <a:lnTo>
                  <a:pt x="3718893" y="66214"/>
                </a:lnTo>
                <a:lnTo>
                  <a:pt x="3746498" y="99671"/>
                </a:lnTo>
                <a:lnTo>
                  <a:pt x="3767341" y="138070"/>
                </a:lnTo>
                <a:lnTo>
                  <a:pt x="3780514" y="180503"/>
                </a:lnTo>
                <a:lnTo>
                  <a:pt x="3785108" y="226060"/>
                </a:lnTo>
                <a:lnTo>
                  <a:pt x="3785108" y="2825496"/>
                </a:lnTo>
                <a:lnTo>
                  <a:pt x="0" y="2825496"/>
                </a:lnTo>
                <a:lnTo>
                  <a:pt x="0" y="226060"/>
                </a:lnTo>
                <a:lnTo>
                  <a:pt x="4593" y="180503"/>
                </a:lnTo>
                <a:lnTo>
                  <a:pt x="17766" y="138070"/>
                </a:lnTo>
                <a:lnTo>
                  <a:pt x="38609" y="99671"/>
                </a:lnTo>
                <a:lnTo>
                  <a:pt x="66214" y="66214"/>
                </a:lnTo>
                <a:lnTo>
                  <a:pt x="99671" y="38609"/>
                </a:lnTo>
                <a:lnTo>
                  <a:pt x="138070" y="17766"/>
                </a:lnTo>
                <a:lnTo>
                  <a:pt x="180503" y="4593"/>
                </a:lnTo>
                <a:lnTo>
                  <a:pt x="226060" y="0"/>
                </a:lnTo>
                <a:close/>
              </a:path>
            </a:pathLst>
          </a:custGeom>
          <a:ln w="12699">
            <a:solidFill>
              <a:srgbClr val="4EA72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341109" y="1916429"/>
            <a:ext cx="3566160" cy="186055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40665" marR="36195" indent="-228600">
              <a:lnSpc>
                <a:spcPct val="91600"/>
              </a:lnSpc>
              <a:spcBef>
                <a:spcPts val="310"/>
              </a:spcBef>
              <a:buChar char="•"/>
              <a:tabLst>
                <a:tab pos="240665" algn="l"/>
              </a:tabLst>
            </a:pPr>
            <a:r>
              <a:rPr sz="2100" dirty="0">
                <a:latin typeface="Trebuchet MS"/>
                <a:cs typeface="Trebuchet MS"/>
              </a:rPr>
              <a:t>A</a:t>
            </a:r>
            <a:r>
              <a:rPr sz="2100" spc="-19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Media</a:t>
            </a:r>
            <a:r>
              <a:rPr sz="2100" spc="-195" dirty="0">
                <a:latin typeface="Trebuchet MS"/>
                <a:cs typeface="Trebuchet MS"/>
              </a:rPr>
              <a:t> </a:t>
            </a:r>
            <a:r>
              <a:rPr sz="2100" spc="70" dirty="0">
                <a:latin typeface="Trebuchet MS"/>
                <a:cs typeface="Trebuchet MS"/>
              </a:rPr>
              <a:t>access</a:t>
            </a:r>
            <a:r>
              <a:rPr sz="2100" spc="-185" dirty="0">
                <a:latin typeface="Trebuchet MS"/>
                <a:cs typeface="Trebuchet MS"/>
              </a:rPr>
              <a:t> </a:t>
            </a:r>
            <a:r>
              <a:rPr sz="2100" spc="-45" dirty="0">
                <a:latin typeface="Trebuchet MS"/>
                <a:cs typeface="Trebuchet MS"/>
              </a:rPr>
              <a:t>control</a:t>
            </a:r>
            <a:r>
              <a:rPr sz="2100" spc="-210" dirty="0">
                <a:latin typeface="Trebuchet MS"/>
                <a:cs typeface="Trebuchet MS"/>
              </a:rPr>
              <a:t> </a:t>
            </a:r>
            <a:r>
              <a:rPr sz="2100" spc="-55" dirty="0">
                <a:latin typeface="Trebuchet MS"/>
                <a:cs typeface="Trebuchet MS"/>
              </a:rPr>
              <a:t>layer </a:t>
            </a:r>
            <a:r>
              <a:rPr sz="2100" dirty="0">
                <a:latin typeface="Trebuchet MS"/>
                <a:cs typeface="Trebuchet MS"/>
              </a:rPr>
              <a:t>is</a:t>
            </a:r>
            <a:r>
              <a:rPr sz="2100" spc="-17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</a:t>
            </a:r>
            <a:r>
              <a:rPr sz="2100" spc="-170" dirty="0">
                <a:latin typeface="Trebuchet MS"/>
                <a:cs typeface="Trebuchet MS"/>
              </a:rPr>
              <a:t> </a:t>
            </a:r>
            <a:r>
              <a:rPr sz="2100" b="1" i="1" spc="-55" dirty="0">
                <a:latin typeface="Trebuchet MS"/>
                <a:cs typeface="Trebuchet MS"/>
              </a:rPr>
              <a:t>link</a:t>
            </a:r>
            <a:r>
              <a:rPr sz="2100" b="1" i="1" spc="-180" dirty="0">
                <a:latin typeface="Trebuchet MS"/>
                <a:cs typeface="Trebuchet MS"/>
              </a:rPr>
              <a:t> </a:t>
            </a:r>
            <a:r>
              <a:rPr sz="2100" spc="-70" dirty="0">
                <a:latin typeface="Trebuchet MS"/>
                <a:cs typeface="Trebuchet MS"/>
              </a:rPr>
              <a:t>between</a:t>
            </a:r>
            <a:r>
              <a:rPr sz="2100" spc="-165" dirty="0">
                <a:latin typeface="Trebuchet MS"/>
                <a:cs typeface="Trebuchet MS"/>
              </a:rPr>
              <a:t> </a:t>
            </a:r>
            <a:r>
              <a:rPr sz="2100" spc="-80" dirty="0">
                <a:latin typeface="Trebuchet MS"/>
                <a:cs typeface="Trebuchet MS"/>
              </a:rPr>
              <a:t>the</a:t>
            </a:r>
            <a:r>
              <a:rPr sz="2100" spc="-17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Logical </a:t>
            </a:r>
            <a:r>
              <a:rPr sz="2100" spc="-50" dirty="0">
                <a:latin typeface="Trebuchet MS"/>
                <a:cs typeface="Trebuchet MS"/>
              </a:rPr>
              <a:t>Link</a:t>
            </a:r>
            <a:r>
              <a:rPr sz="2100" spc="-185" dirty="0">
                <a:latin typeface="Trebuchet MS"/>
                <a:cs typeface="Trebuchet MS"/>
              </a:rPr>
              <a:t> </a:t>
            </a:r>
            <a:r>
              <a:rPr sz="2100" spc="-30" dirty="0">
                <a:latin typeface="Trebuchet MS"/>
                <a:cs typeface="Trebuchet MS"/>
              </a:rPr>
              <a:t>Control</a:t>
            </a:r>
            <a:r>
              <a:rPr sz="2100" spc="-190" dirty="0">
                <a:latin typeface="Trebuchet MS"/>
                <a:cs typeface="Trebuchet MS"/>
              </a:rPr>
              <a:t> </a:t>
            </a:r>
            <a:r>
              <a:rPr sz="2100" spc="-80" dirty="0">
                <a:latin typeface="Trebuchet MS"/>
                <a:cs typeface="Trebuchet MS"/>
              </a:rPr>
              <a:t>layer</a:t>
            </a:r>
            <a:r>
              <a:rPr sz="2100" spc="-17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and</a:t>
            </a:r>
            <a:r>
              <a:rPr sz="2100" spc="-175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the </a:t>
            </a:r>
            <a:r>
              <a:rPr sz="2100" spc="-30" dirty="0">
                <a:latin typeface="Trebuchet MS"/>
                <a:cs typeface="Trebuchet MS"/>
              </a:rPr>
              <a:t>network's</a:t>
            </a:r>
            <a:r>
              <a:rPr sz="2100" spc="-145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physical</a:t>
            </a:r>
            <a:r>
              <a:rPr sz="2100" spc="-13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layer.</a:t>
            </a:r>
            <a:endParaRPr sz="2100">
              <a:latin typeface="Trebuchet MS"/>
              <a:cs typeface="Trebuchet MS"/>
            </a:endParaRPr>
          </a:p>
          <a:p>
            <a:pPr marL="240665" marR="5080" indent="-228600">
              <a:lnSpc>
                <a:spcPts val="2320"/>
              </a:lnSpc>
              <a:spcBef>
                <a:spcPts val="409"/>
              </a:spcBef>
              <a:buChar char="•"/>
              <a:tabLst>
                <a:tab pos="240665" algn="l"/>
              </a:tabLst>
            </a:pPr>
            <a:r>
              <a:rPr sz="2100" spc="-114" dirty="0">
                <a:latin typeface="Trebuchet MS"/>
                <a:cs typeface="Trebuchet MS"/>
              </a:rPr>
              <a:t>It</a:t>
            </a:r>
            <a:r>
              <a:rPr sz="2100" spc="-14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is</a:t>
            </a:r>
            <a:r>
              <a:rPr sz="2100" spc="-14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used</a:t>
            </a:r>
            <a:r>
              <a:rPr sz="2100" spc="-150" dirty="0">
                <a:latin typeface="Trebuchet MS"/>
                <a:cs typeface="Trebuchet MS"/>
              </a:rPr>
              <a:t> </a:t>
            </a:r>
            <a:r>
              <a:rPr sz="2100" spc="-90" dirty="0">
                <a:latin typeface="Trebuchet MS"/>
                <a:cs typeface="Trebuchet MS"/>
              </a:rPr>
              <a:t>for</a:t>
            </a:r>
            <a:r>
              <a:rPr sz="2100" spc="-145" dirty="0">
                <a:latin typeface="Trebuchet MS"/>
                <a:cs typeface="Trebuchet MS"/>
              </a:rPr>
              <a:t> </a:t>
            </a:r>
            <a:r>
              <a:rPr sz="2100" b="1" i="1" spc="-100" dirty="0">
                <a:latin typeface="Trebuchet MS"/>
                <a:cs typeface="Trebuchet MS"/>
              </a:rPr>
              <a:t>transferring</a:t>
            </a:r>
            <a:r>
              <a:rPr sz="2100" b="1" i="1" spc="-135" dirty="0">
                <a:latin typeface="Trebuchet MS"/>
                <a:cs typeface="Trebuchet MS"/>
              </a:rPr>
              <a:t> </a:t>
            </a:r>
            <a:r>
              <a:rPr sz="2100" b="1" i="1" spc="-25" dirty="0">
                <a:latin typeface="Trebuchet MS"/>
                <a:cs typeface="Trebuchet MS"/>
              </a:rPr>
              <a:t>the </a:t>
            </a:r>
            <a:r>
              <a:rPr sz="2100" b="1" i="1" spc="-35" dirty="0">
                <a:latin typeface="Trebuchet MS"/>
                <a:cs typeface="Trebuchet MS"/>
              </a:rPr>
              <a:t>packets</a:t>
            </a:r>
            <a:r>
              <a:rPr sz="2100" b="1" i="1" spc="-160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over</a:t>
            </a:r>
            <a:r>
              <a:rPr sz="2100" spc="-180" dirty="0">
                <a:latin typeface="Trebuchet MS"/>
                <a:cs typeface="Trebuchet MS"/>
              </a:rPr>
              <a:t> </a:t>
            </a:r>
            <a:r>
              <a:rPr sz="2100" spc="-80" dirty="0">
                <a:latin typeface="Trebuchet MS"/>
                <a:cs typeface="Trebuchet MS"/>
              </a:rPr>
              <a:t>the</a:t>
            </a:r>
            <a:r>
              <a:rPr sz="2100" spc="-18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network.</a:t>
            </a:r>
            <a:endParaRPr sz="21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253734" y="4648796"/>
            <a:ext cx="3797935" cy="1228090"/>
            <a:chOff x="6253734" y="4648796"/>
            <a:chExt cx="3797935" cy="122809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60084" y="4655146"/>
              <a:ext cx="3784981" cy="121494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260084" y="4655146"/>
              <a:ext cx="3785235" cy="1215390"/>
            </a:xfrm>
            <a:custGeom>
              <a:avLst/>
              <a:gdLst/>
              <a:ahLst/>
              <a:cxnLst/>
              <a:rect l="l" t="t" r="r" b="b"/>
              <a:pathLst>
                <a:path w="3785234" h="1215389">
                  <a:moveTo>
                    <a:pt x="0" y="1214945"/>
                  </a:moveTo>
                  <a:lnTo>
                    <a:pt x="3784981" y="1214945"/>
                  </a:lnTo>
                  <a:lnTo>
                    <a:pt x="3784981" y="0"/>
                  </a:lnTo>
                  <a:lnTo>
                    <a:pt x="0" y="0"/>
                  </a:lnTo>
                  <a:lnTo>
                    <a:pt x="0" y="1214945"/>
                  </a:lnTo>
                  <a:close/>
                </a:path>
              </a:pathLst>
            </a:custGeom>
            <a:ln w="12700">
              <a:solidFill>
                <a:srgbClr val="4EA7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370065" y="4731511"/>
            <a:ext cx="2459990" cy="96075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>
              <a:lnSpc>
                <a:spcPts val="3520"/>
              </a:lnSpc>
              <a:spcBef>
                <a:spcPts val="484"/>
              </a:spcBef>
            </a:pPr>
            <a:r>
              <a:rPr sz="3200" spc="-10" dirty="0">
                <a:latin typeface="Trebuchet MS"/>
                <a:cs typeface="Trebuchet MS"/>
              </a:rPr>
              <a:t>Media</a:t>
            </a:r>
            <a:r>
              <a:rPr sz="3200" spc="-305" dirty="0">
                <a:latin typeface="Trebuchet MS"/>
                <a:cs typeface="Trebuchet MS"/>
              </a:rPr>
              <a:t> </a:t>
            </a:r>
            <a:r>
              <a:rPr sz="3200" spc="80" dirty="0">
                <a:latin typeface="Trebuchet MS"/>
                <a:cs typeface="Trebuchet MS"/>
              </a:rPr>
              <a:t>Access </a:t>
            </a:r>
            <a:r>
              <a:rPr sz="3200" spc="-40" dirty="0">
                <a:latin typeface="Trebuchet MS"/>
                <a:cs typeface="Trebuchet MS"/>
              </a:rPr>
              <a:t>Control</a:t>
            </a:r>
            <a:r>
              <a:rPr sz="3200" spc="-29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Layer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026397" y="4841747"/>
            <a:ext cx="1337945" cy="1337945"/>
            <a:chOff x="9026397" y="4841747"/>
            <a:chExt cx="1337945" cy="1337945"/>
          </a:xfrm>
        </p:grpSpPr>
        <p:sp>
          <p:nvSpPr>
            <p:cNvPr id="19" name="object 19"/>
            <p:cNvSpPr/>
            <p:nvPr/>
          </p:nvSpPr>
          <p:spPr>
            <a:xfrm>
              <a:off x="9032747" y="4848097"/>
              <a:ext cx="1325245" cy="1325245"/>
            </a:xfrm>
            <a:custGeom>
              <a:avLst/>
              <a:gdLst/>
              <a:ahLst/>
              <a:cxnLst/>
              <a:rect l="l" t="t" r="r" b="b"/>
              <a:pathLst>
                <a:path w="1325245" h="1325245">
                  <a:moveTo>
                    <a:pt x="662304" y="0"/>
                  </a:moveTo>
                  <a:lnTo>
                    <a:pt x="615008" y="1663"/>
                  </a:lnTo>
                  <a:lnTo>
                    <a:pt x="568608" y="6577"/>
                  </a:lnTo>
                  <a:lnTo>
                    <a:pt x="523218" y="14631"/>
                  </a:lnTo>
                  <a:lnTo>
                    <a:pt x="478949" y="25712"/>
                  </a:lnTo>
                  <a:lnTo>
                    <a:pt x="435914" y="39709"/>
                  </a:lnTo>
                  <a:lnTo>
                    <a:pt x="394224" y="56508"/>
                  </a:lnTo>
                  <a:lnTo>
                    <a:pt x="353992" y="75999"/>
                  </a:lnTo>
                  <a:lnTo>
                    <a:pt x="315330" y="98069"/>
                  </a:lnTo>
                  <a:lnTo>
                    <a:pt x="278349" y="122606"/>
                  </a:lnTo>
                  <a:lnTo>
                    <a:pt x="243163" y="149499"/>
                  </a:lnTo>
                  <a:lnTo>
                    <a:pt x="209882" y="178634"/>
                  </a:lnTo>
                  <a:lnTo>
                    <a:pt x="178620" y="209900"/>
                  </a:lnTo>
                  <a:lnTo>
                    <a:pt x="149488" y="243186"/>
                  </a:lnTo>
                  <a:lnTo>
                    <a:pt x="122599" y="278378"/>
                  </a:lnTo>
                  <a:lnTo>
                    <a:pt x="98064" y="315365"/>
                  </a:lnTo>
                  <a:lnTo>
                    <a:pt x="75996" y="354035"/>
                  </a:lnTo>
                  <a:lnTo>
                    <a:pt x="56506" y="394275"/>
                  </a:lnTo>
                  <a:lnTo>
                    <a:pt x="39707" y="435975"/>
                  </a:lnTo>
                  <a:lnTo>
                    <a:pt x="25711" y="479021"/>
                  </a:lnTo>
                  <a:lnTo>
                    <a:pt x="14631" y="523302"/>
                  </a:lnTo>
                  <a:lnTo>
                    <a:pt x="6577" y="568705"/>
                  </a:lnTo>
                  <a:lnTo>
                    <a:pt x="1663" y="615119"/>
                  </a:lnTo>
                  <a:lnTo>
                    <a:pt x="0" y="662432"/>
                  </a:lnTo>
                  <a:lnTo>
                    <a:pt x="1663" y="709733"/>
                  </a:lnTo>
                  <a:lnTo>
                    <a:pt x="6577" y="756137"/>
                  </a:lnTo>
                  <a:lnTo>
                    <a:pt x="14631" y="801531"/>
                  </a:lnTo>
                  <a:lnTo>
                    <a:pt x="25711" y="845804"/>
                  </a:lnTo>
                  <a:lnTo>
                    <a:pt x="39707" y="888843"/>
                  </a:lnTo>
                  <a:lnTo>
                    <a:pt x="56506" y="930537"/>
                  </a:lnTo>
                  <a:lnTo>
                    <a:pt x="75996" y="970772"/>
                  </a:lnTo>
                  <a:lnTo>
                    <a:pt x="98064" y="1009437"/>
                  </a:lnTo>
                  <a:lnTo>
                    <a:pt x="122599" y="1046421"/>
                  </a:lnTo>
                  <a:lnTo>
                    <a:pt x="149488" y="1081610"/>
                  </a:lnTo>
                  <a:lnTo>
                    <a:pt x="178620" y="1114892"/>
                  </a:lnTo>
                  <a:lnTo>
                    <a:pt x="209882" y="1146157"/>
                  </a:lnTo>
                  <a:lnTo>
                    <a:pt x="243163" y="1175290"/>
                  </a:lnTo>
                  <a:lnTo>
                    <a:pt x="278349" y="1202181"/>
                  </a:lnTo>
                  <a:lnTo>
                    <a:pt x="315330" y="1226718"/>
                  </a:lnTo>
                  <a:lnTo>
                    <a:pt x="353992" y="1248787"/>
                  </a:lnTo>
                  <a:lnTo>
                    <a:pt x="394224" y="1268278"/>
                  </a:lnTo>
                  <a:lnTo>
                    <a:pt x="435914" y="1285078"/>
                  </a:lnTo>
                  <a:lnTo>
                    <a:pt x="478949" y="1299074"/>
                  </a:lnTo>
                  <a:lnTo>
                    <a:pt x="523218" y="1310156"/>
                  </a:lnTo>
                  <a:lnTo>
                    <a:pt x="568608" y="1318210"/>
                  </a:lnTo>
                  <a:lnTo>
                    <a:pt x="615008" y="1323124"/>
                  </a:lnTo>
                  <a:lnTo>
                    <a:pt x="662304" y="1324787"/>
                  </a:lnTo>
                  <a:lnTo>
                    <a:pt x="709617" y="1323124"/>
                  </a:lnTo>
                  <a:lnTo>
                    <a:pt x="756031" y="1318210"/>
                  </a:lnTo>
                  <a:lnTo>
                    <a:pt x="801434" y="1310156"/>
                  </a:lnTo>
                  <a:lnTo>
                    <a:pt x="845715" y="1299074"/>
                  </a:lnTo>
                  <a:lnTo>
                    <a:pt x="888761" y="1285078"/>
                  </a:lnTo>
                  <a:lnTo>
                    <a:pt x="930461" y="1268278"/>
                  </a:lnTo>
                  <a:lnTo>
                    <a:pt x="970701" y="1248787"/>
                  </a:lnTo>
                  <a:lnTo>
                    <a:pt x="1009371" y="1226718"/>
                  </a:lnTo>
                  <a:lnTo>
                    <a:pt x="1046358" y="1202181"/>
                  </a:lnTo>
                  <a:lnTo>
                    <a:pt x="1081550" y="1175290"/>
                  </a:lnTo>
                  <a:lnTo>
                    <a:pt x="1114836" y="1146157"/>
                  </a:lnTo>
                  <a:lnTo>
                    <a:pt x="1146102" y="1114892"/>
                  </a:lnTo>
                  <a:lnTo>
                    <a:pt x="1175237" y="1081610"/>
                  </a:lnTo>
                  <a:lnTo>
                    <a:pt x="1202130" y="1046421"/>
                  </a:lnTo>
                  <a:lnTo>
                    <a:pt x="1226667" y="1009437"/>
                  </a:lnTo>
                  <a:lnTo>
                    <a:pt x="1248737" y="970772"/>
                  </a:lnTo>
                  <a:lnTo>
                    <a:pt x="1268228" y="930537"/>
                  </a:lnTo>
                  <a:lnTo>
                    <a:pt x="1285027" y="888843"/>
                  </a:lnTo>
                  <a:lnTo>
                    <a:pt x="1299024" y="845804"/>
                  </a:lnTo>
                  <a:lnTo>
                    <a:pt x="1310105" y="801531"/>
                  </a:lnTo>
                  <a:lnTo>
                    <a:pt x="1318159" y="756137"/>
                  </a:lnTo>
                  <a:lnTo>
                    <a:pt x="1323073" y="709733"/>
                  </a:lnTo>
                  <a:lnTo>
                    <a:pt x="1324736" y="662432"/>
                  </a:lnTo>
                  <a:lnTo>
                    <a:pt x="1323073" y="615119"/>
                  </a:lnTo>
                  <a:lnTo>
                    <a:pt x="1318159" y="568705"/>
                  </a:lnTo>
                  <a:lnTo>
                    <a:pt x="1310105" y="523302"/>
                  </a:lnTo>
                  <a:lnTo>
                    <a:pt x="1299024" y="479021"/>
                  </a:lnTo>
                  <a:lnTo>
                    <a:pt x="1285027" y="435975"/>
                  </a:lnTo>
                  <a:lnTo>
                    <a:pt x="1268228" y="394275"/>
                  </a:lnTo>
                  <a:lnTo>
                    <a:pt x="1248737" y="354035"/>
                  </a:lnTo>
                  <a:lnTo>
                    <a:pt x="1226667" y="315365"/>
                  </a:lnTo>
                  <a:lnTo>
                    <a:pt x="1202130" y="278378"/>
                  </a:lnTo>
                  <a:lnTo>
                    <a:pt x="1175237" y="243186"/>
                  </a:lnTo>
                  <a:lnTo>
                    <a:pt x="1146102" y="209900"/>
                  </a:lnTo>
                  <a:lnTo>
                    <a:pt x="1114836" y="178634"/>
                  </a:lnTo>
                  <a:lnTo>
                    <a:pt x="1081550" y="149499"/>
                  </a:lnTo>
                  <a:lnTo>
                    <a:pt x="1046358" y="122606"/>
                  </a:lnTo>
                  <a:lnTo>
                    <a:pt x="1009371" y="98069"/>
                  </a:lnTo>
                  <a:lnTo>
                    <a:pt x="970701" y="75999"/>
                  </a:lnTo>
                  <a:lnTo>
                    <a:pt x="930461" y="56508"/>
                  </a:lnTo>
                  <a:lnTo>
                    <a:pt x="888761" y="39709"/>
                  </a:lnTo>
                  <a:lnTo>
                    <a:pt x="845715" y="25712"/>
                  </a:lnTo>
                  <a:lnTo>
                    <a:pt x="801434" y="14631"/>
                  </a:lnTo>
                  <a:lnTo>
                    <a:pt x="756031" y="6577"/>
                  </a:lnTo>
                  <a:lnTo>
                    <a:pt x="709617" y="1663"/>
                  </a:lnTo>
                  <a:lnTo>
                    <a:pt x="662304" y="0"/>
                  </a:lnTo>
                  <a:close/>
                </a:path>
              </a:pathLst>
            </a:custGeom>
            <a:solidFill>
              <a:srgbClr val="D0E0C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032747" y="4848097"/>
              <a:ext cx="1325245" cy="1325245"/>
            </a:xfrm>
            <a:custGeom>
              <a:avLst/>
              <a:gdLst/>
              <a:ahLst/>
              <a:cxnLst/>
              <a:rect l="l" t="t" r="r" b="b"/>
              <a:pathLst>
                <a:path w="1325245" h="1325245">
                  <a:moveTo>
                    <a:pt x="0" y="662432"/>
                  </a:moveTo>
                  <a:lnTo>
                    <a:pt x="1663" y="615119"/>
                  </a:lnTo>
                  <a:lnTo>
                    <a:pt x="6577" y="568705"/>
                  </a:lnTo>
                  <a:lnTo>
                    <a:pt x="14631" y="523302"/>
                  </a:lnTo>
                  <a:lnTo>
                    <a:pt x="25711" y="479021"/>
                  </a:lnTo>
                  <a:lnTo>
                    <a:pt x="39707" y="435975"/>
                  </a:lnTo>
                  <a:lnTo>
                    <a:pt x="56506" y="394275"/>
                  </a:lnTo>
                  <a:lnTo>
                    <a:pt x="75996" y="354035"/>
                  </a:lnTo>
                  <a:lnTo>
                    <a:pt x="98064" y="315365"/>
                  </a:lnTo>
                  <a:lnTo>
                    <a:pt x="122599" y="278378"/>
                  </a:lnTo>
                  <a:lnTo>
                    <a:pt x="149488" y="243186"/>
                  </a:lnTo>
                  <a:lnTo>
                    <a:pt x="178620" y="209900"/>
                  </a:lnTo>
                  <a:lnTo>
                    <a:pt x="209882" y="178634"/>
                  </a:lnTo>
                  <a:lnTo>
                    <a:pt x="243163" y="149499"/>
                  </a:lnTo>
                  <a:lnTo>
                    <a:pt x="278349" y="122606"/>
                  </a:lnTo>
                  <a:lnTo>
                    <a:pt x="315330" y="98069"/>
                  </a:lnTo>
                  <a:lnTo>
                    <a:pt x="353992" y="75999"/>
                  </a:lnTo>
                  <a:lnTo>
                    <a:pt x="394224" y="56508"/>
                  </a:lnTo>
                  <a:lnTo>
                    <a:pt x="435914" y="39709"/>
                  </a:lnTo>
                  <a:lnTo>
                    <a:pt x="478949" y="25712"/>
                  </a:lnTo>
                  <a:lnTo>
                    <a:pt x="523218" y="14631"/>
                  </a:lnTo>
                  <a:lnTo>
                    <a:pt x="568608" y="6577"/>
                  </a:lnTo>
                  <a:lnTo>
                    <a:pt x="615008" y="1663"/>
                  </a:lnTo>
                  <a:lnTo>
                    <a:pt x="662304" y="0"/>
                  </a:lnTo>
                  <a:lnTo>
                    <a:pt x="709617" y="1663"/>
                  </a:lnTo>
                  <a:lnTo>
                    <a:pt x="756031" y="6577"/>
                  </a:lnTo>
                  <a:lnTo>
                    <a:pt x="801434" y="14631"/>
                  </a:lnTo>
                  <a:lnTo>
                    <a:pt x="845715" y="25712"/>
                  </a:lnTo>
                  <a:lnTo>
                    <a:pt x="888761" y="39709"/>
                  </a:lnTo>
                  <a:lnTo>
                    <a:pt x="930461" y="56508"/>
                  </a:lnTo>
                  <a:lnTo>
                    <a:pt x="970701" y="75999"/>
                  </a:lnTo>
                  <a:lnTo>
                    <a:pt x="1009371" y="98069"/>
                  </a:lnTo>
                  <a:lnTo>
                    <a:pt x="1046358" y="122606"/>
                  </a:lnTo>
                  <a:lnTo>
                    <a:pt x="1081550" y="149499"/>
                  </a:lnTo>
                  <a:lnTo>
                    <a:pt x="1114836" y="178634"/>
                  </a:lnTo>
                  <a:lnTo>
                    <a:pt x="1146102" y="209900"/>
                  </a:lnTo>
                  <a:lnTo>
                    <a:pt x="1175237" y="243186"/>
                  </a:lnTo>
                  <a:lnTo>
                    <a:pt x="1202130" y="278378"/>
                  </a:lnTo>
                  <a:lnTo>
                    <a:pt x="1226667" y="315365"/>
                  </a:lnTo>
                  <a:lnTo>
                    <a:pt x="1248737" y="354035"/>
                  </a:lnTo>
                  <a:lnTo>
                    <a:pt x="1268228" y="394275"/>
                  </a:lnTo>
                  <a:lnTo>
                    <a:pt x="1285027" y="435975"/>
                  </a:lnTo>
                  <a:lnTo>
                    <a:pt x="1299024" y="479021"/>
                  </a:lnTo>
                  <a:lnTo>
                    <a:pt x="1310105" y="523302"/>
                  </a:lnTo>
                  <a:lnTo>
                    <a:pt x="1318159" y="568705"/>
                  </a:lnTo>
                  <a:lnTo>
                    <a:pt x="1323073" y="615119"/>
                  </a:lnTo>
                  <a:lnTo>
                    <a:pt x="1324736" y="662432"/>
                  </a:lnTo>
                  <a:lnTo>
                    <a:pt x="1323073" y="709733"/>
                  </a:lnTo>
                  <a:lnTo>
                    <a:pt x="1318159" y="756137"/>
                  </a:lnTo>
                  <a:lnTo>
                    <a:pt x="1310105" y="801531"/>
                  </a:lnTo>
                  <a:lnTo>
                    <a:pt x="1299024" y="845804"/>
                  </a:lnTo>
                  <a:lnTo>
                    <a:pt x="1285027" y="888843"/>
                  </a:lnTo>
                  <a:lnTo>
                    <a:pt x="1268228" y="930537"/>
                  </a:lnTo>
                  <a:lnTo>
                    <a:pt x="1248737" y="970772"/>
                  </a:lnTo>
                  <a:lnTo>
                    <a:pt x="1226667" y="1009437"/>
                  </a:lnTo>
                  <a:lnTo>
                    <a:pt x="1202130" y="1046421"/>
                  </a:lnTo>
                  <a:lnTo>
                    <a:pt x="1175237" y="1081610"/>
                  </a:lnTo>
                  <a:lnTo>
                    <a:pt x="1146102" y="1114892"/>
                  </a:lnTo>
                  <a:lnTo>
                    <a:pt x="1114836" y="1146157"/>
                  </a:lnTo>
                  <a:lnTo>
                    <a:pt x="1081550" y="1175290"/>
                  </a:lnTo>
                  <a:lnTo>
                    <a:pt x="1046358" y="1202181"/>
                  </a:lnTo>
                  <a:lnTo>
                    <a:pt x="1009371" y="1226718"/>
                  </a:lnTo>
                  <a:lnTo>
                    <a:pt x="970701" y="1248787"/>
                  </a:lnTo>
                  <a:lnTo>
                    <a:pt x="930461" y="1268278"/>
                  </a:lnTo>
                  <a:lnTo>
                    <a:pt x="888761" y="1285078"/>
                  </a:lnTo>
                  <a:lnTo>
                    <a:pt x="845715" y="1299074"/>
                  </a:lnTo>
                  <a:lnTo>
                    <a:pt x="801434" y="1310156"/>
                  </a:lnTo>
                  <a:lnTo>
                    <a:pt x="756031" y="1318210"/>
                  </a:lnTo>
                  <a:lnTo>
                    <a:pt x="709617" y="1323124"/>
                  </a:lnTo>
                  <a:lnTo>
                    <a:pt x="662304" y="1324787"/>
                  </a:lnTo>
                  <a:lnTo>
                    <a:pt x="615008" y="1323124"/>
                  </a:lnTo>
                  <a:lnTo>
                    <a:pt x="568608" y="1318210"/>
                  </a:lnTo>
                  <a:lnTo>
                    <a:pt x="523218" y="1310156"/>
                  </a:lnTo>
                  <a:lnTo>
                    <a:pt x="478949" y="1299074"/>
                  </a:lnTo>
                  <a:lnTo>
                    <a:pt x="435914" y="1285078"/>
                  </a:lnTo>
                  <a:lnTo>
                    <a:pt x="394224" y="1268278"/>
                  </a:lnTo>
                  <a:lnTo>
                    <a:pt x="353992" y="1248787"/>
                  </a:lnTo>
                  <a:lnTo>
                    <a:pt x="315330" y="1226718"/>
                  </a:lnTo>
                  <a:lnTo>
                    <a:pt x="278349" y="1202181"/>
                  </a:lnTo>
                  <a:lnTo>
                    <a:pt x="243163" y="1175290"/>
                  </a:lnTo>
                  <a:lnTo>
                    <a:pt x="209882" y="1146157"/>
                  </a:lnTo>
                  <a:lnTo>
                    <a:pt x="178620" y="1114892"/>
                  </a:lnTo>
                  <a:lnTo>
                    <a:pt x="149488" y="1081610"/>
                  </a:lnTo>
                  <a:lnTo>
                    <a:pt x="122599" y="1046421"/>
                  </a:lnTo>
                  <a:lnTo>
                    <a:pt x="98064" y="1009437"/>
                  </a:lnTo>
                  <a:lnTo>
                    <a:pt x="75996" y="970772"/>
                  </a:lnTo>
                  <a:lnTo>
                    <a:pt x="56506" y="930537"/>
                  </a:lnTo>
                  <a:lnTo>
                    <a:pt x="39707" y="888843"/>
                  </a:lnTo>
                  <a:lnTo>
                    <a:pt x="25711" y="845804"/>
                  </a:lnTo>
                  <a:lnTo>
                    <a:pt x="14631" y="801531"/>
                  </a:lnTo>
                  <a:lnTo>
                    <a:pt x="6577" y="756137"/>
                  </a:lnTo>
                  <a:lnTo>
                    <a:pt x="1663" y="709733"/>
                  </a:lnTo>
                  <a:lnTo>
                    <a:pt x="0" y="662432"/>
                  </a:lnTo>
                  <a:close/>
                </a:path>
              </a:pathLst>
            </a:custGeom>
            <a:ln w="12700">
              <a:solidFill>
                <a:srgbClr val="DFCD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35617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Data-</a:t>
            </a:r>
            <a:r>
              <a:rPr spc="-235" dirty="0"/>
              <a:t>Link</a:t>
            </a:r>
            <a:r>
              <a:rPr spc="-445" dirty="0"/>
              <a:t> </a:t>
            </a:r>
            <a:r>
              <a:rPr spc="-190" dirty="0"/>
              <a:t>Layer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1104" y="1971693"/>
            <a:ext cx="8474435" cy="43621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Functions</a:t>
            </a:r>
            <a:r>
              <a:rPr spc="-490" dirty="0"/>
              <a:t> </a:t>
            </a:r>
            <a:r>
              <a:rPr spc="-265" dirty="0"/>
              <a:t>of</a:t>
            </a:r>
            <a:r>
              <a:rPr spc="-455" dirty="0"/>
              <a:t> </a:t>
            </a:r>
            <a:r>
              <a:rPr spc="-295" dirty="0"/>
              <a:t>the</a:t>
            </a:r>
            <a:r>
              <a:rPr spc="-450" dirty="0"/>
              <a:t> </a:t>
            </a:r>
            <a:r>
              <a:rPr spc="-150" dirty="0"/>
              <a:t>Data-</a:t>
            </a:r>
            <a:r>
              <a:rPr spc="-254" dirty="0"/>
              <a:t>link</a:t>
            </a:r>
            <a:r>
              <a:rPr spc="-495" dirty="0"/>
              <a:t> </a:t>
            </a:r>
            <a:r>
              <a:rPr spc="-15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5750"/>
            <a:ext cx="10356850" cy="232854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1" spc="-10" dirty="0">
                <a:latin typeface="Trebuchet MS"/>
                <a:cs typeface="Trebuchet MS"/>
              </a:rPr>
              <a:t>Framing:</a:t>
            </a:r>
            <a:endParaRPr sz="2800">
              <a:latin typeface="Trebuchet MS"/>
              <a:cs typeface="Trebuchet MS"/>
            </a:endParaRPr>
          </a:p>
          <a:p>
            <a:pPr marL="697230" marR="5080" lvl="1" indent="-227329">
              <a:lnSpc>
                <a:spcPts val="2590"/>
              </a:lnSpc>
              <a:spcBef>
                <a:spcPts val="57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link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layer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translates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physical's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raw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bit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stream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into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packets 	</a:t>
            </a:r>
            <a:r>
              <a:rPr sz="2400" spc="-35" dirty="0">
                <a:latin typeface="Trebuchet MS"/>
                <a:cs typeface="Trebuchet MS"/>
              </a:rPr>
              <a:t>known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95" dirty="0">
                <a:latin typeface="Trebuchet MS"/>
                <a:cs typeface="Trebuchet MS"/>
              </a:rPr>
              <a:t>as</a:t>
            </a:r>
            <a:r>
              <a:rPr sz="2400" spc="-235" dirty="0">
                <a:latin typeface="Trebuchet MS"/>
                <a:cs typeface="Trebuchet MS"/>
              </a:rPr>
              <a:t> </a:t>
            </a:r>
            <a:r>
              <a:rPr sz="2400" b="1" i="1" spc="-10" dirty="0">
                <a:latin typeface="Trebuchet MS"/>
                <a:cs typeface="Trebuchet MS"/>
              </a:rPr>
              <a:t>Frames</a:t>
            </a:r>
            <a:r>
              <a:rPr sz="2400" spc="-1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17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10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Data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link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layer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adds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header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and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trailer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to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frame.</a:t>
            </a:r>
            <a:endParaRPr sz="2400">
              <a:latin typeface="Trebuchet MS"/>
              <a:cs typeface="Trebuchet MS"/>
            </a:endParaRPr>
          </a:p>
          <a:p>
            <a:pPr marL="697230" marR="5080" lvl="1" indent="-227329">
              <a:lnSpc>
                <a:spcPts val="2590"/>
              </a:lnSpc>
              <a:spcBef>
                <a:spcPts val="540"/>
              </a:spcBef>
              <a:buFont typeface="Arial MT"/>
              <a:buChar char="•"/>
              <a:tabLst>
                <a:tab pos="698500" algn="l"/>
                <a:tab pos="1385570" algn="l"/>
                <a:tab pos="2524125" algn="l"/>
                <a:tab pos="3525520" algn="l"/>
                <a:tab pos="3959860" algn="l"/>
                <a:tab pos="5008880" algn="l"/>
                <a:tab pos="5488940" algn="l"/>
                <a:tab pos="6129020" algn="l"/>
                <a:tab pos="7108825" algn="l"/>
                <a:tab pos="8467090" algn="l"/>
                <a:tab pos="9107170" algn="l"/>
              </a:tabLst>
            </a:pPr>
            <a:r>
              <a:rPr sz="2400" spc="-25" dirty="0">
                <a:latin typeface="Trebuchet MS"/>
                <a:cs typeface="Trebuchet MS"/>
              </a:rPr>
              <a:t>The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header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which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is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added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to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the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frame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contains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the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65" dirty="0">
                <a:latin typeface="Trebuchet MS"/>
                <a:cs typeface="Trebuchet MS"/>
              </a:rPr>
              <a:t>hardware 	</a:t>
            </a:r>
            <a:r>
              <a:rPr sz="2400" spc="-55" dirty="0">
                <a:latin typeface="Trebuchet MS"/>
                <a:cs typeface="Trebuchet MS"/>
              </a:rPr>
              <a:t>destination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and</a:t>
            </a:r>
            <a:r>
              <a:rPr sz="2400" spc="-1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source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address.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5260" y="4820869"/>
            <a:ext cx="7324725" cy="10477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Functions</a:t>
            </a:r>
            <a:r>
              <a:rPr spc="-490" dirty="0"/>
              <a:t> </a:t>
            </a:r>
            <a:r>
              <a:rPr spc="-265" dirty="0"/>
              <a:t>of</a:t>
            </a:r>
            <a:r>
              <a:rPr spc="-455" dirty="0"/>
              <a:t> </a:t>
            </a:r>
            <a:r>
              <a:rPr spc="-295" dirty="0"/>
              <a:t>the</a:t>
            </a:r>
            <a:r>
              <a:rPr spc="-450" dirty="0"/>
              <a:t> </a:t>
            </a:r>
            <a:r>
              <a:rPr spc="-150" dirty="0"/>
              <a:t>Data-</a:t>
            </a:r>
            <a:r>
              <a:rPr spc="-254" dirty="0"/>
              <a:t>link</a:t>
            </a:r>
            <a:r>
              <a:rPr spc="-495" dirty="0"/>
              <a:t> </a:t>
            </a:r>
            <a:r>
              <a:rPr spc="-15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966"/>
            <a:ext cx="10361295" cy="4166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 algn="just">
              <a:lnSpc>
                <a:spcPts val="3329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1" dirty="0">
                <a:latin typeface="Trebuchet MS"/>
                <a:cs typeface="Trebuchet MS"/>
              </a:rPr>
              <a:t>Physical</a:t>
            </a:r>
            <a:r>
              <a:rPr sz="2800" b="1" spc="-150" dirty="0">
                <a:latin typeface="Trebuchet MS"/>
                <a:cs typeface="Trebuchet MS"/>
              </a:rPr>
              <a:t> </a:t>
            </a:r>
            <a:r>
              <a:rPr sz="2800" b="1" spc="-10" dirty="0">
                <a:latin typeface="Trebuchet MS"/>
                <a:cs typeface="Trebuchet MS"/>
              </a:rPr>
              <a:t>Addressing:</a:t>
            </a:r>
            <a:endParaRPr sz="2800">
              <a:latin typeface="Trebuchet MS"/>
              <a:cs typeface="Trebuchet MS"/>
            </a:endParaRPr>
          </a:p>
          <a:p>
            <a:pPr marL="697230" marR="9525" lvl="1" indent="-227329" algn="just">
              <a:lnSpc>
                <a:spcPts val="2300"/>
              </a:lnSpc>
              <a:spcBef>
                <a:spcPts val="53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135" dirty="0">
                <a:latin typeface="Trebuchet MS"/>
                <a:cs typeface="Trebuchet MS"/>
              </a:rPr>
              <a:t>The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Data</a:t>
            </a:r>
            <a:r>
              <a:rPr sz="2400" spc="-16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link </a:t>
            </a:r>
            <a:r>
              <a:rPr sz="2400" spc="-110" dirty="0">
                <a:latin typeface="Trebuchet MS"/>
                <a:cs typeface="Trebuchet MS"/>
              </a:rPr>
              <a:t>layer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adds</a:t>
            </a:r>
            <a:r>
              <a:rPr sz="2400" spc="-1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header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to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the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frame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that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contains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destination 	address.</a:t>
            </a:r>
            <a:endParaRPr sz="2400">
              <a:latin typeface="Trebuchet MS"/>
              <a:cs typeface="Trebuchet MS"/>
            </a:endParaRPr>
          </a:p>
          <a:p>
            <a:pPr marL="697230" marR="8255" lvl="1" indent="-227329" algn="just">
              <a:lnSpc>
                <a:spcPts val="2300"/>
              </a:lnSpc>
              <a:spcBef>
                <a:spcPts val="50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frame</a:t>
            </a:r>
            <a:r>
              <a:rPr sz="2400" spc="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95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transmitted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1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destination</a:t>
            </a:r>
            <a:r>
              <a:rPr sz="2400" spc="1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address</a:t>
            </a:r>
            <a:r>
              <a:rPr sz="2400" spc="1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mentioned</a:t>
            </a:r>
            <a:r>
              <a:rPr sz="2400" spc="10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</a:t>
            </a:r>
            <a:r>
              <a:rPr sz="2400" spc="10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the 	</a:t>
            </a:r>
            <a:r>
              <a:rPr sz="2400" spc="-10" dirty="0">
                <a:latin typeface="Trebuchet MS"/>
                <a:cs typeface="Trebuchet MS"/>
              </a:rPr>
              <a:t>header.</a:t>
            </a:r>
            <a:endParaRPr sz="2400">
              <a:latin typeface="Trebuchet MS"/>
              <a:cs typeface="Trebuchet MS"/>
            </a:endParaRPr>
          </a:p>
          <a:p>
            <a:pPr marL="240665" indent="-227965" algn="just">
              <a:lnSpc>
                <a:spcPts val="3325"/>
              </a:lnSpc>
              <a:spcBef>
                <a:spcPts val="34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1" spc="-70" dirty="0">
                <a:latin typeface="Trebuchet MS"/>
                <a:cs typeface="Trebuchet MS"/>
              </a:rPr>
              <a:t>Flow</a:t>
            </a:r>
            <a:r>
              <a:rPr sz="2800" b="1" spc="-235" dirty="0">
                <a:latin typeface="Trebuchet MS"/>
                <a:cs typeface="Trebuchet MS"/>
              </a:rPr>
              <a:t> </a:t>
            </a:r>
            <a:r>
              <a:rPr sz="2800" b="1" spc="-10" dirty="0">
                <a:latin typeface="Trebuchet MS"/>
                <a:cs typeface="Trebuchet MS"/>
              </a:rPr>
              <a:t>Control:</a:t>
            </a:r>
            <a:endParaRPr sz="2800">
              <a:latin typeface="Trebuchet MS"/>
              <a:cs typeface="Trebuchet MS"/>
            </a:endParaRPr>
          </a:p>
          <a:p>
            <a:pPr marL="697230" lvl="1" indent="-227329" algn="just">
              <a:lnSpc>
                <a:spcPts val="2810"/>
              </a:lnSpc>
              <a:buFont typeface="Arial MT"/>
              <a:buChar char="•"/>
              <a:tabLst>
                <a:tab pos="697230" algn="l"/>
              </a:tabLst>
            </a:pPr>
            <a:r>
              <a:rPr sz="2400" spc="-50" dirty="0">
                <a:latin typeface="Trebuchet MS"/>
                <a:cs typeface="Trebuchet MS"/>
              </a:rPr>
              <a:t>Flow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control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main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functionality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of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Data-</a:t>
            </a:r>
            <a:r>
              <a:rPr sz="2400" spc="-65" dirty="0">
                <a:latin typeface="Trebuchet MS"/>
                <a:cs typeface="Trebuchet MS"/>
              </a:rPr>
              <a:t>link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layer.</a:t>
            </a:r>
            <a:endParaRPr sz="2400">
              <a:latin typeface="Trebuchet MS"/>
              <a:cs typeface="Trebuchet MS"/>
            </a:endParaRPr>
          </a:p>
          <a:p>
            <a:pPr marL="697230" marR="8255" lvl="1" indent="-227329" algn="just">
              <a:lnSpc>
                <a:spcPts val="2300"/>
              </a:lnSpc>
              <a:spcBef>
                <a:spcPts val="52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150" dirty="0">
                <a:latin typeface="Trebuchet MS"/>
                <a:cs typeface="Trebuchet MS"/>
              </a:rPr>
              <a:t>It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the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technique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through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which</a:t>
            </a:r>
            <a:r>
              <a:rPr sz="2400" spc="-95" dirty="0">
                <a:latin typeface="Trebuchet MS"/>
                <a:cs typeface="Trebuchet MS"/>
              </a:rPr>
              <a:t> the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constant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data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rate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maintained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on 	</a:t>
            </a:r>
            <a:r>
              <a:rPr sz="2400" spc="-50" dirty="0">
                <a:latin typeface="Trebuchet MS"/>
                <a:cs typeface="Trebuchet MS"/>
              </a:rPr>
              <a:t>both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the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sides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110" dirty="0">
                <a:latin typeface="Trebuchet MS"/>
                <a:cs typeface="Trebuchet MS"/>
              </a:rPr>
              <a:t>so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that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no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data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get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corrupted.</a:t>
            </a:r>
            <a:endParaRPr sz="2400">
              <a:latin typeface="Trebuchet MS"/>
              <a:cs typeface="Trebuchet MS"/>
            </a:endParaRPr>
          </a:p>
          <a:p>
            <a:pPr marL="697230" marR="5080" lvl="1" indent="-227329" algn="just">
              <a:lnSpc>
                <a:spcPts val="2300"/>
              </a:lnSpc>
              <a:spcBef>
                <a:spcPts val="509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Trebuchet MS"/>
                <a:cs typeface="Trebuchet MS"/>
              </a:rPr>
              <a:t>It</a:t>
            </a:r>
            <a:r>
              <a:rPr sz="2400" spc="2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ensures</a:t>
            </a:r>
            <a:r>
              <a:rPr sz="2400" spc="2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that</a:t>
            </a:r>
            <a:r>
              <a:rPr sz="2400" spc="2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25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transmitting</a:t>
            </a:r>
            <a:r>
              <a:rPr sz="2400" spc="2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station</a:t>
            </a:r>
            <a:r>
              <a:rPr sz="2400" spc="260" dirty="0">
                <a:latin typeface="Trebuchet MS"/>
                <a:cs typeface="Trebuchet MS"/>
              </a:rPr>
              <a:t> </a:t>
            </a:r>
            <a:r>
              <a:rPr sz="2400" spc="65" dirty="0">
                <a:latin typeface="Trebuchet MS"/>
                <a:cs typeface="Trebuchet MS"/>
              </a:rPr>
              <a:t>such</a:t>
            </a:r>
            <a:r>
              <a:rPr sz="2400" spc="254" dirty="0">
                <a:latin typeface="Trebuchet MS"/>
                <a:cs typeface="Trebuchet MS"/>
              </a:rPr>
              <a:t> </a:t>
            </a:r>
            <a:r>
              <a:rPr sz="2400" spc="95" dirty="0">
                <a:latin typeface="Trebuchet MS"/>
                <a:cs typeface="Trebuchet MS"/>
              </a:rPr>
              <a:t>as</a:t>
            </a:r>
            <a:r>
              <a:rPr sz="2400" spc="25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25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server</a:t>
            </a:r>
            <a:r>
              <a:rPr sz="2400" spc="25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with</a:t>
            </a:r>
            <a:r>
              <a:rPr sz="2400" spc="26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higher 	</a:t>
            </a:r>
            <a:r>
              <a:rPr sz="2400" dirty="0">
                <a:latin typeface="Trebuchet MS"/>
                <a:cs typeface="Trebuchet MS"/>
              </a:rPr>
              <a:t>processing</a:t>
            </a:r>
            <a:r>
              <a:rPr sz="2400" spc="3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speed</a:t>
            </a:r>
            <a:r>
              <a:rPr sz="2400" spc="3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does</a:t>
            </a:r>
            <a:r>
              <a:rPr sz="2400" spc="3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not</a:t>
            </a:r>
            <a:r>
              <a:rPr sz="2400" spc="3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exceed</a:t>
            </a:r>
            <a:r>
              <a:rPr sz="2400" spc="3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3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receiving</a:t>
            </a:r>
            <a:r>
              <a:rPr sz="2400" spc="3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station,</a:t>
            </a:r>
            <a:r>
              <a:rPr sz="2400" spc="3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with</a:t>
            </a:r>
            <a:r>
              <a:rPr sz="2400" spc="36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lower 	</a:t>
            </a:r>
            <a:r>
              <a:rPr sz="2400" dirty="0">
                <a:latin typeface="Trebuchet MS"/>
                <a:cs typeface="Trebuchet MS"/>
              </a:rPr>
              <a:t>processing</a:t>
            </a:r>
            <a:r>
              <a:rPr sz="2400" spc="-16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speed.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Functions</a:t>
            </a:r>
            <a:r>
              <a:rPr spc="-490" dirty="0"/>
              <a:t> </a:t>
            </a:r>
            <a:r>
              <a:rPr spc="-265" dirty="0"/>
              <a:t>of</a:t>
            </a:r>
            <a:r>
              <a:rPr spc="-455" dirty="0"/>
              <a:t> </a:t>
            </a:r>
            <a:r>
              <a:rPr spc="-295" dirty="0"/>
              <a:t>the</a:t>
            </a:r>
            <a:r>
              <a:rPr spc="-450" dirty="0"/>
              <a:t> </a:t>
            </a:r>
            <a:r>
              <a:rPr spc="-150" dirty="0"/>
              <a:t>Data-</a:t>
            </a:r>
            <a:r>
              <a:rPr spc="-254" dirty="0"/>
              <a:t>link</a:t>
            </a:r>
            <a:r>
              <a:rPr spc="-495" dirty="0"/>
              <a:t> </a:t>
            </a:r>
            <a:r>
              <a:rPr spc="-15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5750"/>
            <a:ext cx="10360660" cy="382714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0665" indent="-227965" algn="just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1" spc="-125" dirty="0">
                <a:latin typeface="Trebuchet MS"/>
                <a:cs typeface="Trebuchet MS"/>
              </a:rPr>
              <a:t>Error</a:t>
            </a:r>
            <a:r>
              <a:rPr sz="2800" b="1" spc="-220" dirty="0">
                <a:latin typeface="Trebuchet MS"/>
                <a:cs typeface="Trebuchet MS"/>
              </a:rPr>
              <a:t> </a:t>
            </a:r>
            <a:r>
              <a:rPr sz="2800" b="1" spc="-10" dirty="0">
                <a:latin typeface="Trebuchet MS"/>
                <a:cs typeface="Trebuchet MS"/>
              </a:rPr>
              <a:t>Control:</a:t>
            </a:r>
            <a:endParaRPr sz="2800">
              <a:latin typeface="Trebuchet MS"/>
              <a:cs typeface="Trebuchet MS"/>
            </a:endParaRPr>
          </a:p>
          <a:p>
            <a:pPr marL="697230" marR="5080" lvl="1" indent="-227329" algn="just">
              <a:lnSpc>
                <a:spcPct val="90100"/>
              </a:lnSpc>
              <a:spcBef>
                <a:spcPts val="53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Trebuchet MS"/>
                <a:cs typeface="Trebuchet MS"/>
              </a:rPr>
              <a:t>Error</a:t>
            </a:r>
            <a:r>
              <a:rPr sz="2400" spc="4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control</a:t>
            </a:r>
            <a:r>
              <a:rPr sz="2400" spc="4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4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achieved</a:t>
            </a:r>
            <a:r>
              <a:rPr sz="2400" spc="4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by</a:t>
            </a:r>
            <a:r>
              <a:rPr sz="2400" spc="4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adding</a:t>
            </a:r>
            <a:r>
              <a:rPr sz="2400" spc="4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4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calculated</a:t>
            </a:r>
            <a:r>
              <a:rPr sz="2400" spc="4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value</a:t>
            </a:r>
            <a:r>
              <a:rPr sz="2400" spc="425" dirty="0">
                <a:latin typeface="Trebuchet MS"/>
                <a:cs typeface="Trebuchet MS"/>
              </a:rPr>
              <a:t> </a:t>
            </a:r>
            <a:r>
              <a:rPr sz="2400" spc="145" dirty="0">
                <a:latin typeface="Trebuchet MS"/>
                <a:cs typeface="Trebuchet MS"/>
              </a:rPr>
              <a:t>CRC</a:t>
            </a:r>
            <a:r>
              <a:rPr sz="2400" spc="409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(Cyclic 	</a:t>
            </a:r>
            <a:r>
              <a:rPr sz="2400" dirty="0">
                <a:latin typeface="Trebuchet MS"/>
                <a:cs typeface="Trebuchet MS"/>
              </a:rPr>
              <a:t>Redundancy</a:t>
            </a:r>
            <a:r>
              <a:rPr sz="2400" spc="-1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Check)</a:t>
            </a:r>
            <a:r>
              <a:rPr sz="2400" spc="-95" dirty="0">
                <a:latin typeface="Trebuchet MS"/>
                <a:cs typeface="Trebuchet MS"/>
              </a:rPr>
              <a:t> that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placed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to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the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link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layer's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trailer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which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is 	</a:t>
            </a:r>
            <a:r>
              <a:rPr sz="2400" spc="-20" dirty="0">
                <a:latin typeface="Trebuchet MS"/>
                <a:cs typeface="Trebuchet MS"/>
              </a:rPr>
              <a:t>added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to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message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frame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before</a:t>
            </a:r>
            <a:r>
              <a:rPr sz="2400" spc="-155" dirty="0">
                <a:latin typeface="Trebuchet MS"/>
                <a:cs typeface="Trebuchet MS"/>
              </a:rPr>
              <a:t> it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sent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to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physical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layer.</a:t>
            </a:r>
            <a:endParaRPr sz="2400">
              <a:latin typeface="Trebuchet MS"/>
              <a:cs typeface="Trebuchet MS"/>
            </a:endParaRPr>
          </a:p>
          <a:p>
            <a:pPr marL="697230" marR="8890" lvl="1" indent="-227329" algn="just">
              <a:lnSpc>
                <a:spcPts val="2590"/>
              </a:lnSpc>
              <a:spcBef>
                <a:spcPts val="53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165" dirty="0">
                <a:latin typeface="Trebuchet MS"/>
                <a:cs typeface="Trebuchet MS"/>
              </a:rPr>
              <a:t>If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any</a:t>
            </a:r>
            <a:r>
              <a:rPr sz="2400" spc="-14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error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55" dirty="0">
                <a:latin typeface="Trebuchet MS"/>
                <a:cs typeface="Trebuchet MS"/>
              </a:rPr>
              <a:t>seems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to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occur,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then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the </a:t>
            </a:r>
            <a:r>
              <a:rPr sz="2400" spc="-90" dirty="0">
                <a:latin typeface="Trebuchet MS"/>
                <a:cs typeface="Trebuchet MS"/>
              </a:rPr>
              <a:t>receiver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60" dirty="0">
                <a:latin typeface="Trebuchet MS"/>
                <a:cs typeface="Trebuchet MS"/>
              </a:rPr>
              <a:t>sends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the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acknowledgment 	</a:t>
            </a:r>
            <a:r>
              <a:rPr sz="2400" spc="-114" dirty="0">
                <a:latin typeface="Trebuchet MS"/>
                <a:cs typeface="Trebuchet MS"/>
              </a:rPr>
              <a:t>for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the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retransmission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of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corrupted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frames.</a:t>
            </a:r>
            <a:endParaRPr sz="2400">
              <a:latin typeface="Trebuchet MS"/>
              <a:cs typeface="Trebuchet MS"/>
            </a:endParaRPr>
          </a:p>
          <a:p>
            <a:pPr marL="240029" indent="-227329" algn="just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spc="85" dirty="0">
                <a:latin typeface="Trebuchet MS"/>
                <a:cs typeface="Trebuchet MS"/>
              </a:rPr>
              <a:t>Access</a:t>
            </a:r>
            <a:r>
              <a:rPr sz="2800" b="1" spc="-245" dirty="0">
                <a:latin typeface="Trebuchet MS"/>
                <a:cs typeface="Trebuchet MS"/>
              </a:rPr>
              <a:t> </a:t>
            </a:r>
            <a:r>
              <a:rPr sz="2800" b="1" spc="-10" dirty="0">
                <a:latin typeface="Trebuchet MS"/>
                <a:cs typeface="Trebuchet MS"/>
              </a:rPr>
              <a:t>Control:</a:t>
            </a:r>
            <a:endParaRPr sz="2800">
              <a:latin typeface="Trebuchet MS"/>
              <a:cs typeface="Trebuchet MS"/>
            </a:endParaRPr>
          </a:p>
          <a:p>
            <a:pPr marL="697230" marR="6985" lvl="1" indent="-227329" algn="just">
              <a:lnSpc>
                <a:spcPts val="2590"/>
              </a:lnSpc>
              <a:spcBef>
                <a:spcPts val="56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Trebuchet MS"/>
                <a:cs typeface="Trebuchet MS"/>
              </a:rPr>
              <a:t>When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two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or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more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devices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connected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same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communication 	</a:t>
            </a:r>
            <a:r>
              <a:rPr sz="2400" spc="-20" dirty="0">
                <a:latin typeface="Trebuchet MS"/>
                <a:cs typeface="Trebuchet MS"/>
              </a:rPr>
              <a:t>channel,</a:t>
            </a:r>
            <a:r>
              <a:rPr sz="2400" spc="-12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then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the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data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link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layer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protocols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are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used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determine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which 	</a:t>
            </a:r>
            <a:r>
              <a:rPr sz="2400" spc="-55" dirty="0">
                <a:latin typeface="Trebuchet MS"/>
                <a:cs typeface="Trebuchet MS"/>
              </a:rPr>
              <a:t>device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65" dirty="0">
                <a:latin typeface="Trebuchet MS"/>
                <a:cs typeface="Trebuchet MS"/>
              </a:rPr>
              <a:t>has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control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over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the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link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at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given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time.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33026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Network</a:t>
            </a:r>
            <a:r>
              <a:rPr spc="-445" dirty="0"/>
              <a:t> </a:t>
            </a:r>
            <a:r>
              <a:rPr spc="-190" dirty="0"/>
              <a:t>Layer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5207" y="2018455"/>
            <a:ext cx="8386798" cy="43170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33026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Network</a:t>
            </a:r>
            <a:r>
              <a:rPr spc="-445" dirty="0"/>
              <a:t> </a:t>
            </a:r>
            <a:r>
              <a:rPr spc="-19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6062"/>
            <a:ext cx="10360025" cy="4100829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6350" indent="-229235" algn="just">
              <a:lnSpc>
                <a:spcPct val="80000"/>
              </a:lnSpc>
              <a:spcBef>
                <a:spcPts val="72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170" dirty="0">
                <a:latin typeface="Trebuchet MS"/>
                <a:cs typeface="Trebuchet MS"/>
              </a:rPr>
              <a:t>It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is</a:t>
            </a:r>
            <a:r>
              <a:rPr sz="2600" spc="-14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-85" dirty="0">
                <a:latin typeface="Trebuchet MS"/>
                <a:cs typeface="Trebuchet MS"/>
              </a:rPr>
              <a:t> layer</a:t>
            </a:r>
            <a:r>
              <a:rPr sz="2600" spc="-7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3</a:t>
            </a:r>
            <a:r>
              <a:rPr sz="2600" spc="-80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that</a:t>
            </a:r>
            <a:r>
              <a:rPr sz="2600" spc="-8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manages</a:t>
            </a:r>
            <a:r>
              <a:rPr sz="2600" spc="-90" dirty="0">
                <a:latin typeface="Trebuchet MS"/>
                <a:cs typeface="Trebuchet MS"/>
              </a:rPr>
              <a:t> </a:t>
            </a:r>
            <a:r>
              <a:rPr sz="2600" b="1" i="1" spc="-20" dirty="0">
                <a:latin typeface="Trebuchet MS"/>
                <a:cs typeface="Trebuchet MS"/>
              </a:rPr>
              <a:t>device</a:t>
            </a:r>
            <a:r>
              <a:rPr sz="2600" b="1" i="1" spc="-75" dirty="0">
                <a:latin typeface="Trebuchet MS"/>
                <a:cs typeface="Trebuchet MS"/>
              </a:rPr>
              <a:t> </a:t>
            </a:r>
            <a:r>
              <a:rPr sz="2600" b="1" i="1" spc="-45" dirty="0">
                <a:latin typeface="Trebuchet MS"/>
                <a:cs typeface="Trebuchet MS"/>
              </a:rPr>
              <a:t>addressing</a:t>
            </a:r>
            <a:r>
              <a:rPr sz="2600" spc="-45" dirty="0">
                <a:latin typeface="Trebuchet MS"/>
                <a:cs typeface="Trebuchet MS"/>
              </a:rPr>
              <a:t>,</a:t>
            </a:r>
            <a:r>
              <a:rPr sz="2600" spc="-80" dirty="0">
                <a:latin typeface="Trebuchet MS"/>
                <a:cs typeface="Trebuchet MS"/>
              </a:rPr>
              <a:t> </a:t>
            </a:r>
            <a:r>
              <a:rPr sz="2600" b="1" i="1" spc="-65" dirty="0">
                <a:latin typeface="Trebuchet MS"/>
                <a:cs typeface="Trebuchet MS"/>
              </a:rPr>
              <a:t>tracks</a:t>
            </a:r>
            <a:r>
              <a:rPr sz="2600" b="1" i="1" spc="-75" dirty="0">
                <a:latin typeface="Trebuchet MS"/>
                <a:cs typeface="Trebuchet MS"/>
              </a:rPr>
              <a:t> </a:t>
            </a:r>
            <a:r>
              <a:rPr sz="2600" b="1" i="1" spc="-50" dirty="0">
                <a:latin typeface="Trebuchet MS"/>
                <a:cs typeface="Trebuchet MS"/>
              </a:rPr>
              <a:t>the</a:t>
            </a:r>
            <a:r>
              <a:rPr sz="2600" b="1" i="1" spc="-80" dirty="0">
                <a:latin typeface="Trebuchet MS"/>
                <a:cs typeface="Trebuchet MS"/>
              </a:rPr>
              <a:t> </a:t>
            </a:r>
            <a:r>
              <a:rPr sz="2600" b="1" i="1" spc="-55" dirty="0">
                <a:latin typeface="Trebuchet MS"/>
                <a:cs typeface="Trebuchet MS"/>
              </a:rPr>
              <a:t>location</a:t>
            </a:r>
            <a:r>
              <a:rPr sz="2600" b="1" i="1" spc="-80" dirty="0">
                <a:latin typeface="Trebuchet MS"/>
                <a:cs typeface="Trebuchet MS"/>
              </a:rPr>
              <a:t> </a:t>
            </a:r>
            <a:r>
              <a:rPr sz="2600" b="1" i="1" spc="-25" dirty="0">
                <a:latin typeface="Trebuchet MS"/>
                <a:cs typeface="Trebuchet MS"/>
              </a:rPr>
              <a:t>of </a:t>
            </a:r>
            <a:r>
              <a:rPr sz="2600" b="1" i="1" spc="-10" dirty="0">
                <a:latin typeface="Trebuchet MS"/>
                <a:cs typeface="Trebuchet MS"/>
              </a:rPr>
              <a:t>devices</a:t>
            </a:r>
            <a:r>
              <a:rPr sz="2600" b="1" i="1" spc="-24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on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network.</a:t>
            </a:r>
            <a:endParaRPr sz="2600">
              <a:latin typeface="Trebuchet MS"/>
              <a:cs typeface="Trebuchet MS"/>
            </a:endParaRPr>
          </a:p>
          <a:p>
            <a:pPr marL="241300" marR="5715" indent="-229235" algn="just">
              <a:lnSpc>
                <a:spcPct val="8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rebuchet MS"/>
                <a:cs typeface="Trebuchet MS"/>
              </a:rPr>
              <a:t>It</a:t>
            </a:r>
            <a:r>
              <a:rPr sz="2600" spc="51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determines</a:t>
            </a:r>
            <a:r>
              <a:rPr sz="2600" spc="50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the</a:t>
            </a:r>
            <a:r>
              <a:rPr sz="2600" spc="509" dirty="0">
                <a:latin typeface="Trebuchet MS"/>
                <a:cs typeface="Trebuchet MS"/>
              </a:rPr>
              <a:t> </a:t>
            </a:r>
            <a:r>
              <a:rPr sz="2600" b="1" i="1" dirty="0">
                <a:latin typeface="Trebuchet MS"/>
                <a:cs typeface="Trebuchet MS"/>
              </a:rPr>
              <a:t>best</a:t>
            </a:r>
            <a:r>
              <a:rPr sz="2600" b="1" i="1" spc="515" dirty="0">
                <a:latin typeface="Trebuchet MS"/>
                <a:cs typeface="Trebuchet MS"/>
              </a:rPr>
              <a:t> </a:t>
            </a:r>
            <a:r>
              <a:rPr sz="2600" b="1" i="1" dirty="0">
                <a:latin typeface="Trebuchet MS"/>
                <a:cs typeface="Trebuchet MS"/>
              </a:rPr>
              <a:t>path</a:t>
            </a:r>
            <a:r>
              <a:rPr sz="2600" b="1" i="1" spc="515" dirty="0">
                <a:latin typeface="Trebuchet MS"/>
                <a:cs typeface="Trebuchet MS"/>
              </a:rPr>
              <a:t> </a:t>
            </a:r>
            <a:r>
              <a:rPr sz="2600" b="1" i="1" dirty="0">
                <a:latin typeface="Trebuchet MS"/>
                <a:cs typeface="Trebuchet MS"/>
              </a:rPr>
              <a:t>to</a:t>
            </a:r>
            <a:r>
              <a:rPr sz="2600" b="1" i="1" spc="505" dirty="0">
                <a:latin typeface="Trebuchet MS"/>
                <a:cs typeface="Trebuchet MS"/>
              </a:rPr>
              <a:t> </a:t>
            </a:r>
            <a:r>
              <a:rPr sz="2600" b="1" i="1" dirty="0">
                <a:latin typeface="Trebuchet MS"/>
                <a:cs typeface="Trebuchet MS"/>
              </a:rPr>
              <a:t>move</a:t>
            </a:r>
            <a:r>
              <a:rPr sz="2600" b="1" i="1" spc="505" dirty="0">
                <a:latin typeface="Trebuchet MS"/>
                <a:cs typeface="Trebuchet MS"/>
              </a:rPr>
              <a:t> </a:t>
            </a:r>
            <a:r>
              <a:rPr sz="2600" b="1" i="1" dirty="0">
                <a:latin typeface="Trebuchet MS"/>
                <a:cs typeface="Trebuchet MS"/>
              </a:rPr>
              <a:t>data</a:t>
            </a:r>
            <a:r>
              <a:rPr sz="2600" b="1" i="1" spc="509" dirty="0">
                <a:latin typeface="Trebuchet MS"/>
                <a:cs typeface="Trebuchet MS"/>
              </a:rPr>
              <a:t> </a:t>
            </a:r>
            <a:r>
              <a:rPr sz="2600" b="1" i="1" dirty="0">
                <a:latin typeface="Trebuchet MS"/>
                <a:cs typeface="Trebuchet MS"/>
              </a:rPr>
              <a:t>from</a:t>
            </a:r>
            <a:r>
              <a:rPr sz="2600" b="1" i="1" spc="505" dirty="0">
                <a:latin typeface="Trebuchet MS"/>
                <a:cs typeface="Trebuchet MS"/>
              </a:rPr>
              <a:t> </a:t>
            </a:r>
            <a:r>
              <a:rPr sz="2600" b="1" i="1" dirty="0">
                <a:latin typeface="Trebuchet MS"/>
                <a:cs typeface="Trebuchet MS"/>
              </a:rPr>
              <a:t>source</a:t>
            </a:r>
            <a:r>
              <a:rPr sz="2600" b="1" i="1" spc="515" dirty="0">
                <a:latin typeface="Trebuchet MS"/>
                <a:cs typeface="Trebuchet MS"/>
              </a:rPr>
              <a:t> </a:t>
            </a:r>
            <a:r>
              <a:rPr sz="2600" b="1" i="1" dirty="0">
                <a:latin typeface="Trebuchet MS"/>
                <a:cs typeface="Trebuchet MS"/>
              </a:rPr>
              <a:t>to</a:t>
            </a:r>
            <a:r>
              <a:rPr sz="2600" b="1" i="1" spc="505" dirty="0">
                <a:latin typeface="Trebuchet MS"/>
                <a:cs typeface="Trebuchet MS"/>
              </a:rPr>
              <a:t> </a:t>
            </a:r>
            <a:r>
              <a:rPr sz="2600" b="1" i="1" spc="-25" dirty="0">
                <a:latin typeface="Trebuchet MS"/>
                <a:cs typeface="Trebuchet MS"/>
              </a:rPr>
              <a:t>the </a:t>
            </a:r>
            <a:r>
              <a:rPr sz="2600" b="1" i="1" spc="-45" dirty="0">
                <a:latin typeface="Trebuchet MS"/>
                <a:cs typeface="Trebuchet MS"/>
              </a:rPr>
              <a:t>destination</a:t>
            </a:r>
            <a:r>
              <a:rPr sz="2600" b="1" i="1" spc="-2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based</a:t>
            </a:r>
            <a:r>
              <a:rPr sz="2600" spc="-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on</a:t>
            </a:r>
            <a:r>
              <a:rPr sz="2600" spc="-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the</a:t>
            </a:r>
            <a:r>
              <a:rPr sz="2600" spc="-25" dirty="0">
                <a:latin typeface="Trebuchet MS"/>
                <a:cs typeface="Trebuchet MS"/>
              </a:rPr>
              <a:t> </a:t>
            </a:r>
            <a:r>
              <a:rPr sz="2600" spc="-30" dirty="0">
                <a:latin typeface="Trebuchet MS"/>
                <a:cs typeface="Trebuchet MS"/>
              </a:rPr>
              <a:t>network</a:t>
            </a:r>
            <a:r>
              <a:rPr sz="2600" spc="-1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conditions,</a:t>
            </a:r>
            <a:r>
              <a:rPr sz="2600" spc="-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the</a:t>
            </a:r>
            <a:r>
              <a:rPr sz="2600" spc="-25" dirty="0">
                <a:latin typeface="Trebuchet MS"/>
                <a:cs typeface="Trebuchet MS"/>
              </a:rPr>
              <a:t> </a:t>
            </a:r>
            <a:r>
              <a:rPr sz="2600" spc="-65" dirty="0">
                <a:latin typeface="Trebuchet MS"/>
                <a:cs typeface="Trebuchet MS"/>
              </a:rPr>
              <a:t>priority</a:t>
            </a:r>
            <a:r>
              <a:rPr sz="2600" spc="-1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of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service, </a:t>
            </a: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-24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other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factors.</a:t>
            </a:r>
            <a:endParaRPr sz="2600">
              <a:latin typeface="Trebuchet MS"/>
              <a:cs typeface="Trebuchet MS"/>
            </a:endParaRPr>
          </a:p>
          <a:p>
            <a:pPr marL="241300" marR="5080" indent="-229235" algn="just">
              <a:lnSpc>
                <a:spcPct val="8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rebuchet MS"/>
                <a:cs typeface="Trebuchet MS"/>
              </a:rPr>
              <a:t>The</a:t>
            </a:r>
            <a:r>
              <a:rPr sz="2600" spc="44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Data</a:t>
            </a:r>
            <a:r>
              <a:rPr sz="2600" spc="44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link</a:t>
            </a:r>
            <a:r>
              <a:rPr sz="2600" spc="434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layer</a:t>
            </a:r>
            <a:r>
              <a:rPr sz="2600" spc="434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is</a:t>
            </a:r>
            <a:r>
              <a:rPr sz="2600" spc="434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responsible</a:t>
            </a:r>
            <a:r>
              <a:rPr sz="2600" spc="42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for</a:t>
            </a:r>
            <a:r>
              <a:rPr sz="2600" spc="459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routing</a:t>
            </a:r>
            <a:r>
              <a:rPr sz="2600" spc="434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44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forwarding</a:t>
            </a:r>
            <a:r>
              <a:rPr sz="2600" spc="450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the </a:t>
            </a:r>
            <a:r>
              <a:rPr sz="2600" spc="-10" dirty="0">
                <a:latin typeface="Trebuchet MS"/>
                <a:cs typeface="Trebuchet MS"/>
              </a:rPr>
              <a:t>packets.</a:t>
            </a:r>
            <a:endParaRPr sz="2600">
              <a:latin typeface="Trebuchet MS"/>
              <a:cs typeface="Trebuchet MS"/>
            </a:endParaRPr>
          </a:p>
          <a:p>
            <a:pPr marL="241300" marR="5080" indent="-229235" algn="just">
              <a:lnSpc>
                <a:spcPts val="250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20" dirty="0">
                <a:latin typeface="Trebuchet MS"/>
                <a:cs typeface="Trebuchet MS"/>
              </a:rPr>
              <a:t>Routers</a:t>
            </a:r>
            <a:r>
              <a:rPr sz="2600" spc="-245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are</a:t>
            </a:r>
            <a:r>
              <a:rPr sz="2600" spc="-250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the</a:t>
            </a:r>
            <a:r>
              <a:rPr sz="2600" spc="-250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layer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25" dirty="0">
                <a:latin typeface="Trebuchet MS"/>
                <a:cs typeface="Trebuchet MS"/>
              </a:rPr>
              <a:t>3</a:t>
            </a:r>
            <a:r>
              <a:rPr sz="2600" spc="-245" dirty="0">
                <a:latin typeface="Trebuchet MS"/>
                <a:cs typeface="Trebuchet MS"/>
              </a:rPr>
              <a:t> </a:t>
            </a:r>
            <a:r>
              <a:rPr sz="2600" spc="-35" dirty="0">
                <a:latin typeface="Trebuchet MS"/>
                <a:cs typeface="Trebuchet MS"/>
              </a:rPr>
              <a:t>devices,</a:t>
            </a:r>
            <a:r>
              <a:rPr sz="2600" spc="-245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they</a:t>
            </a:r>
            <a:r>
              <a:rPr sz="2600" spc="-245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are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30" dirty="0">
                <a:latin typeface="Trebuchet MS"/>
                <a:cs typeface="Trebuchet MS"/>
              </a:rPr>
              <a:t>specified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55" dirty="0">
                <a:latin typeface="Trebuchet MS"/>
                <a:cs typeface="Trebuchet MS"/>
              </a:rPr>
              <a:t>in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this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layer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5" dirty="0">
                <a:latin typeface="Trebuchet MS"/>
                <a:cs typeface="Trebuchet MS"/>
              </a:rPr>
              <a:t>and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50" dirty="0">
                <a:latin typeface="Trebuchet MS"/>
                <a:cs typeface="Trebuchet MS"/>
              </a:rPr>
              <a:t>used</a:t>
            </a:r>
            <a:r>
              <a:rPr sz="2600" spc="30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to</a:t>
            </a:r>
            <a:r>
              <a:rPr sz="2600" spc="-270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provide</a:t>
            </a:r>
            <a:r>
              <a:rPr sz="2600" spc="-260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the</a:t>
            </a:r>
            <a:r>
              <a:rPr sz="2600" spc="-260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routing</a:t>
            </a:r>
            <a:r>
              <a:rPr sz="2600" spc="-260" dirty="0">
                <a:latin typeface="Trebuchet MS"/>
                <a:cs typeface="Trebuchet MS"/>
              </a:rPr>
              <a:t> </a:t>
            </a:r>
            <a:r>
              <a:rPr sz="2600" spc="5" dirty="0">
                <a:latin typeface="Trebuchet MS"/>
                <a:cs typeface="Trebuchet MS"/>
              </a:rPr>
              <a:t>services</a:t>
            </a:r>
            <a:r>
              <a:rPr sz="2600" spc="-250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within</a:t>
            </a:r>
            <a:r>
              <a:rPr sz="2600" spc="-245" dirty="0">
                <a:latin typeface="Trebuchet MS"/>
                <a:cs typeface="Trebuchet MS"/>
              </a:rPr>
              <a:t> </a:t>
            </a:r>
            <a:r>
              <a:rPr sz="2600" spc="10" dirty="0">
                <a:latin typeface="Trebuchet MS"/>
                <a:cs typeface="Trebuchet MS"/>
              </a:rPr>
              <a:t>an</a:t>
            </a:r>
            <a:r>
              <a:rPr sz="2600" spc="-254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internetwork.</a:t>
            </a:r>
            <a:endParaRPr sz="2600">
              <a:latin typeface="Trebuchet MS"/>
              <a:cs typeface="Trebuchet MS"/>
            </a:endParaRPr>
          </a:p>
          <a:p>
            <a:pPr marL="241300" marR="6350" indent="-229235" algn="just">
              <a:lnSpc>
                <a:spcPts val="250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10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protocols</a:t>
            </a:r>
            <a:r>
              <a:rPr sz="2600" spc="-10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used</a:t>
            </a:r>
            <a:r>
              <a:rPr sz="2600" spc="-85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to</a:t>
            </a:r>
            <a:r>
              <a:rPr sz="2600" spc="-90" dirty="0">
                <a:latin typeface="Trebuchet MS"/>
                <a:cs typeface="Trebuchet MS"/>
              </a:rPr>
              <a:t> </a:t>
            </a:r>
            <a:r>
              <a:rPr sz="2600" spc="-65" dirty="0">
                <a:latin typeface="Trebuchet MS"/>
                <a:cs typeface="Trebuchet MS"/>
              </a:rPr>
              <a:t>route</a:t>
            </a:r>
            <a:r>
              <a:rPr sz="2600" spc="-100" dirty="0">
                <a:latin typeface="Trebuchet MS"/>
                <a:cs typeface="Trebuchet MS"/>
              </a:rPr>
              <a:t> </a:t>
            </a:r>
            <a:r>
              <a:rPr sz="2600" spc="-60" dirty="0">
                <a:latin typeface="Trebuchet MS"/>
                <a:cs typeface="Trebuchet MS"/>
              </a:rPr>
              <a:t>the</a:t>
            </a:r>
            <a:r>
              <a:rPr sz="2600" spc="-100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network</a:t>
            </a:r>
            <a:r>
              <a:rPr sz="2600" spc="-120" dirty="0">
                <a:latin typeface="Trebuchet MS"/>
                <a:cs typeface="Trebuchet MS"/>
              </a:rPr>
              <a:t> traffic</a:t>
            </a:r>
            <a:r>
              <a:rPr sz="2600" spc="-80" dirty="0">
                <a:latin typeface="Trebuchet MS"/>
                <a:cs typeface="Trebuchet MS"/>
              </a:rPr>
              <a:t> </a:t>
            </a:r>
            <a:r>
              <a:rPr sz="2600" spc="-45" dirty="0">
                <a:latin typeface="Trebuchet MS"/>
                <a:cs typeface="Trebuchet MS"/>
              </a:rPr>
              <a:t>are</a:t>
            </a:r>
            <a:r>
              <a:rPr sz="2600" spc="-9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known</a:t>
            </a:r>
            <a:r>
              <a:rPr sz="2600" spc="-100" dirty="0">
                <a:latin typeface="Trebuchet MS"/>
                <a:cs typeface="Trebuchet MS"/>
              </a:rPr>
              <a:t> </a:t>
            </a:r>
            <a:r>
              <a:rPr sz="2600" spc="105" dirty="0">
                <a:latin typeface="Trebuchet MS"/>
                <a:cs typeface="Trebuchet MS"/>
              </a:rPr>
              <a:t>as</a:t>
            </a:r>
            <a:r>
              <a:rPr sz="2600" spc="-110" dirty="0">
                <a:latin typeface="Trebuchet MS"/>
                <a:cs typeface="Trebuchet MS"/>
              </a:rPr>
              <a:t> </a:t>
            </a:r>
            <a:r>
              <a:rPr sz="2600" b="1" i="1" spc="-10" dirty="0">
                <a:latin typeface="Trebuchet MS"/>
                <a:cs typeface="Trebuchet MS"/>
              </a:rPr>
              <a:t>Network </a:t>
            </a:r>
            <a:r>
              <a:rPr sz="2600" b="1" i="1" spc="-120" dirty="0">
                <a:latin typeface="Trebuchet MS"/>
                <a:cs typeface="Trebuchet MS"/>
              </a:rPr>
              <a:t>layer</a:t>
            </a:r>
            <a:r>
              <a:rPr sz="2600" b="1" i="1" spc="-235" dirty="0">
                <a:latin typeface="Trebuchet MS"/>
                <a:cs typeface="Trebuchet MS"/>
              </a:rPr>
              <a:t> </a:t>
            </a:r>
            <a:r>
              <a:rPr sz="2600" b="1" i="1" spc="-60" dirty="0">
                <a:latin typeface="Trebuchet MS"/>
                <a:cs typeface="Trebuchet MS"/>
              </a:rPr>
              <a:t>protocols</a:t>
            </a:r>
            <a:r>
              <a:rPr sz="2600" spc="-60" dirty="0">
                <a:latin typeface="Trebuchet MS"/>
                <a:cs typeface="Trebuchet MS"/>
              </a:rPr>
              <a:t>.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Examples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of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protocols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are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IP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IPv6.</a:t>
            </a:r>
            <a:endParaRPr sz="2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Functions</a:t>
            </a:r>
            <a:r>
              <a:rPr spc="-475" dirty="0"/>
              <a:t> </a:t>
            </a:r>
            <a:r>
              <a:rPr spc="-265" dirty="0"/>
              <a:t>of</a:t>
            </a:r>
            <a:r>
              <a:rPr spc="-434" dirty="0"/>
              <a:t> </a:t>
            </a:r>
            <a:r>
              <a:rPr spc="-215" dirty="0"/>
              <a:t>Network</a:t>
            </a:r>
            <a:r>
              <a:rPr spc="-434" dirty="0"/>
              <a:t> </a:t>
            </a:r>
            <a:r>
              <a:rPr spc="-160" dirty="0"/>
              <a:t>Layer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2874645"/>
            <a:ext cx="10515600" cy="3302000"/>
          </a:xfrm>
          <a:custGeom>
            <a:avLst/>
            <a:gdLst/>
            <a:ahLst/>
            <a:cxnLst/>
            <a:rect l="l" t="t" r="r" b="b"/>
            <a:pathLst>
              <a:path w="10515600" h="3302000">
                <a:moveTo>
                  <a:pt x="0" y="3301390"/>
                </a:moveTo>
                <a:lnTo>
                  <a:pt x="10515600" y="3301390"/>
                </a:lnTo>
              </a:path>
              <a:path w="10515600" h="3302000">
                <a:moveTo>
                  <a:pt x="0" y="2200910"/>
                </a:moveTo>
                <a:lnTo>
                  <a:pt x="10515600" y="2200910"/>
                </a:lnTo>
              </a:path>
              <a:path w="10515600" h="3302000">
                <a:moveTo>
                  <a:pt x="0" y="1100454"/>
                </a:moveTo>
                <a:lnTo>
                  <a:pt x="10515600" y="1100454"/>
                </a:lnTo>
              </a:path>
              <a:path w="10515600" h="33020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19050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94353" y="2112390"/>
            <a:ext cx="6390005" cy="723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7200"/>
              </a:lnSpc>
              <a:spcBef>
                <a:spcPts val="100"/>
              </a:spcBef>
            </a:pPr>
            <a:r>
              <a:rPr sz="1800" spc="-10" dirty="0">
                <a:latin typeface="Trebuchet MS"/>
                <a:cs typeface="Trebuchet MS"/>
              </a:rPr>
              <a:t>An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internetworking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main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responsibility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of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network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layer. </a:t>
            </a:r>
            <a:r>
              <a:rPr sz="1800" spc="-95" dirty="0">
                <a:latin typeface="Trebuchet MS"/>
                <a:cs typeface="Trebuchet MS"/>
              </a:rPr>
              <a:t>It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provides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logical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connection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between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different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devices.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1850" y="1820164"/>
            <a:ext cx="2747010" cy="1061085"/>
            <a:chOff x="831850" y="1820164"/>
            <a:chExt cx="2747010" cy="106108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200" y="1826514"/>
              <a:ext cx="2734055" cy="104813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38200" y="1826514"/>
              <a:ext cx="2734310" cy="1048385"/>
            </a:xfrm>
            <a:custGeom>
              <a:avLst/>
              <a:gdLst/>
              <a:ahLst/>
              <a:cxnLst/>
              <a:rect l="l" t="t" r="r" b="b"/>
              <a:pathLst>
                <a:path w="2734310" h="1048385">
                  <a:moveTo>
                    <a:pt x="174713" y="0"/>
                  </a:moveTo>
                  <a:lnTo>
                    <a:pt x="2559304" y="0"/>
                  </a:lnTo>
                  <a:lnTo>
                    <a:pt x="2605762" y="6241"/>
                  </a:lnTo>
                  <a:lnTo>
                    <a:pt x="2647507" y="23857"/>
                  </a:lnTo>
                  <a:lnTo>
                    <a:pt x="2682874" y="51180"/>
                  </a:lnTo>
                  <a:lnTo>
                    <a:pt x="2710198" y="86548"/>
                  </a:lnTo>
                  <a:lnTo>
                    <a:pt x="2727814" y="128293"/>
                  </a:lnTo>
                  <a:lnTo>
                    <a:pt x="2734055" y="174751"/>
                  </a:lnTo>
                  <a:lnTo>
                    <a:pt x="2734055" y="1048131"/>
                  </a:lnTo>
                  <a:lnTo>
                    <a:pt x="0" y="1048131"/>
                  </a:lnTo>
                  <a:lnTo>
                    <a:pt x="0" y="174751"/>
                  </a:lnTo>
                  <a:lnTo>
                    <a:pt x="6240" y="128293"/>
                  </a:lnTo>
                  <a:lnTo>
                    <a:pt x="23852" y="86548"/>
                  </a:lnTo>
                  <a:lnTo>
                    <a:pt x="51171" y="51181"/>
                  </a:lnTo>
                  <a:lnTo>
                    <a:pt x="86531" y="23857"/>
                  </a:lnTo>
                  <a:lnTo>
                    <a:pt x="128267" y="6241"/>
                  </a:lnTo>
                  <a:lnTo>
                    <a:pt x="174713" y="0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84605" y="2113534"/>
            <a:ext cx="244157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85" dirty="0">
                <a:latin typeface="Trebuchet MS"/>
                <a:cs typeface="Trebuchet MS"/>
              </a:rPr>
              <a:t>Internetworking: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94353" y="3036570"/>
            <a:ext cx="7569200" cy="89916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>
              <a:lnSpc>
                <a:spcPts val="1970"/>
              </a:lnSpc>
              <a:spcBef>
                <a:spcPts val="325"/>
              </a:spcBef>
            </a:pPr>
            <a:r>
              <a:rPr sz="1800" spc="-20" dirty="0">
                <a:latin typeface="Trebuchet MS"/>
                <a:cs typeface="Trebuchet MS"/>
              </a:rPr>
              <a:t>A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Network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layer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adds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source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and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destination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address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to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header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of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the </a:t>
            </a:r>
            <a:r>
              <a:rPr sz="1800" spc="-10" dirty="0">
                <a:latin typeface="Trebuchet MS"/>
                <a:cs typeface="Trebuchet MS"/>
              </a:rPr>
              <a:t>frame.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800" spc="-10" dirty="0">
                <a:latin typeface="Trebuchet MS"/>
                <a:cs typeface="Trebuchet MS"/>
              </a:rPr>
              <a:t>Addressing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used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to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identify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device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on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internet.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31850" y="2920619"/>
            <a:ext cx="2747010" cy="1061085"/>
            <a:chOff x="831850" y="2920619"/>
            <a:chExt cx="2747010" cy="106108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200" y="2926969"/>
              <a:ext cx="2734055" cy="104813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38200" y="2926969"/>
              <a:ext cx="2734310" cy="1048385"/>
            </a:xfrm>
            <a:custGeom>
              <a:avLst/>
              <a:gdLst/>
              <a:ahLst/>
              <a:cxnLst/>
              <a:rect l="l" t="t" r="r" b="b"/>
              <a:pathLst>
                <a:path w="2734310" h="1048385">
                  <a:moveTo>
                    <a:pt x="174713" y="0"/>
                  </a:moveTo>
                  <a:lnTo>
                    <a:pt x="2559304" y="0"/>
                  </a:lnTo>
                  <a:lnTo>
                    <a:pt x="2605762" y="6241"/>
                  </a:lnTo>
                  <a:lnTo>
                    <a:pt x="2647507" y="23857"/>
                  </a:lnTo>
                  <a:lnTo>
                    <a:pt x="2682874" y="51180"/>
                  </a:lnTo>
                  <a:lnTo>
                    <a:pt x="2710198" y="86548"/>
                  </a:lnTo>
                  <a:lnTo>
                    <a:pt x="2727814" y="128293"/>
                  </a:lnTo>
                  <a:lnTo>
                    <a:pt x="2734055" y="174751"/>
                  </a:lnTo>
                  <a:lnTo>
                    <a:pt x="2734055" y="1048130"/>
                  </a:lnTo>
                  <a:lnTo>
                    <a:pt x="0" y="1048130"/>
                  </a:lnTo>
                  <a:lnTo>
                    <a:pt x="0" y="174751"/>
                  </a:lnTo>
                  <a:lnTo>
                    <a:pt x="6240" y="128293"/>
                  </a:lnTo>
                  <a:lnTo>
                    <a:pt x="23852" y="86548"/>
                  </a:lnTo>
                  <a:lnTo>
                    <a:pt x="51171" y="51181"/>
                  </a:lnTo>
                  <a:lnTo>
                    <a:pt x="86531" y="23857"/>
                  </a:lnTo>
                  <a:lnTo>
                    <a:pt x="128267" y="6241"/>
                  </a:lnTo>
                  <a:lnTo>
                    <a:pt x="174713" y="0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319911" y="3214242"/>
            <a:ext cx="177101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0" dirty="0">
                <a:latin typeface="Trebuchet MS"/>
                <a:cs typeface="Trebuchet MS"/>
              </a:rPr>
              <a:t>Addressing: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94353" y="4485894"/>
            <a:ext cx="7327900" cy="5499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>
              <a:lnSpc>
                <a:spcPts val="1970"/>
              </a:lnSpc>
              <a:spcBef>
                <a:spcPts val="325"/>
              </a:spcBef>
            </a:pPr>
            <a:r>
              <a:rPr sz="1800" spc="-40" dirty="0">
                <a:latin typeface="Trebuchet MS"/>
                <a:cs typeface="Trebuchet MS"/>
              </a:rPr>
              <a:t>Routing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major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component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of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network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layer,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it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determines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the </a:t>
            </a:r>
            <a:r>
              <a:rPr sz="1800" spc="-20" dirty="0">
                <a:latin typeface="Trebuchet MS"/>
                <a:cs typeface="Trebuchet MS"/>
              </a:rPr>
              <a:t>best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optimal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path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out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of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multiple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paths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from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source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to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destination.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31850" y="4021201"/>
            <a:ext cx="2747010" cy="1061085"/>
            <a:chOff x="831850" y="4021201"/>
            <a:chExt cx="2747010" cy="1061085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8200" y="4027551"/>
              <a:ext cx="2734055" cy="104800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38200" y="4027551"/>
              <a:ext cx="2734310" cy="1048385"/>
            </a:xfrm>
            <a:custGeom>
              <a:avLst/>
              <a:gdLst/>
              <a:ahLst/>
              <a:cxnLst/>
              <a:rect l="l" t="t" r="r" b="b"/>
              <a:pathLst>
                <a:path w="2734310" h="1048385">
                  <a:moveTo>
                    <a:pt x="174713" y="0"/>
                  </a:moveTo>
                  <a:lnTo>
                    <a:pt x="2559304" y="0"/>
                  </a:lnTo>
                  <a:lnTo>
                    <a:pt x="2605762" y="6232"/>
                  </a:lnTo>
                  <a:lnTo>
                    <a:pt x="2647507" y="23824"/>
                  </a:lnTo>
                  <a:lnTo>
                    <a:pt x="2682874" y="51117"/>
                  </a:lnTo>
                  <a:lnTo>
                    <a:pt x="2710198" y="86454"/>
                  </a:lnTo>
                  <a:lnTo>
                    <a:pt x="2727814" y="128175"/>
                  </a:lnTo>
                  <a:lnTo>
                    <a:pt x="2734055" y="174625"/>
                  </a:lnTo>
                  <a:lnTo>
                    <a:pt x="2734055" y="1048004"/>
                  </a:lnTo>
                  <a:lnTo>
                    <a:pt x="0" y="1048004"/>
                  </a:lnTo>
                  <a:lnTo>
                    <a:pt x="0" y="174625"/>
                  </a:lnTo>
                  <a:lnTo>
                    <a:pt x="6240" y="128175"/>
                  </a:lnTo>
                  <a:lnTo>
                    <a:pt x="23852" y="86454"/>
                  </a:lnTo>
                  <a:lnTo>
                    <a:pt x="51171" y="51117"/>
                  </a:lnTo>
                  <a:lnTo>
                    <a:pt x="86531" y="23824"/>
                  </a:lnTo>
                  <a:lnTo>
                    <a:pt x="128267" y="6232"/>
                  </a:lnTo>
                  <a:lnTo>
                    <a:pt x="174713" y="0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574419" y="4314825"/>
            <a:ext cx="126111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5" dirty="0">
                <a:latin typeface="Trebuchet MS"/>
                <a:cs typeface="Trebuchet MS"/>
              </a:rPr>
              <a:t>Routing: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94353" y="5237733"/>
            <a:ext cx="7592695" cy="89916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>
              <a:lnSpc>
                <a:spcPts val="1970"/>
              </a:lnSpc>
              <a:spcBef>
                <a:spcPts val="320"/>
              </a:spcBef>
            </a:pPr>
            <a:r>
              <a:rPr sz="1800" spc="-20" dirty="0">
                <a:latin typeface="Trebuchet MS"/>
                <a:cs typeface="Trebuchet MS"/>
              </a:rPr>
              <a:t>A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Network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Layer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receives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packets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from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upper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layer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converts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them </a:t>
            </a:r>
            <a:r>
              <a:rPr sz="1800" spc="-65" dirty="0">
                <a:latin typeface="Trebuchet MS"/>
                <a:cs typeface="Trebuchet MS"/>
              </a:rPr>
              <a:t>into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packets.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800" spc="-45" dirty="0">
                <a:latin typeface="Trebuchet MS"/>
                <a:cs typeface="Trebuchet MS"/>
              </a:rPr>
              <a:t>This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process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known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75" dirty="0">
                <a:latin typeface="Trebuchet MS"/>
                <a:cs typeface="Trebuchet MS"/>
              </a:rPr>
              <a:t>as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b="1" i="1" spc="-70" dirty="0">
                <a:latin typeface="Trebuchet MS"/>
                <a:cs typeface="Trebuchet MS"/>
              </a:rPr>
              <a:t>Packetizing</a:t>
            </a:r>
            <a:r>
              <a:rPr sz="1800" spc="-70" dirty="0">
                <a:latin typeface="Trebuchet MS"/>
                <a:cs typeface="Trebuchet MS"/>
              </a:rPr>
              <a:t>.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It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achieved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by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internet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protocol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(IP).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31850" y="5121655"/>
            <a:ext cx="2747010" cy="1061085"/>
            <a:chOff x="831850" y="5121655"/>
            <a:chExt cx="2747010" cy="1061085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8200" y="5128005"/>
              <a:ext cx="2734055" cy="104802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38200" y="5128005"/>
              <a:ext cx="2734310" cy="1048385"/>
            </a:xfrm>
            <a:custGeom>
              <a:avLst/>
              <a:gdLst/>
              <a:ahLst/>
              <a:cxnLst/>
              <a:rect l="l" t="t" r="r" b="b"/>
              <a:pathLst>
                <a:path w="2734310" h="1048385">
                  <a:moveTo>
                    <a:pt x="174713" y="0"/>
                  </a:moveTo>
                  <a:lnTo>
                    <a:pt x="2559304" y="0"/>
                  </a:lnTo>
                  <a:lnTo>
                    <a:pt x="2605762" y="6241"/>
                  </a:lnTo>
                  <a:lnTo>
                    <a:pt x="2647507" y="23852"/>
                  </a:lnTo>
                  <a:lnTo>
                    <a:pt x="2682874" y="51165"/>
                  </a:lnTo>
                  <a:lnTo>
                    <a:pt x="2710198" y="86510"/>
                  </a:lnTo>
                  <a:lnTo>
                    <a:pt x="2727814" y="128220"/>
                  </a:lnTo>
                  <a:lnTo>
                    <a:pt x="2734055" y="174625"/>
                  </a:lnTo>
                  <a:lnTo>
                    <a:pt x="2734055" y="1048029"/>
                  </a:lnTo>
                  <a:lnTo>
                    <a:pt x="0" y="1048029"/>
                  </a:lnTo>
                  <a:lnTo>
                    <a:pt x="0" y="174625"/>
                  </a:lnTo>
                  <a:lnTo>
                    <a:pt x="6240" y="128220"/>
                  </a:lnTo>
                  <a:lnTo>
                    <a:pt x="23852" y="86510"/>
                  </a:lnTo>
                  <a:lnTo>
                    <a:pt x="51171" y="51165"/>
                  </a:lnTo>
                  <a:lnTo>
                    <a:pt x="86531" y="23852"/>
                  </a:lnTo>
                  <a:lnTo>
                    <a:pt x="128267" y="6241"/>
                  </a:lnTo>
                  <a:lnTo>
                    <a:pt x="174713" y="0"/>
                  </a:lnTo>
                  <a:close/>
                </a:path>
              </a:pathLst>
            </a:custGeom>
            <a:ln w="12700">
              <a:solidFill>
                <a:srgbClr val="9F2B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307719" y="5415483"/>
            <a:ext cx="179451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75" dirty="0">
                <a:latin typeface="Trebuchet MS"/>
                <a:cs typeface="Trebuchet MS"/>
              </a:rPr>
              <a:t>Packetizing:</a:t>
            </a:r>
            <a:endParaRPr sz="2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35090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4" dirty="0"/>
              <a:t>Transport</a:t>
            </a:r>
            <a:r>
              <a:rPr spc="-484" dirty="0"/>
              <a:t> </a:t>
            </a:r>
            <a:r>
              <a:rPr spc="-190" dirty="0"/>
              <a:t>Layer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8927" y="1767843"/>
            <a:ext cx="9683800" cy="434564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35090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4" dirty="0"/>
              <a:t>Transport</a:t>
            </a:r>
            <a:r>
              <a:rPr spc="-484" dirty="0"/>
              <a:t> </a:t>
            </a:r>
            <a:r>
              <a:rPr spc="-190" dirty="0"/>
              <a:t>Layer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6985" indent="-227965" algn="just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The</a:t>
            </a:r>
            <a:r>
              <a:rPr spc="500" dirty="0"/>
              <a:t> </a:t>
            </a:r>
            <a:r>
              <a:rPr dirty="0"/>
              <a:t>Transport</a:t>
            </a:r>
            <a:r>
              <a:rPr spc="509" dirty="0"/>
              <a:t> </a:t>
            </a:r>
            <a:r>
              <a:rPr dirty="0"/>
              <a:t>layer</a:t>
            </a:r>
            <a:r>
              <a:rPr spc="495" dirty="0"/>
              <a:t> </a:t>
            </a:r>
            <a:r>
              <a:rPr dirty="0"/>
              <a:t>is</a:t>
            </a:r>
            <a:r>
              <a:rPr spc="495" dirty="0"/>
              <a:t> </a:t>
            </a:r>
            <a:r>
              <a:rPr dirty="0"/>
              <a:t>a</a:t>
            </a:r>
            <a:r>
              <a:rPr spc="509" dirty="0"/>
              <a:t> </a:t>
            </a:r>
            <a:r>
              <a:rPr dirty="0"/>
              <a:t>Layer</a:t>
            </a:r>
            <a:r>
              <a:rPr spc="509" dirty="0"/>
              <a:t> </a:t>
            </a:r>
            <a:r>
              <a:rPr dirty="0"/>
              <a:t>4</a:t>
            </a:r>
            <a:r>
              <a:rPr spc="495" dirty="0"/>
              <a:t> </a:t>
            </a:r>
            <a:r>
              <a:rPr dirty="0"/>
              <a:t>ensures</a:t>
            </a:r>
            <a:r>
              <a:rPr spc="509" dirty="0"/>
              <a:t> </a:t>
            </a:r>
            <a:r>
              <a:rPr dirty="0"/>
              <a:t>that</a:t>
            </a:r>
            <a:r>
              <a:rPr spc="484" dirty="0"/>
              <a:t> </a:t>
            </a:r>
            <a:r>
              <a:rPr spc="65" dirty="0"/>
              <a:t>messages</a:t>
            </a:r>
            <a:r>
              <a:rPr spc="520" dirty="0"/>
              <a:t> </a:t>
            </a:r>
            <a:r>
              <a:rPr spc="-25" dirty="0"/>
              <a:t>are 	</a:t>
            </a:r>
            <a:r>
              <a:rPr spc="-45" dirty="0"/>
              <a:t>transmitted</a:t>
            </a:r>
            <a:r>
              <a:rPr spc="45" dirty="0"/>
              <a:t> </a:t>
            </a:r>
            <a:r>
              <a:rPr dirty="0"/>
              <a:t>in</a:t>
            </a:r>
            <a:r>
              <a:rPr spc="40" dirty="0"/>
              <a:t> </a:t>
            </a:r>
            <a:r>
              <a:rPr dirty="0"/>
              <a:t>the</a:t>
            </a:r>
            <a:r>
              <a:rPr spc="45" dirty="0"/>
              <a:t> </a:t>
            </a:r>
            <a:r>
              <a:rPr dirty="0"/>
              <a:t>order</a:t>
            </a:r>
            <a:r>
              <a:rPr spc="65" dirty="0"/>
              <a:t> </a:t>
            </a:r>
            <a:r>
              <a:rPr dirty="0"/>
              <a:t>in</a:t>
            </a:r>
            <a:r>
              <a:rPr spc="45" dirty="0"/>
              <a:t> </a:t>
            </a:r>
            <a:r>
              <a:rPr dirty="0"/>
              <a:t>which</a:t>
            </a:r>
            <a:r>
              <a:rPr spc="40" dirty="0"/>
              <a:t> </a:t>
            </a:r>
            <a:r>
              <a:rPr dirty="0"/>
              <a:t>they</a:t>
            </a:r>
            <a:r>
              <a:rPr spc="45" dirty="0"/>
              <a:t> </a:t>
            </a:r>
            <a:r>
              <a:rPr dirty="0"/>
              <a:t>are</a:t>
            </a:r>
            <a:r>
              <a:rPr spc="50" dirty="0"/>
              <a:t> </a:t>
            </a:r>
            <a:r>
              <a:rPr dirty="0"/>
              <a:t>sent</a:t>
            </a:r>
            <a:r>
              <a:rPr spc="50" dirty="0"/>
              <a:t> </a:t>
            </a:r>
            <a:r>
              <a:rPr dirty="0"/>
              <a:t>and</a:t>
            </a:r>
            <a:r>
              <a:rPr spc="50" dirty="0"/>
              <a:t> </a:t>
            </a:r>
            <a:r>
              <a:rPr spc="-20" dirty="0"/>
              <a:t>there</a:t>
            </a:r>
            <a:r>
              <a:rPr spc="50" dirty="0"/>
              <a:t> </a:t>
            </a:r>
            <a:r>
              <a:rPr dirty="0"/>
              <a:t>is</a:t>
            </a:r>
            <a:r>
              <a:rPr spc="45" dirty="0"/>
              <a:t> </a:t>
            </a:r>
            <a:r>
              <a:rPr spc="-25" dirty="0"/>
              <a:t>no 	</a:t>
            </a:r>
            <a:r>
              <a:rPr spc="-55" dirty="0"/>
              <a:t>duplication</a:t>
            </a:r>
            <a:r>
              <a:rPr spc="-225" dirty="0"/>
              <a:t> </a:t>
            </a:r>
            <a:r>
              <a:rPr spc="-85" dirty="0"/>
              <a:t>of</a:t>
            </a:r>
            <a:r>
              <a:rPr spc="-210" dirty="0"/>
              <a:t> </a:t>
            </a:r>
            <a:r>
              <a:rPr spc="-20" dirty="0"/>
              <a:t>data.</a:t>
            </a:r>
          </a:p>
          <a:p>
            <a:pPr marL="240029" marR="5080" indent="-227965" algn="just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pc="-215" dirty="0"/>
              <a:t>The</a:t>
            </a:r>
            <a:r>
              <a:rPr spc="5" dirty="0"/>
              <a:t> </a:t>
            </a:r>
            <a:r>
              <a:rPr spc="-45" dirty="0"/>
              <a:t>main</a:t>
            </a:r>
            <a:r>
              <a:rPr spc="-165" dirty="0"/>
              <a:t> </a:t>
            </a:r>
            <a:r>
              <a:rPr spc="-55" dirty="0"/>
              <a:t>responsibility</a:t>
            </a:r>
            <a:r>
              <a:rPr spc="-155" dirty="0"/>
              <a:t> </a:t>
            </a:r>
            <a:r>
              <a:rPr spc="-229" dirty="0"/>
              <a:t>of</a:t>
            </a:r>
            <a:r>
              <a:rPr spc="20" dirty="0"/>
              <a:t> </a:t>
            </a:r>
            <a:r>
              <a:rPr spc="-155" dirty="0"/>
              <a:t>the</a:t>
            </a:r>
            <a:r>
              <a:rPr spc="-55" dirty="0"/>
              <a:t> </a:t>
            </a:r>
            <a:r>
              <a:rPr spc="-90" dirty="0"/>
              <a:t>transport</a:t>
            </a:r>
            <a:r>
              <a:rPr spc="-95" dirty="0"/>
              <a:t> </a:t>
            </a:r>
            <a:r>
              <a:rPr spc="-130" dirty="0"/>
              <a:t>layer</a:t>
            </a:r>
            <a:r>
              <a:rPr spc="-50" dirty="0"/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spc="-245" dirty="0"/>
              <a:t>to</a:t>
            </a:r>
            <a:r>
              <a:rPr spc="35" dirty="0"/>
              <a:t> </a:t>
            </a:r>
            <a:r>
              <a:rPr spc="-110" dirty="0"/>
              <a:t>transfer</a:t>
            </a:r>
            <a:r>
              <a:rPr spc="-40" dirty="0"/>
              <a:t> </a:t>
            </a:r>
            <a:r>
              <a:rPr spc="-170" dirty="0"/>
              <a:t>the</a:t>
            </a:r>
            <a:r>
              <a:rPr spc="-40" dirty="0"/>
              <a:t> </a:t>
            </a:r>
            <a:r>
              <a:rPr spc="-20" dirty="0"/>
              <a:t>data 	</a:t>
            </a:r>
            <a:r>
              <a:rPr spc="-10" dirty="0"/>
              <a:t>completely.</a:t>
            </a:r>
          </a:p>
          <a:p>
            <a:pPr marL="239395" marR="6985" indent="-227329" algn="just">
              <a:lnSpc>
                <a:spcPts val="303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pc="-10" dirty="0"/>
              <a:t>It</a:t>
            </a:r>
            <a:r>
              <a:rPr spc="-150" dirty="0"/>
              <a:t> </a:t>
            </a:r>
            <a:r>
              <a:rPr spc="-20" dirty="0"/>
              <a:t>receives</a:t>
            </a:r>
            <a:r>
              <a:rPr spc="-140" dirty="0"/>
              <a:t> </a:t>
            </a:r>
            <a:r>
              <a:rPr spc="-10" dirty="0"/>
              <a:t>the</a:t>
            </a:r>
            <a:r>
              <a:rPr spc="-130" dirty="0"/>
              <a:t> </a:t>
            </a:r>
            <a:r>
              <a:rPr dirty="0"/>
              <a:t>data</a:t>
            </a:r>
            <a:r>
              <a:rPr spc="-145" dirty="0"/>
              <a:t> </a:t>
            </a:r>
            <a:r>
              <a:rPr spc="-25" dirty="0"/>
              <a:t>from</a:t>
            </a:r>
            <a:r>
              <a:rPr spc="-140" dirty="0"/>
              <a:t> </a:t>
            </a:r>
            <a:r>
              <a:rPr dirty="0"/>
              <a:t>the</a:t>
            </a:r>
            <a:r>
              <a:rPr spc="-140" dirty="0"/>
              <a:t> </a:t>
            </a:r>
            <a:r>
              <a:rPr dirty="0"/>
              <a:t>upper</a:t>
            </a:r>
            <a:r>
              <a:rPr spc="-140" dirty="0"/>
              <a:t> </a:t>
            </a:r>
            <a:r>
              <a:rPr spc="-60" dirty="0"/>
              <a:t>layer</a:t>
            </a:r>
            <a:r>
              <a:rPr spc="-140" dirty="0"/>
              <a:t> </a:t>
            </a:r>
            <a:r>
              <a:rPr dirty="0"/>
              <a:t>and</a:t>
            </a:r>
            <a:r>
              <a:rPr spc="-135" dirty="0"/>
              <a:t> </a:t>
            </a:r>
            <a:r>
              <a:rPr dirty="0"/>
              <a:t>converts</a:t>
            </a:r>
            <a:r>
              <a:rPr spc="-145" dirty="0"/>
              <a:t> </a:t>
            </a:r>
            <a:r>
              <a:rPr dirty="0"/>
              <a:t>them</a:t>
            </a:r>
            <a:r>
              <a:rPr spc="-140" dirty="0"/>
              <a:t> </a:t>
            </a:r>
            <a:r>
              <a:rPr spc="-20" dirty="0"/>
              <a:t>into 	</a:t>
            </a:r>
            <a:r>
              <a:rPr spc="-30" dirty="0"/>
              <a:t>smaller</a:t>
            </a:r>
            <a:r>
              <a:rPr spc="-240" dirty="0"/>
              <a:t> </a:t>
            </a:r>
            <a:r>
              <a:rPr spc="-30" dirty="0"/>
              <a:t>units</a:t>
            </a:r>
            <a:r>
              <a:rPr spc="-240" dirty="0"/>
              <a:t> </a:t>
            </a:r>
            <a:r>
              <a:rPr spc="-35" dirty="0"/>
              <a:t>known</a:t>
            </a:r>
            <a:r>
              <a:rPr spc="-225" dirty="0"/>
              <a:t> </a:t>
            </a:r>
            <a:r>
              <a:rPr spc="100" dirty="0"/>
              <a:t>as</a:t>
            </a:r>
            <a:r>
              <a:rPr spc="-250" dirty="0"/>
              <a:t> </a:t>
            </a:r>
            <a:r>
              <a:rPr b="1" i="1" spc="-10" dirty="0">
                <a:latin typeface="Trebuchet MS"/>
                <a:cs typeface="Trebuchet MS"/>
              </a:rPr>
              <a:t>segments</a:t>
            </a:r>
            <a:r>
              <a:rPr spc="-10" dirty="0"/>
              <a:t>.</a:t>
            </a:r>
          </a:p>
          <a:p>
            <a:pPr marL="240029" marR="6985" indent="-227965" algn="just">
              <a:lnSpc>
                <a:spcPts val="302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This</a:t>
            </a:r>
            <a:r>
              <a:rPr spc="-35" dirty="0"/>
              <a:t> </a:t>
            </a:r>
            <a:r>
              <a:rPr spc="-55" dirty="0"/>
              <a:t>layer</a:t>
            </a:r>
            <a:r>
              <a:rPr spc="-30" dirty="0"/>
              <a:t> </a:t>
            </a:r>
            <a:r>
              <a:rPr dirty="0"/>
              <a:t>can</a:t>
            </a:r>
            <a:r>
              <a:rPr spc="-25" dirty="0"/>
              <a:t> </a:t>
            </a:r>
            <a:r>
              <a:rPr dirty="0"/>
              <a:t>be</a:t>
            </a:r>
            <a:r>
              <a:rPr spc="-20" dirty="0"/>
              <a:t> </a:t>
            </a:r>
            <a:r>
              <a:rPr spc="-45" dirty="0"/>
              <a:t>termed</a:t>
            </a:r>
            <a:r>
              <a:rPr spc="-30" dirty="0"/>
              <a:t> </a:t>
            </a:r>
            <a:r>
              <a:rPr spc="100" dirty="0"/>
              <a:t>as</a:t>
            </a:r>
            <a:r>
              <a:rPr spc="-25" dirty="0"/>
              <a:t> </a:t>
            </a:r>
            <a:r>
              <a:rPr dirty="0"/>
              <a:t>an</a:t>
            </a:r>
            <a:r>
              <a:rPr spc="-35" dirty="0"/>
              <a:t> </a:t>
            </a:r>
            <a:r>
              <a:rPr spc="-40" dirty="0"/>
              <a:t>end-</a:t>
            </a:r>
            <a:r>
              <a:rPr spc="-100" dirty="0"/>
              <a:t>to-</a:t>
            </a:r>
            <a:r>
              <a:rPr dirty="0"/>
              <a:t>end</a:t>
            </a:r>
            <a:r>
              <a:rPr spc="-35" dirty="0"/>
              <a:t> </a:t>
            </a:r>
            <a:r>
              <a:rPr spc="-55" dirty="0"/>
              <a:t>layer</a:t>
            </a:r>
            <a:r>
              <a:rPr spc="-25" dirty="0"/>
              <a:t> </a:t>
            </a:r>
            <a:r>
              <a:rPr spc="100" dirty="0"/>
              <a:t>as</a:t>
            </a:r>
            <a:r>
              <a:rPr spc="-30" dirty="0"/>
              <a:t> </a:t>
            </a:r>
            <a:r>
              <a:rPr spc="-75" dirty="0"/>
              <a:t>it</a:t>
            </a:r>
            <a:r>
              <a:rPr spc="-35" dirty="0"/>
              <a:t> </a:t>
            </a:r>
            <a:r>
              <a:rPr spc="-10" dirty="0"/>
              <a:t>provides</a:t>
            </a:r>
            <a:r>
              <a:rPr spc="-25" dirty="0"/>
              <a:t> </a:t>
            </a:r>
            <a:r>
              <a:rPr spc="-50" dirty="0"/>
              <a:t>a 	</a:t>
            </a:r>
            <a:r>
              <a:rPr spc="-80" dirty="0"/>
              <a:t>point-</a:t>
            </a:r>
            <a:r>
              <a:rPr spc="-95" dirty="0"/>
              <a:t>to-</a:t>
            </a:r>
            <a:r>
              <a:rPr dirty="0"/>
              <a:t>point</a:t>
            </a:r>
            <a:r>
              <a:rPr spc="525" dirty="0"/>
              <a:t> </a:t>
            </a:r>
            <a:r>
              <a:rPr dirty="0"/>
              <a:t>connection</a:t>
            </a:r>
            <a:r>
              <a:rPr spc="535" dirty="0"/>
              <a:t> </a:t>
            </a:r>
            <a:r>
              <a:rPr dirty="0"/>
              <a:t>between</a:t>
            </a:r>
            <a:r>
              <a:rPr spc="525" dirty="0"/>
              <a:t> </a:t>
            </a:r>
            <a:r>
              <a:rPr dirty="0"/>
              <a:t>source</a:t>
            </a:r>
            <a:r>
              <a:rPr spc="525" dirty="0"/>
              <a:t> </a:t>
            </a:r>
            <a:r>
              <a:rPr dirty="0"/>
              <a:t>and</a:t>
            </a:r>
            <a:r>
              <a:rPr spc="520" dirty="0"/>
              <a:t> </a:t>
            </a:r>
            <a:r>
              <a:rPr dirty="0"/>
              <a:t>destination</a:t>
            </a:r>
            <a:r>
              <a:rPr spc="525" dirty="0"/>
              <a:t> </a:t>
            </a:r>
            <a:r>
              <a:rPr spc="-25" dirty="0"/>
              <a:t>to 	</a:t>
            </a:r>
            <a:r>
              <a:rPr spc="-100" dirty="0"/>
              <a:t>deliver</a:t>
            </a:r>
            <a:r>
              <a:rPr spc="-240" dirty="0"/>
              <a:t> </a:t>
            </a:r>
            <a:r>
              <a:rPr spc="-105" dirty="0"/>
              <a:t>the</a:t>
            </a:r>
            <a:r>
              <a:rPr spc="-220" dirty="0"/>
              <a:t> </a:t>
            </a:r>
            <a:r>
              <a:rPr spc="-75" dirty="0"/>
              <a:t>data</a:t>
            </a:r>
            <a:r>
              <a:rPr spc="-225" dirty="0"/>
              <a:t> </a:t>
            </a:r>
            <a:r>
              <a:rPr spc="-10" dirty="0"/>
              <a:t>reliably.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75914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5" dirty="0"/>
              <a:t>Protocols</a:t>
            </a:r>
            <a:r>
              <a:rPr spc="-455" dirty="0"/>
              <a:t> </a:t>
            </a:r>
            <a:r>
              <a:rPr spc="-55" dirty="0"/>
              <a:t>Used</a:t>
            </a:r>
            <a:r>
              <a:rPr spc="-450" dirty="0"/>
              <a:t> </a:t>
            </a:r>
            <a:r>
              <a:rPr spc="-260" dirty="0"/>
              <a:t>in</a:t>
            </a:r>
            <a:r>
              <a:rPr spc="-450" dirty="0"/>
              <a:t> </a:t>
            </a:r>
            <a:r>
              <a:rPr spc="-254" dirty="0"/>
              <a:t>Transport</a:t>
            </a:r>
            <a:r>
              <a:rPr spc="-484" dirty="0"/>
              <a:t> </a:t>
            </a:r>
            <a:r>
              <a:rPr spc="-15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2316" y="2874010"/>
            <a:ext cx="2235835" cy="5784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ts val="2180"/>
              </a:lnSpc>
              <a:spcBef>
                <a:spcPts val="95"/>
              </a:spcBef>
            </a:pPr>
            <a:r>
              <a:rPr sz="1900" spc="-25" dirty="0">
                <a:latin typeface="Trebuchet MS"/>
                <a:cs typeface="Trebuchet MS"/>
              </a:rPr>
              <a:t>Transmission</a:t>
            </a:r>
            <a:r>
              <a:rPr sz="1900" spc="-6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Control</a:t>
            </a:r>
            <a:endParaRPr sz="1900">
              <a:latin typeface="Trebuchet MS"/>
              <a:cs typeface="Trebuchet MS"/>
            </a:endParaRPr>
          </a:p>
          <a:p>
            <a:pPr marR="5080" algn="r">
              <a:lnSpc>
                <a:spcPts val="2180"/>
              </a:lnSpc>
            </a:pPr>
            <a:r>
              <a:rPr sz="1900" spc="-10" dirty="0">
                <a:latin typeface="Trebuchet MS"/>
                <a:cs typeface="Trebuchet MS"/>
              </a:rPr>
              <a:t>Protocol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69640" y="1844294"/>
            <a:ext cx="525780" cy="2698115"/>
          </a:xfrm>
          <a:custGeom>
            <a:avLst/>
            <a:gdLst/>
            <a:ahLst/>
            <a:cxnLst/>
            <a:rect l="l" t="t" r="r" b="b"/>
            <a:pathLst>
              <a:path w="525779" h="2698115">
                <a:moveTo>
                  <a:pt x="525272" y="2698114"/>
                </a:moveTo>
                <a:lnTo>
                  <a:pt x="472346" y="2694380"/>
                </a:lnTo>
                <a:lnTo>
                  <a:pt x="423048" y="2683668"/>
                </a:lnTo>
                <a:lnTo>
                  <a:pt x="378436" y="2666718"/>
                </a:lnTo>
                <a:lnTo>
                  <a:pt x="339566" y="2644266"/>
                </a:lnTo>
                <a:lnTo>
                  <a:pt x="307494" y="2617053"/>
                </a:lnTo>
                <a:lnTo>
                  <a:pt x="283277" y="2585815"/>
                </a:lnTo>
                <a:lnTo>
                  <a:pt x="262636" y="2514218"/>
                </a:lnTo>
                <a:lnTo>
                  <a:pt x="262636" y="1532889"/>
                </a:lnTo>
                <a:lnTo>
                  <a:pt x="257299" y="1495859"/>
                </a:lnTo>
                <a:lnTo>
                  <a:pt x="217777" y="1430151"/>
                </a:lnTo>
                <a:lnTo>
                  <a:pt x="185705" y="1402953"/>
                </a:lnTo>
                <a:lnTo>
                  <a:pt x="146835" y="1380511"/>
                </a:lnTo>
                <a:lnTo>
                  <a:pt x="102223" y="1363565"/>
                </a:lnTo>
                <a:lnTo>
                  <a:pt x="52925" y="1352855"/>
                </a:lnTo>
                <a:lnTo>
                  <a:pt x="0" y="1349120"/>
                </a:lnTo>
                <a:lnTo>
                  <a:pt x="52925" y="1345386"/>
                </a:lnTo>
                <a:lnTo>
                  <a:pt x="102223" y="1334674"/>
                </a:lnTo>
                <a:lnTo>
                  <a:pt x="146835" y="1317724"/>
                </a:lnTo>
                <a:lnTo>
                  <a:pt x="185705" y="1295273"/>
                </a:lnTo>
                <a:lnTo>
                  <a:pt x="217777" y="1268059"/>
                </a:lnTo>
                <a:lnTo>
                  <a:pt x="241994" y="1236821"/>
                </a:lnTo>
                <a:lnTo>
                  <a:pt x="262636" y="1165225"/>
                </a:lnTo>
                <a:lnTo>
                  <a:pt x="262636" y="183895"/>
                </a:lnTo>
                <a:lnTo>
                  <a:pt x="267972" y="146860"/>
                </a:lnTo>
                <a:lnTo>
                  <a:pt x="307494" y="81117"/>
                </a:lnTo>
                <a:lnTo>
                  <a:pt x="339566" y="53895"/>
                </a:lnTo>
                <a:lnTo>
                  <a:pt x="378436" y="31430"/>
                </a:lnTo>
                <a:lnTo>
                  <a:pt x="423048" y="14464"/>
                </a:lnTo>
                <a:lnTo>
                  <a:pt x="472346" y="3739"/>
                </a:lnTo>
                <a:lnTo>
                  <a:pt x="525272" y="0"/>
                </a:lnTo>
              </a:path>
            </a:pathLst>
          </a:custGeom>
          <a:ln w="19050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1667" y="1840992"/>
            <a:ext cx="7148322" cy="270281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64538" y="5065217"/>
            <a:ext cx="1583690" cy="579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715" algn="r">
              <a:lnSpc>
                <a:spcPts val="2180"/>
              </a:lnSpc>
              <a:spcBef>
                <a:spcPts val="95"/>
              </a:spcBef>
            </a:pPr>
            <a:r>
              <a:rPr sz="1900" dirty="0">
                <a:latin typeface="Trebuchet MS"/>
                <a:cs typeface="Trebuchet MS"/>
              </a:rPr>
              <a:t>User</a:t>
            </a:r>
            <a:r>
              <a:rPr sz="1900" spc="-17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Datagram</a:t>
            </a:r>
            <a:endParaRPr sz="1900">
              <a:latin typeface="Trebuchet MS"/>
              <a:cs typeface="Trebuchet MS"/>
            </a:endParaRPr>
          </a:p>
          <a:p>
            <a:pPr marR="5080" algn="r">
              <a:lnSpc>
                <a:spcPts val="2180"/>
              </a:lnSpc>
            </a:pPr>
            <a:r>
              <a:rPr sz="1900" spc="-10" dirty="0">
                <a:latin typeface="Trebuchet MS"/>
                <a:cs typeface="Trebuchet MS"/>
              </a:rPr>
              <a:t>Protocol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69640" y="4610861"/>
            <a:ext cx="525780" cy="1547495"/>
          </a:xfrm>
          <a:custGeom>
            <a:avLst/>
            <a:gdLst/>
            <a:ahLst/>
            <a:cxnLst/>
            <a:rect l="l" t="t" r="r" b="b"/>
            <a:pathLst>
              <a:path w="525779" h="1547495">
                <a:moveTo>
                  <a:pt x="525272" y="1547368"/>
                </a:moveTo>
                <a:lnTo>
                  <a:pt x="472346" y="1543632"/>
                </a:lnTo>
                <a:lnTo>
                  <a:pt x="423048" y="1532920"/>
                </a:lnTo>
                <a:lnTo>
                  <a:pt x="378436" y="1515970"/>
                </a:lnTo>
                <a:lnTo>
                  <a:pt x="339566" y="1493521"/>
                </a:lnTo>
                <a:lnTo>
                  <a:pt x="307494" y="1466313"/>
                </a:lnTo>
                <a:lnTo>
                  <a:pt x="283277" y="1435084"/>
                </a:lnTo>
                <a:lnTo>
                  <a:pt x="262636" y="1363522"/>
                </a:lnTo>
                <a:lnTo>
                  <a:pt x="262636" y="957453"/>
                </a:lnTo>
                <a:lnTo>
                  <a:pt x="257299" y="920422"/>
                </a:lnTo>
                <a:lnTo>
                  <a:pt x="217777" y="854714"/>
                </a:lnTo>
                <a:lnTo>
                  <a:pt x="185705" y="827516"/>
                </a:lnTo>
                <a:lnTo>
                  <a:pt x="146835" y="805074"/>
                </a:lnTo>
                <a:lnTo>
                  <a:pt x="102223" y="788128"/>
                </a:lnTo>
                <a:lnTo>
                  <a:pt x="52925" y="777418"/>
                </a:lnTo>
                <a:lnTo>
                  <a:pt x="0" y="773684"/>
                </a:lnTo>
                <a:lnTo>
                  <a:pt x="52925" y="769949"/>
                </a:lnTo>
                <a:lnTo>
                  <a:pt x="102223" y="759237"/>
                </a:lnTo>
                <a:lnTo>
                  <a:pt x="146835" y="742287"/>
                </a:lnTo>
                <a:lnTo>
                  <a:pt x="185705" y="719835"/>
                </a:lnTo>
                <a:lnTo>
                  <a:pt x="217777" y="692622"/>
                </a:lnTo>
                <a:lnTo>
                  <a:pt x="241994" y="661384"/>
                </a:lnTo>
                <a:lnTo>
                  <a:pt x="262636" y="589788"/>
                </a:lnTo>
                <a:lnTo>
                  <a:pt x="262636" y="183769"/>
                </a:lnTo>
                <a:lnTo>
                  <a:pt x="267972" y="146738"/>
                </a:lnTo>
                <a:lnTo>
                  <a:pt x="307494" y="81030"/>
                </a:lnTo>
                <a:lnTo>
                  <a:pt x="339566" y="53832"/>
                </a:lnTo>
                <a:lnTo>
                  <a:pt x="378436" y="31390"/>
                </a:lnTo>
                <a:lnTo>
                  <a:pt x="423048" y="14444"/>
                </a:lnTo>
                <a:lnTo>
                  <a:pt x="472346" y="3734"/>
                </a:lnTo>
                <a:lnTo>
                  <a:pt x="525272" y="0"/>
                </a:lnTo>
              </a:path>
            </a:pathLst>
          </a:custGeom>
          <a:ln w="19050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01667" y="4607052"/>
            <a:ext cx="7148322" cy="155219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265167" y="1879854"/>
            <a:ext cx="7004684" cy="418465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84785" marR="104775" indent="-172720">
              <a:lnSpc>
                <a:spcPts val="2080"/>
              </a:lnSpc>
              <a:spcBef>
                <a:spcPts val="330"/>
              </a:spcBef>
              <a:buChar char="•"/>
              <a:tabLst>
                <a:tab pos="184785" algn="l"/>
              </a:tabLst>
            </a:pPr>
            <a:r>
              <a:rPr sz="1900" spc="-100" dirty="0">
                <a:latin typeface="Trebuchet MS"/>
                <a:cs typeface="Trebuchet MS"/>
              </a:rPr>
              <a:t>It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is</a:t>
            </a:r>
            <a:r>
              <a:rPr sz="1900" spc="-15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a</a:t>
            </a:r>
            <a:r>
              <a:rPr sz="1900" spc="-130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standard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spc="-45" dirty="0">
                <a:latin typeface="Trebuchet MS"/>
                <a:cs typeface="Trebuchet MS"/>
              </a:rPr>
              <a:t>protocol</a:t>
            </a:r>
            <a:r>
              <a:rPr sz="1900" spc="-130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that</a:t>
            </a:r>
            <a:r>
              <a:rPr sz="1900" spc="-145" dirty="0">
                <a:latin typeface="Trebuchet MS"/>
                <a:cs typeface="Trebuchet MS"/>
              </a:rPr>
              <a:t> </a:t>
            </a:r>
            <a:r>
              <a:rPr sz="1900" spc="-20" dirty="0">
                <a:latin typeface="Trebuchet MS"/>
                <a:cs typeface="Trebuchet MS"/>
              </a:rPr>
              <a:t>allows</a:t>
            </a:r>
            <a:r>
              <a:rPr sz="1900" spc="-120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the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systems</a:t>
            </a:r>
            <a:r>
              <a:rPr sz="1900" spc="-114" dirty="0">
                <a:latin typeface="Trebuchet MS"/>
                <a:cs typeface="Trebuchet MS"/>
              </a:rPr>
              <a:t> </a:t>
            </a:r>
            <a:r>
              <a:rPr sz="1900" spc="-75" dirty="0">
                <a:latin typeface="Trebuchet MS"/>
                <a:cs typeface="Trebuchet MS"/>
              </a:rPr>
              <a:t>to</a:t>
            </a:r>
            <a:r>
              <a:rPr sz="1900" spc="-13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communicate </a:t>
            </a:r>
            <a:r>
              <a:rPr sz="1900" spc="-70" dirty="0">
                <a:latin typeface="Trebuchet MS"/>
                <a:cs typeface="Trebuchet MS"/>
              </a:rPr>
              <a:t>over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the</a:t>
            </a:r>
            <a:r>
              <a:rPr sz="1900" spc="-15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internet.</a:t>
            </a:r>
            <a:endParaRPr sz="1900">
              <a:latin typeface="Trebuchet MS"/>
              <a:cs typeface="Trebuchet MS"/>
            </a:endParaRPr>
          </a:p>
          <a:p>
            <a:pPr marL="184785" indent="-172085">
              <a:lnSpc>
                <a:spcPct val="100000"/>
              </a:lnSpc>
              <a:spcBef>
                <a:spcPts val="114"/>
              </a:spcBef>
              <a:buChar char="•"/>
              <a:tabLst>
                <a:tab pos="184785" algn="l"/>
              </a:tabLst>
            </a:pPr>
            <a:r>
              <a:rPr sz="1900" spc="-100" dirty="0">
                <a:latin typeface="Trebuchet MS"/>
                <a:cs typeface="Trebuchet MS"/>
              </a:rPr>
              <a:t>It</a:t>
            </a:r>
            <a:r>
              <a:rPr sz="1900" spc="-14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establishes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and</a:t>
            </a:r>
            <a:r>
              <a:rPr sz="1900" spc="-135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maintains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a</a:t>
            </a:r>
            <a:r>
              <a:rPr sz="1900" spc="-155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connection</a:t>
            </a:r>
            <a:r>
              <a:rPr sz="1900" spc="-130" dirty="0">
                <a:latin typeface="Trebuchet MS"/>
                <a:cs typeface="Trebuchet MS"/>
              </a:rPr>
              <a:t> </a:t>
            </a:r>
            <a:r>
              <a:rPr sz="1900" spc="-55" dirty="0">
                <a:latin typeface="Trebuchet MS"/>
                <a:cs typeface="Trebuchet MS"/>
              </a:rPr>
              <a:t>between</a:t>
            </a:r>
            <a:r>
              <a:rPr sz="1900" spc="-12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hosts.</a:t>
            </a:r>
            <a:endParaRPr sz="1900">
              <a:latin typeface="Trebuchet MS"/>
              <a:cs typeface="Trebuchet MS"/>
            </a:endParaRPr>
          </a:p>
          <a:p>
            <a:pPr marL="184785" marR="5080" indent="-172720">
              <a:lnSpc>
                <a:spcPct val="91600"/>
              </a:lnSpc>
              <a:spcBef>
                <a:spcPts val="350"/>
              </a:spcBef>
              <a:buChar char="•"/>
              <a:tabLst>
                <a:tab pos="184785" algn="l"/>
              </a:tabLst>
            </a:pPr>
            <a:r>
              <a:rPr sz="1900" dirty="0">
                <a:latin typeface="Trebuchet MS"/>
                <a:cs typeface="Trebuchet MS"/>
              </a:rPr>
              <a:t>When</a:t>
            </a:r>
            <a:r>
              <a:rPr sz="1900" spc="-150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data</a:t>
            </a:r>
            <a:r>
              <a:rPr sz="1900" spc="-14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is</a:t>
            </a:r>
            <a:r>
              <a:rPr sz="1900" spc="-150" dirty="0">
                <a:latin typeface="Trebuchet MS"/>
                <a:cs typeface="Trebuchet MS"/>
              </a:rPr>
              <a:t> </a:t>
            </a:r>
            <a:r>
              <a:rPr sz="1900" spc="-20" dirty="0">
                <a:latin typeface="Trebuchet MS"/>
                <a:cs typeface="Trebuchet MS"/>
              </a:rPr>
              <a:t>sent</a:t>
            </a:r>
            <a:r>
              <a:rPr sz="1900" spc="-145" dirty="0">
                <a:latin typeface="Trebuchet MS"/>
                <a:cs typeface="Trebuchet MS"/>
              </a:rPr>
              <a:t> </a:t>
            </a:r>
            <a:r>
              <a:rPr sz="1900" spc="-70" dirty="0">
                <a:latin typeface="Trebuchet MS"/>
                <a:cs typeface="Trebuchet MS"/>
              </a:rPr>
              <a:t>over</a:t>
            </a:r>
            <a:r>
              <a:rPr sz="1900" spc="-135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the</a:t>
            </a:r>
            <a:r>
              <a:rPr sz="1900" spc="-145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TCP</a:t>
            </a:r>
            <a:r>
              <a:rPr sz="1900" spc="-150" dirty="0">
                <a:latin typeface="Trebuchet MS"/>
                <a:cs typeface="Trebuchet MS"/>
              </a:rPr>
              <a:t> </a:t>
            </a:r>
            <a:r>
              <a:rPr sz="1900" spc="-35" dirty="0">
                <a:latin typeface="Trebuchet MS"/>
                <a:cs typeface="Trebuchet MS"/>
              </a:rPr>
              <a:t>connection,</a:t>
            </a:r>
            <a:r>
              <a:rPr sz="1900" spc="-135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then</a:t>
            </a:r>
            <a:r>
              <a:rPr sz="1900" spc="-130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the</a:t>
            </a:r>
            <a:r>
              <a:rPr sz="1900" spc="-150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TCP</a:t>
            </a:r>
            <a:r>
              <a:rPr sz="1900" spc="-15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protocol </a:t>
            </a:r>
            <a:r>
              <a:rPr sz="1900" spc="-30" dirty="0">
                <a:latin typeface="Trebuchet MS"/>
                <a:cs typeface="Trebuchet MS"/>
              </a:rPr>
              <a:t>divides</a:t>
            </a:r>
            <a:r>
              <a:rPr sz="1900" spc="-160" dirty="0">
                <a:latin typeface="Trebuchet MS"/>
                <a:cs typeface="Trebuchet MS"/>
              </a:rPr>
              <a:t> </a:t>
            </a:r>
            <a:r>
              <a:rPr sz="1900" spc="-70" dirty="0">
                <a:latin typeface="Trebuchet MS"/>
                <a:cs typeface="Trebuchet MS"/>
              </a:rPr>
              <a:t>the</a:t>
            </a:r>
            <a:r>
              <a:rPr sz="1900" spc="-145" dirty="0">
                <a:latin typeface="Trebuchet MS"/>
                <a:cs typeface="Trebuchet MS"/>
              </a:rPr>
              <a:t> </a:t>
            </a:r>
            <a:r>
              <a:rPr sz="1900" spc="-45" dirty="0">
                <a:latin typeface="Trebuchet MS"/>
                <a:cs typeface="Trebuchet MS"/>
              </a:rPr>
              <a:t>data</a:t>
            </a:r>
            <a:r>
              <a:rPr sz="1900" spc="-145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into</a:t>
            </a:r>
            <a:r>
              <a:rPr sz="1900" spc="-155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smaller</a:t>
            </a:r>
            <a:r>
              <a:rPr sz="1900" spc="-145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units</a:t>
            </a:r>
            <a:r>
              <a:rPr sz="1900" spc="-145" dirty="0">
                <a:latin typeface="Trebuchet MS"/>
                <a:cs typeface="Trebuchet MS"/>
              </a:rPr>
              <a:t> </a:t>
            </a:r>
            <a:r>
              <a:rPr sz="1900" spc="-30" dirty="0">
                <a:latin typeface="Trebuchet MS"/>
                <a:cs typeface="Trebuchet MS"/>
              </a:rPr>
              <a:t>known</a:t>
            </a:r>
            <a:r>
              <a:rPr sz="1900" spc="-130" dirty="0">
                <a:latin typeface="Trebuchet MS"/>
                <a:cs typeface="Trebuchet MS"/>
              </a:rPr>
              <a:t> </a:t>
            </a:r>
            <a:r>
              <a:rPr sz="1900" spc="70" dirty="0">
                <a:latin typeface="Trebuchet MS"/>
                <a:cs typeface="Trebuchet MS"/>
              </a:rPr>
              <a:t>as</a:t>
            </a:r>
            <a:r>
              <a:rPr sz="1900" spc="-200" dirty="0">
                <a:latin typeface="Trebuchet MS"/>
                <a:cs typeface="Trebuchet MS"/>
              </a:rPr>
              <a:t> </a:t>
            </a:r>
            <a:r>
              <a:rPr sz="1900" b="1" i="1" spc="-10" dirty="0">
                <a:latin typeface="Trebuchet MS"/>
                <a:cs typeface="Trebuchet MS"/>
              </a:rPr>
              <a:t>segments</a:t>
            </a:r>
            <a:r>
              <a:rPr sz="1900" spc="-10" dirty="0">
                <a:latin typeface="Trebuchet MS"/>
                <a:cs typeface="Trebuchet MS"/>
              </a:rPr>
              <a:t>.</a:t>
            </a:r>
            <a:r>
              <a:rPr sz="1900" spc="-135" dirty="0">
                <a:latin typeface="Trebuchet MS"/>
                <a:cs typeface="Trebuchet MS"/>
              </a:rPr>
              <a:t> </a:t>
            </a:r>
            <a:r>
              <a:rPr sz="1900" spc="-20" dirty="0">
                <a:latin typeface="Trebuchet MS"/>
                <a:cs typeface="Trebuchet MS"/>
              </a:rPr>
              <a:t>Each segment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travels</a:t>
            </a:r>
            <a:r>
              <a:rPr sz="1900" spc="-125" dirty="0">
                <a:latin typeface="Trebuchet MS"/>
                <a:cs typeface="Trebuchet MS"/>
              </a:rPr>
              <a:t> </a:t>
            </a:r>
            <a:r>
              <a:rPr sz="1900" spc="-70" dirty="0">
                <a:latin typeface="Trebuchet MS"/>
                <a:cs typeface="Trebuchet MS"/>
              </a:rPr>
              <a:t>over</a:t>
            </a:r>
            <a:r>
              <a:rPr sz="1900" spc="-110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the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internet</a:t>
            </a:r>
            <a:r>
              <a:rPr sz="1900" spc="-12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using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spc="-55" dirty="0">
                <a:latin typeface="Trebuchet MS"/>
                <a:cs typeface="Trebuchet MS"/>
              </a:rPr>
              <a:t>multiple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routes,</a:t>
            </a:r>
            <a:r>
              <a:rPr sz="1900" spc="-13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and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spc="-20" dirty="0">
                <a:latin typeface="Trebuchet MS"/>
                <a:cs typeface="Trebuchet MS"/>
              </a:rPr>
              <a:t>they </a:t>
            </a:r>
            <a:r>
              <a:rPr sz="1900" spc="-80" dirty="0">
                <a:latin typeface="Trebuchet MS"/>
                <a:cs typeface="Trebuchet MS"/>
              </a:rPr>
              <a:t>arrive</a:t>
            </a:r>
            <a:r>
              <a:rPr sz="1900" spc="-150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in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different</a:t>
            </a:r>
            <a:r>
              <a:rPr sz="1900" spc="-160" dirty="0">
                <a:latin typeface="Trebuchet MS"/>
                <a:cs typeface="Trebuchet MS"/>
              </a:rPr>
              <a:t> </a:t>
            </a:r>
            <a:r>
              <a:rPr sz="1900" spc="-30" dirty="0">
                <a:latin typeface="Trebuchet MS"/>
                <a:cs typeface="Trebuchet MS"/>
              </a:rPr>
              <a:t>orders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at</a:t>
            </a:r>
            <a:r>
              <a:rPr sz="1900" spc="-160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the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destination.</a:t>
            </a:r>
            <a:endParaRPr sz="1900">
              <a:latin typeface="Trebuchet MS"/>
              <a:cs typeface="Trebuchet MS"/>
            </a:endParaRPr>
          </a:p>
          <a:p>
            <a:pPr marL="184785" marR="498475" indent="-172720">
              <a:lnSpc>
                <a:spcPts val="2090"/>
              </a:lnSpc>
              <a:spcBef>
                <a:spcPts val="384"/>
              </a:spcBef>
              <a:buChar char="•"/>
              <a:tabLst>
                <a:tab pos="184785" algn="l"/>
              </a:tabLst>
            </a:pPr>
            <a:r>
              <a:rPr sz="1900" spc="-85" dirty="0">
                <a:latin typeface="Trebuchet MS"/>
                <a:cs typeface="Trebuchet MS"/>
              </a:rPr>
              <a:t>The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transmission</a:t>
            </a:r>
            <a:r>
              <a:rPr sz="1900" spc="-135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control</a:t>
            </a:r>
            <a:r>
              <a:rPr sz="1900" spc="-145" dirty="0">
                <a:latin typeface="Trebuchet MS"/>
                <a:cs typeface="Trebuchet MS"/>
              </a:rPr>
              <a:t> </a:t>
            </a:r>
            <a:r>
              <a:rPr sz="1900" spc="-35" dirty="0">
                <a:latin typeface="Trebuchet MS"/>
                <a:cs typeface="Trebuchet MS"/>
              </a:rPr>
              <a:t>protocol</a:t>
            </a:r>
            <a:r>
              <a:rPr sz="1900" spc="-130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reorders</a:t>
            </a:r>
            <a:r>
              <a:rPr sz="1900" spc="-135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the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spc="-20" dirty="0">
                <a:latin typeface="Trebuchet MS"/>
                <a:cs typeface="Trebuchet MS"/>
              </a:rPr>
              <a:t>packets</a:t>
            </a:r>
            <a:r>
              <a:rPr sz="1900" spc="-130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in</a:t>
            </a:r>
            <a:r>
              <a:rPr sz="1900" spc="-135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the </a:t>
            </a:r>
            <a:r>
              <a:rPr sz="1900" spc="-50" dirty="0">
                <a:latin typeface="Trebuchet MS"/>
                <a:cs typeface="Trebuchet MS"/>
              </a:rPr>
              <a:t>correct</a:t>
            </a:r>
            <a:r>
              <a:rPr sz="1900" spc="-135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order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at</a:t>
            </a:r>
            <a:r>
              <a:rPr sz="1900" spc="-150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the</a:t>
            </a:r>
            <a:r>
              <a:rPr sz="1900" spc="-130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receiving</a:t>
            </a:r>
            <a:r>
              <a:rPr sz="1900" spc="-135" dirty="0">
                <a:latin typeface="Trebuchet MS"/>
                <a:cs typeface="Trebuchet MS"/>
              </a:rPr>
              <a:t> </a:t>
            </a:r>
            <a:r>
              <a:rPr sz="1900" spc="-20" dirty="0">
                <a:latin typeface="Trebuchet MS"/>
                <a:cs typeface="Trebuchet MS"/>
              </a:rPr>
              <a:t>end.</a:t>
            </a:r>
            <a:endParaRPr sz="1900">
              <a:latin typeface="Trebuchet MS"/>
              <a:cs typeface="Trebuchet MS"/>
            </a:endParaRPr>
          </a:p>
          <a:p>
            <a:pPr marL="184785" indent="-172085">
              <a:lnSpc>
                <a:spcPct val="100000"/>
              </a:lnSpc>
              <a:spcBef>
                <a:spcPts val="1720"/>
              </a:spcBef>
              <a:buChar char="•"/>
              <a:tabLst>
                <a:tab pos="184785" algn="l"/>
              </a:tabLst>
            </a:pPr>
            <a:r>
              <a:rPr sz="1900" dirty="0">
                <a:latin typeface="Trebuchet MS"/>
                <a:cs typeface="Trebuchet MS"/>
              </a:rPr>
              <a:t>User</a:t>
            </a:r>
            <a:r>
              <a:rPr sz="1900" spc="-145" dirty="0">
                <a:latin typeface="Trebuchet MS"/>
                <a:cs typeface="Trebuchet MS"/>
              </a:rPr>
              <a:t> </a:t>
            </a:r>
            <a:r>
              <a:rPr sz="1900" spc="-35" dirty="0">
                <a:latin typeface="Trebuchet MS"/>
                <a:cs typeface="Trebuchet MS"/>
              </a:rPr>
              <a:t>Datagram</a:t>
            </a:r>
            <a:r>
              <a:rPr sz="1900" spc="-130" dirty="0">
                <a:latin typeface="Trebuchet MS"/>
                <a:cs typeface="Trebuchet MS"/>
              </a:rPr>
              <a:t> </a:t>
            </a:r>
            <a:r>
              <a:rPr sz="1900" spc="-45" dirty="0">
                <a:latin typeface="Trebuchet MS"/>
                <a:cs typeface="Trebuchet MS"/>
              </a:rPr>
              <a:t>Protocol</a:t>
            </a:r>
            <a:r>
              <a:rPr sz="1900" spc="-10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is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a</a:t>
            </a:r>
            <a:r>
              <a:rPr sz="1900" spc="-150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transport</a:t>
            </a:r>
            <a:r>
              <a:rPr sz="1900" spc="-125" dirty="0">
                <a:latin typeface="Trebuchet MS"/>
                <a:cs typeface="Trebuchet MS"/>
              </a:rPr>
              <a:t> </a:t>
            </a:r>
            <a:r>
              <a:rPr sz="1900" spc="-75" dirty="0">
                <a:latin typeface="Trebuchet MS"/>
                <a:cs typeface="Trebuchet MS"/>
              </a:rPr>
              <a:t>layer</a:t>
            </a:r>
            <a:r>
              <a:rPr sz="1900" spc="-12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protocol.</a:t>
            </a:r>
            <a:endParaRPr sz="1900">
              <a:latin typeface="Trebuchet MS"/>
              <a:cs typeface="Trebuchet MS"/>
            </a:endParaRPr>
          </a:p>
          <a:p>
            <a:pPr marL="184785" marR="142875" indent="-172720">
              <a:lnSpc>
                <a:spcPct val="91600"/>
              </a:lnSpc>
              <a:spcBef>
                <a:spcPts val="335"/>
              </a:spcBef>
              <a:buChar char="•"/>
              <a:tabLst>
                <a:tab pos="184785" algn="l"/>
              </a:tabLst>
            </a:pPr>
            <a:r>
              <a:rPr sz="1900" spc="-100" dirty="0">
                <a:latin typeface="Trebuchet MS"/>
                <a:cs typeface="Trebuchet MS"/>
              </a:rPr>
              <a:t>It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is</a:t>
            </a:r>
            <a:r>
              <a:rPr sz="1900" spc="-15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an</a:t>
            </a:r>
            <a:r>
              <a:rPr sz="1900" spc="-130" dirty="0">
                <a:latin typeface="Trebuchet MS"/>
                <a:cs typeface="Trebuchet MS"/>
              </a:rPr>
              <a:t> </a:t>
            </a:r>
            <a:r>
              <a:rPr sz="1900" spc="-55" dirty="0">
                <a:latin typeface="Trebuchet MS"/>
                <a:cs typeface="Trebuchet MS"/>
              </a:rPr>
              <a:t>unreliable</a:t>
            </a:r>
            <a:r>
              <a:rPr sz="1900" spc="-130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transport</a:t>
            </a:r>
            <a:r>
              <a:rPr sz="1900" spc="-130" dirty="0">
                <a:latin typeface="Trebuchet MS"/>
                <a:cs typeface="Trebuchet MS"/>
              </a:rPr>
              <a:t> </a:t>
            </a:r>
            <a:r>
              <a:rPr sz="1900" spc="-35" dirty="0">
                <a:latin typeface="Trebuchet MS"/>
                <a:cs typeface="Trebuchet MS"/>
              </a:rPr>
              <a:t>protocol</a:t>
            </a:r>
            <a:r>
              <a:rPr sz="1900" spc="-125" dirty="0">
                <a:latin typeface="Trebuchet MS"/>
                <a:cs typeface="Trebuchet MS"/>
              </a:rPr>
              <a:t> </a:t>
            </a:r>
            <a:r>
              <a:rPr sz="1900" spc="70" dirty="0">
                <a:latin typeface="Trebuchet MS"/>
                <a:cs typeface="Trebuchet MS"/>
              </a:rPr>
              <a:t>as</a:t>
            </a:r>
            <a:r>
              <a:rPr sz="1900" spc="-135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in</a:t>
            </a:r>
            <a:r>
              <a:rPr sz="1900" spc="-145" dirty="0">
                <a:latin typeface="Trebuchet MS"/>
                <a:cs typeface="Trebuchet MS"/>
              </a:rPr>
              <a:t> </a:t>
            </a:r>
            <a:r>
              <a:rPr sz="1900" spc="-30" dirty="0">
                <a:latin typeface="Trebuchet MS"/>
                <a:cs typeface="Trebuchet MS"/>
              </a:rPr>
              <a:t>this</a:t>
            </a:r>
            <a:r>
              <a:rPr sz="1900" spc="-14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case</a:t>
            </a:r>
            <a:r>
              <a:rPr sz="1900" spc="-135" dirty="0">
                <a:latin typeface="Trebuchet MS"/>
                <a:cs typeface="Trebuchet MS"/>
              </a:rPr>
              <a:t> </a:t>
            </a:r>
            <a:r>
              <a:rPr sz="1900" spc="-70" dirty="0">
                <a:latin typeface="Trebuchet MS"/>
                <a:cs typeface="Trebuchet MS"/>
              </a:rPr>
              <a:t>receiver</a:t>
            </a:r>
            <a:r>
              <a:rPr sz="1900" spc="-120" dirty="0">
                <a:latin typeface="Trebuchet MS"/>
                <a:cs typeface="Trebuchet MS"/>
              </a:rPr>
              <a:t> </a:t>
            </a:r>
            <a:r>
              <a:rPr sz="1900" spc="-20" dirty="0">
                <a:latin typeface="Trebuchet MS"/>
                <a:cs typeface="Trebuchet MS"/>
              </a:rPr>
              <a:t>does </a:t>
            </a:r>
            <a:r>
              <a:rPr sz="1900" spc="-50" dirty="0">
                <a:latin typeface="Trebuchet MS"/>
                <a:cs typeface="Trebuchet MS"/>
              </a:rPr>
              <a:t>not</a:t>
            </a:r>
            <a:r>
              <a:rPr sz="1900" spc="-13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send</a:t>
            </a:r>
            <a:r>
              <a:rPr sz="1900" spc="-125" dirty="0">
                <a:latin typeface="Trebuchet MS"/>
                <a:cs typeface="Trebuchet MS"/>
              </a:rPr>
              <a:t> </a:t>
            </a:r>
            <a:r>
              <a:rPr sz="1900" spc="-40" dirty="0">
                <a:latin typeface="Trebuchet MS"/>
                <a:cs typeface="Trebuchet MS"/>
              </a:rPr>
              <a:t>any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spc="-30" dirty="0">
                <a:latin typeface="Trebuchet MS"/>
                <a:cs typeface="Trebuchet MS"/>
              </a:rPr>
              <a:t>acknowledgment</a:t>
            </a:r>
            <a:r>
              <a:rPr sz="1900" spc="-100" dirty="0">
                <a:latin typeface="Trebuchet MS"/>
                <a:cs typeface="Trebuchet MS"/>
              </a:rPr>
              <a:t> </a:t>
            </a:r>
            <a:r>
              <a:rPr sz="1900" spc="-35" dirty="0">
                <a:latin typeface="Trebuchet MS"/>
                <a:cs typeface="Trebuchet MS"/>
              </a:rPr>
              <a:t>when</a:t>
            </a:r>
            <a:r>
              <a:rPr sz="1900" spc="-135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the</a:t>
            </a:r>
            <a:r>
              <a:rPr sz="1900" spc="-130" dirty="0">
                <a:latin typeface="Trebuchet MS"/>
                <a:cs typeface="Trebuchet MS"/>
              </a:rPr>
              <a:t> </a:t>
            </a:r>
            <a:r>
              <a:rPr sz="1900" spc="-35" dirty="0">
                <a:latin typeface="Trebuchet MS"/>
                <a:cs typeface="Trebuchet MS"/>
              </a:rPr>
              <a:t>packet</a:t>
            </a:r>
            <a:r>
              <a:rPr sz="1900" spc="-13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is</a:t>
            </a:r>
            <a:r>
              <a:rPr sz="1900" spc="-135" dirty="0">
                <a:latin typeface="Trebuchet MS"/>
                <a:cs typeface="Trebuchet MS"/>
              </a:rPr>
              <a:t> </a:t>
            </a:r>
            <a:r>
              <a:rPr sz="1900" spc="-70" dirty="0">
                <a:latin typeface="Trebuchet MS"/>
                <a:cs typeface="Trebuchet MS"/>
              </a:rPr>
              <a:t>received,</a:t>
            </a:r>
            <a:r>
              <a:rPr sz="1900" spc="-120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the </a:t>
            </a:r>
            <a:r>
              <a:rPr sz="1900" spc="-10" dirty="0">
                <a:latin typeface="Trebuchet MS"/>
                <a:cs typeface="Trebuchet MS"/>
              </a:rPr>
              <a:t>sender</a:t>
            </a:r>
            <a:r>
              <a:rPr sz="1900" spc="-13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does</a:t>
            </a:r>
            <a:r>
              <a:rPr sz="1900" spc="-125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not</a:t>
            </a:r>
            <a:r>
              <a:rPr sz="1900" spc="-125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wait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for</a:t>
            </a:r>
            <a:r>
              <a:rPr sz="1900" spc="-130" dirty="0">
                <a:latin typeface="Trebuchet MS"/>
                <a:cs typeface="Trebuchet MS"/>
              </a:rPr>
              <a:t> </a:t>
            </a:r>
            <a:r>
              <a:rPr sz="1900" spc="-40" dirty="0">
                <a:latin typeface="Trebuchet MS"/>
                <a:cs typeface="Trebuchet MS"/>
              </a:rPr>
              <a:t>any</a:t>
            </a:r>
            <a:r>
              <a:rPr sz="1900" spc="-135" dirty="0">
                <a:latin typeface="Trebuchet MS"/>
                <a:cs typeface="Trebuchet MS"/>
              </a:rPr>
              <a:t> </a:t>
            </a:r>
            <a:r>
              <a:rPr sz="1900" spc="-40" dirty="0">
                <a:latin typeface="Trebuchet MS"/>
                <a:cs typeface="Trebuchet MS"/>
              </a:rPr>
              <a:t>acknowledgment.</a:t>
            </a:r>
            <a:r>
              <a:rPr sz="1900" spc="-105" dirty="0">
                <a:latin typeface="Trebuchet MS"/>
                <a:cs typeface="Trebuchet MS"/>
              </a:rPr>
              <a:t> </a:t>
            </a:r>
            <a:r>
              <a:rPr sz="1900" spc="-100" dirty="0">
                <a:latin typeface="Trebuchet MS"/>
                <a:cs typeface="Trebuchet MS"/>
              </a:rPr>
              <a:t>Therefore,</a:t>
            </a:r>
            <a:r>
              <a:rPr sz="1900" spc="-114" dirty="0">
                <a:latin typeface="Trebuchet MS"/>
                <a:cs typeface="Trebuchet MS"/>
              </a:rPr>
              <a:t> </a:t>
            </a:r>
            <a:r>
              <a:rPr sz="1900" spc="-20" dirty="0">
                <a:latin typeface="Trebuchet MS"/>
                <a:cs typeface="Trebuchet MS"/>
              </a:rPr>
              <a:t>this </a:t>
            </a:r>
            <a:r>
              <a:rPr sz="1900" dirty="0">
                <a:latin typeface="Trebuchet MS"/>
                <a:cs typeface="Trebuchet MS"/>
              </a:rPr>
              <a:t>makes</a:t>
            </a:r>
            <a:r>
              <a:rPr sz="1900" spc="-17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a</a:t>
            </a:r>
            <a:r>
              <a:rPr sz="1900" spc="-185" dirty="0">
                <a:latin typeface="Trebuchet MS"/>
                <a:cs typeface="Trebuchet MS"/>
              </a:rPr>
              <a:t> </a:t>
            </a:r>
            <a:r>
              <a:rPr sz="1900" spc="-35" dirty="0">
                <a:latin typeface="Trebuchet MS"/>
                <a:cs typeface="Trebuchet MS"/>
              </a:rPr>
              <a:t>protocol</a:t>
            </a:r>
            <a:r>
              <a:rPr sz="1900" spc="-16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unreliable.</a:t>
            </a:r>
            <a:endParaRPr sz="1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64058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Functions</a:t>
            </a:r>
            <a:r>
              <a:rPr spc="-490" dirty="0"/>
              <a:t> </a:t>
            </a:r>
            <a:r>
              <a:rPr spc="-265" dirty="0"/>
              <a:t>of</a:t>
            </a:r>
            <a:r>
              <a:rPr spc="-450" dirty="0"/>
              <a:t> </a:t>
            </a:r>
            <a:r>
              <a:rPr spc="-254" dirty="0"/>
              <a:t>Transport</a:t>
            </a:r>
            <a:r>
              <a:rPr spc="-475" dirty="0"/>
              <a:t> </a:t>
            </a:r>
            <a:r>
              <a:rPr spc="-160" dirty="0"/>
              <a:t>Layer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627" y="1988807"/>
            <a:ext cx="10520934" cy="54484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3627" y="4395203"/>
            <a:ext cx="10520934" cy="54636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35837" y="1880767"/>
            <a:ext cx="10175875" cy="4086860"/>
          </a:xfrm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2200" b="1" spc="-35" dirty="0">
                <a:latin typeface="Trebuchet MS"/>
                <a:cs typeface="Trebuchet MS"/>
              </a:rPr>
              <a:t>Service-</a:t>
            </a:r>
            <a:r>
              <a:rPr sz="2200" b="1" spc="-55" dirty="0">
                <a:latin typeface="Trebuchet MS"/>
                <a:cs typeface="Trebuchet MS"/>
              </a:rPr>
              <a:t>point</a:t>
            </a:r>
            <a:r>
              <a:rPr sz="2200" b="1" spc="-80" dirty="0">
                <a:latin typeface="Trebuchet MS"/>
                <a:cs typeface="Trebuchet MS"/>
              </a:rPr>
              <a:t> </a:t>
            </a:r>
            <a:r>
              <a:rPr sz="2200" b="1" spc="-10" dirty="0">
                <a:latin typeface="Trebuchet MS"/>
                <a:cs typeface="Trebuchet MS"/>
              </a:rPr>
              <a:t>addressing:</a:t>
            </a:r>
            <a:endParaRPr sz="2200">
              <a:latin typeface="Trebuchet MS"/>
              <a:cs typeface="Trebuchet MS"/>
            </a:endParaRPr>
          </a:p>
          <a:p>
            <a:pPr marL="407034" marR="20955" indent="-171450">
              <a:lnSpc>
                <a:spcPct val="91500"/>
              </a:lnSpc>
              <a:spcBef>
                <a:spcPts val="1195"/>
              </a:spcBef>
              <a:buChar char="•"/>
              <a:tabLst>
                <a:tab pos="408305" algn="l"/>
              </a:tabLst>
            </a:pPr>
            <a:r>
              <a:rPr sz="1700" dirty="0">
                <a:latin typeface="Trebuchet MS"/>
                <a:cs typeface="Trebuchet MS"/>
              </a:rPr>
              <a:t>Computers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30" dirty="0">
                <a:latin typeface="Trebuchet MS"/>
                <a:cs typeface="Trebuchet MS"/>
              </a:rPr>
              <a:t>run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several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programs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simultaneously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due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to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this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reason,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transmission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of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data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from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source 	</a:t>
            </a:r>
            <a:r>
              <a:rPr sz="1700" spc="-65" dirty="0">
                <a:latin typeface="Trebuchet MS"/>
                <a:cs typeface="Trebuchet MS"/>
              </a:rPr>
              <a:t>to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35" dirty="0">
                <a:latin typeface="Trebuchet MS"/>
                <a:cs typeface="Trebuchet MS"/>
              </a:rPr>
              <a:t>destination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not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35" dirty="0">
                <a:latin typeface="Trebuchet MS"/>
                <a:cs typeface="Trebuchet MS"/>
              </a:rPr>
              <a:t>only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from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one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30" dirty="0">
                <a:latin typeface="Trebuchet MS"/>
                <a:cs typeface="Trebuchet MS"/>
              </a:rPr>
              <a:t>computer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to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another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30" dirty="0">
                <a:latin typeface="Trebuchet MS"/>
                <a:cs typeface="Trebuchet MS"/>
              </a:rPr>
              <a:t>computer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but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also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from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one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process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to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another 	process.</a:t>
            </a:r>
            <a:endParaRPr sz="1700">
              <a:latin typeface="Trebuchet MS"/>
              <a:cs typeface="Trebuchet MS"/>
            </a:endParaRPr>
          </a:p>
          <a:p>
            <a:pPr marL="407034" marR="121920" indent="-171450">
              <a:lnSpc>
                <a:spcPts val="1870"/>
              </a:lnSpc>
              <a:spcBef>
                <a:spcPts val="445"/>
              </a:spcBef>
              <a:buChar char="•"/>
              <a:tabLst>
                <a:tab pos="408305" algn="l"/>
              </a:tabLst>
            </a:pPr>
            <a:r>
              <a:rPr sz="1700" spc="-75" dirty="0">
                <a:latin typeface="Trebuchet MS"/>
                <a:cs typeface="Trebuchet MS"/>
              </a:rPr>
              <a:t>The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transport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layer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adds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header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that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contains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address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known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75" dirty="0">
                <a:latin typeface="Trebuchet MS"/>
                <a:cs typeface="Trebuchet MS"/>
              </a:rPr>
              <a:t>as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</a:t>
            </a:r>
            <a:r>
              <a:rPr sz="1700" spc="-105" dirty="0">
                <a:latin typeface="Trebuchet MS"/>
                <a:cs typeface="Trebuchet MS"/>
              </a:rPr>
              <a:t> </a:t>
            </a:r>
            <a:r>
              <a:rPr sz="1700" b="1" i="1" spc="-30" dirty="0">
                <a:latin typeface="Trebuchet MS"/>
                <a:cs typeface="Trebuchet MS"/>
              </a:rPr>
              <a:t>service-</a:t>
            </a:r>
            <a:r>
              <a:rPr sz="1700" b="1" i="1" spc="-50" dirty="0">
                <a:latin typeface="Trebuchet MS"/>
                <a:cs typeface="Trebuchet MS"/>
              </a:rPr>
              <a:t>point</a:t>
            </a:r>
            <a:r>
              <a:rPr sz="1700" b="1" i="1" spc="-140" dirty="0">
                <a:latin typeface="Trebuchet MS"/>
                <a:cs typeface="Trebuchet MS"/>
              </a:rPr>
              <a:t> </a:t>
            </a:r>
            <a:r>
              <a:rPr sz="1700" b="1" i="1" spc="-10" dirty="0">
                <a:latin typeface="Trebuchet MS"/>
                <a:cs typeface="Trebuchet MS"/>
              </a:rPr>
              <a:t>address</a:t>
            </a:r>
            <a:r>
              <a:rPr sz="1700" b="1" i="1" spc="-135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or</a:t>
            </a:r>
            <a:r>
              <a:rPr sz="1700" spc="-105" dirty="0">
                <a:latin typeface="Trebuchet MS"/>
                <a:cs typeface="Trebuchet MS"/>
              </a:rPr>
              <a:t> </a:t>
            </a:r>
            <a:r>
              <a:rPr sz="1700" b="1" i="1" spc="-20" dirty="0">
                <a:latin typeface="Trebuchet MS"/>
                <a:cs typeface="Trebuchet MS"/>
              </a:rPr>
              <a:t>port 	</a:t>
            </a:r>
            <a:r>
              <a:rPr sz="1700" b="1" i="1" spc="-10" dirty="0">
                <a:latin typeface="Trebuchet MS"/>
                <a:cs typeface="Trebuchet MS"/>
              </a:rPr>
              <a:t>address</a:t>
            </a:r>
            <a:r>
              <a:rPr sz="1700" spc="-10" dirty="0">
                <a:latin typeface="Trebuchet MS"/>
                <a:cs typeface="Trebuchet MS"/>
              </a:rPr>
              <a:t>.</a:t>
            </a:r>
            <a:endParaRPr sz="1700">
              <a:latin typeface="Trebuchet MS"/>
              <a:cs typeface="Trebuchet MS"/>
            </a:endParaRPr>
          </a:p>
          <a:p>
            <a:pPr marL="407670" indent="-171450">
              <a:lnSpc>
                <a:spcPts val="1955"/>
              </a:lnSpc>
              <a:spcBef>
                <a:spcPts val="204"/>
              </a:spcBef>
              <a:buChar char="•"/>
              <a:tabLst>
                <a:tab pos="407670" algn="l"/>
              </a:tabLst>
            </a:pPr>
            <a:r>
              <a:rPr sz="1700" spc="-80" dirty="0">
                <a:latin typeface="Trebuchet MS"/>
                <a:cs typeface="Trebuchet MS"/>
              </a:rPr>
              <a:t>The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35" dirty="0">
                <a:latin typeface="Trebuchet MS"/>
                <a:cs typeface="Trebuchet MS"/>
              </a:rPr>
              <a:t>responsibility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of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network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layer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is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to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transmit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data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from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one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computer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to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another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computer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and</a:t>
            </a:r>
            <a:endParaRPr sz="1700">
              <a:latin typeface="Trebuchet MS"/>
              <a:cs typeface="Trebuchet MS"/>
            </a:endParaRPr>
          </a:p>
          <a:p>
            <a:pPr marL="408305">
              <a:lnSpc>
                <a:spcPts val="1960"/>
              </a:lnSpc>
            </a:pP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35" dirty="0">
                <a:latin typeface="Trebuchet MS"/>
                <a:cs typeface="Trebuchet MS"/>
              </a:rPr>
              <a:t>responsibility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of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transport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layer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is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to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transmit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message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to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correct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process.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2200" b="1" spc="-20" dirty="0">
                <a:latin typeface="Trebuchet MS"/>
                <a:cs typeface="Trebuchet MS"/>
              </a:rPr>
              <a:t>Segmentation</a:t>
            </a:r>
            <a:r>
              <a:rPr sz="2200" b="1" spc="-175" dirty="0">
                <a:latin typeface="Trebuchet MS"/>
                <a:cs typeface="Trebuchet MS"/>
              </a:rPr>
              <a:t> </a:t>
            </a:r>
            <a:r>
              <a:rPr sz="2200" b="1" dirty="0">
                <a:latin typeface="Trebuchet MS"/>
                <a:cs typeface="Trebuchet MS"/>
              </a:rPr>
              <a:t>and</a:t>
            </a:r>
            <a:r>
              <a:rPr sz="2200" b="1" spc="-180" dirty="0">
                <a:latin typeface="Trebuchet MS"/>
                <a:cs typeface="Trebuchet MS"/>
              </a:rPr>
              <a:t> </a:t>
            </a:r>
            <a:r>
              <a:rPr sz="2200" b="1" spc="-10" dirty="0">
                <a:latin typeface="Trebuchet MS"/>
                <a:cs typeface="Trebuchet MS"/>
              </a:rPr>
              <a:t>reassembly:</a:t>
            </a:r>
            <a:endParaRPr sz="2200">
              <a:latin typeface="Trebuchet MS"/>
              <a:cs typeface="Trebuchet MS"/>
            </a:endParaRPr>
          </a:p>
          <a:p>
            <a:pPr marL="407034" marR="28575" indent="-171450">
              <a:lnSpc>
                <a:spcPts val="1860"/>
              </a:lnSpc>
              <a:spcBef>
                <a:spcPts val="1230"/>
              </a:spcBef>
              <a:buChar char="•"/>
              <a:tabLst>
                <a:tab pos="408305" algn="l"/>
              </a:tabLst>
            </a:pPr>
            <a:r>
              <a:rPr sz="1700" dirty="0">
                <a:latin typeface="Trebuchet MS"/>
                <a:cs typeface="Trebuchet MS"/>
              </a:rPr>
              <a:t>When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transport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layer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30" dirty="0">
                <a:latin typeface="Trebuchet MS"/>
                <a:cs typeface="Trebuchet MS"/>
              </a:rPr>
              <a:t>receives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message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from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upper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100" dirty="0">
                <a:latin typeface="Trebuchet MS"/>
                <a:cs typeface="Trebuchet MS"/>
              </a:rPr>
              <a:t>layer,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114" dirty="0">
                <a:latin typeface="Trebuchet MS"/>
                <a:cs typeface="Trebuchet MS"/>
              </a:rPr>
              <a:t>it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15" dirty="0">
                <a:latin typeface="Trebuchet MS"/>
                <a:cs typeface="Trebuchet MS"/>
              </a:rPr>
              <a:t>divides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message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into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multiple 	</a:t>
            </a:r>
            <a:r>
              <a:rPr sz="1700" spc="-20" dirty="0">
                <a:latin typeface="Trebuchet MS"/>
                <a:cs typeface="Trebuchet MS"/>
              </a:rPr>
              <a:t>segments,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and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each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segment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is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assigned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with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sequence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number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that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35" dirty="0">
                <a:latin typeface="Trebuchet MS"/>
                <a:cs typeface="Trebuchet MS"/>
              </a:rPr>
              <a:t>uniquely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identifies</a:t>
            </a:r>
            <a:r>
              <a:rPr sz="1700" spc="-16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each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segment.</a:t>
            </a:r>
            <a:endParaRPr sz="1700">
              <a:latin typeface="Trebuchet MS"/>
              <a:cs typeface="Trebuchet MS"/>
            </a:endParaRPr>
          </a:p>
          <a:p>
            <a:pPr marL="407034" marR="506095" indent="-171450">
              <a:lnSpc>
                <a:spcPts val="1860"/>
              </a:lnSpc>
              <a:spcBef>
                <a:spcPts val="434"/>
              </a:spcBef>
              <a:buChar char="•"/>
              <a:tabLst>
                <a:tab pos="408305" algn="l"/>
              </a:tabLst>
            </a:pPr>
            <a:r>
              <a:rPr sz="1700" dirty="0">
                <a:latin typeface="Trebuchet MS"/>
                <a:cs typeface="Trebuchet MS"/>
              </a:rPr>
              <a:t>When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0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message</a:t>
            </a:r>
            <a:r>
              <a:rPr sz="1700" spc="-11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has</a:t>
            </a:r>
            <a:r>
              <a:rPr sz="1700" spc="-100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arrived</a:t>
            </a:r>
            <a:r>
              <a:rPr sz="1700" spc="-105" dirty="0">
                <a:latin typeface="Trebuchet MS"/>
                <a:cs typeface="Trebuchet MS"/>
              </a:rPr>
              <a:t> </a:t>
            </a:r>
            <a:r>
              <a:rPr sz="1700" spc="-75" dirty="0">
                <a:latin typeface="Trebuchet MS"/>
                <a:cs typeface="Trebuchet MS"/>
              </a:rPr>
              <a:t>at</a:t>
            </a:r>
            <a:r>
              <a:rPr sz="1700" spc="-100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the</a:t>
            </a:r>
            <a:r>
              <a:rPr sz="1700" spc="-110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destination,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then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05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transport</a:t>
            </a:r>
            <a:r>
              <a:rPr sz="1700" spc="-10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layer</a:t>
            </a:r>
            <a:r>
              <a:rPr sz="1700" spc="-10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reassembles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0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message 	</a:t>
            </a:r>
            <a:r>
              <a:rPr sz="1700" dirty="0">
                <a:latin typeface="Trebuchet MS"/>
                <a:cs typeface="Trebuchet MS"/>
              </a:rPr>
              <a:t>based</a:t>
            </a:r>
            <a:r>
              <a:rPr sz="1700" spc="-10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on</a:t>
            </a:r>
            <a:r>
              <a:rPr sz="1700" spc="-95" dirty="0">
                <a:latin typeface="Trebuchet MS"/>
                <a:cs typeface="Trebuchet MS"/>
              </a:rPr>
              <a:t> </a:t>
            </a:r>
            <a:r>
              <a:rPr sz="1700" spc="-80" dirty="0">
                <a:latin typeface="Trebuchet MS"/>
                <a:cs typeface="Trebuchet MS"/>
              </a:rPr>
              <a:t>their</a:t>
            </a:r>
            <a:r>
              <a:rPr sz="1700" spc="-8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sequence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numbers.</a:t>
            </a:r>
            <a:endParaRPr sz="1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64058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Functions</a:t>
            </a:r>
            <a:r>
              <a:rPr spc="-490" dirty="0"/>
              <a:t> </a:t>
            </a:r>
            <a:r>
              <a:rPr spc="-265" dirty="0"/>
              <a:t>of</a:t>
            </a:r>
            <a:r>
              <a:rPr spc="-450" dirty="0"/>
              <a:t> </a:t>
            </a:r>
            <a:r>
              <a:rPr spc="-254" dirty="0"/>
              <a:t>Transport</a:t>
            </a:r>
            <a:r>
              <a:rPr spc="-475" dirty="0"/>
              <a:t> </a:t>
            </a:r>
            <a:r>
              <a:rPr spc="-160" dirty="0"/>
              <a:t>Layer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4631" y="1776971"/>
            <a:ext cx="11220450" cy="5707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4631" y="3770363"/>
            <a:ext cx="11220450" cy="5707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4631" y="4907267"/>
            <a:ext cx="11220450" cy="5707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91413" y="1666263"/>
            <a:ext cx="10664190" cy="4645660"/>
          </a:xfrm>
          <a:prstGeom prst="rect">
            <a:avLst/>
          </a:prstGeom>
        </p:spPr>
        <p:txBody>
          <a:bodyPr vert="horz" wrap="square" lIns="0" tIns="184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sz="2300" b="1" spc="-10" dirty="0">
                <a:latin typeface="Trebuchet MS"/>
                <a:cs typeface="Trebuchet MS"/>
              </a:rPr>
              <a:t>Connection</a:t>
            </a:r>
            <a:r>
              <a:rPr sz="2300" b="1" spc="-200" dirty="0">
                <a:latin typeface="Trebuchet MS"/>
                <a:cs typeface="Trebuchet MS"/>
              </a:rPr>
              <a:t> </a:t>
            </a:r>
            <a:r>
              <a:rPr sz="2300" b="1" spc="-10" dirty="0">
                <a:latin typeface="Trebuchet MS"/>
                <a:cs typeface="Trebuchet MS"/>
              </a:rPr>
              <a:t>control:</a:t>
            </a:r>
            <a:endParaRPr sz="2300">
              <a:latin typeface="Trebuchet MS"/>
              <a:cs typeface="Trebuchet MS"/>
            </a:endParaRPr>
          </a:p>
          <a:p>
            <a:pPr marL="424180" indent="-170815">
              <a:lnSpc>
                <a:spcPct val="100000"/>
              </a:lnSpc>
              <a:spcBef>
                <a:spcPts val="1060"/>
              </a:spcBef>
              <a:buChar char="•"/>
              <a:tabLst>
                <a:tab pos="424180" algn="l"/>
              </a:tabLst>
            </a:pPr>
            <a:r>
              <a:rPr sz="1800" spc="-60" dirty="0">
                <a:latin typeface="Trebuchet MS"/>
                <a:cs typeface="Trebuchet MS"/>
              </a:rPr>
              <a:t>Transport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layer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provides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two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services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Connection-</a:t>
            </a:r>
            <a:r>
              <a:rPr sz="1800" spc="-60" dirty="0">
                <a:latin typeface="Trebuchet MS"/>
                <a:cs typeface="Trebuchet MS"/>
              </a:rPr>
              <a:t>oriented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service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connectionless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service.</a:t>
            </a:r>
            <a:endParaRPr sz="1800">
              <a:latin typeface="Trebuchet MS"/>
              <a:cs typeface="Trebuchet MS"/>
            </a:endParaRPr>
          </a:p>
          <a:p>
            <a:pPr marL="423545" marR="332105" indent="-170815">
              <a:lnSpc>
                <a:spcPts val="1980"/>
              </a:lnSpc>
              <a:spcBef>
                <a:spcPts val="470"/>
              </a:spcBef>
              <a:buChar char="•"/>
              <a:tabLst>
                <a:tab pos="425450" algn="l"/>
              </a:tabLst>
            </a:pPr>
            <a:r>
              <a:rPr sz="1800" spc="-20" dirty="0">
                <a:latin typeface="Trebuchet MS"/>
                <a:cs typeface="Trebuchet MS"/>
              </a:rPr>
              <a:t>A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b="1" i="1" dirty="0">
                <a:latin typeface="Trebuchet MS"/>
                <a:cs typeface="Trebuchet MS"/>
              </a:rPr>
              <a:t>connectionless</a:t>
            </a:r>
            <a:r>
              <a:rPr sz="1800" b="1" i="1" spc="-135" dirty="0">
                <a:latin typeface="Trebuchet MS"/>
                <a:cs typeface="Trebuchet MS"/>
              </a:rPr>
              <a:t> </a:t>
            </a:r>
            <a:r>
              <a:rPr sz="1800" b="1" i="1" spc="-30" dirty="0">
                <a:latin typeface="Trebuchet MS"/>
                <a:cs typeface="Trebuchet MS"/>
              </a:rPr>
              <a:t>service</a:t>
            </a:r>
            <a:r>
              <a:rPr sz="1800" b="1" i="1" spc="-13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treats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each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segment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70" dirty="0">
                <a:latin typeface="Trebuchet MS"/>
                <a:cs typeface="Trebuchet MS"/>
              </a:rPr>
              <a:t>as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an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individual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packet,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they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all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travel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in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different 	</a:t>
            </a:r>
            <a:r>
              <a:rPr sz="1800" spc="-35" dirty="0">
                <a:latin typeface="Trebuchet MS"/>
                <a:cs typeface="Trebuchet MS"/>
              </a:rPr>
              <a:t>routes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to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reach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destination.</a:t>
            </a:r>
            <a:endParaRPr sz="1800">
              <a:latin typeface="Trebuchet MS"/>
              <a:cs typeface="Trebuchet MS"/>
            </a:endParaRPr>
          </a:p>
          <a:p>
            <a:pPr marL="423545" marR="88900" indent="-170815">
              <a:lnSpc>
                <a:spcPts val="1980"/>
              </a:lnSpc>
              <a:spcBef>
                <a:spcPts val="430"/>
              </a:spcBef>
              <a:buChar char="•"/>
              <a:tabLst>
                <a:tab pos="425450" algn="l"/>
              </a:tabLst>
            </a:pPr>
            <a:r>
              <a:rPr sz="1800" spc="-20" dirty="0">
                <a:latin typeface="Trebuchet MS"/>
                <a:cs typeface="Trebuchet MS"/>
              </a:rPr>
              <a:t>A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b="1" i="1" spc="-10" dirty="0">
                <a:latin typeface="Trebuchet MS"/>
                <a:cs typeface="Trebuchet MS"/>
              </a:rPr>
              <a:t>connection-</a:t>
            </a:r>
            <a:r>
              <a:rPr sz="1800" b="1" i="1" spc="-55" dirty="0">
                <a:latin typeface="Trebuchet MS"/>
                <a:cs typeface="Trebuchet MS"/>
              </a:rPr>
              <a:t>oriented</a:t>
            </a:r>
            <a:r>
              <a:rPr sz="1800" b="1" i="1" spc="-145" dirty="0">
                <a:latin typeface="Trebuchet MS"/>
                <a:cs typeface="Trebuchet MS"/>
              </a:rPr>
              <a:t> </a:t>
            </a:r>
            <a:r>
              <a:rPr sz="1800" b="1" i="1" spc="-35" dirty="0">
                <a:latin typeface="Trebuchet MS"/>
                <a:cs typeface="Trebuchet MS"/>
              </a:rPr>
              <a:t>service</a:t>
            </a:r>
            <a:r>
              <a:rPr sz="1800" b="1" i="1" spc="-1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makes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connection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with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transport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layer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at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destination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machine 	</a:t>
            </a:r>
            <a:r>
              <a:rPr sz="1800" spc="-65" dirty="0">
                <a:latin typeface="Trebuchet MS"/>
                <a:cs typeface="Trebuchet MS"/>
              </a:rPr>
              <a:t>before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delivering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packets.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In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connection-</a:t>
            </a:r>
            <a:r>
              <a:rPr sz="1800" spc="-60" dirty="0">
                <a:latin typeface="Trebuchet MS"/>
                <a:cs typeface="Trebuchet MS"/>
              </a:rPr>
              <a:t>oriented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service,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all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packets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travel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in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single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route.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300" b="1" spc="-55" dirty="0">
                <a:latin typeface="Trebuchet MS"/>
                <a:cs typeface="Trebuchet MS"/>
              </a:rPr>
              <a:t>Flow</a:t>
            </a:r>
            <a:r>
              <a:rPr sz="2300" b="1" spc="-210" dirty="0">
                <a:latin typeface="Trebuchet MS"/>
                <a:cs typeface="Trebuchet MS"/>
              </a:rPr>
              <a:t> </a:t>
            </a:r>
            <a:r>
              <a:rPr sz="2300" b="1" spc="-10" dirty="0">
                <a:latin typeface="Trebuchet MS"/>
                <a:cs typeface="Trebuchet MS"/>
              </a:rPr>
              <a:t>control:</a:t>
            </a:r>
            <a:endParaRPr sz="2300">
              <a:latin typeface="Trebuchet MS"/>
              <a:cs typeface="Trebuchet MS"/>
            </a:endParaRPr>
          </a:p>
          <a:p>
            <a:pPr marL="423545" marR="194310" indent="-170815">
              <a:lnSpc>
                <a:spcPts val="1970"/>
              </a:lnSpc>
              <a:spcBef>
                <a:spcPts val="1285"/>
              </a:spcBef>
              <a:buChar char="•"/>
              <a:tabLst>
                <a:tab pos="425450" algn="l"/>
              </a:tabLst>
            </a:pPr>
            <a:r>
              <a:rPr sz="1800" spc="-90" dirty="0">
                <a:latin typeface="Trebuchet MS"/>
                <a:cs typeface="Trebuchet MS"/>
              </a:rPr>
              <a:t>The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transport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layer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also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responsible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for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flow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control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but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it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performed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end-</a:t>
            </a:r>
            <a:r>
              <a:rPr sz="1800" spc="-65" dirty="0">
                <a:latin typeface="Trebuchet MS"/>
                <a:cs typeface="Trebuchet MS"/>
              </a:rPr>
              <a:t>to-</a:t>
            </a:r>
            <a:r>
              <a:rPr sz="1800" spc="-10" dirty="0">
                <a:latin typeface="Trebuchet MS"/>
                <a:cs typeface="Trebuchet MS"/>
              </a:rPr>
              <a:t>end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rather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than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across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a 	</a:t>
            </a:r>
            <a:r>
              <a:rPr sz="1800" spc="-20" dirty="0">
                <a:latin typeface="Trebuchet MS"/>
                <a:cs typeface="Trebuchet MS"/>
              </a:rPr>
              <a:t>single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link.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2300" b="1" spc="-100" dirty="0">
                <a:latin typeface="Trebuchet MS"/>
                <a:cs typeface="Trebuchet MS"/>
              </a:rPr>
              <a:t>Error</a:t>
            </a:r>
            <a:r>
              <a:rPr sz="2300" b="1" spc="-210" dirty="0">
                <a:latin typeface="Trebuchet MS"/>
                <a:cs typeface="Trebuchet MS"/>
              </a:rPr>
              <a:t> </a:t>
            </a:r>
            <a:r>
              <a:rPr sz="2300" b="1" spc="-10" dirty="0">
                <a:latin typeface="Trebuchet MS"/>
                <a:cs typeface="Trebuchet MS"/>
              </a:rPr>
              <a:t>control:</a:t>
            </a:r>
            <a:endParaRPr sz="2300">
              <a:latin typeface="Trebuchet MS"/>
              <a:cs typeface="Trebuchet MS"/>
            </a:endParaRPr>
          </a:p>
          <a:p>
            <a:pPr marL="423545" marR="5080" indent="-170815">
              <a:lnSpc>
                <a:spcPts val="1970"/>
              </a:lnSpc>
              <a:spcBef>
                <a:spcPts val="1285"/>
              </a:spcBef>
              <a:buChar char="•"/>
              <a:tabLst>
                <a:tab pos="425450" algn="l"/>
              </a:tabLst>
            </a:pPr>
            <a:r>
              <a:rPr sz="1800" spc="-90" dirty="0">
                <a:latin typeface="Trebuchet MS"/>
                <a:cs typeface="Trebuchet MS"/>
              </a:rPr>
              <a:t>The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transport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layer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also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responsible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for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Error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control.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Error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control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performed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end-</a:t>
            </a:r>
            <a:r>
              <a:rPr sz="1800" spc="-65" dirty="0">
                <a:latin typeface="Trebuchet MS"/>
                <a:cs typeface="Trebuchet MS"/>
              </a:rPr>
              <a:t>to-</a:t>
            </a:r>
            <a:r>
              <a:rPr sz="1800" spc="-10" dirty="0">
                <a:latin typeface="Trebuchet MS"/>
                <a:cs typeface="Trebuchet MS"/>
              </a:rPr>
              <a:t>end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rather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than 	</a:t>
            </a:r>
            <a:r>
              <a:rPr sz="1800" dirty="0">
                <a:latin typeface="Trebuchet MS"/>
                <a:cs typeface="Trebuchet MS"/>
              </a:rPr>
              <a:t>across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single</a:t>
            </a:r>
            <a:r>
              <a:rPr sz="1800" spc="-8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link.</a:t>
            </a:r>
            <a:endParaRPr sz="1800">
              <a:latin typeface="Trebuchet MS"/>
              <a:cs typeface="Trebuchet MS"/>
            </a:endParaRPr>
          </a:p>
          <a:p>
            <a:pPr marL="424180" indent="-170815">
              <a:lnSpc>
                <a:spcPct val="100000"/>
              </a:lnSpc>
              <a:spcBef>
                <a:spcPts val="225"/>
              </a:spcBef>
              <a:buChar char="•"/>
              <a:tabLst>
                <a:tab pos="424180" algn="l"/>
              </a:tabLst>
            </a:pPr>
            <a:r>
              <a:rPr sz="1800" spc="-90" dirty="0">
                <a:latin typeface="Trebuchet MS"/>
                <a:cs typeface="Trebuchet MS"/>
              </a:rPr>
              <a:t>The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sender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transport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layer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ensures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that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message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reach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at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destination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without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any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error.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31591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Session</a:t>
            </a:r>
            <a:r>
              <a:rPr spc="-409" dirty="0"/>
              <a:t> </a:t>
            </a:r>
            <a:r>
              <a:rPr spc="-185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10190480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30" dirty="0">
                <a:latin typeface="Trebuchet MS"/>
                <a:cs typeface="Trebuchet MS"/>
              </a:rPr>
              <a:t>The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70" dirty="0">
                <a:latin typeface="Trebuchet MS"/>
                <a:cs typeface="Trebuchet MS"/>
              </a:rPr>
              <a:t>Session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layer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used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establish,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maintain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synchronizes 	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interaction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between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communicating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devices.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8750" y="2709624"/>
            <a:ext cx="10318089" cy="400021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60566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Functions</a:t>
            </a:r>
            <a:r>
              <a:rPr spc="-470" dirty="0"/>
              <a:t> </a:t>
            </a:r>
            <a:r>
              <a:rPr spc="-265" dirty="0"/>
              <a:t>of</a:t>
            </a:r>
            <a:r>
              <a:rPr spc="-434" dirty="0"/>
              <a:t> </a:t>
            </a:r>
            <a:r>
              <a:rPr spc="-30" dirty="0"/>
              <a:t>Session</a:t>
            </a:r>
            <a:r>
              <a:rPr spc="-425" dirty="0"/>
              <a:t> </a:t>
            </a:r>
            <a:r>
              <a:rPr spc="-155" dirty="0"/>
              <a:t>Layer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1850" y="1880616"/>
            <a:ext cx="10528300" cy="1894839"/>
            <a:chOff x="831850" y="1880616"/>
            <a:chExt cx="10528300" cy="1894839"/>
          </a:xfrm>
        </p:grpSpPr>
        <p:sp>
          <p:nvSpPr>
            <p:cNvPr id="4" name="object 4"/>
            <p:cNvSpPr/>
            <p:nvPr/>
          </p:nvSpPr>
          <p:spPr>
            <a:xfrm>
              <a:off x="838200" y="2209292"/>
              <a:ext cx="10515600" cy="1559560"/>
            </a:xfrm>
            <a:custGeom>
              <a:avLst/>
              <a:gdLst/>
              <a:ahLst/>
              <a:cxnLst/>
              <a:rect l="l" t="t" r="r" b="b"/>
              <a:pathLst>
                <a:path w="10515600" h="1559560">
                  <a:moveTo>
                    <a:pt x="0" y="1559305"/>
                  </a:moveTo>
                  <a:lnTo>
                    <a:pt x="10515600" y="1559305"/>
                  </a:lnTo>
                  <a:lnTo>
                    <a:pt x="10515600" y="0"/>
                  </a:lnTo>
                  <a:lnTo>
                    <a:pt x="0" y="0"/>
                  </a:lnTo>
                  <a:lnTo>
                    <a:pt x="0" y="1559305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9408" y="1880616"/>
              <a:ext cx="7366254" cy="654558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831850" y="3883152"/>
            <a:ext cx="10528300" cy="2241550"/>
            <a:chOff x="831850" y="3883152"/>
            <a:chExt cx="10528300" cy="2241550"/>
          </a:xfrm>
        </p:grpSpPr>
        <p:sp>
          <p:nvSpPr>
            <p:cNvPr id="7" name="object 7"/>
            <p:cNvSpPr/>
            <p:nvPr/>
          </p:nvSpPr>
          <p:spPr>
            <a:xfrm>
              <a:off x="838200" y="4212145"/>
              <a:ext cx="10515600" cy="1906270"/>
            </a:xfrm>
            <a:custGeom>
              <a:avLst/>
              <a:gdLst/>
              <a:ahLst/>
              <a:cxnLst/>
              <a:rect l="l" t="t" r="r" b="b"/>
              <a:pathLst>
                <a:path w="10515600" h="1906270">
                  <a:moveTo>
                    <a:pt x="0" y="1905762"/>
                  </a:moveTo>
                  <a:lnTo>
                    <a:pt x="10515600" y="1905762"/>
                  </a:lnTo>
                  <a:lnTo>
                    <a:pt x="10515600" y="0"/>
                  </a:lnTo>
                  <a:lnTo>
                    <a:pt x="0" y="0"/>
                  </a:lnTo>
                  <a:lnTo>
                    <a:pt x="0" y="1905762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9408" y="3883152"/>
              <a:ext cx="7366254" cy="65455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641729" y="1993773"/>
            <a:ext cx="8856345" cy="3949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384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latin typeface="Trebuchet MS"/>
                <a:cs typeface="Trebuchet MS"/>
              </a:rPr>
              <a:t>Dialog</a:t>
            </a:r>
            <a:r>
              <a:rPr sz="2200" b="1" spc="-120" dirty="0">
                <a:latin typeface="Trebuchet MS"/>
                <a:cs typeface="Trebuchet MS"/>
              </a:rPr>
              <a:t> </a:t>
            </a:r>
            <a:r>
              <a:rPr sz="2200" b="1" spc="-10" dirty="0">
                <a:latin typeface="Trebuchet MS"/>
                <a:cs typeface="Trebuchet MS"/>
              </a:rPr>
              <a:t>control:</a:t>
            </a:r>
            <a:endParaRPr sz="2200">
              <a:latin typeface="Trebuchet MS"/>
              <a:cs typeface="Trebuchet MS"/>
            </a:endParaRPr>
          </a:p>
          <a:p>
            <a:pPr marL="241300" marR="5080" indent="-228600">
              <a:lnSpc>
                <a:spcPct val="91600"/>
              </a:lnSpc>
              <a:spcBef>
                <a:spcPts val="2410"/>
              </a:spcBef>
              <a:buChar char="•"/>
              <a:tabLst>
                <a:tab pos="241300" algn="l"/>
              </a:tabLst>
            </a:pPr>
            <a:r>
              <a:rPr sz="2200" spc="55" dirty="0">
                <a:latin typeface="Trebuchet MS"/>
                <a:cs typeface="Trebuchet MS"/>
              </a:rPr>
              <a:t>Session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layer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acts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90" dirty="0">
                <a:latin typeface="Trebuchet MS"/>
                <a:cs typeface="Trebuchet MS"/>
              </a:rPr>
              <a:t>as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dialog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controller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spc="-100" dirty="0">
                <a:latin typeface="Trebuchet MS"/>
                <a:cs typeface="Trebuchet MS"/>
              </a:rPr>
              <a:t>that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creates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dialog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between </a:t>
            </a:r>
            <a:r>
              <a:rPr sz="2200" spc="-80" dirty="0">
                <a:latin typeface="Trebuchet MS"/>
                <a:cs typeface="Trebuchet MS"/>
              </a:rPr>
              <a:t>two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processes,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or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we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can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say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100" dirty="0">
                <a:latin typeface="Trebuchet MS"/>
                <a:cs typeface="Trebuchet MS"/>
              </a:rPr>
              <a:t>that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145" dirty="0">
                <a:latin typeface="Trebuchet MS"/>
                <a:cs typeface="Trebuchet MS"/>
              </a:rPr>
              <a:t>it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allows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the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communication</a:t>
            </a:r>
            <a:r>
              <a:rPr sz="2200" spc="-14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between </a:t>
            </a:r>
            <a:r>
              <a:rPr sz="2200" spc="-80" dirty="0">
                <a:latin typeface="Trebuchet MS"/>
                <a:cs typeface="Trebuchet MS"/>
              </a:rPr>
              <a:t>two</a:t>
            </a:r>
            <a:r>
              <a:rPr sz="2200" spc="-13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processes</a:t>
            </a:r>
            <a:r>
              <a:rPr sz="2200" spc="-120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which</a:t>
            </a:r>
            <a:r>
              <a:rPr sz="2200" spc="-13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can</a:t>
            </a:r>
            <a:r>
              <a:rPr sz="2200" spc="-130" dirty="0">
                <a:latin typeface="Trebuchet MS"/>
                <a:cs typeface="Trebuchet MS"/>
              </a:rPr>
              <a:t> </a:t>
            </a:r>
            <a:r>
              <a:rPr sz="2200" spc="-30" dirty="0">
                <a:latin typeface="Trebuchet MS"/>
                <a:cs typeface="Trebuchet MS"/>
              </a:rPr>
              <a:t>be</a:t>
            </a:r>
            <a:r>
              <a:rPr sz="2200" spc="-135" dirty="0">
                <a:latin typeface="Trebuchet MS"/>
                <a:cs typeface="Trebuchet MS"/>
              </a:rPr>
              <a:t> </a:t>
            </a:r>
            <a:r>
              <a:rPr sz="2200" spc="-90" dirty="0">
                <a:latin typeface="Trebuchet MS"/>
                <a:cs typeface="Trebuchet MS"/>
              </a:rPr>
              <a:t>either</a:t>
            </a:r>
            <a:r>
              <a:rPr sz="2200" spc="-125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half-</a:t>
            </a:r>
            <a:r>
              <a:rPr sz="2200" spc="-55" dirty="0">
                <a:latin typeface="Trebuchet MS"/>
                <a:cs typeface="Trebuchet MS"/>
              </a:rPr>
              <a:t>duplex</a:t>
            </a:r>
            <a:r>
              <a:rPr sz="2200" spc="-125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or</a:t>
            </a:r>
            <a:r>
              <a:rPr sz="2200" spc="-135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full-</a:t>
            </a:r>
            <a:r>
              <a:rPr sz="2200" spc="-10" dirty="0">
                <a:latin typeface="Trebuchet MS"/>
                <a:cs typeface="Trebuchet MS"/>
              </a:rPr>
              <a:t>duplex.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15"/>
              </a:spcBef>
              <a:buFont typeface="Trebuchet MS"/>
              <a:buChar char="•"/>
            </a:pPr>
            <a:endParaRPr sz="2200">
              <a:latin typeface="Trebuchet MS"/>
              <a:cs typeface="Trebuchet MS"/>
            </a:endParaRPr>
          </a:p>
          <a:p>
            <a:pPr marL="32384">
              <a:lnSpc>
                <a:spcPct val="100000"/>
              </a:lnSpc>
            </a:pPr>
            <a:r>
              <a:rPr sz="2200" b="1" spc="-10" dirty="0">
                <a:latin typeface="Trebuchet MS"/>
                <a:cs typeface="Trebuchet MS"/>
              </a:rPr>
              <a:t>Synchronization:</a:t>
            </a:r>
            <a:endParaRPr sz="2200">
              <a:latin typeface="Trebuchet MS"/>
              <a:cs typeface="Trebuchet MS"/>
            </a:endParaRPr>
          </a:p>
          <a:p>
            <a:pPr marL="241300" marR="280035" indent="-228600">
              <a:lnSpc>
                <a:spcPct val="91600"/>
              </a:lnSpc>
              <a:spcBef>
                <a:spcPts val="2405"/>
              </a:spcBef>
              <a:buChar char="•"/>
              <a:tabLst>
                <a:tab pos="241300" algn="l"/>
              </a:tabLst>
            </a:pPr>
            <a:r>
              <a:rPr sz="2200" spc="55" dirty="0">
                <a:latin typeface="Trebuchet MS"/>
                <a:cs typeface="Trebuchet MS"/>
              </a:rPr>
              <a:t>Session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layer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adds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50" dirty="0">
                <a:latin typeface="Trebuchet MS"/>
                <a:cs typeface="Trebuchet MS"/>
              </a:rPr>
              <a:t>some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checkpoints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when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transmitting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the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data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in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a </a:t>
            </a:r>
            <a:r>
              <a:rPr sz="2200" spc="-25" dirty="0">
                <a:latin typeface="Trebuchet MS"/>
                <a:cs typeface="Trebuchet MS"/>
              </a:rPr>
              <a:t>sequence.</a:t>
            </a:r>
            <a:r>
              <a:rPr sz="2200" spc="-145" dirty="0">
                <a:latin typeface="Trebuchet MS"/>
                <a:cs typeface="Trebuchet MS"/>
              </a:rPr>
              <a:t> </a:t>
            </a:r>
            <a:r>
              <a:rPr sz="2200" spc="-110" dirty="0">
                <a:latin typeface="Trebuchet MS"/>
                <a:cs typeface="Trebuchet MS"/>
              </a:rPr>
              <a:t>If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50" dirty="0">
                <a:latin typeface="Trebuchet MS"/>
                <a:cs typeface="Trebuchet MS"/>
              </a:rPr>
              <a:t>some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-90" dirty="0">
                <a:latin typeface="Trebuchet MS"/>
                <a:cs typeface="Trebuchet MS"/>
              </a:rPr>
              <a:t>error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occurs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in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the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middle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of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the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transmission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of </a:t>
            </a:r>
            <a:r>
              <a:rPr sz="2200" spc="-80" dirty="0">
                <a:latin typeface="Trebuchet MS"/>
                <a:cs typeface="Trebuchet MS"/>
              </a:rPr>
              <a:t>data,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then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the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transmission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spc="-90" dirty="0">
                <a:latin typeface="Trebuchet MS"/>
                <a:cs typeface="Trebuchet MS"/>
              </a:rPr>
              <a:t>will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90" dirty="0">
                <a:latin typeface="Trebuchet MS"/>
                <a:cs typeface="Trebuchet MS"/>
              </a:rPr>
              <a:t>take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place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again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from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the</a:t>
            </a:r>
            <a:r>
              <a:rPr sz="2200" spc="-19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checkpoint.</a:t>
            </a:r>
            <a:endParaRPr sz="22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185"/>
              </a:spcBef>
              <a:buChar char="•"/>
              <a:tabLst>
                <a:tab pos="240665" algn="l"/>
              </a:tabLst>
            </a:pPr>
            <a:r>
              <a:rPr sz="2200" spc="-45" dirty="0">
                <a:latin typeface="Trebuchet MS"/>
                <a:cs typeface="Trebuchet MS"/>
              </a:rPr>
              <a:t>This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process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is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known</a:t>
            </a:r>
            <a:r>
              <a:rPr sz="2200" spc="-140" dirty="0">
                <a:latin typeface="Trebuchet MS"/>
                <a:cs typeface="Trebuchet MS"/>
              </a:rPr>
              <a:t> </a:t>
            </a:r>
            <a:r>
              <a:rPr sz="2200" spc="90" dirty="0">
                <a:latin typeface="Trebuchet MS"/>
                <a:cs typeface="Trebuchet MS"/>
              </a:rPr>
              <a:t>as</a:t>
            </a:r>
            <a:r>
              <a:rPr sz="2200" spc="-130" dirty="0">
                <a:latin typeface="Trebuchet MS"/>
                <a:cs typeface="Trebuchet MS"/>
              </a:rPr>
              <a:t> </a:t>
            </a:r>
            <a:r>
              <a:rPr sz="2200" b="1" i="1" spc="-50" dirty="0">
                <a:latin typeface="Trebuchet MS"/>
                <a:cs typeface="Trebuchet MS"/>
              </a:rPr>
              <a:t>Synchronization</a:t>
            </a:r>
            <a:r>
              <a:rPr sz="2200" b="1" i="1" spc="-125" dirty="0">
                <a:latin typeface="Trebuchet MS"/>
                <a:cs typeface="Trebuchet MS"/>
              </a:rPr>
              <a:t> </a:t>
            </a:r>
            <a:r>
              <a:rPr sz="2200" b="1" i="1" spc="-35" dirty="0">
                <a:latin typeface="Trebuchet MS"/>
                <a:cs typeface="Trebuchet MS"/>
              </a:rPr>
              <a:t>and</a:t>
            </a:r>
            <a:r>
              <a:rPr sz="2200" b="1" i="1" spc="-155" dirty="0">
                <a:latin typeface="Trebuchet MS"/>
                <a:cs typeface="Trebuchet MS"/>
              </a:rPr>
              <a:t> </a:t>
            </a:r>
            <a:r>
              <a:rPr sz="2200" b="1" i="1" spc="-10" dirty="0">
                <a:latin typeface="Trebuchet MS"/>
                <a:cs typeface="Trebuchet MS"/>
              </a:rPr>
              <a:t>recovery</a:t>
            </a:r>
            <a:r>
              <a:rPr sz="2200" spc="-10" dirty="0">
                <a:latin typeface="Trebuchet MS"/>
                <a:cs typeface="Trebuchet MS"/>
              </a:rPr>
              <a:t>.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42297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29" dirty="0"/>
              <a:t>Presentation</a:t>
            </a:r>
            <a:r>
              <a:rPr spc="-434" dirty="0"/>
              <a:t> </a:t>
            </a:r>
            <a:r>
              <a:rPr spc="-160" dirty="0"/>
              <a:t>Layer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715" indent="-227965" algn="just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A</a:t>
            </a:r>
            <a:r>
              <a:rPr spc="215" dirty="0"/>
              <a:t> </a:t>
            </a:r>
            <a:r>
              <a:rPr dirty="0"/>
              <a:t>Presentation</a:t>
            </a:r>
            <a:r>
              <a:rPr spc="215" dirty="0"/>
              <a:t> </a:t>
            </a:r>
            <a:r>
              <a:rPr dirty="0"/>
              <a:t>layer</a:t>
            </a:r>
            <a:r>
              <a:rPr spc="215" dirty="0"/>
              <a:t> </a:t>
            </a:r>
            <a:r>
              <a:rPr dirty="0"/>
              <a:t>is</a:t>
            </a:r>
            <a:r>
              <a:rPr spc="220" dirty="0"/>
              <a:t> </a:t>
            </a:r>
            <a:r>
              <a:rPr dirty="0"/>
              <a:t>mainly</a:t>
            </a:r>
            <a:r>
              <a:rPr spc="220" dirty="0"/>
              <a:t> </a:t>
            </a:r>
            <a:r>
              <a:rPr dirty="0"/>
              <a:t>concerned</a:t>
            </a:r>
            <a:r>
              <a:rPr spc="210" dirty="0"/>
              <a:t> </a:t>
            </a:r>
            <a:r>
              <a:rPr dirty="0"/>
              <a:t>with</a:t>
            </a:r>
            <a:r>
              <a:rPr spc="215" dirty="0"/>
              <a:t> </a:t>
            </a:r>
            <a:r>
              <a:rPr dirty="0"/>
              <a:t>the</a:t>
            </a:r>
            <a:r>
              <a:rPr spc="225" dirty="0"/>
              <a:t> </a:t>
            </a:r>
            <a:r>
              <a:rPr dirty="0"/>
              <a:t>syntax</a:t>
            </a:r>
            <a:r>
              <a:rPr spc="215" dirty="0"/>
              <a:t> </a:t>
            </a:r>
            <a:r>
              <a:rPr spc="-25" dirty="0"/>
              <a:t>and 	</a:t>
            </a:r>
            <a:r>
              <a:rPr dirty="0"/>
              <a:t>semantics</a:t>
            </a:r>
            <a:r>
              <a:rPr spc="45" dirty="0"/>
              <a:t>  </a:t>
            </a:r>
            <a:r>
              <a:rPr dirty="0"/>
              <a:t>of</a:t>
            </a:r>
            <a:r>
              <a:rPr spc="50" dirty="0"/>
              <a:t>  </a:t>
            </a:r>
            <a:r>
              <a:rPr dirty="0"/>
              <a:t>the</a:t>
            </a:r>
            <a:r>
              <a:rPr spc="45" dirty="0"/>
              <a:t>  </a:t>
            </a:r>
            <a:r>
              <a:rPr dirty="0"/>
              <a:t>information</a:t>
            </a:r>
            <a:r>
              <a:rPr spc="45" dirty="0"/>
              <a:t>  </a:t>
            </a:r>
            <a:r>
              <a:rPr dirty="0"/>
              <a:t>exchanged</a:t>
            </a:r>
            <a:r>
              <a:rPr spc="60" dirty="0"/>
              <a:t>  </a:t>
            </a:r>
            <a:r>
              <a:rPr dirty="0"/>
              <a:t>between</a:t>
            </a:r>
            <a:r>
              <a:rPr spc="45" dirty="0"/>
              <a:t>  </a:t>
            </a:r>
            <a:r>
              <a:rPr dirty="0"/>
              <a:t>the</a:t>
            </a:r>
            <a:r>
              <a:rPr spc="45" dirty="0"/>
              <a:t>  </a:t>
            </a:r>
            <a:r>
              <a:rPr spc="-25" dirty="0"/>
              <a:t>two 	</a:t>
            </a:r>
            <a:r>
              <a:rPr spc="-10" dirty="0"/>
              <a:t>systems.</a:t>
            </a:r>
          </a:p>
          <a:p>
            <a:pPr marL="240665" indent="-227965" algn="just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0665" algn="l"/>
              </a:tabLst>
            </a:pPr>
            <a:r>
              <a:rPr spc="-140" dirty="0"/>
              <a:t>It</a:t>
            </a:r>
            <a:r>
              <a:rPr spc="-265" dirty="0"/>
              <a:t> </a:t>
            </a:r>
            <a:r>
              <a:rPr dirty="0"/>
              <a:t>acts</a:t>
            </a:r>
            <a:r>
              <a:rPr spc="-220" dirty="0"/>
              <a:t> </a:t>
            </a:r>
            <a:r>
              <a:rPr spc="100" dirty="0"/>
              <a:t>as</a:t>
            </a:r>
            <a:r>
              <a:rPr spc="-250" dirty="0"/>
              <a:t> </a:t>
            </a:r>
            <a:r>
              <a:rPr dirty="0"/>
              <a:t>a</a:t>
            </a:r>
            <a:r>
              <a:rPr spc="-240" dirty="0"/>
              <a:t> </a:t>
            </a:r>
            <a:r>
              <a:rPr spc="-70" dirty="0"/>
              <a:t>data</a:t>
            </a:r>
            <a:r>
              <a:rPr spc="-240" dirty="0"/>
              <a:t> </a:t>
            </a:r>
            <a:r>
              <a:rPr spc="-80" dirty="0"/>
              <a:t>translator</a:t>
            </a:r>
            <a:r>
              <a:rPr spc="-245" dirty="0"/>
              <a:t> </a:t>
            </a:r>
            <a:r>
              <a:rPr spc="-130" dirty="0"/>
              <a:t>for</a:t>
            </a:r>
            <a:r>
              <a:rPr spc="-240" dirty="0"/>
              <a:t> </a:t>
            </a:r>
            <a:r>
              <a:rPr dirty="0"/>
              <a:t>a</a:t>
            </a:r>
            <a:r>
              <a:rPr spc="-240" dirty="0"/>
              <a:t> </a:t>
            </a:r>
            <a:r>
              <a:rPr spc="-10" dirty="0"/>
              <a:t>network.</a:t>
            </a:r>
          </a:p>
          <a:p>
            <a:pPr marL="240029" marR="5080" indent="-227965" algn="just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spc="-30" dirty="0"/>
              <a:t>This</a:t>
            </a:r>
            <a:r>
              <a:rPr spc="-114" dirty="0"/>
              <a:t> </a:t>
            </a:r>
            <a:r>
              <a:rPr spc="-85" dirty="0"/>
              <a:t>layer</a:t>
            </a:r>
            <a:r>
              <a:rPr spc="-105" dirty="0"/>
              <a:t> </a:t>
            </a:r>
            <a:r>
              <a:rPr dirty="0"/>
              <a:t>is</a:t>
            </a:r>
            <a:r>
              <a:rPr spc="-114" dirty="0"/>
              <a:t> </a:t>
            </a:r>
            <a:r>
              <a:rPr dirty="0"/>
              <a:t>a</a:t>
            </a:r>
            <a:r>
              <a:rPr spc="-95" dirty="0"/>
              <a:t> </a:t>
            </a:r>
            <a:r>
              <a:rPr spc="-70" dirty="0"/>
              <a:t>part</a:t>
            </a:r>
            <a:r>
              <a:rPr spc="-85" dirty="0"/>
              <a:t> </a:t>
            </a:r>
            <a:r>
              <a:rPr spc="-35" dirty="0"/>
              <a:t>of</a:t>
            </a:r>
            <a:r>
              <a:rPr spc="-110" dirty="0"/>
              <a:t> </a:t>
            </a:r>
            <a:r>
              <a:rPr spc="-60" dirty="0"/>
              <a:t>the</a:t>
            </a:r>
            <a:r>
              <a:rPr spc="-120" dirty="0"/>
              <a:t> </a:t>
            </a:r>
            <a:r>
              <a:rPr spc="-75" dirty="0"/>
              <a:t>operating</a:t>
            </a:r>
            <a:r>
              <a:rPr spc="-110" dirty="0"/>
              <a:t> </a:t>
            </a:r>
            <a:r>
              <a:rPr dirty="0"/>
              <a:t>system</a:t>
            </a:r>
            <a:r>
              <a:rPr spc="-105" dirty="0"/>
              <a:t> </a:t>
            </a:r>
            <a:r>
              <a:rPr spc="-100" dirty="0"/>
              <a:t>that</a:t>
            </a:r>
            <a:r>
              <a:rPr spc="-90" dirty="0"/>
              <a:t> </a:t>
            </a:r>
            <a:r>
              <a:rPr spc="-25" dirty="0"/>
              <a:t>converts</a:t>
            </a:r>
            <a:r>
              <a:rPr spc="-85" dirty="0"/>
              <a:t> </a:t>
            </a:r>
            <a:r>
              <a:rPr spc="-60" dirty="0"/>
              <a:t>the</a:t>
            </a:r>
            <a:r>
              <a:rPr spc="-120" dirty="0"/>
              <a:t> </a:t>
            </a:r>
            <a:r>
              <a:rPr spc="-20" dirty="0"/>
              <a:t>data 	</a:t>
            </a:r>
            <a:r>
              <a:rPr spc="-90" dirty="0"/>
              <a:t>from</a:t>
            </a:r>
            <a:r>
              <a:rPr spc="-229" dirty="0"/>
              <a:t> </a:t>
            </a:r>
            <a:r>
              <a:rPr dirty="0"/>
              <a:t>one</a:t>
            </a:r>
            <a:r>
              <a:rPr spc="-235" dirty="0"/>
              <a:t> </a:t>
            </a:r>
            <a:r>
              <a:rPr spc="-65" dirty="0"/>
              <a:t>presentation</a:t>
            </a:r>
            <a:r>
              <a:rPr spc="-229" dirty="0"/>
              <a:t> </a:t>
            </a:r>
            <a:r>
              <a:rPr spc="-100" dirty="0"/>
              <a:t>format</a:t>
            </a:r>
            <a:r>
              <a:rPr spc="-235" dirty="0"/>
              <a:t> </a:t>
            </a:r>
            <a:r>
              <a:rPr spc="-105" dirty="0"/>
              <a:t>to</a:t>
            </a:r>
            <a:r>
              <a:rPr spc="-229" dirty="0"/>
              <a:t> </a:t>
            </a:r>
            <a:r>
              <a:rPr spc="-65" dirty="0"/>
              <a:t>another</a:t>
            </a:r>
            <a:r>
              <a:rPr spc="-229" dirty="0"/>
              <a:t> </a:t>
            </a:r>
            <a:r>
              <a:rPr spc="-10" dirty="0"/>
              <a:t>format.</a:t>
            </a:r>
          </a:p>
          <a:p>
            <a:pPr marL="240665" indent="-227965" algn="just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0665" algn="l"/>
              </a:tabLst>
            </a:pPr>
            <a:r>
              <a:rPr spc="-130" dirty="0"/>
              <a:t>The</a:t>
            </a:r>
            <a:r>
              <a:rPr spc="-215" dirty="0"/>
              <a:t> </a:t>
            </a:r>
            <a:r>
              <a:rPr spc="-65" dirty="0"/>
              <a:t>Presentation</a:t>
            </a:r>
            <a:r>
              <a:rPr spc="-210" dirty="0"/>
              <a:t> </a:t>
            </a:r>
            <a:r>
              <a:rPr spc="-100" dirty="0"/>
              <a:t>layer</a:t>
            </a:r>
            <a:r>
              <a:rPr spc="-220" dirty="0"/>
              <a:t> </a:t>
            </a:r>
            <a:r>
              <a:rPr dirty="0"/>
              <a:t>is</a:t>
            </a:r>
            <a:r>
              <a:rPr spc="-220" dirty="0"/>
              <a:t> </a:t>
            </a:r>
            <a:r>
              <a:rPr dirty="0"/>
              <a:t>also</a:t>
            </a:r>
            <a:r>
              <a:rPr spc="-204" dirty="0"/>
              <a:t> </a:t>
            </a:r>
            <a:r>
              <a:rPr spc="-35" dirty="0"/>
              <a:t>known</a:t>
            </a:r>
            <a:r>
              <a:rPr spc="-215" dirty="0"/>
              <a:t> </a:t>
            </a:r>
            <a:r>
              <a:rPr spc="100" dirty="0"/>
              <a:t>as</a:t>
            </a:r>
            <a:r>
              <a:rPr spc="-204" dirty="0"/>
              <a:t> </a:t>
            </a:r>
            <a:r>
              <a:rPr spc="-90" dirty="0"/>
              <a:t>the</a:t>
            </a:r>
            <a:r>
              <a:rPr spc="-220" dirty="0"/>
              <a:t> </a:t>
            </a:r>
            <a:r>
              <a:rPr b="1" i="1" spc="-125" dirty="0">
                <a:latin typeface="Trebuchet MS"/>
                <a:cs typeface="Trebuchet MS"/>
              </a:rPr>
              <a:t>syntax</a:t>
            </a:r>
            <a:r>
              <a:rPr b="1" i="1" spc="-180" dirty="0">
                <a:latin typeface="Trebuchet MS"/>
                <a:cs typeface="Trebuchet MS"/>
              </a:rPr>
              <a:t> </a:t>
            </a:r>
            <a:r>
              <a:rPr b="1" i="1" spc="-10" dirty="0">
                <a:latin typeface="Trebuchet MS"/>
                <a:cs typeface="Trebuchet MS"/>
              </a:rPr>
              <a:t>layer</a:t>
            </a:r>
            <a:r>
              <a:rPr spc="-10" dirty="0"/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42297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29" dirty="0"/>
              <a:t>Presentation</a:t>
            </a:r>
            <a:r>
              <a:rPr spc="-434" dirty="0"/>
              <a:t> </a:t>
            </a:r>
            <a:r>
              <a:rPr spc="-160" dirty="0"/>
              <a:t>Layer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9553" y="1886756"/>
            <a:ext cx="9059879" cy="444278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712850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Functions</a:t>
            </a:r>
            <a:r>
              <a:rPr spc="-455" dirty="0"/>
              <a:t> </a:t>
            </a:r>
            <a:r>
              <a:rPr spc="-265" dirty="0"/>
              <a:t>of</a:t>
            </a:r>
            <a:r>
              <a:rPr spc="-420" dirty="0"/>
              <a:t> </a:t>
            </a:r>
            <a:r>
              <a:rPr spc="-235" dirty="0"/>
              <a:t>Presentation</a:t>
            </a:r>
            <a:r>
              <a:rPr spc="-409" dirty="0"/>
              <a:t> </a:t>
            </a:r>
            <a:r>
              <a:rPr spc="-130" dirty="0"/>
              <a:t>Layer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627" y="1888223"/>
            <a:ext cx="10520934" cy="5707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3627" y="3834371"/>
            <a:ext cx="10520934" cy="5707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3627" y="4969751"/>
            <a:ext cx="10520934" cy="5707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40714" y="1776758"/>
            <a:ext cx="10221595" cy="4290695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2300" b="1" spc="-10" dirty="0">
                <a:latin typeface="Trebuchet MS"/>
                <a:cs typeface="Trebuchet MS"/>
              </a:rPr>
              <a:t>Translation:</a:t>
            </a:r>
            <a:endParaRPr sz="2300">
              <a:latin typeface="Trebuchet MS"/>
              <a:cs typeface="Trebuchet MS"/>
            </a:endParaRPr>
          </a:p>
          <a:p>
            <a:pPr marL="401320" marR="133350" indent="-170815">
              <a:lnSpc>
                <a:spcPct val="91400"/>
              </a:lnSpc>
              <a:spcBef>
                <a:spcPts val="1245"/>
              </a:spcBef>
              <a:buChar char="•"/>
              <a:tabLst>
                <a:tab pos="403225" algn="l"/>
              </a:tabLst>
            </a:pPr>
            <a:r>
              <a:rPr sz="1800" spc="-90" dirty="0">
                <a:latin typeface="Trebuchet MS"/>
                <a:cs typeface="Trebuchet MS"/>
              </a:rPr>
              <a:t>The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processes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in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two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systems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exchange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information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in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form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of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character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strings,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numbers 	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80" dirty="0">
                <a:latin typeface="Trebuchet MS"/>
                <a:cs typeface="Trebuchet MS"/>
              </a:rPr>
              <a:t>so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on.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Different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computers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use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different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encoding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methods,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presentation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layer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handles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the 	</a:t>
            </a:r>
            <a:r>
              <a:rPr sz="1800" spc="-75" dirty="0">
                <a:latin typeface="Trebuchet MS"/>
                <a:cs typeface="Trebuchet MS"/>
              </a:rPr>
              <a:t>interoperability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between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8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different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encoding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methods.</a:t>
            </a:r>
            <a:endParaRPr sz="1800">
              <a:latin typeface="Trebuchet MS"/>
              <a:cs typeface="Trebuchet MS"/>
            </a:endParaRPr>
          </a:p>
          <a:p>
            <a:pPr marL="401320" marR="5080" indent="-170815">
              <a:lnSpc>
                <a:spcPts val="1970"/>
              </a:lnSpc>
              <a:spcBef>
                <a:spcPts val="484"/>
              </a:spcBef>
              <a:buChar char="•"/>
              <a:tabLst>
                <a:tab pos="403225" algn="l"/>
              </a:tabLst>
            </a:pPr>
            <a:r>
              <a:rPr sz="1800" spc="-95" dirty="0">
                <a:latin typeface="Trebuchet MS"/>
                <a:cs typeface="Trebuchet MS"/>
              </a:rPr>
              <a:t>It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converts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data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from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sender-</a:t>
            </a:r>
            <a:r>
              <a:rPr sz="1800" spc="-40" dirty="0">
                <a:latin typeface="Trebuchet MS"/>
                <a:cs typeface="Trebuchet MS"/>
              </a:rPr>
              <a:t>dependent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format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into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common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format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changes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common 	</a:t>
            </a:r>
            <a:r>
              <a:rPr sz="1800" spc="-65" dirty="0">
                <a:latin typeface="Trebuchet MS"/>
                <a:cs typeface="Trebuchet MS"/>
              </a:rPr>
              <a:t>format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into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receiver-</a:t>
            </a:r>
            <a:r>
              <a:rPr sz="1800" spc="-40" dirty="0">
                <a:latin typeface="Trebuchet MS"/>
                <a:cs typeface="Trebuchet MS"/>
              </a:rPr>
              <a:t>dependent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format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at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receiving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end.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300" b="1" spc="-10" dirty="0">
                <a:latin typeface="Trebuchet MS"/>
                <a:cs typeface="Trebuchet MS"/>
              </a:rPr>
              <a:t>Encryption:</a:t>
            </a:r>
            <a:endParaRPr sz="2300">
              <a:latin typeface="Trebuchet MS"/>
              <a:cs typeface="Trebuchet MS"/>
            </a:endParaRPr>
          </a:p>
          <a:p>
            <a:pPr marL="401320" marR="707390" indent="-170815">
              <a:lnSpc>
                <a:spcPts val="1970"/>
              </a:lnSpc>
              <a:spcBef>
                <a:spcPts val="1285"/>
              </a:spcBef>
              <a:buChar char="•"/>
              <a:tabLst>
                <a:tab pos="403225" algn="l"/>
              </a:tabLst>
            </a:pPr>
            <a:r>
              <a:rPr sz="1800" spc="-35" dirty="0">
                <a:latin typeface="Trebuchet MS"/>
                <a:cs typeface="Trebuchet MS"/>
              </a:rPr>
              <a:t>Encryption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needed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to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maintain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privacy.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Encryption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process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of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converting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sender- 	</a:t>
            </a:r>
            <a:r>
              <a:rPr sz="1800" spc="-55" dirty="0">
                <a:latin typeface="Trebuchet MS"/>
                <a:cs typeface="Trebuchet MS"/>
              </a:rPr>
              <a:t>transmitted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information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into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another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form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50" dirty="0">
                <a:latin typeface="Trebuchet MS"/>
                <a:cs typeface="Trebuchet MS"/>
              </a:rPr>
              <a:t>sends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resulting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message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over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network.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2300" b="1" spc="-10" dirty="0">
                <a:latin typeface="Trebuchet MS"/>
                <a:cs typeface="Trebuchet MS"/>
              </a:rPr>
              <a:t>Compression:</a:t>
            </a:r>
            <a:endParaRPr sz="2300">
              <a:latin typeface="Trebuchet MS"/>
              <a:cs typeface="Trebuchet MS"/>
            </a:endParaRPr>
          </a:p>
          <a:p>
            <a:pPr marL="401320" marR="495300" indent="-170815">
              <a:lnSpc>
                <a:spcPts val="1970"/>
              </a:lnSpc>
              <a:spcBef>
                <a:spcPts val="1285"/>
              </a:spcBef>
              <a:buChar char="•"/>
              <a:tabLst>
                <a:tab pos="403225" algn="l"/>
              </a:tabLst>
            </a:pPr>
            <a:r>
              <a:rPr sz="1800" spc="-20" dirty="0">
                <a:latin typeface="Trebuchet MS"/>
                <a:cs typeface="Trebuchet MS"/>
              </a:rPr>
              <a:t>Data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compression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process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of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compressing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data,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150" dirty="0">
                <a:latin typeface="Trebuchet MS"/>
                <a:cs typeface="Trebuchet MS"/>
              </a:rPr>
              <a:t>i.e.,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it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reduces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number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of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bits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to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be 	</a:t>
            </a:r>
            <a:r>
              <a:rPr sz="1800" spc="-65" dirty="0">
                <a:latin typeface="Trebuchet MS"/>
                <a:cs typeface="Trebuchet MS"/>
              </a:rPr>
              <a:t>transmitted.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Data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compression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very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important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in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multimedia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50" dirty="0">
                <a:latin typeface="Trebuchet MS"/>
                <a:cs typeface="Trebuchet MS"/>
              </a:rPr>
              <a:t>such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75" dirty="0">
                <a:latin typeface="Trebuchet MS"/>
                <a:cs typeface="Trebuchet MS"/>
              </a:rPr>
              <a:t>as</a:t>
            </a:r>
            <a:r>
              <a:rPr sz="1800" spc="-135" dirty="0">
                <a:latin typeface="Trebuchet MS"/>
                <a:cs typeface="Trebuchet MS"/>
              </a:rPr>
              <a:t> text,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audio,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video.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392937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5" dirty="0"/>
              <a:t>Application</a:t>
            </a:r>
            <a:r>
              <a:rPr spc="-400" dirty="0"/>
              <a:t> </a:t>
            </a:r>
            <a:r>
              <a:rPr spc="-185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10359390" cy="31375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6985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rebuchet MS"/>
                <a:cs typeface="Trebuchet MS"/>
              </a:rPr>
              <a:t>An</a:t>
            </a:r>
            <a:r>
              <a:rPr sz="2800" spc="-10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application</a:t>
            </a:r>
            <a:r>
              <a:rPr sz="2800" spc="-100" dirty="0">
                <a:latin typeface="Trebuchet MS"/>
                <a:cs typeface="Trebuchet MS"/>
              </a:rPr>
              <a:t> layer </a:t>
            </a:r>
            <a:r>
              <a:rPr sz="2800" dirty="0">
                <a:latin typeface="Trebuchet MS"/>
                <a:cs typeface="Trebuchet MS"/>
              </a:rPr>
              <a:t>serves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110" dirty="0">
                <a:latin typeface="Trebuchet MS"/>
                <a:cs typeface="Trebuchet MS"/>
              </a:rPr>
              <a:t>as</a:t>
            </a:r>
            <a:r>
              <a:rPr sz="2800" spc="-9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window</a:t>
            </a:r>
            <a:r>
              <a:rPr sz="2800" spc="-11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for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users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9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application 	</a:t>
            </a:r>
            <a:r>
              <a:rPr sz="2800" spc="50" dirty="0">
                <a:latin typeface="Trebuchet MS"/>
                <a:cs typeface="Trebuchet MS"/>
              </a:rPr>
              <a:t>processes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80" dirty="0">
                <a:latin typeface="Trebuchet MS"/>
                <a:cs typeface="Trebuchet MS"/>
              </a:rPr>
              <a:t>access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network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service.</a:t>
            </a:r>
            <a:endParaRPr sz="2800">
              <a:latin typeface="Trebuchet MS"/>
              <a:cs typeface="Trebuchet MS"/>
            </a:endParaRPr>
          </a:p>
          <a:p>
            <a:pPr marL="240029" marR="8255" indent="-227965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  <a:tab pos="715010" algn="l"/>
                <a:tab pos="2212975" algn="l"/>
                <a:tab pos="3470910" algn="l"/>
                <a:tab pos="4491990" algn="l"/>
                <a:tab pos="5121910" algn="l"/>
                <a:tab pos="6627495" algn="l"/>
                <a:tab pos="8983980" algn="l"/>
              </a:tabLst>
            </a:pPr>
            <a:r>
              <a:rPr sz="2800" spc="-25" dirty="0">
                <a:latin typeface="Trebuchet MS"/>
                <a:cs typeface="Trebuchet MS"/>
              </a:rPr>
              <a:t>It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" dirty="0">
                <a:latin typeface="Trebuchet MS"/>
                <a:cs typeface="Trebuchet MS"/>
              </a:rPr>
              <a:t>handles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75" dirty="0">
                <a:latin typeface="Trebuchet MS"/>
                <a:cs typeface="Trebuchet MS"/>
              </a:rPr>
              <a:t>issues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65" dirty="0">
                <a:latin typeface="Trebuchet MS"/>
                <a:cs typeface="Trebuchet MS"/>
              </a:rPr>
              <a:t>such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85" dirty="0">
                <a:latin typeface="Trebuchet MS"/>
                <a:cs typeface="Trebuchet MS"/>
              </a:rPr>
              <a:t>as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" dirty="0">
                <a:latin typeface="Trebuchet MS"/>
                <a:cs typeface="Trebuchet MS"/>
              </a:rPr>
              <a:t>network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" dirty="0">
                <a:latin typeface="Trebuchet MS"/>
                <a:cs typeface="Trebuchet MS"/>
              </a:rPr>
              <a:t>transparency,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20" dirty="0">
                <a:latin typeface="Trebuchet MS"/>
                <a:cs typeface="Trebuchet MS"/>
              </a:rPr>
              <a:t>resource 	</a:t>
            </a:r>
            <a:r>
              <a:rPr sz="2800" spc="-65" dirty="0">
                <a:latin typeface="Trebuchet MS"/>
                <a:cs typeface="Trebuchet MS"/>
              </a:rPr>
              <a:t>allocation,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etc.</a:t>
            </a:r>
            <a:endParaRPr sz="2800">
              <a:latin typeface="Trebuchet MS"/>
              <a:cs typeface="Trebuchet MS"/>
            </a:endParaRPr>
          </a:p>
          <a:p>
            <a:pPr marL="240029" marR="5080" indent="-22796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  <a:tab pos="808355" algn="l"/>
                <a:tab pos="2701290" algn="l"/>
                <a:tab pos="3608070" algn="l"/>
                <a:tab pos="4028440" algn="l"/>
                <a:tab pos="4700905" algn="l"/>
                <a:tab pos="5249545" algn="l"/>
                <a:tab pos="7242809" algn="l"/>
                <a:tab pos="7920355" algn="l"/>
                <a:tab pos="8282940" algn="l"/>
                <a:tab pos="9848215" algn="l"/>
              </a:tabLst>
            </a:pPr>
            <a:r>
              <a:rPr sz="2800" spc="-25" dirty="0">
                <a:latin typeface="Trebuchet MS"/>
                <a:cs typeface="Trebuchet MS"/>
              </a:rPr>
              <a:t>An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" dirty="0">
                <a:latin typeface="Trebuchet MS"/>
                <a:cs typeface="Trebuchet MS"/>
              </a:rPr>
              <a:t>application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20" dirty="0">
                <a:latin typeface="Trebuchet MS"/>
                <a:cs typeface="Trebuchet MS"/>
              </a:rPr>
              <a:t>layer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25" dirty="0">
                <a:latin typeface="Trebuchet MS"/>
                <a:cs typeface="Trebuchet MS"/>
              </a:rPr>
              <a:t>is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25" dirty="0">
                <a:latin typeface="Trebuchet MS"/>
                <a:cs typeface="Trebuchet MS"/>
              </a:rPr>
              <a:t>not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25" dirty="0">
                <a:latin typeface="Trebuchet MS"/>
                <a:cs typeface="Trebuchet MS"/>
              </a:rPr>
              <a:t>an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" dirty="0">
                <a:latin typeface="Trebuchet MS"/>
                <a:cs typeface="Trebuchet MS"/>
              </a:rPr>
              <a:t>application,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25" dirty="0">
                <a:latin typeface="Trebuchet MS"/>
                <a:cs typeface="Trebuchet MS"/>
              </a:rPr>
              <a:t>but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25" dirty="0">
                <a:latin typeface="Trebuchet MS"/>
                <a:cs typeface="Trebuchet MS"/>
              </a:rPr>
              <a:t>it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" dirty="0">
                <a:latin typeface="Trebuchet MS"/>
                <a:cs typeface="Trebuchet MS"/>
              </a:rPr>
              <a:t>performs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0" dirty="0">
                <a:latin typeface="Trebuchet MS"/>
                <a:cs typeface="Trebuchet MS"/>
              </a:rPr>
              <a:t>the 	</a:t>
            </a:r>
            <a:r>
              <a:rPr sz="2800" spc="-55" dirty="0">
                <a:latin typeface="Trebuchet MS"/>
                <a:cs typeface="Trebuchet MS"/>
              </a:rPr>
              <a:t>application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layer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functions.</a:t>
            </a:r>
            <a:endParaRPr sz="2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65" dirty="0">
                <a:latin typeface="Trebuchet MS"/>
                <a:cs typeface="Trebuchet MS"/>
              </a:rPr>
              <a:t>This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layer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provides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network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services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end-</a:t>
            </a:r>
            <a:r>
              <a:rPr sz="2800" spc="-10" dirty="0">
                <a:latin typeface="Trebuchet MS"/>
                <a:cs typeface="Trebuchet MS"/>
              </a:rPr>
              <a:t>users.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392937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5" dirty="0"/>
              <a:t>Application</a:t>
            </a:r>
            <a:r>
              <a:rPr spc="-400" dirty="0"/>
              <a:t> </a:t>
            </a:r>
            <a:r>
              <a:rPr spc="-185" dirty="0"/>
              <a:t>Layer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3094" y="2100458"/>
            <a:ext cx="9129857" cy="430875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682688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Functions</a:t>
            </a:r>
            <a:r>
              <a:rPr spc="-465" dirty="0"/>
              <a:t> </a:t>
            </a:r>
            <a:r>
              <a:rPr spc="-265" dirty="0"/>
              <a:t>of</a:t>
            </a:r>
            <a:r>
              <a:rPr spc="-430" dirty="0"/>
              <a:t> </a:t>
            </a:r>
            <a:r>
              <a:rPr spc="-215" dirty="0"/>
              <a:t>Application</a:t>
            </a:r>
            <a:r>
              <a:rPr spc="-420" dirty="0"/>
              <a:t> </a:t>
            </a:r>
            <a:r>
              <a:rPr spc="-155" dirty="0"/>
              <a:t>Layer</a:t>
            </a:r>
          </a:p>
        </p:txBody>
      </p:sp>
      <p:sp>
        <p:nvSpPr>
          <p:cNvPr id="3" name="object 3"/>
          <p:cNvSpPr/>
          <p:nvPr/>
        </p:nvSpPr>
        <p:spPr>
          <a:xfrm>
            <a:off x="845311" y="2240152"/>
            <a:ext cx="3070225" cy="2291715"/>
          </a:xfrm>
          <a:custGeom>
            <a:avLst/>
            <a:gdLst/>
            <a:ahLst/>
            <a:cxnLst/>
            <a:rect l="l" t="t" r="r" b="b"/>
            <a:pathLst>
              <a:path w="3070225" h="2291715">
                <a:moveTo>
                  <a:pt x="183311" y="0"/>
                </a:moveTo>
                <a:lnTo>
                  <a:pt x="2886455" y="0"/>
                </a:lnTo>
                <a:lnTo>
                  <a:pt x="2935176" y="6545"/>
                </a:lnTo>
                <a:lnTo>
                  <a:pt x="2978954" y="25019"/>
                </a:lnTo>
                <a:lnTo>
                  <a:pt x="3016043" y="53673"/>
                </a:lnTo>
                <a:lnTo>
                  <a:pt x="3044698" y="90762"/>
                </a:lnTo>
                <a:lnTo>
                  <a:pt x="3063171" y="134540"/>
                </a:lnTo>
                <a:lnTo>
                  <a:pt x="3069716" y="183261"/>
                </a:lnTo>
                <a:lnTo>
                  <a:pt x="3069716" y="2291461"/>
                </a:lnTo>
                <a:lnTo>
                  <a:pt x="0" y="2291461"/>
                </a:lnTo>
                <a:lnTo>
                  <a:pt x="0" y="183261"/>
                </a:lnTo>
                <a:lnTo>
                  <a:pt x="6547" y="134540"/>
                </a:lnTo>
                <a:lnTo>
                  <a:pt x="25026" y="90762"/>
                </a:lnTo>
                <a:lnTo>
                  <a:pt x="53689" y="53673"/>
                </a:lnTo>
                <a:lnTo>
                  <a:pt x="90789" y="25018"/>
                </a:lnTo>
                <a:lnTo>
                  <a:pt x="134578" y="6545"/>
                </a:lnTo>
                <a:lnTo>
                  <a:pt x="183311" y="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1758" y="2312035"/>
            <a:ext cx="2935605" cy="200660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41300" marR="5080" indent="-228600">
              <a:lnSpc>
                <a:spcPct val="91600"/>
              </a:lnSpc>
              <a:spcBef>
                <a:spcPts val="305"/>
              </a:spcBef>
              <a:buChar char="•"/>
              <a:tabLst>
                <a:tab pos="241300" algn="l"/>
              </a:tabLst>
            </a:pPr>
            <a:r>
              <a:rPr sz="2000" dirty="0">
                <a:latin typeface="Trebuchet MS"/>
                <a:cs typeface="Trebuchet MS"/>
              </a:rPr>
              <a:t>An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application</a:t>
            </a:r>
            <a:r>
              <a:rPr sz="2000" spc="-19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layer allows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18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user</a:t>
            </a:r>
            <a:r>
              <a:rPr sz="2000" spc="-18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to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55" dirty="0">
                <a:latin typeface="Trebuchet MS"/>
                <a:cs typeface="Trebuchet MS"/>
              </a:rPr>
              <a:t>access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9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files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in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remote </a:t>
            </a:r>
            <a:r>
              <a:rPr sz="2000" spc="-65" dirty="0">
                <a:latin typeface="Trebuchet MS"/>
                <a:cs typeface="Trebuchet MS"/>
              </a:rPr>
              <a:t>computer,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to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retrieve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the </a:t>
            </a:r>
            <a:r>
              <a:rPr sz="2000" spc="-50" dirty="0">
                <a:latin typeface="Trebuchet MS"/>
                <a:cs typeface="Trebuchet MS"/>
              </a:rPr>
              <a:t>files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from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computer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to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manage</a:t>
            </a:r>
            <a:r>
              <a:rPr sz="2000" spc="-19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8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files </a:t>
            </a:r>
            <a:r>
              <a:rPr sz="2000" spc="-50" dirty="0">
                <a:latin typeface="Trebuchet MS"/>
                <a:cs typeface="Trebuchet MS"/>
              </a:rPr>
              <a:t>in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19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remote</a:t>
            </a:r>
            <a:r>
              <a:rPr sz="2000" spc="-19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computer.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8961" y="4525200"/>
            <a:ext cx="3082925" cy="998219"/>
            <a:chOff x="838961" y="4525200"/>
            <a:chExt cx="3082925" cy="99821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5311" y="4531550"/>
              <a:ext cx="3069716" cy="98532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45311" y="4531550"/>
              <a:ext cx="3070225" cy="985519"/>
            </a:xfrm>
            <a:custGeom>
              <a:avLst/>
              <a:gdLst/>
              <a:ahLst/>
              <a:cxnLst/>
              <a:rect l="l" t="t" r="r" b="b"/>
              <a:pathLst>
                <a:path w="3070225" h="985520">
                  <a:moveTo>
                    <a:pt x="0" y="985329"/>
                  </a:moveTo>
                  <a:lnTo>
                    <a:pt x="3069716" y="985329"/>
                  </a:lnTo>
                  <a:lnTo>
                    <a:pt x="3069716" y="0"/>
                  </a:lnTo>
                  <a:lnTo>
                    <a:pt x="0" y="0"/>
                  </a:lnTo>
                  <a:lnTo>
                    <a:pt x="0" y="985329"/>
                  </a:lnTo>
                  <a:close/>
                </a:path>
              </a:pathLst>
            </a:custGeom>
            <a:ln w="12699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97432" y="4617846"/>
            <a:ext cx="2054860" cy="75946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>
              <a:lnSpc>
                <a:spcPct val="91500"/>
              </a:lnSpc>
              <a:spcBef>
                <a:spcPts val="275"/>
              </a:spcBef>
            </a:pPr>
            <a:r>
              <a:rPr sz="1700" b="1" spc="-55" dirty="0">
                <a:latin typeface="Trebuchet MS"/>
                <a:cs typeface="Trebuchet MS"/>
              </a:rPr>
              <a:t>File</a:t>
            </a:r>
            <a:r>
              <a:rPr sz="1700" b="1" spc="-114" dirty="0">
                <a:latin typeface="Trebuchet MS"/>
                <a:cs typeface="Trebuchet MS"/>
              </a:rPr>
              <a:t> </a:t>
            </a:r>
            <a:r>
              <a:rPr sz="1700" b="1" spc="-70" dirty="0">
                <a:latin typeface="Trebuchet MS"/>
                <a:cs typeface="Trebuchet MS"/>
              </a:rPr>
              <a:t>transfer,</a:t>
            </a:r>
            <a:r>
              <a:rPr sz="1700" b="1" spc="-125" dirty="0">
                <a:latin typeface="Trebuchet MS"/>
                <a:cs typeface="Trebuchet MS"/>
              </a:rPr>
              <a:t> </a:t>
            </a:r>
            <a:r>
              <a:rPr sz="1700" b="1" spc="-10" dirty="0">
                <a:latin typeface="Trebuchet MS"/>
                <a:cs typeface="Trebuchet MS"/>
              </a:rPr>
              <a:t>access, </a:t>
            </a:r>
            <a:r>
              <a:rPr sz="1700" b="1" dirty="0">
                <a:latin typeface="Trebuchet MS"/>
                <a:cs typeface="Trebuchet MS"/>
              </a:rPr>
              <a:t>and</a:t>
            </a:r>
            <a:r>
              <a:rPr sz="1700" b="1" spc="-160" dirty="0">
                <a:latin typeface="Trebuchet MS"/>
                <a:cs typeface="Trebuchet MS"/>
              </a:rPr>
              <a:t> </a:t>
            </a:r>
            <a:r>
              <a:rPr sz="1700" b="1" spc="-10" dirty="0">
                <a:latin typeface="Trebuchet MS"/>
                <a:cs typeface="Trebuchet MS"/>
              </a:rPr>
              <a:t>management (FTAM):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087623" y="4681728"/>
            <a:ext cx="1087120" cy="1087120"/>
            <a:chOff x="3087623" y="4681728"/>
            <a:chExt cx="1087120" cy="1087120"/>
          </a:xfrm>
        </p:grpSpPr>
        <p:sp>
          <p:nvSpPr>
            <p:cNvPr id="10" name="object 10"/>
            <p:cNvSpPr/>
            <p:nvPr/>
          </p:nvSpPr>
          <p:spPr>
            <a:xfrm>
              <a:off x="3093973" y="4688078"/>
              <a:ext cx="1074420" cy="1074420"/>
            </a:xfrm>
            <a:custGeom>
              <a:avLst/>
              <a:gdLst/>
              <a:ahLst/>
              <a:cxnLst/>
              <a:rect l="l" t="t" r="r" b="b"/>
              <a:pathLst>
                <a:path w="1074420" h="1074420">
                  <a:moveTo>
                    <a:pt x="537083" y="0"/>
                  </a:moveTo>
                  <a:lnTo>
                    <a:pt x="488190" y="2195"/>
                  </a:lnTo>
                  <a:lnTo>
                    <a:pt x="440528" y="8655"/>
                  </a:lnTo>
                  <a:lnTo>
                    <a:pt x="394287" y="19191"/>
                  </a:lnTo>
                  <a:lnTo>
                    <a:pt x="349657" y="33611"/>
                  </a:lnTo>
                  <a:lnTo>
                    <a:pt x="306826" y="51727"/>
                  </a:lnTo>
                  <a:lnTo>
                    <a:pt x="265985" y="73349"/>
                  </a:lnTo>
                  <a:lnTo>
                    <a:pt x="227321" y="98287"/>
                  </a:lnTo>
                  <a:lnTo>
                    <a:pt x="191026" y="126351"/>
                  </a:lnTo>
                  <a:lnTo>
                    <a:pt x="157289" y="157352"/>
                  </a:lnTo>
                  <a:lnTo>
                    <a:pt x="126298" y="191101"/>
                  </a:lnTo>
                  <a:lnTo>
                    <a:pt x="98244" y="227406"/>
                  </a:lnTo>
                  <a:lnTo>
                    <a:pt x="73316" y="266079"/>
                  </a:lnTo>
                  <a:lnTo>
                    <a:pt x="51703" y="306929"/>
                  </a:lnTo>
                  <a:lnTo>
                    <a:pt x="33595" y="349768"/>
                  </a:lnTo>
                  <a:lnTo>
                    <a:pt x="19181" y="394405"/>
                  </a:lnTo>
                  <a:lnTo>
                    <a:pt x="8651" y="440651"/>
                  </a:lnTo>
                  <a:lnTo>
                    <a:pt x="2194" y="488316"/>
                  </a:lnTo>
                  <a:lnTo>
                    <a:pt x="0" y="537210"/>
                  </a:lnTo>
                  <a:lnTo>
                    <a:pt x="2194" y="586103"/>
                  </a:lnTo>
                  <a:lnTo>
                    <a:pt x="8651" y="633768"/>
                  </a:lnTo>
                  <a:lnTo>
                    <a:pt x="19181" y="680013"/>
                  </a:lnTo>
                  <a:lnTo>
                    <a:pt x="33595" y="724649"/>
                  </a:lnTo>
                  <a:lnTo>
                    <a:pt x="51703" y="767487"/>
                  </a:lnTo>
                  <a:lnTo>
                    <a:pt x="73316" y="808337"/>
                  </a:lnTo>
                  <a:lnTo>
                    <a:pt x="98244" y="847009"/>
                  </a:lnTo>
                  <a:lnTo>
                    <a:pt x="126298" y="883313"/>
                  </a:lnTo>
                  <a:lnTo>
                    <a:pt x="157289" y="917060"/>
                  </a:lnTo>
                  <a:lnTo>
                    <a:pt x="191026" y="948060"/>
                  </a:lnTo>
                  <a:lnTo>
                    <a:pt x="227321" y="976124"/>
                  </a:lnTo>
                  <a:lnTo>
                    <a:pt x="265985" y="1001061"/>
                  </a:lnTo>
                  <a:lnTo>
                    <a:pt x="306826" y="1022682"/>
                  </a:lnTo>
                  <a:lnTo>
                    <a:pt x="349657" y="1040797"/>
                  </a:lnTo>
                  <a:lnTo>
                    <a:pt x="394287" y="1055217"/>
                  </a:lnTo>
                  <a:lnTo>
                    <a:pt x="440528" y="1065751"/>
                  </a:lnTo>
                  <a:lnTo>
                    <a:pt x="488190" y="1072211"/>
                  </a:lnTo>
                  <a:lnTo>
                    <a:pt x="537083" y="1074407"/>
                  </a:lnTo>
                  <a:lnTo>
                    <a:pt x="585995" y="1072211"/>
                  </a:lnTo>
                  <a:lnTo>
                    <a:pt x="633675" y="1065751"/>
                  </a:lnTo>
                  <a:lnTo>
                    <a:pt x="679931" y="1055217"/>
                  </a:lnTo>
                  <a:lnTo>
                    <a:pt x="724575" y="1040797"/>
                  </a:lnTo>
                  <a:lnTo>
                    <a:pt x="767418" y="1022682"/>
                  </a:lnTo>
                  <a:lnTo>
                    <a:pt x="808270" y="1001061"/>
                  </a:lnTo>
                  <a:lnTo>
                    <a:pt x="846942" y="976124"/>
                  </a:lnTo>
                  <a:lnTo>
                    <a:pt x="883244" y="948060"/>
                  </a:lnTo>
                  <a:lnTo>
                    <a:pt x="916987" y="917060"/>
                  </a:lnTo>
                  <a:lnTo>
                    <a:pt x="947982" y="883313"/>
                  </a:lnTo>
                  <a:lnTo>
                    <a:pt x="976040" y="847009"/>
                  </a:lnTo>
                  <a:lnTo>
                    <a:pt x="1000971" y="808337"/>
                  </a:lnTo>
                  <a:lnTo>
                    <a:pt x="1022586" y="767487"/>
                  </a:lnTo>
                  <a:lnTo>
                    <a:pt x="1040696" y="724649"/>
                  </a:lnTo>
                  <a:lnTo>
                    <a:pt x="1055110" y="680013"/>
                  </a:lnTo>
                  <a:lnTo>
                    <a:pt x="1065641" y="633768"/>
                  </a:lnTo>
                  <a:lnTo>
                    <a:pt x="1072098" y="586103"/>
                  </a:lnTo>
                  <a:lnTo>
                    <a:pt x="1074292" y="537210"/>
                  </a:lnTo>
                  <a:lnTo>
                    <a:pt x="1072098" y="488316"/>
                  </a:lnTo>
                  <a:lnTo>
                    <a:pt x="1065641" y="440651"/>
                  </a:lnTo>
                  <a:lnTo>
                    <a:pt x="1055110" y="394405"/>
                  </a:lnTo>
                  <a:lnTo>
                    <a:pt x="1040696" y="349768"/>
                  </a:lnTo>
                  <a:lnTo>
                    <a:pt x="1022586" y="306929"/>
                  </a:lnTo>
                  <a:lnTo>
                    <a:pt x="1000971" y="266079"/>
                  </a:lnTo>
                  <a:lnTo>
                    <a:pt x="976040" y="227406"/>
                  </a:lnTo>
                  <a:lnTo>
                    <a:pt x="947982" y="191101"/>
                  </a:lnTo>
                  <a:lnTo>
                    <a:pt x="916987" y="157352"/>
                  </a:lnTo>
                  <a:lnTo>
                    <a:pt x="883244" y="126351"/>
                  </a:lnTo>
                  <a:lnTo>
                    <a:pt x="846942" y="98287"/>
                  </a:lnTo>
                  <a:lnTo>
                    <a:pt x="808270" y="73349"/>
                  </a:lnTo>
                  <a:lnTo>
                    <a:pt x="767418" y="51727"/>
                  </a:lnTo>
                  <a:lnTo>
                    <a:pt x="724575" y="33611"/>
                  </a:lnTo>
                  <a:lnTo>
                    <a:pt x="679931" y="19191"/>
                  </a:lnTo>
                  <a:lnTo>
                    <a:pt x="633675" y="8655"/>
                  </a:lnTo>
                  <a:lnTo>
                    <a:pt x="585995" y="2195"/>
                  </a:lnTo>
                  <a:lnTo>
                    <a:pt x="537083" y="0"/>
                  </a:lnTo>
                  <a:close/>
                </a:path>
              </a:pathLst>
            </a:custGeom>
            <a:solidFill>
              <a:srgbClr val="F7D4C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93973" y="4688078"/>
              <a:ext cx="1074420" cy="1074420"/>
            </a:xfrm>
            <a:custGeom>
              <a:avLst/>
              <a:gdLst/>
              <a:ahLst/>
              <a:cxnLst/>
              <a:rect l="l" t="t" r="r" b="b"/>
              <a:pathLst>
                <a:path w="1074420" h="1074420">
                  <a:moveTo>
                    <a:pt x="0" y="537210"/>
                  </a:moveTo>
                  <a:lnTo>
                    <a:pt x="2194" y="488316"/>
                  </a:lnTo>
                  <a:lnTo>
                    <a:pt x="8651" y="440651"/>
                  </a:lnTo>
                  <a:lnTo>
                    <a:pt x="19181" y="394405"/>
                  </a:lnTo>
                  <a:lnTo>
                    <a:pt x="33595" y="349768"/>
                  </a:lnTo>
                  <a:lnTo>
                    <a:pt x="51703" y="306929"/>
                  </a:lnTo>
                  <a:lnTo>
                    <a:pt x="73316" y="266079"/>
                  </a:lnTo>
                  <a:lnTo>
                    <a:pt x="98244" y="227406"/>
                  </a:lnTo>
                  <a:lnTo>
                    <a:pt x="126298" y="191101"/>
                  </a:lnTo>
                  <a:lnTo>
                    <a:pt x="157289" y="157352"/>
                  </a:lnTo>
                  <a:lnTo>
                    <a:pt x="191026" y="126351"/>
                  </a:lnTo>
                  <a:lnTo>
                    <a:pt x="227321" y="98287"/>
                  </a:lnTo>
                  <a:lnTo>
                    <a:pt x="265985" y="73349"/>
                  </a:lnTo>
                  <a:lnTo>
                    <a:pt x="306826" y="51727"/>
                  </a:lnTo>
                  <a:lnTo>
                    <a:pt x="349657" y="33611"/>
                  </a:lnTo>
                  <a:lnTo>
                    <a:pt x="394287" y="19191"/>
                  </a:lnTo>
                  <a:lnTo>
                    <a:pt x="440528" y="8655"/>
                  </a:lnTo>
                  <a:lnTo>
                    <a:pt x="488190" y="2195"/>
                  </a:lnTo>
                  <a:lnTo>
                    <a:pt x="537083" y="0"/>
                  </a:lnTo>
                  <a:lnTo>
                    <a:pt x="585995" y="2195"/>
                  </a:lnTo>
                  <a:lnTo>
                    <a:pt x="633675" y="8655"/>
                  </a:lnTo>
                  <a:lnTo>
                    <a:pt x="679931" y="19191"/>
                  </a:lnTo>
                  <a:lnTo>
                    <a:pt x="724575" y="33611"/>
                  </a:lnTo>
                  <a:lnTo>
                    <a:pt x="767418" y="51727"/>
                  </a:lnTo>
                  <a:lnTo>
                    <a:pt x="808270" y="73349"/>
                  </a:lnTo>
                  <a:lnTo>
                    <a:pt x="846942" y="98287"/>
                  </a:lnTo>
                  <a:lnTo>
                    <a:pt x="883244" y="126351"/>
                  </a:lnTo>
                  <a:lnTo>
                    <a:pt x="916987" y="157352"/>
                  </a:lnTo>
                  <a:lnTo>
                    <a:pt x="947982" y="191101"/>
                  </a:lnTo>
                  <a:lnTo>
                    <a:pt x="976040" y="227406"/>
                  </a:lnTo>
                  <a:lnTo>
                    <a:pt x="1000971" y="266079"/>
                  </a:lnTo>
                  <a:lnTo>
                    <a:pt x="1022586" y="306929"/>
                  </a:lnTo>
                  <a:lnTo>
                    <a:pt x="1040696" y="349768"/>
                  </a:lnTo>
                  <a:lnTo>
                    <a:pt x="1055110" y="394405"/>
                  </a:lnTo>
                  <a:lnTo>
                    <a:pt x="1065641" y="440651"/>
                  </a:lnTo>
                  <a:lnTo>
                    <a:pt x="1072098" y="488316"/>
                  </a:lnTo>
                  <a:lnTo>
                    <a:pt x="1074292" y="537210"/>
                  </a:lnTo>
                  <a:lnTo>
                    <a:pt x="1072098" y="586103"/>
                  </a:lnTo>
                  <a:lnTo>
                    <a:pt x="1065641" y="633768"/>
                  </a:lnTo>
                  <a:lnTo>
                    <a:pt x="1055110" y="680013"/>
                  </a:lnTo>
                  <a:lnTo>
                    <a:pt x="1040696" y="724649"/>
                  </a:lnTo>
                  <a:lnTo>
                    <a:pt x="1022586" y="767487"/>
                  </a:lnTo>
                  <a:lnTo>
                    <a:pt x="1000971" y="808337"/>
                  </a:lnTo>
                  <a:lnTo>
                    <a:pt x="976040" y="847009"/>
                  </a:lnTo>
                  <a:lnTo>
                    <a:pt x="947982" y="883313"/>
                  </a:lnTo>
                  <a:lnTo>
                    <a:pt x="916987" y="917060"/>
                  </a:lnTo>
                  <a:lnTo>
                    <a:pt x="883244" y="948060"/>
                  </a:lnTo>
                  <a:lnTo>
                    <a:pt x="846942" y="976124"/>
                  </a:lnTo>
                  <a:lnTo>
                    <a:pt x="808270" y="1001061"/>
                  </a:lnTo>
                  <a:lnTo>
                    <a:pt x="767418" y="1022682"/>
                  </a:lnTo>
                  <a:lnTo>
                    <a:pt x="724575" y="1040797"/>
                  </a:lnTo>
                  <a:lnTo>
                    <a:pt x="679931" y="1055217"/>
                  </a:lnTo>
                  <a:lnTo>
                    <a:pt x="633675" y="1065751"/>
                  </a:lnTo>
                  <a:lnTo>
                    <a:pt x="585995" y="1072211"/>
                  </a:lnTo>
                  <a:lnTo>
                    <a:pt x="537083" y="1074407"/>
                  </a:lnTo>
                  <a:lnTo>
                    <a:pt x="488190" y="1072211"/>
                  </a:lnTo>
                  <a:lnTo>
                    <a:pt x="440528" y="1065751"/>
                  </a:lnTo>
                  <a:lnTo>
                    <a:pt x="394287" y="1055217"/>
                  </a:lnTo>
                  <a:lnTo>
                    <a:pt x="349657" y="1040797"/>
                  </a:lnTo>
                  <a:lnTo>
                    <a:pt x="306826" y="1022682"/>
                  </a:lnTo>
                  <a:lnTo>
                    <a:pt x="265985" y="1001061"/>
                  </a:lnTo>
                  <a:lnTo>
                    <a:pt x="227321" y="976124"/>
                  </a:lnTo>
                  <a:lnTo>
                    <a:pt x="191026" y="948060"/>
                  </a:lnTo>
                  <a:lnTo>
                    <a:pt x="157289" y="917060"/>
                  </a:lnTo>
                  <a:lnTo>
                    <a:pt x="126298" y="883313"/>
                  </a:lnTo>
                  <a:lnTo>
                    <a:pt x="98244" y="847009"/>
                  </a:lnTo>
                  <a:lnTo>
                    <a:pt x="73316" y="808337"/>
                  </a:lnTo>
                  <a:lnTo>
                    <a:pt x="51703" y="767487"/>
                  </a:lnTo>
                  <a:lnTo>
                    <a:pt x="33595" y="724649"/>
                  </a:lnTo>
                  <a:lnTo>
                    <a:pt x="19181" y="680013"/>
                  </a:lnTo>
                  <a:lnTo>
                    <a:pt x="8651" y="633768"/>
                  </a:lnTo>
                  <a:lnTo>
                    <a:pt x="2194" y="586103"/>
                  </a:lnTo>
                  <a:lnTo>
                    <a:pt x="0" y="537210"/>
                  </a:lnTo>
                  <a:close/>
                </a:path>
              </a:pathLst>
            </a:custGeom>
            <a:ln w="12700">
              <a:solidFill>
                <a:srgbClr val="F7D4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4434459" y="2240152"/>
            <a:ext cx="3070225" cy="2291715"/>
          </a:xfrm>
          <a:custGeom>
            <a:avLst/>
            <a:gdLst/>
            <a:ahLst/>
            <a:cxnLst/>
            <a:rect l="l" t="t" r="r" b="b"/>
            <a:pathLst>
              <a:path w="3070225" h="2291715">
                <a:moveTo>
                  <a:pt x="183387" y="0"/>
                </a:moveTo>
                <a:lnTo>
                  <a:pt x="2886456" y="0"/>
                </a:lnTo>
                <a:lnTo>
                  <a:pt x="2935176" y="6545"/>
                </a:lnTo>
                <a:lnTo>
                  <a:pt x="2978954" y="25019"/>
                </a:lnTo>
                <a:lnTo>
                  <a:pt x="3016043" y="53673"/>
                </a:lnTo>
                <a:lnTo>
                  <a:pt x="3044698" y="90762"/>
                </a:lnTo>
                <a:lnTo>
                  <a:pt x="3063171" y="134540"/>
                </a:lnTo>
                <a:lnTo>
                  <a:pt x="3069716" y="183261"/>
                </a:lnTo>
                <a:lnTo>
                  <a:pt x="3069716" y="2291461"/>
                </a:lnTo>
                <a:lnTo>
                  <a:pt x="0" y="2291461"/>
                </a:lnTo>
                <a:lnTo>
                  <a:pt x="0" y="183261"/>
                </a:lnTo>
                <a:lnTo>
                  <a:pt x="6555" y="134540"/>
                </a:lnTo>
                <a:lnTo>
                  <a:pt x="25051" y="90762"/>
                </a:lnTo>
                <a:lnTo>
                  <a:pt x="53736" y="53673"/>
                </a:lnTo>
                <a:lnTo>
                  <a:pt x="90856" y="25018"/>
                </a:lnTo>
                <a:lnTo>
                  <a:pt x="134658" y="6545"/>
                </a:lnTo>
                <a:lnTo>
                  <a:pt x="183387" y="0"/>
                </a:lnTo>
                <a:close/>
              </a:path>
            </a:pathLst>
          </a:custGeom>
          <a:ln w="12700">
            <a:solidFill>
              <a:srgbClr val="186B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501388" y="2312035"/>
            <a:ext cx="2724150" cy="116967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41300" marR="5080" indent="-228600">
              <a:lnSpc>
                <a:spcPct val="91700"/>
              </a:lnSpc>
              <a:spcBef>
                <a:spcPts val="300"/>
              </a:spcBef>
              <a:buChar char="•"/>
              <a:tabLst>
                <a:tab pos="241300" algn="l"/>
              </a:tabLst>
            </a:pPr>
            <a:r>
              <a:rPr sz="2000" dirty="0">
                <a:latin typeface="Trebuchet MS"/>
                <a:cs typeface="Trebuchet MS"/>
              </a:rPr>
              <a:t>An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application</a:t>
            </a:r>
            <a:r>
              <a:rPr sz="2000" spc="-19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layer </a:t>
            </a:r>
            <a:r>
              <a:rPr sz="2000" spc="-30" dirty="0">
                <a:latin typeface="Trebuchet MS"/>
                <a:cs typeface="Trebuchet MS"/>
              </a:rPr>
              <a:t>provides</a:t>
            </a:r>
            <a:r>
              <a:rPr sz="2000" spc="-19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facility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for email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forwarding</a:t>
            </a:r>
            <a:r>
              <a:rPr sz="2000" spc="-18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and </a:t>
            </a:r>
            <a:r>
              <a:rPr sz="2000" spc="-10" dirty="0">
                <a:latin typeface="Trebuchet MS"/>
                <a:cs typeface="Trebuchet MS"/>
              </a:rPr>
              <a:t>storage.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428109" y="4525200"/>
            <a:ext cx="3082925" cy="998219"/>
            <a:chOff x="4428109" y="4525200"/>
            <a:chExt cx="3082925" cy="998219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34459" y="4531550"/>
              <a:ext cx="3069716" cy="98532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434459" y="4531550"/>
              <a:ext cx="3070225" cy="985519"/>
            </a:xfrm>
            <a:custGeom>
              <a:avLst/>
              <a:gdLst/>
              <a:ahLst/>
              <a:cxnLst/>
              <a:rect l="l" t="t" r="r" b="b"/>
              <a:pathLst>
                <a:path w="3070225" h="985520">
                  <a:moveTo>
                    <a:pt x="0" y="985329"/>
                  </a:moveTo>
                  <a:lnTo>
                    <a:pt x="3069716" y="985329"/>
                  </a:lnTo>
                  <a:lnTo>
                    <a:pt x="3069716" y="0"/>
                  </a:lnTo>
                  <a:lnTo>
                    <a:pt x="0" y="0"/>
                  </a:lnTo>
                  <a:lnTo>
                    <a:pt x="0" y="985329"/>
                  </a:lnTo>
                  <a:close/>
                </a:path>
              </a:pathLst>
            </a:custGeom>
            <a:ln w="12699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487036" y="4854955"/>
            <a:ext cx="138176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latin typeface="Trebuchet MS"/>
                <a:cs typeface="Trebuchet MS"/>
              </a:rPr>
              <a:t>Mail</a:t>
            </a:r>
            <a:r>
              <a:rPr sz="1700" b="1" spc="-85" dirty="0">
                <a:latin typeface="Trebuchet MS"/>
                <a:cs typeface="Trebuchet MS"/>
              </a:rPr>
              <a:t> </a:t>
            </a:r>
            <a:r>
              <a:rPr sz="1700" b="1" spc="-10" dirty="0">
                <a:latin typeface="Trebuchet MS"/>
                <a:cs typeface="Trebuchet MS"/>
              </a:rPr>
              <a:t>services: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676770" y="4681728"/>
            <a:ext cx="1087120" cy="1087120"/>
            <a:chOff x="6676770" y="4681728"/>
            <a:chExt cx="1087120" cy="1087120"/>
          </a:xfrm>
        </p:grpSpPr>
        <p:sp>
          <p:nvSpPr>
            <p:cNvPr id="19" name="object 19"/>
            <p:cNvSpPr/>
            <p:nvPr/>
          </p:nvSpPr>
          <p:spPr>
            <a:xfrm>
              <a:off x="6683120" y="4688078"/>
              <a:ext cx="1074420" cy="1074420"/>
            </a:xfrm>
            <a:custGeom>
              <a:avLst/>
              <a:gdLst/>
              <a:ahLst/>
              <a:cxnLst/>
              <a:rect l="l" t="t" r="r" b="b"/>
              <a:pathLst>
                <a:path w="1074420" h="1074420">
                  <a:moveTo>
                    <a:pt x="537209" y="0"/>
                  </a:moveTo>
                  <a:lnTo>
                    <a:pt x="488316" y="2195"/>
                  </a:lnTo>
                  <a:lnTo>
                    <a:pt x="440651" y="8655"/>
                  </a:lnTo>
                  <a:lnTo>
                    <a:pt x="394405" y="19191"/>
                  </a:lnTo>
                  <a:lnTo>
                    <a:pt x="349768" y="33611"/>
                  </a:lnTo>
                  <a:lnTo>
                    <a:pt x="306929" y="51727"/>
                  </a:lnTo>
                  <a:lnTo>
                    <a:pt x="266079" y="73349"/>
                  </a:lnTo>
                  <a:lnTo>
                    <a:pt x="227406" y="98287"/>
                  </a:lnTo>
                  <a:lnTo>
                    <a:pt x="191101" y="126351"/>
                  </a:lnTo>
                  <a:lnTo>
                    <a:pt x="157352" y="157352"/>
                  </a:lnTo>
                  <a:lnTo>
                    <a:pt x="126351" y="191101"/>
                  </a:lnTo>
                  <a:lnTo>
                    <a:pt x="98287" y="227406"/>
                  </a:lnTo>
                  <a:lnTo>
                    <a:pt x="73349" y="266079"/>
                  </a:lnTo>
                  <a:lnTo>
                    <a:pt x="51727" y="306929"/>
                  </a:lnTo>
                  <a:lnTo>
                    <a:pt x="33611" y="349768"/>
                  </a:lnTo>
                  <a:lnTo>
                    <a:pt x="19191" y="394405"/>
                  </a:lnTo>
                  <a:lnTo>
                    <a:pt x="8655" y="440651"/>
                  </a:lnTo>
                  <a:lnTo>
                    <a:pt x="2195" y="488316"/>
                  </a:lnTo>
                  <a:lnTo>
                    <a:pt x="0" y="537210"/>
                  </a:lnTo>
                  <a:lnTo>
                    <a:pt x="2195" y="586103"/>
                  </a:lnTo>
                  <a:lnTo>
                    <a:pt x="8655" y="633768"/>
                  </a:lnTo>
                  <a:lnTo>
                    <a:pt x="19191" y="680013"/>
                  </a:lnTo>
                  <a:lnTo>
                    <a:pt x="33611" y="724649"/>
                  </a:lnTo>
                  <a:lnTo>
                    <a:pt x="51727" y="767487"/>
                  </a:lnTo>
                  <a:lnTo>
                    <a:pt x="73349" y="808337"/>
                  </a:lnTo>
                  <a:lnTo>
                    <a:pt x="98287" y="847009"/>
                  </a:lnTo>
                  <a:lnTo>
                    <a:pt x="126351" y="883313"/>
                  </a:lnTo>
                  <a:lnTo>
                    <a:pt x="157353" y="917060"/>
                  </a:lnTo>
                  <a:lnTo>
                    <a:pt x="191101" y="948060"/>
                  </a:lnTo>
                  <a:lnTo>
                    <a:pt x="227406" y="976124"/>
                  </a:lnTo>
                  <a:lnTo>
                    <a:pt x="266079" y="1001061"/>
                  </a:lnTo>
                  <a:lnTo>
                    <a:pt x="306929" y="1022682"/>
                  </a:lnTo>
                  <a:lnTo>
                    <a:pt x="349768" y="1040797"/>
                  </a:lnTo>
                  <a:lnTo>
                    <a:pt x="394405" y="1055217"/>
                  </a:lnTo>
                  <a:lnTo>
                    <a:pt x="440651" y="1065751"/>
                  </a:lnTo>
                  <a:lnTo>
                    <a:pt x="488316" y="1072211"/>
                  </a:lnTo>
                  <a:lnTo>
                    <a:pt x="537209" y="1074407"/>
                  </a:lnTo>
                  <a:lnTo>
                    <a:pt x="586103" y="1072211"/>
                  </a:lnTo>
                  <a:lnTo>
                    <a:pt x="633768" y="1065751"/>
                  </a:lnTo>
                  <a:lnTo>
                    <a:pt x="680014" y="1055217"/>
                  </a:lnTo>
                  <a:lnTo>
                    <a:pt x="724651" y="1040797"/>
                  </a:lnTo>
                  <a:lnTo>
                    <a:pt x="767490" y="1022682"/>
                  </a:lnTo>
                  <a:lnTo>
                    <a:pt x="808340" y="1001061"/>
                  </a:lnTo>
                  <a:lnTo>
                    <a:pt x="847013" y="976124"/>
                  </a:lnTo>
                  <a:lnTo>
                    <a:pt x="883318" y="948060"/>
                  </a:lnTo>
                  <a:lnTo>
                    <a:pt x="917067" y="917060"/>
                  </a:lnTo>
                  <a:lnTo>
                    <a:pt x="948068" y="883313"/>
                  </a:lnTo>
                  <a:lnTo>
                    <a:pt x="976132" y="847009"/>
                  </a:lnTo>
                  <a:lnTo>
                    <a:pt x="1001070" y="808337"/>
                  </a:lnTo>
                  <a:lnTo>
                    <a:pt x="1022692" y="767487"/>
                  </a:lnTo>
                  <a:lnTo>
                    <a:pt x="1040808" y="724649"/>
                  </a:lnTo>
                  <a:lnTo>
                    <a:pt x="1055228" y="680013"/>
                  </a:lnTo>
                  <a:lnTo>
                    <a:pt x="1065764" y="633768"/>
                  </a:lnTo>
                  <a:lnTo>
                    <a:pt x="1072224" y="586103"/>
                  </a:lnTo>
                  <a:lnTo>
                    <a:pt x="1074420" y="537210"/>
                  </a:lnTo>
                  <a:lnTo>
                    <a:pt x="1072224" y="488316"/>
                  </a:lnTo>
                  <a:lnTo>
                    <a:pt x="1065764" y="440651"/>
                  </a:lnTo>
                  <a:lnTo>
                    <a:pt x="1055228" y="394405"/>
                  </a:lnTo>
                  <a:lnTo>
                    <a:pt x="1040808" y="349768"/>
                  </a:lnTo>
                  <a:lnTo>
                    <a:pt x="1022692" y="306929"/>
                  </a:lnTo>
                  <a:lnTo>
                    <a:pt x="1001070" y="266079"/>
                  </a:lnTo>
                  <a:lnTo>
                    <a:pt x="976132" y="227406"/>
                  </a:lnTo>
                  <a:lnTo>
                    <a:pt x="948068" y="191101"/>
                  </a:lnTo>
                  <a:lnTo>
                    <a:pt x="917066" y="157352"/>
                  </a:lnTo>
                  <a:lnTo>
                    <a:pt x="883318" y="126351"/>
                  </a:lnTo>
                  <a:lnTo>
                    <a:pt x="847013" y="98287"/>
                  </a:lnTo>
                  <a:lnTo>
                    <a:pt x="808340" y="73349"/>
                  </a:lnTo>
                  <a:lnTo>
                    <a:pt x="767490" y="51727"/>
                  </a:lnTo>
                  <a:lnTo>
                    <a:pt x="724651" y="33611"/>
                  </a:lnTo>
                  <a:lnTo>
                    <a:pt x="680014" y="19191"/>
                  </a:lnTo>
                  <a:lnTo>
                    <a:pt x="633768" y="8655"/>
                  </a:lnTo>
                  <a:lnTo>
                    <a:pt x="586103" y="2195"/>
                  </a:lnTo>
                  <a:lnTo>
                    <a:pt x="537209" y="0"/>
                  </a:lnTo>
                  <a:close/>
                </a:path>
              </a:pathLst>
            </a:custGeom>
            <a:solidFill>
              <a:srgbClr val="CCD3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683120" y="4688078"/>
              <a:ext cx="1074420" cy="1074420"/>
            </a:xfrm>
            <a:custGeom>
              <a:avLst/>
              <a:gdLst/>
              <a:ahLst/>
              <a:cxnLst/>
              <a:rect l="l" t="t" r="r" b="b"/>
              <a:pathLst>
                <a:path w="1074420" h="1074420">
                  <a:moveTo>
                    <a:pt x="0" y="537210"/>
                  </a:moveTo>
                  <a:lnTo>
                    <a:pt x="2195" y="488316"/>
                  </a:lnTo>
                  <a:lnTo>
                    <a:pt x="8655" y="440651"/>
                  </a:lnTo>
                  <a:lnTo>
                    <a:pt x="19191" y="394405"/>
                  </a:lnTo>
                  <a:lnTo>
                    <a:pt x="33611" y="349768"/>
                  </a:lnTo>
                  <a:lnTo>
                    <a:pt x="51727" y="306929"/>
                  </a:lnTo>
                  <a:lnTo>
                    <a:pt x="73349" y="266079"/>
                  </a:lnTo>
                  <a:lnTo>
                    <a:pt x="98287" y="227406"/>
                  </a:lnTo>
                  <a:lnTo>
                    <a:pt x="126351" y="191101"/>
                  </a:lnTo>
                  <a:lnTo>
                    <a:pt x="157352" y="157352"/>
                  </a:lnTo>
                  <a:lnTo>
                    <a:pt x="191101" y="126351"/>
                  </a:lnTo>
                  <a:lnTo>
                    <a:pt x="227406" y="98287"/>
                  </a:lnTo>
                  <a:lnTo>
                    <a:pt x="266079" y="73349"/>
                  </a:lnTo>
                  <a:lnTo>
                    <a:pt x="306929" y="51727"/>
                  </a:lnTo>
                  <a:lnTo>
                    <a:pt x="349768" y="33611"/>
                  </a:lnTo>
                  <a:lnTo>
                    <a:pt x="394405" y="19191"/>
                  </a:lnTo>
                  <a:lnTo>
                    <a:pt x="440651" y="8655"/>
                  </a:lnTo>
                  <a:lnTo>
                    <a:pt x="488316" y="2195"/>
                  </a:lnTo>
                  <a:lnTo>
                    <a:pt x="537209" y="0"/>
                  </a:lnTo>
                  <a:lnTo>
                    <a:pt x="586103" y="2195"/>
                  </a:lnTo>
                  <a:lnTo>
                    <a:pt x="633768" y="8655"/>
                  </a:lnTo>
                  <a:lnTo>
                    <a:pt x="680014" y="19191"/>
                  </a:lnTo>
                  <a:lnTo>
                    <a:pt x="724651" y="33611"/>
                  </a:lnTo>
                  <a:lnTo>
                    <a:pt x="767490" y="51727"/>
                  </a:lnTo>
                  <a:lnTo>
                    <a:pt x="808340" y="73349"/>
                  </a:lnTo>
                  <a:lnTo>
                    <a:pt x="847013" y="98287"/>
                  </a:lnTo>
                  <a:lnTo>
                    <a:pt x="883318" y="126351"/>
                  </a:lnTo>
                  <a:lnTo>
                    <a:pt x="917066" y="157352"/>
                  </a:lnTo>
                  <a:lnTo>
                    <a:pt x="948068" y="191101"/>
                  </a:lnTo>
                  <a:lnTo>
                    <a:pt x="976132" y="227406"/>
                  </a:lnTo>
                  <a:lnTo>
                    <a:pt x="1001070" y="266079"/>
                  </a:lnTo>
                  <a:lnTo>
                    <a:pt x="1022692" y="306929"/>
                  </a:lnTo>
                  <a:lnTo>
                    <a:pt x="1040808" y="349768"/>
                  </a:lnTo>
                  <a:lnTo>
                    <a:pt x="1055228" y="394405"/>
                  </a:lnTo>
                  <a:lnTo>
                    <a:pt x="1065764" y="440651"/>
                  </a:lnTo>
                  <a:lnTo>
                    <a:pt x="1072224" y="488316"/>
                  </a:lnTo>
                  <a:lnTo>
                    <a:pt x="1074420" y="537210"/>
                  </a:lnTo>
                  <a:lnTo>
                    <a:pt x="1072224" y="586103"/>
                  </a:lnTo>
                  <a:lnTo>
                    <a:pt x="1065764" y="633768"/>
                  </a:lnTo>
                  <a:lnTo>
                    <a:pt x="1055228" y="680013"/>
                  </a:lnTo>
                  <a:lnTo>
                    <a:pt x="1040808" y="724649"/>
                  </a:lnTo>
                  <a:lnTo>
                    <a:pt x="1022692" y="767487"/>
                  </a:lnTo>
                  <a:lnTo>
                    <a:pt x="1001070" y="808337"/>
                  </a:lnTo>
                  <a:lnTo>
                    <a:pt x="976132" y="847009"/>
                  </a:lnTo>
                  <a:lnTo>
                    <a:pt x="948068" y="883313"/>
                  </a:lnTo>
                  <a:lnTo>
                    <a:pt x="917067" y="917060"/>
                  </a:lnTo>
                  <a:lnTo>
                    <a:pt x="883318" y="948060"/>
                  </a:lnTo>
                  <a:lnTo>
                    <a:pt x="847013" y="976124"/>
                  </a:lnTo>
                  <a:lnTo>
                    <a:pt x="808340" y="1001061"/>
                  </a:lnTo>
                  <a:lnTo>
                    <a:pt x="767490" y="1022682"/>
                  </a:lnTo>
                  <a:lnTo>
                    <a:pt x="724651" y="1040797"/>
                  </a:lnTo>
                  <a:lnTo>
                    <a:pt x="680014" y="1055217"/>
                  </a:lnTo>
                  <a:lnTo>
                    <a:pt x="633768" y="1065751"/>
                  </a:lnTo>
                  <a:lnTo>
                    <a:pt x="586103" y="1072211"/>
                  </a:lnTo>
                  <a:lnTo>
                    <a:pt x="537209" y="1074407"/>
                  </a:lnTo>
                  <a:lnTo>
                    <a:pt x="488316" y="1072211"/>
                  </a:lnTo>
                  <a:lnTo>
                    <a:pt x="440651" y="1065751"/>
                  </a:lnTo>
                  <a:lnTo>
                    <a:pt x="394405" y="1055217"/>
                  </a:lnTo>
                  <a:lnTo>
                    <a:pt x="349768" y="1040797"/>
                  </a:lnTo>
                  <a:lnTo>
                    <a:pt x="306929" y="1022682"/>
                  </a:lnTo>
                  <a:lnTo>
                    <a:pt x="266079" y="1001061"/>
                  </a:lnTo>
                  <a:lnTo>
                    <a:pt x="227406" y="976124"/>
                  </a:lnTo>
                  <a:lnTo>
                    <a:pt x="191101" y="948060"/>
                  </a:lnTo>
                  <a:lnTo>
                    <a:pt x="157353" y="917060"/>
                  </a:lnTo>
                  <a:lnTo>
                    <a:pt x="126351" y="883313"/>
                  </a:lnTo>
                  <a:lnTo>
                    <a:pt x="98287" y="847009"/>
                  </a:lnTo>
                  <a:lnTo>
                    <a:pt x="73349" y="808337"/>
                  </a:lnTo>
                  <a:lnTo>
                    <a:pt x="51727" y="767487"/>
                  </a:lnTo>
                  <a:lnTo>
                    <a:pt x="33611" y="724649"/>
                  </a:lnTo>
                  <a:lnTo>
                    <a:pt x="19191" y="680013"/>
                  </a:lnTo>
                  <a:lnTo>
                    <a:pt x="8655" y="633768"/>
                  </a:lnTo>
                  <a:lnTo>
                    <a:pt x="2195" y="586103"/>
                  </a:lnTo>
                  <a:lnTo>
                    <a:pt x="0" y="537210"/>
                  </a:lnTo>
                  <a:close/>
                </a:path>
              </a:pathLst>
            </a:custGeom>
            <a:ln w="12700">
              <a:solidFill>
                <a:srgbClr val="CCD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8023732" y="2240152"/>
            <a:ext cx="3070225" cy="2291715"/>
          </a:xfrm>
          <a:custGeom>
            <a:avLst/>
            <a:gdLst/>
            <a:ahLst/>
            <a:cxnLst/>
            <a:rect l="l" t="t" r="r" b="b"/>
            <a:pathLst>
              <a:path w="3070225" h="2291715">
                <a:moveTo>
                  <a:pt x="183261" y="0"/>
                </a:moveTo>
                <a:lnTo>
                  <a:pt x="2886329" y="0"/>
                </a:lnTo>
                <a:lnTo>
                  <a:pt x="2935058" y="6545"/>
                </a:lnTo>
                <a:lnTo>
                  <a:pt x="2978860" y="25019"/>
                </a:lnTo>
                <a:lnTo>
                  <a:pt x="3015980" y="53673"/>
                </a:lnTo>
                <a:lnTo>
                  <a:pt x="3044665" y="90762"/>
                </a:lnTo>
                <a:lnTo>
                  <a:pt x="3063161" y="134540"/>
                </a:lnTo>
                <a:lnTo>
                  <a:pt x="3069717" y="183261"/>
                </a:lnTo>
                <a:lnTo>
                  <a:pt x="3069717" y="2291461"/>
                </a:lnTo>
                <a:lnTo>
                  <a:pt x="0" y="2291461"/>
                </a:lnTo>
                <a:lnTo>
                  <a:pt x="0" y="183261"/>
                </a:lnTo>
                <a:lnTo>
                  <a:pt x="6545" y="134540"/>
                </a:lnTo>
                <a:lnTo>
                  <a:pt x="25018" y="90762"/>
                </a:lnTo>
                <a:lnTo>
                  <a:pt x="53673" y="53673"/>
                </a:lnTo>
                <a:lnTo>
                  <a:pt x="90762" y="25018"/>
                </a:lnTo>
                <a:lnTo>
                  <a:pt x="134540" y="6545"/>
                </a:lnTo>
                <a:lnTo>
                  <a:pt x="183261" y="0"/>
                </a:lnTo>
                <a:close/>
              </a:path>
            </a:pathLst>
          </a:custGeom>
          <a:ln w="12700">
            <a:solidFill>
              <a:srgbClr val="0E9E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091043" y="2312035"/>
            <a:ext cx="2941320" cy="172720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41300" marR="5080" indent="-228600">
              <a:lnSpc>
                <a:spcPct val="91600"/>
              </a:lnSpc>
              <a:spcBef>
                <a:spcPts val="305"/>
              </a:spcBef>
              <a:buChar char="•"/>
              <a:tabLst>
                <a:tab pos="241300" algn="l"/>
              </a:tabLst>
            </a:pPr>
            <a:r>
              <a:rPr sz="2000" dirty="0">
                <a:latin typeface="Trebuchet MS"/>
                <a:cs typeface="Trebuchet MS"/>
              </a:rPr>
              <a:t>An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application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provides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distributed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database </a:t>
            </a:r>
            <a:r>
              <a:rPr sz="2000" dirty="0">
                <a:latin typeface="Trebuchet MS"/>
                <a:cs typeface="Trebuchet MS"/>
              </a:rPr>
              <a:t>sources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is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used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to </a:t>
            </a:r>
            <a:r>
              <a:rPr sz="2000" spc="-55" dirty="0">
                <a:latin typeface="Trebuchet MS"/>
                <a:cs typeface="Trebuchet MS"/>
              </a:rPr>
              <a:t>provide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that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global </a:t>
            </a:r>
            <a:r>
              <a:rPr sz="2000" spc="-55" dirty="0">
                <a:latin typeface="Trebuchet MS"/>
                <a:cs typeface="Trebuchet MS"/>
              </a:rPr>
              <a:t>information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about various</a:t>
            </a:r>
            <a:r>
              <a:rPr sz="2000" spc="-21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objects.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017382" y="4525200"/>
            <a:ext cx="3082925" cy="998219"/>
            <a:chOff x="8017382" y="4525200"/>
            <a:chExt cx="3082925" cy="998219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23732" y="4531550"/>
              <a:ext cx="3069717" cy="98532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023732" y="4531550"/>
              <a:ext cx="3070225" cy="985519"/>
            </a:xfrm>
            <a:custGeom>
              <a:avLst/>
              <a:gdLst/>
              <a:ahLst/>
              <a:cxnLst/>
              <a:rect l="l" t="t" r="r" b="b"/>
              <a:pathLst>
                <a:path w="3070225" h="985520">
                  <a:moveTo>
                    <a:pt x="0" y="985329"/>
                  </a:moveTo>
                  <a:lnTo>
                    <a:pt x="3069717" y="985329"/>
                  </a:lnTo>
                  <a:lnTo>
                    <a:pt x="3069717" y="0"/>
                  </a:lnTo>
                  <a:lnTo>
                    <a:pt x="0" y="0"/>
                  </a:lnTo>
                  <a:lnTo>
                    <a:pt x="0" y="985329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076692" y="4854955"/>
            <a:ext cx="187833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45" dirty="0">
                <a:latin typeface="Trebuchet MS"/>
                <a:cs typeface="Trebuchet MS"/>
              </a:rPr>
              <a:t>Directory</a:t>
            </a:r>
            <a:r>
              <a:rPr sz="1700" b="1" spc="-90" dirty="0">
                <a:latin typeface="Trebuchet MS"/>
                <a:cs typeface="Trebuchet MS"/>
              </a:rPr>
              <a:t> </a:t>
            </a:r>
            <a:r>
              <a:rPr sz="1700" b="1" spc="-10" dirty="0">
                <a:latin typeface="Trebuchet MS"/>
                <a:cs typeface="Trebuchet MS"/>
              </a:rPr>
              <a:t>services: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0265918" y="4681728"/>
            <a:ext cx="1087120" cy="1087120"/>
            <a:chOff x="10265918" y="4681728"/>
            <a:chExt cx="1087120" cy="1087120"/>
          </a:xfrm>
        </p:grpSpPr>
        <p:sp>
          <p:nvSpPr>
            <p:cNvPr id="28" name="object 28"/>
            <p:cNvSpPr/>
            <p:nvPr/>
          </p:nvSpPr>
          <p:spPr>
            <a:xfrm>
              <a:off x="10272268" y="4688078"/>
              <a:ext cx="1074420" cy="1074420"/>
            </a:xfrm>
            <a:custGeom>
              <a:avLst/>
              <a:gdLst/>
              <a:ahLst/>
              <a:cxnLst/>
              <a:rect l="l" t="t" r="r" b="b"/>
              <a:pathLst>
                <a:path w="1074420" h="1074420">
                  <a:moveTo>
                    <a:pt x="537209" y="0"/>
                  </a:moveTo>
                  <a:lnTo>
                    <a:pt x="488316" y="2195"/>
                  </a:lnTo>
                  <a:lnTo>
                    <a:pt x="440651" y="8655"/>
                  </a:lnTo>
                  <a:lnTo>
                    <a:pt x="394405" y="19191"/>
                  </a:lnTo>
                  <a:lnTo>
                    <a:pt x="349768" y="33611"/>
                  </a:lnTo>
                  <a:lnTo>
                    <a:pt x="306929" y="51727"/>
                  </a:lnTo>
                  <a:lnTo>
                    <a:pt x="266079" y="73349"/>
                  </a:lnTo>
                  <a:lnTo>
                    <a:pt x="227406" y="98287"/>
                  </a:lnTo>
                  <a:lnTo>
                    <a:pt x="191101" y="126351"/>
                  </a:lnTo>
                  <a:lnTo>
                    <a:pt x="157352" y="157352"/>
                  </a:lnTo>
                  <a:lnTo>
                    <a:pt x="126351" y="191101"/>
                  </a:lnTo>
                  <a:lnTo>
                    <a:pt x="98287" y="227406"/>
                  </a:lnTo>
                  <a:lnTo>
                    <a:pt x="73349" y="266079"/>
                  </a:lnTo>
                  <a:lnTo>
                    <a:pt x="51727" y="306929"/>
                  </a:lnTo>
                  <a:lnTo>
                    <a:pt x="33611" y="349768"/>
                  </a:lnTo>
                  <a:lnTo>
                    <a:pt x="19191" y="394405"/>
                  </a:lnTo>
                  <a:lnTo>
                    <a:pt x="8655" y="440651"/>
                  </a:lnTo>
                  <a:lnTo>
                    <a:pt x="2195" y="488316"/>
                  </a:lnTo>
                  <a:lnTo>
                    <a:pt x="0" y="537210"/>
                  </a:lnTo>
                  <a:lnTo>
                    <a:pt x="2195" y="586103"/>
                  </a:lnTo>
                  <a:lnTo>
                    <a:pt x="8655" y="633768"/>
                  </a:lnTo>
                  <a:lnTo>
                    <a:pt x="19191" y="680013"/>
                  </a:lnTo>
                  <a:lnTo>
                    <a:pt x="33611" y="724649"/>
                  </a:lnTo>
                  <a:lnTo>
                    <a:pt x="51727" y="767487"/>
                  </a:lnTo>
                  <a:lnTo>
                    <a:pt x="73349" y="808337"/>
                  </a:lnTo>
                  <a:lnTo>
                    <a:pt x="98287" y="847009"/>
                  </a:lnTo>
                  <a:lnTo>
                    <a:pt x="126351" y="883313"/>
                  </a:lnTo>
                  <a:lnTo>
                    <a:pt x="157353" y="917060"/>
                  </a:lnTo>
                  <a:lnTo>
                    <a:pt x="191101" y="948060"/>
                  </a:lnTo>
                  <a:lnTo>
                    <a:pt x="227406" y="976124"/>
                  </a:lnTo>
                  <a:lnTo>
                    <a:pt x="266079" y="1001061"/>
                  </a:lnTo>
                  <a:lnTo>
                    <a:pt x="306929" y="1022682"/>
                  </a:lnTo>
                  <a:lnTo>
                    <a:pt x="349768" y="1040797"/>
                  </a:lnTo>
                  <a:lnTo>
                    <a:pt x="394405" y="1055217"/>
                  </a:lnTo>
                  <a:lnTo>
                    <a:pt x="440651" y="1065751"/>
                  </a:lnTo>
                  <a:lnTo>
                    <a:pt x="488316" y="1072211"/>
                  </a:lnTo>
                  <a:lnTo>
                    <a:pt x="537209" y="1074407"/>
                  </a:lnTo>
                  <a:lnTo>
                    <a:pt x="586103" y="1072211"/>
                  </a:lnTo>
                  <a:lnTo>
                    <a:pt x="633768" y="1065751"/>
                  </a:lnTo>
                  <a:lnTo>
                    <a:pt x="680014" y="1055217"/>
                  </a:lnTo>
                  <a:lnTo>
                    <a:pt x="724651" y="1040797"/>
                  </a:lnTo>
                  <a:lnTo>
                    <a:pt x="767490" y="1022682"/>
                  </a:lnTo>
                  <a:lnTo>
                    <a:pt x="808340" y="1001061"/>
                  </a:lnTo>
                  <a:lnTo>
                    <a:pt x="847013" y="976124"/>
                  </a:lnTo>
                  <a:lnTo>
                    <a:pt x="883318" y="948060"/>
                  </a:lnTo>
                  <a:lnTo>
                    <a:pt x="917067" y="917060"/>
                  </a:lnTo>
                  <a:lnTo>
                    <a:pt x="948068" y="883313"/>
                  </a:lnTo>
                  <a:lnTo>
                    <a:pt x="976132" y="847009"/>
                  </a:lnTo>
                  <a:lnTo>
                    <a:pt x="1001070" y="808337"/>
                  </a:lnTo>
                  <a:lnTo>
                    <a:pt x="1022692" y="767487"/>
                  </a:lnTo>
                  <a:lnTo>
                    <a:pt x="1040808" y="724649"/>
                  </a:lnTo>
                  <a:lnTo>
                    <a:pt x="1055228" y="680013"/>
                  </a:lnTo>
                  <a:lnTo>
                    <a:pt x="1065764" y="633768"/>
                  </a:lnTo>
                  <a:lnTo>
                    <a:pt x="1072224" y="586103"/>
                  </a:lnTo>
                  <a:lnTo>
                    <a:pt x="1074420" y="537210"/>
                  </a:lnTo>
                  <a:lnTo>
                    <a:pt x="1072224" y="488316"/>
                  </a:lnTo>
                  <a:lnTo>
                    <a:pt x="1065764" y="440651"/>
                  </a:lnTo>
                  <a:lnTo>
                    <a:pt x="1055228" y="394405"/>
                  </a:lnTo>
                  <a:lnTo>
                    <a:pt x="1040808" y="349768"/>
                  </a:lnTo>
                  <a:lnTo>
                    <a:pt x="1022692" y="306929"/>
                  </a:lnTo>
                  <a:lnTo>
                    <a:pt x="1001070" y="266079"/>
                  </a:lnTo>
                  <a:lnTo>
                    <a:pt x="976132" y="227406"/>
                  </a:lnTo>
                  <a:lnTo>
                    <a:pt x="948068" y="191101"/>
                  </a:lnTo>
                  <a:lnTo>
                    <a:pt x="917066" y="157352"/>
                  </a:lnTo>
                  <a:lnTo>
                    <a:pt x="883318" y="126351"/>
                  </a:lnTo>
                  <a:lnTo>
                    <a:pt x="847013" y="98287"/>
                  </a:lnTo>
                  <a:lnTo>
                    <a:pt x="808340" y="73349"/>
                  </a:lnTo>
                  <a:lnTo>
                    <a:pt x="767490" y="51727"/>
                  </a:lnTo>
                  <a:lnTo>
                    <a:pt x="724651" y="33611"/>
                  </a:lnTo>
                  <a:lnTo>
                    <a:pt x="680014" y="19191"/>
                  </a:lnTo>
                  <a:lnTo>
                    <a:pt x="633768" y="8655"/>
                  </a:lnTo>
                  <a:lnTo>
                    <a:pt x="586103" y="2195"/>
                  </a:lnTo>
                  <a:lnTo>
                    <a:pt x="537209" y="0"/>
                  </a:lnTo>
                  <a:close/>
                </a:path>
              </a:pathLst>
            </a:custGeom>
            <a:solidFill>
              <a:srgbClr val="CCDFE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272268" y="4688078"/>
              <a:ext cx="1074420" cy="1074420"/>
            </a:xfrm>
            <a:custGeom>
              <a:avLst/>
              <a:gdLst/>
              <a:ahLst/>
              <a:cxnLst/>
              <a:rect l="l" t="t" r="r" b="b"/>
              <a:pathLst>
                <a:path w="1074420" h="1074420">
                  <a:moveTo>
                    <a:pt x="0" y="537210"/>
                  </a:moveTo>
                  <a:lnTo>
                    <a:pt x="2195" y="488316"/>
                  </a:lnTo>
                  <a:lnTo>
                    <a:pt x="8655" y="440651"/>
                  </a:lnTo>
                  <a:lnTo>
                    <a:pt x="19191" y="394405"/>
                  </a:lnTo>
                  <a:lnTo>
                    <a:pt x="33611" y="349768"/>
                  </a:lnTo>
                  <a:lnTo>
                    <a:pt x="51727" y="306929"/>
                  </a:lnTo>
                  <a:lnTo>
                    <a:pt x="73349" y="266079"/>
                  </a:lnTo>
                  <a:lnTo>
                    <a:pt x="98287" y="227406"/>
                  </a:lnTo>
                  <a:lnTo>
                    <a:pt x="126351" y="191101"/>
                  </a:lnTo>
                  <a:lnTo>
                    <a:pt x="157352" y="157352"/>
                  </a:lnTo>
                  <a:lnTo>
                    <a:pt x="191101" y="126351"/>
                  </a:lnTo>
                  <a:lnTo>
                    <a:pt x="227406" y="98287"/>
                  </a:lnTo>
                  <a:lnTo>
                    <a:pt x="266079" y="73349"/>
                  </a:lnTo>
                  <a:lnTo>
                    <a:pt x="306929" y="51727"/>
                  </a:lnTo>
                  <a:lnTo>
                    <a:pt x="349768" y="33611"/>
                  </a:lnTo>
                  <a:lnTo>
                    <a:pt x="394405" y="19191"/>
                  </a:lnTo>
                  <a:lnTo>
                    <a:pt x="440651" y="8655"/>
                  </a:lnTo>
                  <a:lnTo>
                    <a:pt x="488316" y="2195"/>
                  </a:lnTo>
                  <a:lnTo>
                    <a:pt x="537209" y="0"/>
                  </a:lnTo>
                  <a:lnTo>
                    <a:pt x="586103" y="2195"/>
                  </a:lnTo>
                  <a:lnTo>
                    <a:pt x="633768" y="8655"/>
                  </a:lnTo>
                  <a:lnTo>
                    <a:pt x="680014" y="19191"/>
                  </a:lnTo>
                  <a:lnTo>
                    <a:pt x="724651" y="33611"/>
                  </a:lnTo>
                  <a:lnTo>
                    <a:pt x="767490" y="51727"/>
                  </a:lnTo>
                  <a:lnTo>
                    <a:pt x="808340" y="73349"/>
                  </a:lnTo>
                  <a:lnTo>
                    <a:pt x="847013" y="98287"/>
                  </a:lnTo>
                  <a:lnTo>
                    <a:pt x="883318" y="126351"/>
                  </a:lnTo>
                  <a:lnTo>
                    <a:pt x="917066" y="157352"/>
                  </a:lnTo>
                  <a:lnTo>
                    <a:pt x="948068" y="191101"/>
                  </a:lnTo>
                  <a:lnTo>
                    <a:pt x="976132" y="227406"/>
                  </a:lnTo>
                  <a:lnTo>
                    <a:pt x="1001070" y="266079"/>
                  </a:lnTo>
                  <a:lnTo>
                    <a:pt x="1022692" y="306929"/>
                  </a:lnTo>
                  <a:lnTo>
                    <a:pt x="1040808" y="349768"/>
                  </a:lnTo>
                  <a:lnTo>
                    <a:pt x="1055228" y="394405"/>
                  </a:lnTo>
                  <a:lnTo>
                    <a:pt x="1065764" y="440651"/>
                  </a:lnTo>
                  <a:lnTo>
                    <a:pt x="1072224" y="488316"/>
                  </a:lnTo>
                  <a:lnTo>
                    <a:pt x="1074420" y="537210"/>
                  </a:lnTo>
                  <a:lnTo>
                    <a:pt x="1072224" y="586103"/>
                  </a:lnTo>
                  <a:lnTo>
                    <a:pt x="1065764" y="633768"/>
                  </a:lnTo>
                  <a:lnTo>
                    <a:pt x="1055228" y="680013"/>
                  </a:lnTo>
                  <a:lnTo>
                    <a:pt x="1040808" y="724649"/>
                  </a:lnTo>
                  <a:lnTo>
                    <a:pt x="1022692" y="767487"/>
                  </a:lnTo>
                  <a:lnTo>
                    <a:pt x="1001070" y="808337"/>
                  </a:lnTo>
                  <a:lnTo>
                    <a:pt x="976132" y="847009"/>
                  </a:lnTo>
                  <a:lnTo>
                    <a:pt x="948068" y="883313"/>
                  </a:lnTo>
                  <a:lnTo>
                    <a:pt x="917067" y="917060"/>
                  </a:lnTo>
                  <a:lnTo>
                    <a:pt x="883318" y="948060"/>
                  </a:lnTo>
                  <a:lnTo>
                    <a:pt x="847013" y="976124"/>
                  </a:lnTo>
                  <a:lnTo>
                    <a:pt x="808340" y="1001061"/>
                  </a:lnTo>
                  <a:lnTo>
                    <a:pt x="767490" y="1022682"/>
                  </a:lnTo>
                  <a:lnTo>
                    <a:pt x="724651" y="1040797"/>
                  </a:lnTo>
                  <a:lnTo>
                    <a:pt x="680014" y="1055217"/>
                  </a:lnTo>
                  <a:lnTo>
                    <a:pt x="633768" y="1065751"/>
                  </a:lnTo>
                  <a:lnTo>
                    <a:pt x="586103" y="1072211"/>
                  </a:lnTo>
                  <a:lnTo>
                    <a:pt x="537209" y="1074407"/>
                  </a:lnTo>
                  <a:lnTo>
                    <a:pt x="488316" y="1072211"/>
                  </a:lnTo>
                  <a:lnTo>
                    <a:pt x="440651" y="1065751"/>
                  </a:lnTo>
                  <a:lnTo>
                    <a:pt x="394405" y="1055217"/>
                  </a:lnTo>
                  <a:lnTo>
                    <a:pt x="349768" y="1040797"/>
                  </a:lnTo>
                  <a:lnTo>
                    <a:pt x="306929" y="1022682"/>
                  </a:lnTo>
                  <a:lnTo>
                    <a:pt x="266079" y="1001061"/>
                  </a:lnTo>
                  <a:lnTo>
                    <a:pt x="227406" y="976124"/>
                  </a:lnTo>
                  <a:lnTo>
                    <a:pt x="191101" y="948060"/>
                  </a:lnTo>
                  <a:lnTo>
                    <a:pt x="157353" y="917060"/>
                  </a:lnTo>
                  <a:lnTo>
                    <a:pt x="126351" y="883313"/>
                  </a:lnTo>
                  <a:lnTo>
                    <a:pt x="98287" y="847009"/>
                  </a:lnTo>
                  <a:lnTo>
                    <a:pt x="73349" y="808337"/>
                  </a:lnTo>
                  <a:lnTo>
                    <a:pt x="51727" y="767487"/>
                  </a:lnTo>
                  <a:lnTo>
                    <a:pt x="33611" y="724649"/>
                  </a:lnTo>
                  <a:lnTo>
                    <a:pt x="19191" y="680013"/>
                  </a:lnTo>
                  <a:lnTo>
                    <a:pt x="8655" y="633768"/>
                  </a:lnTo>
                  <a:lnTo>
                    <a:pt x="2195" y="586103"/>
                  </a:lnTo>
                  <a:lnTo>
                    <a:pt x="0" y="537210"/>
                  </a:lnTo>
                  <a:close/>
                </a:path>
              </a:pathLst>
            </a:custGeom>
            <a:ln w="12700">
              <a:solidFill>
                <a:srgbClr val="CCDF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6788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1170</Words>
  <Application>Microsoft Office PowerPoint</Application>
  <PresentationFormat>Widescreen</PresentationFormat>
  <Paragraphs>181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 MT</vt:lpstr>
      <vt:lpstr>Trebuchet MS</vt:lpstr>
      <vt:lpstr>Office Theme</vt:lpstr>
      <vt:lpstr>Computer Networks [OSI Model]</vt:lpstr>
      <vt:lpstr>OSI Model</vt:lpstr>
      <vt:lpstr>Characteristics of OSI Model</vt:lpstr>
      <vt:lpstr>Characteristics of OSI Model</vt:lpstr>
      <vt:lpstr>7 Layers of OSI Model</vt:lpstr>
      <vt:lpstr>7 Layers of OSI Model</vt:lpstr>
      <vt:lpstr>Physical Layer</vt:lpstr>
      <vt:lpstr>Physical Layer</vt:lpstr>
      <vt:lpstr>Functions of a Physical Layer</vt:lpstr>
      <vt:lpstr>Data-Link Layer</vt:lpstr>
      <vt:lpstr>Data-Link Layer</vt:lpstr>
      <vt:lpstr>Data-Link Layer</vt:lpstr>
      <vt:lpstr>Functions of the Data-link Layer</vt:lpstr>
      <vt:lpstr>Functions of the Data-link Layer</vt:lpstr>
      <vt:lpstr>Functions of the Data-link Layer</vt:lpstr>
      <vt:lpstr>Network Layer</vt:lpstr>
      <vt:lpstr>Network Layer</vt:lpstr>
      <vt:lpstr>Functions of Network Layer</vt:lpstr>
      <vt:lpstr>Transport Layer</vt:lpstr>
      <vt:lpstr>Transport Layer</vt:lpstr>
      <vt:lpstr>Protocols Used in Transport Layer</vt:lpstr>
      <vt:lpstr>Functions of Transport Layer</vt:lpstr>
      <vt:lpstr>Functions of Transport Layer</vt:lpstr>
      <vt:lpstr>Session Layer</vt:lpstr>
      <vt:lpstr>Functions of Session Layer</vt:lpstr>
      <vt:lpstr>Presentation Layer</vt:lpstr>
      <vt:lpstr>Presentation Layer</vt:lpstr>
      <vt:lpstr>Functions of Presentation Layer</vt:lpstr>
      <vt:lpstr>Application Layer</vt:lpstr>
      <vt:lpstr>Application Layer</vt:lpstr>
      <vt:lpstr>Functions of Application Layer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 [OSI Model]</dc:title>
  <dc:creator>Muhammad Hammad Waseem</dc:creator>
  <cp:lastModifiedBy>Windows User</cp:lastModifiedBy>
  <cp:revision>1</cp:revision>
  <dcterms:created xsi:type="dcterms:W3CDTF">2025-06-30T07:09:46Z</dcterms:created>
  <dcterms:modified xsi:type="dcterms:W3CDTF">2025-06-30T07:17:53Z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2024-12-30T00:00:00Z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2025-06-30T00:00:00Z</vt:filetime>
  </property>
  <property fmtid="{D5CDD505-2E9C-101B-9397-08002B2CF9AE}" pid="5" name="Producer">
    <vt:lpwstr>Microsoft® PowerPoint® for Microsoft 365</vt:lpwstr>
  </property>
</Properties>
</file>