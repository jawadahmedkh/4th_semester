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6888" y="0"/>
            <a:ext cx="4325111" cy="264106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08036" y="0"/>
            <a:ext cx="4283964" cy="242163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307924"/>
            <a:ext cx="6910070" cy="1301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93750" y="2736723"/>
            <a:ext cx="10604500" cy="2925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70293" y="3391151"/>
            <a:ext cx="3778250" cy="1059264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>
              <a:lnSpc>
                <a:spcPts val="3670"/>
              </a:lnSpc>
              <a:spcBef>
                <a:spcPts val="685"/>
              </a:spcBef>
            </a:pPr>
            <a:r>
              <a:rPr sz="3400" spc="-10" smtClean="0">
                <a:latin typeface="Calibri Light"/>
                <a:cs typeface="Calibri Light"/>
              </a:rPr>
              <a:t>Database</a:t>
            </a:r>
            <a:r>
              <a:rPr sz="3400" spc="-130" smtClean="0">
                <a:latin typeface="Calibri Light"/>
                <a:cs typeface="Calibri Light"/>
              </a:rPr>
              <a:t> </a:t>
            </a:r>
            <a:r>
              <a:rPr sz="3400" spc="-10" dirty="0">
                <a:latin typeface="Calibri Light"/>
                <a:cs typeface="Calibri Light"/>
              </a:rPr>
              <a:t>Systems </a:t>
            </a:r>
            <a:r>
              <a:rPr sz="3400" dirty="0">
                <a:latin typeface="Calibri Light"/>
                <a:cs typeface="Calibri Light"/>
              </a:rPr>
              <a:t>[</a:t>
            </a:r>
            <a:r>
              <a:rPr sz="3400" i="1" dirty="0">
                <a:latin typeface="Calibri Light"/>
                <a:cs typeface="Calibri Light"/>
              </a:rPr>
              <a:t>File</a:t>
            </a:r>
            <a:r>
              <a:rPr sz="3400" i="1" spc="-85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System</a:t>
            </a:r>
            <a:r>
              <a:rPr sz="3400" i="1" spc="-100" dirty="0">
                <a:latin typeface="Calibri Light"/>
                <a:cs typeface="Calibri Light"/>
              </a:rPr>
              <a:t> </a:t>
            </a:r>
            <a:r>
              <a:rPr sz="3400" i="1" dirty="0">
                <a:latin typeface="Calibri Light"/>
                <a:cs typeface="Calibri Light"/>
              </a:rPr>
              <a:t>vs</a:t>
            </a:r>
            <a:r>
              <a:rPr sz="3400" i="1" spc="-85" dirty="0">
                <a:latin typeface="Calibri Light"/>
                <a:cs typeface="Calibri Light"/>
              </a:rPr>
              <a:t> </a:t>
            </a:r>
            <a:r>
              <a:rPr sz="3400" i="1" spc="-10" dirty="0">
                <a:latin typeface="Calibri Light"/>
                <a:cs typeface="Calibri Light"/>
              </a:rPr>
              <a:t>DBMS</a:t>
            </a:r>
            <a:r>
              <a:rPr sz="3400" spc="-10" dirty="0">
                <a:latin typeface="Calibri Light"/>
                <a:cs typeface="Calibri Light"/>
              </a:rPr>
              <a:t>]</a:t>
            </a:r>
            <a:endParaRPr sz="3400" dirty="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6235065" cy="6858000"/>
            <a:chOff x="0" y="0"/>
            <a:chExt cx="6235065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8520" y="2247017"/>
              <a:ext cx="2439079" cy="329121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6234684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2779852"/>
            <a:ext cx="2295525" cy="1184275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latin typeface="Calibri Light"/>
                <a:cs typeface="Calibri Light"/>
              </a:rPr>
              <a:t>File</a:t>
            </a:r>
            <a:r>
              <a:rPr sz="4000" spc="-70" dirty="0">
                <a:latin typeface="Calibri Light"/>
                <a:cs typeface="Calibri Light"/>
              </a:rPr>
              <a:t> </a:t>
            </a:r>
            <a:r>
              <a:rPr sz="4000" spc="-35" dirty="0">
                <a:latin typeface="Calibri Light"/>
                <a:cs typeface="Calibri Light"/>
              </a:rPr>
              <a:t>System </a:t>
            </a:r>
            <a:r>
              <a:rPr sz="4000" spc="-10" dirty="0">
                <a:latin typeface="Calibri Light"/>
                <a:cs typeface="Calibri Light"/>
              </a:rPr>
              <a:t>Approach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994409"/>
            <a:ext cx="5053965" cy="47434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0029" marR="393700" indent="-227329">
              <a:lnSpc>
                <a:spcPts val="23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File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early 	attempt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computerize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manual 	system.</a:t>
            </a:r>
            <a:endParaRPr sz="2400">
              <a:latin typeface="Calibri"/>
              <a:cs typeface="Calibri"/>
            </a:endParaRPr>
          </a:p>
          <a:p>
            <a:pPr marL="240029" marR="244475" indent="-227329">
              <a:lnSpc>
                <a:spcPct val="8000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traditional</a:t>
            </a:r>
            <a:r>
              <a:rPr sz="2400" b="1" i="1" spc="-40" dirty="0">
                <a:latin typeface="Calibri"/>
                <a:cs typeface="Calibri"/>
              </a:rPr>
              <a:t> </a:t>
            </a:r>
            <a:r>
              <a:rPr sz="2400" b="1" i="1" spc="-10" dirty="0">
                <a:latin typeface="Calibri"/>
                <a:cs typeface="Calibri"/>
              </a:rPr>
              <a:t>based 	</a:t>
            </a:r>
            <a:r>
              <a:rPr sz="2400" b="1" i="1" dirty="0">
                <a:latin typeface="Calibri"/>
                <a:cs typeface="Calibri"/>
              </a:rPr>
              <a:t>approach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decentralized 	</a:t>
            </a:r>
            <a:r>
              <a:rPr sz="2400" dirty="0">
                <a:latin typeface="Calibri"/>
                <a:cs typeface="Calibri"/>
              </a:rPr>
              <a:t>approach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each 	</a:t>
            </a:r>
            <a:r>
              <a:rPr sz="2400" dirty="0">
                <a:latin typeface="Calibri"/>
                <a:cs typeface="Calibri"/>
              </a:rPr>
              <a:t>department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controlled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its 	</a:t>
            </a:r>
            <a:r>
              <a:rPr sz="2400" dirty="0">
                <a:latin typeface="Calibri"/>
                <a:cs typeface="Calibri"/>
              </a:rPr>
              <a:t>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help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dirty="0">
                <a:latin typeface="Calibri"/>
                <a:cs typeface="Calibri"/>
              </a:rPr>
              <a:t>processing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specialist.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processing 	</a:t>
            </a:r>
            <a:r>
              <a:rPr sz="2400" dirty="0">
                <a:latin typeface="Calibri"/>
                <a:cs typeface="Calibri"/>
              </a:rPr>
              <a:t>specialist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necessary 	</a:t>
            </a:r>
            <a:r>
              <a:rPr sz="2400" dirty="0">
                <a:latin typeface="Calibri"/>
                <a:cs typeface="Calibri"/>
              </a:rPr>
              <a:t>computer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structures,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also 	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reports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6888" y="0"/>
            <a:ext cx="4325620" cy="2641600"/>
            <a:chOff x="7866888" y="0"/>
            <a:chExt cx="4325620" cy="2641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6888" y="0"/>
              <a:ext cx="4325111" cy="26410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8036" y="0"/>
              <a:ext cx="4283964" cy="242163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78739" y="4411802"/>
            <a:ext cx="11897360" cy="222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student's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regarding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student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(i.e.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student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course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etc.).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latin typeface="Calibri"/>
                <a:cs typeface="Calibri"/>
              </a:rPr>
              <a:t>Similarly,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result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file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regarding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result.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Some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fields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duplicated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file,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leads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redundancy.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overcome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centralized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system,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DBMS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approach.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3275" y="131892"/>
            <a:ext cx="7392321" cy="4186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095"/>
            <a:ext cx="5639435" cy="6477000"/>
            <a:chOff x="0" y="6095"/>
            <a:chExt cx="5639435" cy="647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8872"/>
              <a:ext cx="5638829" cy="6248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84911"/>
              <a:ext cx="5509278" cy="6121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095"/>
              <a:ext cx="5638800" cy="6477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83411" y="3054172"/>
            <a:ext cx="12649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Calibri Light"/>
                <a:cs typeface="Calibri Light"/>
              </a:rPr>
              <a:t>DBMS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0167" y="1457325"/>
            <a:ext cx="4979035" cy="38493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database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well- 	organized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spc="-10" dirty="0">
                <a:latin typeface="Calibri"/>
                <a:cs typeface="Calibri"/>
              </a:rPr>
              <a:t>related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meaningful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but 	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marR="146685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DBMS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are:</a:t>
            </a:r>
            <a:endParaRPr sz="24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Insertion,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deletion,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latin typeface="Calibri"/>
                <a:cs typeface="Calibri"/>
              </a:rPr>
              <a:t>selection,</a:t>
            </a:r>
            <a:endParaRPr sz="20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sorting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866888" y="0"/>
            <a:ext cx="4325620" cy="2641600"/>
            <a:chOff x="7866888" y="0"/>
            <a:chExt cx="4325620" cy="2641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6888" y="0"/>
              <a:ext cx="4325111" cy="264106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08036" y="0"/>
              <a:ext cx="4283964" cy="2421636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941" y="681918"/>
            <a:ext cx="7376286" cy="507887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221981" y="5736437"/>
            <a:ext cx="467042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figure,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duplication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reduced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due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centralization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pc="-10" dirty="0"/>
              <a:t>Difference</a:t>
            </a:r>
            <a:r>
              <a:rPr spc="-120" dirty="0"/>
              <a:t> </a:t>
            </a:r>
            <a:r>
              <a:rPr dirty="0"/>
              <a:t>between</a:t>
            </a:r>
            <a:r>
              <a:rPr spc="-95" dirty="0"/>
              <a:t> </a:t>
            </a:r>
            <a:r>
              <a:rPr dirty="0"/>
              <a:t>DBMS</a:t>
            </a:r>
            <a:r>
              <a:rPr spc="-90" dirty="0"/>
              <a:t> </a:t>
            </a:r>
            <a:r>
              <a:rPr spc="-25" dirty="0"/>
              <a:t>and </a:t>
            </a:r>
            <a:r>
              <a:rPr dirty="0"/>
              <a:t>File</a:t>
            </a:r>
            <a:r>
              <a:rPr spc="-75" dirty="0"/>
              <a:t> </a:t>
            </a:r>
            <a:r>
              <a:rPr spc="-10" dirty="0"/>
              <a:t>Systems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1850" y="2736723"/>
          <a:ext cx="10604500" cy="29254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2075"/>
                <a:gridCol w="3476625"/>
                <a:gridCol w="4407534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Basis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704850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DBMS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r>
                        <a:rPr sz="2400" b="1" spc="-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Meaning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collection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data.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DBMS,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required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procedures.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496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collection 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data.</a:t>
                      </a:r>
                      <a:r>
                        <a:rPr sz="1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write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procedures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managing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database.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Sharing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4036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centralized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approach,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sharing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easy.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0924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distributed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files,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may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formats,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isn't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easy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share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data.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Abstraction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845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gives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abstract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view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hides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details.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346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provides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detail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representation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storage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data.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" y="0"/>
            <a:ext cx="12165330" cy="438150"/>
          </a:xfrm>
          <a:custGeom>
            <a:avLst/>
            <a:gdLst/>
            <a:ahLst/>
            <a:cxnLst/>
            <a:rect l="l" t="t" r="r" b="b"/>
            <a:pathLst>
              <a:path w="12165330" h="438150">
                <a:moveTo>
                  <a:pt x="7198068" y="0"/>
                </a:moveTo>
                <a:lnTo>
                  <a:pt x="2635885" y="0"/>
                </a:lnTo>
                <a:lnTo>
                  <a:pt x="0" y="0"/>
                </a:lnTo>
                <a:lnTo>
                  <a:pt x="0" y="438150"/>
                </a:lnTo>
                <a:lnTo>
                  <a:pt x="2635847" y="438150"/>
                </a:lnTo>
                <a:lnTo>
                  <a:pt x="7198068" y="438150"/>
                </a:lnTo>
                <a:lnTo>
                  <a:pt x="7198068" y="0"/>
                </a:lnTo>
                <a:close/>
              </a:path>
              <a:path w="12165330" h="438150">
                <a:moveTo>
                  <a:pt x="12164771" y="0"/>
                </a:moveTo>
                <a:lnTo>
                  <a:pt x="7198195" y="0"/>
                </a:lnTo>
                <a:lnTo>
                  <a:pt x="7198195" y="438150"/>
                </a:lnTo>
                <a:lnTo>
                  <a:pt x="12164771" y="438150"/>
                </a:lnTo>
                <a:lnTo>
                  <a:pt x="1216477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-3175"/>
          <a:ext cx="12247880" cy="6287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2710"/>
                <a:gridCol w="4562474"/>
                <a:gridCol w="4966970"/>
              </a:tblGrid>
              <a:tr h="454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Basis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490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DBMS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46545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Security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Protection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64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provides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good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protection mechanism.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isn't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easy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protect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under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Recovery</a:t>
                      </a:r>
                      <a:r>
                        <a:rPr sz="1800" b="1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Mechanism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136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provides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crash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recovery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mechanism,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i.e.,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protects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 failure.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644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doesn't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have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crash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mechanism,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i.e.,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crashes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entering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some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content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will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lost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3944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Manipulation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Techniques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contains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wide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variety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sophisticated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techniques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retrieve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data.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can't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efficiently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retrieve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Concurrency</a:t>
                      </a:r>
                      <a:r>
                        <a:rPr sz="18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Problems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254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2225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takes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Concurrent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using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locking.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71475" algn="just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concurrent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many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problems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like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redirecting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deleting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information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updating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some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information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943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Where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use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5405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approach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large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interrelate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files.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00990">
                        <a:lnSpc>
                          <a:spcPct val="100000"/>
                        </a:lnSpc>
                        <a:spcBef>
                          <a:spcPts val="14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approach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large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which interrelate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many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files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28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76835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83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Cost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304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expensive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design.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3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3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approach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cheaper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design.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330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88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Redundancy</a:t>
                      </a:r>
                      <a:r>
                        <a:rPr sz="18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and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Inconsistency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41935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Due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centralization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database,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problems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redundancy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inconsistency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controlled.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413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this,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files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application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programs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are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created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different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programmers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there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exists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lot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duplication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which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lead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inconsistency.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" y="0"/>
            <a:ext cx="12165330" cy="438150"/>
          </a:xfrm>
          <a:custGeom>
            <a:avLst/>
            <a:gdLst/>
            <a:ahLst/>
            <a:cxnLst/>
            <a:rect l="l" t="t" r="r" b="b"/>
            <a:pathLst>
              <a:path w="12165330" h="438150">
                <a:moveTo>
                  <a:pt x="7198068" y="0"/>
                </a:moveTo>
                <a:lnTo>
                  <a:pt x="2635885" y="0"/>
                </a:lnTo>
                <a:lnTo>
                  <a:pt x="0" y="0"/>
                </a:lnTo>
                <a:lnTo>
                  <a:pt x="0" y="438150"/>
                </a:lnTo>
                <a:lnTo>
                  <a:pt x="2635847" y="438150"/>
                </a:lnTo>
                <a:lnTo>
                  <a:pt x="7198068" y="438150"/>
                </a:lnTo>
                <a:lnTo>
                  <a:pt x="7198068" y="0"/>
                </a:lnTo>
                <a:close/>
              </a:path>
              <a:path w="12165330" h="438150">
                <a:moveTo>
                  <a:pt x="12164771" y="0"/>
                </a:moveTo>
                <a:lnTo>
                  <a:pt x="7198195" y="0"/>
                </a:lnTo>
                <a:lnTo>
                  <a:pt x="7198195" y="438150"/>
                </a:lnTo>
                <a:lnTo>
                  <a:pt x="12164771" y="438150"/>
                </a:lnTo>
                <a:lnTo>
                  <a:pt x="12164771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0" y="-3175"/>
          <a:ext cx="12247880" cy="6047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2710"/>
                <a:gridCol w="4562474"/>
                <a:gridCol w="4966970"/>
              </a:tblGrid>
              <a:tr h="4540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Basis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24904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DBMS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File</a:t>
                      </a:r>
                      <a:r>
                        <a:rPr sz="2400" b="1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System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Approach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635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Structure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225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structure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design.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7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approach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has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simple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structure.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222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188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Independence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07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4574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Independence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exists,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can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types.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Logical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Independence.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Physical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Independence.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3727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approach,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exists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Data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Independence.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Integrity</a:t>
                      </a:r>
                      <a:r>
                        <a:rPr sz="18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Constraints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2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Integrity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Constraints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easy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apply.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68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3337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Integrity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Constraints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difficult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implement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in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Models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approach,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types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models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exist: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Hierarchal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models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Network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models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377825" indent="-286385">
                        <a:lnSpc>
                          <a:spcPct val="100000"/>
                        </a:lnSpc>
                        <a:buFont typeface="Arial MT"/>
                        <a:buChar char="•"/>
                        <a:tabLst>
                          <a:tab pos="377825" algn="l"/>
                        </a:tabLst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Relational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models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approach,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no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concept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of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models</a:t>
                      </a:r>
                      <a:r>
                        <a:rPr sz="18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exists.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11880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Flexibility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8034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32702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often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necessity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content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stored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system,</a:t>
                      </a:r>
                      <a:r>
                        <a:rPr sz="18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these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changes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more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easily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database approach.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92075" marR="24511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flexibility</a:t>
                      </a:r>
                      <a:r>
                        <a:rPr sz="1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system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less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compared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DBMS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approach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Examples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Oracle,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SQL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Server,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Sybase</a:t>
                      </a:r>
                      <a:r>
                        <a:rPr sz="18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etc.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Cobol,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C++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etc.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663</Words>
  <Application>Microsoft Office PowerPoint</Application>
  <PresentationFormat>Widescreen</PresentationFormat>
  <Paragraphs>101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Difference between DBMS and File Systems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2025-06-30T07:16:26Z</dcterms:created>
  <dcterms:modified xsi:type="dcterms:W3CDTF">2025-06-30T07:27:06Z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2023-11-22T00:00:00Z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Microsoft® PowerPoint® for Microsoft 365</vt:lpwstr>
  </property>
</Properties>
</file>