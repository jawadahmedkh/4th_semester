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8872"/>
            <a:ext cx="5527421" cy="6248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84911"/>
            <a:ext cx="5638829" cy="6121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84911"/>
            <a:ext cx="5509278" cy="61214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6095"/>
            <a:ext cx="5638800" cy="647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6586" y="692022"/>
            <a:ext cx="5375275" cy="698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293" y="3391151"/>
            <a:ext cx="4347845" cy="98232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marR="5080">
              <a:lnSpc>
                <a:spcPts val="3350"/>
              </a:lnSpc>
              <a:spcBef>
                <a:spcPts val="705"/>
              </a:spcBef>
            </a:pPr>
            <a:r>
              <a:rPr sz="3100" smtClean="0">
                <a:latin typeface="Calibri Light"/>
                <a:cs typeface="Calibri Light"/>
              </a:rPr>
              <a:t>Database</a:t>
            </a:r>
            <a:r>
              <a:rPr sz="3100" spc="-175" smtClean="0">
                <a:latin typeface="Calibri Light"/>
                <a:cs typeface="Calibri Light"/>
              </a:rPr>
              <a:t> </a:t>
            </a:r>
            <a:r>
              <a:rPr sz="3100" spc="-10" dirty="0">
                <a:latin typeface="Calibri Light"/>
                <a:cs typeface="Calibri Light"/>
              </a:rPr>
              <a:t>System [</a:t>
            </a:r>
            <a:r>
              <a:rPr sz="3100" i="1" spc="-10" dirty="0">
                <a:latin typeface="Calibri Light"/>
                <a:cs typeface="Calibri Light"/>
              </a:rPr>
              <a:t>Relational</a:t>
            </a:r>
            <a:r>
              <a:rPr sz="3100" i="1" spc="-35" dirty="0">
                <a:latin typeface="Calibri Light"/>
                <a:cs typeface="Calibri Light"/>
              </a:rPr>
              <a:t> </a:t>
            </a:r>
            <a:r>
              <a:rPr sz="3100" i="1" dirty="0">
                <a:latin typeface="Calibri Light"/>
                <a:cs typeface="Calibri Light"/>
              </a:rPr>
              <a:t>Model</a:t>
            </a:r>
            <a:r>
              <a:rPr sz="3100" i="1" spc="-40" dirty="0">
                <a:latin typeface="Calibri Light"/>
                <a:cs typeface="Calibri Light"/>
              </a:rPr>
              <a:t> </a:t>
            </a:r>
            <a:r>
              <a:rPr sz="3100" i="1" dirty="0">
                <a:latin typeface="Calibri Light"/>
                <a:cs typeface="Calibri Light"/>
              </a:rPr>
              <a:t>in</a:t>
            </a:r>
            <a:r>
              <a:rPr sz="3100" i="1" spc="-50" dirty="0">
                <a:latin typeface="Calibri Light"/>
                <a:cs typeface="Calibri Light"/>
              </a:rPr>
              <a:t> </a:t>
            </a:r>
            <a:r>
              <a:rPr sz="3100" i="1" spc="-10" dirty="0">
                <a:latin typeface="Calibri Light"/>
                <a:cs typeface="Calibri Light"/>
              </a:rPr>
              <a:t>DBMS</a:t>
            </a:r>
            <a:r>
              <a:rPr sz="3100" spc="-10" dirty="0">
                <a:latin typeface="Calibri Light"/>
                <a:cs typeface="Calibri Light"/>
              </a:rPr>
              <a:t>]</a:t>
            </a:r>
            <a:endParaRPr sz="31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235065" cy="6858000"/>
            <a:chOff x="0" y="0"/>
            <a:chExt cx="623506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520" y="2247017"/>
              <a:ext cx="2439079" cy="32912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23468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348234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Relational</a:t>
            </a:r>
            <a:r>
              <a:rPr sz="4000" spc="-14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Model </a:t>
            </a:r>
            <a:r>
              <a:rPr sz="4000" dirty="0">
                <a:latin typeface="Calibri Light"/>
                <a:cs typeface="Calibri Light"/>
              </a:rPr>
              <a:t>in</a:t>
            </a:r>
            <a:r>
              <a:rPr sz="4000" spc="-3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DBMS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2222754"/>
            <a:ext cx="5139690" cy="195516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Relational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represent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 	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columns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rows.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tuple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697230" marR="657860" lvl="1" indent="-227329">
              <a:lnSpc>
                <a:spcPts val="259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dirty="0">
                <a:latin typeface="Calibri"/>
                <a:cs typeface="Calibri"/>
              </a:rPr>
              <a:t>name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attribute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348234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Relational</a:t>
            </a:r>
            <a:r>
              <a:rPr sz="4000" spc="-14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Model </a:t>
            </a:r>
            <a:r>
              <a:rPr sz="4000" dirty="0">
                <a:latin typeface="Calibri Light"/>
                <a:cs typeface="Calibri Light"/>
              </a:rPr>
              <a:t>in</a:t>
            </a:r>
            <a:r>
              <a:rPr sz="4000" spc="-3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DBMS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61990" y="377697"/>
            <a:ext cx="1497330" cy="2131060"/>
            <a:chOff x="5761990" y="377697"/>
            <a:chExt cx="1497330" cy="2131060"/>
          </a:xfrm>
        </p:grpSpPr>
        <p:sp>
          <p:nvSpPr>
            <p:cNvPr id="4" name="object 4"/>
            <p:cNvSpPr/>
            <p:nvPr/>
          </p:nvSpPr>
          <p:spPr>
            <a:xfrm>
              <a:off x="5768340" y="384047"/>
              <a:ext cx="1484630" cy="2118360"/>
            </a:xfrm>
            <a:custGeom>
              <a:avLst/>
              <a:gdLst/>
              <a:ahLst/>
              <a:cxnLst/>
              <a:rect l="l" t="t" r="r" b="b"/>
              <a:pathLst>
                <a:path w="1484629" h="2118360">
                  <a:moveTo>
                    <a:pt x="1484376" y="0"/>
                  </a:moveTo>
                  <a:lnTo>
                    <a:pt x="742188" y="742188"/>
                  </a:lnTo>
                  <a:lnTo>
                    <a:pt x="0" y="0"/>
                  </a:lnTo>
                  <a:lnTo>
                    <a:pt x="0" y="1376172"/>
                  </a:lnTo>
                  <a:lnTo>
                    <a:pt x="742188" y="2118360"/>
                  </a:lnTo>
                  <a:lnTo>
                    <a:pt x="1484376" y="1376172"/>
                  </a:lnTo>
                  <a:lnTo>
                    <a:pt x="148437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68340" y="384047"/>
              <a:ext cx="1484630" cy="2118360"/>
            </a:xfrm>
            <a:custGeom>
              <a:avLst/>
              <a:gdLst/>
              <a:ahLst/>
              <a:cxnLst/>
              <a:rect l="l" t="t" r="r" b="b"/>
              <a:pathLst>
                <a:path w="1484629" h="2118360">
                  <a:moveTo>
                    <a:pt x="1484376" y="0"/>
                  </a:moveTo>
                  <a:lnTo>
                    <a:pt x="1484376" y="1376172"/>
                  </a:lnTo>
                  <a:lnTo>
                    <a:pt x="742188" y="2118360"/>
                  </a:lnTo>
                  <a:lnTo>
                    <a:pt x="0" y="1376172"/>
                  </a:lnTo>
                  <a:lnTo>
                    <a:pt x="0" y="0"/>
                  </a:lnTo>
                  <a:lnTo>
                    <a:pt x="742188" y="742188"/>
                  </a:lnTo>
                  <a:lnTo>
                    <a:pt x="1484376" y="0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7252716" y="384047"/>
            <a:ext cx="4526280" cy="1377950"/>
          </a:xfrm>
          <a:custGeom>
            <a:avLst/>
            <a:gdLst/>
            <a:ahLst/>
            <a:cxnLst/>
            <a:rect l="l" t="t" r="r" b="b"/>
            <a:pathLst>
              <a:path w="4526280" h="1377950">
                <a:moveTo>
                  <a:pt x="4526280" y="229615"/>
                </a:moveTo>
                <a:lnTo>
                  <a:pt x="4526280" y="1148079"/>
                </a:lnTo>
                <a:lnTo>
                  <a:pt x="4521617" y="1194372"/>
                </a:lnTo>
                <a:lnTo>
                  <a:pt x="4508244" y="1237482"/>
                </a:lnTo>
                <a:lnTo>
                  <a:pt x="4487080" y="1276486"/>
                </a:lnTo>
                <a:lnTo>
                  <a:pt x="4459049" y="1310465"/>
                </a:lnTo>
                <a:lnTo>
                  <a:pt x="4425070" y="1338496"/>
                </a:lnTo>
                <a:lnTo>
                  <a:pt x="4386066" y="1359660"/>
                </a:lnTo>
                <a:lnTo>
                  <a:pt x="4342956" y="1373033"/>
                </a:lnTo>
                <a:lnTo>
                  <a:pt x="4296663" y="1377696"/>
                </a:lnTo>
                <a:lnTo>
                  <a:pt x="0" y="1377696"/>
                </a:lnTo>
                <a:lnTo>
                  <a:pt x="0" y="0"/>
                </a:lnTo>
                <a:lnTo>
                  <a:pt x="4296663" y="0"/>
                </a:lnTo>
                <a:lnTo>
                  <a:pt x="4342956" y="4662"/>
                </a:lnTo>
                <a:lnTo>
                  <a:pt x="4386066" y="18035"/>
                </a:lnTo>
                <a:lnTo>
                  <a:pt x="4425070" y="39199"/>
                </a:lnTo>
                <a:lnTo>
                  <a:pt x="4459049" y="67230"/>
                </a:lnTo>
                <a:lnTo>
                  <a:pt x="4487080" y="101209"/>
                </a:lnTo>
                <a:lnTo>
                  <a:pt x="4508244" y="140213"/>
                </a:lnTo>
                <a:lnTo>
                  <a:pt x="4521617" y="183323"/>
                </a:lnTo>
                <a:lnTo>
                  <a:pt x="4526280" y="229615"/>
                </a:lnTo>
                <a:close/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27546" y="802589"/>
            <a:ext cx="5618480" cy="781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11300" indent="-172085">
              <a:lnSpc>
                <a:spcPts val="1839"/>
              </a:lnSpc>
              <a:spcBef>
                <a:spcPts val="95"/>
              </a:spcBef>
              <a:buChar char="•"/>
              <a:tabLst>
                <a:tab pos="1511300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contains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atomic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attribute</a:t>
            </a:r>
            <a:endParaRPr sz="1600">
              <a:latin typeface="Calibri"/>
              <a:cs typeface="Calibri"/>
            </a:endParaRPr>
          </a:p>
          <a:p>
            <a:pPr marL="1511300">
              <a:lnSpc>
                <a:spcPts val="1714"/>
              </a:lnSpc>
            </a:pPr>
            <a:r>
              <a:rPr sz="1600" dirty="0">
                <a:latin typeface="Calibri"/>
                <a:cs typeface="Calibri"/>
              </a:rPr>
              <a:t>can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take.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2400"/>
              </a:lnSpc>
            </a:pPr>
            <a:r>
              <a:rPr sz="2100" b="1" spc="-10" dirty="0">
                <a:solidFill>
                  <a:srgbClr val="FFFFFF"/>
                </a:solidFill>
                <a:latin typeface="Calibri"/>
                <a:cs typeface="Calibri"/>
              </a:rPr>
              <a:t>Domain: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61990" y="2307082"/>
            <a:ext cx="1497330" cy="2132965"/>
            <a:chOff x="5761990" y="2307082"/>
            <a:chExt cx="1497330" cy="2132965"/>
          </a:xfrm>
        </p:grpSpPr>
        <p:sp>
          <p:nvSpPr>
            <p:cNvPr id="9" name="object 9"/>
            <p:cNvSpPr/>
            <p:nvPr/>
          </p:nvSpPr>
          <p:spPr>
            <a:xfrm>
              <a:off x="5768340" y="2313432"/>
              <a:ext cx="1484630" cy="2120265"/>
            </a:xfrm>
            <a:custGeom>
              <a:avLst/>
              <a:gdLst/>
              <a:ahLst/>
              <a:cxnLst/>
              <a:rect l="l" t="t" r="r" b="b"/>
              <a:pathLst>
                <a:path w="1484629" h="2120265">
                  <a:moveTo>
                    <a:pt x="1484376" y="0"/>
                  </a:moveTo>
                  <a:lnTo>
                    <a:pt x="742188" y="742188"/>
                  </a:lnTo>
                  <a:lnTo>
                    <a:pt x="0" y="0"/>
                  </a:lnTo>
                  <a:lnTo>
                    <a:pt x="0" y="1377695"/>
                  </a:lnTo>
                  <a:lnTo>
                    <a:pt x="742188" y="2119884"/>
                  </a:lnTo>
                  <a:lnTo>
                    <a:pt x="1484376" y="1377695"/>
                  </a:lnTo>
                  <a:lnTo>
                    <a:pt x="1484376" y="0"/>
                  </a:lnTo>
                  <a:close/>
                </a:path>
              </a:pathLst>
            </a:custGeom>
            <a:solidFill>
              <a:srgbClr val="4DC5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68340" y="2313432"/>
              <a:ext cx="1484630" cy="2120265"/>
            </a:xfrm>
            <a:custGeom>
              <a:avLst/>
              <a:gdLst/>
              <a:ahLst/>
              <a:cxnLst/>
              <a:rect l="l" t="t" r="r" b="b"/>
              <a:pathLst>
                <a:path w="1484629" h="2120265">
                  <a:moveTo>
                    <a:pt x="1484376" y="0"/>
                  </a:moveTo>
                  <a:lnTo>
                    <a:pt x="1484376" y="1377695"/>
                  </a:lnTo>
                  <a:lnTo>
                    <a:pt x="742188" y="2119884"/>
                  </a:lnTo>
                  <a:lnTo>
                    <a:pt x="0" y="1377695"/>
                  </a:lnTo>
                  <a:lnTo>
                    <a:pt x="0" y="0"/>
                  </a:lnTo>
                  <a:lnTo>
                    <a:pt x="742188" y="742188"/>
                  </a:lnTo>
                  <a:lnTo>
                    <a:pt x="1484376" y="0"/>
                  </a:lnTo>
                  <a:close/>
                </a:path>
              </a:pathLst>
            </a:custGeom>
            <a:ln w="12700">
              <a:solidFill>
                <a:srgbClr val="4DC5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957442" y="3169158"/>
            <a:ext cx="11068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FFFFFF"/>
                </a:solidFill>
                <a:latin typeface="Calibri"/>
                <a:cs typeface="Calibri"/>
              </a:rPr>
              <a:t>Attribute: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52716" y="2313432"/>
            <a:ext cx="4526280" cy="1377950"/>
          </a:xfrm>
          <a:custGeom>
            <a:avLst/>
            <a:gdLst/>
            <a:ahLst/>
            <a:cxnLst/>
            <a:rect l="l" t="t" r="r" b="b"/>
            <a:pathLst>
              <a:path w="4526280" h="1377950">
                <a:moveTo>
                  <a:pt x="4526280" y="229615"/>
                </a:moveTo>
                <a:lnTo>
                  <a:pt x="4526280" y="1148079"/>
                </a:lnTo>
                <a:lnTo>
                  <a:pt x="4521617" y="1194372"/>
                </a:lnTo>
                <a:lnTo>
                  <a:pt x="4508244" y="1237482"/>
                </a:lnTo>
                <a:lnTo>
                  <a:pt x="4487080" y="1276486"/>
                </a:lnTo>
                <a:lnTo>
                  <a:pt x="4459049" y="1310465"/>
                </a:lnTo>
                <a:lnTo>
                  <a:pt x="4425070" y="1338496"/>
                </a:lnTo>
                <a:lnTo>
                  <a:pt x="4386066" y="1359660"/>
                </a:lnTo>
                <a:lnTo>
                  <a:pt x="4342956" y="1373033"/>
                </a:lnTo>
                <a:lnTo>
                  <a:pt x="4296663" y="1377695"/>
                </a:lnTo>
                <a:lnTo>
                  <a:pt x="0" y="1377695"/>
                </a:lnTo>
                <a:lnTo>
                  <a:pt x="0" y="0"/>
                </a:lnTo>
                <a:lnTo>
                  <a:pt x="4296663" y="0"/>
                </a:lnTo>
                <a:lnTo>
                  <a:pt x="4342956" y="4662"/>
                </a:lnTo>
                <a:lnTo>
                  <a:pt x="4386066" y="18035"/>
                </a:lnTo>
                <a:lnTo>
                  <a:pt x="4425070" y="39199"/>
                </a:lnTo>
                <a:lnTo>
                  <a:pt x="4459049" y="67230"/>
                </a:lnTo>
                <a:lnTo>
                  <a:pt x="4487080" y="101209"/>
                </a:lnTo>
                <a:lnTo>
                  <a:pt x="4508244" y="140213"/>
                </a:lnTo>
                <a:lnTo>
                  <a:pt x="4521617" y="183323"/>
                </a:lnTo>
                <a:lnTo>
                  <a:pt x="4526280" y="229615"/>
                </a:lnTo>
                <a:close/>
              </a:path>
            </a:pathLst>
          </a:custGeom>
          <a:ln w="12700">
            <a:solidFill>
              <a:srgbClr val="4DC5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354316" y="2602814"/>
            <a:ext cx="4092575" cy="752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ts val="1835"/>
              </a:lnSpc>
              <a:spcBef>
                <a:spcPts val="95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contains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name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column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particular</a:t>
            </a:r>
            <a:endParaRPr sz="1600">
              <a:latin typeface="Calibri"/>
              <a:cs typeface="Calibri"/>
            </a:endParaRPr>
          </a:p>
          <a:p>
            <a:pPr marL="184785">
              <a:lnSpc>
                <a:spcPts val="1835"/>
              </a:lnSpc>
            </a:pPr>
            <a:r>
              <a:rPr sz="1600" spc="-10" dirty="0">
                <a:latin typeface="Calibri"/>
                <a:cs typeface="Calibri"/>
              </a:rPr>
              <a:t>table.</a:t>
            </a:r>
            <a:endParaRPr sz="16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184150" algn="l"/>
              </a:tabLst>
            </a:pPr>
            <a:r>
              <a:rPr sz="1600" dirty="0">
                <a:latin typeface="Calibri"/>
                <a:cs typeface="Calibri"/>
              </a:rPr>
              <a:t>Each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attribute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Ai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must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domain,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dom(Ai)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61990" y="4236465"/>
            <a:ext cx="1497330" cy="2132965"/>
            <a:chOff x="5761990" y="4236465"/>
            <a:chExt cx="1497330" cy="2132965"/>
          </a:xfrm>
        </p:grpSpPr>
        <p:sp>
          <p:nvSpPr>
            <p:cNvPr id="15" name="object 15"/>
            <p:cNvSpPr/>
            <p:nvPr/>
          </p:nvSpPr>
          <p:spPr>
            <a:xfrm>
              <a:off x="5768340" y="4242815"/>
              <a:ext cx="1484630" cy="2120265"/>
            </a:xfrm>
            <a:custGeom>
              <a:avLst/>
              <a:gdLst/>
              <a:ahLst/>
              <a:cxnLst/>
              <a:rect l="l" t="t" r="r" b="b"/>
              <a:pathLst>
                <a:path w="1484629" h="2120265">
                  <a:moveTo>
                    <a:pt x="1484376" y="0"/>
                  </a:moveTo>
                  <a:lnTo>
                    <a:pt x="742188" y="742187"/>
                  </a:lnTo>
                  <a:lnTo>
                    <a:pt x="0" y="0"/>
                  </a:lnTo>
                  <a:lnTo>
                    <a:pt x="0" y="1377695"/>
                  </a:lnTo>
                  <a:lnTo>
                    <a:pt x="742188" y="2119883"/>
                  </a:lnTo>
                  <a:lnTo>
                    <a:pt x="1484376" y="1377695"/>
                  </a:lnTo>
                  <a:lnTo>
                    <a:pt x="148437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68340" y="4242815"/>
              <a:ext cx="1484630" cy="2120265"/>
            </a:xfrm>
            <a:custGeom>
              <a:avLst/>
              <a:gdLst/>
              <a:ahLst/>
              <a:cxnLst/>
              <a:rect l="l" t="t" r="r" b="b"/>
              <a:pathLst>
                <a:path w="1484629" h="2120265">
                  <a:moveTo>
                    <a:pt x="1484376" y="0"/>
                  </a:moveTo>
                  <a:lnTo>
                    <a:pt x="1484376" y="1377695"/>
                  </a:lnTo>
                  <a:lnTo>
                    <a:pt x="742188" y="2119883"/>
                  </a:lnTo>
                  <a:lnTo>
                    <a:pt x="0" y="1377695"/>
                  </a:lnTo>
                  <a:lnTo>
                    <a:pt x="0" y="0"/>
                  </a:lnTo>
                  <a:lnTo>
                    <a:pt x="742188" y="742187"/>
                  </a:lnTo>
                  <a:lnTo>
                    <a:pt x="1484376" y="0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40678" y="4952745"/>
            <a:ext cx="1142365" cy="64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2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endParaRPr sz="2100">
              <a:latin typeface="Calibri"/>
              <a:cs typeface="Calibri"/>
            </a:endParaRPr>
          </a:p>
          <a:p>
            <a:pPr marL="73660">
              <a:lnSpc>
                <a:spcPts val="2420"/>
              </a:lnSpc>
            </a:pPr>
            <a:r>
              <a:rPr sz="2100" b="1" spc="-10" dirty="0">
                <a:solidFill>
                  <a:srgbClr val="FFFFFF"/>
                </a:solidFill>
                <a:latin typeface="Calibri"/>
                <a:cs typeface="Calibri"/>
              </a:rPr>
              <a:t>instance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252716" y="4242815"/>
            <a:ext cx="4526280" cy="1377950"/>
          </a:xfrm>
          <a:custGeom>
            <a:avLst/>
            <a:gdLst/>
            <a:ahLst/>
            <a:cxnLst/>
            <a:rect l="l" t="t" r="r" b="b"/>
            <a:pathLst>
              <a:path w="4526280" h="1377950">
                <a:moveTo>
                  <a:pt x="4526280" y="229615"/>
                </a:moveTo>
                <a:lnTo>
                  <a:pt x="4526280" y="1148079"/>
                </a:lnTo>
                <a:lnTo>
                  <a:pt x="4521617" y="1194372"/>
                </a:lnTo>
                <a:lnTo>
                  <a:pt x="4508244" y="1237482"/>
                </a:lnTo>
                <a:lnTo>
                  <a:pt x="4487080" y="1276486"/>
                </a:lnTo>
                <a:lnTo>
                  <a:pt x="4459049" y="1310465"/>
                </a:lnTo>
                <a:lnTo>
                  <a:pt x="4425070" y="1338496"/>
                </a:lnTo>
                <a:lnTo>
                  <a:pt x="4386066" y="1359660"/>
                </a:lnTo>
                <a:lnTo>
                  <a:pt x="4342956" y="1373033"/>
                </a:lnTo>
                <a:lnTo>
                  <a:pt x="4296663" y="1377695"/>
                </a:lnTo>
                <a:lnTo>
                  <a:pt x="0" y="1377695"/>
                </a:lnTo>
                <a:lnTo>
                  <a:pt x="0" y="0"/>
                </a:lnTo>
                <a:lnTo>
                  <a:pt x="4296663" y="0"/>
                </a:lnTo>
                <a:lnTo>
                  <a:pt x="4342956" y="4662"/>
                </a:lnTo>
                <a:lnTo>
                  <a:pt x="4386066" y="18035"/>
                </a:lnTo>
                <a:lnTo>
                  <a:pt x="4425070" y="39199"/>
                </a:lnTo>
                <a:lnTo>
                  <a:pt x="4459049" y="67230"/>
                </a:lnTo>
                <a:lnTo>
                  <a:pt x="4487080" y="101209"/>
                </a:lnTo>
                <a:lnTo>
                  <a:pt x="4508244" y="140213"/>
                </a:lnTo>
                <a:lnTo>
                  <a:pt x="4521617" y="183323"/>
                </a:lnTo>
                <a:lnTo>
                  <a:pt x="4526280" y="229615"/>
                </a:lnTo>
                <a:close/>
              </a:path>
            </a:pathLst>
          </a:custGeom>
          <a:ln w="12699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354316" y="4533646"/>
            <a:ext cx="4124960" cy="75184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83515" marR="6350" indent="-171450">
              <a:lnSpc>
                <a:spcPts val="1750"/>
              </a:lnSpc>
              <a:spcBef>
                <a:spcPts val="295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relational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database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relational 	</a:t>
            </a:r>
            <a:r>
              <a:rPr sz="1600" dirty="0">
                <a:latin typeface="Calibri"/>
                <a:cs typeface="Calibri"/>
              </a:rPr>
              <a:t>instance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represented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finite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tuples.</a:t>
            </a:r>
            <a:endParaRPr sz="16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Char char="•"/>
              <a:tabLst>
                <a:tab pos="184150" algn="l"/>
              </a:tabLst>
            </a:pPr>
            <a:r>
              <a:rPr sz="1600" spc="-10" dirty="0">
                <a:latin typeface="Calibri"/>
                <a:cs typeface="Calibri"/>
              </a:rPr>
              <a:t>Relation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instances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duplicate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tuples.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348234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Relational</a:t>
            </a:r>
            <a:r>
              <a:rPr sz="4000" spc="-14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Model </a:t>
            </a:r>
            <a:r>
              <a:rPr sz="4000" dirty="0">
                <a:latin typeface="Calibri Light"/>
                <a:cs typeface="Calibri Light"/>
              </a:rPr>
              <a:t>in</a:t>
            </a:r>
            <a:r>
              <a:rPr sz="4000" spc="-3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DBMS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61990" y="379222"/>
            <a:ext cx="2202815" cy="3140075"/>
            <a:chOff x="5761990" y="379222"/>
            <a:chExt cx="2202815" cy="3140075"/>
          </a:xfrm>
        </p:grpSpPr>
        <p:sp>
          <p:nvSpPr>
            <p:cNvPr id="4" name="object 4"/>
            <p:cNvSpPr/>
            <p:nvPr/>
          </p:nvSpPr>
          <p:spPr>
            <a:xfrm>
              <a:off x="5768340" y="385572"/>
              <a:ext cx="2190115" cy="3127375"/>
            </a:xfrm>
            <a:custGeom>
              <a:avLst/>
              <a:gdLst/>
              <a:ahLst/>
              <a:cxnLst/>
              <a:rect l="l" t="t" r="r" b="b"/>
              <a:pathLst>
                <a:path w="2190115" h="3127375">
                  <a:moveTo>
                    <a:pt x="2189988" y="0"/>
                  </a:moveTo>
                  <a:lnTo>
                    <a:pt x="1094993" y="1094993"/>
                  </a:lnTo>
                  <a:lnTo>
                    <a:pt x="0" y="0"/>
                  </a:lnTo>
                  <a:lnTo>
                    <a:pt x="0" y="2032253"/>
                  </a:lnTo>
                  <a:lnTo>
                    <a:pt x="1094993" y="3127248"/>
                  </a:lnTo>
                  <a:lnTo>
                    <a:pt x="2189988" y="2032253"/>
                  </a:lnTo>
                  <a:lnTo>
                    <a:pt x="218998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68340" y="385572"/>
              <a:ext cx="2190115" cy="3127375"/>
            </a:xfrm>
            <a:custGeom>
              <a:avLst/>
              <a:gdLst/>
              <a:ahLst/>
              <a:cxnLst/>
              <a:rect l="l" t="t" r="r" b="b"/>
              <a:pathLst>
                <a:path w="2190115" h="3127375">
                  <a:moveTo>
                    <a:pt x="2189988" y="0"/>
                  </a:moveTo>
                  <a:lnTo>
                    <a:pt x="2189988" y="2032253"/>
                  </a:lnTo>
                  <a:lnTo>
                    <a:pt x="1094993" y="3127248"/>
                  </a:lnTo>
                  <a:lnTo>
                    <a:pt x="0" y="2032253"/>
                  </a:lnTo>
                  <a:lnTo>
                    <a:pt x="0" y="0"/>
                  </a:lnTo>
                  <a:lnTo>
                    <a:pt x="1094993" y="1094993"/>
                  </a:lnTo>
                  <a:lnTo>
                    <a:pt x="2189988" y="0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97955" y="1420113"/>
            <a:ext cx="1732914" cy="96075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65100" marR="5080" indent="-152400">
              <a:lnSpc>
                <a:spcPts val="3520"/>
              </a:lnSpc>
              <a:spcBef>
                <a:spcPts val="484"/>
              </a:spcBef>
            </a:pPr>
            <a:r>
              <a:rPr sz="3200" b="1" spc="-10" dirty="0">
                <a:latin typeface="Calibri"/>
                <a:cs typeface="Calibri"/>
              </a:rPr>
              <a:t>Relational schema: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58328" y="385572"/>
            <a:ext cx="3820795" cy="2033270"/>
          </a:xfrm>
          <a:custGeom>
            <a:avLst/>
            <a:gdLst/>
            <a:ahLst/>
            <a:cxnLst/>
            <a:rect l="l" t="t" r="r" b="b"/>
            <a:pathLst>
              <a:path w="3820795" h="2033270">
                <a:moveTo>
                  <a:pt x="3820668" y="338836"/>
                </a:moveTo>
                <a:lnTo>
                  <a:pt x="3820668" y="1694179"/>
                </a:lnTo>
                <a:lnTo>
                  <a:pt x="3817573" y="1740144"/>
                </a:lnTo>
                <a:lnTo>
                  <a:pt x="3808560" y="1784234"/>
                </a:lnTo>
                <a:lnTo>
                  <a:pt x="3794031" y="1826043"/>
                </a:lnTo>
                <a:lnTo>
                  <a:pt x="3774392" y="1865169"/>
                </a:lnTo>
                <a:lnTo>
                  <a:pt x="3750048" y="1901205"/>
                </a:lnTo>
                <a:lnTo>
                  <a:pt x="3721401" y="1933749"/>
                </a:lnTo>
                <a:lnTo>
                  <a:pt x="3688857" y="1962396"/>
                </a:lnTo>
                <a:lnTo>
                  <a:pt x="3652821" y="1986740"/>
                </a:lnTo>
                <a:lnTo>
                  <a:pt x="3613695" y="2006379"/>
                </a:lnTo>
                <a:lnTo>
                  <a:pt x="3571886" y="2020908"/>
                </a:lnTo>
                <a:lnTo>
                  <a:pt x="3527796" y="2029921"/>
                </a:lnTo>
                <a:lnTo>
                  <a:pt x="3481831" y="2033015"/>
                </a:lnTo>
                <a:lnTo>
                  <a:pt x="0" y="2033015"/>
                </a:lnTo>
                <a:lnTo>
                  <a:pt x="0" y="0"/>
                </a:lnTo>
                <a:lnTo>
                  <a:pt x="3481831" y="0"/>
                </a:lnTo>
                <a:lnTo>
                  <a:pt x="3527796" y="3094"/>
                </a:lnTo>
                <a:lnTo>
                  <a:pt x="3571886" y="12107"/>
                </a:lnTo>
                <a:lnTo>
                  <a:pt x="3613695" y="26636"/>
                </a:lnTo>
                <a:lnTo>
                  <a:pt x="3652821" y="46275"/>
                </a:lnTo>
                <a:lnTo>
                  <a:pt x="3688857" y="70619"/>
                </a:lnTo>
                <a:lnTo>
                  <a:pt x="3721401" y="99266"/>
                </a:lnTo>
                <a:lnTo>
                  <a:pt x="3750048" y="131810"/>
                </a:lnTo>
                <a:lnTo>
                  <a:pt x="3774392" y="167846"/>
                </a:lnTo>
                <a:lnTo>
                  <a:pt x="3794031" y="206972"/>
                </a:lnTo>
                <a:lnTo>
                  <a:pt x="3808560" y="248781"/>
                </a:lnTo>
                <a:lnTo>
                  <a:pt x="3817573" y="292871"/>
                </a:lnTo>
                <a:lnTo>
                  <a:pt x="3820668" y="338836"/>
                </a:lnTo>
                <a:close/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124190" y="638048"/>
            <a:ext cx="3479800" cy="145351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5080" indent="-228600">
              <a:lnSpc>
                <a:spcPct val="91600"/>
              </a:lnSpc>
              <a:spcBef>
                <a:spcPts val="345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Calibri"/>
                <a:cs typeface="Calibri"/>
              </a:rPr>
              <a:t>A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relational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schema contains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name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the </a:t>
            </a:r>
            <a:r>
              <a:rPr sz="2500" dirty="0">
                <a:latin typeface="Calibri"/>
                <a:cs typeface="Calibri"/>
              </a:rPr>
              <a:t>relation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name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all </a:t>
            </a:r>
            <a:r>
              <a:rPr sz="2500" dirty="0">
                <a:latin typeface="Calibri"/>
                <a:cs typeface="Calibri"/>
              </a:rPr>
              <a:t>columns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or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attributes.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61990" y="3226054"/>
            <a:ext cx="2202815" cy="3141980"/>
            <a:chOff x="5761990" y="3226054"/>
            <a:chExt cx="2202815" cy="3141980"/>
          </a:xfrm>
        </p:grpSpPr>
        <p:sp>
          <p:nvSpPr>
            <p:cNvPr id="10" name="object 10"/>
            <p:cNvSpPr/>
            <p:nvPr/>
          </p:nvSpPr>
          <p:spPr>
            <a:xfrm>
              <a:off x="5768340" y="3232404"/>
              <a:ext cx="2190115" cy="3129280"/>
            </a:xfrm>
            <a:custGeom>
              <a:avLst/>
              <a:gdLst/>
              <a:ahLst/>
              <a:cxnLst/>
              <a:rect l="l" t="t" r="r" b="b"/>
              <a:pathLst>
                <a:path w="2190115" h="3129279">
                  <a:moveTo>
                    <a:pt x="2189988" y="0"/>
                  </a:moveTo>
                  <a:lnTo>
                    <a:pt x="1094993" y="1094994"/>
                  </a:lnTo>
                  <a:lnTo>
                    <a:pt x="0" y="0"/>
                  </a:lnTo>
                  <a:lnTo>
                    <a:pt x="0" y="2033778"/>
                  </a:lnTo>
                  <a:lnTo>
                    <a:pt x="1094993" y="3128772"/>
                  </a:lnTo>
                  <a:lnTo>
                    <a:pt x="2189988" y="2033778"/>
                  </a:lnTo>
                  <a:lnTo>
                    <a:pt x="218998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68340" y="3232404"/>
              <a:ext cx="2190115" cy="3129280"/>
            </a:xfrm>
            <a:custGeom>
              <a:avLst/>
              <a:gdLst/>
              <a:ahLst/>
              <a:cxnLst/>
              <a:rect l="l" t="t" r="r" b="b"/>
              <a:pathLst>
                <a:path w="2190115" h="3129279">
                  <a:moveTo>
                    <a:pt x="2189988" y="0"/>
                  </a:moveTo>
                  <a:lnTo>
                    <a:pt x="2189988" y="2033778"/>
                  </a:lnTo>
                  <a:lnTo>
                    <a:pt x="1094993" y="3128772"/>
                  </a:lnTo>
                  <a:lnTo>
                    <a:pt x="0" y="2033778"/>
                  </a:lnTo>
                  <a:lnTo>
                    <a:pt x="0" y="0"/>
                  </a:lnTo>
                  <a:lnTo>
                    <a:pt x="1094993" y="1094994"/>
                  </a:lnTo>
                  <a:lnTo>
                    <a:pt x="2189988" y="0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997955" y="4269104"/>
            <a:ext cx="1732914" cy="96075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520065" marR="5080" indent="-508000">
              <a:lnSpc>
                <a:spcPts val="3520"/>
              </a:lnSpc>
              <a:spcBef>
                <a:spcPts val="484"/>
              </a:spcBef>
            </a:pP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Relational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key: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958328" y="3232404"/>
            <a:ext cx="3820795" cy="2034539"/>
          </a:xfrm>
          <a:custGeom>
            <a:avLst/>
            <a:gdLst/>
            <a:ahLst/>
            <a:cxnLst/>
            <a:rect l="l" t="t" r="r" b="b"/>
            <a:pathLst>
              <a:path w="3820795" h="2034539">
                <a:moveTo>
                  <a:pt x="3820668" y="339090"/>
                </a:moveTo>
                <a:lnTo>
                  <a:pt x="3820668" y="1695450"/>
                </a:lnTo>
                <a:lnTo>
                  <a:pt x="3817573" y="1741473"/>
                </a:lnTo>
                <a:lnTo>
                  <a:pt x="3808558" y="1785611"/>
                </a:lnTo>
                <a:lnTo>
                  <a:pt x="3794027" y="1827460"/>
                </a:lnTo>
                <a:lnTo>
                  <a:pt x="3774383" y="1866617"/>
                </a:lnTo>
                <a:lnTo>
                  <a:pt x="3750029" y="1902679"/>
                </a:lnTo>
                <a:lnTo>
                  <a:pt x="3721369" y="1935241"/>
                </a:lnTo>
                <a:lnTo>
                  <a:pt x="3688807" y="1963901"/>
                </a:lnTo>
                <a:lnTo>
                  <a:pt x="3652745" y="1988255"/>
                </a:lnTo>
                <a:lnTo>
                  <a:pt x="3613588" y="2007899"/>
                </a:lnTo>
                <a:lnTo>
                  <a:pt x="3571739" y="2022430"/>
                </a:lnTo>
                <a:lnTo>
                  <a:pt x="3527601" y="2031445"/>
                </a:lnTo>
                <a:lnTo>
                  <a:pt x="3481578" y="2034540"/>
                </a:lnTo>
                <a:lnTo>
                  <a:pt x="0" y="2034540"/>
                </a:lnTo>
                <a:lnTo>
                  <a:pt x="0" y="0"/>
                </a:lnTo>
                <a:lnTo>
                  <a:pt x="3481578" y="0"/>
                </a:lnTo>
                <a:lnTo>
                  <a:pt x="3527601" y="3094"/>
                </a:lnTo>
                <a:lnTo>
                  <a:pt x="3571739" y="12109"/>
                </a:lnTo>
                <a:lnTo>
                  <a:pt x="3613588" y="26640"/>
                </a:lnTo>
                <a:lnTo>
                  <a:pt x="3652745" y="46284"/>
                </a:lnTo>
                <a:lnTo>
                  <a:pt x="3688807" y="70638"/>
                </a:lnTo>
                <a:lnTo>
                  <a:pt x="3721369" y="99298"/>
                </a:lnTo>
                <a:lnTo>
                  <a:pt x="3750029" y="131860"/>
                </a:lnTo>
                <a:lnTo>
                  <a:pt x="3774383" y="167922"/>
                </a:lnTo>
                <a:lnTo>
                  <a:pt x="3794027" y="207079"/>
                </a:lnTo>
                <a:lnTo>
                  <a:pt x="3808558" y="248928"/>
                </a:lnTo>
                <a:lnTo>
                  <a:pt x="3817573" y="293066"/>
                </a:lnTo>
                <a:lnTo>
                  <a:pt x="3820668" y="339090"/>
                </a:lnTo>
                <a:close/>
              </a:path>
            </a:pathLst>
          </a:custGeom>
          <a:ln w="12699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124190" y="3283458"/>
            <a:ext cx="3545204" cy="186055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41300" marR="5080" indent="-228600">
              <a:lnSpc>
                <a:spcPts val="2750"/>
              </a:lnSpc>
              <a:spcBef>
                <a:spcPts val="395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Calibri"/>
                <a:cs typeface="Calibri"/>
              </a:rPr>
              <a:t>In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relational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60" dirty="0">
                <a:latin typeface="Calibri"/>
                <a:cs typeface="Calibri"/>
              </a:rPr>
              <a:t>key, </a:t>
            </a:r>
            <a:r>
              <a:rPr sz="2500" spc="-20" dirty="0">
                <a:latin typeface="Calibri"/>
                <a:cs typeface="Calibri"/>
              </a:rPr>
              <a:t>each </a:t>
            </a:r>
            <a:r>
              <a:rPr sz="2500" dirty="0">
                <a:latin typeface="Calibri"/>
                <a:cs typeface="Calibri"/>
              </a:rPr>
              <a:t>row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has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one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or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more </a:t>
            </a:r>
            <a:r>
              <a:rPr sz="2500" spc="-10" dirty="0">
                <a:latin typeface="Calibri"/>
                <a:cs typeface="Calibri"/>
              </a:rPr>
              <a:t>attributes.</a:t>
            </a:r>
            <a:endParaRPr sz="2500">
              <a:latin typeface="Calibri"/>
              <a:cs typeface="Calibri"/>
            </a:endParaRPr>
          </a:p>
          <a:p>
            <a:pPr marL="241300" marR="149860" indent="-228600">
              <a:lnSpc>
                <a:spcPts val="2750"/>
              </a:lnSpc>
              <a:spcBef>
                <a:spcPts val="450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Calibri"/>
                <a:cs typeface="Calibri"/>
              </a:rPr>
              <a:t>It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can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identify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row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in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relation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uniquely.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348234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Relational</a:t>
            </a:r>
            <a:r>
              <a:rPr sz="4000" spc="-14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Model Example</a:t>
            </a:r>
            <a:endParaRPr sz="4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3915" y="1941576"/>
            <a:ext cx="6644640" cy="26304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03545" y="4731511"/>
            <a:ext cx="58127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ROLL_NO,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PHONE_NO,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ADDRESS,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attributes.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instance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schema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STUDENT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tuples.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t3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&lt;Laxman,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33289,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8583287182,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Gurugram,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20&gt;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85278" y="1413205"/>
            <a:ext cx="17545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00"/>
                </a:solidFill>
                <a:latin typeface="Calibri"/>
                <a:cs typeface="Calibri"/>
              </a:rPr>
              <a:t>STUDENT</a:t>
            </a:r>
            <a:r>
              <a:rPr sz="1800" b="1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0000"/>
                </a:solidFill>
                <a:latin typeface="Calibri"/>
                <a:cs typeface="Calibri"/>
              </a:rPr>
              <a:t>Relation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65874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Properties</a:t>
            </a:r>
            <a:r>
              <a:rPr sz="4000" spc="-21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spc="-10" dirty="0">
                <a:latin typeface="Calibri Light"/>
                <a:cs typeface="Calibri Light"/>
              </a:rPr>
              <a:t>Relations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839714" y="612394"/>
            <a:ext cx="5946140" cy="927100"/>
            <a:chOff x="5839714" y="612394"/>
            <a:chExt cx="5946140" cy="927100"/>
          </a:xfrm>
        </p:grpSpPr>
        <p:sp>
          <p:nvSpPr>
            <p:cNvPr id="4" name="object 4"/>
            <p:cNvSpPr/>
            <p:nvPr/>
          </p:nvSpPr>
          <p:spPr>
            <a:xfrm>
              <a:off x="5846064" y="618744"/>
              <a:ext cx="5933440" cy="914400"/>
            </a:xfrm>
            <a:custGeom>
              <a:avLst/>
              <a:gdLst/>
              <a:ahLst/>
              <a:cxnLst/>
              <a:rect l="l" t="t" r="r" b="b"/>
              <a:pathLst>
                <a:path w="5933440" h="914400">
                  <a:moveTo>
                    <a:pt x="5780532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5780532" y="914400"/>
                  </a:lnTo>
                  <a:lnTo>
                    <a:pt x="5828714" y="906633"/>
                  </a:lnTo>
                  <a:lnTo>
                    <a:pt x="5870551" y="885005"/>
                  </a:lnTo>
                  <a:lnTo>
                    <a:pt x="5903537" y="852019"/>
                  </a:lnTo>
                  <a:lnTo>
                    <a:pt x="5925165" y="810182"/>
                  </a:lnTo>
                  <a:lnTo>
                    <a:pt x="5932932" y="762000"/>
                  </a:lnTo>
                  <a:lnTo>
                    <a:pt x="5932932" y="152400"/>
                  </a:lnTo>
                  <a:lnTo>
                    <a:pt x="5925165" y="104217"/>
                  </a:lnTo>
                  <a:lnTo>
                    <a:pt x="5903537" y="62380"/>
                  </a:lnTo>
                  <a:lnTo>
                    <a:pt x="5870551" y="29394"/>
                  </a:lnTo>
                  <a:lnTo>
                    <a:pt x="5828714" y="7766"/>
                  </a:lnTo>
                  <a:lnTo>
                    <a:pt x="578053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46064" y="618744"/>
              <a:ext cx="5933440" cy="914400"/>
            </a:xfrm>
            <a:custGeom>
              <a:avLst/>
              <a:gdLst/>
              <a:ahLst/>
              <a:cxnLst/>
              <a:rect l="l" t="t" r="r" b="b"/>
              <a:pathLst>
                <a:path w="593344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5780532" y="0"/>
                  </a:lnTo>
                  <a:lnTo>
                    <a:pt x="5828714" y="7766"/>
                  </a:lnTo>
                  <a:lnTo>
                    <a:pt x="5870551" y="29394"/>
                  </a:lnTo>
                  <a:lnTo>
                    <a:pt x="5903537" y="62380"/>
                  </a:lnTo>
                  <a:lnTo>
                    <a:pt x="5925165" y="104217"/>
                  </a:lnTo>
                  <a:lnTo>
                    <a:pt x="5932932" y="152400"/>
                  </a:lnTo>
                  <a:lnTo>
                    <a:pt x="5932932" y="762000"/>
                  </a:lnTo>
                  <a:lnTo>
                    <a:pt x="5925165" y="810182"/>
                  </a:lnTo>
                  <a:lnTo>
                    <a:pt x="5903537" y="852019"/>
                  </a:lnTo>
                  <a:lnTo>
                    <a:pt x="5870551" y="885005"/>
                  </a:lnTo>
                  <a:lnTo>
                    <a:pt x="5828714" y="906633"/>
                  </a:lnTo>
                  <a:lnTo>
                    <a:pt x="5780532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530"/>
              </a:lnSpc>
              <a:spcBef>
                <a:spcPts val="380"/>
              </a:spcBef>
            </a:pPr>
            <a:r>
              <a:rPr dirty="0"/>
              <a:t>Name</a:t>
            </a:r>
            <a:r>
              <a:rPr spc="-5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relation</a:t>
            </a:r>
            <a:r>
              <a:rPr spc="-3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distinct</a:t>
            </a:r>
            <a:r>
              <a:rPr spc="-40" dirty="0"/>
              <a:t> </a:t>
            </a:r>
            <a:r>
              <a:rPr dirty="0"/>
              <a:t>from</a:t>
            </a:r>
            <a:r>
              <a:rPr spc="-40" dirty="0"/>
              <a:t> </a:t>
            </a:r>
            <a:r>
              <a:rPr dirty="0"/>
              <a:t>all</a:t>
            </a:r>
            <a:r>
              <a:rPr spc="-45" dirty="0"/>
              <a:t> </a:t>
            </a:r>
            <a:r>
              <a:rPr spc="-10" dirty="0"/>
              <a:t>other relations.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839714" y="1592325"/>
            <a:ext cx="5946140" cy="929005"/>
            <a:chOff x="5839714" y="1592325"/>
            <a:chExt cx="5946140" cy="929005"/>
          </a:xfrm>
        </p:grpSpPr>
        <p:sp>
          <p:nvSpPr>
            <p:cNvPr id="8" name="object 8"/>
            <p:cNvSpPr/>
            <p:nvPr/>
          </p:nvSpPr>
          <p:spPr>
            <a:xfrm>
              <a:off x="5846064" y="1598675"/>
              <a:ext cx="5933440" cy="916305"/>
            </a:xfrm>
            <a:custGeom>
              <a:avLst/>
              <a:gdLst/>
              <a:ahLst/>
              <a:cxnLst/>
              <a:rect l="l" t="t" r="r" b="b"/>
              <a:pathLst>
                <a:path w="5933440" h="916305">
                  <a:moveTo>
                    <a:pt x="5780278" y="0"/>
                  </a:moveTo>
                  <a:lnTo>
                    <a:pt x="152653" y="0"/>
                  </a:lnTo>
                  <a:lnTo>
                    <a:pt x="104396" y="7780"/>
                  </a:lnTo>
                  <a:lnTo>
                    <a:pt x="62490" y="29447"/>
                  </a:lnTo>
                  <a:lnTo>
                    <a:pt x="29447" y="62490"/>
                  </a:lnTo>
                  <a:lnTo>
                    <a:pt x="7780" y="104396"/>
                  </a:lnTo>
                  <a:lnTo>
                    <a:pt x="0" y="152653"/>
                  </a:lnTo>
                  <a:lnTo>
                    <a:pt x="0" y="763270"/>
                  </a:lnTo>
                  <a:lnTo>
                    <a:pt x="7780" y="811527"/>
                  </a:lnTo>
                  <a:lnTo>
                    <a:pt x="29447" y="853433"/>
                  </a:lnTo>
                  <a:lnTo>
                    <a:pt x="62490" y="886476"/>
                  </a:lnTo>
                  <a:lnTo>
                    <a:pt x="104396" y="908143"/>
                  </a:lnTo>
                  <a:lnTo>
                    <a:pt x="152653" y="915924"/>
                  </a:lnTo>
                  <a:lnTo>
                    <a:pt x="5780278" y="915924"/>
                  </a:lnTo>
                  <a:lnTo>
                    <a:pt x="5828535" y="908143"/>
                  </a:lnTo>
                  <a:lnTo>
                    <a:pt x="5870441" y="886476"/>
                  </a:lnTo>
                  <a:lnTo>
                    <a:pt x="5903484" y="853433"/>
                  </a:lnTo>
                  <a:lnTo>
                    <a:pt x="5925151" y="811527"/>
                  </a:lnTo>
                  <a:lnTo>
                    <a:pt x="5932932" y="763270"/>
                  </a:lnTo>
                  <a:lnTo>
                    <a:pt x="5932932" y="152653"/>
                  </a:lnTo>
                  <a:lnTo>
                    <a:pt x="5925151" y="104396"/>
                  </a:lnTo>
                  <a:lnTo>
                    <a:pt x="5903484" y="62490"/>
                  </a:lnTo>
                  <a:lnTo>
                    <a:pt x="5870441" y="29447"/>
                  </a:lnTo>
                  <a:lnTo>
                    <a:pt x="5828535" y="7780"/>
                  </a:lnTo>
                  <a:lnTo>
                    <a:pt x="5780278" y="0"/>
                  </a:lnTo>
                  <a:close/>
                </a:path>
              </a:pathLst>
            </a:custGeom>
            <a:solidFill>
              <a:srgbClr val="54C3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46064" y="1598675"/>
              <a:ext cx="5933440" cy="916305"/>
            </a:xfrm>
            <a:custGeom>
              <a:avLst/>
              <a:gdLst/>
              <a:ahLst/>
              <a:cxnLst/>
              <a:rect l="l" t="t" r="r" b="b"/>
              <a:pathLst>
                <a:path w="5933440" h="916305">
                  <a:moveTo>
                    <a:pt x="0" y="152653"/>
                  </a:moveTo>
                  <a:lnTo>
                    <a:pt x="7780" y="104396"/>
                  </a:lnTo>
                  <a:lnTo>
                    <a:pt x="29447" y="62490"/>
                  </a:lnTo>
                  <a:lnTo>
                    <a:pt x="62490" y="29447"/>
                  </a:lnTo>
                  <a:lnTo>
                    <a:pt x="104396" y="7780"/>
                  </a:lnTo>
                  <a:lnTo>
                    <a:pt x="152653" y="0"/>
                  </a:lnTo>
                  <a:lnTo>
                    <a:pt x="5780278" y="0"/>
                  </a:lnTo>
                  <a:lnTo>
                    <a:pt x="5828535" y="7780"/>
                  </a:lnTo>
                  <a:lnTo>
                    <a:pt x="5870441" y="29447"/>
                  </a:lnTo>
                  <a:lnTo>
                    <a:pt x="5903484" y="62490"/>
                  </a:lnTo>
                  <a:lnTo>
                    <a:pt x="5925151" y="104396"/>
                  </a:lnTo>
                  <a:lnTo>
                    <a:pt x="5932932" y="152653"/>
                  </a:lnTo>
                  <a:lnTo>
                    <a:pt x="5932932" y="763270"/>
                  </a:lnTo>
                  <a:lnTo>
                    <a:pt x="5925151" y="811527"/>
                  </a:lnTo>
                  <a:lnTo>
                    <a:pt x="5903484" y="853433"/>
                  </a:lnTo>
                  <a:lnTo>
                    <a:pt x="5870441" y="886476"/>
                  </a:lnTo>
                  <a:lnTo>
                    <a:pt x="5828535" y="908143"/>
                  </a:lnTo>
                  <a:lnTo>
                    <a:pt x="5780278" y="915924"/>
                  </a:lnTo>
                  <a:lnTo>
                    <a:pt x="152653" y="915924"/>
                  </a:lnTo>
                  <a:lnTo>
                    <a:pt x="104396" y="908143"/>
                  </a:lnTo>
                  <a:lnTo>
                    <a:pt x="62490" y="886476"/>
                  </a:lnTo>
                  <a:lnTo>
                    <a:pt x="29447" y="853433"/>
                  </a:lnTo>
                  <a:lnTo>
                    <a:pt x="7780" y="811527"/>
                  </a:lnTo>
                  <a:lnTo>
                    <a:pt x="0" y="763270"/>
                  </a:lnTo>
                  <a:lnTo>
                    <a:pt x="0" y="15265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966586" y="1673479"/>
            <a:ext cx="5380355" cy="6985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530"/>
              </a:lnSpc>
              <a:spcBef>
                <a:spcPts val="380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3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relation</a:t>
            </a:r>
            <a:r>
              <a:rPr sz="23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cell</a:t>
            </a:r>
            <a:r>
              <a:rPr sz="23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contains</a:t>
            </a:r>
            <a:r>
              <a:rPr sz="2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exactly</a:t>
            </a:r>
            <a:r>
              <a:rPr sz="23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atomic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(single)</a:t>
            </a:r>
            <a:r>
              <a:rPr sz="23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839714" y="2573782"/>
            <a:ext cx="5946140" cy="929005"/>
            <a:chOff x="5839714" y="2573782"/>
            <a:chExt cx="5946140" cy="929005"/>
          </a:xfrm>
        </p:grpSpPr>
        <p:sp>
          <p:nvSpPr>
            <p:cNvPr id="12" name="object 12"/>
            <p:cNvSpPr/>
            <p:nvPr/>
          </p:nvSpPr>
          <p:spPr>
            <a:xfrm>
              <a:off x="5846064" y="2580132"/>
              <a:ext cx="5933440" cy="916305"/>
            </a:xfrm>
            <a:custGeom>
              <a:avLst/>
              <a:gdLst/>
              <a:ahLst/>
              <a:cxnLst/>
              <a:rect l="l" t="t" r="r" b="b"/>
              <a:pathLst>
                <a:path w="5933440" h="916304">
                  <a:moveTo>
                    <a:pt x="5780278" y="0"/>
                  </a:moveTo>
                  <a:lnTo>
                    <a:pt x="152653" y="0"/>
                  </a:lnTo>
                  <a:lnTo>
                    <a:pt x="104396" y="7780"/>
                  </a:lnTo>
                  <a:lnTo>
                    <a:pt x="62490" y="29447"/>
                  </a:lnTo>
                  <a:lnTo>
                    <a:pt x="29447" y="62490"/>
                  </a:lnTo>
                  <a:lnTo>
                    <a:pt x="7780" y="104396"/>
                  </a:lnTo>
                  <a:lnTo>
                    <a:pt x="0" y="152653"/>
                  </a:lnTo>
                  <a:lnTo>
                    <a:pt x="0" y="763269"/>
                  </a:lnTo>
                  <a:lnTo>
                    <a:pt x="7780" y="811527"/>
                  </a:lnTo>
                  <a:lnTo>
                    <a:pt x="29447" y="853433"/>
                  </a:lnTo>
                  <a:lnTo>
                    <a:pt x="62490" y="886476"/>
                  </a:lnTo>
                  <a:lnTo>
                    <a:pt x="104396" y="908143"/>
                  </a:lnTo>
                  <a:lnTo>
                    <a:pt x="152653" y="915923"/>
                  </a:lnTo>
                  <a:lnTo>
                    <a:pt x="5780278" y="915923"/>
                  </a:lnTo>
                  <a:lnTo>
                    <a:pt x="5828535" y="908143"/>
                  </a:lnTo>
                  <a:lnTo>
                    <a:pt x="5870441" y="886476"/>
                  </a:lnTo>
                  <a:lnTo>
                    <a:pt x="5903484" y="853433"/>
                  </a:lnTo>
                  <a:lnTo>
                    <a:pt x="5925151" y="811527"/>
                  </a:lnTo>
                  <a:lnTo>
                    <a:pt x="5932932" y="763269"/>
                  </a:lnTo>
                  <a:lnTo>
                    <a:pt x="5932932" y="152653"/>
                  </a:lnTo>
                  <a:lnTo>
                    <a:pt x="5925151" y="104396"/>
                  </a:lnTo>
                  <a:lnTo>
                    <a:pt x="5903484" y="62490"/>
                  </a:lnTo>
                  <a:lnTo>
                    <a:pt x="5870441" y="29447"/>
                  </a:lnTo>
                  <a:lnTo>
                    <a:pt x="5828535" y="7780"/>
                  </a:lnTo>
                  <a:lnTo>
                    <a:pt x="5780278" y="0"/>
                  </a:lnTo>
                  <a:close/>
                </a:path>
              </a:pathLst>
            </a:custGeom>
            <a:solidFill>
              <a:srgbClr val="50C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46064" y="2580132"/>
              <a:ext cx="5933440" cy="916305"/>
            </a:xfrm>
            <a:custGeom>
              <a:avLst/>
              <a:gdLst/>
              <a:ahLst/>
              <a:cxnLst/>
              <a:rect l="l" t="t" r="r" b="b"/>
              <a:pathLst>
                <a:path w="5933440" h="916304">
                  <a:moveTo>
                    <a:pt x="0" y="152653"/>
                  </a:moveTo>
                  <a:lnTo>
                    <a:pt x="7780" y="104396"/>
                  </a:lnTo>
                  <a:lnTo>
                    <a:pt x="29447" y="62490"/>
                  </a:lnTo>
                  <a:lnTo>
                    <a:pt x="62490" y="29447"/>
                  </a:lnTo>
                  <a:lnTo>
                    <a:pt x="104396" y="7780"/>
                  </a:lnTo>
                  <a:lnTo>
                    <a:pt x="152653" y="0"/>
                  </a:lnTo>
                  <a:lnTo>
                    <a:pt x="5780278" y="0"/>
                  </a:lnTo>
                  <a:lnTo>
                    <a:pt x="5828535" y="7780"/>
                  </a:lnTo>
                  <a:lnTo>
                    <a:pt x="5870441" y="29447"/>
                  </a:lnTo>
                  <a:lnTo>
                    <a:pt x="5903484" y="62490"/>
                  </a:lnTo>
                  <a:lnTo>
                    <a:pt x="5925151" y="104396"/>
                  </a:lnTo>
                  <a:lnTo>
                    <a:pt x="5932932" y="152653"/>
                  </a:lnTo>
                  <a:lnTo>
                    <a:pt x="5932932" y="763269"/>
                  </a:lnTo>
                  <a:lnTo>
                    <a:pt x="5925151" y="811527"/>
                  </a:lnTo>
                  <a:lnTo>
                    <a:pt x="5903484" y="853433"/>
                  </a:lnTo>
                  <a:lnTo>
                    <a:pt x="5870441" y="886476"/>
                  </a:lnTo>
                  <a:lnTo>
                    <a:pt x="5828535" y="908143"/>
                  </a:lnTo>
                  <a:lnTo>
                    <a:pt x="5780278" y="915923"/>
                  </a:lnTo>
                  <a:lnTo>
                    <a:pt x="152653" y="915923"/>
                  </a:lnTo>
                  <a:lnTo>
                    <a:pt x="104396" y="908143"/>
                  </a:lnTo>
                  <a:lnTo>
                    <a:pt x="62490" y="886476"/>
                  </a:lnTo>
                  <a:lnTo>
                    <a:pt x="29447" y="853433"/>
                  </a:lnTo>
                  <a:lnTo>
                    <a:pt x="7780" y="811527"/>
                  </a:lnTo>
                  <a:lnTo>
                    <a:pt x="0" y="763269"/>
                  </a:lnTo>
                  <a:lnTo>
                    <a:pt x="0" y="15265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966586" y="2815208"/>
            <a:ext cx="463423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3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attribute</a:t>
            </a:r>
            <a:r>
              <a:rPr sz="2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contains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3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distinct</a:t>
            </a:r>
            <a:r>
              <a:rPr sz="23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39714" y="3555238"/>
            <a:ext cx="5946140" cy="927100"/>
            <a:chOff x="5839714" y="3555238"/>
            <a:chExt cx="5946140" cy="927100"/>
          </a:xfrm>
        </p:grpSpPr>
        <p:sp>
          <p:nvSpPr>
            <p:cNvPr id="16" name="object 16"/>
            <p:cNvSpPr/>
            <p:nvPr/>
          </p:nvSpPr>
          <p:spPr>
            <a:xfrm>
              <a:off x="5846064" y="3561588"/>
              <a:ext cx="5933440" cy="914400"/>
            </a:xfrm>
            <a:custGeom>
              <a:avLst/>
              <a:gdLst/>
              <a:ahLst/>
              <a:cxnLst/>
              <a:rect l="l" t="t" r="r" b="b"/>
              <a:pathLst>
                <a:path w="5933440" h="914400">
                  <a:moveTo>
                    <a:pt x="5780532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5780532" y="914400"/>
                  </a:lnTo>
                  <a:lnTo>
                    <a:pt x="5828714" y="906633"/>
                  </a:lnTo>
                  <a:lnTo>
                    <a:pt x="5870551" y="885005"/>
                  </a:lnTo>
                  <a:lnTo>
                    <a:pt x="5903537" y="852019"/>
                  </a:lnTo>
                  <a:lnTo>
                    <a:pt x="5925165" y="810182"/>
                  </a:lnTo>
                  <a:lnTo>
                    <a:pt x="5932932" y="762000"/>
                  </a:lnTo>
                  <a:lnTo>
                    <a:pt x="5932932" y="152400"/>
                  </a:lnTo>
                  <a:lnTo>
                    <a:pt x="5925165" y="104217"/>
                  </a:lnTo>
                  <a:lnTo>
                    <a:pt x="5903537" y="62380"/>
                  </a:lnTo>
                  <a:lnTo>
                    <a:pt x="5870551" y="29394"/>
                  </a:lnTo>
                  <a:lnTo>
                    <a:pt x="5828714" y="7766"/>
                  </a:lnTo>
                  <a:lnTo>
                    <a:pt x="5780532" y="0"/>
                  </a:lnTo>
                  <a:close/>
                </a:path>
              </a:pathLst>
            </a:custGeom>
            <a:solidFill>
              <a:srgbClr val="4AC1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46064" y="3561588"/>
              <a:ext cx="5933440" cy="914400"/>
            </a:xfrm>
            <a:custGeom>
              <a:avLst/>
              <a:gdLst/>
              <a:ahLst/>
              <a:cxnLst/>
              <a:rect l="l" t="t" r="r" b="b"/>
              <a:pathLst>
                <a:path w="593344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5780532" y="0"/>
                  </a:lnTo>
                  <a:lnTo>
                    <a:pt x="5828714" y="7766"/>
                  </a:lnTo>
                  <a:lnTo>
                    <a:pt x="5870551" y="29394"/>
                  </a:lnTo>
                  <a:lnTo>
                    <a:pt x="5903537" y="62380"/>
                  </a:lnTo>
                  <a:lnTo>
                    <a:pt x="5925165" y="104217"/>
                  </a:lnTo>
                  <a:lnTo>
                    <a:pt x="5932932" y="152400"/>
                  </a:lnTo>
                  <a:lnTo>
                    <a:pt x="5932932" y="762000"/>
                  </a:lnTo>
                  <a:lnTo>
                    <a:pt x="5925165" y="810182"/>
                  </a:lnTo>
                  <a:lnTo>
                    <a:pt x="5903537" y="852019"/>
                  </a:lnTo>
                  <a:lnTo>
                    <a:pt x="5870551" y="885005"/>
                  </a:lnTo>
                  <a:lnTo>
                    <a:pt x="5828714" y="906633"/>
                  </a:lnTo>
                  <a:lnTo>
                    <a:pt x="5780532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966586" y="3796665"/>
            <a:ext cx="435610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Attribute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domain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significance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39714" y="4536694"/>
            <a:ext cx="5946140" cy="927100"/>
            <a:chOff x="5839714" y="4536694"/>
            <a:chExt cx="5946140" cy="927100"/>
          </a:xfrm>
        </p:grpSpPr>
        <p:sp>
          <p:nvSpPr>
            <p:cNvPr id="20" name="object 20"/>
            <p:cNvSpPr/>
            <p:nvPr/>
          </p:nvSpPr>
          <p:spPr>
            <a:xfrm>
              <a:off x="5846064" y="4543044"/>
              <a:ext cx="5933440" cy="914400"/>
            </a:xfrm>
            <a:custGeom>
              <a:avLst/>
              <a:gdLst/>
              <a:ahLst/>
              <a:cxnLst/>
              <a:rect l="l" t="t" r="r" b="b"/>
              <a:pathLst>
                <a:path w="5933440" h="914400">
                  <a:moveTo>
                    <a:pt x="5780532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399"/>
                  </a:lnTo>
                  <a:lnTo>
                    <a:pt x="0" y="761999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399"/>
                  </a:lnTo>
                  <a:lnTo>
                    <a:pt x="5780532" y="914399"/>
                  </a:lnTo>
                  <a:lnTo>
                    <a:pt x="5828714" y="906633"/>
                  </a:lnTo>
                  <a:lnTo>
                    <a:pt x="5870551" y="885005"/>
                  </a:lnTo>
                  <a:lnTo>
                    <a:pt x="5903537" y="852019"/>
                  </a:lnTo>
                  <a:lnTo>
                    <a:pt x="5925165" y="810182"/>
                  </a:lnTo>
                  <a:lnTo>
                    <a:pt x="5932932" y="761999"/>
                  </a:lnTo>
                  <a:lnTo>
                    <a:pt x="5932932" y="152399"/>
                  </a:lnTo>
                  <a:lnTo>
                    <a:pt x="5925165" y="104217"/>
                  </a:lnTo>
                  <a:lnTo>
                    <a:pt x="5903537" y="62380"/>
                  </a:lnTo>
                  <a:lnTo>
                    <a:pt x="5870551" y="29394"/>
                  </a:lnTo>
                  <a:lnTo>
                    <a:pt x="5828714" y="7766"/>
                  </a:lnTo>
                  <a:lnTo>
                    <a:pt x="5780532" y="0"/>
                  </a:lnTo>
                  <a:close/>
                </a:path>
              </a:pathLst>
            </a:custGeom>
            <a:solidFill>
              <a:srgbClr val="49B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46064" y="4543044"/>
              <a:ext cx="5933440" cy="914400"/>
            </a:xfrm>
            <a:custGeom>
              <a:avLst/>
              <a:gdLst/>
              <a:ahLst/>
              <a:cxnLst/>
              <a:rect l="l" t="t" r="r" b="b"/>
              <a:pathLst>
                <a:path w="5933440" h="914400">
                  <a:moveTo>
                    <a:pt x="0" y="152399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5780532" y="0"/>
                  </a:lnTo>
                  <a:lnTo>
                    <a:pt x="5828714" y="7766"/>
                  </a:lnTo>
                  <a:lnTo>
                    <a:pt x="5870551" y="29394"/>
                  </a:lnTo>
                  <a:lnTo>
                    <a:pt x="5903537" y="62380"/>
                  </a:lnTo>
                  <a:lnTo>
                    <a:pt x="5925165" y="104217"/>
                  </a:lnTo>
                  <a:lnTo>
                    <a:pt x="5932932" y="152399"/>
                  </a:lnTo>
                  <a:lnTo>
                    <a:pt x="5932932" y="761999"/>
                  </a:lnTo>
                  <a:lnTo>
                    <a:pt x="5925165" y="810182"/>
                  </a:lnTo>
                  <a:lnTo>
                    <a:pt x="5903537" y="852019"/>
                  </a:lnTo>
                  <a:lnTo>
                    <a:pt x="5870551" y="885005"/>
                  </a:lnTo>
                  <a:lnTo>
                    <a:pt x="5828714" y="906633"/>
                  </a:lnTo>
                  <a:lnTo>
                    <a:pt x="5780532" y="914399"/>
                  </a:lnTo>
                  <a:lnTo>
                    <a:pt x="152400" y="914399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1999"/>
                  </a:lnTo>
                  <a:lnTo>
                    <a:pt x="0" y="15239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839714" y="5518150"/>
            <a:ext cx="5946140" cy="927100"/>
            <a:chOff x="5839714" y="5518150"/>
            <a:chExt cx="5946140" cy="927100"/>
          </a:xfrm>
        </p:grpSpPr>
        <p:sp>
          <p:nvSpPr>
            <p:cNvPr id="23" name="object 23"/>
            <p:cNvSpPr/>
            <p:nvPr/>
          </p:nvSpPr>
          <p:spPr>
            <a:xfrm>
              <a:off x="5846064" y="5524500"/>
              <a:ext cx="5933440" cy="914400"/>
            </a:xfrm>
            <a:custGeom>
              <a:avLst/>
              <a:gdLst/>
              <a:ahLst/>
              <a:cxnLst/>
              <a:rect l="l" t="t" r="r" b="b"/>
              <a:pathLst>
                <a:path w="5933440" h="914400">
                  <a:moveTo>
                    <a:pt x="5780532" y="0"/>
                  </a:moveTo>
                  <a:lnTo>
                    <a:pt x="152400" y="0"/>
                  </a:lnTo>
                  <a:lnTo>
                    <a:pt x="104217" y="7769"/>
                  </a:lnTo>
                  <a:lnTo>
                    <a:pt x="62380" y="29405"/>
                  </a:lnTo>
                  <a:lnTo>
                    <a:pt x="29394" y="62396"/>
                  </a:lnTo>
                  <a:lnTo>
                    <a:pt x="7766" y="104231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68"/>
                  </a:lnTo>
                  <a:lnTo>
                    <a:pt x="29394" y="852003"/>
                  </a:lnTo>
                  <a:lnTo>
                    <a:pt x="62380" y="884994"/>
                  </a:lnTo>
                  <a:lnTo>
                    <a:pt x="104217" y="906630"/>
                  </a:lnTo>
                  <a:lnTo>
                    <a:pt x="152400" y="914400"/>
                  </a:lnTo>
                  <a:lnTo>
                    <a:pt x="5780532" y="914400"/>
                  </a:lnTo>
                  <a:lnTo>
                    <a:pt x="5828714" y="906630"/>
                  </a:lnTo>
                  <a:lnTo>
                    <a:pt x="5870551" y="884994"/>
                  </a:lnTo>
                  <a:lnTo>
                    <a:pt x="5903537" y="852003"/>
                  </a:lnTo>
                  <a:lnTo>
                    <a:pt x="5925165" y="810168"/>
                  </a:lnTo>
                  <a:lnTo>
                    <a:pt x="5932932" y="762000"/>
                  </a:lnTo>
                  <a:lnTo>
                    <a:pt x="5932932" y="152400"/>
                  </a:lnTo>
                  <a:lnTo>
                    <a:pt x="5925165" y="104231"/>
                  </a:lnTo>
                  <a:lnTo>
                    <a:pt x="5903537" y="62396"/>
                  </a:lnTo>
                  <a:lnTo>
                    <a:pt x="5870551" y="29405"/>
                  </a:lnTo>
                  <a:lnTo>
                    <a:pt x="5828714" y="7769"/>
                  </a:lnTo>
                  <a:lnTo>
                    <a:pt x="5780532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46064" y="5524500"/>
              <a:ext cx="5933440" cy="914400"/>
            </a:xfrm>
            <a:custGeom>
              <a:avLst/>
              <a:gdLst/>
              <a:ahLst/>
              <a:cxnLst/>
              <a:rect l="l" t="t" r="r" b="b"/>
              <a:pathLst>
                <a:path w="5933440" h="914400">
                  <a:moveTo>
                    <a:pt x="0" y="152400"/>
                  </a:moveTo>
                  <a:lnTo>
                    <a:pt x="7766" y="104231"/>
                  </a:lnTo>
                  <a:lnTo>
                    <a:pt x="29394" y="62396"/>
                  </a:lnTo>
                  <a:lnTo>
                    <a:pt x="62380" y="29405"/>
                  </a:lnTo>
                  <a:lnTo>
                    <a:pt x="104217" y="7769"/>
                  </a:lnTo>
                  <a:lnTo>
                    <a:pt x="152400" y="0"/>
                  </a:lnTo>
                  <a:lnTo>
                    <a:pt x="5780532" y="0"/>
                  </a:lnTo>
                  <a:lnTo>
                    <a:pt x="5828714" y="7769"/>
                  </a:lnTo>
                  <a:lnTo>
                    <a:pt x="5870551" y="29405"/>
                  </a:lnTo>
                  <a:lnTo>
                    <a:pt x="5903537" y="62396"/>
                  </a:lnTo>
                  <a:lnTo>
                    <a:pt x="5925165" y="104231"/>
                  </a:lnTo>
                  <a:lnTo>
                    <a:pt x="5932932" y="152400"/>
                  </a:lnTo>
                  <a:lnTo>
                    <a:pt x="5932932" y="762000"/>
                  </a:lnTo>
                  <a:lnTo>
                    <a:pt x="5925165" y="810168"/>
                  </a:lnTo>
                  <a:lnTo>
                    <a:pt x="5903537" y="852003"/>
                  </a:lnTo>
                  <a:lnTo>
                    <a:pt x="5870551" y="884994"/>
                  </a:lnTo>
                  <a:lnTo>
                    <a:pt x="5828714" y="906630"/>
                  </a:lnTo>
                  <a:lnTo>
                    <a:pt x="5780532" y="914400"/>
                  </a:lnTo>
                  <a:lnTo>
                    <a:pt x="152400" y="914400"/>
                  </a:lnTo>
                  <a:lnTo>
                    <a:pt x="104217" y="906630"/>
                  </a:lnTo>
                  <a:lnTo>
                    <a:pt x="62380" y="884994"/>
                  </a:lnTo>
                  <a:lnTo>
                    <a:pt x="29394" y="852003"/>
                  </a:lnTo>
                  <a:lnTo>
                    <a:pt x="7766" y="810168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966586" y="4778121"/>
            <a:ext cx="5320665" cy="135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tuple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duplicate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60"/>
              </a:spcBef>
            </a:pP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tuple</a:t>
            </a:r>
            <a:r>
              <a:rPr sz="2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sequence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216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Relational schema:</vt:lpstr>
      <vt:lpstr>STUDENT Relation</vt:lpstr>
      <vt:lpstr>Name of the relation is distinct from all other relations.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2</cp:revision>
  <dcterms:created xsi:type="dcterms:W3CDTF">2025-06-30T07:22:09Z</dcterms:created>
  <dcterms:modified xsi:type="dcterms:W3CDTF">2025-07-04T05:52:42Z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