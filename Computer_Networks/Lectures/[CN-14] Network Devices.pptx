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365950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247630" cy="403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6920" y="1656079"/>
            <a:ext cx="6598284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254" dirty="0">
                <a:latin typeface="Trebuchet MS"/>
                <a:cs typeface="Trebuchet MS"/>
              </a:rPr>
              <a:t>Computer</a:t>
            </a:r>
            <a:r>
              <a:rPr sz="6000" b="1" spc="-650" dirty="0">
                <a:latin typeface="Trebuchet MS"/>
                <a:cs typeface="Trebuchet MS"/>
              </a:rPr>
              <a:t> </a:t>
            </a:r>
            <a:r>
              <a:rPr sz="6000" b="1" spc="-16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marL="1905" algn="ctr">
              <a:lnSpc>
                <a:spcPts val="6840"/>
              </a:lnSpc>
            </a:pPr>
            <a:r>
              <a:rPr sz="6000" spc="-300" dirty="0"/>
              <a:t>[</a:t>
            </a:r>
            <a:r>
              <a:rPr sz="5300" i="1" spc="-300" dirty="0">
                <a:latin typeface="Trebuchet MS"/>
                <a:cs typeface="Trebuchet MS"/>
              </a:rPr>
              <a:t>Network</a:t>
            </a:r>
            <a:r>
              <a:rPr sz="5300" i="1" spc="-560" dirty="0">
                <a:latin typeface="Trebuchet MS"/>
                <a:cs typeface="Trebuchet MS"/>
              </a:rPr>
              <a:t> </a:t>
            </a:r>
            <a:r>
              <a:rPr sz="5300" i="1" spc="-10" dirty="0">
                <a:latin typeface="Trebuchet MS"/>
                <a:cs typeface="Trebuchet MS"/>
              </a:rPr>
              <a:t>Devices</a:t>
            </a:r>
            <a:r>
              <a:rPr sz="6000" spc="-1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8785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Network</a:t>
            </a:r>
            <a:r>
              <a:rPr spc="-445" dirty="0"/>
              <a:t> </a:t>
            </a:r>
            <a:r>
              <a:rPr spc="-65" dirty="0"/>
              <a:t>Devices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6542"/>
            <a:ext cx="10359390" cy="36569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715" indent="-229235" algn="just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Network</a:t>
            </a:r>
            <a:r>
              <a:rPr sz="2600" spc="6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6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are</a:t>
            </a:r>
            <a:r>
              <a:rPr sz="2600" spc="6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physical</a:t>
            </a:r>
            <a:r>
              <a:rPr sz="2600" spc="6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6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that</a:t>
            </a:r>
            <a:r>
              <a:rPr sz="2600" spc="6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allow</a:t>
            </a:r>
            <a:r>
              <a:rPr sz="2600" spc="6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hardware</a:t>
            </a:r>
            <a:r>
              <a:rPr sz="2600" spc="6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</a:t>
            </a:r>
            <a:r>
              <a:rPr sz="2600" spc="-70" dirty="0">
                <a:latin typeface="Trebuchet MS"/>
                <a:cs typeface="Trebuchet MS"/>
              </a:rPr>
              <a:t>  </a:t>
            </a:r>
            <a:r>
              <a:rPr sz="2600" spc="-50" dirty="0">
                <a:latin typeface="Trebuchet MS"/>
                <a:cs typeface="Trebuchet MS"/>
              </a:rPr>
              <a:t>a </a:t>
            </a:r>
            <a:r>
              <a:rPr sz="2600" spc="-35" dirty="0">
                <a:latin typeface="Trebuchet MS"/>
                <a:cs typeface="Trebuchet MS"/>
              </a:rPr>
              <a:t>computer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to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communicate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interact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with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other.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ts val="281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Network</a:t>
            </a:r>
            <a:r>
              <a:rPr sz="2600" spc="5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5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like</a:t>
            </a:r>
            <a:r>
              <a:rPr sz="2600" spc="53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hubs,</a:t>
            </a:r>
            <a:r>
              <a:rPr sz="2600" spc="5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repeaters,</a:t>
            </a:r>
            <a:r>
              <a:rPr sz="2600" spc="5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bridges,</a:t>
            </a:r>
            <a:r>
              <a:rPr sz="2600" spc="5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switches,</a:t>
            </a:r>
            <a:r>
              <a:rPr sz="2600" spc="53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routers, </a:t>
            </a:r>
            <a:r>
              <a:rPr sz="2600" spc="-75" dirty="0">
                <a:latin typeface="Trebuchet MS"/>
                <a:cs typeface="Trebuchet MS"/>
              </a:rPr>
              <a:t>gateways,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brouter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help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manage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direct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flow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network.</a:t>
            </a:r>
            <a:endParaRPr sz="2600">
              <a:latin typeface="Trebuchet MS"/>
              <a:cs typeface="Trebuchet MS"/>
            </a:endParaRPr>
          </a:p>
          <a:p>
            <a:pPr marL="241300" marR="6350" indent="-229235" algn="just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45" dirty="0">
                <a:latin typeface="Trebuchet MS"/>
                <a:cs typeface="Trebuchet MS"/>
              </a:rPr>
              <a:t>They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ensure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efficient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communication</a:t>
            </a:r>
            <a:r>
              <a:rPr sz="2600" spc="-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between </a:t>
            </a:r>
            <a:r>
              <a:rPr sz="2600" dirty="0">
                <a:latin typeface="Trebuchet MS"/>
                <a:cs typeface="Trebuchet MS"/>
              </a:rPr>
              <a:t>connected</a:t>
            </a:r>
            <a:r>
              <a:rPr sz="2600" spc="-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devices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by </a:t>
            </a:r>
            <a:r>
              <a:rPr sz="2600" dirty="0">
                <a:latin typeface="Trebuchet MS"/>
                <a:cs typeface="Trebuchet MS"/>
              </a:rPr>
              <a:t>controlling</a:t>
            </a:r>
            <a:r>
              <a:rPr sz="2600" spc="20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25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transfer,</a:t>
            </a:r>
            <a:r>
              <a:rPr sz="2600" spc="25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boosting</a:t>
            </a:r>
            <a:r>
              <a:rPr sz="2600" spc="30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signals,</a:t>
            </a:r>
            <a:r>
              <a:rPr sz="2600" spc="25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25" dirty="0">
                <a:latin typeface="Trebuchet MS"/>
                <a:cs typeface="Trebuchet MS"/>
              </a:rPr>
              <a:t>  </a:t>
            </a:r>
            <a:r>
              <a:rPr sz="2600" dirty="0">
                <a:latin typeface="Trebuchet MS"/>
                <a:cs typeface="Trebuchet MS"/>
              </a:rPr>
              <a:t>linking</a:t>
            </a:r>
            <a:r>
              <a:rPr sz="2600" spc="25" dirty="0">
                <a:latin typeface="Trebuchet MS"/>
                <a:cs typeface="Trebuchet MS"/>
              </a:rPr>
              <a:t>  </a:t>
            </a:r>
            <a:r>
              <a:rPr sz="2600" spc="-70" dirty="0">
                <a:latin typeface="Trebuchet MS"/>
                <a:cs typeface="Trebuchet MS"/>
              </a:rPr>
              <a:t>different </a:t>
            </a:r>
            <a:r>
              <a:rPr sz="2600" spc="-10" dirty="0">
                <a:latin typeface="Trebuchet MS"/>
                <a:cs typeface="Trebuchet MS"/>
              </a:rPr>
              <a:t>networks.</a:t>
            </a:r>
            <a:endParaRPr sz="2600">
              <a:latin typeface="Trebuchet MS"/>
              <a:cs typeface="Trebuchet MS"/>
            </a:endParaRPr>
          </a:p>
          <a:p>
            <a:pPr marL="241300" marR="6350" indent="-229235" algn="just">
              <a:lnSpc>
                <a:spcPts val="281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2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device</a:t>
            </a:r>
            <a:r>
              <a:rPr sz="2600" spc="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serves</a:t>
            </a:r>
            <a:r>
              <a:rPr sz="2600" spc="2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specific</a:t>
            </a:r>
            <a:r>
              <a:rPr sz="2600" spc="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role,</a:t>
            </a:r>
            <a:r>
              <a:rPr sz="2600" spc="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from</a:t>
            </a:r>
            <a:r>
              <a:rPr sz="2600" spc="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simple</a:t>
            </a:r>
            <a:r>
              <a:rPr sz="2600" spc="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23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forwarding</a:t>
            </a:r>
            <a:r>
              <a:rPr sz="2600" spc="23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 </a:t>
            </a:r>
            <a:r>
              <a:rPr sz="2600" spc="-35" dirty="0">
                <a:latin typeface="Trebuchet MS"/>
                <a:cs typeface="Trebuchet MS"/>
              </a:rPr>
              <a:t>complex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routing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between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networks.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8079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Common</a:t>
            </a:r>
            <a:r>
              <a:rPr spc="-475" dirty="0"/>
              <a:t> </a:t>
            </a:r>
            <a:r>
              <a:rPr spc="-215" dirty="0"/>
              <a:t>Types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45" dirty="0"/>
              <a:t> </a:t>
            </a:r>
            <a:r>
              <a:rPr spc="-210" dirty="0"/>
              <a:t>Network</a:t>
            </a:r>
            <a:r>
              <a:rPr spc="-440" dirty="0"/>
              <a:t> </a:t>
            </a:r>
            <a:r>
              <a:rPr spc="-50" dirty="0"/>
              <a:t>Devices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072" y="1867750"/>
            <a:ext cx="9515856" cy="38910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77608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Functions</a:t>
            </a:r>
            <a:r>
              <a:rPr spc="-475" dirty="0"/>
              <a:t> </a:t>
            </a:r>
            <a:r>
              <a:rPr spc="-265" dirty="0"/>
              <a:t>of</a:t>
            </a:r>
            <a:r>
              <a:rPr spc="-434" dirty="0"/>
              <a:t> </a:t>
            </a:r>
            <a:r>
              <a:rPr spc="-215" dirty="0"/>
              <a:t>Network</a:t>
            </a:r>
            <a:r>
              <a:rPr spc="-434" dirty="0"/>
              <a:t> </a:t>
            </a:r>
            <a:r>
              <a:rPr spc="-40" dirty="0"/>
              <a:t>Devices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456052"/>
            <a:ext cx="10515600" cy="565150"/>
          </a:xfrm>
          <a:custGeom>
            <a:avLst/>
            <a:gdLst/>
            <a:ahLst/>
            <a:cxnLst/>
            <a:rect l="l" t="t" r="r" b="b"/>
            <a:pathLst>
              <a:path w="10515600" h="565150">
                <a:moveTo>
                  <a:pt x="10421366" y="0"/>
                </a:moveTo>
                <a:lnTo>
                  <a:pt x="94183" y="0"/>
                </a:lnTo>
                <a:lnTo>
                  <a:pt x="57521" y="7399"/>
                </a:lnTo>
                <a:lnTo>
                  <a:pt x="27584" y="27574"/>
                </a:lnTo>
                <a:lnTo>
                  <a:pt x="7400" y="57489"/>
                </a:lnTo>
                <a:lnTo>
                  <a:pt x="0" y="94107"/>
                </a:lnTo>
                <a:lnTo>
                  <a:pt x="0" y="470916"/>
                </a:lnTo>
                <a:lnTo>
                  <a:pt x="7400" y="507607"/>
                </a:lnTo>
                <a:lnTo>
                  <a:pt x="27584" y="537559"/>
                </a:lnTo>
                <a:lnTo>
                  <a:pt x="57521" y="557748"/>
                </a:lnTo>
                <a:lnTo>
                  <a:pt x="94183" y="565150"/>
                </a:lnTo>
                <a:lnTo>
                  <a:pt x="10421366" y="565150"/>
                </a:lnTo>
                <a:lnTo>
                  <a:pt x="10458057" y="557748"/>
                </a:lnTo>
                <a:lnTo>
                  <a:pt x="10488009" y="537559"/>
                </a:lnTo>
                <a:lnTo>
                  <a:pt x="10508198" y="507607"/>
                </a:lnTo>
                <a:lnTo>
                  <a:pt x="10515600" y="470916"/>
                </a:lnTo>
                <a:lnTo>
                  <a:pt x="10515600" y="94107"/>
                </a:lnTo>
                <a:lnTo>
                  <a:pt x="10508198" y="57489"/>
                </a:lnTo>
                <a:lnTo>
                  <a:pt x="10488009" y="27574"/>
                </a:lnTo>
                <a:lnTo>
                  <a:pt x="10458057" y="7399"/>
                </a:lnTo>
                <a:lnTo>
                  <a:pt x="10421366" y="0"/>
                </a:lnTo>
                <a:close/>
              </a:path>
            </a:pathLst>
          </a:custGeom>
          <a:solidFill>
            <a:srgbClr val="186B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3087370"/>
            <a:ext cx="10515600" cy="565150"/>
          </a:xfrm>
          <a:custGeom>
            <a:avLst/>
            <a:gdLst/>
            <a:ahLst/>
            <a:cxnLst/>
            <a:rect l="l" t="t" r="r" b="b"/>
            <a:pathLst>
              <a:path w="10515600" h="565150">
                <a:moveTo>
                  <a:pt x="10421366" y="0"/>
                </a:moveTo>
                <a:lnTo>
                  <a:pt x="94183" y="0"/>
                </a:lnTo>
                <a:lnTo>
                  <a:pt x="57521" y="7401"/>
                </a:lnTo>
                <a:lnTo>
                  <a:pt x="27584" y="27590"/>
                </a:lnTo>
                <a:lnTo>
                  <a:pt x="7400" y="57542"/>
                </a:lnTo>
                <a:lnTo>
                  <a:pt x="0" y="94233"/>
                </a:lnTo>
                <a:lnTo>
                  <a:pt x="0" y="470915"/>
                </a:lnTo>
                <a:lnTo>
                  <a:pt x="7400" y="507607"/>
                </a:lnTo>
                <a:lnTo>
                  <a:pt x="27584" y="537559"/>
                </a:lnTo>
                <a:lnTo>
                  <a:pt x="57521" y="557748"/>
                </a:lnTo>
                <a:lnTo>
                  <a:pt x="94183" y="565149"/>
                </a:lnTo>
                <a:lnTo>
                  <a:pt x="10421366" y="565149"/>
                </a:lnTo>
                <a:lnTo>
                  <a:pt x="10458057" y="557748"/>
                </a:lnTo>
                <a:lnTo>
                  <a:pt x="10488009" y="537559"/>
                </a:lnTo>
                <a:lnTo>
                  <a:pt x="10508198" y="507607"/>
                </a:lnTo>
                <a:lnTo>
                  <a:pt x="10515600" y="470915"/>
                </a:lnTo>
                <a:lnTo>
                  <a:pt x="10515600" y="94233"/>
                </a:lnTo>
                <a:lnTo>
                  <a:pt x="10508198" y="57542"/>
                </a:lnTo>
                <a:lnTo>
                  <a:pt x="10488009" y="27590"/>
                </a:lnTo>
                <a:lnTo>
                  <a:pt x="10458057" y="7401"/>
                </a:lnTo>
                <a:lnTo>
                  <a:pt x="10421366" y="0"/>
                </a:lnTo>
                <a:close/>
              </a:path>
            </a:pathLst>
          </a:custGeom>
          <a:solidFill>
            <a:srgbClr val="188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3718686"/>
            <a:ext cx="10515600" cy="565150"/>
          </a:xfrm>
          <a:custGeom>
            <a:avLst/>
            <a:gdLst/>
            <a:ahLst/>
            <a:cxnLst/>
            <a:rect l="l" t="t" r="r" b="b"/>
            <a:pathLst>
              <a:path w="10515600" h="565150">
                <a:moveTo>
                  <a:pt x="10421366" y="0"/>
                </a:moveTo>
                <a:lnTo>
                  <a:pt x="94183" y="0"/>
                </a:lnTo>
                <a:lnTo>
                  <a:pt x="57521" y="7401"/>
                </a:lnTo>
                <a:lnTo>
                  <a:pt x="27584" y="27590"/>
                </a:lnTo>
                <a:lnTo>
                  <a:pt x="7400" y="57542"/>
                </a:lnTo>
                <a:lnTo>
                  <a:pt x="0" y="94233"/>
                </a:lnTo>
                <a:lnTo>
                  <a:pt x="0" y="470915"/>
                </a:lnTo>
                <a:lnTo>
                  <a:pt x="7400" y="507607"/>
                </a:lnTo>
                <a:lnTo>
                  <a:pt x="27584" y="537559"/>
                </a:lnTo>
                <a:lnTo>
                  <a:pt x="57521" y="557748"/>
                </a:lnTo>
                <a:lnTo>
                  <a:pt x="94183" y="565150"/>
                </a:lnTo>
                <a:lnTo>
                  <a:pt x="10421366" y="565150"/>
                </a:lnTo>
                <a:lnTo>
                  <a:pt x="10458057" y="557748"/>
                </a:lnTo>
                <a:lnTo>
                  <a:pt x="10488009" y="537559"/>
                </a:lnTo>
                <a:lnTo>
                  <a:pt x="10508198" y="507607"/>
                </a:lnTo>
                <a:lnTo>
                  <a:pt x="10515600" y="470915"/>
                </a:lnTo>
                <a:lnTo>
                  <a:pt x="10515600" y="94233"/>
                </a:lnTo>
                <a:lnTo>
                  <a:pt x="10508198" y="57542"/>
                </a:lnTo>
                <a:lnTo>
                  <a:pt x="10488009" y="27590"/>
                </a:lnTo>
                <a:lnTo>
                  <a:pt x="10458057" y="7401"/>
                </a:lnTo>
                <a:lnTo>
                  <a:pt x="10421366" y="0"/>
                </a:lnTo>
                <a:close/>
              </a:path>
            </a:pathLst>
          </a:custGeom>
          <a:solidFill>
            <a:srgbClr val="179D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4350130"/>
            <a:ext cx="10515600" cy="565150"/>
          </a:xfrm>
          <a:custGeom>
            <a:avLst/>
            <a:gdLst/>
            <a:ahLst/>
            <a:cxnLst/>
            <a:rect l="l" t="t" r="r" b="b"/>
            <a:pathLst>
              <a:path w="10515600" h="565150">
                <a:moveTo>
                  <a:pt x="10421366" y="0"/>
                </a:moveTo>
                <a:lnTo>
                  <a:pt x="94183" y="0"/>
                </a:lnTo>
                <a:lnTo>
                  <a:pt x="57521" y="7399"/>
                </a:lnTo>
                <a:lnTo>
                  <a:pt x="27584" y="27574"/>
                </a:lnTo>
                <a:lnTo>
                  <a:pt x="7400" y="57489"/>
                </a:lnTo>
                <a:lnTo>
                  <a:pt x="0" y="94107"/>
                </a:lnTo>
                <a:lnTo>
                  <a:pt x="0" y="470916"/>
                </a:lnTo>
                <a:lnTo>
                  <a:pt x="7400" y="507533"/>
                </a:lnTo>
                <a:lnTo>
                  <a:pt x="27584" y="537448"/>
                </a:lnTo>
                <a:lnTo>
                  <a:pt x="57521" y="557623"/>
                </a:lnTo>
                <a:lnTo>
                  <a:pt x="94183" y="565023"/>
                </a:lnTo>
                <a:lnTo>
                  <a:pt x="10421366" y="565023"/>
                </a:lnTo>
                <a:lnTo>
                  <a:pt x="10458057" y="557623"/>
                </a:lnTo>
                <a:lnTo>
                  <a:pt x="10488009" y="537448"/>
                </a:lnTo>
                <a:lnTo>
                  <a:pt x="10508198" y="507533"/>
                </a:lnTo>
                <a:lnTo>
                  <a:pt x="10515600" y="470916"/>
                </a:lnTo>
                <a:lnTo>
                  <a:pt x="10515600" y="94107"/>
                </a:lnTo>
                <a:lnTo>
                  <a:pt x="10508198" y="57489"/>
                </a:lnTo>
                <a:lnTo>
                  <a:pt x="10488009" y="27574"/>
                </a:lnTo>
                <a:lnTo>
                  <a:pt x="10458057" y="7399"/>
                </a:lnTo>
                <a:lnTo>
                  <a:pt x="10421366" y="0"/>
                </a:lnTo>
                <a:close/>
              </a:path>
            </a:pathLst>
          </a:custGeom>
          <a:solidFill>
            <a:srgbClr val="13B8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4981447"/>
            <a:ext cx="10515600" cy="565150"/>
          </a:xfrm>
          <a:custGeom>
            <a:avLst/>
            <a:gdLst/>
            <a:ahLst/>
            <a:cxnLst/>
            <a:rect l="l" t="t" r="r" b="b"/>
            <a:pathLst>
              <a:path w="10515600" h="565150">
                <a:moveTo>
                  <a:pt x="10421366" y="0"/>
                </a:moveTo>
                <a:lnTo>
                  <a:pt x="94183" y="0"/>
                </a:lnTo>
                <a:lnTo>
                  <a:pt x="57521" y="7401"/>
                </a:lnTo>
                <a:lnTo>
                  <a:pt x="27584" y="27590"/>
                </a:lnTo>
                <a:lnTo>
                  <a:pt x="7400" y="57542"/>
                </a:lnTo>
                <a:lnTo>
                  <a:pt x="0" y="94233"/>
                </a:lnTo>
                <a:lnTo>
                  <a:pt x="0" y="470915"/>
                </a:lnTo>
                <a:lnTo>
                  <a:pt x="7400" y="507607"/>
                </a:lnTo>
                <a:lnTo>
                  <a:pt x="27584" y="537559"/>
                </a:lnTo>
                <a:lnTo>
                  <a:pt x="57521" y="557748"/>
                </a:lnTo>
                <a:lnTo>
                  <a:pt x="94183" y="565149"/>
                </a:lnTo>
                <a:lnTo>
                  <a:pt x="10421366" y="565149"/>
                </a:lnTo>
                <a:lnTo>
                  <a:pt x="10458057" y="557748"/>
                </a:lnTo>
                <a:lnTo>
                  <a:pt x="10488009" y="537559"/>
                </a:lnTo>
                <a:lnTo>
                  <a:pt x="10508198" y="507607"/>
                </a:lnTo>
                <a:lnTo>
                  <a:pt x="10515600" y="470915"/>
                </a:lnTo>
                <a:lnTo>
                  <a:pt x="10515600" y="94233"/>
                </a:lnTo>
                <a:lnTo>
                  <a:pt x="10508198" y="57542"/>
                </a:lnTo>
                <a:lnTo>
                  <a:pt x="10488009" y="27590"/>
                </a:lnTo>
                <a:lnTo>
                  <a:pt x="10458057" y="7401"/>
                </a:lnTo>
                <a:lnTo>
                  <a:pt x="10421366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4568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sz="2300" spc="-50" dirty="0">
                <a:solidFill>
                  <a:srgbClr val="FFFFFF"/>
                </a:solidFill>
              </a:rPr>
              <a:t>Network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devices</a:t>
            </a:r>
            <a:r>
              <a:rPr sz="2300" spc="-200" dirty="0">
                <a:solidFill>
                  <a:srgbClr val="FFFFFF"/>
                </a:solidFill>
              </a:rPr>
              <a:t> </a:t>
            </a:r>
            <a:r>
              <a:rPr sz="2300" spc="-40" dirty="0">
                <a:solidFill>
                  <a:srgbClr val="FFFFFF"/>
                </a:solidFill>
              </a:rPr>
              <a:t>help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90" dirty="0">
                <a:solidFill>
                  <a:srgbClr val="FFFFFF"/>
                </a:solidFill>
              </a:rPr>
              <a:t>to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send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and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75" dirty="0">
                <a:solidFill>
                  <a:srgbClr val="FFFFFF"/>
                </a:solidFill>
              </a:rPr>
              <a:t>receive</a:t>
            </a:r>
            <a:r>
              <a:rPr sz="2300" spc="-195" dirty="0">
                <a:solidFill>
                  <a:srgbClr val="FFFFFF"/>
                </a:solidFill>
              </a:rPr>
              <a:t> </a:t>
            </a:r>
            <a:r>
              <a:rPr sz="2300" spc="-60" dirty="0">
                <a:solidFill>
                  <a:srgbClr val="FFFFFF"/>
                </a:solidFill>
              </a:rPr>
              <a:t>data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60" dirty="0">
                <a:solidFill>
                  <a:srgbClr val="FFFFFF"/>
                </a:solidFill>
              </a:rPr>
              <a:t>between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105" dirty="0">
                <a:solidFill>
                  <a:srgbClr val="FFFFFF"/>
                </a:solidFill>
              </a:rPr>
              <a:t>different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devices.</a:t>
            </a:r>
            <a:endParaRPr sz="2300"/>
          </a:p>
          <a:p>
            <a:pPr marL="36195">
              <a:lnSpc>
                <a:spcPct val="100000"/>
              </a:lnSpc>
              <a:spcBef>
                <a:spcPts val="2210"/>
              </a:spcBef>
            </a:pPr>
            <a:r>
              <a:rPr sz="2300" spc="-50" dirty="0">
                <a:solidFill>
                  <a:srgbClr val="FFFFFF"/>
                </a:solidFill>
              </a:rPr>
              <a:t>Network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devices</a:t>
            </a:r>
            <a:r>
              <a:rPr sz="2300" spc="-210" dirty="0">
                <a:solidFill>
                  <a:srgbClr val="FFFFFF"/>
                </a:solidFill>
              </a:rPr>
              <a:t> </a:t>
            </a:r>
            <a:r>
              <a:rPr sz="2300" spc="-55" dirty="0">
                <a:solidFill>
                  <a:srgbClr val="FFFFFF"/>
                </a:solidFill>
              </a:rPr>
              <a:t>allow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devices</a:t>
            </a:r>
            <a:r>
              <a:rPr sz="2300" spc="-210" dirty="0">
                <a:solidFill>
                  <a:srgbClr val="FFFFFF"/>
                </a:solidFill>
              </a:rPr>
              <a:t> </a:t>
            </a:r>
            <a:r>
              <a:rPr sz="2300" spc="-85" dirty="0">
                <a:solidFill>
                  <a:srgbClr val="FFFFFF"/>
                </a:solidFill>
              </a:rPr>
              <a:t>to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connect</a:t>
            </a:r>
            <a:r>
              <a:rPr sz="2300" spc="-215" dirty="0">
                <a:solidFill>
                  <a:srgbClr val="FFFFFF"/>
                </a:solidFill>
              </a:rPr>
              <a:t> </a:t>
            </a:r>
            <a:r>
              <a:rPr sz="2300" spc="-85" dirty="0">
                <a:solidFill>
                  <a:srgbClr val="FFFFFF"/>
                </a:solidFill>
              </a:rPr>
              <a:t>to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80" dirty="0">
                <a:solidFill>
                  <a:srgbClr val="FFFFFF"/>
                </a:solidFill>
              </a:rPr>
              <a:t>the</a:t>
            </a:r>
            <a:r>
              <a:rPr sz="2300" spc="-200" dirty="0">
                <a:solidFill>
                  <a:srgbClr val="FFFFFF"/>
                </a:solidFill>
              </a:rPr>
              <a:t> </a:t>
            </a:r>
            <a:r>
              <a:rPr sz="2300" spc="-75" dirty="0">
                <a:solidFill>
                  <a:srgbClr val="FFFFFF"/>
                </a:solidFill>
              </a:rPr>
              <a:t>network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90" dirty="0">
                <a:solidFill>
                  <a:srgbClr val="FFFFFF"/>
                </a:solidFill>
              </a:rPr>
              <a:t>efficiently</a:t>
            </a:r>
            <a:r>
              <a:rPr sz="2300" spc="-204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and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securely.</a:t>
            </a:r>
            <a:endParaRPr sz="2300"/>
          </a:p>
          <a:p>
            <a:pPr marL="36195">
              <a:lnSpc>
                <a:spcPct val="100000"/>
              </a:lnSpc>
              <a:spcBef>
                <a:spcPts val="2210"/>
              </a:spcBef>
            </a:pPr>
            <a:r>
              <a:rPr sz="2300" spc="-50" dirty="0">
                <a:solidFill>
                  <a:srgbClr val="FFFFFF"/>
                </a:solidFill>
              </a:rPr>
              <a:t>Network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devices</a:t>
            </a:r>
            <a:r>
              <a:rPr sz="2300" spc="-210" dirty="0">
                <a:solidFill>
                  <a:srgbClr val="FFFFFF"/>
                </a:solidFill>
              </a:rPr>
              <a:t> </a:t>
            </a:r>
            <a:r>
              <a:rPr sz="2300" spc="-30" dirty="0">
                <a:solidFill>
                  <a:srgbClr val="FFFFFF"/>
                </a:solidFill>
              </a:rPr>
              <a:t>improves</a:t>
            </a:r>
            <a:r>
              <a:rPr sz="2300" spc="-200" dirty="0">
                <a:solidFill>
                  <a:srgbClr val="FFFFFF"/>
                </a:solidFill>
              </a:rPr>
              <a:t> </a:t>
            </a:r>
            <a:r>
              <a:rPr sz="2300" spc="-70" dirty="0">
                <a:solidFill>
                  <a:srgbClr val="FFFFFF"/>
                </a:solidFill>
              </a:rPr>
              <a:t>network</a:t>
            </a:r>
            <a:r>
              <a:rPr sz="2300" spc="-18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speed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and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manage</a:t>
            </a:r>
            <a:r>
              <a:rPr sz="2300" spc="-204" dirty="0">
                <a:solidFill>
                  <a:srgbClr val="FFFFFF"/>
                </a:solidFill>
              </a:rPr>
              <a:t> </a:t>
            </a:r>
            <a:r>
              <a:rPr sz="2300" spc="-60" dirty="0">
                <a:solidFill>
                  <a:srgbClr val="FFFFFF"/>
                </a:solidFill>
              </a:rPr>
              <a:t>data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80" dirty="0">
                <a:solidFill>
                  <a:srgbClr val="FFFFFF"/>
                </a:solidFill>
              </a:rPr>
              <a:t>flow</a:t>
            </a:r>
            <a:r>
              <a:rPr sz="2300" spc="-20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better.</a:t>
            </a:r>
            <a:endParaRPr sz="2300"/>
          </a:p>
          <a:p>
            <a:pPr marL="36195" marR="1661160">
              <a:lnSpc>
                <a:spcPct val="180200"/>
              </a:lnSpc>
            </a:pPr>
            <a:r>
              <a:rPr sz="2300" spc="-120" dirty="0">
                <a:solidFill>
                  <a:srgbClr val="FFFFFF"/>
                </a:solidFill>
              </a:rPr>
              <a:t>It</a:t>
            </a:r>
            <a:r>
              <a:rPr sz="2300" spc="-195" dirty="0">
                <a:solidFill>
                  <a:srgbClr val="FFFFFF"/>
                </a:solidFill>
              </a:rPr>
              <a:t> </a:t>
            </a:r>
            <a:r>
              <a:rPr sz="2300" spc="-45" dirty="0">
                <a:solidFill>
                  <a:srgbClr val="FFFFFF"/>
                </a:solidFill>
              </a:rPr>
              <a:t>protects</a:t>
            </a:r>
            <a:r>
              <a:rPr sz="2300" spc="-204" dirty="0">
                <a:solidFill>
                  <a:srgbClr val="FFFFFF"/>
                </a:solidFill>
              </a:rPr>
              <a:t> </a:t>
            </a:r>
            <a:r>
              <a:rPr sz="2300" spc="-80" dirty="0">
                <a:solidFill>
                  <a:srgbClr val="FFFFFF"/>
                </a:solidFill>
              </a:rPr>
              <a:t>the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75" dirty="0">
                <a:solidFill>
                  <a:srgbClr val="FFFFFF"/>
                </a:solidFill>
              </a:rPr>
              <a:t>network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70" dirty="0">
                <a:solidFill>
                  <a:srgbClr val="FFFFFF"/>
                </a:solidFill>
              </a:rPr>
              <a:t>by</a:t>
            </a:r>
            <a:r>
              <a:rPr sz="2300" spc="-190" dirty="0">
                <a:solidFill>
                  <a:srgbClr val="FFFFFF"/>
                </a:solidFill>
              </a:rPr>
              <a:t> </a:t>
            </a:r>
            <a:r>
              <a:rPr sz="2300" spc="-60" dirty="0">
                <a:solidFill>
                  <a:srgbClr val="FFFFFF"/>
                </a:solidFill>
              </a:rPr>
              <a:t>controlling</a:t>
            </a:r>
            <a:r>
              <a:rPr sz="2300" spc="-210" dirty="0">
                <a:solidFill>
                  <a:srgbClr val="FFFFFF"/>
                </a:solidFill>
              </a:rPr>
              <a:t> </a:t>
            </a:r>
            <a:r>
              <a:rPr sz="2300" spc="80" dirty="0">
                <a:solidFill>
                  <a:srgbClr val="FFFFFF"/>
                </a:solidFill>
              </a:rPr>
              <a:t>access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and</a:t>
            </a:r>
            <a:r>
              <a:rPr sz="2300" spc="-185" dirty="0">
                <a:solidFill>
                  <a:srgbClr val="FFFFFF"/>
                </a:solidFill>
              </a:rPr>
              <a:t> </a:t>
            </a:r>
            <a:r>
              <a:rPr sz="2300" spc="-80" dirty="0">
                <a:solidFill>
                  <a:srgbClr val="FFFFFF"/>
                </a:solidFill>
              </a:rPr>
              <a:t>preventing</a:t>
            </a:r>
            <a:r>
              <a:rPr sz="2300" spc="-204" dirty="0">
                <a:solidFill>
                  <a:srgbClr val="FFFFFF"/>
                </a:solidFill>
              </a:rPr>
              <a:t> </a:t>
            </a:r>
            <a:r>
              <a:rPr sz="2300" spc="-20" dirty="0">
                <a:solidFill>
                  <a:srgbClr val="FFFFFF"/>
                </a:solidFill>
              </a:rPr>
              <a:t>threats. </a:t>
            </a:r>
            <a:r>
              <a:rPr sz="2300" spc="-25" dirty="0">
                <a:solidFill>
                  <a:srgbClr val="FFFFFF"/>
                </a:solidFill>
              </a:rPr>
              <a:t>Expand</a:t>
            </a:r>
            <a:r>
              <a:rPr sz="2300" spc="-215" dirty="0">
                <a:solidFill>
                  <a:srgbClr val="FFFFFF"/>
                </a:solidFill>
              </a:rPr>
              <a:t> </a:t>
            </a:r>
            <a:r>
              <a:rPr sz="2300" spc="-80" dirty="0">
                <a:solidFill>
                  <a:srgbClr val="FFFFFF"/>
                </a:solidFill>
              </a:rPr>
              <a:t>the</a:t>
            </a:r>
            <a:r>
              <a:rPr sz="2300" spc="-210" dirty="0">
                <a:solidFill>
                  <a:srgbClr val="FFFFFF"/>
                </a:solidFill>
              </a:rPr>
              <a:t> </a:t>
            </a:r>
            <a:r>
              <a:rPr sz="2300" spc="-75" dirty="0">
                <a:solidFill>
                  <a:srgbClr val="FFFFFF"/>
                </a:solidFill>
              </a:rPr>
              <a:t>network</a:t>
            </a:r>
            <a:r>
              <a:rPr sz="2300" spc="-195" dirty="0">
                <a:solidFill>
                  <a:srgbClr val="FFFFFF"/>
                </a:solidFill>
              </a:rPr>
              <a:t> </a:t>
            </a:r>
            <a:r>
              <a:rPr sz="2300" spc="-70" dirty="0">
                <a:solidFill>
                  <a:srgbClr val="FFFFFF"/>
                </a:solidFill>
              </a:rPr>
              <a:t>range</a:t>
            </a:r>
            <a:r>
              <a:rPr sz="2300" spc="-195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and</a:t>
            </a:r>
            <a:r>
              <a:rPr sz="2300" spc="-22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solve</a:t>
            </a:r>
            <a:r>
              <a:rPr sz="2300" spc="-195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signal</a:t>
            </a:r>
            <a:r>
              <a:rPr sz="2300" spc="-20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problems.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</a:t>
            </a:r>
            <a:r>
              <a:rPr spc="-360" dirty="0"/>
              <a:t> </a:t>
            </a:r>
            <a:r>
              <a:rPr spc="-210" dirty="0"/>
              <a:t>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9390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17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access</a:t>
            </a:r>
            <a:r>
              <a:rPr sz="2800" spc="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point</a:t>
            </a:r>
            <a:r>
              <a:rPr sz="2800" spc="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17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networking</a:t>
            </a:r>
            <a:r>
              <a:rPr sz="2800" spc="1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device</a:t>
            </a:r>
            <a:r>
              <a:rPr sz="2800" spc="1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that</a:t>
            </a:r>
            <a:r>
              <a:rPr sz="2800" spc="1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allows</a:t>
            </a:r>
            <a:r>
              <a:rPr sz="2800" spc="1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wireless 	</a:t>
            </a:r>
            <a:r>
              <a:rPr sz="2800" dirty="0">
                <a:latin typeface="Trebuchet MS"/>
                <a:cs typeface="Trebuchet MS"/>
              </a:rPr>
              <a:t>devices,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like</a:t>
            </a:r>
            <a:r>
              <a:rPr sz="2800" spc="2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smartphones</a:t>
            </a:r>
            <a:r>
              <a:rPr sz="2800" spc="2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2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laptops,</a:t>
            </a:r>
            <a:r>
              <a:rPr sz="2800" spc="2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3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</a:t>
            </a:r>
            <a:r>
              <a:rPr sz="2800" spc="2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2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2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wired 	network.</a:t>
            </a:r>
            <a:endParaRPr sz="2800">
              <a:latin typeface="Trebuchet MS"/>
              <a:cs typeface="Trebuchet MS"/>
            </a:endParaRPr>
          </a:p>
          <a:p>
            <a:pPr marL="240029" marR="6350" indent="-227965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35" dirty="0">
                <a:latin typeface="Trebuchet MS"/>
                <a:cs typeface="Trebuchet MS"/>
              </a:rPr>
              <a:t>It</a:t>
            </a:r>
            <a:r>
              <a:rPr sz="2800" spc="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creates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Wi-</a:t>
            </a:r>
            <a:r>
              <a:rPr sz="2800" spc="-170" dirty="0">
                <a:latin typeface="Trebuchet MS"/>
                <a:cs typeface="Trebuchet MS"/>
              </a:rPr>
              <a:t>Fi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network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that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lets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wireless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devices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communicate 	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internet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devices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39395" marR="5715" indent="-227329" algn="just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80" dirty="0">
                <a:latin typeface="Trebuchet MS"/>
                <a:cs typeface="Trebuchet MS"/>
              </a:rPr>
              <a:t>Access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points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used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extend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range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of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network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or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provide</a:t>
            </a:r>
            <a:r>
              <a:rPr sz="2800" spc="-35" dirty="0">
                <a:latin typeface="Trebuchet MS"/>
                <a:cs typeface="Trebuchet MS"/>
              </a:rPr>
              <a:t> 	</a:t>
            </a:r>
            <a:r>
              <a:rPr sz="2800" spc="-40" dirty="0">
                <a:latin typeface="Trebuchet MS"/>
                <a:cs typeface="Trebuchet MS"/>
              </a:rPr>
              <a:t>Wi-</a:t>
            </a:r>
            <a:r>
              <a:rPr sz="2800" spc="-105" dirty="0">
                <a:latin typeface="Trebuchet MS"/>
                <a:cs typeface="Trebuchet MS"/>
              </a:rPr>
              <a:t>Fi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in</a:t>
            </a:r>
            <a:r>
              <a:rPr sz="2800" spc="-28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areas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that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15" dirty="0">
                <a:latin typeface="Trebuchet MS"/>
                <a:cs typeface="Trebuchet MS"/>
              </a:rPr>
              <a:t>do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not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have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it.</a:t>
            </a:r>
            <a:endParaRPr sz="2800">
              <a:latin typeface="Trebuchet MS"/>
              <a:cs typeface="Trebuchet MS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They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are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commonly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found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in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homes,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offices,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public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places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spc="-80" dirty="0">
                <a:latin typeface="Trebuchet MS"/>
                <a:cs typeface="Trebuchet MS"/>
              </a:rPr>
              <a:t>provide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wireless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internet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access.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2013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Modems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60660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Modem</a:t>
            </a:r>
            <a:r>
              <a:rPr sz="2800" spc="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known</a:t>
            </a:r>
            <a:r>
              <a:rPr sz="2800" spc="204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225" dirty="0">
                <a:latin typeface="Trebuchet MS"/>
                <a:cs typeface="Trebuchet MS"/>
              </a:rPr>
              <a:t> </a:t>
            </a:r>
            <a:r>
              <a:rPr sz="2800" b="1" i="1" spc="-50" dirty="0">
                <a:latin typeface="Trebuchet MS"/>
                <a:cs typeface="Trebuchet MS"/>
              </a:rPr>
              <a:t>modulator/demodulator</a:t>
            </a:r>
            <a:r>
              <a:rPr sz="2800" b="1" i="1" spc="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network 	</a:t>
            </a:r>
            <a:r>
              <a:rPr sz="2800" spc="-30" dirty="0">
                <a:latin typeface="Trebuchet MS"/>
                <a:cs typeface="Trebuchet MS"/>
              </a:rPr>
              <a:t>device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that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50" dirty="0">
                <a:latin typeface="Trebuchet MS"/>
                <a:cs typeface="Trebuchet MS"/>
              </a:rPr>
              <a:t>used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convert</a:t>
            </a:r>
            <a:r>
              <a:rPr sz="2800" spc="-85" dirty="0">
                <a:latin typeface="Trebuchet MS"/>
                <a:cs typeface="Trebuchet MS"/>
              </a:rPr>
              <a:t> digital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signal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into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analog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signals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	</a:t>
            </a:r>
            <a:r>
              <a:rPr sz="2800" spc="-110" dirty="0">
                <a:latin typeface="Trebuchet MS"/>
                <a:cs typeface="Trebuchet MS"/>
              </a:rPr>
              <a:t>different</a:t>
            </a:r>
            <a:r>
              <a:rPr sz="2800" spc="-20" dirty="0">
                <a:latin typeface="Trebuchet MS"/>
                <a:cs typeface="Trebuchet MS"/>
              </a:rPr>
              <a:t> frequencies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transmits</a:t>
            </a:r>
            <a:r>
              <a:rPr sz="2800" spc="-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these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signals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modem</a:t>
            </a:r>
            <a:r>
              <a:rPr sz="2800" spc="-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at 	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receiving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location.</a:t>
            </a:r>
            <a:endParaRPr sz="2800">
              <a:latin typeface="Trebuchet MS"/>
              <a:cs typeface="Trebuchet MS"/>
            </a:endParaRPr>
          </a:p>
          <a:p>
            <a:pPr marL="240029" marR="8255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1382395" algn="l"/>
                <a:tab pos="3150870" algn="l"/>
                <a:tab pos="4458335" algn="l"/>
                <a:tab pos="5255895" algn="l"/>
                <a:tab pos="5871210" algn="l"/>
                <a:tab pos="7882255" algn="l"/>
                <a:tab pos="8766175" algn="l"/>
                <a:tab pos="9491345" algn="l"/>
              </a:tabLst>
            </a:pPr>
            <a:r>
              <a:rPr sz="2800" spc="-10" dirty="0">
                <a:latin typeface="Trebuchet MS"/>
                <a:cs typeface="Trebuchet MS"/>
              </a:rPr>
              <a:t>These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converted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signals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can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be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transmitted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" dirty="0">
                <a:latin typeface="Trebuchet MS"/>
                <a:cs typeface="Trebuchet MS"/>
              </a:rPr>
              <a:t>over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cable 	</a:t>
            </a:r>
            <a:r>
              <a:rPr sz="2800" spc="-10" dirty="0">
                <a:latin typeface="Trebuchet MS"/>
                <a:cs typeface="Trebuchet MS"/>
              </a:rPr>
              <a:t>systems,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telephone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lines,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communication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mediums.</a:t>
            </a:r>
            <a:endParaRPr sz="2800">
              <a:latin typeface="Trebuchet MS"/>
              <a:cs typeface="Trebuchet MS"/>
            </a:endParaRPr>
          </a:p>
          <a:p>
            <a:pPr marL="240029" marR="698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modem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to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convert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analog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back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into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digital 	</a:t>
            </a:r>
            <a:r>
              <a:rPr sz="280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  <a:p>
            <a:pPr marL="240029" marR="825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75" dirty="0">
                <a:latin typeface="Trebuchet MS"/>
                <a:cs typeface="Trebuchet MS"/>
              </a:rPr>
              <a:t>Modems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are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generally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access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internet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customers 	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Internet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Service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Provider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(ISP).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4045" y="365074"/>
            <a:ext cx="1079766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989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10" dirty="0"/>
              <a:t>Modems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5750"/>
            <a:ext cx="10287000" cy="338010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four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main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types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modems:</a:t>
            </a:r>
            <a:endParaRPr sz="2800">
              <a:latin typeface="Trebuchet MS"/>
              <a:cs typeface="Trebuchet MS"/>
            </a:endParaRPr>
          </a:p>
          <a:p>
            <a:pPr marL="697230" marR="123189" lvl="1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spc="80" dirty="0">
                <a:latin typeface="Trebuchet MS"/>
                <a:cs typeface="Trebuchet MS"/>
              </a:rPr>
              <a:t>DSL</a:t>
            </a:r>
            <a:r>
              <a:rPr sz="2400" b="1" spc="-2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Modem: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Uses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regular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phone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lines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connect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internet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but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it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is 	</a:t>
            </a:r>
            <a:r>
              <a:rPr sz="2400" spc="-45" dirty="0">
                <a:latin typeface="Trebuchet MS"/>
                <a:cs typeface="Trebuchet MS"/>
              </a:rPr>
              <a:t>slower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compared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to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other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types.</a:t>
            </a:r>
            <a:endParaRPr sz="2400">
              <a:latin typeface="Trebuchet MS"/>
              <a:cs typeface="Trebuchet MS"/>
            </a:endParaRPr>
          </a:p>
          <a:p>
            <a:pPr marL="697230" marR="361950" lvl="1" indent="-227329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rebuchet MS"/>
                <a:cs typeface="Trebuchet MS"/>
              </a:rPr>
              <a:t>Cable</a:t>
            </a:r>
            <a:r>
              <a:rPr sz="2400" b="1" spc="-17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Modem:</a:t>
            </a:r>
            <a:r>
              <a:rPr sz="2400" b="1" spc="-150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Sends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through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TV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cables,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providing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faster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internet 	</a:t>
            </a:r>
            <a:r>
              <a:rPr sz="2400" spc="-50" dirty="0">
                <a:latin typeface="Trebuchet MS"/>
                <a:cs typeface="Trebuchet MS"/>
              </a:rPr>
              <a:t>than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DSL.</a:t>
            </a:r>
            <a:endParaRPr sz="2400">
              <a:latin typeface="Trebuchet MS"/>
              <a:cs typeface="Trebuchet MS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dirty="0">
                <a:latin typeface="Trebuchet MS"/>
                <a:cs typeface="Trebuchet MS"/>
              </a:rPr>
              <a:t>Wireless</a:t>
            </a:r>
            <a:r>
              <a:rPr sz="2400" b="1" spc="-16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Modem:</a:t>
            </a:r>
            <a:r>
              <a:rPr sz="2400" b="1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Connects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devices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internet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using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Wi-</a:t>
            </a:r>
            <a:r>
              <a:rPr sz="2400" spc="-90" dirty="0">
                <a:latin typeface="Trebuchet MS"/>
                <a:cs typeface="Trebuchet MS"/>
              </a:rPr>
              <a:t>Fi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relying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on 	</a:t>
            </a:r>
            <a:r>
              <a:rPr sz="2400" spc="-65" dirty="0">
                <a:latin typeface="Trebuchet MS"/>
                <a:cs typeface="Trebuchet MS"/>
              </a:rPr>
              <a:t>nearby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Wi-</a:t>
            </a:r>
            <a:r>
              <a:rPr sz="2400" spc="-90" dirty="0">
                <a:latin typeface="Trebuchet MS"/>
                <a:cs typeface="Trebuchet MS"/>
              </a:rPr>
              <a:t>Fi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signals.</a:t>
            </a:r>
            <a:endParaRPr sz="2400">
              <a:latin typeface="Trebuchet MS"/>
              <a:cs typeface="Trebuchet MS"/>
            </a:endParaRPr>
          </a:p>
          <a:p>
            <a:pPr marL="697230" marR="717550" lvl="1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b="1" spc="-10" dirty="0">
                <a:latin typeface="Trebuchet MS"/>
                <a:cs typeface="Trebuchet MS"/>
              </a:rPr>
              <a:t>Cellular</a:t>
            </a:r>
            <a:r>
              <a:rPr sz="2400" b="1" spc="-1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Modem:</a:t>
            </a:r>
            <a:r>
              <a:rPr sz="2400" b="1" spc="-1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Connects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the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internet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using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mobile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data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from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	</a:t>
            </a:r>
            <a:r>
              <a:rPr sz="2400" spc="-65" dirty="0">
                <a:latin typeface="Trebuchet MS"/>
                <a:cs typeface="Trebuchet MS"/>
              </a:rPr>
              <a:t>cellular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network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not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Wi-</a:t>
            </a:r>
            <a:r>
              <a:rPr sz="2400" spc="-90" dirty="0">
                <a:latin typeface="Trebuchet MS"/>
                <a:cs typeface="Trebuchet MS"/>
              </a:rPr>
              <a:t>Fi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or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fixed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cables.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4045" y="365074"/>
            <a:ext cx="1079766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Firewalls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188595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A</a:t>
            </a:r>
            <a:r>
              <a:rPr spc="-245" dirty="0"/>
              <a:t> </a:t>
            </a:r>
            <a:r>
              <a:rPr spc="-120" dirty="0"/>
              <a:t>firewall</a:t>
            </a:r>
            <a:r>
              <a:rPr spc="-250" dirty="0"/>
              <a:t> </a:t>
            </a:r>
            <a:r>
              <a:rPr dirty="0"/>
              <a:t>is</a:t>
            </a:r>
            <a:r>
              <a:rPr spc="-240" dirty="0"/>
              <a:t> </a:t>
            </a:r>
            <a:r>
              <a:rPr dirty="0"/>
              <a:t>a</a:t>
            </a:r>
            <a:r>
              <a:rPr spc="-240" dirty="0"/>
              <a:t> </a:t>
            </a:r>
            <a:r>
              <a:rPr spc="-95" dirty="0"/>
              <a:t>network</a:t>
            </a:r>
            <a:r>
              <a:rPr spc="-229" dirty="0"/>
              <a:t> </a:t>
            </a:r>
            <a:r>
              <a:rPr spc="-60" dirty="0"/>
              <a:t>security</a:t>
            </a:r>
            <a:r>
              <a:rPr spc="-235" dirty="0"/>
              <a:t> </a:t>
            </a:r>
            <a:r>
              <a:rPr spc="-60" dirty="0"/>
              <a:t>device</a:t>
            </a:r>
            <a:r>
              <a:rPr spc="-215" dirty="0"/>
              <a:t> </a:t>
            </a:r>
            <a:r>
              <a:rPr spc="-120" dirty="0"/>
              <a:t>that</a:t>
            </a:r>
            <a:r>
              <a:rPr spc="-245" dirty="0"/>
              <a:t> </a:t>
            </a:r>
            <a:r>
              <a:rPr spc="-35" dirty="0"/>
              <a:t>monitors</a:t>
            </a:r>
            <a:r>
              <a:rPr spc="-240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10" dirty="0"/>
              <a:t>controls 	</a:t>
            </a:r>
            <a:r>
              <a:rPr spc="-90" dirty="0"/>
              <a:t>the</a:t>
            </a:r>
            <a:r>
              <a:rPr spc="-250" dirty="0"/>
              <a:t> </a:t>
            </a:r>
            <a:r>
              <a:rPr spc="-100" dirty="0"/>
              <a:t>flow</a:t>
            </a:r>
            <a:r>
              <a:rPr spc="-245" dirty="0"/>
              <a:t> </a:t>
            </a:r>
            <a:r>
              <a:rPr spc="-100" dirty="0"/>
              <a:t>of</a:t>
            </a:r>
            <a:r>
              <a:rPr spc="-250" dirty="0"/>
              <a:t> </a:t>
            </a:r>
            <a:r>
              <a:rPr spc="-70" dirty="0"/>
              <a:t>data</a:t>
            </a:r>
            <a:r>
              <a:rPr spc="-235" dirty="0"/>
              <a:t> </a:t>
            </a:r>
            <a:r>
              <a:rPr spc="-80" dirty="0"/>
              <a:t>between</a:t>
            </a:r>
            <a:r>
              <a:rPr spc="-250" dirty="0"/>
              <a:t> </a:t>
            </a:r>
            <a:r>
              <a:rPr spc="-70" dirty="0"/>
              <a:t>your</a:t>
            </a:r>
            <a:r>
              <a:rPr spc="-235" dirty="0"/>
              <a:t> </a:t>
            </a:r>
            <a:r>
              <a:rPr spc="-40" dirty="0"/>
              <a:t>computer</a:t>
            </a:r>
            <a:r>
              <a:rPr spc="-210" dirty="0"/>
              <a:t> </a:t>
            </a:r>
            <a:r>
              <a:rPr spc="-75" dirty="0"/>
              <a:t>or</a:t>
            </a:r>
            <a:r>
              <a:rPr spc="-240" dirty="0"/>
              <a:t> </a:t>
            </a:r>
            <a:r>
              <a:rPr spc="-95" dirty="0"/>
              <a:t>network</a:t>
            </a:r>
            <a:r>
              <a:rPr spc="-235" dirty="0"/>
              <a:t> </a:t>
            </a:r>
            <a:r>
              <a:rPr dirty="0"/>
              <a:t>and</a:t>
            </a:r>
            <a:r>
              <a:rPr spc="-235" dirty="0"/>
              <a:t> </a:t>
            </a:r>
            <a:r>
              <a:rPr spc="-25" dirty="0"/>
              <a:t>the 	</a:t>
            </a:r>
            <a:r>
              <a:rPr spc="-130" dirty="0"/>
              <a:t>internet.</a:t>
            </a:r>
            <a:r>
              <a:rPr spc="-235" dirty="0"/>
              <a:t> </a:t>
            </a:r>
            <a:r>
              <a:rPr spc="-140" dirty="0"/>
              <a:t>It</a:t>
            </a:r>
            <a:r>
              <a:rPr spc="-245" dirty="0"/>
              <a:t> </a:t>
            </a:r>
            <a:r>
              <a:rPr dirty="0"/>
              <a:t>acts</a:t>
            </a:r>
            <a:r>
              <a:rPr spc="-200" dirty="0"/>
              <a:t> </a:t>
            </a:r>
            <a:r>
              <a:rPr spc="100" dirty="0"/>
              <a:t>as</a:t>
            </a:r>
            <a:r>
              <a:rPr spc="-235" dirty="0"/>
              <a:t> </a:t>
            </a:r>
            <a:r>
              <a:rPr dirty="0"/>
              <a:t>a</a:t>
            </a:r>
            <a:r>
              <a:rPr spc="-215" dirty="0"/>
              <a:t> </a:t>
            </a:r>
            <a:r>
              <a:rPr spc="-145" dirty="0"/>
              <a:t>barrier,</a:t>
            </a:r>
            <a:r>
              <a:rPr spc="-225" dirty="0"/>
              <a:t> </a:t>
            </a:r>
            <a:r>
              <a:rPr spc="-40" dirty="0"/>
              <a:t>blocking</a:t>
            </a:r>
            <a:r>
              <a:rPr spc="-215" dirty="0"/>
              <a:t> </a:t>
            </a:r>
            <a:r>
              <a:rPr spc="-65" dirty="0"/>
              <a:t>unauthorized</a:t>
            </a:r>
            <a:r>
              <a:rPr spc="-225" dirty="0"/>
              <a:t> </a:t>
            </a:r>
            <a:r>
              <a:rPr spc="90" dirty="0"/>
              <a:t>access</a:t>
            </a:r>
            <a:r>
              <a:rPr spc="-195" dirty="0"/>
              <a:t> </a:t>
            </a:r>
            <a:r>
              <a:rPr spc="-10" dirty="0"/>
              <a:t>while 	</a:t>
            </a:r>
            <a:r>
              <a:rPr spc="-70" dirty="0"/>
              <a:t>allowing</a:t>
            </a:r>
            <a:r>
              <a:rPr spc="-265" dirty="0"/>
              <a:t> </a:t>
            </a:r>
            <a:r>
              <a:rPr spc="-70" dirty="0"/>
              <a:t>trusted</a:t>
            </a:r>
            <a:r>
              <a:rPr spc="-225" dirty="0"/>
              <a:t> </a:t>
            </a:r>
            <a:r>
              <a:rPr spc="-70" dirty="0"/>
              <a:t>data</a:t>
            </a:r>
            <a:r>
              <a:rPr spc="-235" dirty="0"/>
              <a:t> </a:t>
            </a:r>
            <a:r>
              <a:rPr spc="-105" dirty="0"/>
              <a:t>to</a:t>
            </a:r>
            <a:r>
              <a:rPr spc="-235" dirty="0"/>
              <a:t> </a:t>
            </a:r>
            <a:r>
              <a:rPr spc="105" dirty="0"/>
              <a:t>pass</a:t>
            </a:r>
            <a:r>
              <a:rPr spc="-225" dirty="0"/>
              <a:t> </a:t>
            </a:r>
            <a:r>
              <a:rPr spc="-10" dirty="0"/>
              <a:t>through.</a:t>
            </a:r>
          </a:p>
          <a:p>
            <a:pPr marL="240029" marR="54991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pc="-65" dirty="0"/>
              <a:t>Firewalls</a:t>
            </a:r>
            <a:r>
              <a:rPr spc="-260" dirty="0"/>
              <a:t> </a:t>
            </a:r>
            <a:r>
              <a:rPr spc="-50" dirty="0"/>
              <a:t>help</a:t>
            </a:r>
            <a:r>
              <a:rPr spc="-225" dirty="0"/>
              <a:t> </a:t>
            </a:r>
            <a:r>
              <a:rPr spc="-95" dirty="0"/>
              <a:t>protect</a:t>
            </a:r>
            <a:r>
              <a:rPr spc="-220" dirty="0"/>
              <a:t> </a:t>
            </a:r>
            <a:r>
              <a:rPr spc="-70" dirty="0"/>
              <a:t>your</a:t>
            </a:r>
            <a:r>
              <a:rPr spc="-229" dirty="0"/>
              <a:t> </a:t>
            </a:r>
            <a:r>
              <a:rPr spc="-95" dirty="0"/>
              <a:t>network</a:t>
            </a:r>
            <a:r>
              <a:rPr spc="-225" dirty="0"/>
              <a:t> </a:t>
            </a:r>
            <a:r>
              <a:rPr spc="-90" dirty="0"/>
              <a:t>from</a:t>
            </a:r>
            <a:r>
              <a:rPr spc="-225" dirty="0"/>
              <a:t> </a:t>
            </a:r>
            <a:r>
              <a:rPr spc="-55" dirty="0"/>
              <a:t>hackers,</a:t>
            </a:r>
            <a:r>
              <a:rPr spc="-200" dirty="0"/>
              <a:t> </a:t>
            </a:r>
            <a:r>
              <a:rPr spc="-40" dirty="0"/>
              <a:t>viruses,</a:t>
            </a:r>
            <a:r>
              <a:rPr spc="-220" dirty="0"/>
              <a:t> </a:t>
            </a:r>
            <a:r>
              <a:rPr spc="-25" dirty="0"/>
              <a:t>and 	</a:t>
            </a:r>
            <a:r>
              <a:rPr spc="-85" dirty="0"/>
              <a:t>other</a:t>
            </a:r>
            <a:r>
              <a:rPr spc="-225" dirty="0"/>
              <a:t> </a:t>
            </a:r>
            <a:r>
              <a:rPr spc="-50" dirty="0"/>
              <a:t>online</a:t>
            </a:r>
            <a:r>
              <a:rPr spc="-229" dirty="0"/>
              <a:t> </a:t>
            </a:r>
            <a:r>
              <a:rPr spc="-80" dirty="0"/>
              <a:t>threats</a:t>
            </a:r>
            <a:r>
              <a:rPr spc="-204" dirty="0"/>
              <a:t> </a:t>
            </a:r>
            <a:r>
              <a:rPr spc="-75" dirty="0"/>
              <a:t>by</a:t>
            </a:r>
            <a:r>
              <a:rPr spc="-225" dirty="0"/>
              <a:t> </a:t>
            </a:r>
            <a:r>
              <a:rPr spc="-125" dirty="0"/>
              <a:t>filtering</a:t>
            </a:r>
            <a:r>
              <a:rPr spc="-245" dirty="0"/>
              <a:t> </a:t>
            </a:r>
            <a:r>
              <a:rPr spc="-140" dirty="0"/>
              <a:t>traffic</a:t>
            </a:r>
            <a:r>
              <a:rPr spc="-225" dirty="0"/>
              <a:t> </a:t>
            </a:r>
            <a:r>
              <a:rPr dirty="0"/>
              <a:t>based</a:t>
            </a:r>
            <a:r>
              <a:rPr spc="-204" dirty="0"/>
              <a:t> </a:t>
            </a:r>
            <a:r>
              <a:rPr dirty="0"/>
              <a:t>on</a:t>
            </a:r>
            <a:r>
              <a:rPr spc="-210" dirty="0"/>
              <a:t> </a:t>
            </a:r>
            <a:r>
              <a:rPr spc="-55" dirty="0"/>
              <a:t>security</a:t>
            </a:r>
            <a:r>
              <a:rPr spc="-204" dirty="0"/>
              <a:t> </a:t>
            </a:r>
            <a:r>
              <a:rPr spc="-10" dirty="0"/>
              <a:t>rules.</a:t>
            </a: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pc="-65" dirty="0"/>
              <a:t>Firewalls</a:t>
            </a:r>
            <a:r>
              <a:rPr spc="-265" dirty="0"/>
              <a:t> </a:t>
            </a:r>
            <a:r>
              <a:rPr dirty="0"/>
              <a:t>can</a:t>
            </a:r>
            <a:r>
              <a:rPr spc="-220" dirty="0"/>
              <a:t> </a:t>
            </a:r>
            <a:r>
              <a:rPr spc="-40" dirty="0"/>
              <a:t>be</a:t>
            </a:r>
            <a:r>
              <a:rPr spc="-225" dirty="0"/>
              <a:t> </a:t>
            </a:r>
            <a:r>
              <a:rPr spc="-10" dirty="0"/>
              <a:t>physical</a:t>
            </a:r>
            <a:r>
              <a:rPr spc="-220" dirty="0"/>
              <a:t> </a:t>
            </a:r>
            <a:r>
              <a:rPr spc="-20" dirty="0"/>
              <a:t>devices</a:t>
            </a:r>
            <a:r>
              <a:rPr spc="-229" dirty="0"/>
              <a:t> </a:t>
            </a:r>
            <a:r>
              <a:rPr spc="-114" dirty="0"/>
              <a:t>(hardware),</a:t>
            </a:r>
            <a:r>
              <a:rPr spc="-215" dirty="0"/>
              <a:t> </a:t>
            </a:r>
            <a:r>
              <a:rPr spc="-10" dirty="0"/>
              <a:t>programs 	</a:t>
            </a:r>
            <a:r>
              <a:rPr spc="-110" dirty="0"/>
              <a:t>(software),</a:t>
            </a:r>
            <a:r>
              <a:rPr spc="-190" dirty="0"/>
              <a:t> </a:t>
            </a:r>
            <a:r>
              <a:rPr spc="-75" dirty="0"/>
              <a:t>or</a:t>
            </a:r>
            <a:r>
              <a:rPr spc="-220" dirty="0"/>
              <a:t> </a:t>
            </a:r>
            <a:r>
              <a:rPr spc="-75" dirty="0"/>
              <a:t>even</a:t>
            </a:r>
            <a:r>
              <a:rPr spc="-229" dirty="0"/>
              <a:t> </a:t>
            </a:r>
            <a:r>
              <a:rPr spc="-10" dirty="0"/>
              <a:t>cloud-</a:t>
            </a:r>
            <a:r>
              <a:rPr dirty="0"/>
              <a:t>based</a:t>
            </a:r>
            <a:r>
              <a:rPr spc="-180" dirty="0"/>
              <a:t> </a:t>
            </a:r>
            <a:r>
              <a:rPr spc="-35" dirty="0"/>
              <a:t>services,</a:t>
            </a:r>
            <a:r>
              <a:rPr spc="-204" dirty="0"/>
              <a:t> </a:t>
            </a:r>
            <a:r>
              <a:rPr spc="-40" dirty="0"/>
              <a:t>which</a:t>
            </a:r>
            <a:r>
              <a:rPr spc="-225" dirty="0"/>
              <a:t> </a:t>
            </a:r>
            <a:r>
              <a:rPr dirty="0"/>
              <a:t>can</a:t>
            </a:r>
            <a:r>
              <a:rPr spc="-229" dirty="0"/>
              <a:t> </a:t>
            </a:r>
            <a:r>
              <a:rPr spc="-35" dirty="0"/>
              <a:t>be</a:t>
            </a:r>
            <a:r>
              <a:rPr spc="-215" dirty="0"/>
              <a:t> </a:t>
            </a:r>
            <a:r>
              <a:rPr spc="-110" dirty="0"/>
              <a:t>offered</a:t>
            </a:r>
            <a:r>
              <a:rPr spc="-215" dirty="0"/>
              <a:t> </a:t>
            </a:r>
            <a:r>
              <a:rPr spc="75" dirty="0"/>
              <a:t>as 	</a:t>
            </a:r>
            <a:r>
              <a:rPr dirty="0"/>
              <a:t>SaaS,</a:t>
            </a:r>
            <a:r>
              <a:rPr spc="-195" dirty="0"/>
              <a:t> </a:t>
            </a:r>
            <a:r>
              <a:rPr spc="-70" dirty="0"/>
              <a:t>through</a:t>
            </a:r>
            <a:r>
              <a:rPr spc="-195" dirty="0"/>
              <a:t> </a:t>
            </a:r>
            <a:r>
              <a:rPr spc="-30" dirty="0"/>
              <a:t>public</a:t>
            </a:r>
            <a:r>
              <a:rPr spc="-220" dirty="0"/>
              <a:t> </a:t>
            </a:r>
            <a:r>
              <a:rPr spc="-10" dirty="0"/>
              <a:t>clouds,</a:t>
            </a:r>
            <a:r>
              <a:rPr spc="-190" dirty="0"/>
              <a:t> </a:t>
            </a:r>
            <a:r>
              <a:rPr spc="-75" dirty="0"/>
              <a:t>or</a:t>
            </a:r>
            <a:r>
              <a:rPr spc="-210" dirty="0"/>
              <a:t> </a:t>
            </a:r>
            <a:r>
              <a:rPr spc="-114" dirty="0"/>
              <a:t>private</a:t>
            </a:r>
            <a:r>
              <a:rPr spc="-220" dirty="0"/>
              <a:t> </a:t>
            </a:r>
            <a:r>
              <a:rPr spc="-105" dirty="0"/>
              <a:t>virtual</a:t>
            </a:r>
            <a:r>
              <a:rPr spc="-220" dirty="0"/>
              <a:t> </a:t>
            </a:r>
            <a:r>
              <a:rPr spc="-10" dirty="0"/>
              <a:t>clouds.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3477" y="365163"/>
            <a:ext cx="1060310" cy="10894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Repeater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351135" cy="347916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repeater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operates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layer.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rebuchet MS"/>
                <a:cs typeface="Trebuchet MS"/>
              </a:rPr>
              <a:t>Its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main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function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amplify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20" dirty="0">
                <a:latin typeface="Trebuchet MS"/>
                <a:cs typeface="Trebuchet MS"/>
              </a:rPr>
              <a:t>(i.e.,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regenerate)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dirty="0">
                <a:latin typeface="Trebuchet MS"/>
                <a:cs typeface="Trebuchet MS"/>
              </a:rPr>
              <a:t>same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before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becomes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too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weak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corrupted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spc="-100" dirty="0">
                <a:latin typeface="Trebuchet MS"/>
                <a:cs typeface="Trebuchet MS"/>
              </a:rPr>
              <a:t>extend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length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be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transmitted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dirty="0">
                <a:latin typeface="Trebuchet MS"/>
                <a:cs typeface="Trebuchet MS"/>
              </a:rPr>
              <a:t>same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39395" marR="243204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When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becomes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weak,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they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copy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bit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by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bit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110" dirty="0">
                <a:latin typeface="Trebuchet MS"/>
                <a:cs typeface="Trebuchet MS"/>
              </a:rPr>
              <a:t>regenerate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its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star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topology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connectors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connecting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following 	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original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strength.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2-</a:t>
            </a:r>
            <a:r>
              <a:rPr sz="2800" spc="-95" dirty="0">
                <a:latin typeface="Trebuchet MS"/>
                <a:cs typeface="Trebuchet MS"/>
              </a:rPr>
              <a:t>port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8151" y="365074"/>
            <a:ext cx="1255649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96964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Hub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333355" cy="398970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hub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multiport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repeater.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hub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multiple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wires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from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different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branches,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	</a:t>
            </a:r>
            <a:r>
              <a:rPr sz="2800" spc="-100" dirty="0">
                <a:latin typeface="Trebuchet MS"/>
                <a:cs typeface="Trebuchet MS"/>
              </a:rPr>
              <a:t>example,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connector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star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topology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connects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different 	stations.</a:t>
            </a:r>
            <a:endParaRPr sz="2800">
              <a:latin typeface="Trebuchet MS"/>
              <a:cs typeface="Trebuchet MS"/>
            </a:endParaRPr>
          </a:p>
          <a:p>
            <a:pPr marL="240029" marR="135255" indent="-227965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90" dirty="0">
                <a:latin typeface="Trebuchet MS"/>
                <a:cs typeface="Trebuchet MS"/>
              </a:rPr>
              <a:t>Hubs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cannot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filter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data,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114" dirty="0">
                <a:latin typeface="Trebuchet MS"/>
                <a:cs typeface="Trebuchet MS"/>
              </a:rPr>
              <a:t>so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sent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all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connected 	</a:t>
            </a:r>
            <a:r>
              <a:rPr sz="2800" dirty="0">
                <a:latin typeface="Trebuchet MS"/>
                <a:cs typeface="Trebuchet MS"/>
              </a:rPr>
              <a:t>devices.</a:t>
            </a:r>
            <a:r>
              <a:rPr sz="2800" spc="10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In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words,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collision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domain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all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hosts 	</a:t>
            </a:r>
            <a:r>
              <a:rPr sz="2800" spc="-30" dirty="0">
                <a:latin typeface="Trebuchet MS"/>
                <a:cs typeface="Trebuchet MS"/>
              </a:rPr>
              <a:t>connected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through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Hub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remains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one.</a:t>
            </a:r>
            <a:endParaRPr sz="2800">
              <a:latin typeface="Trebuchet MS"/>
              <a:cs typeface="Trebuchet MS"/>
            </a:endParaRPr>
          </a:p>
          <a:p>
            <a:pPr marL="240029" marR="127635" indent="-227965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40" dirty="0">
                <a:latin typeface="Trebuchet MS"/>
                <a:cs typeface="Trebuchet MS"/>
              </a:rPr>
              <a:t>Also,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they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intelligence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find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out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best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path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	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leads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inefficiencies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wastage.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4539" y="365074"/>
            <a:ext cx="1199324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2945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60" dirty="0"/>
              <a:t>Hub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277475" cy="4164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65" dirty="0">
                <a:latin typeface="Trebuchet MS"/>
                <a:cs typeface="Trebuchet MS"/>
              </a:rPr>
              <a:t>Active</a:t>
            </a:r>
            <a:r>
              <a:rPr sz="2600" b="1" spc="-240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Hub: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These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hubs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that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have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their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power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supply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can </a:t>
            </a:r>
            <a:r>
              <a:rPr sz="2600" spc="-50" dirty="0">
                <a:latin typeface="Trebuchet MS"/>
                <a:cs typeface="Trebuchet MS"/>
              </a:rPr>
              <a:t>clean,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boost,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relay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signal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along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with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network.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serves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both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repeater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well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wiring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center.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These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extend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spc="-30" dirty="0">
                <a:latin typeface="Trebuchet MS"/>
                <a:cs typeface="Trebuchet MS"/>
              </a:rPr>
              <a:t>maximum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distance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between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nodes.</a:t>
            </a:r>
            <a:endParaRPr sz="2600">
              <a:latin typeface="Trebuchet MS"/>
              <a:cs typeface="Trebuchet MS"/>
            </a:endParaRPr>
          </a:p>
          <a:p>
            <a:pPr marL="241300" marR="441325" indent="-229235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rebuchet MS"/>
                <a:cs typeface="Trebuchet MS"/>
              </a:rPr>
              <a:t>Passive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Hub:</a:t>
            </a:r>
            <a:r>
              <a:rPr sz="2600" b="1" spc="-22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These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hubs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that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collect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wiring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from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nodes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and </a:t>
            </a:r>
            <a:r>
              <a:rPr sz="2600" spc="-65" dirty="0">
                <a:latin typeface="Trebuchet MS"/>
                <a:cs typeface="Trebuchet MS"/>
              </a:rPr>
              <a:t>power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supply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from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active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hub.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These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hubs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relay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signals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onto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without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cleaning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boosting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them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can’t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used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 </a:t>
            </a:r>
            <a:r>
              <a:rPr sz="2600" spc="-90" dirty="0">
                <a:latin typeface="Trebuchet MS"/>
                <a:cs typeface="Trebuchet MS"/>
              </a:rPr>
              <a:t>extend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distance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between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nodes.</a:t>
            </a:r>
            <a:endParaRPr sz="2600">
              <a:latin typeface="Trebuchet MS"/>
              <a:cs typeface="Trebuchet MS"/>
            </a:endParaRPr>
          </a:p>
          <a:p>
            <a:pPr marL="241300" marR="97790" indent="-229235">
              <a:lnSpc>
                <a:spcPts val="25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0" dirty="0">
                <a:latin typeface="Trebuchet MS"/>
                <a:cs typeface="Trebuchet MS"/>
              </a:rPr>
              <a:t>Intelligent</a:t>
            </a:r>
            <a:r>
              <a:rPr sz="2600" b="1" spc="-260" dirty="0">
                <a:latin typeface="Trebuchet MS"/>
                <a:cs typeface="Trebuchet MS"/>
              </a:rPr>
              <a:t> </a:t>
            </a:r>
            <a:r>
              <a:rPr sz="2600" b="1" spc="-20" dirty="0">
                <a:latin typeface="Trebuchet MS"/>
                <a:cs typeface="Trebuchet MS"/>
              </a:rPr>
              <a:t>Hub: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works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like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active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hub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includes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remote </a:t>
            </a:r>
            <a:r>
              <a:rPr sz="2600" spc="-40" dirty="0">
                <a:latin typeface="Trebuchet MS"/>
                <a:cs typeface="Trebuchet MS"/>
              </a:rPr>
              <a:t>management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capabilities.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They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also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provide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flexible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rates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devices.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also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enables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administrator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monitor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traffic </a:t>
            </a:r>
            <a:r>
              <a:rPr sz="2600" dirty="0">
                <a:latin typeface="Trebuchet MS"/>
                <a:cs typeface="Trebuchet MS"/>
              </a:rPr>
              <a:t>passing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through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hub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configure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port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in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hub.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4539" y="365074"/>
            <a:ext cx="1199324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1449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Bridge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283"/>
            <a:ext cx="10201275" cy="42265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bridge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operates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at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data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link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layer.</a:t>
            </a:r>
            <a:endParaRPr sz="2600">
              <a:latin typeface="Trebuchet MS"/>
              <a:cs typeface="Trebuchet MS"/>
            </a:endParaRPr>
          </a:p>
          <a:p>
            <a:pPr marL="241300" marR="118745" indent="-229235" algn="just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" dirty="0">
                <a:latin typeface="Trebuchet MS"/>
                <a:cs typeface="Trebuchet MS"/>
              </a:rPr>
              <a:t>A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bridge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45" dirty="0">
                <a:latin typeface="Trebuchet MS"/>
                <a:cs typeface="Trebuchet MS"/>
              </a:rPr>
              <a:t>is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a</a:t>
            </a:r>
            <a:r>
              <a:rPr sz="2600" spc="-26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repeater,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with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add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on</a:t>
            </a:r>
            <a:r>
              <a:rPr sz="2600" spc="-26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functionality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of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filtering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content</a:t>
            </a:r>
            <a:r>
              <a:rPr sz="2600" spc="-55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by</a:t>
            </a:r>
            <a:r>
              <a:rPr sz="2600" spc="-27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reading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130" dirty="0">
                <a:latin typeface="Trebuchet MS"/>
                <a:cs typeface="Trebuchet MS"/>
              </a:rPr>
              <a:t>MAC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addresses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of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15" dirty="0">
                <a:latin typeface="Trebuchet MS"/>
                <a:cs typeface="Trebuchet MS"/>
              </a:rPr>
              <a:t>source</a:t>
            </a:r>
            <a:r>
              <a:rPr sz="2600" spc="-2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destination.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65" dirty="0">
                <a:latin typeface="Trebuchet MS"/>
                <a:cs typeface="Trebuchet MS"/>
              </a:rPr>
              <a:t> </a:t>
            </a:r>
            <a:r>
              <a:rPr sz="2600" spc="40" dirty="0">
                <a:latin typeface="Trebuchet MS"/>
                <a:cs typeface="Trebuchet MS"/>
              </a:rPr>
              <a:t>is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35" dirty="0">
                <a:latin typeface="Trebuchet MS"/>
                <a:cs typeface="Trebuchet MS"/>
              </a:rPr>
              <a:t>also</a:t>
            </a:r>
            <a:r>
              <a:rPr sz="2600" spc="75" dirty="0">
                <a:latin typeface="Trebuchet MS"/>
                <a:cs typeface="Trebuchet MS"/>
              </a:rPr>
              <a:t> </a:t>
            </a:r>
            <a:r>
              <a:rPr sz="2600" spc="35" dirty="0">
                <a:latin typeface="Trebuchet MS"/>
                <a:cs typeface="Trebuchet MS"/>
              </a:rPr>
              <a:t>used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for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interconnecting</a:t>
            </a:r>
            <a:r>
              <a:rPr sz="2600" spc="-27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two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95" dirty="0">
                <a:latin typeface="Trebuchet MS"/>
                <a:cs typeface="Trebuchet MS"/>
              </a:rPr>
              <a:t>LANs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working</a:t>
            </a:r>
            <a:r>
              <a:rPr sz="2600" spc="-270" dirty="0">
                <a:latin typeface="Trebuchet MS"/>
                <a:cs typeface="Trebuchet MS"/>
              </a:rPr>
              <a:t> </a:t>
            </a:r>
            <a:r>
              <a:rPr sz="2600" spc="10" dirty="0">
                <a:latin typeface="Trebuchet MS"/>
                <a:cs typeface="Trebuchet MS"/>
              </a:rPr>
              <a:t>on</a:t>
            </a:r>
            <a:r>
              <a:rPr sz="2600" spc="-26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the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50" dirty="0">
                <a:latin typeface="Trebuchet MS"/>
                <a:cs typeface="Trebuchet MS"/>
              </a:rPr>
              <a:t>same</a:t>
            </a:r>
            <a:r>
              <a:rPr sz="2600" spc="-254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protocol.</a:t>
            </a:r>
            <a:endParaRPr sz="2600">
              <a:latin typeface="Trebuchet MS"/>
              <a:cs typeface="Trebuchet MS"/>
            </a:endParaRPr>
          </a:p>
          <a:p>
            <a:pPr marL="241300" marR="739140" indent="-229235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typically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connects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multiple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segments,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each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port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is </a:t>
            </a:r>
            <a:r>
              <a:rPr sz="2600" spc="-20" dirty="0">
                <a:latin typeface="Trebuchet MS"/>
                <a:cs typeface="Trebuchet MS"/>
              </a:rPr>
              <a:t>connected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different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segment.</a:t>
            </a:r>
            <a:endParaRPr sz="2600">
              <a:latin typeface="Trebuchet MS"/>
              <a:cs typeface="Trebuchet MS"/>
            </a:endParaRPr>
          </a:p>
          <a:p>
            <a:pPr marL="241300" marR="5080" indent="-229235">
              <a:lnSpc>
                <a:spcPts val="281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A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bridge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not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strictly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limited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two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ports,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have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multiple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ports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to </a:t>
            </a:r>
            <a:r>
              <a:rPr sz="2600" spc="-10" dirty="0">
                <a:latin typeface="Trebuchet MS"/>
                <a:cs typeface="Trebuchet MS"/>
              </a:rPr>
              <a:t>connect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manage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multiple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network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segments.</a:t>
            </a:r>
            <a:endParaRPr sz="2600">
              <a:latin typeface="Trebuchet MS"/>
              <a:cs typeface="Trebuchet MS"/>
            </a:endParaRPr>
          </a:p>
          <a:p>
            <a:pPr marL="241300" marR="237490" indent="-229235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Trebuchet MS"/>
                <a:cs typeface="Trebuchet MS"/>
              </a:rPr>
              <a:t>Modern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multi-</a:t>
            </a:r>
            <a:r>
              <a:rPr sz="2600" spc="-85" dirty="0">
                <a:latin typeface="Trebuchet MS"/>
                <a:cs typeface="Trebuchet MS"/>
              </a:rPr>
              <a:t>port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bridges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are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often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called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Layer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2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switches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because </a:t>
            </a:r>
            <a:r>
              <a:rPr sz="2600" spc="-100" dirty="0">
                <a:latin typeface="Trebuchet MS"/>
                <a:cs typeface="Trebuchet MS"/>
              </a:rPr>
              <a:t>they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perform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similar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functions.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6830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55" dirty="0"/>
              <a:t> </a:t>
            </a:r>
            <a:r>
              <a:rPr spc="-265" dirty="0"/>
              <a:t>of</a:t>
            </a:r>
            <a:r>
              <a:rPr spc="-455" dirty="0"/>
              <a:t> </a:t>
            </a:r>
            <a:r>
              <a:rPr spc="-140" dirty="0"/>
              <a:t>Bridges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14604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85" dirty="0">
                <a:latin typeface="Trebuchet MS"/>
                <a:cs typeface="Trebuchet MS"/>
              </a:rPr>
              <a:t>Transparent</a:t>
            </a:r>
            <a:r>
              <a:rPr b="1" spc="-204" dirty="0">
                <a:latin typeface="Trebuchet MS"/>
                <a:cs typeface="Trebuchet MS"/>
              </a:rPr>
              <a:t> </a:t>
            </a:r>
            <a:r>
              <a:rPr b="1" spc="-45" dirty="0">
                <a:latin typeface="Trebuchet MS"/>
                <a:cs typeface="Trebuchet MS"/>
              </a:rPr>
              <a:t>Bridges:</a:t>
            </a:r>
            <a:r>
              <a:rPr b="1" spc="-180" dirty="0">
                <a:latin typeface="Trebuchet MS"/>
                <a:cs typeface="Trebuchet MS"/>
              </a:rPr>
              <a:t> </a:t>
            </a:r>
            <a:r>
              <a:rPr spc="-50" dirty="0"/>
              <a:t>These</a:t>
            </a:r>
            <a:r>
              <a:rPr spc="-225" dirty="0"/>
              <a:t> </a:t>
            </a:r>
            <a:r>
              <a:rPr spc="-90" dirty="0"/>
              <a:t>are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45" dirty="0"/>
              <a:t> </a:t>
            </a:r>
            <a:r>
              <a:rPr spc="-80" dirty="0"/>
              <a:t>bridge</a:t>
            </a:r>
            <a:r>
              <a:rPr spc="-235" dirty="0"/>
              <a:t> </a:t>
            </a:r>
            <a:r>
              <a:rPr spc="-70" dirty="0"/>
              <a:t>in</a:t>
            </a:r>
            <a:r>
              <a:rPr spc="-245" dirty="0"/>
              <a:t> </a:t>
            </a:r>
            <a:r>
              <a:rPr spc="-40" dirty="0"/>
              <a:t>which</a:t>
            </a:r>
            <a:r>
              <a:rPr spc="-250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10" dirty="0"/>
              <a:t>stations 	</a:t>
            </a:r>
            <a:r>
              <a:rPr spc="-90" dirty="0"/>
              <a:t>are</a:t>
            </a:r>
            <a:r>
              <a:rPr spc="-229" dirty="0"/>
              <a:t> </a:t>
            </a:r>
            <a:r>
              <a:rPr spc="-55" dirty="0"/>
              <a:t>completely</a:t>
            </a:r>
            <a:r>
              <a:rPr spc="-225" dirty="0"/>
              <a:t> </a:t>
            </a:r>
            <a:r>
              <a:rPr spc="-55" dirty="0"/>
              <a:t>unaware</a:t>
            </a:r>
            <a:r>
              <a:rPr spc="-240" dirty="0"/>
              <a:t> </a:t>
            </a:r>
            <a:r>
              <a:rPr spc="-100" dirty="0"/>
              <a:t>of</a:t>
            </a:r>
            <a:r>
              <a:rPr spc="-229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100" dirty="0"/>
              <a:t>bridge’s</a:t>
            </a:r>
            <a:r>
              <a:rPr spc="-225" dirty="0"/>
              <a:t> </a:t>
            </a:r>
            <a:r>
              <a:rPr spc="-65" dirty="0"/>
              <a:t>existence</a:t>
            </a:r>
            <a:r>
              <a:rPr spc="-220" dirty="0"/>
              <a:t> </a:t>
            </a:r>
            <a:r>
              <a:rPr spc="-215" dirty="0"/>
              <a:t>i.e.</a:t>
            </a:r>
            <a:r>
              <a:rPr spc="-250" dirty="0"/>
              <a:t> </a:t>
            </a:r>
            <a:r>
              <a:rPr spc="-85" dirty="0"/>
              <a:t>whether</a:t>
            </a:r>
            <a:r>
              <a:rPr spc="-225" dirty="0"/>
              <a:t> </a:t>
            </a:r>
            <a:r>
              <a:rPr spc="-25" dirty="0"/>
              <a:t>or 	</a:t>
            </a:r>
            <a:r>
              <a:rPr spc="-65" dirty="0"/>
              <a:t>not</a:t>
            </a:r>
            <a:r>
              <a:rPr spc="-245" dirty="0"/>
              <a:t> </a:t>
            </a:r>
            <a:r>
              <a:rPr dirty="0"/>
              <a:t>a</a:t>
            </a:r>
            <a:r>
              <a:rPr spc="-235" dirty="0"/>
              <a:t> </a:t>
            </a:r>
            <a:r>
              <a:rPr spc="-80" dirty="0"/>
              <a:t>bridge</a:t>
            </a:r>
            <a:r>
              <a:rPr spc="-225" dirty="0"/>
              <a:t> </a:t>
            </a:r>
            <a:r>
              <a:rPr dirty="0"/>
              <a:t>is</a:t>
            </a:r>
            <a:r>
              <a:rPr spc="-235" dirty="0"/>
              <a:t> </a:t>
            </a:r>
            <a:r>
              <a:rPr spc="-25" dirty="0"/>
              <a:t>added</a:t>
            </a:r>
            <a:r>
              <a:rPr spc="-220" dirty="0"/>
              <a:t> </a:t>
            </a:r>
            <a:r>
              <a:rPr spc="-75" dirty="0"/>
              <a:t>or</a:t>
            </a:r>
            <a:r>
              <a:rPr spc="-235" dirty="0"/>
              <a:t> </a:t>
            </a:r>
            <a:r>
              <a:rPr spc="-80" dirty="0"/>
              <a:t>deleted</a:t>
            </a:r>
            <a:r>
              <a:rPr spc="-235" dirty="0"/>
              <a:t> </a:t>
            </a:r>
            <a:r>
              <a:rPr spc="-90" dirty="0"/>
              <a:t>from</a:t>
            </a:r>
            <a:r>
              <a:rPr spc="-235" dirty="0"/>
              <a:t> </a:t>
            </a:r>
            <a:r>
              <a:rPr spc="-105" dirty="0"/>
              <a:t>the</a:t>
            </a:r>
            <a:r>
              <a:rPr spc="-235" dirty="0"/>
              <a:t> </a:t>
            </a:r>
            <a:r>
              <a:rPr spc="-105" dirty="0"/>
              <a:t>network,</a:t>
            </a:r>
            <a:r>
              <a:rPr spc="-229" dirty="0"/>
              <a:t> </a:t>
            </a:r>
            <a:r>
              <a:rPr spc="-40" dirty="0"/>
              <a:t>reconfiguration 	</a:t>
            </a:r>
            <a:r>
              <a:rPr spc="-100" dirty="0"/>
              <a:t>of</a:t>
            </a:r>
            <a:r>
              <a:rPr spc="-229" dirty="0"/>
              <a:t> </a:t>
            </a:r>
            <a:r>
              <a:rPr spc="-90" dirty="0"/>
              <a:t>the</a:t>
            </a:r>
            <a:r>
              <a:rPr spc="-240" dirty="0"/>
              <a:t> </a:t>
            </a:r>
            <a:r>
              <a:rPr spc="-30" dirty="0"/>
              <a:t>stations</a:t>
            </a:r>
            <a:r>
              <a:rPr spc="-235" dirty="0"/>
              <a:t> </a:t>
            </a:r>
            <a:r>
              <a:rPr dirty="0"/>
              <a:t>is</a:t>
            </a:r>
            <a:r>
              <a:rPr spc="-240" dirty="0"/>
              <a:t> </a:t>
            </a:r>
            <a:r>
              <a:rPr spc="-30" dirty="0"/>
              <a:t>unnecessary.</a:t>
            </a:r>
            <a:r>
              <a:rPr spc="-210" dirty="0"/>
              <a:t> </a:t>
            </a:r>
            <a:r>
              <a:rPr spc="-50" dirty="0"/>
              <a:t>These</a:t>
            </a:r>
            <a:r>
              <a:rPr spc="-215" dirty="0"/>
              <a:t> </a:t>
            </a:r>
            <a:r>
              <a:rPr spc="-40" dirty="0"/>
              <a:t>bridges</a:t>
            </a:r>
            <a:r>
              <a:rPr spc="-220" dirty="0"/>
              <a:t> </a:t>
            </a:r>
            <a:r>
              <a:rPr spc="-40" dirty="0"/>
              <a:t>make</a:t>
            </a:r>
            <a:r>
              <a:rPr spc="-215" dirty="0"/>
              <a:t> </a:t>
            </a:r>
            <a:r>
              <a:rPr spc="55" dirty="0"/>
              <a:t>use</a:t>
            </a:r>
            <a:r>
              <a:rPr spc="-220" dirty="0"/>
              <a:t> </a:t>
            </a:r>
            <a:r>
              <a:rPr spc="-100" dirty="0"/>
              <a:t>of</a:t>
            </a:r>
            <a:r>
              <a:rPr spc="-240" dirty="0"/>
              <a:t> </a:t>
            </a:r>
            <a:r>
              <a:rPr spc="-25" dirty="0"/>
              <a:t>two 	</a:t>
            </a:r>
            <a:r>
              <a:rPr spc="50" dirty="0"/>
              <a:t>processes</a:t>
            </a:r>
            <a:r>
              <a:rPr spc="-204" dirty="0"/>
              <a:t> </a:t>
            </a:r>
            <a:r>
              <a:rPr spc="-215" dirty="0"/>
              <a:t>i.e.</a:t>
            </a:r>
            <a:r>
              <a:rPr spc="-250" dirty="0"/>
              <a:t> </a:t>
            </a:r>
            <a:r>
              <a:rPr spc="-85" dirty="0"/>
              <a:t>bridge</a:t>
            </a:r>
            <a:r>
              <a:rPr spc="-235" dirty="0"/>
              <a:t> </a:t>
            </a:r>
            <a:r>
              <a:rPr spc="-85" dirty="0"/>
              <a:t>forwarding</a:t>
            </a:r>
            <a:r>
              <a:rPr spc="-235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85" dirty="0"/>
              <a:t>bridge</a:t>
            </a:r>
            <a:r>
              <a:rPr spc="-225" dirty="0"/>
              <a:t> </a:t>
            </a:r>
            <a:r>
              <a:rPr spc="-10" dirty="0"/>
              <a:t>learning.</a:t>
            </a:r>
          </a:p>
          <a:p>
            <a:pPr marL="239395" marR="508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10" dirty="0">
                <a:latin typeface="Trebuchet MS"/>
                <a:cs typeface="Trebuchet MS"/>
              </a:rPr>
              <a:t>Source</a:t>
            </a:r>
            <a:r>
              <a:rPr b="1" spc="-215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Routing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spc="-35" dirty="0">
                <a:latin typeface="Trebuchet MS"/>
                <a:cs typeface="Trebuchet MS"/>
              </a:rPr>
              <a:t>Bridges:</a:t>
            </a:r>
            <a:r>
              <a:rPr b="1" spc="-175" dirty="0">
                <a:latin typeface="Trebuchet MS"/>
                <a:cs typeface="Trebuchet MS"/>
              </a:rPr>
              <a:t> </a:t>
            </a:r>
            <a:r>
              <a:rPr spc="-35" dirty="0"/>
              <a:t>In</a:t>
            </a:r>
            <a:r>
              <a:rPr spc="-229" dirty="0"/>
              <a:t> </a:t>
            </a:r>
            <a:r>
              <a:rPr spc="-25" dirty="0"/>
              <a:t>these</a:t>
            </a:r>
            <a:r>
              <a:rPr spc="-210" dirty="0"/>
              <a:t> </a:t>
            </a:r>
            <a:r>
              <a:rPr spc="-70" dirty="0"/>
              <a:t>bridges,</a:t>
            </a:r>
            <a:r>
              <a:rPr spc="-220" dirty="0"/>
              <a:t> </a:t>
            </a:r>
            <a:r>
              <a:rPr spc="-85" dirty="0"/>
              <a:t>routing</a:t>
            </a:r>
            <a:r>
              <a:rPr spc="-235" dirty="0"/>
              <a:t> </a:t>
            </a:r>
            <a:r>
              <a:rPr spc="-40" dirty="0"/>
              <a:t>operations</a:t>
            </a:r>
            <a:r>
              <a:rPr spc="-220" dirty="0"/>
              <a:t> </a:t>
            </a:r>
            <a:r>
              <a:rPr spc="-25" dirty="0"/>
              <a:t>is 	</a:t>
            </a:r>
            <a:r>
              <a:rPr spc="-80" dirty="0"/>
              <a:t>performed</a:t>
            </a:r>
            <a:r>
              <a:rPr spc="-215" dirty="0"/>
              <a:t> </a:t>
            </a:r>
            <a:r>
              <a:rPr spc="-80" dirty="0"/>
              <a:t>by</a:t>
            </a:r>
            <a:r>
              <a:rPr spc="-235" dirty="0"/>
              <a:t> </a:t>
            </a:r>
            <a:r>
              <a:rPr spc="-90" dirty="0"/>
              <a:t>the</a:t>
            </a:r>
            <a:r>
              <a:rPr spc="-240" dirty="0"/>
              <a:t> </a:t>
            </a:r>
            <a:r>
              <a:rPr dirty="0"/>
              <a:t>source</a:t>
            </a:r>
            <a:r>
              <a:rPr spc="-215" dirty="0"/>
              <a:t> </a:t>
            </a:r>
            <a:r>
              <a:rPr spc="-60" dirty="0"/>
              <a:t>station</a:t>
            </a:r>
            <a:r>
              <a:rPr spc="-229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100" dirty="0"/>
              <a:t>frame</a:t>
            </a:r>
            <a:r>
              <a:rPr spc="-220" dirty="0"/>
              <a:t> </a:t>
            </a:r>
            <a:r>
              <a:rPr spc="-20" dirty="0"/>
              <a:t>specifies</a:t>
            </a:r>
            <a:r>
              <a:rPr spc="-225" dirty="0"/>
              <a:t> </a:t>
            </a:r>
            <a:r>
              <a:rPr spc="-10" dirty="0"/>
              <a:t>which 	</a:t>
            </a:r>
            <a:r>
              <a:rPr spc="-95" dirty="0"/>
              <a:t>route</a:t>
            </a:r>
            <a:r>
              <a:rPr spc="-240" dirty="0"/>
              <a:t> </a:t>
            </a:r>
            <a:r>
              <a:rPr spc="-105" dirty="0"/>
              <a:t>to</a:t>
            </a:r>
            <a:r>
              <a:rPr spc="-229" dirty="0"/>
              <a:t> </a:t>
            </a:r>
            <a:r>
              <a:rPr spc="-135" dirty="0"/>
              <a:t>follow.</a:t>
            </a:r>
            <a:r>
              <a:rPr spc="-254" dirty="0"/>
              <a:t> </a:t>
            </a:r>
            <a:r>
              <a:rPr spc="-130" dirty="0"/>
              <a:t>The</a:t>
            </a:r>
            <a:r>
              <a:rPr spc="-240" dirty="0"/>
              <a:t> </a:t>
            </a:r>
            <a:r>
              <a:rPr dirty="0"/>
              <a:t>host</a:t>
            </a:r>
            <a:r>
              <a:rPr spc="-245" dirty="0"/>
              <a:t> </a:t>
            </a:r>
            <a:r>
              <a:rPr dirty="0"/>
              <a:t>can</a:t>
            </a:r>
            <a:r>
              <a:rPr spc="-225" dirty="0"/>
              <a:t> </a:t>
            </a:r>
            <a:r>
              <a:rPr spc="-30" dirty="0"/>
              <a:t>discover</a:t>
            </a:r>
            <a:r>
              <a:rPr spc="-220" dirty="0"/>
              <a:t> </a:t>
            </a:r>
            <a:r>
              <a:rPr spc="-90" dirty="0"/>
              <a:t>the</a:t>
            </a:r>
            <a:r>
              <a:rPr spc="-254" dirty="0"/>
              <a:t> </a:t>
            </a:r>
            <a:r>
              <a:rPr spc="-100" dirty="0"/>
              <a:t>frame</a:t>
            </a:r>
            <a:r>
              <a:rPr spc="-229" dirty="0"/>
              <a:t> </a:t>
            </a:r>
            <a:r>
              <a:rPr spc="-80" dirty="0"/>
              <a:t>by</a:t>
            </a:r>
            <a:r>
              <a:rPr spc="-245" dirty="0"/>
              <a:t> </a:t>
            </a:r>
            <a:r>
              <a:rPr spc="-10" dirty="0"/>
              <a:t>sending</a:t>
            </a:r>
            <a:r>
              <a:rPr spc="-220" dirty="0"/>
              <a:t> </a:t>
            </a:r>
            <a:r>
              <a:rPr spc="-50" dirty="0"/>
              <a:t>a 	</a:t>
            </a:r>
            <a:r>
              <a:rPr spc="-10" dirty="0"/>
              <a:t>special</a:t>
            </a:r>
            <a:r>
              <a:rPr spc="-204" dirty="0"/>
              <a:t> </a:t>
            </a:r>
            <a:r>
              <a:rPr spc="-100" dirty="0"/>
              <a:t>frame</a:t>
            </a:r>
            <a:r>
              <a:rPr spc="-204" dirty="0"/>
              <a:t> </a:t>
            </a:r>
            <a:r>
              <a:rPr spc="-40" dirty="0"/>
              <a:t>called</a:t>
            </a:r>
            <a:r>
              <a:rPr spc="-215" dirty="0"/>
              <a:t> </a:t>
            </a:r>
            <a:r>
              <a:rPr spc="-90" dirty="0"/>
              <a:t>the</a:t>
            </a:r>
            <a:r>
              <a:rPr spc="-195" dirty="0"/>
              <a:t> </a:t>
            </a:r>
            <a:r>
              <a:rPr b="1" i="1" spc="-65" dirty="0">
                <a:latin typeface="Trebuchet MS"/>
                <a:cs typeface="Trebuchet MS"/>
              </a:rPr>
              <a:t>discovery</a:t>
            </a:r>
            <a:r>
              <a:rPr b="1" i="1" spc="-185" dirty="0">
                <a:latin typeface="Trebuchet MS"/>
                <a:cs typeface="Trebuchet MS"/>
              </a:rPr>
              <a:t> </a:t>
            </a:r>
            <a:r>
              <a:rPr b="1" i="1" spc="-130" dirty="0">
                <a:latin typeface="Trebuchet MS"/>
                <a:cs typeface="Trebuchet MS"/>
              </a:rPr>
              <a:t>frame</a:t>
            </a:r>
            <a:r>
              <a:rPr spc="-130" dirty="0"/>
              <a:t>,</a:t>
            </a:r>
            <a:r>
              <a:rPr spc="-204" dirty="0"/>
              <a:t> </a:t>
            </a:r>
            <a:r>
              <a:rPr spc="-40" dirty="0"/>
              <a:t>which</a:t>
            </a:r>
            <a:r>
              <a:rPr spc="-220" dirty="0"/>
              <a:t> </a:t>
            </a:r>
            <a:r>
              <a:rPr dirty="0"/>
              <a:t>spreads</a:t>
            </a:r>
            <a:r>
              <a:rPr spc="-190" dirty="0"/>
              <a:t> </a:t>
            </a:r>
            <a:r>
              <a:rPr spc="-10" dirty="0"/>
              <a:t>through 	</a:t>
            </a:r>
            <a:r>
              <a:rPr spc="-105" dirty="0"/>
              <a:t>the</a:t>
            </a:r>
            <a:r>
              <a:rPr spc="-225" dirty="0"/>
              <a:t> </a:t>
            </a:r>
            <a:r>
              <a:rPr spc="-120" dirty="0"/>
              <a:t>entire</a:t>
            </a:r>
            <a:r>
              <a:rPr spc="-235" dirty="0"/>
              <a:t> </a:t>
            </a:r>
            <a:r>
              <a:rPr spc="-80" dirty="0"/>
              <a:t>network</a:t>
            </a:r>
            <a:r>
              <a:rPr spc="-225" dirty="0"/>
              <a:t> </a:t>
            </a:r>
            <a:r>
              <a:rPr dirty="0"/>
              <a:t>using</a:t>
            </a:r>
            <a:r>
              <a:rPr spc="-215" dirty="0"/>
              <a:t> </a:t>
            </a:r>
            <a:r>
              <a:rPr spc="-75" dirty="0"/>
              <a:t>all</a:t>
            </a:r>
            <a:r>
              <a:rPr spc="-240" dirty="0"/>
              <a:t> </a:t>
            </a:r>
            <a:r>
              <a:rPr dirty="0"/>
              <a:t>possible</a:t>
            </a:r>
            <a:r>
              <a:rPr spc="-200" dirty="0"/>
              <a:t> </a:t>
            </a:r>
            <a:r>
              <a:rPr spc="-10" dirty="0"/>
              <a:t>paths</a:t>
            </a:r>
            <a:r>
              <a:rPr spc="-229" dirty="0"/>
              <a:t> </a:t>
            </a:r>
            <a:r>
              <a:rPr spc="-105" dirty="0"/>
              <a:t>to</a:t>
            </a:r>
            <a:r>
              <a:rPr spc="-220" dirty="0"/>
              <a:t> </a:t>
            </a:r>
            <a:r>
              <a:rPr spc="-105" dirty="0"/>
              <a:t>the</a:t>
            </a:r>
            <a:r>
              <a:rPr spc="-225" dirty="0"/>
              <a:t> </a:t>
            </a:r>
            <a:r>
              <a:rPr spc="-10" dirty="0"/>
              <a:t>destination.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15754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89210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switch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multiport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bridge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buffer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designed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can 	</a:t>
            </a:r>
            <a:r>
              <a:rPr sz="2800" dirty="0">
                <a:latin typeface="Trebuchet MS"/>
                <a:cs typeface="Trebuchet MS"/>
              </a:rPr>
              <a:t>boost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its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efficiency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(a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large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number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ports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imply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less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traffic)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10" dirty="0">
                <a:latin typeface="Trebuchet MS"/>
                <a:cs typeface="Trebuchet MS"/>
              </a:rPr>
              <a:t>performance.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switch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link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device.</a:t>
            </a:r>
            <a:endParaRPr sz="2800">
              <a:latin typeface="Trebuchet MS"/>
              <a:cs typeface="Trebuchet MS"/>
            </a:endParaRPr>
          </a:p>
          <a:p>
            <a:pPr marL="240029" marR="295910" indent="-227965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switch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perform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error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checking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before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forwarding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data, 	</a:t>
            </a:r>
            <a:r>
              <a:rPr sz="2800" spc="-30" dirty="0">
                <a:latin typeface="Trebuchet MS"/>
                <a:cs typeface="Trebuchet MS"/>
              </a:rPr>
              <a:t>which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makes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very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efficient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forward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 	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errors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forward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good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selectively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correct 	</a:t>
            </a:r>
            <a:r>
              <a:rPr sz="2800" spc="-95" dirty="0">
                <a:latin typeface="Trebuchet MS"/>
                <a:cs typeface="Trebuchet MS"/>
              </a:rPr>
              <a:t>port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only.</a:t>
            </a:r>
            <a:endParaRPr sz="2800">
              <a:latin typeface="Trebuchet MS"/>
              <a:cs typeface="Trebuchet MS"/>
            </a:endParaRPr>
          </a:p>
          <a:p>
            <a:pPr marL="240029" marR="27559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5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words,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switch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divides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collision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domain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hosts, 	</a:t>
            </a:r>
            <a:r>
              <a:rPr sz="2800" spc="-65" dirty="0">
                <a:latin typeface="Trebuchet MS"/>
                <a:cs typeface="Trebuchet MS"/>
              </a:rPr>
              <a:t>but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broadcast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domain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remains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same.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405" dirty="0"/>
              <a:t> </a:t>
            </a:r>
            <a:r>
              <a:rPr spc="-11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281285" cy="41205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22860" indent="-227965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Trebuchet MS"/>
                <a:cs typeface="Trebuchet MS"/>
              </a:rPr>
              <a:t>Unmanaged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simple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plug-</a:t>
            </a:r>
            <a:r>
              <a:rPr sz="2800" spc="-20" dirty="0">
                <a:latin typeface="Trebuchet MS"/>
                <a:cs typeface="Trebuchet MS"/>
              </a:rPr>
              <a:t>and- 	</a:t>
            </a:r>
            <a:r>
              <a:rPr sz="2800" spc="-60" dirty="0">
                <a:latin typeface="Trebuchet MS"/>
                <a:cs typeface="Trebuchet MS"/>
              </a:rPr>
              <a:t>play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design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offer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advanced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configuration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options.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They 	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suitable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for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small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networks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use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expansion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110" dirty="0">
                <a:latin typeface="Trebuchet MS"/>
                <a:cs typeface="Trebuchet MS"/>
              </a:rPr>
              <a:t>larger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rebuchet MS"/>
                <a:cs typeface="Trebuchet MS"/>
              </a:rPr>
              <a:t>Managed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offer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advanced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configuration 	</a:t>
            </a:r>
            <a:r>
              <a:rPr sz="2800" spc="-10" dirty="0">
                <a:latin typeface="Trebuchet MS"/>
                <a:cs typeface="Trebuchet MS"/>
              </a:rPr>
              <a:t>options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such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VLANs,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QoS,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link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aggregation.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are 	</a:t>
            </a:r>
            <a:r>
              <a:rPr sz="2800" spc="-45" dirty="0">
                <a:latin typeface="Trebuchet MS"/>
                <a:cs typeface="Trebuchet MS"/>
              </a:rPr>
              <a:t>suitable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for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larger,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more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complex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networks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allow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	</a:t>
            </a:r>
            <a:r>
              <a:rPr sz="2800" spc="-90" dirty="0">
                <a:latin typeface="Trebuchet MS"/>
                <a:cs typeface="Trebuchet MS"/>
              </a:rPr>
              <a:t>centralized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management.</a:t>
            </a:r>
            <a:endParaRPr sz="2800">
              <a:latin typeface="Trebuchet MS"/>
              <a:cs typeface="Trebuchet MS"/>
            </a:endParaRPr>
          </a:p>
          <a:p>
            <a:pPr marL="240029" marR="196850" indent="-227965">
              <a:lnSpc>
                <a:spcPts val="269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rebuchet MS"/>
                <a:cs typeface="Trebuchet MS"/>
              </a:rPr>
              <a:t>Smart</a:t>
            </a:r>
            <a:r>
              <a:rPr sz="2800" b="1" spc="-200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features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similar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spc="-20" dirty="0">
                <a:latin typeface="Trebuchet MS"/>
                <a:cs typeface="Trebuchet MS"/>
              </a:rPr>
              <a:t>managed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but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typically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easier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set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up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manage. 	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suitable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small-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medium-sized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405" dirty="0"/>
              <a:t> </a:t>
            </a:r>
            <a:r>
              <a:rPr spc="-11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253345" cy="2883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0" dirty="0">
                <a:latin typeface="Trebuchet MS"/>
                <a:cs typeface="Trebuchet MS"/>
              </a:rPr>
              <a:t>Layer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155" dirty="0">
                <a:latin typeface="Trebuchet MS"/>
                <a:cs typeface="Trebuchet MS"/>
              </a:rPr>
              <a:t>2</a:t>
            </a:r>
            <a:r>
              <a:rPr sz="2800" b="1" spc="-23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operate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Link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layer 	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OSI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model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responsible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forwarding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between 	</a:t>
            </a:r>
            <a:r>
              <a:rPr sz="2800" spc="-20" dirty="0">
                <a:latin typeface="Trebuchet MS"/>
                <a:cs typeface="Trebuchet MS"/>
              </a:rPr>
              <a:t>devices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same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network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segment.</a:t>
            </a:r>
            <a:endParaRPr sz="2800">
              <a:latin typeface="Trebuchet MS"/>
              <a:cs typeface="Trebuchet MS"/>
            </a:endParaRPr>
          </a:p>
          <a:p>
            <a:pPr marL="240029" marR="6985" indent="-227965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0" dirty="0">
                <a:latin typeface="Trebuchet MS"/>
                <a:cs typeface="Trebuchet MS"/>
              </a:rPr>
              <a:t>Layer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b="1" spc="-155" dirty="0">
                <a:latin typeface="Trebuchet MS"/>
                <a:cs typeface="Trebuchet MS"/>
              </a:rPr>
              <a:t>3</a:t>
            </a:r>
            <a:r>
              <a:rPr sz="2800" b="1" spc="-235" dirty="0">
                <a:latin typeface="Trebuchet MS"/>
                <a:cs typeface="Trebuchet MS"/>
              </a:rPr>
              <a:t> </a:t>
            </a:r>
            <a:r>
              <a:rPr sz="2800" b="1" spc="-25" dirty="0">
                <a:latin typeface="Trebuchet MS"/>
                <a:cs typeface="Trebuchet MS"/>
              </a:rPr>
              <a:t>switches: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operate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Network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	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OSI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model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route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different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 	</a:t>
            </a:r>
            <a:r>
              <a:rPr sz="2800" spc="-30" dirty="0">
                <a:latin typeface="Trebuchet MS"/>
                <a:cs typeface="Trebuchet MS"/>
              </a:rPr>
              <a:t>segments.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more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advanced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2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are 	</a:t>
            </a:r>
            <a:r>
              <a:rPr sz="2800" spc="-100" dirty="0">
                <a:latin typeface="Trebuchet MS"/>
                <a:cs typeface="Trebuchet MS"/>
              </a:rPr>
              <a:t>often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larger,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more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complex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405" dirty="0"/>
              <a:t> </a:t>
            </a:r>
            <a:r>
              <a:rPr spc="-11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005060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75247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5" dirty="0">
                <a:latin typeface="Trebuchet MS"/>
                <a:cs typeface="Trebuchet MS"/>
              </a:rPr>
              <a:t>PoE</a:t>
            </a:r>
            <a:r>
              <a:rPr sz="2800" b="1" spc="-23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Power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Ethernet 	</a:t>
            </a:r>
            <a:r>
              <a:rPr sz="2800" spc="-70" dirty="0">
                <a:latin typeface="Trebuchet MS"/>
                <a:cs typeface="Trebuchet MS"/>
              </a:rPr>
              <a:t>capabilities,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allows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them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supply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power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 	</a:t>
            </a:r>
            <a:r>
              <a:rPr sz="2800" spc="-20" dirty="0">
                <a:latin typeface="Trebuchet MS"/>
                <a:cs typeface="Trebuchet MS"/>
              </a:rPr>
              <a:t>devices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same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that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carries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data.</a:t>
            </a:r>
            <a:endParaRPr sz="2800">
              <a:latin typeface="Trebuchet MS"/>
              <a:cs typeface="Trebuchet MS"/>
            </a:endParaRPr>
          </a:p>
          <a:p>
            <a:pPr marL="240029" marR="71755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30" dirty="0">
                <a:latin typeface="Trebuchet MS"/>
                <a:cs typeface="Trebuchet MS"/>
              </a:rPr>
              <a:t>Gigabit</a:t>
            </a:r>
            <a:r>
              <a:rPr sz="2800" b="1" spc="-195" dirty="0">
                <a:latin typeface="Trebuchet MS"/>
                <a:cs typeface="Trebuchet MS"/>
              </a:rPr>
              <a:t> </a:t>
            </a:r>
            <a:r>
              <a:rPr sz="2800" b="1" spc="-25" dirty="0">
                <a:latin typeface="Trebuchet MS"/>
                <a:cs typeface="Trebuchet MS"/>
              </a:rPr>
              <a:t>switches:</a:t>
            </a:r>
            <a:r>
              <a:rPr sz="2800" b="1" spc="-15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support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Gigabit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Ethernet 	</a:t>
            </a:r>
            <a:r>
              <a:rPr sz="2800" dirty="0">
                <a:latin typeface="Trebuchet MS"/>
                <a:cs typeface="Trebuchet MS"/>
              </a:rPr>
              <a:t>speeds,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faster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traditional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Ethernet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speeds.</a:t>
            </a: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rebuchet MS"/>
                <a:cs typeface="Trebuchet MS"/>
              </a:rPr>
              <a:t>Rack-</a:t>
            </a:r>
            <a:r>
              <a:rPr sz="2800" b="1" spc="-20" dirty="0">
                <a:latin typeface="Trebuchet MS"/>
                <a:cs typeface="Trebuchet MS"/>
              </a:rPr>
              <a:t>Mounted</a:t>
            </a:r>
            <a:r>
              <a:rPr sz="2800" b="1" spc="-19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designed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be 	</a:t>
            </a:r>
            <a:r>
              <a:rPr sz="2800" spc="-35" dirty="0">
                <a:latin typeface="Trebuchet MS"/>
                <a:cs typeface="Trebuchet MS"/>
              </a:rPr>
              <a:t>mounted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server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rack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suitable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use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centers 	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large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Types</a:t>
            </a:r>
            <a:r>
              <a:rPr spc="-465" dirty="0"/>
              <a:t> </a:t>
            </a:r>
            <a:r>
              <a:rPr spc="-265" dirty="0"/>
              <a:t>of</a:t>
            </a:r>
            <a:r>
              <a:rPr spc="405" dirty="0"/>
              <a:t> </a:t>
            </a:r>
            <a:r>
              <a:rPr spc="-110" dirty="0"/>
              <a:t>Switch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61905" cy="24987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rebuchet MS"/>
                <a:cs typeface="Trebuchet MS"/>
              </a:rPr>
              <a:t>Desktop</a:t>
            </a:r>
            <a:r>
              <a:rPr sz="2800" b="1" spc="-215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6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designed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use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20" dirty="0">
                <a:latin typeface="Trebuchet MS"/>
                <a:cs typeface="Trebuchet MS"/>
              </a:rPr>
              <a:t>desktop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small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office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environment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typically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smaller 	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size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than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rack-</a:t>
            </a:r>
            <a:r>
              <a:rPr sz="2800" spc="-35" dirty="0">
                <a:latin typeface="Trebuchet MS"/>
                <a:cs typeface="Trebuchet MS"/>
              </a:rPr>
              <a:t>mounted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switches.</a:t>
            </a:r>
            <a:endParaRPr sz="2800">
              <a:latin typeface="Trebuchet MS"/>
              <a:cs typeface="Trebuchet MS"/>
            </a:endParaRPr>
          </a:p>
          <a:p>
            <a:pPr marL="240029" marR="11430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Trebuchet MS"/>
                <a:cs typeface="Trebuchet MS"/>
              </a:rPr>
              <a:t>Modular</a:t>
            </a:r>
            <a:r>
              <a:rPr sz="2800" b="1" spc="-229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Switches: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These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switches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modular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design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that 	</a:t>
            </a:r>
            <a:r>
              <a:rPr sz="2800" spc="-10" dirty="0">
                <a:latin typeface="Trebuchet MS"/>
                <a:cs typeface="Trebuchet MS"/>
              </a:rPr>
              <a:t>allows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easy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expansion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customization.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suitable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	</a:t>
            </a:r>
            <a:r>
              <a:rPr sz="2800" spc="-95" dirty="0">
                <a:latin typeface="Trebuchet MS"/>
                <a:cs typeface="Trebuchet MS"/>
              </a:rPr>
              <a:t>large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networks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centers.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15436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Router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4478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router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device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like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switch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routes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based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on 	</a:t>
            </a:r>
            <a:r>
              <a:rPr sz="2800" spc="-120" dirty="0">
                <a:latin typeface="Trebuchet MS"/>
                <a:cs typeface="Trebuchet MS"/>
              </a:rPr>
              <a:t>their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IP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addresses.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router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mainly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Network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Layer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device.</a:t>
            </a:r>
            <a:endParaRPr sz="2800">
              <a:latin typeface="Trebuchet MS"/>
              <a:cs typeface="Trebuchet MS"/>
            </a:endParaRPr>
          </a:p>
          <a:p>
            <a:pPr marL="240029" marR="697865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Trebuchet MS"/>
                <a:cs typeface="Trebuchet MS"/>
              </a:rPr>
              <a:t>Routers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normally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connect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LANs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WANs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have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45" dirty="0">
                <a:latin typeface="Trebuchet MS"/>
                <a:cs typeface="Trebuchet MS"/>
              </a:rPr>
              <a:t>dynamically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updating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routing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table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based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they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make 	</a:t>
            </a:r>
            <a:r>
              <a:rPr sz="2800" dirty="0">
                <a:latin typeface="Trebuchet MS"/>
                <a:cs typeface="Trebuchet MS"/>
              </a:rPr>
              <a:t>decisions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routing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data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packets.</a:t>
            </a:r>
            <a:endParaRPr sz="2800">
              <a:latin typeface="Trebuchet MS"/>
              <a:cs typeface="Trebuchet MS"/>
            </a:endParaRPr>
          </a:p>
          <a:p>
            <a:pPr marL="240029" marR="74930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router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divides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broadcast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domains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hosts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connected 	</a:t>
            </a:r>
            <a:r>
              <a:rPr sz="2800" spc="-70" dirty="0">
                <a:latin typeface="Trebuchet MS"/>
                <a:cs typeface="Trebuchet MS"/>
              </a:rPr>
              <a:t>through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4539" y="365074"/>
            <a:ext cx="1199324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20307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Gateway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0388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A</a:t>
            </a:r>
            <a:r>
              <a:rPr spc="-225" dirty="0"/>
              <a:t> </a:t>
            </a:r>
            <a:r>
              <a:rPr spc="-140" dirty="0"/>
              <a:t>gateway,</a:t>
            </a:r>
            <a:r>
              <a:rPr spc="-210" dirty="0"/>
              <a:t> </a:t>
            </a:r>
            <a:r>
              <a:rPr spc="100" dirty="0"/>
              <a:t>as</a:t>
            </a:r>
            <a:r>
              <a:rPr spc="-204" dirty="0"/>
              <a:t> </a:t>
            </a:r>
            <a:r>
              <a:rPr spc="-90" dirty="0"/>
              <a:t>the</a:t>
            </a:r>
            <a:r>
              <a:rPr spc="-220" dirty="0"/>
              <a:t> </a:t>
            </a:r>
            <a:r>
              <a:rPr dirty="0"/>
              <a:t>name</a:t>
            </a:r>
            <a:r>
              <a:rPr spc="-210" dirty="0"/>
              <a:t> </a:t>
            </a:r>
            <a:r>
              <a:rPr spc="-10" dirty="0"/>
              <a:t>suggests,</a:t>
            </a:r>
            <a:r>
              <a:rPr spc="-185" dirty="0"/>
              <a:t> </a:t>
            </a:r>
            <a:r>
              <a:rPr dirty="0"/>
              <a:t>is</a:t>
            </a:r>
            <a:r>
              <a:rPr spc="-225" dirty="0"/>
              <a:t> </a:t>
            </a:r>
            <a:r>
              <a:rPr dirty="0"/>
              <a:t>a</a:t>
            </a:r>
            <a:r>
              <a:rPr spc="-220" dirty="0"/>
              <a:t> </a:t>
            </a:r>
            <a:r>
              <a:rPr dirty="0"/>
              <a:t>passage</a:t>
            </a:r>
            <a:r>
              <a:rPr spc="-185" dirty="0"/>
              <a:t> </a:t>
            </a:r>
            <a:r>
              <a:rPr spc="-105" dirty="0"/>
              <a:t>to</a:t>
            </a:r>
            <a:r>
              <a:rPr spc="-210" dirty="0"/>
              <a:t> </a:t>
            </a:r>
            <a:r>
              <a:rPr spc="-25" dirty="0"/>
              <a:t>connect</a:t>
            </a:r>
            <a:r>
              <a:rPr spc="-195" dirty="0"/>
              <a:t> </a:t>
            </a:r>
            <a:r>
              <a:rPr spc="-25" dirty="0"/>
              <a:t>two 	</a:t>
            </a:r>
            <a:r>
              <a:rPr spc="-60" dirty="0"/>
              <a:t>networks</a:t>
            </a:r>
            <a:r>
              <a:rPr spc="-220" dirty="0"/>
              <a:t> </a:t>
            </a:r>
            <a:r>
              <a:rPr spc="-120" dirty="0"/>
              <a:t>that</a:t>
            </a:r>
            <a:r>
              <a:rPr spc="-229" dirty="0"/>
              <a:t> </a:t>
            </a:r>
            <a:r>
              <a:rPr spc="-35" dirty="0"/>
              <a:t>may</a:t>
            </a:r>
            <a:r>
              <a:rPr spc="-235" dirty="0"/>
              <a:t> </a:t>
            </a:r>
            <a:r>
              <a:rPr spc="-85" dirty="0"/>
              <a:t>work</a:t>
            </a:r>
            <a:r>
              <a:rPr spc="-210" dirty="0"/>
              <a:t> </a:t>
            </a:r>
            <a:r>
              <a:rPr dirty="0"/>
              <a:t>upon</a:t>
            </a:r>
            <a:r>
              <a:rPr spc="-229" dirty="0"/>
              <a:t> </a:t>
            </a:r>
            <a:r>
              <a:rPr spc="-130" dirty="0"/>
              <a:t>different</a:t>
            </a:r>
            <a:r>
              <a:rPr spc="-235" dirty="0"/>
              <a:t> </a:t>
            </a:r>
            <a:r>
              <a:rPr spc="-90" dirty="0"/>
              <a:t>networking</a:t>
            </a:r>
            <a:r>
              <a:rPr spc="-225" dirty="0"/>
              <a:t> </a:t>
            </a:r>
            <a:r>
              <a:rPr spc="-10" dirty="0"/>
              <a:t>models.</a:t>
            </a:r>
          </a:p>
          <a:p>
            <a:pPr marL="240029" marR="28321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130" dirty="0"/>
              <a:t>They</a:t>
            </a:r>
            <a:r>
              <a:rPr spc="-254" dirty="0"/>
              <a:t> </a:t>
            </a:r>
            <a:r>
              <a:rPr spc="-85" dirty="0"/>
              <a:t>work</a:t>
            </a:r>
            <a:r>
              <a:rPr spc="-229" dirty="0"/>
              <a:t> </a:t>
            </a:r>
            <a:r>
              <a:rPr spc="100" dirty="0"/>
              <a:t>as</a:t>
            </a:r>
            <a:r>
              <a:rPr spc="-245" dirty="0"/>
              <a:t> </a:t>
            </a:r>
            <a:r>
              <a:rPr dirty="0"/>
              <a:t>messenger</a:t>
            </a:r>
            <a:r>
              <a:rPr spc="-215" dirty="0"/>
              <a:t> </a:t>
            </a:r>
            <a:r>
              <a:rPr spc="-30" dirty="0"/>
              <a:t>agents</a:t>
            </a:r>
            <a:r>
              <a:rPr spc="-235" dirty="0"/>
              <a:t> </a:t>
            </a:r>
            <a:r>
              <a:rPr spc="-120" dirty="0"/>
              <a:t>that</a:t>
            </a:r>
            <a:r>
              <a:rPr spc="-254" dirty="0"/>
              <a:t> </a:t>
            </a:r>
            <a:r>
              <a:rPr spc="-114" dirty="0"/>
              <a:t>take</a:t>
            </a:r>
            <a:r>
              <a:rPr spc="-229" dirty="0"/>
              <a:t> </a:t>
            </a:r>
            <a:r>
              <a:rPr spc="-70" dirty="0"/>
              <a:t>data</a:t>
            </a:r>
            <a:r>
              <a:rPr spc="-240" dirty="0"/>
              <a:t> </a:t>
            </a:r>
            <a:r>
              <a:rPr spc="-90" dirty="0"/>
              <a:t>from</a:t>
            </a:r>
            <a:r>
              <a:rPr spc="-240" dirty="0"/>
              <a:t> </a:t>
            </a:r>
            <a:r>
              <a:rPr dirty="0"/>
              <a:t>one</a:t>
            </a:r>
            <a:r>
              <a:rPr spc="-240" dirty="0"/>
              <a:t> </a:t>
            </a:r>
            <a:r>
              <a:rPr spc="-10" dirty="0"/>
              <a:t>system, 	</a:t>
            </a:r>
            <a:r>
              <a:rPr spc="-125" dirty="0"/>
              <a:t>interpret</a:t>
            </a:r>
            <a:r>
              <a:rPr spc="-254" dirty="0"/>
              <a:t> </a:t>
            </a:r>
            <a:r>
              <a:rPr spc="-204" dirty="0"/>
              <a:t>it,</a:t>
            </a:r>
            <a:r>
              <a:rPr spc="-245" dirty="0"/>
              <a:t> </a:t>
            </a:r>
            <a:r>
              <a:rPr dirty="0"/>
              <a:t>and</a:t>
            </a:r>
            <a:r>
              <a:rPr spc="-245" dirty="0"/>
              <a:t> </a:t>
            </a:r>
            <a:r>
              <a:rPr spc="-95" dirty="0"/>
              <a:t>transfer</a:t>
            </a:r>
            <a:r>
              <a:rPr spc="-225" dirty="0"/>
              <a:t> </a:t>
            </a:r>
            <a:r>
              <a:rPr spc="-180" dirty="0"/>
              <a:t>it</a:t>
            </a:r>
            <a:r>
              <a:rPr spc="-250" dirty="0"/>
              <a:t> </a:t>
            </a:r>
            <a:r>
              <a:rPr spc="-110" dirty="0"/>
              <a:t>to</a:t>
            </a:r>
            <a:r>
              <a:rPr spc="-235" dirty="0"/>
              <a:t> </a:t>
            </a:r>
            <a:r>
              <a:rPr spc="-60" dirty="0"/>
              <a:t>another</a:t>
            </a:r>
            <a:r>
              <a:rPr spc="-250" dirty="0"/>
              <a:t> </a:t>
            </a:r>
            <a:r>
              <a:rPr spc="-10" dirty="0"/>
              <a:t>system.</a:t>
            </a: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pc="-35" dirty="0"/>
              <a:t>Gateways</a:t>
            </a:r>
            <a:r>
              <a:rPr spc="-225" dirty="0"/>
              <a:t> </a:t>
            </a:r>
            <a:r>
              <a:rPr spc="-95" dirty="0"/>
              <a:t>are</a:t>
            </a:r>
            <a:r>
              <a:rPr spc="-215" dirty="0"/>
              <a:t> </a:t>
            </a:r>
            <a:r>
              <a:rPr dirty="0"/>
              <a:t>also</a:t>
            </a:r>
            <a:r>
              <a:rPr spc="-204" dirty="0"/>
              <a:t> </a:t>
            </a:r>
            <a:r>
              <a:rPr spc="-40" dirty="0"/>
              <a:t>called</a:t>
            </a:r>
            <a:r>
              <a:rPr spc="-215" dirty="0"/>
              <a:t> </a:t>
            </a:r>
            <a:r>
              <a:rPr b="1" i="1" spc="-75" dirty="0">
                <a:latin typeface="Trebuchet MS"/>
                <a:cs typeface="Trebuchet MS"/>
              </a:rPr>
              <a:t>protocol</a:t>
            </a:r>
            <a:r>
              <a:rPr b="1" i="1" spc="-229" dirty="0">
                <a:latin typeface="Trebuchet MS"/>
                <a:cs typeface="Trebuchet MS"/>
              </a:rPr>
              <a:t> </a:t>
            </a:r>
            <a:r>
              <a:rPr b="1" i="1" spc="-75" dirty="0">
                <a:latin typeface="Trebuchet MS"/>
                <a:cs typeface="Trebuchet MS"/>
              </a:rPr>
              <a:t>converters</a:t>
            </a:r>
            <a:r>
              <a:rPr b="1" i="1" spc="-175" dirty="0">
                <a:latin typeface="Trebuchet MS"/>
                <a:cs typeface="Trebuchet MS"/>
              </a:rPr>
              <a:t> </a:t>
            </a:r>
            <a:r>
              <a:rPr dirty="0"/>
              <a:t>and</a:t>
            </a:r>
            <a:r>
              <a:rPr spc="-200" dirty="0"/>
              <a:t> </a:t>
            </a:r>
            <a:r>
              <a:rPr dirty="0"/>
              <a:t>can</a:t>
            </a:r>
            <a:r>
              <a:rPr spc="-225" dirty="0"/>
              <a:t> </a:t>
            </a:r>
            <a:r>
              <a:rPr spc="-90" dirty="0"/>
              <a:t>operate</a:t>
            </a:r>
            <a:r>
              <a:rPr spc="-215" dirty="0"/>
              <a:t> </a:t>
            </a:r>
            <a:r>
              <a:rPr spc="-25" dirty="0"/>
              <a:t>at 	</a:t>
            </a:r>
            <a:r>
              <a:rPr spc="-45" dirty="0"/>
              <a:t>any</a:t>
            </a:r>
            <a:r>
              <a:rPr spc="-254" dirty="0"/>
              <a:t> </a:t>
            </a:r>
            <a:r>
              <a:rPr spc="-80" dirty="0"/>
              <a:t>network</a:t>
            </a:r>
            <a:r>
              <a:rPr spc="-245" dirty="0"/>
              <a:t> </a:t>
            </a:r>
            <a:r>
              <a:rPr spc="-10" dirty="0"/>
              <a:t>layer.</a:t>
            </a: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pc="-35" dirty="0"/>
              <a:t>Gateways</a:t>
            </a:r>
            <a:r>
              <a:rPr spc="-245" dirty="0"/>
              <a:t> </a:t>
            </a:r>
            <a:r>
              <a:rPr spc="-95" dirty="0"/>
              <a:t>are</a:t>
            </a:r>
            <a:r>
              <a:rPr spc="-225" dirty="0"/>
              <a:t> </a:t>
            </a:r>
            <a:r>
              <a:rPr spc="-95" dirty="0"/>
              <a:t>generally</a:t>
            </a:r>
            <a:r>
              <a:rPr spc="-245" dirty="0"/>
              <a:t> </a:t>
            </a:r>
            <a:r>
              <a:rPr spc="-50" dirty="0"/>
              <a:t>more</a:t>
            </a:r>
            <a:r>
              <a:rPr spc="-225" dirty="0"/>
              <a:t> </a:t>
            </a:r>
            <a:r>
              <a:rPr spc="-40" dirty="0"/>
              <a:t>complex</a:t>
            </a:r>
            <a:r>
              <a:rPr spc="-225" dirty="0"/>
              <a:t> </a:t>
            </a:r>
            <a:r>
              <a:rPr spc="-55" dirty="0"/>
              <a:t>than</a:t>
            </a:r>
            <a:r>
              <a:rPr spc="-240" dirty="0"/>
              <a:t> </a:t>
            </a:r>
            <a:r>
              <a:rPr spc="-10" dirty="0"/>
              <a:t>switches</a:t>
            </a:r>
            <a:r>
              <a:rPr spc="-220" dirty="0"/>
              <a:t> </a:t>
            </a:r>
            <a:r>
              <a:rPr spc="-75" dirty="0"/>
              <a:t>or</a:t>
            </a:r>
            <a:r>
              <a:rPr spc="-229" dirty="0"/>
              <a:t> </a:t>
            </a:r>
            <a:r>
              <a:rPr spc="-10" dirty="0"/>
              <a:t>routers.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4539" y="365074"/>
            <a:ext cx="1199324" cy="10019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Brouter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99998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known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b="1" i="1" spc="-110" dirty="0">
                <a:latin typeface="Trebuchet MS"/>
                <a:cs typeface="Trebuchet MS"/>
              </a:rPr>
              <a:t>bridging</a:t>
            </a:r>
            <a:r>
              <a:rPr sz="2800" b="1" i="1" spc="-204" dirty="0">
                <a:latin typeface="Trebuchet MS"/>
                <a:cs typeface="Trebuchet MS"/>
              </a:rPr>
              <a:t> </a:t>
            </a:r>
            <a:r>
              <a:rPr sz="2800" b="1" i="1" spc="-130" dirty="0">
                <a:latin typeface="Trebuchet MS"/>
                <a:cs typeface="Trebuchet MS"/>
              </a:rPr>
              <a:t>router</a:t>
            </a:r>
            <a:r>
              <a:rPr sz="2800" b="1" i="1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device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combines 	</a:t>
            </a:r>
            <a:r>
              <a:rPr sz="2800" spc="-75" dirty="0">
                <a:latin typeface="Trebuchet MS"/>
                <a:cs typeface="Trebuchet MS"/>
              </a:rPr>
              <a:t>features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both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bridge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router.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work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either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link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layer.</a:t>
            </a:r>
            <a:endParaRPr sz="2800">
              <a:latin typeface="Trebuchet MS"/>
              <a:cs typeface="Trebuchet MS"/>
            </a:endParaRPr>
          </a:p>
          <a:p>
            <a:pPr marL="240029" marR="254635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Working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router,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capable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routing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packets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40" dirty="0">
                <a:latin typeface="Trebuchet MS"/>
                <a:cs typeface="Trebuchet MS"/>
              </a:rPr>
              <a:t>across 	</a:t>
            </a:r>
            <a:r>
              <a:rPr sz="2800" spc="-60" dirty="0">
                <a:latin typeface="Trebuchet MS"/>
                <a:cs typeface="Trebuchet MS"/>
              </a:rPr>
              <a:t>networks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working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bridge,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capable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filtering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local 	</a:t>
            </a:r>
            <a:r>
              <a:rPr sz="2800" spc="-70" dirty="0">
                <a:latin typeface="Trebuchet MS"/>
                <a:cs typeface="Trebuchet MS"/>
              </a:rPr>
              <a:t>area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network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traffic.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0" dirty="0"/>
              <a:t>NIC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35870" cy="40322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25" dirty="0">
                <a:latin typeface="Trebuchet MS"/>
                <a:cs typeface="Trebuchet MS"/>
              </a:rPr>
              <a:t>NIC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interface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card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network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adapter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connect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computer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network.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installed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computer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establish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LAN.</a:t>
            </a:r>
            <a:endParaRPr sz="2800">
              <a:latin typeface="Trebuchet MS"/>
              <a:cs typeface="Trebuchet MS"/>
            </a:endParaRPr>
          </a:p>
          <a:p>
            <a:pPr marL="240029" marR="1402080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unique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80" dirty="0">
                <a:latin typeface="Trebuchet MS"/>
                <a:cs typeface="Trebuchet MS"/>
              </a:rPr>
              <a:t>ID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that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written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chip,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	</a:t>
            </a:r>
            <a:r>
              <a:rPr sz="2800" spc="-40" dirty="0">
                <a:latin typeface="Trebuchet MS"/>
                <a:cs typeface="Trebuchet MS"/>
              </a:rPr>
              <a:t>connector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connect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it.</a:t>
            </a:r>
            <a:endParaRPr sz="2800">
              <a:latin typeface="Trebuchet MS"/>
              <a:cs typeface="Trebuchet MS"/>
            </a:endParaRPr>
          </a:p>
          <a:p>
            <a:pPr marL="239395" marR="575310" indent="-227329">
              <a:lnSpc>
                <a:spcPts val="303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acts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interface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between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computer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110" dirty="0">
                <a:latin typeface="Trebuchet MS"/>
                <a:cs typeface="Trebuchet MS"/>
              </a:rPr>
              <a:t>router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modem.</a:t>
            </a:r>
            <a:endParaRPr sz="2800">
              <a:latin typeface="Trebuchet MS"/>
              <a:cs typeface="Trebuchet MS"/>
            </a:endParaRPr>
          </a:p>
          <a:p>
            <a:pPr marL="240029" marR="685165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25" dirty="0">
                <a:latin typeface="Trebuchet MS"/>
                <a:cs typeface="Trebuchet MS"/>
              </a:rPr>
              <a:t>NIC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2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device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means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works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both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link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layers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network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4539" y="365074"/>
            <a:ext cx="1199324" cy="10019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646</Words>
  <Application>Microsoft Office PowerPoint</Application>
  <PresentationFormat>Widescreen</PresentationFormat>
  <Paragraphs>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 MT</vt:lpstr>
      <vt:lpstr>Trebuchet MS</vt:lpstr>
      <vt:lpstr>Office Theme</vt:lpstr>
      <vt:lpstr>Computer Networks [Network Devices]</vt:lpstr>
      <vt:lpstr>Network Devices</vt:lpstr>
      <vt:lpstr>Common Types of Network Devices</vt:lpstr>
      <vt:lpstr>Functions of Network Devices</vt:lpstr>
      <vt:lpstr>Access Point</vt:lpstr>
      <vt:lpstr>Modems</vt:lpstr>
      <vt:lpstr>Types of Modems</vt:lpstr>
      <vt:lpstr>Firewalls</vt:lpstr>
      <vt:lpstr>Repeater</vt:lpstr>
      <vt:lpstr>Hub</vt:lpstr>
      <vt:lpstr>Types of Hub</vt:lpstr>
      <vt:lpstr>Bridge</vt:lpstr>
      <vt:lpstr>Types of Bridges</vt:lpstr>
      <vt:lpstr>Switch</vt:lpstr>
      <vt:lpstr>Types of Switch</vt:lpstr>
      <vt:lpstr>Types of Switch</vt:lpstr>
      <vt:lpstr>Types of Switch</vt:lpstr>
      <vt:lpstr>Types of Switch</vt:lpstr>
      <vt:lpstr>Router</vt:lpstr>
      <vt:lpstr>Gateway</vt:lpstr>
      <vt:lpstr>Brouter</vt:lpstr>
      <vt:lpstr>NIC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[Network Devices]</dc:title>
  <dc:creator>Muhammad Hammad Waseem</dc:creator>
  <cp:lastModifiedBy>Windows User</cp:lastModifiedBy>
  <cp:revision>1</cp:revision>
  <dcterms:created xsi:type="dcterms:W3CDTF">2025-06-30T07:10:22Z</dcterms:created>
  <dcterms:modified xsi:type="dcterms:W3CDTF">2025-06-30T07:23:15Z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