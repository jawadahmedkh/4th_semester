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1"/>
  </p:notesMasterIdLst>
  <p:sldIdLst>
    <p:sldId id="320" r:id="rId2"/>
    <p:sldId id="303" r:id="rId3"/>
    <p:sldId id="268" r:id="rId4"/>
    <p:sldId id="304" r:id="rId5"/>
    <p:sldId id="295" r:id="rId6"/>
    <p:sldId id="294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7"/>
    <p:sldId id="270" r:id="rId18"/>
    <p:sldId id="271" r:id="rId19"/>
    <p:sldId id="272" r:id="rId20"/>
    <p:sldId id="273" r:id="rId21"/>
    <p:sldId id="300" r:id="rId22"/>
    <p:sldId id="274" r:id="rId23"/>
    <p:sldId id="299" r:id="rId24"/>
    <p:sldId id="275" r:id="rId25"/>
    <p:sldId id="276" r:id="rId26"/>
    <p:sldId id="298" r:id="rId27"/>
    <p:sldId id="277" r:id="rId28"/>
    <p:sldId id="278" r:id="rId29"/>
    <p:sldId id="297" r:id="rId30"/>
    <p:sldId id="279" r:id="rId31"/>
    <p:sldId id="280" r:id="rId32"/>
    <p:sldId id="296" r:id="rId33"/>
    <p:sldId id="302" r:id="rId34"/>
    <p:sldId id="301" r:id="rId35"/>
    <p:sldId id="281" r:id="rId36"/>
    <p:sldId id="282" r:id="rId37"/>
    <p:sldId id="311" r:id="rId38"/>
    <p:sldId id="312" r:id="rId39"/>
    <p:sldId id="313" r:id="rId40"/>
    <p:sldId id="314" r:id="rId41"/>
    <p:sldId id="315" r:id="rId42"/>
    <p:sldId id="319" r:id="rId43"/>
    <p:sldId id="316" r:id="rId44"/>
    <p:sldId id="317" r:id="rId45"/>
    <p:sldId id="283" r:id="rId46"/>
    <p:sldId id="329" r:id="rId47"/>
    <p:sldId id="330" r:id="rId48"/>
    <p:sldId id="331" r:id="rId49"/>
    <p:sldId id="332" r:id="rId50"/>
    <p:sldId id="289" r:id="rId51"/>
    <p:sldId id="310" r:id="rId52"/>
    <p:sldId id="308" r:id="rId53"/>
    <p:sldId id="309" r:id="rId54"/>
    <p:sldId id="328" r:id="rId55"/>
    <p:sldId id="291" r:id="rId56"/>
    <p:sldId id="323" r:id="rId57"/>
    <p:sldId id="324" r:id="rId58"/>
    <p:sldId id="292" r:id="rId59"/>
    <p:sldId id="293" r:id="rId6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66CCFF"/>
    <a:srgbClr val="000000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9F19376-9BD0-46AF-99B9-917C2481E6B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F331CE-CEDA-4382-AB13-81EECB48B8C3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4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BA2F4E-85D4-4FEF-82D4-54E34C2D2466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C1E64A-D835-4AC4-9DAC-C82E66977CCB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ABB54A-09F5-4227-B87F-6B819C461A8E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41D7A0-F093-48E9-AED8-AA40DCEC37EC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4728B1-E90F-4D73-8495-3AE8456D5F5E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0334F7-05D3-4013-85A1-92F56FA0EA23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610C13-FA63-450F-B7DA-920F2623BB63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788B4F-5E82-488A-9EA6-399813ABBBCD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056CBB-E5AA-407C-8B9C-5DBD543B620D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9F0961-A1F8-4223-8969-58EC51F57002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73F094-7A6F-497E-BB9E-58117033BE0B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E5CA0A-E16F-4259-B34D-FB0DFC5B4AC5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F9E29B-B797-4777-B0F5-515528A641AA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D404AE-F0A2-403E-810D-0F48A32356E8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3FEBB7-818C-4781-AC32-5F9C7E859D3F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E1B809-5C4D-4DAD-B234-5D6AA76F5AB8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B24F0C-419F-4EC5-A258-6095D386E3FB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7A5AAC-6B0F-4F6D-A77D-9302C62E52A1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DE9FD0-C32A-485C-A0D1-DAD2D5C10F53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9D90E6-EA22-4C2C-9661-F53BFD6505A3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10B785-1A24-452E-A263-B95509FE4979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95A492-7822-4019-8CF8-56CDF24E0A15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A68B3F-49F7-4601-83F9-B414FB2E100C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C5DEF2-6D12-45A9-8683-4911C5875CF0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F87727-3A13-4406-A4B4-DC560A234BBF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300E47-0603-4BD1-90F1-24C700563FFE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956FC8-AC84-45A7-B683-505CE86B76D1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95F1E7-0D8E-45AC-8A35-D281EC3CA14E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C05605-3402-45A4-AB7D-6B6ABF4B54DB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135635-164C-47CE-97BF-5C2063D19D73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AA3061-6EF4-4C48-8308-A6E5E368D4E0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253C10-9CF3-40B2-83F5-470B18F64619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112CAA-6ECD-4E83-B792-2A61592958D9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042994-153B-4B30-B7C3-07DF8C0821BC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7814CB-DDDA-44B4-BF64-4944808B84E9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72CFFC-44B0-4CC8-94C5-B5434039CB80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2C373B-66EE-48A8-BC0E-1052A3B80136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0E9948-4927-48D3-92AE-B5D9F2E96A5A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7E7E50-B922-448B-B49F-73C7CFB7AE75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9DE64D-83EC-4DF0-A42C-CAFDB89388EC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CAE004-BE55-4986-9AE9-7CCC12F62F96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683DFA-779C-4FC6-97BC-D29338D2020F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384759-66B6-4F46-998F-843217EE8B7F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2392B2-DB65-4303-A2CA-3D1D8A6FAD22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986344-9AB3-4A52-B891-F86C735B439D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3F9F9D-E53A-496A-9AC6-D8A848F7AFDB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176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3D68EC-FE06-427F-90C7-AF8FDEE1D672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178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BD4ACF-0DFA-4976-9F63-CBB1B55BC136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180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A4BCC8-D567-4A28-B54D-C92EFA520C3D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5800"/>
            <a:ext cx="4570413" cy="3427413"/>
          </a:xfrm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1813"/>
            <a:ext cx="5032375" cy="4116387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9A4B62-275A-448D-BDE0-3C07214D225B}" type="slidenum">
              <a:rPr lang="en-US" altLang="en-US"/>
              <a:pPr/>
              <a:t>51</a:t>
            </a:fld>
            <a:endParaRPr lang="en-US" altLang="en-US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7CFB43-9672-4126-AA35-5CFF9E9DDF4F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918DC8-3B3B-420C-B045-CEDD782187BD}" type="slidenum">
              <a:rPr lang="en-US" altLang="en-US"/>
              <a:pPr/>
              <a:t>53</a:t>
            </a:fld>
            <a:endParaRPr lang="en-US" altLang="en-US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DA4686-64A3-4E5D-87C9-8CD1EA141823}" type="slidenum">
              <a:rPr lang="en-US" altLang="en-US"/>
              <a:pPr/>
              <a:t>54</a:t>
            </a:fld>
            <a:endParaRPr lang="en-US" altLang="en-US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ja-JP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BE5101-42CB-43D5-A7CA-7F6256F39771}" type="slidenum">
              <a:rPr lang="en-US" altLang="en-US"/>
              <a:pPr/>
              <a:t>55</a:t>
            </a:fld>
            <a:endParaRPr lang="en-US" altLang="en-US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EAF970-F81D-4C03-8347-12A42ECECFAF}" type="slidenum">
              <a:rPr lang="en-US" altLang="en-US"/>
              <a:pPr/>
              <a:t>56</a:t>
            </a:fld>
            <a:endParaRPr lang="en-US" altLang="en-US"/>
          </a:p>
        </p:txBody>
      </p:sp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F9FBE3-D53B-4AE1-B506-AEC94DFA5977}" type="slidenum">
              <a:rPr lang="en-US" altLang="en-US"/>
              <a:pPr/>
              <a:t>57</a:t>
            </a:fld>
            <a:endParaRPr lang="en-US" altLang="en-US"/>
          </a:p>
        </p:txBody>
      </p:sp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586D7F-8359-4BCC-9602-302FC5C43167}" type="slidenum">
              <a:rPr lang="en-US" altLang="en-US"/>
              <a:pPr/>
              <a:t>58</a:t>
            </a:fld>
            <a:endParaRPr lang="en-US" altLang="en-US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771987-0E35-4708-899D-4CDCD0A48E4E}" type="slidenum">
              <a:rPr lang="en-US" altLang="en-US"/>
              <a:pPr/>
              <a:t>59</a:t>
            </a:fld>
            <a:endParaRPr lang="en-US" altLang="en-US"/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946" name="Group 2"/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82947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kumimoji="1"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2948" name="AutoShape 4"/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kumimoji="1"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2949" name="Group 5"/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82950" name="AutoShape 6"/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51" name="AutoShape 7"/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2952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4673600" y="2927350"/>
            <a:ext cx="4013200" cy="1822450"/>
          </a:xfrm>
        </p:spPr>
        <p:txBody>
          <a:bodyPr anchor="b"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sp>
        <p:nvSpPr>
          <p:cNvPr id="82953" name="Rectangle 9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82954" name="Rectangle 10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altLang="en-US"/>
          </a:p>
        </p:txBody>
      </p:sp>
      <p:sp>
        <p:nvSpPr>
          <p:cNvPr id="82955" name="Rectangle 1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6200" y="6248400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fld id="{42ED2B49-1BCD-401F-91B5-03D23F0D117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2956" name="AutoShape 1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08D54E-044A-4BAD-9942-80499ADD98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1737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9D5250-06B1-4066-A95B-547BFCA6F7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5417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362200"/>
            <a:ext cx="3770313" cy="372427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0913" y="2362200"/>
            <a:ext cx="3770312" cy="372427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E8B316-C63A-4585-9BD0-C16D59D2C2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8224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ECF320-66EC-4D9F-AFD2-473531538C1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98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BF57FA-28C5-47F7-A17A-6CB2B7307E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5361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9F6BEF-39BC-42DC-A06B-0194F8D415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8903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0D973F-20D8-4879-8A01-4C7421E07AF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9902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095AFA-9492-4902-9273-7D23EF66CCC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2532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762575-2FBD-4AA5-BF0F-E46F208E0F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4909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762000"/>
            <a:ext cx="1981200" cy="53244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762000"/>
            <a:ext cx="5791200" cy="53244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43C297-1B39-426F-BD52-CD7C555E48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0840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0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2362200"/>
            <a:ext cx="3770313" cy="372427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760913" y="2362200"/>
            <a:ext cx="3770312" cy="372427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438400" y="6248400"/>
            <a:ext cx="2130425" cy="474663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38" y="6242050"/>
            <a:ext cx="587375" cy="488950"/>
          </a:xfrm>
        </p:spPr>
        <p:txBody>
          <a:bodyPr/>
          <a:lstStyle>
            <a:lvl1pPr>
              <a:defRPr/>
            </a:lvl1pPr>
          </a:lstStyle>
          <a:p>
            <a:fld id="{5C2A898E-B40E-48E0-9654-3F6906C1CAB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9278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0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Online Image Placeholder 2"/>
          <p:cNvSpPr>
            <a:spLocks noGrp="1"/>
          </p:cNvSpPr>
          <p:nvPr>
            <p:ph type="clipArt" sz="half" idx="1"/>
          </p:nvPr>
        </p:nvSpPr>
        <p:spPr>
          <a:xfrm>
            <a:off x="838200" y="2362200"/>
            <a:ext cx="3770313" cy="372427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60913" y="2362200"/>
            <a:ext cx="3770312" cy="372427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438400" y="6248400"/>
            <a:ext cx="2130425" cy="474663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38" y="6242050"/>
            <a:ext cx="587375" cy="488950"/>
          </a:xfrm>
        </p:spPr>
        <p:txBody>
          <a:bodyPr/>
          <a:lstStyle>
            <a:lvl1pPr>
              <a:defRPr/>
            </a:lvl1pPr>
          </a:lstStyle>
          <a:p>
            <a:fld id="{E04D3FA0-1B22-42E2-B25A-CE430B625C6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9349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22" name="Group 2"/>
          <p:cNvGrpSpPr>
            <a:grpSpLocks/>
          </p:cNvGrpSpPr>
          <p:nvPr/>
        </p:nvGrpSpPr>
        <p:grpSpPr bwMode="auto">
          <a:xfrm>
            <a:off x="0" y="0"/>
            <a:ext cx="7620000" cy="6858000"/>
            <a:chOff x="0" y="0"/>
            <a:chExt cx="4800" cy="4320"/>
          </a:xfrm>
        </p:grpSpPr>
        <p:grpSp>
          <p:nvGrpSpPr>
            <p:cNvPr id="81923" name="Group 3"/>
            <p:cNvGrpSpPr>
              <a:grpSpLocks/>
            </p:cNvGrpSpPr>
            <p:nvPr userDrawn="1"/>
          </p:nvGrpSpPr>
          <p:grpSpPr bwMode="auto"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81924" name="Rectangle 4"/>
              <p:cNvSpPr>
                <a:spLocks noChangeArrowheads="1"/>
              </p:cNvSpPr>
              <p:nvPr userDrawn="1"/>
            </p:nvSpPr>
            <p:spPr bwMode="auto">
              <a:xfrm>
                <a:off x="0" y="0"/>
                <a:ext cx="480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925" name="Freeform 5"/>
              <p:cNvSpPr>
                <a:spLocks/>
              </p:cNvSpPr>
              <p:nvPr userDrawn="1"/>
            </p:nvSpPr>
            <p:spPr bwMode="auto">
              <a:xfrm>
                <a:off x="288" y="0"/>
                <a:ext cx="1728" cy="735"/>
              </a:xfrm>
              <a:custGeom>
                <a:avLst/>
                <a:gdLst>
                  <a:gd name="T0" fmla="*/ 1728 w 1728"/>
                  <a:gd name="T1" fmla="*/ 0 h 735"/>
                  <a:gd name="T2" fmla="*/ 1728 w 1728"/>
                  <a:gd name="T3" fmla="*/ 480 h 735"/>
                  <a:gd name="T4" fmla="*/ 380 w 1728"/>
                  <a:gd name="T5" fmla="*/ 482 h 735"/>
                  <a:gd name="T6" fmla="*/ 354 w 1728"/>
                  <a:gd name="T7" fmla="*/ 480 h 735"/>
                  <a:gd name="T8" fmla="*/ 308 w 1728"/>
                  <a:gd name="T9" fmla="*/ 489 h 735"/>
                  <a:gd name="T10" fmla="*/ 246 w 1728"/>
                  <a:gd name="T11" fmla="*/ 531 h 735"/>
                  <a:gd name="T12" fmla="*/ 206 w 1728"/>
                  <a:gd name="T13" fmla="*/ 597 h 735"/>
                  <a:gd name="T14" fmla="*/ 192 w 1728"/>
                  <a:gd name="T15" fmla="*/ 666 h 735"/>
                  <a:gd name="T16" fmla="*/ 192 w 1728"/>
                  <a:gd name="T17" fmla="*/ 735 h 735"/>
                  <a:gd name="T18" fmla="*/ 0 w 1728"/>
                  <a:gd name="T19" fmla="*/ 735 h 735"/>
                  <a:gd name="T20" fmla="*/ 0 w 1728"/>
                  <a:gd name="T21" fmla="*/ 480 h 735"/>
                  <a:gd name="T22" fmla="*/ 0 w 1728"/>
                  <a:gd name="T23" fmla="*/ 0 h 735"/>
                  <a:gd name="T24" fmla="*/ 1728 w 1728"/>
                  <a:gd name="T25" fmla="*/ 0 h 7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81926" name="Group 6"/>
            <p:cNvGrpSpPr>
              <a:grpSpLocks/>
            </p:cNvGrpSpPr>
            <p:nvPr/>
          </p:nvGrpSpPr>
          <p:grpSpPr bwMode="auto"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81927" name="AutoShape 7"/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928" name="AutoShape 8"/>
              <p:cNvSpPr>
                <a:spLocks noChangeArrowheads="1"/>
              </p:cNvSpPr>
              <p:nvPr/>
            </p:nvSpPr>
            <p:spPr bwMode="auto"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81929" name="AutoShape 9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762000"/>
            <a:ext cx="79248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8193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819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endParaRPr lang="en-US" altLang="en-US"/>
          </a:p>
        </p:txBody>
      </p:sp>
      <p:sp>
        <p:nvSpPr>
          <p:cNvPr id="819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248400"/>
            <a:ext cx="2897188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endParaRPr lang="en-US" altLang="en-US"/>
          </a:p>
        </p:txBody>
      </p:sp>
      <p:sp>
        <p:nvSpPr>
          <p:cNvPr id="819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eaLnBrk="1" hangingPunct="1">
              <a:defRPr sz="2600" b="1">
                <a:solidFill>
                  <a:schemeClr val="bg1"/>
                </a:solidFill>
              </a:defRPr>
            </a:lvl1pPr>
          </a:lstStyle>
          <a:p>
            <a:fld id="{94BC13FA-A2ED-466F-9039-784824E2E40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7.png"/><Relationship Id="rId4" Type="http://schemas.openxmlformats.org/officeDocument/2006/relationships/oleObject" Target="../embeddings/oleObject1.bin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8.png"/><Relationship Id="rId4" Type="http://schemas.openxmlformats.org/officeDocument/2006/relationships/oleObject" Target="../embeddings/oleObject2.bin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2.emf"/><Relationship Id="rId4" Type="http://schemas.openxmlformats.org/officeDocument/2006/relationships/oleObject" Target="../embeddings/oleObject3.bin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ex-con.com/osimodel.htm" TargetMode="Externa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ertyourself.com/OSIguide.shtml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owtheosimodelworks.com/" TargetMode="External"/><Relationship Id="rId7" Type="http://schemas.openxmlformats.org/officeDocument/2006/relationships/hyperlink" Target="http://www.lex-con.com/protocols/ip.htm" TargetMode="Externa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www.pku.edu.cn/academic/research/computer-center/tc/html/TC0102.html" TargetMode="External"/><Relationship Id="rId5" Type="http://schemas.openxmlformats.org/officeDocument/2006/relationships/hyperlink" Target="http://www.hawkclan.com/zxonly/iso/slide2.html" TargetMode="External"/><Relationship Id="rId4" Type="http://schemas.openxmlformats.org/officeDocument/2006/relationships/hyperlink" Target="https://cisconetacad.ne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Layering in Networked computing</a:t>
            </a:r>
            <a:endParaRPr lang="en-US" altLang="en-US"/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OSI Model</a:t>
            </a:r>
          </a:p>
          <a:p>
            <a:r>
              <a:rPr lang="en-GB" altLang="en-US"/>
              <a:t>TCP/IP Model</a:t>
            </a:r>
          </a:p>
          <a:p>
            <a:r>
              <a:rPr lang="en-GB" altLang="en-US"/>
              <a:t>Protocols at each layer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Learning outcomes</a:t>
            </a:r>
            <a:endParaRPr lang="en-US" altLang="en-US"/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276475"/>
            <a:ext cx="8610600" cy="5562600"/>
          </a:xfrm>
        </p:spPr>
        <p:txBody>
          <a:bodyPr/>
          <a:lstStyle/>
          <a:p>
            <a:r>
              <a:rPr lang="en-GB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Understand the need of layering in Networked computing</a:t>
            </a:r>
          </a:p>
          <a:p>
            <a:r>
              <a:rPr lang="en-GB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Understand the OSI model  and the tcp/ip model</a:t>
            </a:r>
          </a:p>
          <a:p>
            <a:pPr lvl="1"/>
            <a:r>
              <a:rPr lang="en-GB" altLang="en-US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Understand the function protocols and their role at each layer.</a:t>
            </a:r>
          </a:p>
          <a:p>
            <a:pPr lvl="2"/>
            <a:r>
              <a:rPr lang="en-GB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TCP protocol</a:t>
            </a:r>
          </a:p>
          <a:p>
            <a:pPr lvl="2"/>
            <a:r>
              <a:rPr lang="en-GB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UDP protocol </a:t>
            </a:r>
          </a:p>
          <a:p>
            <a:r>
              <a:rPr lang="en-GB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Understand the role of header in communication between layers</a:t>
            </a:r>
          </a:p>
          <a:p>
            <a:r>
              <a:rPr lang="en-GB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Understand how data sent from one host arrive to the target host.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3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3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3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3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3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3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7" grpId="0" build="p" bldLvl="2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2"/>
          <p:cNvSpPr>
            <a:spLocks noGrp="1" noChangeArrowheads="1"/>
          </p:cNvSpPr>
          <p:nvPr>
            <p:ph type="title"/>
          </p:nvPr>
        </p:nvSpPr>
        <p:spPr>
          <a:xfrm>
            <a:off x="755650" y="836613"/>
            <a:ext cx="7772400" cy="914400"/>
          </a:xfrm>
        </p:spPr>
        <p:txBody>
          <a:bodyPr/>
          <a:lstStyle/>
          <a:p>
            <a:r>
              <a:rPr lang="en-GB" altLang="en-US" sz="3200" dirty="0"/>
              <a:t>What is layering in Networked computing?</a:t>
            </a:r>
            <a:endParaRPr lang="en-US" altLang="en-US" sz="3200" dirty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2492375"/>
            <a:ext cx="8305800" cy="5257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en-US" sz="2400"/>
          </a:p>
          <a:p>
            <a:pPr lvl="1"/>
            <a:r>
              <a:rPr lang="en-US" altLang="en-US" sz="2000"/>
              <a:t>Breaks down communication into smaller, simpler parts.</a:t>
            </a:r>
          </a:p>
          <a:p>
            <a:pPr lvl="1">
              <a:buFontTx/>
              <a:buNone/>
            </a:pPr>
            <a:endParaRPr lang="en-US" altLang="en-US" sz="200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Why a layered model?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2708275"/>
            <a:ext cx="8610600" cy="5562600"/>
          </a:xfrm>
        </p:spPr>
        <p:txBody>
          <a:bodyPr/>
          <a:lstStyle/>
          <a:p>
            <a:pPr lvl="1"/>
            <a:r>
              <a:rPr lang="en-US" altLang="en-US"/>
              <a:t>Easier to teach communication process.</a:t>
            </a:r>
          </a:p>
          <a:p>
            <a:pPr lvl="1"/>
            <a:r>
              <a:rPr lang="en-US" altLang="en-US"/>
              <a:t>Speeds development, changes in one layer does not affect how the other levels works.</a:t>
            </a:r>
          </a:p>
          <a:p>
            <a:pPr lvl="1"/>
            <a:r>
              <a:rPr lang="en-US" altLang="en-US"/>
              <a:t>Standardization across manufactures.</a:t>
            </a:r>
          </a:p>
          <a:p>
            <a:pPr lvl="1"/>
            <a:r>
              <a:rPr lang="en-US" altLang="en-US"/>
              <a:t>Allows different hardware and software to work together.</a:t>
            </a:r>
          </a:p>
          <a:p>
            <a:pPr lvl="1"/>
            <a:r>
              <a:rPr lang="en-US" altLang="en-US"/>
              <a:t>Reduces complexity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build="p" bldLvl="2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5" name="AutoShape 5"/>
          <p:cNvSpPr>
            <a:spLocks noGrp="1" noChangeArrowheads="1"/>
          </p:cNvSpPr>
          <p:nvPr>
            <p:ph type="title"/>
          </p:nvPr>
        </p:nvSpPr>
        <p:spPr>
          <a:prstGeom prst="roundRect">
            <a:avLst>
              <a:gd name="adj" fmla="val 50000"/>
            </a:avLst>
          </a:prstGeom>
          <a:noFill/>
          <a:ln/>
        </p:spPr>
        <p:txBody>
          <a:bodyPr/>
          <a:lstStyle/>
          <a:p>
            <a:r>
              <a:rPr lang="en-US" altLang="en-US"/>
              <a:t>The OSI Reference Model</a:t>
            </a:r>
          </a:p>
        </p:txBody>
      </p:sp>
      <p:sp>
        <p:nvSpPr>
          <p:cNvPr id="87046" name="WordArt 6"/>
          <p:cNvSpPr>
            <a:spLocks noChangeArrowheads="1" noChangeShapeType="1"/>
          </p:cNvSpPr>
          <p:nvPr/>
        </p:nvSpPr>
        <p:spPr bwMode="auto">
          <a:xfrm>
            <a:off x="838200" y="2362200"/>
            <a:ext cx="7693025" cy="37242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Font typeface="Wingdings" panose="05000000000000000000" pitchFamily="2" charset="2"/>
              <a:buNone/>
            </a:pPr>
            <a:r>
              <a:rPr lang="en-US" sz="36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66FF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OSI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2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altLang="en-US" sz="2000"/>
              <a:t>OSI   “ Open System</a:t>
            </a:r>
            <a:r>
              <a:rPr lang="en-IE" altLang="en-US" sz="2000"/>
              <a:t>s</a:t>
            </a:r>
            <a:r>
              <a:rPr lang="en-GB" altLang="en-US" sz="2000"/>
              <a:t> Interconnection".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altLang="en-US" sz="2000"/>
              <a:t>OSI model was first introduced in 1984 by the International Organization for Standardization (ISO).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GB" altLang="en-US" sz="1800"/>
              <a:t>Outlines </a:t>
            </a:r>
            <a:r>
              <a:rPr lang="en-GB" altLang="en-US" sz="1800" b="1"/>
              <a:t>WHAT</a:t>
            </a:r>
            <a:r>
              <a:rPr lang="en-GB" altLang="en-US" sz="1800"/>
              <a:t> needs to be done to send data from one computer to another.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GB" altLang="en-US" sz="1800"/>
              <a:t>Not </a:t>
            </a:r>
            <a:r>
              <a:rPr lang="en-GB" altLang="en-US" sz="1800" b="1"/>
              <a:t>HOW</a:t>
            </a:r>
            <a:r>
              <a:rPr lang="en-GB" altLang="en-US" sz="1800"/>
              <a:t> it should be done. 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GB" altLang="en-US" sz="1800"/>
              <a:t>Protocols stacks handle how data is prepared for transmittal (to be transmitted)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altLang="en-US" sz="2000"/>
              <a:t>In the OSI model, The specification needed 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GB" altLang="en-US" sz="1800"/>
              <a:t>are contained in 7 different layers that interact with each other.</a:t>
            </a:r>
          </a:p>
          <a:p>
            <a:pPr>
              <a:lnSpc>
                <a:spcPct val="90000"/>
              </a:lnSpc>
            </a:pPr>
            <a:endParaRPr lang="en-US" altLang="en-US" sz="2000"/>
          </a:p>
        </p:txBody>
      </p:sp>
      <p:sp>
        <p:nvSpPr>
          <p:cNvPr id="83973" name="AutoShape 5"/>
          <p:cNvSpPr>
            <a:spLocks noGrp="1" noChangeArrowheads="1"/>
          </p:cNvSpPr>
          <p:nvPr>
            <p:ph type="title"/>
          </p:nvPr>
        </p:nvSpPr>
        <p:spPr>
          <a:xfrm>
            <a:off x="816496" y="764704"/>
            <a:ext cx="7924800" cy="852264"/>
          </a:xfrm>
        </p:spPr>
        <p:txBody>
          <a:bodyPr/>
          <a:lstStyle/>
          <a:p>
            <a:r>
              <a:rPr lang="en-US" altLang="en-US"/>
              <a:t>The OSI Model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/>
          <p:cNvSpPr>
            <a:spLocks noGrp="1" noChangeArrowheads="1"/>
          </p:cNvSpPr>
          <p:nvPr>
            <p:ph type="title"/>
          </p:nvPr>
        </p:nvSpPr>
        <p:spPr>
          <a:xfrm>
            <a:off x="539750" y="836613"/>
            <a:ext cx="8229600" cy="1095375"/>
          </a:xfrm>
        </p:spPr>
        <p:txBody>
          <a:bodyPr/>
          <a:lstStyle/>
          <a:p>
            <a:r>
              <a:rPr lang="en-US" altLang="en-US"/>
              <a:t>What is “THE MODEL?”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2492375"/>
            <a:ext cx="8229600" cy="5715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dirty="0"/>
              <a:t>Commonly referred to as the OSI reference model.</a:t>
            </a:r>
          </a:p>
          <a:p>
            <a:pPr>
              <a:lnSpc>
                <a:spcPct val="80000"/>
              </a:lnSpc>
            </a:pPr>
            <a:endParaRPr lang="en-US" altLang="en-US" sz="2400" dirty="0"/>
          </a:p>
          <a:p>
            <a:pPr>
              <a:lnSpc>
                <a:spcPct val="80000"/>
              </a:lnSpc>
            </a:pPr>
            <a:r>
              <a:rPr lang="en-US" altLang="en-US" sz="2400" dirty="0"/>
              <a:t>The OSI model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 is a theoretical blueprint that helps us understand how data gets from one user’s computer to another.</a:t>
            </a:r>
          </a:p>
          <a:p>
            <a:pPr lvl="1">
              <a:lnSpc>
                <a:spcPct val="80000"/>
              </a:lnSpc>
            </a:pPr>
            <a:endParaRPr lang="en-US" altLang="en-US" sz="2000" dirty="0"/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It is also a model that helps develop standards so that all of our hardware and software talks nicely to each other.</a:t>
            </a:r>
          </a:p>
          <a:p>
            <a:pPr lvl="1">
              <a:lnSpc>
                <a:spcPct val="80000"/>
              </a:lnSpc>
            </a:pPr>
            <a:endParaRPr lang="en-US" altLang="en-US" sz="2000" dirty="0"/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It aids standardization of networking technologies by providing an organized structure for hardware and software developers to follow, to </a:t>
            </a:r>
            <a:r>
              <a:rPr lang="en-US" altLang="en-US" sz="2000" dirty="0" smtClean="0"/>
              <a:t>ensure </a:t>
            </a:r>
            <a:r>
              <a:rPr lang="en-US" altLang="en-US" sz="2000" dirty="0"/>
              <a:t>there products are compatible with current and future technologies.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/>
          <p:cNvSpPr>
            <a:spLocks noGrp="1" noChangeArrowheads="1"/>
          </p:cNvSpPr>
          <p:nvPr>
            <p:ph type="title"/>
          </p:nvPr>
        </p:nvSpPr>
        <p:spPr>
          <a:xfrm>
            <a:off x="611188" y="765175"/>
            <a:ext cx="7772400" cy="914400"/>
          </a:xfrm>
        </p:spPr>
        <p:txBody>
          <a:bodyPr/>
          <a:lstStyle/>
          <a:p>
            <a:r>
              <a:rPr lang="en-US" altLang="en-US"/>
              <a:t> 7 Layer OSI Model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43608" y="2492896"/>
            <a:ext cx="7704856" cy="417646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Why use a reference model?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Serves as an outline of rules for how protocols can be used to allow communication between computers.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Each layer has its own function and provides support to other layers.</a:t>
            </a:r>
          </a:p>
          <a:p>
            <a:pPr lvl="1">
              <a:lnSpc>
                <a:spcPct val="90000"/>
              </a:lnSpc>
            </a:pPr>
            <a:endParaRPr lang="en-US" altLang="en-US" sz="18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Other reference models are in use.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Most well known is the TCP/IP reference model.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We will compare OSI and TCP/IP models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As computing requirements increased, the network modeling had to evolve to meet ever increasing demands of larger networks and multiple venders.</a:t>
            </a:r>
          </a:p>
          <a:p>
            <a:pPr>
              <a:lnSpc>
                <a:spcPct val="90000"/>
              </a:lnSpc>
            </a:pPr>
            <a:endParaRPr lang="en-US" altLang="en-US" sz="2000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2"/>
          <p:cNvSpPr>
            <a:spLocks noGrp="1" noChangeArrowheads="1"/>
          </p:cNvSpPr>
          <p:nvPr>
            <p:ph type="title"/>
          </p:nvPr>
        </p:nvSpPr>
        <p:spPr>
          <a:xfrm>
            <a:off x="900113" y="981075"/>
            <a:ext cx="7772400" cy="914400"/>
          </a:xfrm>
        </p:spPr>
        <p:txBody>
          <a:bodyPr/>
          <a:lstStyle/>
          <a:p>
            <a:r>
              <a:rPr lang="en-US" altLang="en-US"/>
              <a:t>Evolution of the 7-Layers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2205038"/>
            <a:ext cx="8229600" cy="2143125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en-US" sz="1800" dirty="0"/>
          </a:p>
          <a:p>
            <a:pPr>
              <a:lnSpc>
                <a:spcPct val="90000"/>
              </a:lnSpc>
            </a:pPr>
            <a:r>
              <a:rPr lang="en-US" altLang="en-US" sz="1800" dirty="0"/>
              <a:t>Single Layer Model - First Communication Between Computer Devices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Dedicated copper wire or radio link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Hardware &amp; software </a:t>
            </a:r>
            <a:r>
              <a:rPr lang="en-US" altLang="en-US" sz="1800" dirty="0" smtClean="0"/>
              <a:t>inseparably tangled</a:t>
            </a:r>
            <a:endParaRPr lang="en-US" altLang="en-US" sz="1800" dirty="0"/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Single specification for all aspects of communication</a:t>
            </a:r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2484438" y="5949950"/>
            <a:ext cx="1598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DEVICE A</a:t>
            </a: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6294438" y="5988050"/>
            <a:ext cx="1581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DEVICE B</a:t>
            </a:r>
          </a:p>
        </p:txBody>
      </p:sp>
      <p:grpSp>
        <p:nvGrpSpPr>
          <p:cNvPr id="13323" name="Group 11"/>
          <p:cNvGrpSpPr>
            <a:grpSpLocks/>
          </p:cNvGrpSpPr>
          <p:nvPr/>
        </p:nvGrpSpPr>
        <p:grpSpPr bwMode="auto">
          <a:xfrm>
            <a:off x="2771775" y="3933825"/>
            <a:ext cx="5000625" cy="1979613"/>
            <a:chOff x="864" y="1968"/>
            <a:chExt cx="4125" cy="1847"/>
          </a:xfrm>
        </p:grpSpPr>
        <p:sp>
          <p:nvSpPr>
            <p:cNvPr id="13316" name="AutoShape 4"/>
            <p:cNvSpPr>
              <a:spLocks noChangeAspect="1" noChangeArrowheads="1"/>
            </p:cNvSpPr>
            <p:nvPr/>
          </p:nvSpPr>
          <p:spPr bwMode="auto">
            <a:xfrm>
              <a:off x="864" y="1968"/>
              <a:ext cx="1005" cy="1847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57150">
              <a:solidFill>
                <a:srgbClr val="99CC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>
                  <a:solidFill>
                    <a:srgbClr val="FF3300"/>
                  </a:solidFill>
                  <a:latin typeface="Times New Roman" panose="02020603050405020304" pitchFamily="18" charset="0"/>
                </a:rPr>
                <a:t>Hardware</a:t>
              </a:r>
            </a:p>
            <a:p>
              <a:pPr algn="ctr"/>
              <a:r>
                <a:rPr lang="en-US" altLang="en-US" sz="2400">
                  <a:solidFill>
                    <a:srgbClr val="FF3300"/>
                  </a:solidFill>
                  <a:latin typeface="Times New Roman" panose="02020603050405020304" pitchFamily="18" charset="0"/>
                </a:rPr>
                <a:t>&amp;</a:t>
              </a:r>
            </a:p>
            <a:p>
              <a:pPr algn="ctr"/>
              <a:r>
                <a:rPr lang="en-US" altLang="en-US" sz="2400">
                  <a:solidFill>
                    <a:srgbClr val="FF3300"/>
                  </a:solidFill>
                  <a:latin typeface="Times New Roman" panose="02020603050405020304" pitchFamily="18" charset="0"/>
                </a:rPr>
                <a:t>Software</a:t>
              </a:r>
            </a:p>
          </p:txBody>
        </p:sp>
        <p:sp>
          <p:nvSpPr>
            <p:cNvPr id="13318" name="AutoShape 6"/>
            <p:cNvSpPr>
              <a:spLocks noChangeAspect="1" noChangeArrowheads="1"/>
            </p:cNvSpPr>
            <p:nvPr/>
          </p:nvSpPr>
          <p:spPr bwMode="auto">
            <a:xfrm>
              <a:off x="3984" y="1968"/>
              <a:ext cx="1005" cy="1799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57150">
              <a:solidFill>
                <a:srgbClr val="99CC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Hardware</a:t>
              </a:r>
            </a:p>
            <a:p>
              <a:pPr algn="ctr"/>
              <a:r>
                <a:rPr lang="en-US" altLang="en-US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&amp;</a:t>
              </a:r>
            </a:p>
            <a:p>
              <a:pPr algn="ctr"/>
              <a:r>
                <a:rPr lang="en-US" altLang="en-US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Software</a:t>
              </a:r>
            </a:p>
          </p:txBody>
        </p:sp>
        <p:sp>
          <p:nvSpPr>
            <p:cNvPr id="13320" name="Line 8"/>
            <p:cNvSpPr>
              <a:spLocks noChangeShapeType="1"/>
            </p:cNvSpPr>
            <p:nvPr/>
          </p:nvSpPr>
          <p:spPr bwMode="auto">
            <a:xfrm>
              <a:off x="1920" y="2784"/>
              <a:ext cx="2004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7848600" y="5486400"/>
            <a:ext cx="304800" cy="703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US" altLang="en-US" sz="2400" baseline="30000">
              <a:solidFill>
                <a:srgbClr val="33CCFF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2400" baseline="30000">
                <a:solidFill>
                  <a:srgbClr val="33CCFF"/>
                </a:solidFill>
                <a:latin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765175"/>
            <a:ext cx="8229600" cy="1095375"/>
          </a:xfrm>
          <a:prstGeom prst="rect">
            <a:avLst/>
          </a:prstGeom>
          <a:noFill/>
          <a:ln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en-US" dirty="0"/>
              <a:t>Evolution of the </a:t>
            </a:r>
            <a:r>
              <a:rPr lang="en-US" altLang="en-US" dirty="0" smtClean="0"/>
              <a:t>7-Layers (2)</a:t>
            </a:r>
            <a:endParaRPr lang="en-US" altLang="en-U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4365625"/>
            <a:ext cx="8229600" cy="28956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sz="1600"/>
              <a:t>Two Layer Model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en-US" sz="1600" b="1"/>
              <a:t>Problem:</a:t>
            </a:r>
            <a:r>
              <a:rPr lang="en-US" altLang="en-US" sz="1600"/>
              <a:t>  Applications were being developed to run over ever-increasing number of media/signaling systems.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en-US" sz="1600" b="1"/>
              <a:t>Solution:</a:t>
            </a:r>
            <a:r>
              <a:rPr lang="en-US" altLang="en-US" sz="1600"/>
              <a:t>  Separate application aspects from technical (signaling and routing) aspects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en-US" sz="1600" b="1"/>
              <a:t>Application Layer:</a:t>
            </a:r>
            <a:r>
              <a:rPr lang="en-US" altLang="en-US" sz="1600"/>
              <a:t> Concerned with user interface, file access and file transfer</a:t>
            </a:r>
          </a:p>
        </p:txBody>
      </p:sp>
      <p:grpSp>
        <p:nvGrpSpPr>
          <p:cNvPr id="15374" name="Group 14"/>
          <p:cNvGrpSpPr>
            <a:grpSpLocks/>
          </p:cNvGrpSpPr>
          <p:nvPr/>
        </p:nvGrpSpPr>
        <p:grpSpPr bwMode="auto">
          <a:xfrm>
            <a:off x="1867694" y="2555029"/>
            <a:ext cx="5862638" cy="1795463"/>
            <a:chOff x="775" y="2251"/>
            <a:chExt cx="4164" cy="1584"/>
          </a:xfrm>
        </p:grpSpPr>
        <p:grpSp>
          <p:nvGrpSpPr>
            <p:cNvPr id="15364" name="Group 4"/>
            <p:cNvGrpSpPr>
              <a:grpSpLocks/>
            </p:cNvGrpSpPr>
            <p:nvPr/>
          </p:nvGrpSpPr>
          <p:grpSpPr bwMode="auto">
            <a:xfrm>
              <a:off x="775" y="2251"/>
              <a:ext cx="1016" cy="1536"/>
              <a:chOff x="157" y="233"/>
              <a:chExt cx="1016" cy="1942"/>
            </a:xfrm>
          </p:grpSpPr>
          <p:sp>
            <p:nvSpPr>
              <p:cNvPr id="15365" name="AutoShape 5"/>
              <p:cNvSpPr>
                <a:spLocks noChangeAspect="1" noChangeArrowheads="1"/>
              </p:cNvSpPr>
              <p:nvPr/>
            </p:nvSpPr>
            <p:spPr bwMode="auto">
              <a:xfrm>
                <a:off x="157" y="233"/>
                <a:ext cx="1005" cy="111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Application</a:t>
                </a:r>
              </a:p>
            </p:txBody>
          </p:sp>
          <p:sp>
            <p:nvSpPr>
              <p:cNvPr id="15366" name="AutoShape 6"/>
              <p:cNvSpPr>
                <a:spLocks noChangeAspect="1" noChangeArrowheads="1"/>
              </p:cNvSpPr>
              <p:nvPr/>
            </p:nvSpPr>
            <p:spPr bwMode="auto">
              <a:xfrm>
                <a:off x="157" y="1350"/>
                <a:ext cx="1016" cy="825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Technical </a:t>
                </a:r>
              </a:p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Standards</a:t>
                </a:r>
              </a:p>
            </p:txBody>
          </p:sp>
        </p:grpSp>
        <p:sp>
          <p:nvSpPr>
            <p:cNvPr id="15367" name="Line 7"/>
            <p:cNvSpPr>
              <a:spLocks noChangeShapeType="1"/>
            </p:cNvSpPr>
            <p:nvPr/>
          </p:nvSpPr>
          <p:spPr bwMode="auto">
            <a:xfrm>
              <a:off x="1855" y="2731"/>
              <a:ext cx="2004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368" name="Group 8"/>
            <p:cNvGrpSpPr>
              <a:grpSpLocks/>
            </p:cNvGrpSpPr>
            <p:nvPr/>
          </p:nvGrpSpPr>
          <p:grpSpPr bwMode="auto">
            <a:xfrm>
              <a:off x="3923" y="2251"/>
              <a:ext cx="1016" cy="1584"/>
              <a:chOff x="157" y="233"/>
              <a:chExt cx="1016" cy="1942"/>
            </a:xfrm>
          </p:grpSpPr>
          <p:sp>
            <p:nvSpPr>
              <p:cNvPr id="15369" name="AutoShape 9"/>
              <p:cNvSpPr>
                <a:spLocks noChangeAspect="1" noChangeArrowheads="1"/>
              </p:cNvSpPr>
              <p:nvPr/>
            </p:nvSpPr>
            <p:spPr bwMode="auto">
              <a:xfrm>
                <a:off x="157" y="233"/>
                <a:ext cx="1005" cy="111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Application</a:t>
                </a:r>
              </a:p>
            </p:txBody>
          </p:sp>
          <p:sp>
            <p:nvSpPr>
              <p:cNvPr id="15370" name="AutoShape 10"/>
              <p:cNvSpPr>
                <a:spLocks noChangeAspect="1" noChangeArrowheads="1"/>
              </p:cNvSpPr>
              <p:nvPr/>
            </p:nvSpPr>
            <p:spPr bwMode="auto">
              <a:xfrm>
                <a:off x="157" y="1350"/>
                <a:ext cx="1016" cy="825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Technical </a:t>
                </a:r>
              </a:p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Standards</a:t>
                </a:r>
              </a:p>
            </p:txBody>
          </p:sp>
        </p:grpSp>
        <p:sp>
          <p:nvSpPr>
            <p:cNvPr id="15371" name="Line 11"/>
            <p:cNvSpPr>
              <a:spLocks noChangeShapeType="1"/>
            </p:cNvSpPr>
            <p:nvPr/>
          </p:nvSpPr>
          <p:spPr bwMode="auto">
            <a:xfrm>
              <a:off x="1872" y="3744"/>
              <a:ext cx="2004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372" name="Text Box 12"/>
          <p:cNvSpPr txBox="1">
            <a:spLocks noChangeArrowheads="1"/>
          </p:cNvSpPr>
          <p:nvPr/>
        </p:nvSpPr>
        <p:spPr bwMode="auto">
          <a:xfrm>
            <a:off x="7848600" y="5943600"/>
            <a:ext cx="304800" cy="703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US" altLang="en-US" sz="2400" baseline="30000">
              <a:solidFill>
                <a:srgbClr val="33CCFF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2400" baseline="30000">
                <a:solidFill>
                  <a:srgbClr val="33CCFF"/>
                </a:solidFill>
                <a:latin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AutoShape 2"/>
          <p:cNvSpPr>
            <a:spLocks noGrp="1" noChangeArrowheads="1"/>
          </p:cNvSpPr>
          <p:nvPr>
            <p:ph type="title"/>
          </p:nvPr>
        </p:nvSpPr>
        <p:spPr>
          <a:xfrm>
            <a:off x="914400" y="765175"/>
            <a:ext cx="8229600" cy="1095375"/>
          </a:xfrm>
        </p:spPr>
        <p:txBody>
          <a:bodyPr/>
          <a:lstStyle/>
          <a:p>
            <a:r>
              <a:rPr lang="en-US" altLang="en-US" dirty="0"/>
              <a:t>Evolution of the </a:t>
            </a:r>
            <a:r>
              <a:rPr lang="en-US" altLang="en-US" dirty="0" smtClean="0"/>
              <a:t>7-Layers (4)</a:t>
            </a:r>
            <a:endParaRPr lang="en-US" altLang="en-US" dirty="0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971550" y="5084763"/>
            <a:ext cx="85344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</a:rPr>
              <a:t>Four Layer Model - Network connectivity inherently requires travel over intermediate devices (nodes)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</a:rPr>
              <a:t>Technical Standards Level divided into Network, Data-link and Physical Layers</a:t>
            </a:r>
          </a:p>
        </p:txBody>
      </p:sp>
      <p:grpSp>
        <p:nvGrpSpPr>
          <p:cNvPr id="17412" name="Group 4"/>
          <p:cNvGrpSpPr>
            <a:grpSpLocks/>
          </p:cNvGrpSpPr>
          <p:nvPr/>
        </p:nvGrpSpPr>
        <p:grpSpPr bwMode="auto">
          <a:xfrm>
            <a:off x="1943100" y="2492896"/>
            <a:ext cx="6172200" cy="2305050"/>
            <a:chOff x="2817" y="801"/>
            <a:chExt cx="2769" cy="1959"/>
          </a:xfrm>
        </p:grpSpPr>
        <p:grpSp>
          <p:nvGrpSpPr>
            <p:cNvPr id="17413" name="Group 5"/>
            <p:cNvGrpSpPr>
              <a:grpSpLocks/>
            </p:cNvGrpSpPr>
            <p:nvPr/>
          </p:nvGrpSpPr>
          <p:grpSpPr bwMode="auto">
            <a:xfrm>
              <a:off x="2817" y="801"/>
              <a:ext cx="1005" cy="1959"/>
              <a:chOff x="1447" y="78"/>
              <a:chExt cx="1005" cy="1959"/>
            </a:xfrm>
          </p:grpSpPr>
          <p:sp>
            <p:nvSpPr>
              <p:cNvPr id="17414" name="AutoShape 6"/>
              <p:cNvSpPr>
                <a:spLocks noChangeAspect="1" noChangeArrowheads="1"/>
              </p:cNvSpPr>
              <p:nvPr/>
            </p:nvSpPr>
            <p:spPr bwMode="auto">
              <a:xfrm>
                <a:off x="1447" y="1206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Network</a:t>
                </a:r>
              </a:p>
            </p:txBody>
          </p:sp>
          <p:sp>
            <p:nvSpPr>
              <p:cNvPr id="17415" name="AutoShape 7"/>
              <p:cNvSpPr>
                <a:spLocks noChangeAspect="1" noChangeArrowheads="1"/>
              </p:cNvSpPr>
              <p:nvPr/>
            </p:nvSpPr>
            <p:spPr bwMode="auto">
              <a:xfrm>
                <a:off x="1447" y="1765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Physical</a:t>
                </a:r>
              </a:p>
            </p:txBody>
          </p:sp>
          <p:sp>
            <p:nvSpPr>
              <p:cNvPr id="17416" name="AutoShape 8"/>
              <p:cNvSpPr>
                <a:spLocks noChangeAspect="1" noChangeArrowheads="1"/>
              </p:cNvSpPr>
              <p:nvPr/>
            </p:nvSpPr>
            <p:spPr bwMode="auto">
              <a:xfrm>
                <a:off x="1447" y="1485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Data-Link</a:t>
                </a:r>
              </a:p>
            </p:txBody>
          </p:sp>
          <p:sp>
            <p:nvSpPr>
              <p:cNvPr id="17417" name="AutoShape 9"/>
              <p:cNvSpPr>
                <a:spLocks noChangeAspect="1" noChangeArrowheads="1"/>
              </p:cNvSpPr>
              <p:nvPr/>
            </p:nvSpPr>
            <p:spPr bwMode="auto">
              <a:xfrm>
                <a:off x="1447" y="78"/>
                <a:ext cx="1005" cy="1121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Application</a:t>
                </a:r>
              </a:p>
            </p:txBody>
          </p:sp>
        </p:grpSp>
        <p:grpSp>
          <p:nvGrpSpPr>
            <p:cNvPr id="17418" name="Group 10"/>
            <p:cNvGrpSpPr>
              <a:grpSpLocks/>
            </p:cNvGrpSpPr>
            <p:nvPr/>
          </p:nvGrpSpPr>
          <p:grpSpPr bwMode="auto">
            <a:xfrm>
              <a:off x="4581" y="801"/>
              <a:ext cx="1005" cy="1959"/>
              <a:chOff x="1447" y="78"/>
              <a:chExt cx="1005" cy="1959"/>
            </a:xfrm>
          </p:grpSpPr>
          <p:sp>
            <p:nvSpPr>
              <p:cNvPr id="17419" name="AutoShape 11"/>
              <p:cNvSpPr>
                <a:spLocks noChangeAspect="1" noChangeArrowheads="1"/>
              </p:cNvSpPr>
              <p:nvPr/>
            </p:nvSpPr>
            <p:spPr bwMode="auto">
              <a:xfrm>
                <a:off x="1447" y="1206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Network</a:t>
                </a:r>
              </a:p>
            </p:txBody>
          </p:sp>
          <p:sp>
            <p:nvSpPr>
              <p:cNvPr id="17420" name="AutoShape 12"/>
              <p:cNvSpPr>
                <a:spLocks noChangeAspect="1" noChangeArrowheads="1"/>
              </p:cNvSpPr>
              <p:nvPr/>
            </p:nvSpPr>
            <p:spPr bwMode="auto">
              <a:xfrm>
                <a:off x="1447" y="1765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Physical</a:t>
                </a:r>
              </a:p>
            </p:txBody>
          </p:sp>
          <p:sp>
            <p:nvSpPr>
              <p:cNvPr id="17421" name="AutoShape 13"/>
              <p:cNvSpPr>
                <a:spLocks noChangeAspect="1" noChangeArrowheads="1"/>
              </p:cNvSpPr>
              <p:nvPr/>
            </p:nvSpPr>
            <p:spPr bwMode="auto">
              <a:xfrm>
                <a:off x="1447" y="1485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Data-Link</a:t>
                </a:r>
              </a:p>
            </p:txBody>
          </p:sp>
          <p:sp>
            <p:nvSpPr>
              <p:cNvPr id="17422" name="AutoShape 14"/>
              <p:cNvSpPr>
                <a:spLocks noChangeAspect="1" noChangeArrowheads="1"/>
              </p:cNvSpPr>
              <p:nvPr/>
            </p:nvSpPr>
            <p:spPr bwMode="auto">
              <a:xfrm>
                <a:off x="1447" y="78"/>
                <a:ext cx="1005" cy="1121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Application</a:t>
                </a:r>
              </a:p>
            </p:txBody>
          </p:sp>
        </p:grpSp>
        <p:sp>
          <p:nvSpPr>
            <p:cNvPr id="17423" name="Line 15"/>
            <p:cNvSpPr>
              <a:spLocks noChangeShapeType="1"/>
            </p:cNvSpPr>
            <p:nvPr/>
          </p:nvSpPr>
          <p:spPr bwMode="auto">
            <a:xfrm>
              <a:off x="3882" y="2625"/>
              <a:ext cx="643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4" name="Line 16"/>
            <p:cNvSpPr>
              <a:spLocks noChangeShapeType="1"/>
            </p:cNvSpPr>
            <p:nvPr/>
          </p:nvSpPr>
          <p:spPr bwMode="auto">
            <a:xfrm>
              <a:off x="3882" y="1374"/>
              <a:ext cx="643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5" name="Line 17"/>
            <p:cNvSpPr>
              <a:spLocks noChangeShapeType="1"/>
            </p:cNvSpPr>
            <p:nvPr/>
          </p:nvSpPr>
          <p:spPr bwMode="auto">
            <a:xfrm>
              <a:off x="3882" y="2069"/>
              <a:ext cx="643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6" name="Line 18"/>
            <p:cNvSpPr>
              <a:spLocks noChangeShapeType="1"/>
            </p:cNvSpPr>
            <p:nvPr/>
          </p:nvSpPr>
          <p:spPr bwMode="auto">
            <a:xfrm>
              <a:off x="3882" y="2337"/>
              <a:ext cx="643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427" name="Text Box 19"/>
          <p:cNvSpPr txBox="1">
            <a:spLocks noChangeArrowheads="1"/>
          </p:cNvSpPr>
          <p:nvPr/>
        </p:nvSpPr>
        <p:spPr bwMode="auto">
          <a:xfrm>
            <a:off x="7772400" y="5943600"/>
            <a:ext cx="304800" cy="703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US" altLang="en-US" sz="2400" baseline="30000">
              <a:solidFill>
                <a:srgbClr val="33CCFF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2400" baseline="30000">
                <a:solidFill>
                  <a:srgbClr val="33CCFF"/>
                </a:solidFill>
                <a:latin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AutoShape 2"/>
          <p:cNvSpPr>
            <a:spLocks noGrp="1" noChangeArrowheads="1"/>
          </p:cNvSpPr>
          <p:nvPr>
            <p:ph type="title"/>
          </p:nvPr>
        </p:nvSpPr>
        <p:spPr>
          <a:xfrm>
            <a:off x="1042988" y="836613"/>
            <a:ext cx="8458200" cy="914400"/>
          </a:xfrm>
        </p:spPr>
        <p:txBody>
          <a:bodyPr/>
          <a:lstStyle/>
          <a:p>
            <a:r>
              <a:rPr lang="en-US" altLang="en-US" dirty="0"/>
              <a:t>Evolution of the 7-Layers (3) </a:t>
            </a:r>
            <a:r>
              <a:rPr lang="en-US" altLang="en-US" sz="2800" dirty="0"/>
              <a:t>cont.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827088" y="2420938"/>
            <a:ext cx="8534400" cy="411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2000">
                <a:latin typeface="Times New Roman" panose="02020603050405020304" pitchFamily="18" charset="0"/>
              </a:rPr>
              <a:t>Physical Layer</a:t>
            </a: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2000">
                <a:latin typeface="Times New Roman" panose="02020603050405020304" pitchFamily="18" charset="0"/>
              </a:rPr>
              <a:t>Describes physical aspects of network: cards, wires, etc</a:t>
            </a: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2000">
                <a:latin typeface="Times New Roman" panose="02020603050405020304" pitchFamily="18" charset="0"/>
              </a:rPr>
              <a:t>Specifies interconnect topologies and devices</a:t>
            </a:r>
            <a:endParaRPr lang="en-US" altLang="en-US" sz="2000" b="1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</a:rPr>
              <a:t>  Network Layer</a:t>
            </a: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2000">
                <a:latin typeface="Times New Roman" panose="02020603050405020304" pitchFamily="18" charset="0"/>
              </a:rPr>
              <a:t>Defines a standard method for operating between nodes</a:t>
            </a: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2000">
                <a:latin typeface="Times New Roman" panose="02020603050405020304" pitchFamily="18" charset="0"/>
              </a:rPr>
              <a:t>Address scheme is defined (IP)</a:t>
            </a: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2000">
                <a:latin typeface="Times New Roman" panose="02020603050405020304" pitchFamily="18" charset="0"/>
              </a:rPr>
              <a:t>Accounts for varying topologies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</a:rPr>
              <a:t>  Data-Link</a:t>
            </a: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2000">
                <a:latin typeface="Times New Roman" panose="02020603050405020304" pitchFamily="18" charset="0"/>
              </a:rPr>
              <a:t>Works with Network Layer to translate logical addresses (IP) into hardware addresses (MAC) for transmission</a:t>
            </a: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2000">
                <a:latin typeface="Times New Roman" panose="02020603050405020304" pitchFamily="18" charset="0"/>
              </a:rPr>
              <a:t>Defines a single link protocol for transfer between two nodes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900113" y="836613"/>
            <a:ext cx="7772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Evolution of the 7-Layers (4)</a:t>
            </a:r>
          </a:p>
        </p:txBody>
      </p:sp>
      <p:grpSp>
        <p:nvGrpSpPr>
          <p:cNvPr id="21527" name="Group 23"/>
          <p:cNvGrpSpPr>
            <a:grpSpLocks/>
          </p:cNvGrpSpPr>
          <p:nvPr/>
        </p:nvGrpSpPr>
        <p:grpSpPr bwMode="auto">
          <a:xfrm>
            <a:off x="2735263" y="2479301"/>
            <a:ext cx="4102100" cy="2322513"/>
            <a:chOff x="2745" y="1008"/>
            <a:chExt cx="2787" cy="2343"/>
          </a:xfrm>
        </p:grpSpPr>
        <p:grpSp>
          <p:nvGrpSpPr>
            <p:cNvPr id="21508" name="Group 4"/>
            <p:cNvGrpSpPr>
              <a:grpSpLocks/>
            </p:cNvGrpSpPr>
            <p:nvPr/>
          </p:nvGrpSpPr>
          <p:grpSpPr bwMode="auto">
            <a:xfrm>
              <a:off x="2745" y="1008"/>
              <a:ext cx="1005" cy="2343"/>
              <a:chOff x="2307" y="78"/>
              <a:chExt cx="1005" cy="1954"/>
            </a:xfrm>
          </p:grpSpPr>
          <p:sp>
            <p:nvSpPr>
              <p:cNvPr id="21509" name="AutoShape 5"/>
              <p:cNvSpPr>
                <a:spLocks noChangeAspect="1" noChangeArrowheads="1"/>
              </p:cNvSpPr>
              <p:nvPr/>
            </p:nvSpPr>
            <p:spPr bwMode="auto">
              <a:xfrm>
                <a:off x="2307" y="928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Transport</a:t>
                </a:r>
              </a:p>
            </p:txBody>
          </p:sp>
          <p:sp>
            <p:nvSpPr>
              <p:cNvPr id="21510" name="AutoShape 6"/>
              <p:cNvSpPr>
                <a:spLocks noChangeAspect="1" noChangeArrowheads="1"/>
              </p:cNvSpPr>
              <p:nvPr/>
            </p:nvSpPr>
            <p:spPr bwMode="auto">
              <a:xfrm>
                <a:off x="2307" y="78"/>
                <a:ext cx="1005" cy="855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Application</a:t>
                </a:r>
              </a:p>
            </p:txBody>
          </p:sp>
          <p:sp>
            <p:nvSpPr>
              <p:cNvPr id="21511" name="AutoShape 7"/>
              <p:cNvSpPr>
                <a:spLocks noChangeAspect="1" noChangeArrowheads="1"/>
              </p:cNvSpPr>
              <p:nvPr/>
            </p:nvSpPr>
            <p:spPr bwMode="auto">
              <a:xfrm>
                <a:off x="2307" y="1207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Network</a:t>
                </a:r>
              </a:p>
            </p:txBody>
          </p:sp>
          <p:sp>
            <p:nvSpPr>
              <p:cNvPr id="21512" name="AutoShape 8"/>
              <p:cNvSpPr>
                <a:spLocks noChangeAspect="1" noChangeArrowheads="1"/>
              </p:cNvSpPr>
              <p:nvPr/>
            </p:nvSpPr>
            <p:spPr bwMode="auto">
              <a:xfrm>
                <a:off x="2307" y="1760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Physical</a:t>
                </a:r>
              </a:p>
            </p:txBody>
          </p:sp>
          <p:sp>
            <p:nvSpPr>
              <p:cNvPr id="21513" name="AutoShape 9"/>
              <p:cNvSpPr>
                <a:spLocks noChangeAspect="1" noChangeArrowheads="1"/>
              </p:cNvSpPr>
              <p:nvPr/>
            </p:nvSpPr>
            <p:spPr bwMode="auto">
              <a:xfrm>
                <a:off x="2307" y="1486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Data-Link</a:t>
                </a:r>
              </a:p>
            </p:txBody>
          </p:sp>
        </p:grpSp>
        <p:grpSp>
          <p:nvGrpSpPr>
            <p:cNvPr id="21514" name="Group 10"/>
            <p:cNvGrpSpPr>
              <a:grpSpLocks/>
            </p:cNvGrpSpPr>
            <p:nvPr/>
          </p:nvGrpSpPr>
          <p:grpSpPr bwMode="auto">
            <a:xfrm>
              <a:off x="4527" y="1008"/>
              <a:ext cx="1005" cy="2343"/>
              <a:chOff x="2307" y="78"/>
              <a:chExt cx="1005" cy="1954"/>
            </a:xfrm>
          </p:grpSpPr>
          <p:sp>
            <p:nvSpPr>
              <p:cNvPr id="21515" name="AutoShape 11"/>
              <p:cNvSpPr>
                <a:spLocks noChangeAspect="1" noChangeArrowheads="1"/>
              </p:cNvSpPr>
              <p:nvPr/>
            </p:nvSpPr>
            <p:spPr bwMode="auto">
              <a:xfrm>
                <a:off x="2307" y="928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Transport</a:t>
                </a:r>
              </a:p>
            </p:txBody>
          </p:sp>
          <p:sp>
            <p:nvSpPr>
              <p:cNvPr id="21516" name="AutoShape 12"/>
              <p:cNvSpPr>
                <a:spLocks noChangeAspect="1" noChangeArrowheads="1"/>
              </p:cNvSpPr>
              <p:nvPr/>
            </p:nvSpPr>
            <p:spPr bwMode="auto">
              <a:xfrm>
                <a:off x="2307" y="78"/>
                <a:ext cx="1005" cy="855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Application</a:t>
                </a:r>
              </a:p>
            </p:txBody>
          </p:sp>
          <p:sp>
            <p:nvSpPr>
              <p:cNvPr id="21517" name="AutoShape 13"/>
              <p:cNvSpPr>
                <a:spLocks noChangeAspect="1" noChangeArrowheads="1"/>
              </p:cNvSpPr>
              <p:nvPr/>
            </p:nvSpPr>
            <p:spPr bwMode="auto">
              <a:xfrm>
                <a:off x="2307" y="1207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Network</a:t>
                </a:r>
              </a:p>
            </p:txBody>
          </p:sp>
          <p:sp>
            <p:nvSpPr>
              <p:cNvPr id="21518" name="AutoShape 14"/>
              <p:cNvSpPr>
                <a:spLocks noChangeAspect="1" noChangeArrowheads="1"/>
              </p:cNvSpPr>
              <p:nvPr/>
            </p:nvSpPr>
            <p:spPr bwMode="auto">
              <a:xfrm>
                <a:off x="2307" y="1760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Physical</a:t>
                </a:r>
              </a:p>
            </p:txBody>
          </p:sp>
          <p:sp>
            <p:nvSpPr>
              <p:cNvPr id="21519" name="AutoShape 15"/>
              <p:cNvSpPr>
                <a:spLocks noChangeAspect="1" noChangeArrowheads="1"/>
              </p:cNvSpPr>
              <p:nvPr/>
            </p:nvSpPr>
            <p:spPr bwMode="auto">
              <a:xfrm>
                <a:off x="2307" y="1486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Data-Link</a:t>
                </a:r>
              </a:p>
            </p:txBody>
          </p:sp>
        </p:grpSp>
        <p:sp>
          <p:nvSpPr>
            <p:cNvPr id="21520" name="Line 16"/>
            <p:cNvSpPr>
              <a:spLocks noChangeShapeType="1"/>
            </p:cNvSpPr>
            <p:nvPr/>
          </p:nvSpPr>
          <p:spPr bwMode="auto">
            <a:xfrm>
              <a:off x="3840" y="1536"/>
              <a:ext cx="643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1" name="Line 17"/>
            <p:cNvSpPr>
              <a:spLocks noChangeShapeType="1"/>
            </p:cNvSpPr>
            <p:nvPr/>
          </p:nvSpPr>
          <p:spPr bwMode="auto">
            <a:xfrm>
              <a:off x="3840" y="2208"/>
              <a:ext cx="643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2" name="Line 18"/>
            <p:cNvSpPr>
              <a:spLocks noChangeShapeType="1"/>
            </p:cNvSpPr>
            <p:nvPr/>
          </p:nvSpPr>
          <p:spPr bwMode="auto">
            <a:xfrm>
              <a:off x="3840" y="2544"/>
              <a:ext cx="643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3" name="Line 19"/>
            <p:cNvSpPr>
              <a:spLocks noChangeShapeType="1"/>
            </p:cNvSpPr>
            <p:nvPr/>
          </p:nvSpPr>
          <p:spPr bwMode="auto">
            <a:xfrm>
              <a:off x="3840" y="2832"/>
              <a:ext cx="643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4" name="Line 20"/>
            <p:cNvSpPr>
              <a:spLocks noChangeShapeType="1"/>
            </p:cNvSpPr>
            <p:nvPr/>
          </p:nvSpPr>
          <p:spPr bwMode="auto">
            <a:xfrm>
              <a:off x="3840" y="3168"/>
              <a:ext cx="643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528" name="Rectangle 24"/>
          <p:cNvSpPr>
            <a:spLocks noChangeArrowheads="1"/>
          </p:cNvSpPr>
          <p:nvPr/>
        </p:nvSpPr>
        <p:spPr bwMode="auto">
          <a:xfrm>
            <a:off x="554038" y="4811655"/>
            <a:ext cx="8208962" cy="1772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</a:rPr>
              <a:t>  </a:t>
            </a:r>
            <a:r>
              <a:rPr lang="en-US" altLang="en-US" sz="2000" dirty="0">
                <a:latin typeface="Times New Roman" panose="02020603050405020304" pitchFamily="18" charset="0"/>
              </a:rPr>
              <a:t>Five Layer Model – Increase Quality of Service (QOS)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Variable levels of data integrity  in network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Additional data exchanges to ensure connectivity over worst conditions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Became the Transport </a:t>
            </a:r>
            <a:r>
              <a:rPr lang="en-US" altLang="en-US" sz="2000" dirty="0" smtClean="0">
                <a:latin typeface="Times New Roman" panose="02020603050405020304" pitchFamily="18" charset="0"/>
              </a:rPr>
              <a:t>Layer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900113" y="620713"/>
            <a:ext cx="7772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Evolution of the 7-Layers (5)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1042988" y="5057775"/>
            <a:ext cx="7629525" cy="18002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Six Layer Model - Dialogue Control and Dialogue Separation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en-US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Means of synchronizing transfer of data packets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en-US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Allows for </a:t>
            </a:r>
            <a:r>
              <a:rPr lang="en-US" altLang="en-US" sz="2000" dirty="0" smtClean="0">
                <a:solidFill>
                  <a:schemeClr val="hlink"/>
                </a:solidFill>
                <a:latin typeface="Times New Roman" panose="02020603050405020304" pitchFamily="18" charset="0"/>
              </a:rPr>
              <a:t>check pointing </a:t>
            </a:r>
            <a:r>
              <a:rPr lang="en-US" altLang="en-US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to see if data arrives (at nodes and end stations) 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en-US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Became Session Layer</a:t>
            </a:r>
          </a:p>
          <a:p>
            <a:pPr lvl="1">
              <a:spcBef>
                <a:spcPct val="20000"/>
              </a:spcBef>
            </a:pPr>
            <a:endParaRPr lang="en-US" altLang="en-US" sz="2400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3578" name="Group 26"/>
          <p:cNvGrpSpPr>
            <a:grpSpLocks/>
          </p:cNvGrpSpPr>
          <p:nvPr/>
        </p:nvGrpSpPr>
        <p:grpSpPr bwMode="auto">
          <a:xfrm>
            <a:off x="2734469" y="2348880"/>
            <a:ext cx="4103687" cy="2593975"/>
            <a:chOff x="2798" y="864"/>
            <a:chExt cx="2736" cy="2476"/>
          </a:xfrm>
        </p:grpSpPr>
        <p:sp>
          <p:nvSpPr>
            <p:cNvPr id="23556" name="Line 4"/>
            <p:cNvSpPr>
              <a:spLocks noChangeShapeType="1"/>
            </p:cNvSpPr>
            <p:nvPr/>
          </p:nvSpPr>
          <p:spPr bwMode="auto">
            <a:xfrm>
              <a:off x="3840" y="1248"/>
              <a:ext cx="643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7" name="Line 5"/>
            <p:cNvSpPr>
              <a:spLocks noChangeShapeType="1"/>
            </p:cNvSpPr>
            <p:nvPr/>
          </p:nvSpPr>
          <p:spPr bwMode="auto">
            <a:xfrm>
              <a:off x="3840" y="2112"/>
              <a:ext cx="643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8" name="Line 6"/>
            <p:cNvSpPr>
              <a:spLocks noChangeShapeType="1"/>
            </p:cNvSpPr>
            <p:nvPr/>
          </p:nvSpPr>
          <p:spPr bwMode="auto">
            <a:xfrm>
              <a:off x="3840" y="2448"/>
              <a:ext cx="643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9" name="Line 7"/>
            <p:cNvSpPr>
              <a:spLocks noChangeShapeType="1"/>
            </p:cNvSpPr>
            <p:nvPr/>
          </p:nvSpPr>
          <p:spPr bwMode="auto">
            <a:xfrm>
              <a:off x="3840" y="2832"/>
              <a:ext cx="643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0" name="Line 8"/>
            <p:cNvSpPr>
              <a:spLocks noChangeShapeType="1"/>
            </p:cNvSpPr>
            <p:nvPr/>
          </p:nvSpPr>
          <p:spPr bwMode="auto">
            <a:xfrm>
              <a:off x="3822" y="3232"/>
              <a:ext cx="643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3561" name="Group 9"/>
            <p:cNvGrpSpPr>
              <a:grpSpLocks/>
            </p:cNvGrpSpPr>
            <p:nvPr/>
          </p:nvGrpSpPr>
          <p:grpSpPr bwMode="auto">
            <a:xfrm>
              <a:off x="2798" y="864"/>
              <a:ext cx="1005" cy="2476"/>
              <a:chOff x="2293" y="2241"/>
              <a:chExt cx="1005" cy="1943"/>
            </a:xfrm>
          </p:grpSpPr>
          <p:sp>
            <p:nvSpPr>
              <p:cNvPr id="23562" name="AutoShape 10"/>
              <p:cNvSpPr>
                <a:spLocks noChangeAspect="1" noChangeArrowheads="1"/>
              </p:cNvSpPr>
              <p:nvPr/>
            </p:nvSpPr>
            <p:spPr bwMode="auto">
              <a:xfrm>
                <a:off x="2293" y="3076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Transport</a:t>
                </a:r>
              </a:p>
            </p:txBody>
          </p:sp>
          <p:sp>
            <p:nvSpPr>
              <p:cNvPr id="23563" name="AutoShape 11"/>
              <p:cNvSpPr>
                <a:spLocks noChangeAspect="1" noChangeArrowheads="1"/>
              </p:cNvSpPr>
              <p:nvPr/>
            </p:nvSpPr>
            <p:spPr bwMode="auto">
              <a:xfrm>
                <a:off x="2293" y="3355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Network</a:t>
                </a:r>
              </a:p>
            </p:txBody>
          </p:sp>
          <p:sp>
            <p:nvSpPr>
              <p:cNvPr id="23564" name="AutoShape 12"/>
              <p:cNvSpPr>
                <a:spLocks noChangeAspect="1" noChangeArrowheads="1"/>
              </p:cNvSpPr>
              <p:nvPr/>
            </p:nvSpPr>
            <p:spPr bwMode="auto">
              <a:xfrm>
                <a:off x="2293" y="3912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Physical</a:t>
                </a:r>
              </a:p>
            </p:txBody>
          </p:sp>
          <p:sp>
            <p:nvSpPr>
              <p:cNvPr id="23565" name="AutoShape 13"/>
              <p:cNvSpPr>
                <a:spLocks noChangeAspect="1" noChangeArrowheads="1"/>
              </p:cNvSpPr>
              <p:nvPr/>
            </p:nvSpPr>
            <p:spPr bwMode="auto">
              <a:xfrm>
                <a:off x="2293" y="3633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 dirty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Data-Link</a:t>
                </a:r>
              </a:p>
            </p:txBody>
          </p:sp>
          <p:sp>
            <p:nvSpPr>
              <p:cNvPr id="23566" name="AutoShape 14"/>
              <p:cNvSpPr>
                <a:spLocks noChangeAspect="1" noChangeArrowheads="1"/>
              </p:cNvSpPr>
              <p:nvPr/>
            </p:nvSpPr>
            <p:spPr bwMode="auto">
              <a:xfrm>
                <a:off x="2293" y="2798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Session</a:t>
                </a:r>
              </a:p>
            </p:txBody>
          </p:sp>
          <p:sp>
            <p:nvSpPr>
              <p:cNvPr id="23567" name="AutoShape 15"/>
              <p:cNvSpPr>
                <a:spLocks noChangeAspect="1" noChangeArrowheads="1"/>
              </p:cNvSpPr>
              <p:nvPr/>
            </p:nvSpPr>
            <p:spPr bwMode="auto">
              <a:xfrm>
                <a:off x="2293" y="2241"/>
                <a:ext cx="1005" cy="548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Application</a:t>
                </a:r>
              </a:p>
            </p:txBody>
          </p:sp>
        </p:grpSp>
        <p:grpSp>
          <p:nvGrpSpPr>
            <p:cNvPr id="23568" name="Group 16"/>
            <p:cNvGrpSpPr>
              <a:grpSpLocks/>
            </p:cNvGrpSpPr>
            <p:nvPr/>
          </p:nvGrpSpPr>
          <p:grpSpPr bwMode="auto">
            <a:xfrm>
              <a:off x="4529" y="864"/>
              <a:ext cx="1005" cy="2476"/>
              <a:chOff x="2293" y="2241"/>
              <a:chExt cx="1005" cy="1943"/>
            </a:xfrm>
          </p:grpSpPr>
          <p:sp>
            <p:nvSpPr>
              <p:cNvPr id="23569" name="AutoShape 17"/>
              <p:cNvSpPr>
                <a:spLocks noChangeAspect="1" noChangeArrowheads="1"/>
              </p:cNvSpPr>
              <p:nvPr/>
            </p:nvSpPr>
            <p:spPr bwMode="auto">
              <a:xfrm>
                <a:off x="2293" y="3076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Transport</a:t>
                </a:r>
              </a:p>
            </p:txBody>
          </p:sp>
          <p:sp>
            <p:nvSpPr>
              <p:cNvPr id="23570" name="AutoShape 18"/>
              <p:cNvSpPr>
                <a:spLocks noChangeAspect="1" noChangeArrowheads="1"/>
              </p:cNvSpPr>
              <p:nvPr/>
            </p:nvSpPr>
            <p:spPr bwMode="auto">
              <a:xfrm>
                <a:off x="2293" y="3355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Network</a:t>
                </a:r>
              </a:p>
            </p:txBody>
          </p:sp>
          <p:sp>
            <p:nvSpPr>
              <p:cNvPr id="23571" name="AutoShape 19"/>
              <p:cNvSpPr>
                <a:spLocks noChangeAspect="1" noChangeArrowheads="1"/>
              </p:cNvSpPr>
              <p:nvPr/>
            </p:nvSpPr>
            <p:spPr bwMode="auto">
              <a:xfrm>
                <a:off x="2293" y="3912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Physical</a:t>
                </a:r>
              </a:p>
            </p:txBody>
          </p:sp>
          <p:sp>
            <p:nvSpPr>
              <p:cNvPr id="23572" name="AutoShape 20"/>
              <p:cNvSpPr>
                <a:spLocks noChangeAspect="1" noChangeArrowheads="1"/>
              </p:cNvSpPr>
              <p:nvPr/>
            </p:nvSpPr>
            <p:spPr bwMode="auto">
              <a:xfrm>
                <a:off x="2293" y="3633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Data-Link</a:t>
                </a:r>
              </a:p>
            </p:txBody>
          </p:sp>
          <p:sp>
            <p:nvSpPr>
              <p:cNvPr id="23573" name="AutoShape 21"/>
              <p:cNvSpPr>
                <a:spLocks noChangeAspect="1" noChangeArrowheads="1"/>
              </p:cNvSpPr>
              <p:nvPr/>
            </p:nvSpPr>
            <p:spPr bwMode="auto">
              <a:xfrm>
                <a:off x="2293" y="2798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Session</a:t>
                </a:r>
              </a:p>
            </p:txBody>
          </p:sp>
          <p:sp>
            <p:nvSpPr>
              <p:cNvPr id="23574" name="AutoShape 22"/>
              <p:cNvSpPr>
                <a:spLocks noChangeAspect="1" noChangeArrowheads="1"/>
              </p:cNvSpPr>
              <p:nvPr/>
            </p:nvSpPr>
            <p:spPr bwMode="auto">
              <a:xfrm>
                <a:off x="2293" y="2241"/>
                <a:ext cx="1005" cy="548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Application</a:t>
                </a:r>
              </a:p>
            </p:txBody>
          </p:sp>
        </p:grpSp>
        <p:sp>
          <p:nvSpPr>
            <p:cNvPr id="23575" name="Line 23"/>
            <p:cNvSpPr>
              <a:spLocks noChangeShapeType="1"/>
            </p:cNvSpPr>
            <p:nvPr/>
          </p:nvSpPr>
          <p:spPr bwMode="auto">
            <a:xfrm>
              <a:off x="3840" y="1728"/>
              <a:ext cx="643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827088" y="836613"/>
            <a:ext cx="7772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b="1">
                <a:solidFill>
                  <a:schemeClr val="hlink"/>
                </a:solidFill>
                <a:latin typeface="Times New Roman" panose="02020603050405020304" pitchFamily="18" charset="0"/>
              </a:rPr>
              <a:t>Evolution of the 7-Layers (6)</a:t>
            </a: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611188" y="4941888"/>
            <a:ext cx="8820150" cy="208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</a:rPr>
              <a:t>The Seven Layer  OSI Model - Addition of Management and Security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en-US" sz="2000">
                <a:latin typeface="Times New Roman" panose="02020603050405020304" pitchFamily="18" charset="0"/>
              </a:rPr>
              <a:t>Standardizing notation or syntax for application messages (abstract syntax)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en-US" sz="2000">
                <a:latin typeface="Times New Roman" panose="02020603050405020304" pitchFamily="18" charset="0"/>
              </a:rPr>
              <a:t>Set of encoding rules (transfer syntax)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en-US" sz="2000">
                <a:latin typeface="Times New Roman" panose="02020603050405020304" pitchFamily="18" charset="0"/>
              </a:rPr>
              <a:t>Became the Presentation Layer</a:t>
            </a:r>
          </a:p>
        </p:txBody>
      </p:sp>
      <p:grpSp>
        <p:nvGrpSpPr>
          <p:cNvPr id="25629" name="Group 29"/>
          <p:cNvGrpSpPr>
            <a:grpSpLocks/>
          </p:cNvGrpSpPr>
          <p:nvPr/>
        </p:nvGrpSpPr>
        <p:grpSpPr bwMode="auto">
          <a:xfrm>
            <a:off x="1639094" y="2492896"/>
            <a:ext cx="6148388" cy="2303463"/>
            <a:chOff x="2789" y="1389"/>
            <a:chExt cx="2830" cy="1951"/>
          </a:xfrm>
        </p:grpSpPr>
        <p:grpSp>
          <p:nvGrpSpPr>
            <p:cNvPr id="25604" name="Group 4"/>
            <p:cNvGrpSpPr>
              <a:grpSpLocks/>
            </p:cNvGrpSpPr>
            <p:nvPr/>
          </p:nvGrpSpPr>
          <p:grpSpPr bwMode="auto">
            <a:xfrm>
              <a:off x="4614" y="1397"/>
              <a:ext cx="1005" cy="1943"/>
              <a:chOff x="4486" y="245"/>
              <a:chExt cx="1005" cy="1943"/>
            </a:xfrm>
          </p:grpSpPr>
          <p:sp>
            <p:nvSpPr>
              <p:cNvPr id="25605" name="AutoShape 5"/>
              <p:cNvSpPr>
                <a:spLocks noChangeAspect="1" noChangeArrowheads="1"/>
              </p:cNvSpPr>
              <p:nvPr/>
            </p:nvSpPr>
            <p:spPr bwMode="auto">
              <a:xfrm>
                <a:off x="4486" y="523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Presentation</a:t>
                </a:r>
              </a:p>
            </p:txBody>
          </p:sp>
          <p:sp>
            <p:nvSpPr>
              <p:cNvPr id="25606" name="AutoShape 6"/>
              <p:cNvSpPr>
                <a:spLocks noChangeAspect="1" noChangeArrowheads="1"/>
              </p:cNvSpPr>
              <p:nvPr/>
            </p:nvSpPr>
            <p:spPr bwMode="auto">
              <a:xfrm>
                <a:off x="4486" y="1080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Transport</a:t>
                </a:r>
              </a:p>
            </p:txBody>
          </p:sp>
          <p:sp>
            <p:nvSpPr>
              <p:cNvPr id="25607" name="AutoShape 7"/>
              <p:cNvSpPr>
                <a:spLocks noChangeAspect="1" noChangeArrowheads="1"/>
              </p:cNvSpPr>
              <p:nvPr/>
            </p:nvSpPr>
            <p:spPr bwMode="auto">
              <a:xfrm>
                <a:off x="4486" y="1359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Network</a:t>
                </a:r>
              </a:p>
            </p:txBody>
          </p:sp>
          <p:sp>
            <p:nvSpPr>
              <p:cNvPr id="25608" name="AutoShape 8"/>
              <p:cNvSpPr>
                <a:spLocks noChangeAspect="1" noChangeArrowheads="1"/>
              </p:cNvSpPr>
              <p:nvPr/>
            </p:nvSpPr>
            <p:spPr bwMode="auto">
              <a:xfrm>
                <a:off x="4486" y="1916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Physical</a:t>
                </a:r>
              </a:p>
            </p:txBody>
          </p:sp>
          <p:sp>
            <p:nvSpPr>
              <p:cNvPr id="25609" name="AutoShape 9"/>
              <p:cNvSpPr>
                <a:spLocks noChangeAspect="1" noChangeArrowheads="1"/>
              </p:cNvSpPr>
              <p:nvPr/>
            </p:nvSpPr>
            <p:spPr bwMode="auto">
              <a:xfrm>
                <a:off x="4486" y="1637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Data-Link</a:t>
                </a:r>
              </a:p>
            </p:txBody>
          </p:sp>
          <p:sp>
            <p:nvSpPr>
              <p:cNvPr id="25610" name="AutoShape 10"/>
              <p:cNvSpPr>
                <a:spLocks noChangeAspect="1" noChangeArrowheads="1"/>
              </p:cNvSpPr>
              <p:nvPr/>
            </p:nvSpPr>
            <p:spPr bwMode="auto">
              <a:xfrm>
                <a:off x="4486" y="802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Session</a:t>
                </a:r>
              </a:p>
            </p:txBody>
          </p:sp>
          <p:sp>
            <p:nvSpPr>
              <p:cNvPr id="25611" name="AutoShape 11"/>
              <p:cNvSpPr>
                <a:spLocks noChangeAspect="1" noChangeArrowheads="1"/>
              </p:cNvSpPr>
              <p:nvPr/>
            </p:nvSpPr>
            <p:spPr bwMode="auto">
              <a:xfrm>
                <a:off x="4486" y="245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Application</a:t>
                </a:r>
              </a:p>
            </p:txBody>
          </p:sp>
        </p:grpSp>
        <p:grpSp>
          <p:nvGrpSpPr>
            <p:cNvPr id="25612" name="Group 12"/>
            <p:cNvGrpSpPr>
              <a:grpSpLocks/>
            </p:cNvGrpSpPr>
            <p:nvPr/>
          </p:nvGrpSpPr>
          <p:grpSpPr bwMode="auto">
            <a:xfrm>
              <a:off x="2789" y="1389"/>
              <a:ext cx="1005" cy="1943"/>
              <a:chOff x="4486" y="245"/>
              <a:chExt cx="1005" cy="1943"/>
            </a:xfrm>
          </p:grpSpPr>
          <p:sp>
            <p:nvSpPr>
              <p:cNvPr id="25613" name="AutoShape 13"/>
              <p:cNvSpPr>
                <a:spLocks noChangeAspect="1" noChangeArrowheads="1"/>
              </p:cNvSpPr>
              <p:nvPr/>
            </p:nvSpPr>
            <p:spPr bwMode="auto">
              <a:xfrm>
                <a:off x="4486" y="523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Presentation</a:t>
                </a:r>
              </a:p>
            </p:txBody>
          </p:sp>
          <p:sp>
            <p:nvSpPr>
              <p:cNvPr id="25614" name="AutoShape 14"/>
              <p:cNvSpPr>
                <a:spLocks noChangeAspect="1" noChangeArrowheads="1"/>
              </p:cNvSpPr>
              <p:nvPr/>
            </p:nvSpPr>
            <p:spPr bwMode="auto">
              <a:xfrm>
                <a:off x="4486" y="1080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Transport</a:t>
                </a:r>
              </a:p>
            </p:txBody>
          </p:sp>
          <p:sp>
            <p:nvSpPr>
              <p:cNvPr id="25615" name="AutoShape 15"/>
              <p:cNvSpPr>
                <a:spLocks noChangeAspect="1" noChangeArrowheads="1"/>
              </p:cNvSpPr>
              <p:nvPr/>
            </p:nvSpPr>
            <p:spPr bwMode="auto">
              <a:xfrm>
                <a:off x="4486" y="1359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Network</a:t>
                </a:r>
              </a:p>
            </p:txBody>
          </p:sp>
          <p:sp>
            <p:nvSpPr>
              <p:cNvPr id="25616" name="AutoShape 16"/>
              <p:cNvSpPr>
                <a:spLocks noChangeAspect="1" noChangeArrowheads="1"/>
              </p:cNvSpPr>
              <p:nvPr/>
            </p:nvSpPr>
            <p:spPr bwMode="auto">
              <a:xfrm>
                <a:off x="4486" y="1916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Physical</a:t>
                </a:r>
              </a:p>
            </p:txBody>
          </p:sp>
          <p:sp>
            <p:nvSpPr>
              <p:cNvPr id="25617" name="AutoShape 17"/>
              <p:cNvSpPr>
                <a:spLocks noChangeAspect="1" noChangeArrowheads="1"/>
              </p:cNvSpPr>
              <p:nvPr/>
            </p:nvSpPr>
            <p:spPr bwMode="auto">
              <a:xfrm>
                <a:off x="4486" y="1637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Data-Link</a:t>
                </a:r>
              </a:p>
            </p:txBody>
          </p:sp>
          <p:sp>
            <p:nvSpPr>
              <p:cNvPr id="25618" name="AutoShape 18"/>
              <p:cNvSpPr>
                <a:spLocks noChangeAspect="1" noChangeArrowheads="1"/>
              </p:cNvSpPr>
              <p:nvPr/>
            </p:nvSpPr>
            <p:spPr bwMode="auto">
              <a:xfrm>
                <a:off x="4486" y="802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Session</a:t>
                </a:r>
              </a:p>
            </p:txBody>
          </p:sp>
          <p:sp>
            <p:nvSpPr>
              <p:cNvPr id="25619" name="AutoShape 19"/>
              <p:cNvSpPr>
                <a:spLocks noChangeAspect="1" noChangeArrowheads="1"/>
              </p:cNvSpPr>
              <p:nvPr/>
            </p:nvSpPr>
            <p:spPr bwMode="auto">
              <a:xfrm>
                <a:off x="4486" y="245"/>
                <a:ext cx="1005" cy="27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57150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Application</a:t>
                </a:r>
              </a:p>
            </p:txBody>
          </p:sp>
        </p:grpSp>
        <p:sp>
          <p:nvSpPr>
            <p:cNvPr id="25620" name="Line 20"/>
            <p:cNvSpPr>
              <a:spLocks noChangeShapeType="1"/>
            </p:cNvSpPr>
            <p:nvPr/>
          </p:nvSpPr>
          <p:spPr bwMode="auto">
            <a:xfrm>
              <a:off x="3874" y="1546"/>
              <a:ext cx="643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1" name="Line 21"/>
            <p:cNvSpPr>
              <a:spLocks noChangeShapeType="1"/>
            </p:cNvSpPr>
            <p:nvPr/>
          </p:nvSpPr>
          <p:spPr bwMode="auto">
            <a:xfrm>
              <a:off x="3874" y="2382"/>
              <a:ext cx="643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2" name="Line 22"/>
            <p:cNvSpPr>
              <a:spLocks noChangeShapeType="1"/>
            </p:cNvSpPr>
            <p:nvPr/>
          </p:nvSpPr>
          <p:spPr bwMode="auto">
            <a:xfrm>
              <a:off x="3874" y="2681"/>
              <a:ext cx="643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3" name="Line 23"/>
            <p:cNvSpPr>
              <a:spLocks noChangeShapeType="1"/>
            </p:cNvSpPr>
            <p:nvPr/>
          </p:nvSpPr>
          <p:spPr bwMode="auto">
            <a:xfrm>
              <a:off x="3874" y="2948"/>
              <a:ext cx="643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4" name="Line 24"/>
            <p:cNvSpPr>
              <a:spLocks noChangeShapeType="1"/>
            </p:cNvSpPr>
            <p:nvPr/>
          </p:nvSpPr>
          <p:spPr bwMode="auto">
            <a:xfrm>
              <a:off x="3874" y="3232"/>
              <a:ext cx="643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5" name="Line 25"/>
            <p:cNvSpPr>
              <a:spLocks noChangeShapeType="1"/>
            </p:cNvSpPr>
            <p:nvPr/>
          </p:nvSpPr>
          <p:spPr bwMode="auto">
            <a:xfrm>
              <a:off x="3874" y="2107"/>
              <a:ext cx="643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6" name="Line 26"/>
            <p:cNvSpPr>
              <a:spLocks noChangeShapeType="1"/>
            </p:cNvSpPr>
            <p:nvPr/>
          </p:nvSpPr>
          <p:spPr bwMode="auto">
            <a:xfrm>
              <a:off x="3874" y="1822"/>
              <a:ext cx="643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AutoShape 2"/>
          <p:cNvSpPr>
            <a:spLocks noGrp="1" noChangeArrowheads="1"/>
          </p:cNvSpPr>
          <p:nvPr>
            <p:ph type="title"/>
          </p:nvPr>
        </p:nvSpPr>
        <p:spPr>
          <a:xfrm>
            <a:off x="827584" y="811213"/>
            <a:ext cx="7772400" cy="914400"/>
          </a:xfrm>
        </p:spPr>
        <p:txBody>
          <a:bodyPr/>
          <a:lstStyle/>
          <a:p>
            <a:r>
              <a:rPr lang="en-US" altLang="en-US" dirty="0"/>
              <a:t>What Each Layer </a:t>
            </a:r>
            <a:r>
              <a:rPr lang="en-US" altLang="en-US" dirty="0" smtClean="0"/>
              <a:t>Does?</a:t>
            </a:r>
            <a:endParaRPr lang="en-US" altLang="en-US" dirty="0"/>
          </a:p>
        </p:txBody>
      </p:sp>
      <p:pic>
        <p:nvPicPr>
          <p:cNvPr id="29699" name="Picture 3" descr="7laye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165350"/>
            <a:ext cx="7772400" cy="469265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7924800" y="5257800"/>
            <a:ext cx="457200" cy="703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US" altLang="en-US" sz="2400" baseline="300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2400" baseline="30000">
                <a:latin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65154" y="2708920"/>
            <a:ext cx="4230688" cy="3313013"/>
          </a:xfrm>
        </p:spPr>
        <p:txBody>
          <a:bodyPr/>
          <a:lstStyle/>
          <a:p>
            <a:r>
              <a:rPr lang="en-US" altLang="en-US" sz="1800" dirty="0"/>
              <a:t>Gives end-user applications access to network resources</a:t>
            </a:r>
          </a:p>
          <a:p>
            <a:endParaRPr lang="en-US" altLang="en-US" sz="1800" dirty="0"/>
          </a:p>
          <a:p>
            <a:r>
              <a:rPr lang="en-US" altLang="en-US" sz="1800" dirty="0"/>
              <a:t>Where is it on my computer?</a:t>
            </a:r>
          </a:p>
          <a:p>
            <a:pPr lvl="1"/>
            <a:r>
              <a:rPr lang="en-US" altLang="en-US" sz="1800" dirty="0"/>
              <a:t>Workstation or Server Service in MS </a:t>
            </a:r>
            <a:r>
              <a:rPr lang="en-US" altLang="en-US" sz="1800" dirty="0" smtClean="0"/>
              <a:t>Windows</a:t>
            </a:r>
          </a:p>
          <a:p>
            <a:r>
              <a:rPr lang="en-US" altLang="en-US" sz="1800" dirty="0" smtClean="0"/>
              <a:t>Protocols</a:t>
            </a:r>
          </a:p>
          <a:p>
            <a:pPr lvl="1"/>
            <a:r>
              <a:rPr lang="en-US" altLang="en-US" sz="1800" dirty="0" smtClean="0"/>
              <a:t>HTTP/S, FTP, SMTP</a:t>
            </a:r>
            <a:endParaRPr lang="en-US" altLang="en-US" sz="1800" dirty="0"/>
          </a:p>
        </p:txBody>
      </p:sp>
      <p:sp>
        <p:nvSpPr>
          <p:cNvPr id="31748" name="AutoShape 4" descr="layer7"/>
          <p:cNvSpPr>
            <a:spLocks noChangeAspect="1" noChangeArrowheads="1"/>
          </p:cNvSpPr>
          <p:nvPr/>
        </p:nvSpPr>
        <p:spPr bwMode="auto">
          <a:xfrm>
            <a:off x="2714625" y="1989138"/>
            <a:ext cx="3714750" cy="287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49" name="AutoShape 5" descr="layer7"/>
          <p:cNvSpPr>
            <a:spLocks noChangeAspect="1" noChangeArrowheads="1"/>
          </p:cNvSpPr>
          <p:nvPr/>
        </p:nvSpPr>
        <p:spPr bwMode="auto">
          <a:xfrm>
            <a:off x="2714625" y="1989138"/>
            <a:ext cx="3714750" cy="287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eaLnBrk="1" hangingPunct="1"/>
            <a:r>
              <a:rPr lang="en-US" altLang="en-US" sz="2400">
                <a:latin typeface="Times New Roman" panose="02020603050405020304" pitchFamily="18" charset="0"/>
              </a:rPr>
              <a:t> </a:t>
            </a:r>
          </a:p>
        </p:txBody>
      </p:sp>
      <p:pic>
        <p:nvPicPr>
          <p:cNvPr id="31750" name="Picture 6" descr="layer7"/>
          <p:cNvPicPr>
            <a:picLocks noGrp="1" noChangeAspect="1" noChangeArrowheads="1"/>
          </p:cNvPicPr>
          <p:nvPr>
            <p:ph type="clipArt"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78"/>
          <a:stretch/>
        </p:blipFill>
        <p:spPr>
          <a:xfrm>
            <a:off x="5091336" y="2332109"/>
            <a:ext cx="4052664" cy="4525891"/>
          </a:xfrm>
        </p:spPr>
      </p:pic>
      <p:sp>
        <p:nvSpPr>
          <p:cNvPr id="31752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Application Layer</a:t>
            </a:r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AutoShape 2"/>
          <p:cNvSpPr>
            <a:spLocks noGrp="1" noChangeArrowheads="1"/>
          </p:cNvSpPr>
          <p:nvPr>
            <p:ph type="title"/>
          </p:nvPr>
        </p:nvSpPr>
        <p:spPr>
          <a:xfrm>
            <a:off x="827584" y="771101"/>
            <a:ext cx="7924800" cy="912813"/>
          </a:xfrm>
        </p:spPr>
        <p:txBody>
          <a:bodyPr/>
          <a:lstStyle/>
          <a:p>
            <a:r>
              <a:rPr lang="en-US" altLang="en-US" dirty="0"/>
              <a:t>Presentation Layer</a:t>
            </a:r>
          </a:p>
        </p:txBody>
      </p:sp>
      <p:pic>
        <p:nvPicPr>
          <p:cNvPr id="33796" name="Picture 4" descr="layer6"/>
          <p:cNvPicPr>
            <a:picLocks noGrp="1" noChangeAspect="1" noChangeArrowheads="1"/>
          </p:cNvPicPr>
          <p:nvPr>
            <p:ph type="clipArt"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000"/>
          <a:stretch/>
        </p:blipFill>
        <p:spPr>
          <a:xfrm>
            <a:off x="4143935" y="2384795"/>
            <a:ext cx="4980384" cy="4473205"/>
          </a:xfrm>
        </p:spPr>
      </p:pic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6172200" y="5410200"/>
            <a:ext cx="549275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000" baseline="30000">
                <a:solidFill>
                  <a:srgbClr val="33CC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95536" y="2708920"/>
            <a:ext cx="4230688" cy="3313013"/>
          </a:xfrm>
        </p:spPr>
        <p:txBody>
          <a:bodyPr/>
          <a:lstStyle/>
          <a:p>
            <a:r>
              <a:rPr lang="en-US" altLang="en-US" sz="1800" dirty="0" smtClean="0"/>
              <a:t>Data Translation </a:t>
            </a:r>
          </a:p>
          <a:p>
            <a:pPr lvl="1"/>
            <a:r>
              <a:rPr lang="en-US" altLang="en-US" sz="1800" dirty="0" smtClean="0"/>
              <a:t>From ASCII to EBCDIC</a:t>
            </a:r>
            <a:endParaRPr lang="en-US" altLang="en-US" sz="1800" dirty="0"/>
          </a:p>
          <a:p>
            <a:endParaRPr lang="en-US" altLang="en-US" sz="1800" dirty="0"/>
          </a:p>
          <a:p>
            <a:r>
              <a:rPr lang="en-US" altLang="en-US" sz="1800" dirty="0" smtClean="0"/>
              <a:t>Data Compression</a:t>
            </a:r>
          </a:p>
          <a:p>
            <a:pPr lvl="1"/>
            <a:r>
              <a:rPr lang="en-US" altLang="en-US" sz="1800" dirty="0" smtClean="0"/>
              <a:t>For fast transfer of data</a:t>
            </a:r>
          </a:p>
          <a:p>
            <a:pPr lvl="1"/>
            <a:r>
              <a:rPr lang="en-US" altLang="en-US" sz="1800" dirty="0" err="1" smtClean="0"/>
              <a:t>Lossy</a:t>
            </a:r>
            <a:r>
              <a:rPr lang="en-US" altLang="en-US" sz="1800" dirty="0" smtClean="0"/>
              <a:t> or lossless </a:t>
            </a:r>
          </a:p>
          <a:p>
            <a:pPr lvl="1"/>
            <a:endParaRPr lang="en-US" altLang="en-US" sz="1400" dirty="0" smtClean="0"/>
          </a:p>
          <a:p>
            <a:r>
              <a:rPr lang="en-US" altLang="en-US" sz="1800" dirty="0" smtClean="0"/>
              <a:t>Encryption</a:t>
            </a:r>
          </a:p>
          <a:p>
            <a:pPr lvl="1"/>
            <a:r>
              <a:rPr lang="en-US" altLang="en-US" sz="1800" dirty="0" smtClean="0"/>
              <a:t>For security of data</a:t>
            </a:r>
          </a:p>
          <a:p>
            <a:pPr lvl="1"/>
            <a:r>
              <a:rPr lang="en-US" altLang="en-US" sz="1800" dirty="0" smtClean="0"/>
              <a:t>SSL</a:t>
            </a:r>
            <a:endParaRPr lang="en-US" alt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AutoShape 2"/>
          <p:cNvSpPr>
            <a:spLocks noGrp="1" noChangeArrowheads="1"/>
          </p:cNvSpPr>
          <p:nvPr>
            <p:ph type="title"/>
          </p:nvPr>
        </p:nvSpPr>
        <p:spPr>
          <a:xfrm>
            <a:off x="755576" y="836712"/>
            <a:ext cx="7772400" cy="838200"/>
          </a:xfrm>
        </p:spPr>
        <p:txBody>
          <a:bodyPr/>
          <a:lstStyle/>
          <a:p>
            <a:r>
              <a:rPr lang="en-US" altLang="en-US" dirty="0"/>
              <a:t>Session Layer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95536" y="2559276"/>
            <a:ext cx="3432175" cy="26035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800" dirty="0"/>
              <a:t>Allows applications to maintain an ongoing session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800" dirty="0"/>
          </a:p>
          <a:p>
            <a:pPr lvl="1">
              <a:lnSpc>
                <a:spcPct val="90000"/>
              </a:lnSpc>
            </a:pPr>
            <a:r>
              <a:rPr lang="en-US" altLang="en-US" sz="1800" dirty="0" smtClean="0"/>
              <a:t>Authentication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 smtClean="0"/>
              <a:t>Authorization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Session Management</a:t>
            </a:r>
          </a:p>
          <a:p>
            <a:pPr>
              <a:lnSpc>
                <a:spcPct val="90000"/>
              </a:lnSpc>
            </a:pPr>
            <a:endParaRPr lang="en-US" altLang="en-US" sz="1800" dirty="0"/>
          </a:p>
        </p:txBody>
      </p:sp>
      <p:pic>
        <p:nvPicPr>
          <p:cNvPr id="35844" name="Picture 4" descr="layer5"/>
          <p:cNvPicPr>
            <a:picLocks noGrp="1" noChangeAspect="1" noChangeArrowheads="1"/>
          </p:cNvPicPr>
          <p:nvPr>
            <p:ph type="clipArt"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96"/>
          <a:stretch/>
        </p:blipFill>
        <p:spPr>
          <a:xfrm>
            <a:off x="4743450" y="2412649"/>
            <a:ext cx="4394646" cy="4445351"/>
          </a:xfrm>
        </p:spPr>
      </p:pic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6172200" y="5257800"/>
            <a:ext cx="549275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000" baseline="30000">
                <a:solidFill>
                  <a:srgbClr val="33CCFF"/>
                </a:solidFill>
                <a:latin typeface="Times New Roman" panose="02020603050405020304" pitchFamily="18" charset="0"/>
              </a:rPr>
              <a:t>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AutoShape 2"/>
          <p:cNvSpPr>
            <a:spLocks noGrp="1" noChangeArrowheads="1"/>
          </p:cNvSpPr>
          <p:nvPr>
            <p:ph type="title"/>
          </p:nvPr>
        </p:nvSpPr>
        <p:spPr>
          <a:xfrm>
            <a:off x="827584" y="774662"/>
            <a:ext cx="7772400" cy="838200"/>
          </a:xfrm>
        </p:spPr>
        <p:txBody>
          <a:bodyPr/>
          <a:lstStyle/>
          <a:p>
            <a:r>
              <a:rPr lang="en-US" altLang="en-US" dirty="0"/>
              <a:t>Transport Layer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15873" y="2492896"/>
            <a:ext cx="3373438" cy="4365104"/>
          </a:xfrm>
        </p:spPr>
        <p:txBody>
          <a:bodyPr/>
          <a:lstStyle/>
          <a:p>
            <a:r>
              <a:rPr lang="en-US" altLang="en-US" sz="1800" dirty="0"/>
              <a:t>Provides reliable data </a:t>
            </a:r>
            <a:r>
              <a:rPr lang="en-US" altLang="en-US" sz="1800" dirty="0" smtClean="0"/>
              <a:t>delivery</a:t>
            </a:r>
          </a:p>
          <a:p>
            <a:endParaRPr lang="en-US" altLang="en-US" sz="1800" dirty="0"/>
          </a:p>
          <a:p>
            <a:r>
              <a:rPr lang="en-US" altLang="en-US" sz="1800" dirty="0" smtClean="0"/>
              <a:t>TCP or UDP</a:t>
            </a:r>
            <a:endParaRPr lang="en-US" altLang="en-US" sz="1800" dirty="0"/>
          </a:p>
          <a:p>
            <a:pPr>
              <a:buFont typeface="Wingdings" panose="05000000000000000000" pitchFamily="2" charset="2"/>
              <a:buNone/>
            </a:pPr>
            <a:endParaRPr lang="en-US" altLang="en-US" sz="1800" dirty="0"/>
          </a:p>
          <a:p>
            <a:r>
              <a:rPr lang="en-US" altLang="en-US" sz="1800" dirty="0" smtClean="0"/>
              <a:t>Segmentation</a:t>
            </a:r>
          </a:p>
          <a:p>
            <a:pPr lvl="1"/>
            <a:r>
              <a:rPr lang="en-US" altLang="en-US" sz="1400" dirty="0" smtClean="0"/>
              <a:t>Receives info from upper layers and segments it into packets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800" dirty="0" smtClean="0"/>
          </a:p>
          <a:p>
            <a:r>
              <a:rPr lang="en-US" altLang="en-US" sz="1800" dirty="0" smtClean="0"/>
              <a:t>Error Correction</a:t>
            </a:r>
          </a:p>
          <a:p>
            <a:pPr lvl="1"/>
            <a:r>
              <a:rPr lang="en-US" altLang="en-US" sz="1400" dirty="0" smtClean="0"/>
              <a:t>Can provide error detection and correction</a:t>
            </a:r>
          </a:p>
          <a:p>
            <a:pPr lvl="1"/>
            <a:endParaRPr lang="en-US" altLang="en-US" sz="1400" dirty="0" smtClean="0"/>
          </a:p>
          <a:p>
            <a:r>
              <a:rPr lang="en-US" altLang="en-US" sz="1800" dirty="0" smtClean="0"/>
              <a:t>Flow Control</a:t>
            </a:r>
            <a:endParaRPr lang="en-US" altLang="en-US" sz="1800" dirty="0"/>
          </a:p>
        </p:txBody>
      </p:sp>
      <p:pic>
        <p:nvPicPr>
          <p:cNvPr id="37892" name="Picture 4" descr="layer4"/>
          <p:cNvPicPr>
            <a:picLocks noGrp="1" noChangeAspect="1" noChangeArrowheads="1"/>
          </p:cNvPicPr>
          <p:nvPr>
            <p:ph type="clipArt"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56"/>
          <a:stretch/>
        </p:blipFill>
        <p:spPr>
          <a:xfrm>
            <a:off x="4601317" y="2351049"/>
            <a:ext cx="4542683" cy="4506951"/>
          </a:xfrm>
        </p:spPr>
      </p:pic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6096000" y="5410200"/>
            <a:ext cx="549275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000" baseline="30000">
                <a:solidFill>
                  <a:srgbClr val="33CCFF"/>
                </a:solidFill>
                <a:latin typeface="Times New Roman" panose="02020603050405020304" pitchFamily="18" charset="0"/>
              </a:rPr>
              <a:t>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>
              <a:latin typeface="Tahoma" panose="020B0604030504040204" pitchFamily="34" charset="0"/>
            </a:endParaRPr>
          </a:p>
        </p:txBody>
      </p:sp>
      <p:pic>
        <p:nvPicPr>
          <p:cNvPr id="97290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34" y="2348880"/>
            <a:ext cx="8455025" cy="277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7291" name="Rectangle 11"/>
          <p:cNvSpPr>
            <a:spLocks noChangeArrowheads="1"/>
          </p:cNvSpPr>
          <p:nvPr/>
        </p:nvSpPr>
        <p:spPr bwMode="auto">
          <a:xfrm>
            <a:off x="561585" y="5445224"/>
            <a:ext cx="8496174" cy="58477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sz="3200" b="1" i="1" dirty="0" smtClean="0">
                <a:latin typeface="Times New Roman" panose="02020603050405020304" pitchFamily="18" charset="0"/>
              </a:rPr>
              <a:t>Data unit in transport layer are called segments</a:t>
            </a:r>
            <a:endParaRPr lang="en-US" altLang="en-US" sz="3200" b="1" i="1" dirty="0">
              <a:latin typeface="Times New Roman" panose="02020603050405020304" pitchFamily="18" charset="0"/>
            </a:endParaRPr>
          </a:p>
        </p:txBody>
      </p:sp>
      <p:sp>
        <p:nvSpPr>
          <p:cNvPr id="14" name="AutoShape 2"/>
          <p:cNvSpPr txBox="1">
            <a:spLocks noChangeArrowheads="1"/>
          </p:cNvSpPr>
          <p:nvPr/>
        </p:nvSpPr>
        <p:spPr>
          <a:xfrm>
            <a:off x="804863" y="940646"/>
            <a:ext cx="7772400" cy="838200"/>
          </a:xfrm>
          <a:prstGeom prst="roundRect">
            <a:avLst>
              <a:gd name="adj" fmla="val 21667"/>
            </a:avLst>
          </a:prstGeom>
        </p:spPr>
        <p:txBody>
          <a:bodyPr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 smtClean="0"/>
              <a:t>Transport Layer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2"/>
          <p:cNvSpPr>
            <a:spLocks noGrp="1" noChangeArrowheads="1"/>
          </p:cNvSpPr>
          <p:nvPr>
            <p:ph type="title"/>
          </p:nvPr>
        </p:nvSpPr>
        <p:spPr>
          <a:xfrm>
            <a:off x="755650" y="620713"/>
            <a:ext cx="7772400" cy="914400"/>
          </a:xfrm>
        </p:spPr>
        <p:txBody>
          <a:bodyPr/>
          <a:lstStyle/>
          <a:p>
            <a:r>
              <a:rPr lang="en-US" altLang="en-US" dirty="0"/>
              <a:t>Network Layer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95536" y="2492896"/>
            <a:ext cx="4335462" cy="4386262"/>
          </a:xfrm>
        </p:spPr>
        <p:txBody>
          <a:bodyPr/>
          <a:lstStyle/>
          <a:p>
            <a:r>
              <a:rPr lang="en-US" altLang="en-US" sz="1800" dirty="0"/>
              <a:t>Provides network-wide addressing and a mechanism to move packets between networks (routing)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800" dirty="0"/>
          </a:p>
          <a:p>
            <a:r>
              <a:rPr lang="en-US" altLang="en-US" sz="1800" dirty="0"/>
              <a:t>Responsibilities:</a:t>
            </a:r>
          </a:p>
          <a:p>
            <a:pPr lvl="1"/>
            <a:r>
              <a:rPr lang="en-US" altLang="en-US" sz="1800" dirty="0" smtClean="0"/>
              <a:t>Logical </a:t>
            </a:r>
            <a:r>
              <a:rPr lang="en-US" altLang="en-US" sz="1800" dirty="0"/>
              <a:t>addressing</a:t>
            </a:r>
          </a:p>
          <a:p>
            <a:pPr lvl="1"/>
            <a:r>
              <a:rPr lang="en-US" altLang="en-US" sz="1800" dirty="0" smtClean="0"/>
              <a:t>Routing</a:t>
            </a:r>
          </a:p>
          <a:p>
            <a:pPr lvl="1"/>
            <a:r>
              <a:rPr lang="en-US" altLang="en-US" sz="1800" dirty="0" smtClean="0"/>
              <a:t>Path Determination</a:t>
            </a:r>
            <a:endParaRPr lang="en-US" altLang="en-US" sz="1800" dirty="0"/>
          </a:p>
          <a:p>
            <a:pPr lvl="1"/>
            <a:endParaRPr lang="en-US" altLang="en-US" sz="1800" dirty="0" smtClean="0"/>
          </a:p>
          <a:p>
            <a:r>
              <a:rPr lang="en-US" altLang="en-US" sz="2200" dirty="0" smtClean="0"/>
              <a:t>IP addressing</a:t>
            </a:r>
          </a:p>
          <a:p>
            <a:r>
              <a:rPr lang="en-US" altLang="en-US" sz="2200" dirty="0" smtClean="0"/>
              <a:t>Source Destination</a:t>
            </a:r>
          </a:p>
          <a:p>
            <a:r>
              <a:rPr lang="en-US" altLang="en-US" sz="2200" dirty="0" smtClean="0"/>
              <a:t>OSPF, BGP</a:t>
            </a:r>
          </a:p>
        </p:txBody>
      </p:sp>
      <p:pic>
        <p:nvPicPr>
          <p:cNvPr id="39940" name="Picture 4" descr="layer3"/>
          <p:cNvPicPr>
            <a:picLocks noGrp="1" noChangeAspect="1" noChangeArrowheads="1"/>
          </p:cNvPicPr>
          <p:nvPr>
            <p:ph type="clipArt"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30"/>
          <a:stretch/>
        </p:blipFill>
        <p:spPr>
          <a:xfrm>
            <a:off x="5220072" y="2337629"/>
            <a:ext cx="3796664" cy="4521293"/>
          </a:xfr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>
              <a:latin typeface="Tahoma" panose="020B0604030504040204" pitchFamily="34" charset="0"/>
            </a:endParaRPr>
          </a:p>
        </p:txBody>
      </p:sp>
      <p:pic>
        <p:nvPicPr>
          <p:cNvPr id="95242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8" y="2348880"/>
            <a:ext cx="8437563" cy="276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5243" name="Rectangle 11"/>
          <p:cNvSpPr>
            <a:spLocks noChangeArrowheads="1"/>
          </p:cNvSpPr>
          <p:nvPr/>
        </p:nvSpPr>
        <p:spPr bwMode="auto">
          <a:xfrm>
            <a:off x="222249" y="5157192"/>
            <a:ext cx="8839200" cy="156966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sz="3200" b="1" i="1" dirty="0">
                <a:latin typeface="Times New Roman" panose="02020603050405020304" pitchFamily="18" charset="0"/>
              </a:rPr>
              <a:t>The network layer is responsible for the delivery of </a:t>
            </a:r>
            <a:r>
              <a:rPr lang="en-US" altLang="en-US" sz="3200" b="1" i="1" dirty="0" smtClean="0">
                <a:latin typeface="Times New Roman" panose="02020603050405020304" pitchFamily="18" charset="0"/>
              </a:rPr>
              <a:t>each </a:t>
            </a:r>
            <a:r>
              <a:rPr lang="en-US" altLang="en-US" sz="3200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packets</a:t>
            </a:r>
            <a:r>
              <a:rPr lang="en-US" altLang="en-US" sz="3200" b="1" i="1" dirty="0">
                <a:latin typeface="Times New Roman" panose="02020603050405020304" pitchFamily="18" charset="0"/>
              </a:rPr>
              <a:t> from the source </a:t>
            </a:r>
            <a:r>
              <a:rPr lang="en-US" altLang="en-US" sz="3200" b="1" i="1" dirty="0" smtClean="0">
                <a:latin typeface="Times New Roman" panose="02020603050405020304" pitchFamily="18" charset="0"/>
              </a:rPr>
              <a:t>to </a:t>
            </a:r>
            <a:r>
              <a:rPr lang="en-US" altLang="en-US" sz="3200" b="1" i="1" dirty="0">
                <a:latin typeface="Times New Roman" panose="02020603050405020304" pitchFamily="18" charset="0"/>
              </a:rPr>
              <a:t>the </a:t>
            </a:r>
            <a:r>
              <a:rPr lang="en-US" altLang="en-US" sz="3200" b="1" i="1" dirty="0" smtClean="0">
                <a:latin typeface="Times New Roman" panose="02020603050405020304" pitchFamily="18" charset="0"/>
              </a:rPr>
              <a:t>destination. </a:t>
            </a:r>
            <a:r>
              <a:rPr lang="en-US" altLang="en-US" sz="3200" b="1" i="1" dirty="0">
                <a:latin typeface="Times New Roman" panose="02020603050405020304" pitchFamily="18" charset="0"/>
              </a:rPr>
              <a:t/>
            </a:r>
            <a:br>
              <a:rPr lang="en-US" altLang="en-US" sz="3200" b="1" i="1" dirty="0">
                <a:latin typeface="Times New Roman" panose="02020603050405020304" pitchFamily="18" charset="0"/>
              </a:rPr>
            </a:br>
            <a:r>
              <a:rPr lang="en-US" altLang="en-US" sz="3200" b="1" i="1" dirty="0">
                <a:latin typeface="Times New Roman" panose="02020603050405020304" pitchFamily="18" charset="0"/>
              </a:rPr>
              <a:t>Data unit in network</a:t>
            </a:r>
            <a:r>
              <a:rPr lang="en-US" altLang="en-US" sz="3200" b="1" i="1" dirty="0" smtClean="0">
                <a:latin typeface="Times New Roman" panose="02020603050405020304" pitchFamily="18" charset="0"/>
              </a:rPr>
              <a:t> </a:t>
            </a:r>
            <a:r>
              <a:rPr lang="en-US" altLang="en-US" sz="3200" b="1" i="1" dirty="0">
                <a:latin typeface="Times New Roman" panose="02020603050405020304" pitchFamily="18" charset="0"/>
              </a:rPr>
              <a:t>layer are called p</a:t>
            </a:r>
            <a:r>
              <a:rPr lang="en-US" altLang="en-US" sz="3200" b="1" i="1" dirty="0" smtClean="0">
                <a:latin typeface="Times New Roman" panose="02020603050405020304" pitchFamily="18" charset="0"/>
              </a:rPr>
              <a:t>ackets.</a:t>
            </a:r>
            <a:endParaRPr lang="en-US" altLang="en-US" sz="3200" b="1" i="1" dirty="0">
              <a:latin typeface="Times New Roman" panose="02020603050405020304" pitchFamily="18" charset="0"/>
            </a:endParaRPr>
          </a:p>
        </p:txBody>
      </p:sp>
      <p:sp>
        <p:nvSpPr>
          <p:cNvPr id="14" name="AutoShape 2"/>
          <p:cNvSpPr txBox="1">
            <a:spLocks noChangeArrowheads="1"/>
          </p:cNvSpPr>
          <p:nvPr/>
        </p:nvSpPr>
        <p:spPr>
          <a:xfrm>
            <a:off x="755650" y="786408"/>
            <a:ext cx="7772400" cy="914400"/>
          </a:xfrm>
          <a:prstGeom prst="roundRect">
            <a:avLst>
              <a:gd name="adj" fmla="val 21667"/>
            </a:avLst>
          </a:prstGeom>
        </p:spPr>
        <p:txBody>
          <a:bodyPr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 smtClean="0"/>
              <a:t>Network Layer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AutoShape 2"/>
          <p:cNvSpPr>
            <a:spLocks noGrp="1" noChangeArrowheads="1"/>
          </p:cNvSpPr>
          <p:nvPr>
            <p:ph type="title"/>
          </p:nvPr>
        </p:nvSpPr>
        <p:spPr>
          <a:xfrm>
            <a:off x="827088" y="765175"/>
            <a:ext cx="7772400" cy="990600"/>
          </a:xfrm>
        </p:spPr>
        <p:txBody>
          <a:bodyPr/>
          <a:lstStyle/>
          <a:p>
            <a:r>
              <a:rPr lang="en-US" altLang="en-US"/>
              <a:t>Network Addresses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2420888"/>
            <a:ext cx="8153400" cy="4800600"/>
          </a:xfrm>
        </p:spPr>
        <p:txBody>
          <a:bodyPr/>
          <a:lstStyle/>
          <a:p>
            <a:r>
              <a:rPr lang="en-US" altLang="en-US" sz="2200" dirty="0"/>
              <a:t>Network-wide addresses</a:t>
            </a:r>
          </a:p>
          <a:p>
            <a:r>
              <a:rPr lang="en-US" altLang="en-US" sz="2200" dirty="0"/>
              <a:t>Used to transfer data across subnets</a:t>
            </a:r>
          </a:p>
          <a:p>
            <a:r>
              <a:rPr lang="en-US" altLang="en-US" sz="2200" dirty="0"/>
              <a:t>Used by routers for packet forwarding</a:t>
            </a:r>
          </a:p>
          <a:p>
            <a:r>
              <a:rPr lang="en-US" altLang="en-US" sz="2200" dirty="0"/>
              <a:t>Example:</a:t>
            </a:r>
          </a:p>
          <a:p>
            <a:pPr lvl="1"/>
            <a:r>
              <a:rPr lang="en-US" altLang="en-US" sz="2200" dirty="0"/>
              <a:t>IP Address</a:t>
            </a:r>
          </a:p>
          <a:p>
            <a:r>
              <a:rPr lang="en-US" altLang="en-US" sz="2200" dirty="0"/>
              <a:t>Where is it on my computer?</a:t>
            </a:r>
          </a:p>
          <a:p>
            <a:pPr lvl="1"/>
            <a:r>
              <a:rPr lang="en-US" altLang="en-US" sz="2200" dirty="0"/>
              <a:t>TCP/IP Software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AutoShape 2"/>
          <p:cNvSpPr>
            <a:spLocks noGrp="1" noChangeArrowheads="1"/>
          </p:cNvSpPr>
          <p:nvPr>
            <p:ph type="title"/>
          </p:nvPr>
        </p:nvSpPr>
        <p:spPr>
          <a:xfrm>
            <a:off x="684213" y="908050"/>
            <a:ext cx="7772400" cy="838200"/>
          </a:xfrm>
        </p:spPr>
        <p:txBody>
          <a:bodyPr/>
          <a:lstStyle/>
          <a:p>
            <a:r>
              <a:rPr lang="en-US" altLang="en-US" dirty="0"/>
              <a:t>Data Link Layer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95536" y="2902863"/>
            <a:ext cx="3430588" cy="3901976"/>
          </a:xfrm>
        </p:spPr>
        <p:txBody>
          <a:bodyPr/>
          <a:lstStyle/>
          <a:p>
            <a:r>
              <a:rPr lang="en-US" altLang="en-US" sz="1800" dirty="0"/>
              <a:t>Places data and retrieves it from the physical layer </a:t>
            </a:r>
            <a:endParaRPr lang="en-US" altLang="en-US" sz="1800" dirty="0" smtClean="0"/>
          </a:p>
          <a:p>
            <a:endParaRPr lang="en-US" altLang="en-US" sz="1800" dirty="0"/>
          </a:p>
          <a:p>
            <a:r>
              <a:rPr lang="en-US" altLang="en-US" sz="1800" dirty="0" smtClean="0"/>
              <a:t>Physical Addressing</a:t>
            </a:r>
          </a:p>
          <a:p>
            <a:pPr lvl="1"/>
            <a:r>
              <a:rPr lang="en-US" altLang="en-US" sz="1800" dirty="0" smtClean="0"/>
              <a:t>Framing</a:t>
            </a:r>
          </a:p>
          <a:p>
            <a:endParaRPr lang="en-US" altLang="en-US" sz="1800" dirty="0" smtClean="0"/>
          </a:p>
          <a:p>
            <a:r>
              <a:rPr lang="en-US" altLang="en-US" sz="1800" dirty="0" smtClean="0"/>
              <a:t>Media access control</a:t>
            </a:r>
          </a:p>
          <a:p>
            <a:pPr lvl="1"/>
            <a:r>
              <a:rPr lang="en-US" altLang="en-US" sz="1800" dirty="0" smtClean="0"/>
              <a:t>CSMA</a:t>
            </a:r>
          </a:p>
          <a:p>
            <a:endParaRPr lang="en-US" altLang="en-US" sz="1800" dirty="0" smtClean="0"/>
          </a:p>
          <a:p>
            <a:r>
              <a:rPr lang="en-US" altLang="en-US" sz="1800" dirty="0" smtClean="0"/>
              <a:t>Error Detection</a:t>
            </a:r>
            <a:endParaRPr lang="en-US" altLang="en-US" sz="1800" dirty="0"/>
          </a:p>
        </p:txBody>
      </p:sp>
      <p:pic>
        <p:nvPicPr>
          <p:cNvPr id="44036" name="Picture 4" descr="layer2"/>
          <p:cNvPicPr>
            <a:picLocks noGrp="1" noChangeAspect="1" noChangeArrowheads="1"/>
          </p:cNvPicPr>
          <p:nvPr>
            <p:ph type="clipArt"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06"/>
          <a:stretch/>
        </p:blipFill>
        <p:spPr>
          <a:xfrm>
            <a:off x="4808216" y="2316936"/>
            <a:ext cx="4335784" cy="4487903"/>
          </a:xfr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>
              <a:latin typeface="Tahoma" panose="020B0604030504040204" pitchFamily="34" charset="0"/>
            </a:endParaRPr>
          </a:p>
        </p:txBody>
      </p:sp>
      <p:pic>
        <p:nvPicPr>
          <p:cNvPr id="93194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" y="2420888"/>
            <a:ext cx="8181975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3195" name="Rectangle 11"/>
          <p:cNvSpPr>
            <a:spLocks noChangeArrowheads="1"/>
          </p:cNvSpPr>
          <p:nvPr/>
        </p:nvSpPr>
        <p:spPr bwMode="auto">
          <a:xfrm>
            <a:off x="804863" y="5229200"/>
            <a:ext cx="8079666" cy="156966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sz="3200" b="1" i="1" dirty="0">
                <a:latin typeface="Times New Roman" panose="02020603050405020304" pitchFamily="18" charset="0"/>
              </a:rPr>
              <a:t>The data link layer is responsible for moving </a:t>
            </a:r>
            <a:r>
              <a:rPr lang="en-US" altLang="en-US" sz="3200" b="1" i="1" dirty="0" smtClean="0">
                <a:solidFill>
                  <a:schemeClr val="hlink"/>
                </a:solidFill>
                <a:latin typeface="Times New Roman" panose="02020603050405020304" pitchFamily="18" charset="0"/>
              </a:rPr>
              <a:t>data</a:t>
            </a:r>
            <a:r>
              <a:rPr lang="en-US" altLang="en-US" sz="3200" b="1" i="1" dirty="0" smtClean="0">
                <a:latin typeface="Times New Roman" panose="02020603050405020304" pitchFamily="18" charset="0"/>
              </a:rPr>
              <a:t> </a:t>
            </a:r>
            <a:r>
              <a:rPr lang="en-US" altLang="en-US" sz="3200" b="1" i="1" dirty="0">
                <a:latin typeface="Times New Roman" panose="02020603050405020304" pitchFamily="18" charset="0"/>
              </a:rPr>
              <a:t>from one hop (node) to the next. </a:t>
            </a:r>
            <a:br>
              <a:rPr lang="en-US" altLang="en-US" sz="3200" b="1" i="1" dirty="0">
                <a:latin typeface="Times New Roman" panose="02020603050405020304" pitchFamily="18" charset="0"/>
              </a:rPr>
            </a:br>
            <a:r>
              <a:rPr lang="en-US" altLang="en-US" sz="3200" b="1" i="1" dirty="0">
                <a:latin typeface="Times New Roman" panose="02020603050405020304" pitchFamily="18" charset="0"/>
              </a:rPr>
              <a:t>Data unit in data link</a:t>
            </a:r>
            <a:r>
              <a:rPr lang="en-US" altLang="en-US" sz="3200" b="1" i="1" dirty="0" smtClean="0">
                <a:latin typeface="Times New Roman" panose="02020603050405020304" pitchFamily="18" charset="0"/>
              </a:rPr>
              <a:t> </a:t>
            </a:r>
            <a:r>
              <a:rPr lang="en-US" altLang="en-US" sz="3200" b="1" i="1" dirty="0">
                <a:latin typeface="Times New Roman" panose="02020603050405020304" pitchFamily="18" charset="0"/>
              </a:rPr>
              <a:t>layer are called </a:t>
            </a:r>
            <a:r>
              <a:rPr lang="en-US" altLang="en-US" sz="3200" b="1" i="1" dirty="0" smtClean="0">
                <a:latin typeface="Times New Roman" panose="02020603050405020304" pitchFamily="18" charset="0"/>
              </a:rPr>
              <a:t>frames.</a:t>
            </a:r>
            <a:endParaRPr lang="en-US" altLang="en-US" sz="3200" b="1" i="1" dirty="0">
              <a:latin typeface="Times New Roman" panose="02020603050405020304" pitchFamily="18" charset="0"/>
            </a:endParaRPr>
          </a:p>
        </p:txBody>
      </p:sp>
      <p:sp>
        <p:nvSpPr>
          <p:cNvPr id="14" name="AutoShape 2"/>
          <p:cNvSpPr txBox="1">
            <a:spLocks noChangeArrowheads="1"/>
          </p:cNvSpPr>
          <p:nvPr/>
        </p:nvSpPr>
        <p:spPr>
          <a:xfrm>
            <a:off x="684213" y="908050"/>
            <a:ext cx="7772400" cy="838200"/>
          </a:xfrm>
          <a:prstGeom prst="roundRect">
            <a:avLst>
              <a:gd name="adj" fmla="val 21667"/>
            </a:avLst>
          </a:prstGeom>
        </p:spPr>
        <p:txBody>
          <a:bodyPr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mtClean="0"/>
              <a:t>Data Link Layer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AutoShape 2"/>
          <p:cNvSpPr>
            <a:spLocks noGrp="1" noChangeArrowheads="1"/>
          </p:cNvSpPr>
          <p:nvPr>
            <p:ph type="title"/>
          </p:nvPr>
        </p:nvSpPr>
        <p:spPr>
          <a:xfrm>
            <a:off x="827584" y="764704"/>
            <a:ext cx="8763000" cy="838200"/>
          </a:xfrm>
        </p:spPr>
        <p:txBody>
          <a:bodyPr/>
          <a:lstStyle/>
          <a:p>
            <a:r>
              <a:rPr lang="en-US" altLang="en-US" dirty="0"/>
              <a:t>Sub-layers of the Data Link Layer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2349500"/>
            <a:ext cx="7772400" cy="5181600"/>
          </a:xfrm>
        </p:spPr>
        <p:txBody>
          <a:bodyPr/>
          <a:lstStyle/>
          <a:p>
            <a:r>
              <a:rPr lang="en-US" altLang="en-US" sz="2400"/>
              <a:t>MAC (Media Access Control)</a:t>
            </a:r>
          </a:p>
          <a:p>
            <a:pPr lvl="1"/>
            <a:r>
              <a:rPr lang="en-US" altLang="en-US" sz="2000"/>
              <a:t>Gives data to the NIC</a:t>
            </a:r>
          </a:p>
          <a:p>
            <a:pPr lvl="1"/>
            <a:r>
              <a:rPr lang="en-US" altLang="en-US" sz="2000"/>
              <a:t>Controls access to the media through:</a:t>
            </a:r>
          </a:p>
          <a:p>
            <a:pPr lvl="2"/>
            <a:r>
              <a:rPr lang="en-US" altLang="en-US"/>
              <a:t>CSMA/CD Carrier Sense Multiple Access/Collision Detection </a:t>
            </a:r>
          </a:p>
          <a:p>
            <a:pPr lvl="2"/>
            <a:r>
              <a:rPr lang="en-US" altLang="en-US"/>
              <a:t>Token passing</a:t>
            </a:r>
          </a:p>
          <a:p>
            <a:r>
              <a:rPr lang="en-US" altLang="en-US" sz="2400"/>
              <a:t>LLC (Logical Link Layer)</a:t>
            </a:r>
          </a:p>
          <a:p>
            <a:pPr lvl="1"/>
            <a:r>
              <a:rPr lang="en-US" altLang="en-US" sz="2000"/>
              <a:t>Manages the data link interface (or Service Access Points (SAPs))</a:t>
            </a:r>
          </a:p>
          <a:p>
            <a:pPr lvl="1"/>
            <a:r>
              <a:rPr lang="en-US" altLang="en-US" sz="2000"/>
              <a:t>Can detect some transmission errors using a Cyclic Redundancy Check (CRC). If the packet is bad the LLC will request the sender to resend that particular packet.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AutoShape 2"/>
          <p:cNvSpPr>
            <a:spLocks noGrp="1" noChangeArrowheads="1"/>
          </p:cNvSpPr>
          <p:nvPr>
            <p:ph type="title"/>
          </p:nvPr>
        </p:nvSpPr>
        <p:spPr>
          <a:xfrm>
            <a:off x="827584" y="764704"/>
            <a:ext cx="7772400" cy="914400"/>
          </a:xfrm>
        </p:spPr>
        <p:txBody>
          <a:bodyPr/>
          <a:lstStyle/>
          <a:p>
            <a:r>
              <a:rPr lang="en-US" altLang="en-US" dirty="0"/>
              <a:t>Physical Layer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95288" y="2420938"/>
            <a:ext cx="41910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Determines the specs for all physical components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Cabling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Interconnect methods (topology / devices)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Data encoding (bits to waves)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Electrical properties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Examples: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Ethernet (IEEE 802.3)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 smtClean="0"/>
              <a:t>Optical fiber (ITU- 652)</a:t>
            </a:r>
            <a:endParaRPr lang="en-US" altLang="en-US" sz="1800" dirty="0"/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Wireless (IEEE 802.11b)</a:t>
            </a:r>
          </a:p>
        </p:txBody>
      </p:sp>
      <p:pic>
        <p:nvPicPr>
          <p:cNvPr id="48132" name="Picture 4" descr="layer1"/>
          <p:cNvPicPr>
            <a:picLocks noGrp="1" noChangeAspect="1" noChangeArrowheads="1"/>
          </p:cNvPicPr>
          <p:nvPr>
            <p:ph type="clipArt"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01"/>
          <a:stretch/>
        </p:blipFill>
        <p:spPr>
          <a:xfrm>
            <a:off x="5364088" y="2362830"/>
            <a:ext cx="3737992" cy="4450546"/>
          </a:xfr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46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325" y="2348880"/>
            <a:ext cx="6937375" cy="257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1147" name="Rectangle 11"/>
          <p:cNvSpPr>
            <a:spLocks noChangeArrowheads="1"/>
          </p:cNvSpPr>
          <p:nvPr/>
        </p:nvSpPr>
        <p:spPr bwMode="auto">
          <a:xfrm>
            <a:off x="899592" y="5085184"/>
            <a:ext cx="8064375" cy="156966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sz="3200" b="1" i="1" dirty="0">
                <a:latin typeface="Times New Roman" panose="02020603050405020304" pitchFamily="18" charset="0"/>
              </a:rPr>
              <a:t>The physical layer is </a:t>
            </a:r>
            <a:r>
              <a:rPr lang="en-US" altLang="en-US" sz="3200" b="1" i="1" dirty="0" smtClean="0">
                <a:latin typeface="Times New Roman" panose="02020603050405020304" pitchFamily="18" charset="0"/>
              </a:rPr>
              <a:t>responsible for </a:t>
            </a:r>
            <a:r>
              <a:rPr lang="en-US" altLang="en-US" sz="3200" b="1" i="1" dirty="0">
                <a:latin typeface="Times New Roman" panose="02020603050405020304" pitchFamily="18" charset="0"/>
              </a:rPr>
              <a:t>the movement of individual bits from one hop (node) to the next. </a:t>
            </a:r>
          </a:p>
        </p:txBody>
      </p:sp>
      <p:sp>
        <p:nvSpPr>
          <p:cNvPr id="15" name="AutoShape 2"/>
          <p:cNvSpPr txBox="1">
            <a:spLocks noChangeArrowheads="1"/>
          </p:cNvSpPr>
          <p:nvPr/>
        </p:nvSpPr>
        <p:spPr>
          <a:xfrm>
            <a:off x="785812" y="887027"/>
            <a:ext cx="7772400" cy="914400"/>
          </a:xfrm>
          <a:prstGeom prst="roundRect">
            <a:avLst>
              <a:gd name="adj" fmla="val 21667"/>
            </a:avLst>
          </a:prstGeom>
        </p:spPr>
        <p:txBody>
          <a:bodyPr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 smtClean="0"/>
              <a:t>Physical Layer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AutoShape 2"/>
          <p:cNvSpPr>
            <a:spLocks noGrp="1" noChangeArrowheads="1"/>
          </p:cNvSpPr>
          <p:nvPr>
            <p:ph type="title"/>
          </p:nvPr>
        </p:nvSpPr>
        <p:spPr>
          <a:xfrm>
            <a:off x="827584" y="748978"/>
            <a:ext cx="8229600" cy="879822"/>
          </a:xfrm>
        </p:spPr>
        <p:txBody>
          <a:bodyPr/>
          <a:lstStyle/>
          <a:p>
            <a:r>
              <a:rPr lang="en-US" altLang="en-US" dirty="0"/>
              <a:t>Physical </a:t>
            </a:r>
            <a:r>
              <a:rPr lang="en-US" altLang="en-US" dirty="0" smtClean="0"/>
              <a:t>Layer</a:t>
            </a:r>
            <a:endParaRPr lang="en-US" altLang="en-US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2355967"/>
            <a:ext cx="7200031" cy="4502033"/>
          </a:xfrm>
        </p:spPr>
        <p:txBody>
          <a:bodyPr/>
          <a:lstStyle/>
          <a:p>
            <a:r>
              <a:rPr lang="en-US" altLang="en-US" sz="2400" dirty="0"/>
              <a:t>What are the Physical Layer components on my computer?</a:t>
            </a:r>
          </a:p>
          <a:p>
            <a:r>
              <a:rPr lang="en-US" altLang="en-US" sz="2400" dirty="0"/>
              <a:t>NIC</a:t>
            </a:r>
          </a:p>
          <a:p>
            <a:pPr lvl="1"/>
            <a:r>
              <a:rPr lang="en-US" altLang="en-US" sz="2000" dirty="0"/>
              <a:t>Network Interface Card</a:t>
            </a:r>
          </a:p>
          <a:p>
            <a:pPr lvl="1"/>
            <a:r>
              <a:rPr lang="en-US" altLang="en-US" sz="2000" dirty="0"/>
              <a:t>Has a unique 12 character Hexadecimal number permanently burned into it at the manufacturer. </a:t>
            </a:r>
          </a:p>
          <a:p>
            <a:pPr lvl="1"/>
            <a:r>
              <a:rPr lang="en-US" altLang="en-US" sz="2000" dirty="0"/>
              <a:t>The number is the MAC Address/Physical address of a computer</a:t>
            </a:r>
          </a:p>
          <a:p>
            <a:r>
              <a:rPr lang="en-US" altLang="en-US" sz="2400" dirty="0"/>
              <a:t>Cabling</a:t>
            </a:r>
          </a:p>
          <a:p>
            <a:pPr lvl="1"/>
            <a:r>
              <a:rPr lang="en-US" altLang="en-US" sz="2000" dirty="0"/>
              <a:t>Twister Pair</a:t>
            </a:r>
          </a:p>
          <a:p>
            <a:pPr lvl="1"/>
            <a:r>
              <a:rPr lang="en-US" altLang="en-US" sz="2000" dirty="0"/>
              <a:t>Fiber Optic</a:t>
            </a:r>
          </a:p>
          <a:p>
            <a:pPr lvl="1"/>
            <a:r>
              <a:rPr lang="en-US" altLang="en-US" sz="2000" dirty="0"/>
              <a:t>Coax Cable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AutoShape 2"/>
          <p:cNvSpPr>
            <a:spLocks noGrp="1" noChangeArrowheads="1"/>
          </p:cNvSpPr>
          <p:nvPr>
            <p:ph type="title"/>
          </p:nvPr>
        </p:nvSpPr>
        <p:spPr>
          <a:xfrm>
            <a:off x="827584" y="764704"/>
            <a:ext cx="7560840" cy="914400"/>
          </a:xfrm>
        </p:spPr>
        <p:txBody>
          <a:bodyPr/>
          <a:lstStyle/>
          <a:p>
            <a:r>
              <a:rPr lang="en-US" altLang="en-US" dirty="0"/>
              <a:t>How Does It All Work Together</a:t>
            </a:r>
          </a:p>
        </p:txBody>
      </p:sp>
      <p:pic>
        <p:nvPicPr>
          <p:cNvPr id="52227" name="Picture 3" descr="peer2pe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420887"/>
            <a:ext cx="3581400" cy="421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228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2276475"/>
            <a:ext cx="5181600" cy="5178425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1800"/>
              <a:t>Each layer contains a Protocol Data Unit (PDU)</a:t>
            </a:r>
          </a:p>
          <a:p>
            <a:pPr lvl="1">
              <a:lnSpc>
                <a:spcPct val="90000"/>
              </a:lnSpc>
            </a:pPr>
            <a:r>
              <a:rPr lang="en-GB" altLang="en-US" sz="1600"/>
              <a:t>PDU</a:t>
            </a:r>
            <a:r>
              <a:rPr lang="en-IE" altLang="en-US" sz="1600"/>
              <a:t>’</a:t>
            </a:r>
            <a:r>
              <a:rPr lang="en-GB" altLang="en-US" sz="1600"/>
              <a:t>s are used for peer-to-peer contact between corresponding layers.</a:t>
            </a:r>
          </a:p>
          <a:p>
            <a:pPr lvl="1">
              <a:lnSpc>
                <a:spcPct val="90000"/>
              </a:lnSpc>
            </a:pPr>
            <a:endParaRPr lang="en-GB" altLang="en-US" sz="1600"/>
          </a:p>
          <a:p>
            <a:pPr lvl="1">
              <a:lnSpc>
                <a:spcPct val="90000"/>
              </a:lnSpc>
            </a:pPr>
            <a:r>
              <a:rPr lang="en-US" altLang="en-US" sz="1600"/>
              <a:t>Data is handled by the top three layers, then Segmented by the Transport layer.</a:t>
            </a:r>
          </a:p>
          <a:p>
            <a:pPr lvl="1">
              <a:lnSpc>
                <a:spcPct val="90000"/>
              </a:lnSpc>
            </a:pPr>
            <a:endParaRPr lang="en-US" altLang="en-US" sz="1600"/>
          </a:p>
          <a:p>
            <a:pPr lvl="1">
              <a:lnSpc>
                <a:spcPct val="90000"/>
              </a:lnSpc>
            </a:pPr>
            <a:r>
              <a:rPr lang="en-US" altLang="en-US" sz="1600"/>
              <a:t>The Network layer places it into packets and the Data Link frames the packets for transmission.</a:t>
            </a:r>
          </a:p>
          <a:p>
            <a:pPr lvl="1">
              <a:lnSpc>
                <a:spcPct val="90000"/>
              </a:lnSpc>
            </a:pPr>
            <a:endParaRPr lang="en-US" altLang="en-US" sz="1600"/>
          </a:p>
          <a:p>
            <a:pPr lvl="1">
              <a:lnSpc>
                <a:spcPct val="90000"/>
              </a:lnSpc>
            </a:pPr>
            <a:r>
              <a:rPr lang="en-US" altLang="en-US" sz="1600"/>
              <a:t>Physical layer converts it to bits and sends it out over the media.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 sz="1600"/>
          </a:p>
          <a:p>
            <a:pPr lvl="1">
              <a:lnSpc>
                <a:spcPct val="90000"/>
              </a:lnSpc>
            </a:pPr>
            <a:r>
              <a:rPr lang="en-US" altLang="en-US" sz="1600"/>
              <a:t>The receiving computer reverses the process using the information contained in the PDU</a:t>
            </a:r>
            <a:r>
              <a:rPr lang="en-US" altLang="en-US" sz="1600" b="1"/>
              <a:t>.</a:t>
            </a:r>
          </a:p>
        </p:txBody>
      </p:sp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8594725" y="5867400"/>
            <a:ext cx="549275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000" baseline="30000">
                <a:solidFill>
                  <a:srgbClr val="FFFF00"/>
                </a:solidFill>
                <a:latin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35" y="1405633"/>
            <a:ext cx="7848872" cy="5452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AutoShape 5"/>
          <p:cNvSpPr txBox="1">
            <a:spLocks noChangeArrowheads="1"/>
          </p:cNvSpPr>
          <p:nvPr/>
        </p:nvSpPr>
        <p:spPr>
          <a:xfrm>
            <a:off x="816496" y="764704"/>
            <a:ext cx="7924800" cy="852264"/>
          </a:xfrm>
          <a:prstGeom prst="roundRect">
            <a:avLst>
              <a:gd name="adj" fmla="val 21667"/>
            </a:avLst>
          </a:prstGeom>
        </p:spPr>
        <p:txBody>
          <a:bodyPr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mtClean="0"/>
              <a:t>The OSI Model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86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578" y="2348880"/>
            <a:ext cx="7329504" cy="4437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AutoShape 2"/>
          <p:cNvSpPr txBox="1">
            <a:spLocks noChangeArrowheads="1"/>
          </p:cNvSpPr>
          <p:nvPr/>
        </p:nvSpPr>
        <p:spPr>
          <a:xfrm>
            <a:off x="827584" y="764704"/>
            <a:ext cx="7560840" cy="914400"/>
          </a:xfrm>
          <a:prstGeom prst="roundRect">
            <a:avLst>
              <a:gd name="adj" fmla="val 21667"/>
            </a:avLst>
          </a:prstGeom>
        </p:spPr>
        <p:txBody>
          <a:bodyPr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 smtClean="0">
                <a:latin typeface="Times New Roman" panose="02020603050405020304" pitchFamily="18" charset="0"/>
              </a:rPr>
              <a:t>An </a:t>
            </a:r>
            <a:r>
              <a:rPr lang="en-US" altLang="en-US" dirty="0">
                <a:latin typeface="Times New Roman" panose="02020603050405020304" pitchFamily="18" charset="0"/>
              </a:rPr>
              <a:t>exchange using the OSI model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708920"/>
            <a:ext cx="8092971" cy="3291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AutoShape 2"/>
          <p:cNvSpPr txBox="1">
            <a:spLocks noChangeArrowheads="1"/>
          </p:cNvSpPr>
          <p:nvPr/>
        </p:nvSpPr>
        <p:spPr>
          <a:xfrm>
            <a:off x="827584" y="764704"/>
            <a:ext cx="7560840" cy="914400"/>
          </a:xfrm>
          <a:prstGeom prst="roundRect">
            <a:avLst>
              <a:gd name="adj" fmla="val 21667"/>
            </a:avLst>
          </a:prstGeom>
        </p:spPr>
        <p:txBody>
          <a:bodyPr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>
                <a:latin typeface="Times New Roman" panose="02020603050405020304" pitchFamily="18" charset="0"/>
              </a:rPr>
              <a:t>Summary of layers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AutoShape 2"/>
          <p:cNvSpPr>
            <a:spLocks noGrp="1" noChangeArrowheads="1"/>
          </p:cNvSpPr>
          <p:nvPr>
            <p:ph type="title"/>
          </p:nvPr>
        </p:nvSpPr>
        <p:spPr>
          <a:xfrm>
            <a:off x="3276600" y="0"/>
            <a:ext cx="7772400" cy="914400"/>
          </a:xfrm>
        </p:spPr>
        <p:txBody>
          <a:bodyPr/>
          <a:lstStyle/>
          <a:p>
            <a:r>
              <a:rPr lang="en-US" altLang="en-US" dirty="0"/>
              <a:t>The Postal Analogy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438400" y="2492375"/>
            <a:ext cx="6705600" cy="5105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000" b="1" dirty="0"/>
              <a:t>A-</a:t>
            </a:r>
            <a:r>
              <a:rPr lang="en-US" altLang="en-US" sz="2000" dirty="0"/>
              <a:t> Write a 20 page letter to a foreign country.</a:t>
            </a:r>
          </a:p>
          <a:p>
            <a:pPr>
              <a:lnSpc>
                <a:spcPct val="80000"/>
              </a:lnSpc>
            </a:pPr>
            <a:endParaRPr lang="en-US" altLang="en-US" sz="2000" b="1" dirty="0"/>
          </a:p>
          <a:p>
            <a:pPr>
              <a:lnSpc>
                <a:spcPct val="80000"/>
              </a:lnSpc>
            </a:pPr>
            <a:r>
              <a:rPr lang="en-US" altLang="en-US" sz="2000" b="1" dirty="0"/>
              <a:t>P-</a:t>
            </a:r>
            <a:r>
              <a:rPr lang="en-US" altLang="en-US" sz="2000" dirty="0"/>
              <a:t> Translate the letter so the receiver can read it.</a:t>
            </a:r>
          </a:p>
          <a:p>
            <a:pPr>
              <a:lnSpc>
                <a:spcPct val="80000"/>
              </a:lnSpc>
            </a:pPr>
            <a:endParaRPr lang="en-US" altLang="en-US" sz="2000" b="1" dirty="0"/>
          </a:p>
          <a:p>
            <a:pPr>
              <a:lnSpc>
                <a:spcPct val="80000"/>
              </a:lnSpc>
            </a:pPr>
            <a:r>
              <a:rPr lang="en-US" altLang="en-US" sz="2000" b="1" dirty="0"/>
              <a:t>S-</a:t>
            </a:r>
            <a:r>
              <a:rPr lang="en-US" altLang="en-US" sz="2000" dirty="0"/>
              <a:t> Insure the intended recipient can receive letter.</a:t>
            </a:r>
          </a:p>
          <a:p>
            <a:pPr>
              <a:lnSpc>
                <a:spcPct val="80000"/>
              </a:lnSpc>
            </a:pPr>
            <a:endParaRPr lang="en-US" altLang="en-US" sz="2000" b="1" dirty="0"/>
          </a:p>
          <a:p>
            <a:pPr>
              <a:lnSpc>
                <a:spcPct val="80000"/>
              </a:lnSpc>
            </a:pPr>
            <a:r>
              <a:rPr lang="en-US" altLang="en-US" sz="2000" b="1" dirty="0"/>
              <a:t>T-</a:t>
            </a:r>
            <a:r>
              <a:rPr lang="en-US" altLang="en-US" sz="2000" dirty="0"/>
              <a:t> Separate and number pages. Like registered mail, tracks delivery and requests another package if one is “lost” or “damaged” in the mail.</a:t>
            </a:r>
          </a:p>
          <a:p>
            <a:pPr>
              <a:lnSpc>
                <a:spcPct val="80000"/>
              </a:lnSpc>
            </a:pPr>
            <a:r>
              <a:rPr lang="en-US" altLang="en-US" sz="2000" b="1" dirty="0"/>
              <a:t>N-</a:t>
            </a:r>
            <a:r>
              <a:rPr lang="en-US" altLang="en-US" sz="2000" dirty="0"/>
              <a:t> Postal Center sorting letters by zip code to route them closer to destination.</a:t>
            </a:r>
          </a:p>
          <a:p>
            <a:pPr>
              <a:lnSpc>
                <a:spcPct val="80000"/>
              </a:lnSpc>
            </a:pPr>
            <a:r>
              <a:rPr lang="en-US" altLang="en-US" sz="2000" b="1" dirty="0"/>
              <a:t>D-</a:t>
            </a:r>
            <a:r>
              <a:rPr lang="en-US" altLang="en-US" sz="2000" dirty="0"/>
              <a:t> Local Post Office determining which vehicles to deliver letters.</a:t>
            </a:r>
          </a:p>
          <a:p>
            <a:pPr>
              <a:lnSpc>
                <a:spcPct val="80000"/>
              </a:lnSpc>
            </a:pPr>
            <a:r>
              <a:rPr lang="en-US" altLang="en-US" sz="2000" b="1" dirty="0"/>
              <a:t>P-</a:t>
            </a:r>
            <a:r>
              <a:rPr lang="en-US" altLang="en-US" sz="2000" dirty="0"/>
              <a:t> Physical Trucks, Planes, Rail, autos, </a:t>
            </a:r>
            <a:r>
              <a:rPr lang="en-US" altLang="en-US" sz="2000" dirty="0" err="1"/>
              <a:t>etc</a:t>
            </a:r>
            <a:r>
              <a:rPr lang="en-US" altLang="en-US" sz="2000" dirty="0"/>
              <a:t> which carry letter between stations.</a:t>
            </a:r>
          </a:p>
        </p:txBody>
      </p:sp>
      <p:grpSp>
        <p:nvGrpSpPr>
          <p:cNvPr id="54276" name="Group 4"/>
          <p:cNvGrpSpPr>
            <a:grpSpLocks/>
          </p:cNvGrpSpPr>
          <p:nvPr/>
        </p:nvGrpSpPr>
        <p:grpSpPr bwMode="auto">
          <a:xfrm>
            <a:off x="684213" y="2438400"/>
            <a:ext cx="1595437" cy="4419600"/>
            <a:chOff x="1194" y="1165"/>
            <a:chExt cx="1005" cy="2378"/>
          </a:xfrm>
        </p:grpSpPr>
        <p:sp>
          <p:nvSpPr>
            <p:cNvPr id="54277" name="AutoShape 5"/>
            <p:cNvSpPr>
              <a:spLocks noChangeAspect="1" noChangeArrowheads="1"/>
            </p:cNvSpPr>
            <p:nvPr/>
          </p:nvSpPr>
          <p:spPr bwMode="auto">
            <a:xfrm>
              <a:off x="1194" y="1516"/>
              <a:ext cx="1005" cy="2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57150">
              <a:solidFill>
                <a:srgbClr val="99CC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en-US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resentation</a:t>
              </a:r>
            </a:p>
          </p:txBody>
        </p:sp>
        <p:sp>
          <p:nvSpPr>
            <p:cNvPr id="54278" name="AutoShape 6"/>
            <p:cNvSpPr>
              <a:spLocks noChangeAspect="1" noChangeArrowheads="1"/>
            </p:cNvSpPr>
            <p:nvPr/>
          </p:nvSpPr>
          <p:spPr bwMode="auto">
            <a:xfrm>
              <a:off x="1194" y="2218"/>
              <a:ext cx="1005" cy="2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57150">
              <a:solidFill>
                <a:srgbClr val="99CC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en-US" sz="2400">
                  <a:solidFill>
                    <a:srgbClr val="FF3300"/>
                  </a:solidFill>
                  <a:latin typeface="Times New Roman" panose="02020603050405020304" pitchFamily="18" charset="0"/>
                </a:rPr>
                <a:t>ransport</a:t>
              </a:r>
            </a:p>
          </p:txBody>
        </p:sp>
        <p:sp>
          <p:nvSpPr>
            <p:cNvPr id="54279" name="AutoShape 7"/>
            <p:cNvSpPr>
              <a:spLocks noChangeAspect="1" noChangeArrowheads="1"/>
            </p:cNvSpPr>
            <p:nvPr/>
          </p:nvSpPr>
          <p:spPr bwMode="auto">
            <a:xfrm>
              <a:off x="1194" y="2569"/>
              <a:ext cx="1005" cy="2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57150">
              <a:solidFill>
                <a:srgbClr val="99CC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sz="2400">
                  <a:solidFill>
                    <a:srgbClr val="FF3300"/>
                  </a:solidFill>
                  <a:latin typeface="Times New Roman" panose="02020603050405020304" pitchFamily="18" charset="0"/>
                </a:rPr>
                <a:t>etwork</a:t>
              </a:r>
            </a:p>
          </p:txBody>
        </p:sp>
        <p:sp>
          <p:nvSpPr>
            <p:cNvPr id="54280" name="AutoShape 8"/>
            <p:cNvSpPr>
              <a:spLocks noChangeAspect="1" noChangeArrowheads="1"/>
            </p:cNvSpPr>
            <p:nvPr/>
          </p:nvSpPr>
          <p:spPr bwMode="auto">
            <a:xfrm>
              <a:off x="1194" y="3271"/>
              <a:ext cx="1005" cy="2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57150">
              <a:solidFill>
                <a:srgbClr val="99CC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en-US" sz="2400">
                  <a:solidFill>
                    <a:srgbClr val="FF3300"/>
                  </a:solidFill>
                  <a:latin typeface="Times New Roman" panose="02020603050405020304" pitchFamily="18" charset="0"/>
                </a:rPr>
                <a:t>hysical</a:t>
              </a:r>
            </a:p>
          </p:txBody>
        </p:sp>
        <p:sp>
          <p:nvSpPr>
            <p:cNvPr id="54281" name="AutoShape 9"/>
            <p:cNvSpPr>
              <a:spLocks noChangeAspect="1" noChangeArrowheads="1"/>
            </p:cNvSpPr>
            <p:nvPr/>
          </p:nvSpPr>
          <p:spPr bwMode="auto">
            <a:xfrm>
              <a:off x="1194" y="2920"/>
              <a:ext cx="1005" cy="2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57150">
              <a:solidFill>
                <a:srgbClr val="99CC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en-US" sz="2400">
                  <a:solidFill>
                    <a:srgbClr val="FF3300"/>
                  </a:solidFill>
                  <a:latin typeface="Times New Roman" panose="02020603050405020304" pitchFamily="18" charset="0"/>
                </a:rPr>
                <a:t>ata-Link</a:t>
              </a:r>
            </a:p>
          </p:txBody>
        </p:sp>
        <p:sp>
          <p:nvSpPr>
            <p:cNvPr id="54282" name="AutoShape 10"/>
            <p:cNvSpPr>
              <a:spLocks noChangeAspect="1" noChangeArrowheads="1"/>
            </p:cNvSpPr>
            <p:nvPr/>
          </p:nvSpPr>
          <p:spPr bwMode="auto">
            <a:xfrm>
              <a:off x="1194" y="1867"/>
              <a:ext cx="1005" cy="2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57150">
              <a:solidFill>
                <a:srgbClr val="99CC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en-US" sz="2400">
                  <a:solidFill>
                    <a:srgbClr val="FF3300"/>
                  </a:solidFill>
                  <a:latin typeface="Times New Roman" panose="02020603050405020304" pitchFamily="18" charset="0"/>
                </a:rPr>
                <a:t>ession</a:t>
              </a:r>
            </a:p>
          </p:txBody>
        </p:sp>
        <p:sp>
          <p:nvSpPr>
            <p:cNvPr id="54283" name="AutoShape 11"/>
            <p:cNvSpPr>
              <a:spLocks noChangeAspect="1" noChangeArrowheads="1"/>
            </p:cNvSpPr>
            <p:nvPr/>
          </p:nvSpPr>
          <p:spPr bwMode="auto">
            <a:xfrm>
              <a:off x="1194" y="1165"/>
              <a:ext cx="1005" cy="2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57150">
              <a:solidFill>
                <a:srgbClr val="99CC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en-US" sz="2400">
                  <a:solidFill>
                    <a:srgbClr val="FF3300"/>
                  </a:solidFill>
                  <a:latin typeface="Times New Roman" panose="02020603050405020304" pitchFamily="18" charset="0"/>
                </a:rPr>
                <a:t>pplication</a:t>
              </a:r>
            </a:p>
          </p:txBody>
        </p:sp>
      </p:grpSp>
      <p:sp>
        <p:nvSpPr>
          <p:cNvPr id="54284" name="Text Box 12"/>
          <p:cNvSpPr txBox="1">
            <a:spLocks noChangeArrowheads="1"/>
          </p:cNvSpPr>
          <p:nvPr/>
        </p:nvSpPr>
        <p:spPr bwMode="auto">
          <a:xfrm>
            <a:off x="684213" y="1278655"/>
            <a:ext cx="8229600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How would the OSI compare to the regular Post Office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AutoShape 2"/>
          <p:cNvSpPr>
            <a:spLocks noGrp="1" noChangeArrowheads="1"/>
          </p:cNvSpPr>
          <p:nvPr>
            <p:ph type="title"/>
          </p:nvPr>
        </p:nvSpPr>
        <p:spPr>
          <a:xfrm>
            <a:off x="762000" y="762000"/>
            <a:ext cx="7924800" cy="912813"/>
          </a:xfrm>
        </p:spPr>
        <p:txBody>
          <a:bodyPr/>
          <a:lstStyle/>
          <a:p>
            <a:r>
              <a:rPr lang="en-US" altLang="en-US"/>
              <a:t>Remembering the 7 Layers</a:t>
            </a:r>
          </a:p>
        </p:txBody>
      </p:sp>
      <p:sp>
        <p:nvSpPr>
          <p:cNvPr id="56323" name="Text Box 3"/>
          <p:cNvSpPr txBox="1">
            <a:spLocks noGrp="1" noChangeArrowheads="1"/>
          </p:cNvSpPr>
          <p:nvPr>
            <p:ph type="body" sz="half" idx="1"/>
          </p:nvPr>
        </p:nvSpPr>
        <p:spPr>
          <a:xfrm>
            <a:off x="1763713" y="2667000"/>
            <a:ext cx="4343400" cy="4191000"/>
          </a:xfrm>
          <a:solidFill>
            <a:srgbClr val="3366FF"/>
          </a:solidFill>
          <a:ln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5000"/>
              </a:spcBef>
              <a:spcAft>
                <a:spcPct val="25000"/>
              </a:spcAft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bg1"/>
                </a:solidFill>
                <a:latin typeface="Arial Narrow" panose="020B0606020202030204" pitchFamily="34" charset="0"/>
              </a:rPr>
              <a:t>7 - </a:t>
            </a:r>
            <a:r>
              <a:rPr lang="en-US" altLang="en-US" sz="2000" b="1">
                <a:solidFill>
                  <a:schemeClr val="bg1"/>
                </a:solidFill>
                <a:latin typeface="Arial Narrow" panose="020B0606020202030204" pitchFamily="34" charset="0"/>
              </a:rPr>
              <a:t>A</a:t>
            </a:r>
            <a:r>
              <a:rPr lang="en-US" altLang="en-US" sz="2000">
                <a:solidFill>
                  <a:schemeClr val="bg1"/>
                </a:solidFill>
                <a:latin typeface="Arial Narrow" panose="020B0606020202030204" pitchFamily="34" charset="0"/>
              </a:rPr>
              <a:t>pplication 		</a:t>
            </a:r>
            <a:r>
              <a:rPr lang="en-US" altLang="en-US" sz="2000" b="1">
                <a:solidFill>
                  <a:schemeClr val="bg1"/>
                </a:solidFill>
                <a:latin typeface="Arial Narrow" panose="020B0606020202030204" pitchFamily="34" charset="0"/>
              </a:rPr>
              <a:t>A</a:t>
            </a:r>
            <a:r>
              <a:rPr lang="en-US" altLang="en-US" sz="2000">
                <a:solidFill>
                  <a:schemeClr val="bg1"/>
                </a:solidFill>
                <a:latin typeface="Arial Narrow" panose="020B0606020202030204" pitchFamily="34" charset="0"/>
              </a:rPr>
              <a:t>ll</a:t>
            </a:r>
          </a:p>
          <a:p>
            <a:pPr>
              <a:spcBef>
                <a:spcPct val="25000"/>
              </a:spcBef>
              <a:spcAft>
                <a:spcPct val="25000"/>
              </a:spcAft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bg1"/>
                </a:solidFill>
                <a:latin typeface="Arial Narrow" panose="020B0606020202030204" pitchFamily="34" charset="0"/>
              </a:rPr>
              <a:t>6 - </a:t>
            </a:r>
            <a:r>
              <a:rPr lang="en-US" altLang="en-US" sz="2000" b="1">
                <a:solidFill>
                  <a:schemeClr val="bg1"/>
                </a:solidFill>
                <a:latin typeface="Arial Narrow" panose="020B0606020202030204" pitchFamily="34" charset="0"/>
              </a:rPr>
              <a:t>P</a:t>
            </a:r>
            <a:r>
              <a:rPr lang="en-US" altLang="en-US" sz="2000">
                <a:solidFill>
                  <a:schemeClr val="bg1"/>
                </a:solidFill>
                <a:latin typeface="Arial Narrow" panose="020B0606020202030204" pitchFamily="34" charset="0"/>
              </a:rPr>
              <a:t>resentation 	               </a:t>
            </a:r>
            <a:r>
              <a:rPr lang="en-US" altLang="en-US" sz="2000" b="1">
                <a:solidFill>
                  <a:schemeClr val="bg1"/>
                </a:solidFill>
                <a:latin typeface="Arial Narrow" panose="020B0606020202030204" pitchFamily="34" charset="0"/>
              </a:rPr>
              <a:t>P</a:t>
            </a:r>
            <a:r>
              <a:rPr lang="en-US" altLang="en-US" sz="2000">
                <a:solidFill>
                  <a:schemeClr val="bg1"/>
                </a:solidFill>
                <a:latin typeface="Arial Narrow" panose="020B0606020202030204" pitchFamily="34" charset="0"/>
              </a:rPr>
              <a:t>eople</a:t>
            </a:r>
          </a:p>
          <a:p>
            <a:pPr>
              <a:spcBef>
                <a:spcPct val="25000"/>
              </a:spcBef>
              <a:spcAft>
                <a:spcPct val="25000"/>
              </a:spcAft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bg1"/>
                </a:solidFill>
                <a:latin typeface="Arial Narrow" panose="020B0606020202030204" pitchFamily="34" charset="0"/>
              </a:rPr>
              <a:t>5 - </a:t>
            </a:r>
            <a:r>
              <a:rPr lang="en-US" altLang="en-US" sz="2000" b="1">
                <a:solidFill>
                  <a:schemeClr val="bg1"/>
                </a:solidFill>
                <a:latin typeface="Arial Narrow" panose="020B0606020202030204" pitchFamily="34" charset="0"/>
              </a:rPr>
              <a:t>S</a:t>
            </a:r>
            <a:r>
              <a:rPr lang="en-US" altLang="en-US" sz="2000">
                <a:solidFill>
                  <a:schemeClr val="bg1"/>
                </a:solidFill>
                <a:latin typeface="Arial Narrow" panose="020B0606020202030204" pitchFamily="34" charset="0"/>
              </a:rPr>
              <a:t>ession 		</a:t>
            </a:r>
            <a:r>
              <a:rPr lang="en-US" altLang="en-US" sz="2000" b="1">
                <a:solidFill>
                  <a:schemeClr val="bg1"/>
                </a:solidFill>
                <a:latin typeface="Arial Narrow" panose="020B0606020202030204" pitchFamily="34" charset="0"/>
              </a:rPr>
              <a:t>S</a:t>
            </a:r>
            <a:r>
              <a:rPr lang="en-US" altLang="en-US" sz="2000">
                <a:solidFill>
                  <a:schemeClr val="bg1"/>
                </a:solidFill>
                <a:latin typeface="Arial Narrow" panose="020B0606020202030204" pitchFamily="34" charset="0"/>
              </a:rPr>
              <a:t>eem	</a:t>
            </a:r>
          </a:p>
          <a:p>
            <a:pPr>
              <a:spcBef>
                <a:spcPct val="25000"/>
              </a:spcBef>
              <a:spcAft>
                <a:spcPct val="25000"/>
              </a:spcAft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bg1"/>
                </a:solidFill>
                <a:latin typeface="Arial Narrow" panose="020B0606020202030204" pitchFamily="34" charset="0"/>
              </a:rPr>
              <a:t>4 - </a:t>
            </a:r>
            <a:r>
              <a:rPr lang="en-US" altLang="en-US" sz="2000" b="1">
                <a:solidFill>
                  <a:schemeClr val="bg1"/>
                </a:solidFill>
                <a:latin typeface="Arial Narrow" panose="020B0606020202030204" pitchFamily="34" charset="0"/>
              </a:rPr>
              <a:t>T</a:t>
            </a:r>
            <a:r>
              <a:rPr lang="en-US" altLang="en-US" sz="2000">
                <a:solidFill>
                  <a:schemeClr val="bg1"/>
                </a:solidFill>
                <a:latin typeface="Arial Narrow" panose="020B0606020202030204" pitchFamily="34" charset="0"/>
              </a:rPr>
              <a:t>ransport 		</a:t>
            </a:r>
            <a:r>
              <a:rPr lang="en-US" altLang="en-US" sz="2000" b="1">
                <a:solidFill>
                  <a:schemeClr val="bg1"/>
                </a:solidFill>
                <a:latin typeface="Arial Narrow" panose="020B0606020202030204" pitchFamily="34" charset="0"/>
              </a:rPr>
              <a:t>T</a:t>
            </a:r>
            <a:r>
              <a:rPr lang="en-US" altLang="en-US" sz="2000">
                <a:solidFill>
                  <a:schemeClr val="bg1"/>
                </a:solidFill>
                <a:latin typeface="Arial Narrow" panose="020B0606020202030204" pitchFamily="34" charset="0"/>
              </a:rPr>
              <a:t>o	</a:t>
            </a:r>
          </a:p>
          <a:p>
            <a:pPr>
              <a:spcBef>
                <a:spcPct val="25000"/>
              </a:spcBef>
              <a:spcAft>
                <a:spcPct val="25000"/>
              </a:spcAft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bg1"/>
                </a:solidFill>
                <a:latin typeface="Arial Narrow" panose="020B0606020202030204" pitchFamily="34" charset="0"/>
              </a:rPr>
              <a:t>3 - </a:t>
            </a:r>
            <a:r>
              <a:rPr lang="en-US" altLang="en-US" sz="2000" b="1">
                <a:solidFill>
                  <a:schemeClr val="bg1"/>
                </a:solidFill>
                <a:latin typeface="Arial Narrow" panose="020B0606020202030204" pitchFamily="34" charset="0"/>
              </a:rPr>
              <a:t>N</a:t>
            </a:r>
            <a:r>
              <a:rPr lang="en-US" altLang="en-US" sz="2000">
                <a:solidFill>
                  <a:schemeClr val="bg1"/>
                </a:solidFill>
                <a:latin typeface="Arial Narrow" panose="020B0606020202030204" pitchFamily="34" charset="0"/>
              </a:rPr>
              <a:t>etwork 		</a:t>
            </a:r>
            <a:r>
              <a:rPr lang="en-US" altLang="en-US" sz="2000" b="1">
                <a:solidFill>
                  <a:schemeClr val="bg1"/>
                </a:solidFill>
                <a:latin typeface="Arial Narrow" panose="020B0606020202030204" pitchFamily="34" charset="0"/>
              </a:rPr>
              <a:t>N</a:t>
            </a:r>
            <a:r>
              <a:rPr lang="en-US" altLang="en-US" sz="2000">
                <a:solidFill>
                  <a:schemeClr val="bg1"/>
                </a:solidFill>
                <a:latin typeface="Arial Narrow" panose="020B0606020202030204" pitchFamily="34" charset="0"/>
              </a:rPr>
              <a:t>eed</a:t>
            </a:r>
          </a:p>
          <a:p>
            <a:pPr>
              <a:spcBef>
                <a:spcPct val="25000"/>
              </a:spcBef>
              <a:spcAft>
                <a:spcPct val="25000"/>
              </a:spcAft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bg1"/>
                </a:solidFill>
                <a:latin typeface="Arial Narrow" panose="020B0606020202030204" pitchFamily="34" charset="0"/>
              </a:rPr>
              <a:t>2 - </a:t>
            </a:r>
            <a:r>
              <a:rPr lang="en-US" altLang="en-US" sz="2000" b="1">
                <a:solidFill>
                  <a:schemeClr val="bg1"/>
                </a:solidFill>
                <a:latin typeface="Arial Narrow" panose="020B0606020202030204" pitchFamily="34" charset="0"/>
              </a:rPr>
              <a:t>D</a:t>
            </a:r>
            <a:r>
              <a:rPr lang="en-US" altLang="en-US" sz="2000">
                <a:solidFill>
                  <a:schemeClr val="bg1"/>
                </a:solidFill>
                <a:latin typeface="Arial Narrow" panose="020B0606020202030204" pitchFamily="34" charset="0"/>
              </a:rPr>
              <a:t>ata Link 		</a:t>
            </a:r>
            <a:r>
              <a:rPr lang="en-US" altLang="en-US" sz="2000" b="1">
                <a:solidFill>
                  <a:schemeClr val="bg1"/>
                </a:solidFill>
                <a:latin typeface="Arial Narrow" panose="020B0606020202030204" pitchFamily="34" charset="0"/>
              </a:rPr>
              <a:t>D</a:t>
            </a:r>
            <a:r>
              <a:rPr lang="en-US" altLang="en-US" sz="2000">
                <a:solidFill>
                  <a:schemeClr val="bg1"/>
                </a:solidFill>
                <a:latin typeface="Arial Narrow" panose="020B0606020202030204" pitchFamily="34" charset="0"/>
              </a:rPr>
              <a:t>ata</a:t>
            </a:r>
          </a:p>
          <a:p>
            <a:pPr>
              <a:spcBef>
                <a:spcPct val="25000"/>
              </a:spcBef>
              <a:spcAft>
                <a:spcPct val="25000"/>
              </a:spcAft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bg1"/>
                </a:solidFill>
                <a:latin typeface="Arial Narrow" panose="020B0606020202030204" pitchFamily="34" charset="0"/>
              </a:rPr>
              <a:t>1 -</a:t>
            </a:r>
            <a:r>
              <a:rPr lang="en-US" altLang="en-US" sz="2000" b="1">
                <a:solidFill>
                  <a:schemeClr val="bg1"/>
                </a:solidFill>
                <a:latin typeface="Arial Narrow" panose="020B0606020202030204" pitchFamily="34" charset="0"/>
              </a:rPr>
              <a:t> P</a:t>
            </a:r>
            <a:r>
              <a:rPr lang="en-US" altLang="en-US" sz="2000">
                <a:solidFill>
                  <a:schemeClr val="bg1"/>
                </a:solidFill>
                <a:latin typeface="Arial Narrow" panose="020B0606020202030204" pitchFamily="34" charset="0"/>
              </a:rPr>
              <a:t>hysical		</a:t>
            </a:r>
            <a:r>
              <a:rPr lang="en-US" altLang="en-US" sz="2000" b="1">
                <a:solidFill>
                  <a:schemeClr val="bg1"/>
                </a:solidFill>
                <a:latin typeface="Arial Narrow" panose="020B0606020202030204" pitchFamily="34" charset="0"/>
              </a:rPr>
              <a:t>P</a:t>
            </a:r>
            <a:r>
              <a:rPr lang="en-US" altLang="en-US" sz="2000">
                <a:solidFill>
                  <a:schemeClr val="bg1"/>
                </a:solidFill>
                <a:latin typeface="Arial Narrow" panose="020B0606020202030204" pitchFamily="34" charset="0"/>
              </a:rPr>
              <a:t>rocessing</a:t>
            </a:r>
            <a:endParaRPr lang="en-GB" altLang="en-US" sz="20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TCP/IP model development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636838"/>
            <a:ext cx="8610600" cy="5562600"/>
          </a:xfrm>
        </p:spPr>
        <p:txBody>
          <a:bodyPr/>
          <a:lstStyle/>
          <a:p>
            <a:r>
              <a:rPr lang="en-US" altLang="en-US"/>
              <a:t>The late-60s The Defense Advance Research Projects Agency (DARPA) originally developed </a:t>
            </a:r>
            <a:r>
              <a:rPr lang="en-US" altLang="en-US">
                <a:solidFill>
                  <a:srgbClr val="FF0000"/>
                </a:solidFill>
              </a:rPr>
              <a:t>Transmission Control Protocol/Internet Protocol</a:t>
            </a:r>
            <a:r>
              <a:rPr lang="en-US" altLang="en-US"/>
              <a:t> (</a:t>
            </a:r>
            <a:r>
              <a:rPr lang="en-US" altLang="en-US">
                <a:solidFill>
                  <a:srgbClr val="FF0000"/>
                </a:solidFill>
              </a:rPr>
              <a:t>TCP/IP</a:t>
            </a:r>
            <a:r>
              <a:rPr lang="en-US" altLang="en-US"/>
              <a:t>) to interconnect various defense department computer networks.</a:t>
            </a:r>
          </a:p>
          <a:p>
            <a:r>
              <a:rPr lang="en-US" altLang="en-US"/>
              <a:t>The Internet, an International Wide Area Network, uses TCP/IP to connect networks across the world.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7" grpId="0" build="p" bldLvl="2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4 layers of the TCP/IP model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4965700" cy="2119313"/>
          </a:xfrm>
        </p:spPr>
        <p:txBody>
          <a:bodyPr/>
          <a:lstStyle/>
          <a:p>
            <a:r>
              <a:rPr lang="en-US" altLang="en-US"/>
              <a:t>Layer 4:</a:t>
            </a:r>
            <a:r>
              <a:rPr lang="en-US" altLang="en-US">
                <a:solidFill>
                  <a:schemeClr val="accent2"/>
                </a:solidFill>
              </a:rPr>
              <a:t> </a:t>
            </a:r>
            <a:r>
              <a:rPr lang="en-US" altLang="en-US">
                <a:solidFill>
                  <a:srgbClr val="CC3300"/>
                </a:solidFill>
              </a:rPr>
              <a:t>A</a:t>
            </a:r>
            <a:r>
              <a:rPr lang="en-US" altLang="en-US">
                <a:solidFill>
                  <a:schemeClr val="accent2"/>
                </a:solidFill>
              </a:rPr>
              <a:t>pplication</a:t>
            </a:r>
          </a:p>
          <a:p>
            <a:r>
              <a:rPr lang="en-US" altLang="en-US"/>
              <a:t>Layer 3:</a:t>
            </a:r>
            <a:r>
              <a:rPr lang="en-US" altLang="en-US">
                <a:solidFill>
                  <a:schemeClr val="accent2"/>
                </a:solidFill>
              </a:rPr>
              <a:t> </a:t>
            </a:r>
            <a:r>
              <a:rPr lang="en-US" altLang="en-US">
                <a:solidFill>
                  <a:srgbClr val="CC3300"/>
                </a:solidFill>
              </a:rPr>
              <a:t>T</a:t>
            </a:r>
            <a:r>
              <a:rPr lang="en-US" altLang="en-US">
                <a:solidFill>
                  <a:schemeClr val="accent2"/>
                </a:solidFill>
              </a:rPr>
              <a:t>ransport</a:t>
            </a:r>
          </a:p>
          <a:p>
            <a:r>
              <a:rPr lang="en-US" altLang="en-US"/>
              <a:t>Layer 2:</a:t>
            </a:r>
            <a:r>
              <a:rPr lang="en-US" altLang="en-US">
                <a:solidFill>
                  <a:schemeClr val="accent2"/>
                </a:solidFill>
              </a:rPr>
              <a:t> </a:t>
            </a:r>
            <a:r>
              <a:rPr lang="en-US" altLang="en-US">
                <a:solidFill>
                  <a:srgbClr val="CC3300"/>
                </a:solidFill>
              </a:rPr>
              <a:t>I</a:t>
            </a:r>
            <a:r>
              <a:rPr lang="en-US" altLang="en-US">
                <a:solidFill>
                  <a:schemeClr val="accent2"/>
                </a:solidFill>
              </a:rPr>
              <a:t>nternet</a:t>
            </a:r>
          </a:p>
          <a:p>
            <a:r>
              <a:rPr lang="en-US" altLang="en-US"/>
              <a:t>Layer 1:</a:t>
            </a:r>
            <a:r>
              <a:rPr lang="en-US" altLang="en-US">
                <a:solidFill>
                  <a:schemeClr val="accent2"/>
                </a:solidFill>
              </a:rPr>
              <a:t> </a:t>
            </a:r>
            <a:r>
              <a:rPr lang="en-US" altLang="en-US">
                <a:solidFill>
                  <a:srgbClr val="CC3300"/>
                </a:solidFill>
              </a:rPr>
              <a:t>N</a:t>
            </a:r>
            <a:r>
              <a:rPr lang="en-US" altLang="en-US">
                <a:solidFill>
                  <a:schemeClr val="accent2"/>
                </a:solidFill>
              </a:rPr>
              <a:t>etwork access</a:t>
            </a:r>
            <a:endParaRPr lang="en-US" altLang="en-US"/>
          </a:p>
        </p:txBody>
      </p:sp>
      <p:graphicFrame>
        <p:nvGraphicFramePr>
          <p:cNvPr id="125956" name="Object 4"/>
          <p:cNvGraphicFramePr>
            <a:graphicFrameLocks noChangeAspect="1"/>
          </p:cNvGraphicFramePr>
          <p:nvPr/>
        </p:nvGraphicFramePr>
        <p:xfrm>
          <a:off x="5791200" y="1773238"/>
          <a:ext cx="3352800" cy="273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68" name="Bitmap Image" r:id="rId4" imgW="2362530" imgH="1924319" progId="Paint.Picture">
                  <p:embed/>
                </p:oleObj>
              </mc:Choice>
              <mc:Fallback>
                <p:oleObj name="Bitmap Image" r:id="rId4" imgW="2362530" imgH="1924319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1773238"/>
                        <a:ext cx="3352800" cy="273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57" name="Rectangle 5"/>
          <p:cNvSpPr>
            <a:spLocks noChangeArrowheads="1"/>
          </p:cNvSpPr>
          <p:nvPr/>
        </p:nvSpPr>
        <p:spPr bwMode="auto">
          <a:xfrm>
            <a:off x="762000" y="4572000"/>
            <a:ext cx="77724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 i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</a:rPr>
              <a:t>It is important to note that some of the layers in the TCP/IP model have the same name as layers in the OSI model. </a:t>
            </a:r>
          </a:p>
          <a:p>
            <a:pPr algn="ctr"/>
            <a:r>
              <a:rPr lang="en-US" altLang="en-US" sz="2800" b="1" i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</a:rPr>
              <a:t>Do not confuse the layers of the two models. </a:t>
            </a:r>
            <a:endParaRPr lang="en-US" altLang="en-US" sz="5400" b="1" i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 build="p" bldLvl="2" autoUpdateAnimBg="0" advAuto="0"/>
      <p:bldP spid="125957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network access layer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420938"/>
            <a:ext cx="8610600" cy="5562600"/>
          </a:xfrm>
        </p:spPr>
        <p:txBody>
          <a:bodyPr/>
          <a:lstStyle/>
          <a:p>
            <a:r>
              <a:rPr lang="en-US" altLang="en-US"/>
              <a:t>Concerned with all of the issues that an IP packet requires to actually make the physical link. </a:t>
            </a:r>
            <a:r>
              <a:rPr lang="en-US" altLang="en-US">
                <a:cs typeface="Arial" panose="020B0604020202020204" pitchFamily="34" charset="0"/>
              </a:rPr>
              <a:t>All the details in the OSI physical and data link layers</a:t>
            </a:r>
            <a:r>
              <a:rPr lang="en-US" altLang="en-US"/>
              <a:t>.</a:t>
            </a:r>
          </a:p>
          <a:p>
            <a:pPr lvl="1"/>
            <a:r>
              <a:rPr lang="en-US" altLang="en-US"/>
              <a:t>Electrical, mechanical, procedural and functional specifications.</a:t>
            </a:r>
          </a:p>
          <a:p>
            <a:pPr lvl="1"/>
            <a:r>
              <a:rPr lang="en-US" altLang="en-US"/>
              <a:t>Data rate, Distances, Physical connector.</a:t>
            </a:r>
          </a:p>
          <a:p>
            <a:pPr lvl="1"/>
            <a:r>
              <a:rPr lang="en-US" altLang="en-US"/>
              <a:t>Frames, physical addressing.</a:t>
            </a:r>
          </a:p>
          <a:p>
            <a:pPr lvl="1"/>
            <a:r>
              <a:rPr lang="en-US" altLang="en-US"/>
              <a:t>Synchronization, flow control, error control.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3" grpId="0" build="p" bldLvl="2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internet layer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492375"/>
            <a:ext cx="8610600" cy="5562600"/>
          </a:xfrm>
        </p:spPr>
        <p:txBody>
          <a:bodyPr/>
          <a:lstStyle/>
          <a:p>
            <a:r>
              <a:rPr lang="en-US" altLang="en-US"/>
              <a:t>Send source packets from any network on the internetwork and have them arrive at the destination independent of the path and networks they took to get there</a:t>
            </a:r>
            <a:r>
              <a:rPr lang="en-US" altLang="en-US">
                <a:cs typeface="Arial" panose="020B0604020202020204" pitchFamily="34" charset="0"/>
              </a:rPr>
              <a:t>. </a:t>
            </a:r>
            <a:endParaRPr lang="en-US" altLang="en-US"/>
          </a:p>
          <a:p>
            <a:pPr lvl="1"/>
            <a:r>
              <a:rPr lang="en-US" altLang="en-US"/>
              <a:t>Packets, Logical addressing.</a:t>
            </a:r>
          </a:p>
          <a:p>
            <a:pPr lvl="1"/>
            <a:r>
              <a:rPr lang="en-US" altLang="en-US"/>
              <a:t>Internet Protocol (IP).</a:t>
            </a:r>
          </a:p>
          <a:p>
            <a:pPr lvl="1"/>
            <a:r>
              <a:rPr lang="en-US" altLang="en-US"/>
              <a:t>Route , routing table, routing protocol.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1" grpId="0" build="p" bldLvl="2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transport layer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2636838"/>
            <a:ext cx="8382000" cy="5562600"/>
          </a:xfrm>
        </p:spPr>
        <p:txBody>
          <a:bodyPr/>
          <a:lstStyle/>
          <a:p>
            <a:r>
              <a:rPr lang="en-US" altLang="en-US">
                <a:cs typeface="Arial" panose="020B0604020202020204" pitchFamily="34" charset="0"/>
              </a:rPr>
              <a:t>The transport layer deals with the quality-of-service issues of reliability, flow control, and error correction.</a:t>
            </a:r>
            <a:endParaRPr lang="en-US" altLang="en-US"/>
          </a:p>
          <a:p>
            <a:pPr lvl="1"/>
            <a:r>
              <a:rPr lang="en-US" altLang="en-US"/>
              <a:t>Segments, data stream, datagram.</a:t>
            </a:r>
          </a:p>
          <a:p>
            <a:pPr lvl="1"/>
            <a:r>
              <a:rPr lang="en-US" altLang="en-US"/>
              <a:t>Connection oriented and connectionless.</a:t>
            </a:r>
          </a:p>
          <a:p>
            <a:pPr lvl="1"/>
            <a:r>
              <a:rPr lang="en-US" altLang="en-US"/>
              <a:t>Transmission control protocol (TCP).</a:t>
            </a:r>
          </a:p>
          <a:p>
            <a:pPr lvl="1"/>
            <a:r>
              <a:rPr lang="en-US" altLang="en-US"/>
              <a:t>User datagram protocol (UDP).</a:t>
            </a:r>
          </a:p>
          <a:p>
            <a:pPr lvl="1"/>
            <a:r>
              <a:rPr lang="en-US" altLang="en-US"/>
              <a:t>End-to-end flow control.</a:t>
            </a:r>
          </a:p>
          <a:p>
            <a:pPr lvl="1"/>
            <a:r>
              <a:rPr lang="en-US" altLang="en-US"/>
              <a:t>Error detection and recovery.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9" grpId="0" build="p" bldLvl="2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TCP/IP Reference Model (cont)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/>
              <a:t>3. Transport  layer (layer 3)</a:t>
            </a:r>
            <a:r>
              <a:rPr lang="en-GB" altLang="en-US" sz="2400"/>
              <a:t>  </a:t>
            </a:r>
            <a:endParaRPr lang="en-US" altLang="en-US" sz="2400"/>
          </a:p>
          <a:p>
            <a:pPr lvl="1">
              <a:lnSpc>
                <a:spcPct val="80000"/>
              </a:lnSpc>
            </a:pPr>
            <a:r>
              <a:rPr lang="en-US" altLang="en-US" sz="2000"/>
              <a:t>Allows end-to-end communication</a:t>
            </a:r>
          </a:p>
          <a:p>
            <a:pPr lvl="1">
              <a:lnSpc>
                <a:spcPct val="80000"/>
              </a:lnSpc>
            </a:pPr>
            <a:r>
              <a:rPr lang="en-US" altLang="en-US" sz="2000"/>
              <a:t>Connection establishment, error control, flow control</a:t>
            </a:r>
          </a:p>
          <a:p>
            <a:pPr lvl="1">
              <a:lnSpc>
                <a:spcPct val="80000"/>
              </a:lnSpc>
            </a:pPr>
            <a:r>
              <a:rPr lang="en-US" altLang="en-US" sz="2000"/>
              <a:t>Two main protocols at this level</a:t>
            </a:r>
          </a:p>
          <a:p>
            <a:pPr lvl="2">
              <a:lnSpc>
                <a:spcPct val="80000"/>
              </a:lnSpc>
            </a:pPr>
            <a:r>
              <a:rPr lang="en-US" altLang="en-US" sz="1800"/>
              <a:t>Transmission control protocol (TCP), </a:t>
            </a:r>
          </a:p>
          <a:p>
            <a:pPr lvl="3">
              <a:lnSpc>
                <a:spcPct val="80000"/>
              </a:lnSpc>
            </a:pPr>
            <a:r>
              <a:rPr lang="en-GB" altLang="en-US" sz="1600"/>
              <a:t>Connection oriented</a:t>
            </a:r>
          </a:p>
          <a:p>
            <a:pPr lvl="4">
              <a:lnSpc>
                <a:spcPct val="80000"/>
              </a:lnSpc>
            </a:pPr>
            <a:r>
              <a:rPr lang="en-GB" altLang="en-US" sz="1600"/>
              <a:t>Connection established before sending data</a:t>
            </a:r>
          </a:p>
          <a:p>
            <a:pPr lvl="4">
              <a:lnSpc>
                <a:spcPct val="80000"/>
              </a:lnSpc>
            </a:pPr>
            <a:r>
              <a:rPr lang="en-GB" altLang="en-US" sz="1600"/>
              <a:t>Reliable </a:t>
            </a:r>
            <a:endParaRPr lang="en-US" altLang="en-US" sz="1600"/>
          </a:p>
          <a:p>
            <a:pPr lvl="2">
              <a:lnSpc>
                <a:spcPct val="80000"/>
              </a:lnSpc>
            </a:pPr>
            <a:r>
              <a:rPr lang="en-US" altLang="en-US" sz="1800"/>
              <a:t>user datagram protocol (UDP)</a:t>
            </a:r>
          </a:p>
          <a:p>
            <a:pPr lvl="3">
              <a:lnSpc>
                <a:spcPct val="80000"/>
              </a:lnSpc>
            </a:pPr>
            <a:r>
              <a:rPr lang="en-US" altLang="en-US" sz="1600"/>
              <a:t>Connectionless  </a:t>
            </a:r>
          </a:p>
          <a:p>
            <a:pPr lvl="4">
              <a:lnSpc>
                <a:spcPct val="80000"/>
              </a:lnSpc>
            </a:pPr>
            <a:r>
              <a:rPr lang="en-GB" altLang="en-US" sz="1600"/>
              <a:t>Sending data without establishing connection</a:t>
            </a:r>
          </a:p>
          <a:p>
            <a:pPr lvl="4">
              <a:lnSpc>
                <a:spcPct val="80000"/>
              </a:lnSpc>
            </a:pPr>
            <a:r>
              <a:rPr lang="en-GB" altLang="en-US" sz="1600"/>
              <a:t>Fast but unreliable </a:t>
            </a:r>
            <a:endParaRPr lang="en-US" altLang="en-US" sz="1600"/>
          </a:p>
          <a:p>
            <a:pPr>
              <a:lnSpc>
                <a:spcPct val="80000"/>
              </a:lnSpc>
            </a:pPr>
            <a:r>
              <a:rPr lang="en-US" altLang="en-US" sz="2400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application layer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2565400"/>
            <a:ext cx="8382000" cy="5562600"/>
          </a:xfrm>
        </p:spPr>
        <p:txBody>
          <a:bodyPr/>
          <a:lstStyle/>
          <a:p>
            <a:r>
              <a:rPr lang="en-US" altLang="en-US">
                <a:cs typeface="Arial" panose="020B0604020202020204" pitchFamily="34" charset="0"/>
              </a:rPr>
              <a:t>Handles high-level protocols, issues of representation, encoding, and dialog control.  </a:t>
            </a:r>
          </a:p>
          <a:p>
            <a:r>
              <a:rPr lang="en-US" altLang="en-US">
                <a:cs typeface="Arial" panose="020B0604020202020204" pitchFamily="34" charset="0"/>
              </a:rPr>
              <a:t>The TCP/IP combines all application-related issues into one layer, and assures this data is properly packaged for the next layer.</a:t>
            </a:r>
            <a:r>
              <a:rPr lang="en-US" altLang="en-US"/>
              <a:t> </a:t>
            </a:r>
          </a:p>
          <a:p>
            <a:pPr lvl="1"/>
            <a:r>
              <a:rPr lang="en-US" altLang="en-US"/>
              <a:t>FTP, HTTP, SMNP, DNS ...</a:t>
            </a:r>
          </a:p>
          <a:p>
            <a:pPr lvl="1"/>
            <a:r>
              <a:rPr lang="en-US" altLang="en-US"/>
              <a:t>Format of data, data structure, encode …</a:t>
            </a:r>
          </a:p>
          <a:p>
            <a:pPr lvl="1"/>
            <a:r>
              <a:rPr lang="en-US" altLang="en-US"/>
              <a:t>Dialog control, session management …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4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4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7" grpId="0" build="p" bldLvl="2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TCP/IP protocol stack</a:t>
            </a:r>
          </a:p>
        </p:txBody>
      </p:sp>
      <p:graphicFrame>
        <p:nvGraphicFramePr>
          <p:cNvPr id="136195" name="Object 3"/>
          <p:cNvGraphicFramePr>
            <a:graphicFrameLocks noChangeAspect="1"/>
          </p:cNvGraphicFramePr>
          <p:nvPr/>
        </p:nvGraphicFramePr>
        <p:xfrm>
          <a:off x="1187450" y="1916113"/>
          <a:ext cx="6629400" cy="460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06" name="Bitmap Image" r:id="rId4" imgW="5095238" imgH="4277322" progId="Paint.Picture">
                  <p:embed/>
                </p:oleObj>
              </mc:Choice>
              <mc:Fallback>
                <p:oleObj name="Bitmap Image" r:id="rId4" imgW="5095238" imgH="4277322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916113"/>
                        <a:ext cx="6629400" cy="4608512"/>
                      </a:xfrm>
                      <a:prstGeom prst="rect">
                        <a:avLst/>
                      </a:prstGeom>
                      <a:solidFill>
                        <a:srgbClr val="3366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AutoShap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 rIns="0" anchor="ctr"/>
          <a:lstStyle/>
          <a:p>
            <a:r>
              <a:rPr lang="en-US" altLang="en-US"/>
              <a:t>TCP/IP Reference Model</a:t>
            </a:r>
          </a:p>
        </p:txBody>
      </p:sp>
      <p:sp>
        <p:nvSpPr>
          <p:cNvPr id="58371" name="Rectangle 3"/>
          <p:cNvSpPr>
            <a:spLocks/>
          </p:cNvSpPr>
          <p:nvPr/>
        </p:nvSpPr>
        <p:spPr bwMode="auto">
          <a:xfrm>
            <a:off x="684213" y="3357563"/>
            <a:ext cx="2449512" cy="5762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GB" altLang="en-US" b="1"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58372" name="Rectangle 4"/>
          <p:cNvSpPr>
            <a:spLocks/>
          </p:cNvSpPr>
          <p:nvPr/>
        </p:nvSpPr>
        <p:spPr bwMode="auto">
          <a:xfrm>
            <a:off x="684213" y="3933825"/>
            <a:ext cx="2449512" cy="5762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GB" altLang="en-US" b="1">
                <a:cs typeface="Arial" panose="020B0604020202020204" pitchFamily="34" charset="0"/>
              </a:rPr>
              <a:t>Transport</a:t>
            </a:r>
          </a:p>
        </p:txBody>
      </p:sp>
      <p:sp>
        <p:nvSpPr>
          <p:cNvPr id="58373" name="Rectangle 5"/>
          <p:cNvSpPr>
            <a:spLocks/>
          </p:cNvSpPr>
          <p:nvPr/>
        </p:nvSpPr>
        <p:spPr bwMode="auto">
          <a:xfrm>
            <a:off x="684213" y="4508500"/>
            <a:ext cx="2449512" cy="6492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GB" altLang="en-US" b="1">
                <a:cs typeface="Arial" panose="020B0604020202020204" pitchFamily="34" charset="0"/>
              </a:rPr>
              <a:t>Internet</a:t>
            </a:r>
          </a:p>
        </p:txBody>
      </p:sp>
      <p:sp>
        <p:nvSpPr>
          <p:cNvPr id="58374" name="Rectangle 6"/>
          <p:cNvSpPr>
            <a:spLocks/>
          </p:cNvSpPr>
          <p:nvPr/>
        </p:nvSpPr>
        <p:spPr bwMode="auto">
          <a:xfrm>
            <a:off x="684213" y="5157788"/>
            <a:ext cx="2449512" cy="936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GB" altLang="en-US" b="1">
                <a:cs typeface="Arial" panose="020B0604020202020204" pitchFamily="34" charset="0"/>
              </a:rPr>
              <a:t>Network Access</a:t>
            </a:r>
            <a:br>
              <a:rPr lang="en-GB" altLang="en-US" b="1">
                <a:cs typeface="Arial" panose="020B0604020202020204" pitchFamily="34" charset="0"/>
              </a:rPr>
            </a:br>
            <a:r>
              <a:rPr lang="en-GB" altLang="en-US" b="1">
                <a:cs typeface="Arial" panose="020B0604020202020204" pitchFamily="34" charset="0"/>
              </a:rPr>
              <a:t>(Host-to-network)</a:t>
            </a:r>
          </a:p>
        </p:txBody>
      </p:sp>
      <p:sp>
        <p:nvSpPr>
          <p:cNvPr id="58375" name="Text Box 7"/>
          <p:cNvSpPr txBox="1">
            <a:spLocks/>
          </p:cNvSpPr>
          <p:nvPr/>
        </p:nvSpPr>
        <p:spPr bwMode="auto">
          <a:xfrm>
            <a:off x="1476375" y="2990850"/>
            <a:ext cx="793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GB" altLang="en-US" b="1">
                <a:cs typeface="Arial" panose="020B0604020202020204" pitchFamily="34" charset="0"/>
              </a:rPr>
              <a:t>Layer</a:t>
            </a:r>
          </a:p>
        </p:txBody>
      </p:sp>
      <p:sp>
        <p:nvSpPr>
          <p:cNvPr id="58376" name="Rectangle 8"/>
          <p:cNvSpPr>
            <a:spLocks/>
          </p:cNvSpPr>
          <p:nvPr/>
        </p:nvSpPr>
        <p:spPr bwMode="auto">
          <a:xfrm>
            <a:off x="3421063" y="3429000"/>
            <a:ext cx="862012" cy="3603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GB" altLang="en-US" sz="1600" b="1">
                <a:cs typeface="Arial" panose="020B0604020202020204" pitchFamily="34" charset="0"/>
              </a:rPr>
              <a:t>HTTP</a:t>
            </a:r>
          </a:p>
        </p:txBody>
      </p:sp>
      <p:sp>
        <p:nvSpPr>
          <p:cNvPr id="58377" name="Rectangle 9"/>
          <p:cNvSpPr>
            <a:spLocks/>
          </p:cNvSpPr>
          <p:nvPr/>
        </p:nvSpPr>
        <p:spPr bwMode="auto">
          <a:xfrm>
            <a:off x="4500563" y="3429000"/>
            <a:ext cx="862012" cy="3603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GB" altLang="en-US" sz="1600" b="1">
                <a:cs typeface="Arial" panose="020B0604020202020204" pitchFamily="34" charset="0"/>
              </a:rPr>
              <a:t>TELNET</a:t>
            </a:r>
          </a:p>
        </p:txBody>
      </p:sp>
      <p:sp>
        <p:nvSpPr>
          <p:cNvPr id="58378" name="Rectangle 10"/>
          <p:cNvSpPr>
            <a:spLocks/>
          </p:cNvSpPr>
          <p:nvPr/>
        </p:nvSpPr>
        <p:spPr bwMode="auto">
          <a:xfrm>
            <a:off x="5580063" y="3429000"/>
            <a:ext cx="863600" cy="3603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GB" altLang="en-US" sz="1600" b="1">
                <a:cs typeface="Arial" panose="020B0604020202020204" pitchFamily="34" charset="0"/>
              </a:rPr>
              <a:t>FTP</a:t>
            </a:r>
          </a:p>
        </p:txBody>
      </p:sp>
      <p:sp>
        <p:nvSpPr>
          <p:cNvPr id="58379" name="Rectangle 11"/>
          <p:cNvSpPr>
            <a:spLocks/>
          </p:cNvSpPr>
          <p:nvPr/>
        </p:nvSpPr>
        <p:spPr bwMode="auto">
          <a:xfrm>
            <a:off x="6661150" y="3429000"/>
            <a:ext cx="863600" cy="3603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GB" altLang="en-US" sz="1600" b="1">
                <a:cs typeface="Arial" panose="020B0604020202020204" pitchFamily="34" charset="0"/>
              </a:rPr>
              <a:t>SMTP</a:t>
            </a:r>
          </a:p>
        </p:txBody>
      </p:sp>
      <p:sp>
        <p:nvSpPr>
          <p:cNvPr id="58380" name="Rectangle 12"/>
          <p:cNvSpPr>
            <a:spLocks/>
          </p:cNvSpPr>
          <p:nvPr/>
        </p:nvSpPr>
        <p:spPr bwMode="auto">
          <a:xfrm>
            <a:off x="7740650" y="3429000"/>
            <a:ext cx="863600" cy="3603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GB" altLang="en-US" sz="1600" b="1">
                <a:cs typeface="Arial" panose="020B0604020202020204" pitchFamily="34" charset="0"/>
              </a:rPr>
              <a:t>SNMP</a:t>
            </a:r>
          </a:p>
        </p:txBody>
      </p:sp>
      <p:sp>
        <p:nvSpPr>
          <p:cNvPr id="58381" name="Text Box 13"/>
          <p:cNvSpPr txBox="1">
            <a:spLocks/>
          </p:cNvSpPr>
          <p:nvPr/>
        </p:nvSpPr>
        <p:spPr bwMode="auto">
          <a:xfrm>
            <a:off x="5421313" y="2997200"/>
            <a:ext cx="1238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GB" altLang="en-US" b="1">
                <a:cs typeface="Arial" panose="020B0604020202020204" pitchFamily="34" charset="0"/>
              </a:rPr>
              <a:t>Protocols</a:t>
            </a:r>
          </a:p>
        </p:txBody>
      </p:sp>
      <p:sp>
        <p:nvSpPr>
          <p:cNvPr id="58382" name="Rectangle 14"/>
          <p:cNvSpPr>
            <a:spLocks/>
          </p:cNvSpPr>
          <p:nvPr/>
        </p:nvSpPr>
        <p:spPr bwMode="auto">
          <a:xfrm>
            <a:off x="4500563" y="4076700"/>
            <a:ext cx="862012" cy="3603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GB" altLang="en-US" sz="1600" b="1">
                <a:cs typeface="Arial" panose="020B0604020202020204" pitchFamily="34" charset="0"/>
              </a:rPr>
              <a:t>TCP</a:t>
            </a:r>
          </a:p>
        </p:txBody>
      </p:sp>
      <p:sp>
        <p:nvSpPr>
          <p:cNvPr id="58383" name="Rectangle 15"/>
          <p:cNvSpPr>
            <a:spLocks/>
          </p:cNvSpPr>
          <p:nvPr/>
        </p:nvSpPr>
        <p:spPr bwMode="auto">
          <a:xfrm>
            <a:off x="6659563" y="4076700"/>
            <a:ext cx="862012" cy="3603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GB" altLang="en-US" sz="1600" b="1">
                <a:cs typeface="Arial" panose="020B0604020202020204" pitchFamily="34" charset="0"/>
              </a:rPr>
              <a:t>UDP</a:t>
            </a:r>
          </a:p>
        </p:txBody>
      </p:sp>
      <p:sp>
        <p:nvSpPr>
          <p:cNvPr id="58384" name="Rectangle 16"/>
          <p:cNvSpPr>
            <a:spLocks/>
          </p:cNvSpPr>
          <p:nvPr/>
        </p:nvSpPr>
        <p:spPr bwMode="auto">
          <a:xfrm>
            <a:off x="4500563" y="4724400"/>
            <a:ext cx="862012" cy="3603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GB" altLang="en-US" sz="1600" b="1">
                <a:cs typeface="Arial" panose="020B0604020202020204" pitchFamily="34" charset="0"/>
              </a:rPr>
              <a:t>IP</a:t>
            </a:r>
          </a:p>
        </p:txBody>
      </p:sp>
      <p:sp>
        <p:nvSpPr>
          <p:cNvPr id="58385" name="Rectangle 17"/>
          <p:cNvSpPr>
            <a:spLocks/>
          </p:cNvSpPr>
          <p:nvPr/>
        </p:nvSpPr>
        <p:spPr bwMode="auto">
          <a:xfrm>
            <a:off x="6659563" y="4724400"/>
            <a:ext cx="862012" cy="3603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GB" altLang="en-US" sz="1600" b="1">
                <a:cs typeface="Arial" panose="020B0604020202020204" pitchFamily="34" charset="0"/>
              </a:rPr>
              <a:t>ICMP</a:t>
            </a:r>
          </a:p>
        </p:txBody>
      </p:sp>
      <p:sp>
        <p:nvSpPr>
          <p:cNvPr id="58386" name="Rectangle 18"/>
          <p:cNvSpPr>
            <a:spLocks/>
          </p:cNvSpPr>
          <p:nvPr/>
        </p:nvSpPr>
        <p:spPr bwMode="auto">
          <a:xfrm>
            <a:off x="3924300" y="5445125"/>
            <a:ext cx="1657350" cy="3603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GB" altLang="en-US" sz="1600" b="1">
                <a:cs typeface="Arial" panose="020B0604020202020204" pitchFamily="34" charset="0"/>
              </a:rPr>
              <a:t>ETHERNET</a:t>
            </a:r>
          </a:p>
        </p:txBody>
      </p:sp>
      <p:sp>
        <p:nvSpPr>
          <p:cNvPr id="58387" name="Rectangle 19"/>
          <p:cNvSpPr>
            <a:spLocks/>
          </p:cNvSpPr>
          <p:nvPr/>
        </p:nvSpPr>
        <p:spPr bwMode="auto">
          <a:xfrm>
            <a:off x="6446838" y="5445125"/>
            <a:ext cx="1654175" cy="3603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GB" altLang="en-US" sz="1600" b="1">
                <a:cs typeface="Arial" panose="020B0604020202020204" pitchFamily="34" charset="0"/>
              </a:rPr>
              <a:t>PACKET RADIO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Protocols at the application layer</a:t>
            </a:r>
            <a:endParaRPr lang="en-US" altLang="en-US"/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GB" altLang="en-US" sz="1800"/>
              <a:t>HTTP:  </a:t>
            </a:r>
          </a:p>
          <a:p>
            <a:pPr lvl="1">
              <a:lnSpc>
                <a:spcPct val="80000"/>
              </a:lnSpc>
            </a:pPr>
            <a:r>
              <a:rPr lang="en-GB" altLang="en-US" sz="1600"/>
              <a:t> browser and web server communicatin</a:t>
            </a:r>
          </a:p>
          <a:p>
            <a:pPr>
              <a:lnSpc>
                <a:spcPct val="80000"/>
              </a:lnSpc>
            </a:pPr>
            <a:r>
              <a:rPr lang="en-GB" altLang="en-US" sz="1800"/>
              <a:t>FTP :</a:t>
            </a:r>
          </a:p>
          <a:p>
            <a:pPr lvl="1">
              <a:lnSpc>
                <a:spcPct val="80000"/>
              </a:lnSpc>
            </a:pPr>
            <a:r>
              <a:rPr lang="en-GB" altLang="en-US" sz="1600"/>
              <a:t>  file transfer protocol</a:t>
            </a:r>
          </a:p>
          <a:p>
            <a:pPr>
              <a:lnSpc>
                <a:spcPct val="80000"/>
              </a:lnSpc>
            </a:pPr>
            <a:r>
              <a:rPr lang="en-GB" altLang="en-US" sz="1800"/>
              <a:t>TELNET: </a:t>
            </a:r>
          </a:p>
          <a:p>
            <a:pPr lvl="1">
              <a:lnSpc>
                <a:spcPct val="80000"/>
              </a:lnSpc>
            </a:pPr>
            <a:r>
              <a:rPr lang="en-GB" altLang="en-US" sz="1600"/>
              <a:t> remote login protocol</a:t>
            </a:r>
          </a:p>
          <a:p>
            <a:pPr>
              <a:lnSpc>
                <a:spcPct val="80000"/>
              </a:lnSpc>
            </a:pPr>
            <a:r>
              <a:rPr lang="en-GB" altLang="en-US" sz="1800"/>
              <a:t>POP3:   Retrieve email </a:t>
            </a:r>
          </a:p>
          <a:p>
            <a:pPr lvl="1">
              <a:lnSpc>
                <a:spcPct val="80000"/>
              </a:lnSpc>
            </a:pPr>
            <a:r>
              <a:rPr lang="en-US" altLang="en-US" sz="1600"/>
              <a:t>POP3 is designed to delete mail on the server as soon as the user has downloaded it </a:t>
            </a:r>
            <a:endParaRPr lang="en-GB" altLang="en-US" sz="1600"/>
          </a:p>
          <a:p>
            <a:pPr lvl="1">
              <a:lnSpc>
                <a:spcPct val="80000"/>
              </a:lnSpc>
            </a:pPr>
            <a:endParaRPr lang="en-GB" altLang="en-US" sz="1600"/>
          </a:p>
          <a:p>
            <a:pPr>
              <a:lnSpc>
                <a:spcPct val="80000"/>
              </a:lnSpc>
            </a:pPr>
            <a:r>
              <a:rPr lang="en-GB" altLang="en-US" sz="1800"/>
              <a:t>IMAP (</a:t>
            </a:r>
            <a:r>
              <a:rPr lang="en-US" altLang="en-US" sz="1800"/>
              <a:t>Internet Message Access Protocol </a:t>
            </a:r>
            <a:r>
              <a:rPr lang="en-GB" altLang="en-US" sz="1800"/>
              <a:t>) </a:t>
            </a:r>
          </a:p>
          <a:p>
            <a:pPr lvl="1">
              <a:lnSpc>
                <a:spcPct val="80000"/>
              </a:lnSpc>
            </a:pPr>
            <a:r>
              <a:rPr lang="en-GB" altLang="en-US" sz="1600"/>
              <a:t> Retrieve emails,</a:t>
            </a:r>
          </a:p>
          <a:p>
            <a:pPr lvl="1">
              <a:lnSpc>
                <a:spcPct val="80000"/>
              </a:lnSpc>
            </a:pPr>
            <a:r>
              <a:rPr lang="en-GB" altLang="en-US" sz="1600"/>
              <a:t> </a:t>
            </a:r>
            <a:r>
              <a:rPr lang="en-US" altLang="en-US" sz="1600"/>
              <a:t>retaining e-mail on the server and for organizing it in folders on the serve </a:t>
            </a:r>
            <a:endParaRPr lang="en-GB" altLang="en-US" sz="1600"/>
          </a:p>
          <a:p>
            <a:pPr>
              <a:lnSpc>
                <a:spcPct val="80000"/>
              </a:lnSpc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Protocols at the transport layer</a:t>
            </a:r>
            <a:endParaRPr lang="en-US" altLang="en-US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en-US" altLang="en-US"/>
              <a:t>Transmission control protocol (TCP), </a:t>
            </a:r>
          </a:p>
          <a:p>
            <a:pPr lvl="3"/>
            <a:r>
              <a:rPr lang="en-GB" altLang="en-US"/>
              <a:t>Connection oriented</a:t>
            </a:r>
          </a:p>
          <a:p>
            <a:pPr lvl="4"/>
            <a:r>
              <a:rPr lang="en-GB" altLang="en-US"/>
              <a:t>Connection established before sending data</a:t>
            </a:r>
          </a:p>
          <a:p>
            <a:pPr lvl="4"/>
            <a:r>
              <a:rPr lang="en-GB" altLang="en-US"/>
              <a:t>Reliable </a:t>
            </a:r>
            <a:endParaRPr lang="en-US" altLang="en-US"/>
          </a:p>
          <a:p>
            <a:pPr lvl="2"/>
            <a:r>
              <a:rPr lang="en-US" altLang="en-US"/>
              <a:t>user datagram protocol (UDP)</a:t>
            </a:r>
          </a:p>
          <a:p>
            <a:pPr lvl="3"/>
            <a:r>
              <a:rPr lang="en-US" altLang="en-US"/>
              <a:t>Connectionless  </a:t>
            </a:r>
          </a:p>
          <a:p>
            <a:pPr lvl="4"/>
            <a:r>
              <a:rPr lang="en-GB" altLang="en-US"/>
              <a:t>Sending data without establishing connection</a:t>
            </a:r>
          </a:p>
          <a:p>
            <a:pPr lvl="4"/>
            <a:r>
              <a:rPr lang="en-GB" altLang="en-US"/>
              <a:t>Fast but unreliable</a:t>
            </a:r>
            <a:endParaRPr lang="en-US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Protocol at the network layer</a:t>
            </a:r>
            <a:endParaRPr lang="en-US" altLang="en-US"/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IP </a:t>
            </a:r>
          </a:p>
          <a:p>
            <a:pPr lvl="1"/>
            <a:r>
              <a:rPr lang="en-GB" altLang="en-US"/>
              <a:t>Path selection ,</a:t>
            </a:r>
          </a:p>
          <a:p>
            <a:pPr lvl="1"/>
            <a:r>
              <a:rPr lang="en-GB" altLang="en-US"/>
              <a:t>routing and addressing </a:t>
            </a:r>
          </a:p>
          <a:p>
            <a:r>
              <a:rPr lang="en-GB" altLang="en-US"/>
              <a:t>ICMP (</a:t>
            </a:r>
            <a:r>
              <a:rPr lang="en-US" altLang="en-US"/>
              <a:t>Internet Control Message Protocol </a:t>
            </a:r>
            <a:r>
              <a:rPr lang="en-GB" altLang="en-US"/>
              <a:t>)</a:t>
            </a:r>
          </a:p>
          <a:p>
            <a:pPr lvl="1"/>
            <a:r>
              <a:rPr lang="en-US" altLang="en-US"/>
              <a:t>sends error messages relying on IP</a:t>
            </a:r>
          </a:p>
          <a:p>
            <a:pPr lvl="2"/>
            <a:r>
              <a:rPr lang="en-US" altLang="en-US"/>
              <a:t>a requested service is not available </a:t>
            </a:r>
          </a:p>
          <a:p>
            <a:pPr lvl="2"/>
            <a:r>
              <a:rPr lang="en-US" altLang="en-US"/>
              <a:t>a host or router could not be reached </a:t>
            </a:r>
          </a:p>
          <a:p>
            <a:pPr lvl="2"/>
            <a:endParaRPr lang="en-GB" altLang="en-US"/>
          </a:p>
          <a:p>
            <a:pPr lvl="1"/>
            <a:endParaRPr lang="en-GB" altLang="en-US"/>
          </a:p>
          <a:p>
            <a:pPr lvl="1"/>
            <a:endParaRPr lang="en-GB" altLang="en-US"/>
          </a:p>
          <a:p>
            <a:pPr lvl="1"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Protocols at the link layer</a:t>
            </a:r>
            <a:endParaRPr lang="en-US" altLang="en-US"/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Ethernet </a:t>
            </a:r>
          </a:p>
          <a:p>
            <a:pPr lvl="1"/>
            <a:r>
              <a:rPr lang="en-GB" altLang="en-US"/>
              <a:t>Uses  </a:t>
            </a:r>
            <a:r>
              <a:rPr lang="en-US" altLang="en-US"/>
              <a:t>CSMA/CD </a:t>
            </a:r>
          </a:p>
          <a:p>
            <a:r>
              <a:rPr lang="en-GB" altLang="en-US"/>
              <a:t>Token Ring </a:t>
            </a:r>
          </a:p>
          <a:p>
            <a:pPr lvl="1">
              <a:buFontTx/>
              <a:buNone/>
            </a:pPr>
            <a:r>
              <a:rPr lang="en-US" altLang="en-US"/>
              <a:t>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Formats 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0" y="2492896"/>
            <a:ext cx="8763000" cy="3200400"/>
            <a:chOff x="0" y="2133600"/>
            <a:chExt cx="8763000" cy="3200400"/>
          </a:xfrm>
        </p:grpSpPr>
        <p:sp>
          <p:nvSpPr>
            <p:cNvPr id="70659" name="Rectangle 3"/>
            <p:cNvSpPr>
              <a:spLocks noChangeArrowheads="1"/>
            </p:cNvSpPr>
            <p:nvPr/>
          </p:nvSpPr>
          <p:spPr bwMode="auto">
            <a:xfrm>
              <a:off x="2819400" y="2133600"/>
              <a:ext cx="3657600" cy="3810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>
                  <a:latin typeface="Tahoma" panose="020B0604030504040204" pitchFamily="34" charset="0"/>
                </a:rPr>
                <a:t>Application data</a:t>
              </a:r>
            </a:p>
          </p:txBody>
        </p:sp>
        <p:sp>
          <p:nvSpPr>
            <p:cNvPr id="70660" name="Rectangle 4"/>
            <p:cNvSpPr>
              <a:spLocks noChangeArrowheads="1"/>
            </p:cNvSpPr>
            <p:nvPr/>
          </p:nvSpPr>
          <p:spPr bwMode="auto">
            <a:xfrm>
              <a:off x="2286000" y="3048000"/>
              <a:ext cx="990600" cy="3810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>
                  <a:latin typeface="Tahoma" panose="020B0604030504040204" pitchFamily="34" charset="0"/>
                </a:rPr>
                <a:t>data</a:t>
              </a:r>
            </a:p>
          </p:txBody>
        </p:sp>
        <p:sp>
          <p:nvSpPr>
            <p:cNvPr id="70661" name="Rectangle 5"/>
            <p:cNvSpPr>
              <a:spLocks noChangeArrowheads="1"/>
            </p:cNvSpPr>
            <p:nvPr/>
          </p:nvSpPr>
          <p:spPr bwMode="auto">
            <a:xfrm>
              <a:off x="1676400" y="3048000"/>
              <a:ext cx="609600" cy="381000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7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200">
                  <a:latin typeface="Tahoma" panose="020B0604030504040204" pitchFamily="34" charset="0"/>
                </a:rPr>
                <a:t>TCP</a:t>
              </a:r>
            </a:p>
            <a:p>
              <a:pPr algn="ctr">
                <a:lnSpc>
                  <a:spcPct val="7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200">
                  <a:latin typeface="Tahoma" panose="020B0604030504040204" pitchFamily="34" charset="0"/>
                </a:rPr>
                <a:t>header</a:t>
              </a:r>
            </a:p>
          </p:txBody>
        </p:sp>
        <p:sp>
          <p:nvSpPr>
            <p:cNvPr id="70662" name="Rectangle 6"/>
            <p:cNvSpPr>
              <a:spLocks noChangeArrowheads="1"/>
            </p:cNvSpPr>
            <p:nvPr/>
          </p:nvSpPr>
          <p:spPr bwMode="auto">
            <a:xfrm>
              <a:off x="4343400" y="3048000"/>
              <a:ext cx="990600" cy="3810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>
                  <a:latin typeface="Tahoma" panose="020B0604030504040204" pitchFamily="34" charset="0"/>
                </a:rPr>
                <a:t>data</a:t>
              </a:r>
            </a:p>
          </p:txBody>
        </p:sp>
        <p:sp>
          <p:nvSpPr>
            <p:cNvPr id="70663" name="Rectangle 7"/>
            <p:cNvSpPr>
              <a:spLocks noChangeArrowheads="1"/>
            </p:cNvSpPr>
            <p:nvPr/>
          </p:nvSpPr>
          <p:spPr bwMode="auto">
            <a:xfrm>
              <a:off x="3733800" y="3048000"/>
              <a:ext cx="609600" cy="381000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7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200">
                  <a:latin typeface="Tahoma" panose="020B0604030504040204" pitchFamily="34" charset="0"/>
                </a:rPr>
                <a:t>TCP</a:t>
              </a:r>
            </a:p>
            <a:p>
              <a:pPr algn="ctr">
                <a:lnSpc>
                  <a:spcPct val="7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200">
                  <a:latin typeface="Tahoma" panose="020B0604030504040204" pitchFamily="34" charset="0"/>
                </a:rPr>
                <a:t>header</a:t>
              </a:r>
            </a:p>
          </p:txBody>
        </p:sp>
        <p:sp>
          <p:nvSpPr>
            <p:cNvPr id="70664" name="Rectangle 8"/>
            <p:cNvSpPr>
              <a:spLocks noChangeArrowheads="1"/>
            </p:cNvSpPr>
            <p:nvPr/>
          </p:nvSpPr>
          <p:spPr bwMode="auto">
            <a:xfrm>
              <a:off x="6324600" y="3048000"/>
              <a:ext cx="990600" cy="3810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>
                  <a:latin typeface="Tahoma" panose="020B0604030504040204" pitchFamily="34" charset="0"/>
                </a:rPr>
                <a:t>data</a:t>
              </a:r>
            </a:p>
          </p:txBody>
        </p:sp>
        <p:sp>
          <p:nvSpPr>
            <p:cNvPr id="70665" name="Rectangle 9"/>
            <p:cNvSpPr>
              <a:spLocks noChangeArrowheads="1"/>
            </p:cNvSpPr>
            <p:nvPr/>
          </p:nvSpPr>
          <p:spPr bwMode="auto">
            <a:xfrm>
              <a:off x="5715000" y="3048000"/>
              <a:ext cx="609600" cy="381000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7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200">
                  <a:latin typeface="Tahoma" panose="020B0604030504040204" pitchFamily="34" charset="0"/>
                </a:rPr>
                <a:t>TCP</a:t>
              </a:r>
            </a:p>
            <a:p>
              <a:pPr algn="ctr">
                <a:lnSpc>
                  <a:spcPct val="7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200">
                  <a:latin typeface="Tahoma" panose="020B0604030504040204" pitchFamily="34" charset="0"/>
                </a:rPr>
                <a:t>header</a:t>
              </a:r>
            </a:p>
          </p:txBody>
        </p:sp>
        <p:sp>
          <p:nvSpPr>
            <p:cNvPr id="70666" name="Rectangle 10"/>
            <p:cNvSpPr>
              <a:spLocks noChangeArrowheads="1"/>
            </p:cNvSpPr>
            <p:nvPr/>
          </p:nvSpPr>
          <p:spPr bwMode="auto">
            <a:xfrm>
              <a:off x="4343400" y="3962400"/>
              <a:ext cx="990600" cy="3810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dirty="0">
                  <a:latin typeface="Tahoma" panose="020B0604030504040204" pitchFamily="34" charset="0"/>
                </a:rPr>
                <a:t>data</a:t>
              </a:r>
            </a:p>
          </p:txBody>
        </p:sp>
        <p:sp>
          <p:nvSpPr>
            <p:cNvPr id="70667" name="Rectangle 11"/>
            <p:cNvSpPr>
              <a:spLocks noChangeArrowheads="1"/>
            </p:cNvSpPr>
            <p:nvPr/>
          </p:nvSpPr>
          <p:spPr bwMode="auto">
            <a:xfrm>
              <a:off x="3733800" y="3962400"/>
              <a:ext cx="609600" cy="381000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7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200" dirty="0">
                  <a:latin typeface="Tahoma" panose="020B0604030504040204" pitchFamily="34" charset="0"/>
                </a:rPr>
                <a:t>TCP</a:t>
              </a:r>
            </a:p>
            <a:p>
              <a:pPr algn="ctr">
                <a:lnSpc>
                  <a:spcPct val="7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200" dirty="0">
                  <a:latin typeface="Tahoma" panose="020B0604030504040204" pitchFamily="34" charset="0"/>
                </a:rPr>
                <a:t>header</a:t>
              </a:r>
            </a:p>
          </p:txBody>
        </p:sp>
        <p:sp>
          <p:nvSpPr>
            <p:cNvPr id="70668" name="Rectangle 12"/>
            <p:cNvSpPr>
              <a:spLocks noChangeArrowheads="1"/>
            </p:cNvSpPr>
            <p:nvPr/>
          </p:nvSpPr>
          <p:spPr bwMode="auto">
            <a:xfrm>
              <a:off x="3124200" y="3962400"/>
              <a:ext cx="609600" cy="381000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7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200">
                  <a:latin typeface="Tahoma" panose="020B0604030504040204" pitchFamily="34" charset="0"/>
                </a:rPr>
                <a:t>IP</a:t>
              </a:r>
            </a:p>
            <a:p>
              <a:pPr algn="ctr">
                <a:lnSpc>
                  <a:spcPct val="7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200">
                  <a:latin typeface="Tahoma" panose="020B0604030504040204" pitchFamily="34" charset="0"/>
                </a:rPr>
                <a:t>header</a:t>
              </a:r>
            </a:p>
          </p:txBody>
        </p:sp>
        <p:sp>
          <p:nvSpPr>
            <p:cNvPr id="70669" name="Rectangle 13"/>
            <p:cNvSpPr>
              <a:spLocks noChangeArrowheads="1"/>
            </p:cNvSpPr>
            <p:nvPr/>
          </p:nvSpPr>
          <p:spPr bwMode="auto">
            <a:xfrm>
              <a:off x="4343400" y="4876800"/>
              <a:ext cx="990600" cy="3810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>
                  <a:latin typeface="Tahoma" panose="020B0604030504040204" pitchFamily="34" charset="0"/>
                </a:rPr>
                <a:t>data</a:t>
              </a:r>
            </a:p>
          </p:txBody>
        </p:sp>
        <p:sp>
          <p:nvSpPr>
            <p:cNvPr id="70670" name="Rectangle 14"/>
            <p:cNvSpPr>
              <a:spLocks noChangeArrowheads="1"/>
            </p:cNvSpPr>
            <p:nvPr/>
          </p:nvSpPr>
          <p:spPr bwMode="auto">
            <a:xfrm>
              <a:off x="3733800" y="4876800"/>
              <a:ext cx="609600" cy="381000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7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200">
                  <a:latin typeface="Tahoma" panose="020B0604030504040204" pitchFamily="34" charset="0"/>
                </a:rPr>
                <a:t>TCP</a:t>
              </a:r>
            </a:p>
            <a:p>
              <a:pPr algn="ctr">
                <a:lnSpc>
                  <a:spcPct val="7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200">
                  <a:latin typeface="Tahoma" panose="020B0604030504040204" pitchFamily="34" charset="0"/>
                </a:rPr>
                <a:t>header</a:t>
              </a:r>
            </a:p>
          </p:txBody>
        </p:sp>
        <p:sp>
          <p:nvSpPr>
            <p:cNvPr id="70671" name="Rectangle 15"/>
            <p:cNvSpPr>
              <a:spLocks noChangeArrowheads="1"/>
            </p:cNvSpPr>
            <p:nvPr/>
          </p:nvSpPr>
          <p:spPr bwMode="auto">
            <a:xfrm>
              <a:off x="3124200" y="4876800"/>
              <a:ext cx="609600" cy="381000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7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200">
                  <a:latin typeface="Tahoma" panose="020B0604030504040204" pitchFamily="34" charset="0"/>
                </a:rPr>
                <a:t>IP</a:t>
              </a:r>
            </a:p>
            <a:p>
              <a:pPr algn="ctr">
                <a:lnSpc>
                  <a:spcPct val="7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200">
                  <a:latin typeface="Tahoma" panose="020B0604030504040204" pitchFamily="34" charset="0"/>
                </a:rPr>
                <a:t>header</a:t>
              </a:r>
            </a:p>
          </p:txBody>
        </p:sp>
        <p:sp>
          <p:nvSpPr>
            <p:cNvPr id="70672" name="Rectangle 16"/>
            <p:cNvSpPr>
              <a:spLocks noChangeArrowheads="1"/>
            </p:cNvSpPr>
            <p:nvPr/>
          </p:nvSpPr>
          <p:spPr bwMode="auto">
            <a:xfrm>
              <a:off x="2286000" y="4876800"/>
              <a:ext cx="838200" cy="381000"/>
            </a:xfrm>
            <a:prstGeom prst="rect">
              <a:avLst/>
            </a:prstGeom>
            <a:solidFill>
              <a:srgbClr val="9900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7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200">
                  <a:latin typeface="Tahoma" panose="020B0604030504040204" pitchFamily="34" charset="0"/>
                </a:rPr>
                <a:t>Ethernet</a:t>
              </a:r>
            </a:p>
            <a:p>
              <a:pPr algn="ctr">
                <a:lnSpc>
                  <a:spcPct val="7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200">
                  <a:latin typeface="Tahoma" panose="020B0604030504040204" pitchFamily="34" charset="0"/>
                </a:rPr>
                <a:t>header</a:t>
              </a:r>
            </a:p>
          </p:txBody>
        </p:sp>
        <p:sp>
          <p:nvSpPr>
            <p:cNvPr id="70673" name="Rectangle 17"/>
            <p:cNvSpPr>
              <a:spLocks noChangeArrowheads="1"/>
            </p:cNvSpPr>
            <p:nvPr/>
          </p:nvSpPr>
          <p:spPr bwMode="auto">
            <a:xfrm>
              <a:off x="5334000" y="4876800"/>
              <a:ext cx="838200" cy="381000"/>
            </a:xfrm>
            <a:prstGeom prst="rect">
              <a:avLst/>
            </a:prstGeom>
            <a:solidFill>
              <a:srgbClr val="9900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7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200">
                  <a:latin typeface="Tahoma" panose="020B0604030504040204" pitchFamily="34" charset="0"/>
                </a:rPr>
                <a:t>Ethernet</a:t>
              </a:r>
            </a:p>
            <a:p>
              <a:pPr algn="ctr">
                <a:lnSpc>
                  <a:spcPct val="7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200">
                  <a:latin typeface="Tahoma" panose="020B0604030504040204" pitchFamily="34" charset="0"/>
                </a:rPr>
                <a:t>trailer</a:t>
              </a:r>
            </a:p>
          </p:txBody>
        </p:sp>
        <p:sp>
          <p:nvSpPr>
            <p:cNvPr id="70674" name="Text Box 18"/>
            <p:cNvSpPr txBox="1">
              <a:spLocks noChangeArrowheads="1"/>
            </p:cNvSpPr>
            <p:nvPr/>
          </p:nvSpPr>
          <p:spPr bwMode="auto">
            <a:xfrm>
              <a:off x="0" y="2276475"/>
              <a:ext cx="1146175" cy="5318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600">
                  <a:latin typeface="Tahoma" panose="020B0604030504040204" pitchFamily="34" charset="0"/>
                </a:rPr>
                <a:t>application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600">
                  <a:latin typeface="Tahoma" panose="020B0604030504040204" pitchFamily="34" charset="0"/>
                </a:rPr>
                <a:t>layer</a:t>
              </a:r>
            </a:p>
          </p:txBody>
        </p:sp>
        <p:sp>
          <p:nvSpPr>
            <p:cNvPr id="70675" name="Text Box 19"/>
            <p:cNvSpPr txBox="1">
              <a:spLocks noChangeArrowheads="1"/>
            </p:cNvSpPr>
            <p:nvPr/>
          </p:nvSpPr>
          <p:spPr bwMode="auto">
            <a:xfrm>
              <a:off x="219075" y="2973388"/>
              <a:ext cx="1000125" cy="5318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600">
                  <a:latin typeface="Tahoma" panose="020B0604030504040204" pitchFamily="34" charset="0"/>
                </a:rPr>
                <a:t>transport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600">
                  <a:latin typeface="Tahoma" panose="020B0604030504040204" pitchFamily="34" charset="0"/>
                </a:rPr>
                <a:t>layer</a:t>
              </a:r>
            </a:p>
          </p:txBody>
        </p:sp>
        <p:sp>
          <p:nvSpPr>
            <p:cNvPr id="70676" name="Text Box 20"/>
            <p:cNvSpPr txBox="1">
              <a:spLocks noChangeArrowheads="1"/>
            </p:cNvSpPr>
            <p:nvPr/>
          </p:nvSpPr>
          <p:spPr bwMode="auto">
            <a:xfrm>
              <a:off x="274638" y="3887788"/>
              <a:ext cx="908050" cy="5318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600">
                  <a:latin typeface="Tahoma" panose="020B0604030504040204" pitchFamily="34" charset="0"/>
                </a:rPr>
                <a:t>network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600">
                  <a:latin typeface="Tahoma" panose="020B0604030504040204" pitchFamily="34" charset="0"/>
                </a:rPr>
                <a:t>layer</a:t>
              </a:r>
            </a:p>
          </p:txBody>
        </p:sp>
        <p:sp>
          <p:nvSpPr>
            <p:cNvPr id="70677" name="Text Box 21"/>
            <p:cNvSpPr txBox="1">
              <a:spLocks noChangeArrowheads="1"/>
            </p:cNvSpPr>
            <p:nvPr/>
          </p:nvSpPr>
          <p:spPr bwMode="auto">
            <a:xfrm>
              <a:off x="282575" y="4802188"/>
              <a:ext cx="947738" cy="5318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600">
                  <a:latin typeface="Tahoma" panose="020B0604030504040204" pitchFamily="34" charset="0"/>
                </a:rPr>
                <a:t>data link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600">
                  <a:latin typeface="Tahoma" panose="020B0604030504040204" pitchFamily="34" charset="0"/>
                </a:rPr>
                <a:t>layer</a:t>
              </a:r>
            </a:p>
          </p:txBody>
        </p:sp>
        <p:sp>
          <p:nvSpPr>
            <p:cNvPr id="70678" name="Text Box 22"/>
            <p:cNvSpPr txBox="1">
              <a:spLocks noChangeArrowheads="1"/>
            </p:cNvSpPr>
            <p:nvPr/>
          </p:nvSpPr>
          <p:spPr bwMode="auto">
            <a:xfrm>
              <a:off x="7794625" y="2151063"/>
              <a:ext cx="968375" cy="287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600" i="1">
                  <a:latin typeface="Tahoma" panose="020B0604030504040204" pitchFamily="34" charset="0"/>
                </a:rPr>
                <a:t>message</a:t>
              </a:r>
            </a:p>
          </p:txBody>
        </p:sp>
        <p:sp>
          <p:nvSpPr>
            <p:cNvPr id="70679" name="Text Box 23"/>
            <p:cNvSpPr txBox="1">
              <a:spLocks noChangeArrowheads="1"/>
            </p:cNvSpPr>
            <p:nvPr/>
          </p:nvSpPr>
          <p:spPr bwMode="auto">
            <a:xfrm>
              <a:off x="7783513" y="3065463"/>
              <a:ext cx="952500" cy="287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600" i="1">
                  <a:latin typeface="Tahoma" panose="020B0604030504040204" pitchFamily="34" charset="0"/>
                </a:rPr>
                <a:t>segment</a:t>
              </a:r>
            </a:p>
          </p:txBody>
        </p:sp>
        <p:sp>
          <p:nvSpPr>
            <p:cNvPr id="70680" name="Text Box 24"/>
            <p:cNvSpPr txBox="1">
              <a:spLocks noChangeArrowheads="1"/>
            </p:cNvSpPr>
            <p:nvPr/>
          </p:nvSpPr>
          <p:spPr bwMode="auto">
            <a:xfrm>
              <a:off x="7904163" y="3979863"/>
              <a:ext cx="773112" cy="287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600" i="1">
                  <a:latin typeface="Tahoma" panose="020B0604030504040204" pitchFamily="34" charset="0"/>
                </a:rPr>
                <a:t>packet</a:t>
              </a:r>
            </a:p>
          </p:txBody>
        </p:sp>
        <p:sp>
          <p:nvSpPr>
            <p:cNvPr id="70681" name="Text Box 25"/>
            <p:cNvSpPr txBox="1">
              <a:spLocks noChangeArrowheads="1"/>
            </p:cNvSpPr>
            <p:nvPr/>
          </p:nvSpPr>
          <p:spPr bwMode="auto">
            <a:xfrm>
              <a:off x="7959725" y="4894263"/>
              <a:ext cx="706438" cy="287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600" i="1">
                  <a:latin typeface="Tahoma" panose="020B0604030504040204" pitchFamily="34" charset="0"/>
                </a:rPr>
                <a:t>frame</a:t>
              </a:r>
            </a:p>
          </p:txBody>
        </p:sp>
        <p:sp>
          <p:nvSpPr>
            <p:cNvPr id="70682" name="Line 26"/>
            <p:cNvSpPr>
              <a:spLocks noChangeShapeType="1"/>
            </p:cNvSpPr>
            <p:nvPr/>
          </p:nvSpPr>
          <p:spPr bwMode="auto">
            <a:xfrm flipH="1">
              <a:off x="2286000" y="2514600"/>
              <a:ext cx="533400" cy="533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83" name="Line 27"/>
            <p:cNvSpPr>
              <a:spLocks noChangeShapeType="1"/>
            </p:cNvSpPr>
            <p:nvPr/>
          </p:nvSpPr>
          <p:spPr bwMode="auto">
            <a:xfrm flipH="1">
              <a:off x="3276600" y="2514600"/>
              <a:ext cx="838200" cy="533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84" name="Line 28"/>
            <p:cNvSpPr>
              <a:spLocks noChangeShapeType="1"/>
            </p:cNvSpPr>
            <p:nvPr/>
          </p:nvSpPr>
          <p:spPr bwMode="auto">
            <a:xfrm>
              <a:off x="4114800" y="2514600"/>
              <a:ext cx="228600" cy="533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85" name="Line 29"/>
            <p:cNvSpPr>
              <a:spLocks noChangeShapeType="1"/>
            </p:cNvSpPr>
            <p:nvPr/>
          </p:nvSpPr>
          <p:spPr bwMode="auto">
            <a:xfrm flipH="1">
              <a:off x="5334000" y="2514600"/>
              <a:ext cx="0" cy="533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86" name="Line 30"/>
            <p:cNvSpPr>
              <a:spLocks noChangeShapeType="1"/>
            </p:cNvSpPr>
            <p:nvPr/>
          </p:nvSpPr>
          <p:spPr bwMode="auto">
            <a:xfrm>
              <a:off x="5334000" y="2514600"/>
              <a:ext cx="990600" cy="533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87" name="Line 31"/>
            <p:cNvSpPr>
              <a:spLocks noChangeShapeType="1"/>
            </p:cNvSpPr>
            <p:nvPr/>
          </p:nvSpPr>
          <p:spPr bwMode="auto">
            <a:xfrm>
              <a:off x="6477000" y="2514600"/>
              <a:ext cx="838200" cy="533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88" name="Line 32"/>
            <p:cNvSpPr>
              <a:spLocks noChangeShapeType="1"/>
            </p:cNvSpPr>
            <p:nvPr/>
          </p:nvSpPr>
          <p:spPr bwMode="auto">
            <a:xfrm>
              <a:off x="3733800" y="3429000"/>
              <a:ext cx="0" cy="5508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89" name="Line 33"/>
            <p:cNvSpPr>
              <a:spLocks noChangeShapeType="1"/>
            </p:cNvSpPr>
            <p:nvPr/>
          </p:nvSpPr>
          <p:spPr bwMode="auto">
            <a:xfrm>
              <a:off x="5334000" y="3429000"/>
              <a:ext cx="0" cy="5508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90" name="Line 34"/>
            <p:cNvSpPr>
              <a:spLocks noChangeShapeType="1"/>
            </p:cNvSpPr>
            <p:nvPr/>
          </p:nvSpPr>
          <p:spPr bwMode="auto">
            <a:xfrm>
              <a:off x="5334000" y="4325938"/>
              <a:ext cx="0" cy="5508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91" name="Line 35"/>
            <p:cNvSpPr>
              <a:spLocks noChangeShapeType="1"/>
            </p:cNvSpPr>
            <p:nvPr/>
          </p:nvSpPr>
          <p:spPr bwMode="auto">
            <a:xfrm>
              <a:off x="3124200" y="4325938"/>
              <a:ext cx="0" cy="5508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Encapsulation In TCP/IP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2492896"/>
            <a:ext cx="7848600" cy="3451448"/>
          </a:xfrm>
        </p:spPr>
        <p:txBody>
          <a:bodyPr/>
          <a:lstStyle/>
          <a:p>
            <a:pPr>
              <a:lnSpc>
                <a:spcPct val="95000"/>
              </a:lnSpc>
            </a:pPr>
            <a:r>
              <a:rPr lang="en-US" altLang="en-US" sz="1800" dirty="0"/>
              <a:t>At each layer in the TCP/IP protocol stack</a:t>
            </a:r>
          </a:p>
          <a:p>
            <a:pPr lvl="2"/>
            <a:r>
              <a:rPr lang="en-US" altLang="en-US" sz="1600" dirty="0"/>
              <a:t>Outgoing data is packaged and identified for delivery to the layer underneath</a:t>
            </a:r>
          </a:p>
          <a:p>
            <a:pPr>
              <a:lnSpc>
                <a:spcPct val="95000"/>
              </a:lnSpc>
            </a:pPr>
            <a:r>
              <a:rPr lang="en-US" altLang="en-US" sz="1800" dirty="0"/>
              <a:t>PDU – Packet Data Unit – the “envelop” information attached to a packet at a particular TCP/IP protocol </a:t>
            </a:r>
          </a:p>
          <a:p>
            <a:pPr lvl="2"/>
            <a:r>
              <a:rPr lang="en-US" altLang="en-US" sz="1600" dirty="0"/>
              <a:t>e.g. header and trailer</a:t>
            </a:r>
          </a:p>
          <a:p>
            <a:pPr>
              <a:lnSpc>
                <a:spcPct val="95000"/>
              </a:lnSpc>
            </a:pPr>
            <a:r>
              <a:rPr lang="en-US" altLang="en-US" sz="1800" dirty="0"/>
              <a:t>Header</a:t>
            </a:r>
          </a:p>
          <a:p>
            <a:pPr lvl="2"/>
            <a:r>
              <a:rPr lang="en-US" altLang="en-US" sz="1600" dirty="0"/>
              <a:t>PDU’s own particular opening component  </a:t>
            </a:r>
          </a:p>
          <a:p>
            <a:pPr lvl="2"/>
            <a:r>
              <a:rPr lang="en-US" altLang="en-US" sz="1600" dirty="0"/>
              <a:t>Identifies the protocol in use, the sender and intended recipient</a:t>
            </a:r>
          </a:p>
          <a:p>
            <a:pPr>
              <a:lnSpc>
                <a:spcPct val="95000"/>
              </a:lnSpc>
            </a:pPr>
            <a:r>
              <a:rPr lang="en-US" altLang="en-US" sz="1800" dirty="0"/>
              <a:t>Trailer (or packet trailer)</a:t>
            </a:r>
          </a:p>
          <a:p>
            <a:pPr lvl="1"/>
            <a:r>
              <a:rPr lang="en-US" altLang="en-US" sz="1800" dirty="0"/>
              <a:t>Provides data integrity checks for the payload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Encapsulation example: </a:t>
            </a:r>
            <a:r>
              <a:rPr lang="en-US" altLang="en-US">
                <a:solidFill>
                  <a:schemeClr val="accent2"/>
                </a:solidFill>
              </a:rPr>
              <a:t>E-mail</a:t>
            </a:r>
          </a:p>
        </p:txBody>
      </p:sp>
      <p:grpSp>
        <p:nvGrpSpPr>
          <p:cNvPr id="115715" name="Group 3"/>
          <p:cNvGrpSpPr>
            <a:grpSpLocks/>
          </p:cNvGrpSpPr>
          <p:nvPr/>
        </p:nvGrpSpPr>
        <p:grpSpPr bwMode="auto">
          <a:xfrm>
            <a:off x="1043608" y="2348880"/>
            <a:ext cx="6480646" cy="4411464"/>
            <a:chOff x="521" y="1434"/>
            <a:chExt cx="4338" cy="3232"/>
          </a:xfrm>
        </p:grpSpPr>
        <p:pic>
          <p:nvPicPr>
            <p:cNvPr id="115716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" y="1434"/>
              <a:ext cx="2981" cy="9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5717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1" y="1962"/>
              <a:ext cx="2882" cy="4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5718" name="Picture 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7" y="2838"/>
              <a:ext cx="3743" cy="4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5719" name="Picture 7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" y="3306"/>
              <a:ext cx="4290" cy="4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5720" name="Picture 8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9" y="2442"/>
              <a:ext cx="3306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5721" name="Picture 9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" y="3756"/>
              <a:ext cx="4320" cy="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AutoShape 2"/>
          <p:cNvSpPr>
            <a:spLocks noGrp="1" noChangeArrowheads="1"/>
          </p:cNvSpPr>
          <p:nvPr>
            <p:ph type="title"/>
          </p:nvPr>
        </p:nvSpPr>
        <p:spPr>
          <a:xfrm>
            <a:off x="755650" y="549275"/>
            <a:ext cx="7924800" cy="1143000"/>
          </a:xfrm>
        </p:spPr>
        <p:txBody>
          <a:bodyPr/>
          <a:lstStyle/>
          <a:p>
            <a:r>
              <a:rPr lang="en-US" altLang="en-US"/>
              <a:t>Encapsulation</a:t>
            </a:r>
          </a:p>
        </p:txBody>
      </p:sp>
      <p:pic>
        <p:nvPicPr>
          <p:cNvPr id="1177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809" y="2351178"/>
            <a:ext cx="5650396" cy="4427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Group 1"/>
          <p:cNvGrpSpPr/>
          <p:nvPr/>
        </p:nvGrpSpPr>
        <p:grpSpPr>
          <a:xfrm>
            <a:off x="3707904" y="2924944"/>
            <a:ext cx="2160240" cy="2808312"/>
            <a:chOff x="3186113" y="2301875"/>
            <a:chExt cx="2836862" cy="3562350"/>
          </a:xfrm>
        </p:grpSpPr>
        <p:pic>
          <p:nvPicPr>
            <p:cNvPr id="117764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1413" y="2301875"/>
              <a:ext cx="1649412" cy="536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7765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1413" y="2835275"/>
              <a:ext cx="1649412" cy="536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7766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75063" y="3352800"/>
              <a:ext cx="1649412" cy="536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7767" name="Picture 7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75063" y="3881438"/>
              <a:ext cx="1649412" cy="546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7768" name="Picture 8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24300" y="4397375"/>
              <a:ext cx="1395413" cy="5857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7769" name="Picture 9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113" y="4968875"/>
              <a:ext cx="2800350" cy="595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7770" name="Picture 10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4050" y="5649913"/>
              <a:ext cx="2828925" cy="214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AutoShape 2"/>
          <p:cNvSpPr>
            <a:spLocks noGrp="1" noChangeArrowheads="1"/>
          </p:cNvSpPr>
          <p:nvPr>
            <p:ph type="title"/>
          </p:nvPr>
        </p:nvSpPr>
        <p:spPr>
          <a:xfrm>
            <a:off x="2339975" y="-242888"/>
            <a:ext cx="7772400" cy="1143001"/>
          </a:xfrm>
        </p:spPr>
        <p:txBody>
          <a:bodyPr/>
          <a:lstStyle/>
          <a:p>
            <a:r>
              <a:rPr lang="en-US" altLang="ja-JP">
                <a:ea typeface="ＭＳ Ｐゴシック" panose="020B0600070205080204" pitchFamily="34" charset="-128"/>
              </a:rPr>
              <a:t>Packet Encapsulation (TCP/IP)</a:t>
            </a:r>
          </a:p>
        </p:txBody>
      </p:sp>
      <p:pic>
        <p:nvPicPr>
          <p:cNvPr id="166915" name="Picture 3" descr="encapsul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2133600"/>
            <a:ext cx="5268913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6916" name="Text Box 4"/>
          <p:cNvSpPr txBox="1">
            <a:spLocks noChangeArrowheads="1"/>
          </p:cNvSpPr>
          <p:nvPr/>
        </p:nvSpPr>
        <p:spPr bwMode="auto">
          <a:xfrm>
            <a:off x="900113" y="908050"/>
            <a:ext cx="86106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kumimoji="1" lang="en-US" altLang="ja-JP" sz="2400">
                <a:latin typeface="Tahoma" panose="020B0604030504040204" pitchFamily="34" charset="0"/>
                <a:ea typeface="ＭＳ Ｐゴシック" panose="020B0600070205080204" pitchFamily="34" charset="-128"/>
              </a:rPr>
              <a:t> The data is sent down the protocol stack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kumimoji="1" lang="en-US" altLang="ja-JP" sz="2400">
                <a:latin typeface="Tahoma" panose="020B0604030504040204" pitchFamily="34" charset="0"/>
                <a:ea typeface="ＭＳ Ｐゴシック" panose="020B0600070205080204" pitchFamily="34" charset="-128"/>
              </a:rPr>
              <a:t> Each layer adds to the data by prepending headers</a:t>
            </a:r>
          </a:p>
        </p:txBody>
      </p:sp>
      <p:sp>
        <p:nvSpPr>
          <p:cNvPr id="166917" name="Line 5"/>
          <p:cNvSpPr>
            <a:spLocks noChangeShapeType="1"/>
          </p:cNvSpPr>
          <p:nvPr/>
        </p:nvSpPr>
        <p:spPr bwMode="auto">
          <a:xfrm>
            <a:off x="2743200" y="5791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6918" name="Line 6"/>
          <p:cNvSpPr>
            <a:spLocks noChangeShapeType="1"/>
          </p:cNvSpPr>
          <p:nvPr/>
        </p:nvSpPr>
        <p:spPr bwMode="auto">
          <a:xfrm>
            <a:off x="3429000" y="5791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6919" name="Line 7"/>
          <p:cNvSpPr>
            <a:spLocks noChangeShapeType="1"/>
          </p:cNvSpPr>
          <p:nvPr/>
        </p:nvSpPr>
        <p:spPr bwMode="auto">
          <a:xfrm>
            <a:off x="4152900" y="5791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6920" name="Line 8"/>
          <p:cNvSpPr>
            <a:spLocks noChangeShapeType="1"/>
          </p:cNvSpPr>
          <p:nvPr/>
        </p:nvSpPr>
        <p:spPr bwMode="auto">
          <a:xfrm>
            <a:off x="4826000" y="5791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6921" name="Line 9"/>
          <p:cNvSpPr>
            <a:spLocks noChangeShapeType="1"/>
          </p:cNvSpPr>
          <p:nvPr/>
        </p:nvSpPr>
        <p:spPr bwMode="auto">
          <a:xfrm>
            <a:off x="6172200" y="5791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6922" name="Line 10"/>
          <p:cNvSpPr>
            <a:spLocks noChangeShapeType="1"/>
          </p:cNvSpPr>
          <p:nvPr/>
        </p:nvSpPr>
        <p:spPr bwMode="auto">
          <a:xfrm>
            <a:off x="6934200" y="5791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6923" name="Line 11"/>
          <p:cNvSpPr>
            <a:spLocks noChangeShapeType="1"/>
          </p:cNvSpPr>
          <p:nvPr/>
        </p:nvSpPr>
        <p:spPr bwMode="auto">
          <a:xfrm>
            <a:off x="2743200" y="5943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6924" name="Text Box 12"/>
          <p:cNvSpPr txBox="1">
            <a:spLocks noChangeArrowheads="1"/>
          </p:cNvSpPr>
          <p:nvPr/>
        </p:nvSpPr>
        <p:spPr bwMode="auto">
          <a:xfrm>
            <a:off x="2667000" y="5943600"/>
            <a:ext cx="8032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ja-JP" sz="1400">
                <a:latin typeface="Tahoma" panose="020B0604030504040204" pitchFamily="34" charset="0"/>
                <a:ea typeface="ＭＳ Ｐゴシック" panose="020B0600070205080204" pitchFamily="34" charset="-128"/>
              </a:rPr>
              <a:t>22Bytes</a:t>
            </a:r>
          </a:p>
        </p:txBody>
      </p:sp>
      <p:sp>
        <p:nvSpPr>
          <p:cNvPr id="166925" name="Line 13"/>
          <p:cNvSpPr>
            <a:spLocks noChangeShapeType="1"/>
          </p:cNvSpPr>
          <p:nvPr/>
        </p:nvSpPr>
        <p:spPr bwMode="auto">
          <a:xfrm>
            <a:off x="3454400" y="5943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6926" name="Text Box 14"/>
          <p:cNvSpPr txBox="1">
            <a:spLocks noChangeArrowheads="1"/>
          </p:cNvSpPr>
          <p:nvPr/>
        </p:nvSpPr>
        <p:spPr bwMode="auto">
          <a:xfrm>
            <a:off x="3387725" y="5943600"/>
            <a:ext cx="8032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ja-JP" sz="1400">
                <a:latin typeface="Tahoma" panose="020B0604030504040204" pitchFamily="34" charset="0"/>
                <a:ea typeface="ＭＳ Ｐゴシック" panose="020B0600070205080204" pitchFamily="34" charset="-128"/>
              </a:rPr>
              <a:t>20Bytes</a:t>
            </a:r>
          </a:p>
        </p:txBody>
      </p:sp>
      <p:sp>
        <p:nvSpPr>
          <p:cNvPr id="166927" name="Line 15"/>
          <p:cNvSpPr>
            <a:spLocks noChangeShapeType="1"/>
          </p:cNvSpPr>
          <p:nvPr/>
        </p:nvSpPr>
        <p:spPr bwMode="auto">
          <a:xfrm>
            <a:off x="4152900" y="5943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6928" name="Text Box 16"/>
          <p:cNvSpPr txBox="1">
            <a:spLocks noChangeArrowheads="1"/>
          </p:cNvSpPr>
          <p:nvPr/>
        </p:nvSpPr>
        <p:spPr bwMode="auto">
          <a:xfrm>
            <a:off x="4114800" y="5943600"/>
            <a:ext cx="8032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ja-JP" sz="1400">
                <a:latin typeface="Tahoma" panose="020B0604030504040204" pitchFamily="34" charset="0"/>
                <a:ea typeface="ＭＳ Ｐゴシック" panose="020B0600070205080204" pitchFamily="34" charset="-128"/>
              </a:rPr>
              <a:t>20Bytes</a:t>
            </a:r>
          </a:p>
        </p:txBody>
      </p:sp>
      <p:sp>
        <p:nvSpPr>
          <p:cNvPr id="166929" name="Text Box 17"/>
          <p:cNvSpPr txBox="1">
            <a:spLocks noChangeArrowheads="1"/>
          </p:cNvSpPr>
          <p:nvPr/>
        </p:nvSpPr>
        <p:spPr bwMode="auto">
          <a:xfrm>
            <a:off x="6172200" y="5943600"/>
            <a:ext cx="7064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ja-JP" sz="1400">
                <a:latin typeface="Tahoma" panose="020B0604030504040204" pitchFamily="34" charset="0"/>
                <a:ea typeface="ＭＳ Ｐゴシック" panose="020B0600070205080204" pitchFamily="34" charset="-128"/>
              </a:rPr>
              <a:t>4Bytes</a:t>
            </a:r>
          </a:p>
        </p:txBody>
      </p:sp>
      <p:sp>
        <p:nvSpPr>
          <p:cNvPr id="166930" name="Line 18"/>
          <p:cNvSpPr>
            <a:spLocks noChangeShapeType="1"/>
          </p:cNvSpPr>
          <p:nvPr/>
        </p:nvSpPr>
        <p:spPr bwMode="auto">
          <a:xfrm>
            <a:off x="6172200" y="5943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6931" name="Line 19"/>
          <p:cNvSpPr>
            <a:spLocks noChangeShapeType="1"/>
          </p:cNvSpPr>
          <p:nvPr/>
        </p:nvSpPr>
        <p:spPr bwMode="auto">
          <a:xfrm>
            <a:off x="3429000" y="6248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6932" name="Line 20"/>
          <p:cNvSpPr>
            <a:spLocks noChangeShapeType="1"/>
          </p:cNvSpPr>
          <p:nvPr/>
        </p:nvSpPr>
        <p:spPr bwMode="auto">
          <a:xfrm>
            <a:off x="6172200" y="6248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6933" name="Text Box 21"/>
          <p:cNvSpPr txBox="1">
            <a:spLocks noChangeArrowheads="1"/>
          </p:cNvSpPr>
          <p:nvPr/>
        </p:nvSpPr>
        <p:spPr bwMode="auto">
          <a:xfrm>
            <a:off x="4114800" y="6400800"/>
            <a:ext cx="15128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ja-JP" sz="1400">
                <a:latin typeface="Tahoma" panose="020B0604030504040204" pitchFamily="34" charset="0"/>
                <a:ea typeface="ＭＳ Ｐゴシック" panose="020B0600070205080204" pitchFamily="34" charset="-128"/>
              </a:rPr>
              <a:t>64 to 1500 Bytes</a:t>
            </a:r>
          </a:p>
        </p:txBody>
      </p:sp>
      <p:sp>
        <p:nvSpPr>
          <p:cNvPr id="166934" name="Line 22"/>
          <p:cNvSpPr>
            <a:spLocks noChangeShapeType="1"/>
          </p:cNvSpPr>
          <p:nvPr/>
        </p:nvSpPr>
        <p:spPr bwMode="auto">
          <a:xfrm>
            <a:off x="3429000" y="6400800"/>
            <a:ext cx="2743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754" name="Object 2"/>
          <p:cNvGraphicFramePr>
            <a:graphicFrameLocks noChangeAspect="1"/>
          </p:cNvGraphicFramePr>
          <p:nvPr/>
        </p:nvGraphicFramePr>
        <p:xfrm>
          <a:off x="609600" y="950913"/>
          <a:ext cx="8534400" cy="590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6" name="Worksheet" r:id="rId4" imgW="7620238" imgH="5419963" progId="Excel.Sheet.8">
                  <p:embed/>
                </p:oleObj>
              </mc:Choice>
              <mc:Fallback>
                <p:oleObj name="Worksheet" r:id="rId4" imgW="7620238" imgH="5419963" progId="Excel.Shee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950913"/>
                        <a:ext cx="8534400" cy="590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5" name="Text Box 3"/>
          <p:cNvSpPr txBox="1">
            <a:spLocks noChangeArrowheads="1"/>
          </p:cNvSpPr>
          <p:nvPr/>
        </p:nvSpPr>
        <p:spPr bwMode="auto">
          <a:xfrm>
            <a:off x="381000" y="0"/>
            <a:ext cx="822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000" b="1">
                <a:solidFill>
                  <a:srgbClr val="FFFF00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How the OSI and TCP/IP Models Relate in a Networking Environment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Internet applications</a:t>
            </a:r>
            <a:endParaRPr lang="en-US" altLang="en-US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2349500"/>
            <a:ext cx="7693025" cy="37242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altLang="en-US" sz="2400"/>
              <a:t>TCP/IP takes care of the hard problems</a:t>
            </a:r>
          </a:p>
          <a:p>
            <a:pPr lvl="1">
              <a:lnSpc>
                <a:spcPct val="80000"/>
              </a:lnSpc>
            </a:pPr>
            <a:r>
              <a:rPr lang="en-GB" altLang="en-US" sz="2000"/>
              <a:t>Location of the destination host</a:t>
            </a:r>
          </a:p>
          <a:p>
            <a:pPr lvl="1">
              <a:lnSpc>
                <a:spcPct val="80000"/>
              </a:lnSpc>
            </a:pPr>
            <a:r>
              <a:rPr lang="en-GB" altLang="en-US" sz="2000"/>
              <a:t>Making sure the data is received in the correct order and error free</a:t>
            </a:r>
          </a:p>
          <a:p>
            <a:pPr lvl="1">
              <a:lnSpc>
                <a:spcPct val="80000"/>
              </a:lnSpc>
            </a:pPr>
            <a:endParaRPr lang="en-GB" altLang="en-US" sz="2000"/>
          </a:p>
          <a:p>
            <a:pPr>
              <a:lnSpc>
                <a:spcPct val="80000"/>
              </a:lnSpc>
            </a:pPr>
            <a:r>
              <a:rPr lang="en-GB" altLang="en-US" sz="2400"/>
              <a:t>Coding Internet applications </a:t>
            </a:r>
          </a:p>
          <a:p>
            <a:pPr lvl="1">
              <a:lnSpc>
                <a:spcPct val="80000"/>
              </a:lnSpc>
            </a:pPr>
            <a:r>
              <a:rPr lang="en-GB" altLang="en-US" sz="2000"/>
              <a:t>Turns out to be straightforward.</a:t>
            </a:r>
          </a:p>
          <a:p>
            <a:pPr lvl="1">
              <a:lnSpc>
                <a:spcPct val="80000"/>
              </a:lnSpc>
            </a:pPr>
            <a:endParaRPr lang="en-GB" altLang="en-US" sz="2000"/>
          </a:p>
          <a:p>
            <a:pPr>
              <a:lnSpc>
                <a:spcPct val="80000"/>
              </a:lnSpc>
            </a:pPr>
            <a:r>
              <a:rPr lang="en-GB" altLang="en-US" sz="2400"/>
              <a:t>The key concept of Internet programming is</a:t>
            </a:r>
          </a:p>
          <a:p>
            <a:pPr lvl="1">
              <a:lnSpc>
                <a:spcPct val="80000"/>
              </a:lnSpc>
            </a:pPr>
            <a:r>
              <a:rPr lang="en-GB" altLang="en-US" sz="2000"/>
              <a:t>The client-server model</a:t>
            </a:r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1800"/>
              <a:t>  </a:t>
            </a:r>
            <a:endParaRPr lang="en-US" altLang="en-US" sz="18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Client-Server model</a:t>
            </a:r>
            <a:endParaRPr lang="en-US" altLang="en-US"/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GB" altLang="en-US" sz="1400"/>
              <a:t>Client and server processes operate on machines which are able to communicate through a network:</a:t>
            </a:r>
          </a:p>
          <a:p>
            <a:pPr lvl="1">
              <a:lnSpc>
                <a:spcPct val="80000"/>
              </a:lnSpc>
            </a:pPr>
            <a:r>
              <a:rPr lang="en-GB" altLang="en-US" sz="1200"/>
              <a:t>The Server waits for requests from client</a:t>
            </a:r>
          </a:p>
          <a:p>
            <a:pPr lvl="1">
              <a:lnSpc>
                <a:spcPct val="80000"/>
              </a:lnSpc>
            </a:pPr>
            <a:r>
              <a:rPr lang="en-GB" altLang="en-US" sz="1200"/>
              <a:t>When a request is received </a:t>
            </a:r>
          </a:p>
          <a:p>
            <a:pPr lvl="1">
              <a:lnSpc>
                <a:spcPct val="80000"/>
              </a:lnSpc>
            </a:pPr>
            <a:r>
              <a:rPr lang="en-GB" altLang="en-US" sz="1200"/>
              <a:t>The server lookup for the requested  data</a:t>
            </a:r>
          </a:p>
          <a:p>
            <a:pPr lvl="1">
              <a:lnSpc>
                <a:spcPct val="80000"/>
              </a:lnSpc>
            </a:pPr>
            <a:r>
              <a:rPr lang="en-GB" altLang="en-US" sz="1200"/>
              <a:t>And send a response the client</a:t>
            </a:r>
          </a:p>
          <a:p>
            <a:pPr lvl="1">
              <a:lnSpc>
                <a:spcPct val="80000"/>
              </a:lnSpc>
            </a:pPr>
            <a:endParaRPr lang="en-GB" altLang="en-US" sz="1200"/>
          </a:p>
          <a:p>
            <a:pPr>
              <a:lnSpc>
                <a:spcPct val="80000"/>
              </a:lnSpc>
            </a:pPr>
            <a:r>
              <a:rPr lang="en-GB" altLang="en-US" sz="1400"/>
              <a:t>Sockets and ports</a:t>
            </a:r>
          </a:p>
          <a:p>
            <a:pPr lvl="1">
              <a:lnSpc>
                <a:spcPct val="80000"/>
              </a:lnSpc>
            </a:pPr>
            <a:r>
              <a:rPr lang="en-GB" altLang="en-US" sz="1200"/>
              <a:t>A socket is and end-point of way communication link between two programs</a:t>
            </a:r>
          </a:p>
          <a:p>
            <a:pPr lvl="1">
              <a:lnSpc>
                <a:spcPct val="80000"/>
              </a:lnSpc>
            </a:pPr>
            <a:r>
              <a:rPr lang="en-GB" altLang="en-US" sz="1200"/>
              <a:t>A port number bound to a socket specifies the protocol need the be used at the receiving end</a:t>
            </a:r>
          </a:p>
          <a:p>
            <a:pPr>
              <a:lnSpc>
                <a:spcPct val="80000"/>
              </a:lnSpc>
            </a:pPr>
            <a:endParaRPr lang="en-GB" altLang="en-US" sz="1400"/>
          </a:p>
          <a:p>
            <a:pPr>
              <a:lnSpc>
                <a:spcPct val="80000"/>
              </a:lnSpc>
            </a:pPr>
            <a:r>
              <a:rPr lang="en-GB" altLang="en-US" sz="1400"/>
              <a:t>Example of servers</a:t>
            </a:r>
          </a:p>
          <a:p>
            <a:pPr lvl="1">
              <a:lnSpc>
                <a:spcPct val="80000"/>
              </a:lnSpc>
            </a:pPr>
            <a:r>
              <a:rPr lang="en-GB" altLang="en-US" sz="1200"/>
              <a:t>File servers</a:t>
            </a:r>
          </a:p>
          <a:p>
            <a:pPr lvl="1">
              <a:lnSpc>
                <a:spcPct val="80000"/>
              </a:lnSpc>
            </a:pPr>
            <a:r>
              <a:rPr lang="en-GB" altLang="en-US" sz="1200"/>
              <a:t>Web servers </a:t>
            </a:r>
          </a:p>
          <a:p>
            <a:pPr>
              <a:lnSpc>
                <a:spcPct val="80000"/>
              </a:lnSpc>
            </a:pPr>
            <a:r>
              <a:rPr lang="en-GB" altLang="en-US" sz="1400"/>
              <a:t>Example of client applications</a:t>
            </a:r>
          </a:p>
          <a:p>
            <a:pPr lvl="1">
              <a:lnSpc>
                <a:spcPct val="80000"/>
              </a:lnSpc>
            </a:pPr>
            <a:r>
              <a:rPr lang="en-GB" altLang="en-US" sz="1200"/>
              <a:t>Browsers</a:t>
            </a:r>
          </a:p>
          <a:p>
            <a:pPr lvl="1">
              <a:lnSpc>
                <a:spcPct val="80000"/>
              </a:lnSpc>
            </a:pPr>
            <a:r>
              <a:rPr lang="en-GB" altLang="en-US" sz="1200"/>
              <a:t>Email clients</a:t>
            </a:r>
          </a:p>
          <a:p>
            <a:pPr lvl="1">
              <a:lnSpc>
                <a:spcPct val="80000"/>
              </a:lnSpc>
            </a:pPr>
            <a:endParaRPr lang="en-GB" altLang="en-US" sz="1200"/>
          </a:p>
          <a:p>
            <a:pPr lvl="1">
              <a:lnSpc>
                <a:spcPct val="80000"/>
              </a:lnSpc>
              <a:buFontTx/>
              <a:buNone/>
            </a:pPr>
            <a:endParaRPr lang="en-GB" altLang="en-US" sz="1200"/>
          </a:p>
          <a:p>
            <a:pPr lvl="1">
              <a:lnSpc>
                <a:spcPct val="80000"/>
              </a:lnSpc>
            </a:pPr>
            <a:endParaRPr lang="en-GB" altLang="en-US" sz="1200"/>
          </a:p>
          <a:p>
            <a:pPr lvl="1">
              <a:lnSpc>
                <a:spcPct val="80000"/>
              </a:lnSpc>
            </a:pPr>
            <a:endParaRPr lang="en-GB" altLang="en-US" sz="1200"/>
          </a:p>
          <a:p>
            <a:pPr lvl="1">
              <a:lnSpc>
                <a:spcPct val="80000"/>
              </a:lnSpc>
            </a:pPr>
            <a:endParaRPr lang="en-GB" altLang="en-US" sz="1200"/>
          </a:p>
          <a:p>
            <a:pPr lvl="1">
              <a:lnSpc>
                <a:spcPct val="80000"/>
              </a:lnSpc>
            </a:pPr>
            <a:endParaRPr lang="en-US" altLang="en-US" sz="12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AutoShape 2"/>
          <p:cNvSpPr>
            <a:spLocks noGrp="1" noChangeArrowheads="1"/>
          </p:cNvSpPr>
          <p:nvPr>
            <p:ph type="title"/>
          </p:nvPr>
        </p:nvSpPr>
        <p:spPr>
          <a:xfrm>
            <a:off x="762000" y="762000"/>
            <a:ext cx="7924800" cy="838200"/>
          </a:xfrm>
        </p:spPr>
        <p:txBody>
          <a:bodyPr/>
          <a:lstStyle/>
          <a:p>
            <a:r>
              <a:rPr lang="en-US" altLang="en-US"/>
              <a:t>Protocols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2420938"/>
            <a:ext cx="8229600" cy="4114800"/>
          </a:xfrm>
        </p:spPr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For a great graphic of protocol stacks in relationship to the OSI model, visit </a:t>
            </a:r>
            <a:r>
              <a:rPr lang="en-US" altLang="en-US">
                <a:solidFill>
                  <a:srgbClr val="000000"/>
                </a:solidFill>
                <a:hlinkClick r:id="rId3"/>
              </a:rPr>
              <a:t>http://www.lex-con.com/osimodel.htm</a:t>
            </a:r>
            <a:endParaRPr lang="en-US" altLang="en-US">
              <a:solidFill>
                <a:srgbClr val="000000"/>
              </a:solidFill>
            </a:endParaRPr>
          </a:p>
          <a:p>
            <a:r>
              <a:rPr lang="en-US" altLang="en-US">
                <a:solidFill>
                  <a:srgbClr val="000000"/>
                </a:solidFill>
              </a:rPr>
              <a:t>For more information on the OSI model, including an animated graphic and various protocol information, visit </a:t>
            </a:r>
            <a:r>
              <a:rPr lang="en-US" altLang="en-US">
                <a:solidFill>
                  <a:srgbClr val="000000"/>
                </a:solidFill>
                <a:hlinkClick r:id="rId4"/>
              </a:rPr>
              <a:t>http://www.certyourself.com/OSIguide.shtml</a:t>
            </a:r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AutoShape 2"/>
          <p:cNvSpPr>
            <a:spLocks noGrp="1" noChangeArrowheads="1"/>
          </p:cNvSpPr>
          <p:nvPr>
            <p:ph type="title"/>
          </p:nvPr>
        </p:nvSpPr>
        <p:spPr>
          <a:xfrm>
            <a:off x="762000" y="762000"/>
            <a:ext cx="7924800" cy="912813"/>
          </a:xfrm>
        </p:spPr>
        <p:txBody>
          <a:bodyPr/>
          <a:lstStyle/>
          <a:p>
            <a:r>
              <a:rPr lang="en-GB" altLang="en-US">
                <a:solidFill>
                  <a:srgbClr val="000000"/>
                </a:solidFill>
              </a:rPr>
              <a:t>Reading 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8851" name="Text Box 3"/>
          <p:cNvSpPr txBox="1">
            <a:spLocks noChangeArrowheads="1"/>
          </p:cNvSpPr>
          <p:nvPr/>
        </p:nvSpPr>
        <p:spPr bwMode="auto">
          <a:xfrm>
            <a:off x="457200" y="1066800"/>
            <a:ext cx="830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342900" y="2420888"/>
            <a:ext cx="8763000" cy="37496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rabicPlain"/>
            </a:pPr>
            <a:r>
              <a:rPr lang="en-US" altLang="en-US" sz="2000" dirty="0">
                <a:latin typeface="Times New Roman" panose="02020603050405020304" pitchFamily="18" charset="0"/>
                <a:hlinkClick r:id="rId3"/>
              </a:rPr>
              <a:t>http://www.howtheosimodelworks.com</a:t>
            </a:r>
            <a:r>
              <a:rPr lang="en-US" altLang="en-US" sz="2000" dirty="0">
                <a:latin typeface="Times New Roman" panose="02020603050405020304" pitchFamily="18" charset="0"/>
              </a:rPr>
              <a:t> , </a:t>
            </a:r>
            <a:r>
              <a:rPr lang="en-US" altLang="en-US" sz="2000" b="1" dirty="0">
                <a:latin typeface="Times New Roman" panose="02020603050405020304" pitchFamily="18" charset="0"/>
              </a:rPr>
              <a:t>Charles C.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Botsford</a:t>
            </a:r>
            <a:r>
              <a:rPr lang="en-US" altLang="en-US" sz="2000" dirty="0">
                <a:latin typeface="Times New Roman" panose="02020603050405020304" pitchFamily="18" charset="0"/>
              </a:rPr>
              <a:t>, 2001.</a:t>
            </a:r>
          </a:p>
          <a:p>
            <a:pPr eaLnBrk="1" hangingPunct="1"/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AutoNum type="arabicPlain" startAt="2"/>
            </a:pPr>
            <a:r>
              <a:rPr lang="en-US" altLang="en-US" sz="2000" dirty="0">
                <a:latin typeface="Times New Roman" panose="02020603050405020304" pitchFamily="18" charset="0"/>
                <a:hlinkClick r:id="rId4"/>
              </a:rPr>
              <a:t>https://cisconetacad.net</a:t>
            </a:r>
            <a:r>
              <a:rPr lang="en-US" altLang="en-US" sz="2000" dirty="0">
                <a:latin typeface="Times New Roman" panose="02020603050405020304" pitchFamily="18" charset="0"/>
              </a:rPr>
              <a:t>, </a:t>
            </a:r>
            <a:r>
              <a:rPr lang="en-US" altLang="en-US" sz="2000" i="1" dirty="0">
                <a:latin typeface="Times New Roman" panose="02020603050405020304" pitchFamily="18" charset="0"/>
              </a:rPr>
              <a:t>Cisco Academy Connection</a:t>
            </a:r>
            <a:r>
              <a:rPr lang="en-US" altLang="en-US" sz="2000" dirty="0">
                <a:latin typeface="Times New Roman" panose="02020603050405020304" pitchFamily="18" charset="0"/>
              </a:rPr>
              <a:t> Editors, 2002.</a:t>
            </a:r>
          </a:p>
          <a:p>
            <a:pPr eaLnBrk="1" hangingPunct="1"/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AutoNum type="arabicPlain" startAt="3"/>
            </a:pPr>
            <a:r>
              <a:rPr lang="en-US" altLang="en-US" sz="2000" dirty="0">
                <a:latin typeface="Times New Roman" panose="02020603050405020304" pitchFamily="18" charset="0"/>
                <a:hlinkClick r:id="rId5"/>
              </a:rPr>
              <a:t>http://www.hawkclan.com/zxonly/iso/slide2.html</a:t>
            </a:r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AutoNum type="arabicPlain" startAt="4"/>
            </a:pPr>
            <a:r>
              <a:rPr lang="en-US" altLang="en-US" sz="2000" dirty="0">
                <a:latin typeface="Times New Roman" panose="02020603050405020304" pitchFamily="18" charset="0"/>
                <a:hlinkClick r:id="rId6"/>
              </a:rPr>
              <a:t>http://www.pku.edu.cn/academic/research/computer-center/tc/html/TC0102.html</a:t>
            </a:r>
            <a:r>
              <a:rPr lang="en-US" altLang="en-US" sz="2000" dirty="0">
                <a:latin typeface="Times New Roman" panose="02020603050405020304" pitchFamily="18" charset="0"/>
              </a:rPr>
              <a:t>, </a:t>
            </a:r>
            <a:r>
              <a:rPr lang="en-US" altLang="en-US" sz="2000" b="1" dirty="0">
                <a:latin typeface="Times New Roman" panose="02020603050405020304" pitchFamily="18" charset="0"/>
              </a:rPr>
              <a:t>William L. Whipple &amp; </a:t>
            </a:r>
            <a:br>
              <a:rPr lang="en-US" altLang="en-US" sz="2000" b="1" dirty="0">
                <a:latin typeface="Times New Roman" panose="02020603050405020304" pitchFamily="18" charset="0"/>
              </a:rPr>
            </a:br>
            <a:r>
              <a:rPr lang="en-US" altLang="en-US" sz="2000" b="1" dirty="0" err="1">
                <a:latin typeface="Times New Roman" panose="02020603050405020304" pitchFamily="18" charset="0"/>
              </a:rPr>
              <a:t>Sharla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Riead</a:t>
            </a:r>
            <a:r>
              <a:rPr lang="en-US" altLang="en-US" sz="2000" b="1" dirty="0">
                <a:latin typeface="Times New Roman" panose="02020603050405020304" pitchFamily="18" charset="0"/>
              </a:rPr>
              <a:t>, </a:t>
            </a:r>
            <a:r>
              <a:rPr lang="en-US" altLang="en-US" sz="2000" dirty="0">
                <a:latin typeface="Times New Roman" panose="02020603050405020304" pitchFamily="18" charset="0"/>
              </a:rPr>
              <a:t>1997</a:t>
            </a:r>
            <a:r>
              <a:rPr lang="en-US" altLang="en-US" sz="2000" b="1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buFontTx/>
              <a:buAutoNum type="arabicPlain" startAt="4"/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AutoNum type="arabicPlain" startAt="4"/>
            </a:pPr>
            <a:r>
              <a:rPr lang="en-US" altLang="en-US" sz="2000" dirty="0">
                <a:latin typeface="Times New Roman" panose="02020603050405020304" pitchFamily="18" charset="0"/>
                <a:hlinkClick r:id="rId7"/>
              </a:rPr>
              <a:t>http://www.lex-con.com/protocols/ip.htm</a:t>
            </a:r>
            <a:r>
              <a:rPr lang="en-US" altLang="en-US" sz="2000" dirty="0">
                <a:latin typeface="Times New Roman" panose="02020603050405020304" pitchFamily="18" charset="0"/>
              </a:rPr>
              <a:t>, </a:t>
            </a:r>
            <a:r>
              <a:rPr lang="en-US" altLang="en-US" sz="2000" i="1" dirty="0">
                <a:latin typeface="Times New Roman" panose="02020603050405020304" pitchFamily="18" charset="0"/>
              </a:rPr>
              <a:t>Lexicon Computing</a:t>
            </a:r>
            <a:r>
              <a:rPr lang="en-US" altLang="en-US" sz="2000" dirty="0">
                <a:latin typeface="Times New Roman" panose="02020603050405020304" pitchFamily="18" charset="0"/>
              </a:rPr>
              <a:t>, Dallas TX, 2002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ules">
  <a:themeElements>
    <a:clrScheme name="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apsul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2027</TotalTime>
  <Words>2411</Words>
  <Application>Microsoft Office PowerPoint</Application>
  <PresentationFormat>On-screen Show (4:3)</PresentationFormat>
  <Paragraphs>572</Paragraphs>
  <Slides>59</Slides>
  <Notes>59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59</vt:i4>
      </vt:variant>
    </vt:vector>
  </HeadingPairs>
  <TitlesOfParts>
    <vt:vector size="69" baseType="lpstr">
      <vt:lpstr>ＭＳ Ｐゴシック</vt:lpstr>
      <vt:lpstr>Arial</vt:lpstr>
      <vt:lpstr>Arial Black</vt:lpstr>
      <vt:lpstr>Arial Narrow</vt:lpstr>
      <vt:lpstr>Tahoma</vt:lpstr>
      <vt:lpstr>Times New Roman</vt:lpstr>
      <vt:lpstr>Wingdings</vt:lpstr>
      <vt:lpstr>Capsules</vt:lpstr>
      <vt:lpstr>Bitmap Image</vt:lpstr>
      <vt:lpstr>Worksheet</vt:lpstr>
      <vt:lpstr>Layering in Networked computing</vt:lpstr>
      <vt:lpstr>Learning outcomes</vt:lpstr>
      <vt:lpstr>What is layering in Networked computing?</vt:lpstr>
      <vt:lpstr>Why a layered model?</vt:lpstr>
      <vt:lpstr>The OSI Reference Model</vt:lpstr>
      <vt:lpstr>The OSI Model</vt:lpstr>
      <vt:lpstr>What is “THE MODEL?”</vt:lpstr>
      <vt:lpstr> 7 Layer OSI Model</vt:lpstr>
      <vt:lpstr>Evolution of the 7-Layers</vt:lpstr>
      <vt:lpstr>Evolution of the 7-Layers (2)</vt:lpstr>
      <vt:lpstr>Evolution of the 7-Layers (4)</vt:lpstr>
      <vt:lpstr>Evolution of the 7-Layers (3) cont.</vt:lpstr>
      <vt:lpstr>PowerPoint Presentation</vt:lpstr>
      <vt:lpstr>PowerPoint Presentation</vt:lpstr>
      <vt:lpstr>PowerPoint Presentation</vt:lpstr>
      <vt:lpstr>What Each Layer Does?</vt:lpstr>
      <vt:lpstr>Application Layer</vt:lpstr>
      <vt:lpstr>Presentation Layer</vt:lpstr>
      <vt:lpstr>Session Layer</vt:lpstr>
      <vt:lpstr>Transport Layer</vt:lpstr>
      <vt:lpstr>PowerPoint Presentation</vt:lpstr>
      <vt:lpstr>Network Layer</vt:lpstr>
      <vt:lpstr>PowerPoint Presentation</vt:lpstr>
      <vt:lpstr>Network Addresses</vt:lpstr>
      <vt:lpstr>Data Link Layer</vt:lpstr>
      <vt:lpstr>PowerPoint Presentation</vt:lpstr>
      <vt:lpstr>Sub-layers of the Data Link Layer</vt:lpstr>
      <vt:lpstr>Physical Layer</vt:lpstr>
      <vt:lpstr>PowerPoint Presentation</vt:lpstr>
      <vt:lpstr>Physical Layer</vt:lpstr>
      <vt:lpstr>How Does It All Work Together</vt:lpstr>
      <vt:lpstr>PowerPoint Presentation</vt:lpstr>
      <vt:lpstr>PowerPoint Presentation</vt:lpstr>
      <vt:lpstr>PowerPoint Presentation</vt:lpstr>
      <vt:lpstr>The Postal Analogy</vt:lpstr>
      <vt:lpstr>Remembering the 7 Layers</vt:lpstr>
      <vt:lpstr>TCP/IP model development</vt:lpstr>
      <vt:lpstr>4 layers of the TCP/IP model</vt:lpstr>
      <vt:lpstr>The network access layer</vt:lpstr>
      <vt:lpstr>The internet layer</vt:lpstr>
      <vt:lpstr>The transport layer</vt:lpstr>
      <vt:lpstr>TCP/IP Reference Model (cont)</vt:lpstr>
      <vt:lpstr>The application layer</vt:lpstr>
      <vt:lpstr>TCP/IP protocol stack</vt:lpstr>
      <vt:lpstr>TCP/IP Reference Model</vt:lpstr>
      <vt:lpstr>Protocols at the application layer</vt:lpstr>
      <vt:lpstr>Protocols at the transport layer</vt:lpstr>
      <vt:lpstr>Protocol at the network layer</vt:lpstr>
      <vt:lpstr>Protocols at the link layer</vt:lpstr>
      <vt:lpstr>Data Formats </vt:lpstr>
      <vt:lpstr>Data Encapsulation In TCP/IP</vt:lpstr>
      <vt:lpstr>Encapsulation example: E-mail</vt:lpstr>
      <vt:lpstr>Encapsulation</vt:lpstr>
      <vt:lpstr>Packet Encapsulation (TCP/IP)</vt:lpstr>
      <vt:lpstr>PowerPoint Presentation</vt:lpstr>
      <vt:lpstr>Internet applications</vt:lpstr>
      <vt:lpstr>Client-Server model</vt:lpstr>
      <vt:lpstr>Protocols</vt:lpstr>
      <vt:lpstr>Reading </vt:lpstr>
    </vt:vector>
  </TitlesOfParts>
  <Company>Goldsmiths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OSI Reference Model</dc:title>
  <dc:creator>Department of Computing</dc:creator>
  <cp:lastModifiedBy>Qasim</cp:lastModifiedBy>
  <cp:revision>38</cp:revision>
  <dcterms:created xsi:type="dcterms:W3CDTF">2009-01-26T21:29:39Z</dcterms:created>
  <dcterms:modified xsi:type="dcterms:W3CDTF">2019-12-30T20:02:33Z</dcterms:modified>
</cp:coreProperties>
</file>