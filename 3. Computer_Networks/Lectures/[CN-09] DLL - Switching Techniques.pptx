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717930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7507"/>
            <a:ext cx="10359390" cy="4220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552" y="1656079"/>
            <a:ext cx="791527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ts val="6840"/>
              </a:lnSpc>
              <a:spcBef>
                <a:spcPts val="100"/>
              </a:spcBef>
            </a:pPr>
            <a:r>
              <a:rPr sz="6000" b="1" spc="-250" dirty="0">
                <a:latin typeface="Trebuchet MS"/>
                <a:cs typeface="Trebuchet MS"/>
              </a:rPr>
              <a:t>Computer</a:t>
            </a:r>
            <a:r>
              <a:rPr sz="6000" b="1" spc="-590" dirty="0">
                <a:latin typeface="Trebuchet MS"/>
                <a:cs typeface="Trebuchet MS"/>
              </a:rPr>
              <a:t> </a:t>
            </a:r>
            <a:r>
              <a:rPr sz="6000" b="1" spc="-7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algn="ctr">
              <a:lnSpc>
                <a:spcPts val="6840"/>
              </a:lnSpc>
            </a:pPr>
            <a:r>
              <a:rPr sz="6000" spc="-270" dirty="0"/>
              <a:t>[</a:t>
            </a:r>
            <a:r>
              <a:rPr sz="5300" i="1" spc="-270" dirty="0">
                <a:latin typeface="Trebuchet MS"/>
                <a:cs typeface="Trebuchet MS"/>
              </a:rPr>
              <a:t>Switching</a:t>
            </a:r>
            <a:r>
              <a:rPr sz="5300" i="1" spc="-570" dirty="0">
                <a:latin typeface="Trebuchet MS"/>
                <a:cs typeface="Trebuchet MS"/>
              </a:rPr>
              <a:t> </a:t>
            </a:r>
            <a:r>
              <a:rPr sz="5300" i="1" spc="-730" dirty="0">
                <a:latin typeface="Trebuchet MS"/>
                <a:cs typeface="Trebuchet MS"/>
              </a:rPr>
              <a:t>T</a:t>
            </a:r>
            <a:r>
              <a:rPr sz="5300" i="1" spc="-215" dirty="0">
                <a:latin typeface="Trebuchet MS"/>
                <a:cs typeface="Trebuchet MS"/>
              </a:rPr>
              <a:t>echniq</a:t>
            </a:r>
            <a:r>
              <a:rPr sz="5300" i="1" spc="-245" dirty="0">
                <a:latin typeface="Trebuchet MS"/>
                <a:cs typeface="Trebuchet MS"/>
              </a:rPr>
              <a:t>u</a:t>
            </a:r>
            <a:r>
              <a:rPr sz="5300" i="1" spc="-215" dirty="0">
                <a:latin typeface="Trebuchet MS"/>
                <a:cs typeface="Trebuchet MS"/>
              </a:rPr>
              <a:t>es</a:t>
            </a:r>
            <a:r>
              <a:rPr sz="5300" i="1" spc="-600" dirty="0">
                <a:latin typeface="Trebuchet MS"/>
                <a:cs typeface="Trebuchet MS"/>
              </a:rPr>
              <a:t> </a:t>
            </a:r>
            <a:r>
              <a:rPr sz="5300" i="1" spc="-125" dirty="0">
                <a:latin typeface="Trebuchet MS"/>
                <a:cs typeface="Trebuchet MS"/>
              </a:rPr>
              <a:t>-</a:t>
            </a:r>
            <a:r>
              <a:rPr sz="5300" i="1" spc="-530" dirty="0">
                <a:latin typeface="Trebuchet MS"/>
                <a:cs typeface="Trebuchet MS"/>
              </a:rPr>
              <a:t> </a:t>
            </a:r>
            <a:r>
              <a:rPr sz="5300" i="1" spc="-20" dirty="0">
                <a:latin typeface="Trebuchet MS"/>
                <a:cs typeface="Trebuchet MS"/>
              </a:rPr>
              <a:t>DLL</a:t>
            </a:r>
            <a:r>
              <a:rPr sz="6000" spc="-2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What</a:t>
            </a:r>
            <a:r>
              <a:rPr spc="-470" dirty="0"/>
              <a:t> </a:t>
            </a:r>
            <a:r>
              <a:rPr spc="-40" dirty="0"/>
              <a:t>is</a:t>
            </a:r>
            <a:r>
              <a:rPr spc="-455" dirty="0"/>
              <a:t> </a:t>
            </a:r>
            <a:r>
              <a:rPr spc="-90" dirty="0"/>
              <a:t>Switching?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8890" indent="-227965" algn="just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/>
              <a:t>Switching</a:t>
            </a:r>
            <a:r>
              <a:rPr sz="2800" spc="130" dirty="0"/>
              <a:t> </a:t>
            </a:r>
            <a:r>
              <a:rPr sz="2800" b="0" dirty="0">
                <a:latin typeface="Trebuchet MS"/>
                <a:cs typeface="Trebuchet MS"/>
              </a:rPr>
              <a:t>is</a:t>
            </a:r>
            <a:r>
              <a:rPr sz="2800" b="0" spc="12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the</a:t>
            </a:r>
            <a:r>
              <a:rPr sz="2800" b="0" spc="12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process</a:t>
            </a:r>
            <a:r>
              <a:rPr sz="2800" b="0" spc="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of</a:t>
            </a:r>
            <a:r>
              <a:rPr sz="2800" b="0" spc="120" dirty="0">
                <a:latin typeface="Trebuchet MS"/>
                <a:cs typeface="Trebuchet MS"/>
              </a:rPr>
              <a:t> </a:t>
            </a:r>
            <a:r>
              <a:rPr sz="2800" b="0" spc="-60" dirty="0">
                <a:latin typeface="Trebuchet MS"/>
                <a:cs typeface="Trebuchet MS"/>
              </a:rPr>
              <a:t>transferring</a:t>
            </a:r>
            <a:r>
              <a:rPr sz="2800" b="0" spc="1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data</a:t>
            </a:r>
            <a:r>
              <a:rPr sz="2800" b="0" spc="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packets</a:t>
            </a:r>
            <a:r>
              <a:rPr sz="2800" b="0" spc="12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from</a:t>
            </a:r>
            <a:r>
              <a:rPr sz="2800" b="0" spc="120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one 	</a:t>
            </a:r>
            <a:r>
              <a:rPr sz="2800" b="0" dirty="0">
                <a:latin typeface="Trebuchet MS"/>
                <a:cs typeface="Trebuchet MS"/>
              </a:rPr>
              <a:t>device</a:t>
            </a:r>
            <a:r>
              <a:rPr sz="2800" b="0" spc="-6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to</a:t>
            </a:r>
            <a:r>
              <a:rPr sz="2800" b="0" spc="-60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another</a:t>
            </a:r>
            <a:r>
              <a:rPr sz="2800" b="0" spc="-6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in</a:t>
            </a:r>
            <a:r>
              <a:rPr sz="2800" b="0" spc="-7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a</a:t>
            </a:r>
            <a:r>
              <a:rPr sz="2800" b="0" spc="-65" dirty="0">
                <a:latin typeface="Trebuchet MS"/>
                <a:cs typeface="Trebuchet MS"/>
              </a:rPr>
              <a:t> </a:t>
            </a:r>
            <a:r>
              <a:rPr sz="2800" b="0" spc="-70" dirty="0">
                <a:latin typeface="Trebuchet MS"/>
                <a:cs typeface="Trebuchet MS"/>
              </a:rPr>
              <a:t>network, </a:t>
            </a:r>
            <a:r>
              <a:rPr sz="2800" b="0" dirty="0">
                <a:latin typeface="Trebuchet MS"/>
                <a:cs typeface="Trebuchet MS"/>
              </a:rPr>
              <a:t>or</a:t>
            </a:r>
            <a:r>
              <a:rPr sz="2800" b="0" spc="-5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from</a:t>
            </a:r>
            <a:r>
              <a:rPr sz="2800" b="0" spc="-6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one</a:t>
            </a:r>
            <a:r>
              <a:rPr sz="2800" b="0" spc="-70" dirty="0">
                <a:latin typeface="Trebuchet MS"/>
                <a:cs typeface="Trebuchet MS"/>
              </a:rPr>
              <a:t> </a:t>
            </a:r>
            <a:r>
              <a:rPr sz="2800" b="0" spc="-45" dirty="0">
                <a:latin typeface="Trebuchet MS"/>
                <a:cs typeface="Trebuchet MS"/>
              </a:rPr>
              <a:t>network</a:t>
            </a:r>
            <a:r>
              <a:rPr sz="2800" b="0" spc="-8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to</a:t>
            </a:r>
            <a:r>
              <a:rPr sz="2800" b="0" spc="-55" dirty="0">
                <a:latin typeface="Trebuchet MS"/>
                <a:cs typeface="Trebuchet MS"/>
              </a:rPr>
              <a:t> </a:t>
            </a:r>
            <a:r>
              <a:rPr sz="2800" b="0" spc="-45" dirty="0">
                <a:latin typeface="Trebuchet MS"/>
                <a:cs typeface="Trebuchet MS"/>
              </a:rPr>
              <a:t>another, 	</a:t>
            </a:r>
            <a:r>
              <a:rPr sz="2800" b="0" dirty="0">
                <a:latin typeface="Trebuchet MS"/>
                <a:cs typeface="Trebuchet MS"/>
              </a:rPr>
              <a:t>using</a:t>
            </a:r>
            <a:r>
              <a:rPr sz="2800" b="0" spc="-229" dirty="0">
                <a:latin typeface="Trebuchet MS"/>
                <a:cs typeface="Trebuchet MS"/>
              </a:rPr>
              <a:t> </a:t>
            </a:r>
            <a:r>
              <a:rPr sz="2800" b="0" spc="-30" dirty="0">
                <a:latin typeface="Trebuchet MS"/>
                <a:cs typeface="Trebuchet MS"/>
              </a:rPr>
              <a:t>specific</a:t>
            </a:r>
            <a:r>
              <a:rPr sz="2800" b="0" spc="-254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devices</a:t>
            </a:r>
            <a:r>
              <a:rPr sz="2800" b="0" spc="-245" dirty="0">
                <a:latin typeface="Trebuchet MS"/>
                <a:cs typeface="Trebuchet MS"/>
              </a:rPr>
              <a:t> </a:t>
            </a:r>
            <a:r>
              <a:rPr sz="2800" b="0" spc="-40" dirty="0">
                <a:latin typeface="Trebuchet MS"/>
                <a:cs typeface="Trebuchet MS"/>
              </a:rPr>
              <a:t>called</a:t>
            </a:r>
            <a:r>
              <a:rPr sz="2800" b="0" spc="-250" dirty="0">
                <a:latin typeface="Trebuchet MS"/>
                <a:cs typeface="Trebuchet MS"/>
              </a:rPr>
              <a:t> </a:t>
            </a:r>
            <a:r>
              <a:rPr sz="2800" spc="-10" dirty="0"/>
              <a:t>switches</a:t>
            </a:r>
            <a:r>
              <a:rPr sz="2800" b="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665" indent="-227965" algn="just">
              <a:lnSpc>
                <a:spcPts val="3329"/>
              </a:lnSpc>
              <a:spcBef>
                <a:spcPts val="33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0" spc="-25" dirty="0">
                <a:latin typeface="Trebuchet MS"/>
                <a:cs typeface="Trebuchet MS"/>
              </a:rPr>
              <a:t>A</a:t>
            </a:r>
            <a:r>
              <a:rPr sz="2800" b="0" spc="-229" dirty="0">
                <a:latin typeface="Trebuchet MS"/>
                <a:cs typeface="Trebuchet MS"/>
              </a:rPr>
              <a:t> </a:t>
            </a:r>
            <a:r>
              <a:rPr sz="2800" b="0" spc="-40" dirty="0">
                <a:latin typeface="Trebuchet MS"/>
                <a:cs typeface="Trebuchet MS"/>
              </a:rPr>
              <a:t>computer</a:t>
            </a:r>
            <a:r>
              <a:rPr sz="2800" b="0" spc="-18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user</a:t>
            </a:r>
            <a:r>
              <a:rPr sz="2800" b="0" spc="-215" dirty="0">
                <a:latin typeface="Trebuchet MS"/>
                <a:cs typeface="Trebuchet MS"/>
              </a:rPr>
              <a:t> </a:t>
            </a:r>
            <a:r>
              <a:rPr sz="2800" b="0" spc="-45" dirty="0">
                <a:latin typeface="Trebuchet MS"/>
                <a:cs typeface="Trebuchet MS"/>
              </a:rPr>
              <a:t>experiences</a:t>
            </a:r>
            <a:r>
              <a:rPr sz="2800" b="0" spc="-204" dirty="0">
                <a:latin typeface="Trebuchet MS"/>
                <a:cs typeface="Trebuchet MS"/>
              </a:rPr>
              <a:t> </a:t>
            </a:r>
            <a:r>
              <a:rPr sz="2800" b="0" spc="-55" dirty="0">
                <a:latin typeface="Trebuchet MS"/>
                <a:cs typeface="Trebuchet MS"/>
              </a:rPr>
              <a:t>switching</a:t>
            </a:r>
            <a:r>
              <a:rPr sz="2800" b="0" spc="-215" dirty="0">
                <a:latin typeface="Trebuchet MS"/>
                <a:cs typeface="Trebuchet MS"/>
              </a:rPr>
              <a:t> </a:t>
            </a:r>
            <a:r>
              <a:rPr sz="2800" b="0" spc="-75" dirty="0">
                <a:latin typeface="Trebuchet MS"/>
                <a:cs typeface="Trebuchet MS"/>
              </a:rPr>
              <a:t>all</a:t>
            </a:r>
            <a:r>
              <a:rPr sz="2800" b="0" spc="-220" dirty="0">
                <a:latin typeface="Trebuchet MS"/>
                <a:cs typeface="Trebuchet MS"/>
              </a:rPr>
              <a:t> </a:t>
            </a:r>
            <a:r>
              <a:rPr sz="2800" b="0" spc="-90" dirty="0">
                <a:latin typeface="Trebuchet MS"/>
                <a:cs typeface="Trebuchet MS"/>
              </a:rPr>
              <a:t>the</a:t>
            </a:r>
            <a:r>
              <a:rPr sz="2800" b="0" spc="-229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time</a:t>
            </a:r>
            <a:endParaRPr sz="2800">
              <a:latin typeface="Trebuchet MS"/>
              <a:cs typeface="Trebuchet MS"/>
            </a:endParaRPr>
          </a:p>
          <a:p>
            <a:pPr marL="697230" marR="6350" lvl="1" indent="-227329" algn="just">
              <a:lnSpc>
                <a:spcPct val="8000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example,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accessing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Internet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your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computer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spc="-35" dirty="0">
                <a:latin typeface="Trebuchet MS"/>
                <a:cs typeface="Trebuchet MS"/>
              </a:rPr>
              <a:t>device, 	</a:t>
            </a:r>
            <a:r>
              <a:rPr sz="2400" spc="-45" dirty="0">
                <a:latin typeface="Trebuchet MS"/>
                <a:cs typeface="Trebuchet MS"/>
              </a:rPr>
              <a:t>whenever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requests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webpage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open,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request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processed 	</a:t>
            </a:r>
            <a:r>
              <a:rPr sz="2400" spc="-60" dirty="0">
                <a:latin typeface="Trebuchet MS"/>
                <a:cs typeface="Trebuchet MS"/>
              </a:rPr>
              <a:t>through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switching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packets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only.</a:t>
            </a:r>
            <a:endParaRPr sz="24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269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spc="-45" dirty="0">
                <a:latin typeface="Trebuchet MS"/>
                <a:cs typeface="Trebuchet MS"/>
              </a:rPr>
              <a:t>Switching</a:t>
            </a:r>
            <a:r>
              <a:rPr sz="2800" b="0" spc="-175" dirty="0">
                <a:latin typeface="Trebuchet MS"/>
                <a:cs typeface="Trebuchet MS"/>
              </a:rPr>
              <a:t> </a:t>
            </a:r>
            <a:r>
              <a:rPr sz="2800" b="0" spc="-50" dirty="0">
                <a:latin typeface="Trebuchet MS"/>
                <a:cs typeface="Trebuchet MS"/>
              </a:rPr>
              <a:t>takes</a:t>
            </a:r>
            <a:r>
              <a:rPr sz="2800" b="0" spc="-160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place</a:t>
            </a:r>
            <a:r>
              <a:rPr sz="2800" b="0" spc="-190" dirty="0">
                <a:latin typeface="Trebuchet MS"/>
                <a:cs typeface="Trebuchet MS"/>
              </a:rPr>
              <a:t> </a:t>
            </a:r>
            <a:r>
              <a:rPr sz="2800" b="0" spc="-225" dirty="0">
                <a:latin typeface="Trebuchet MS"/>
                <a:cs typeface="Trebuchet MS"/>
              </a:rPr>
              <a:t>at</a:t>
            </a:r>
            <a:r>
              <a:rPr sz="2800" b="0" spc="15" dirty="0">
                <a:latin typeface="Trebuchet MS"/>
                <a:cs typeface="Trebuchet MS"/>
              </a:rPr>
              <a:t> </a:t>
            </a:r>
            <a:r>
              <a:rPr sz="2800" b="0" spc="-114" dirty="0">
                <a:latin typeface="Trebuchet MS"/>
                <a:cs typeface="Trebuchet MS"/>
              </a:rPr>
              <a:t>the</a:t>
            </a:r>
            <a:r>
              <a:rPr sz="2800" b="0" spc="-95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Data</a:t>
            </a:r>
            <a:r>
              <a:rPr sz="2800" b="0" spc="-190" dirty="0">
                <a:latin typeface="Trebuchet MS"/>
                <a:cs typeface="Trebuchet MS"/>
              </a:rPr>
              <a:t> </a:t>
            </a:r>
            <a:r>
              <a:rPr sz="2800" b="0" spc="-70" dirty="0">
                <a:latin typeface="Trebuchet MS"/>
                <a:cs typeface="Trebuchet MS"/>
              </a:rPr>
              <a:t>Link</a:t>
            </a:r>
            <a:r>
              <a:rPr sz="2800" b="0" spc="-140" dirty="0">
                <a:latin typeface="Trebuchet MS"/>
                <a:cs typeface="Trebuchet MS"/>
              </a:rPr>
              <a:t> </a:t>
            </a:r>
            <a:r>
              <a:rPr sz="2800" b="0" spc="-120" dirty="0">
                <a:latin typeface="Trebuchet MS"/>
                <a:cs typeface="Trebuchet MS"/>
              </a:rPr>
              <a:t>layer</a:t>
            </a:r>
            <a:r>
              <a:rPr sz="2800" b="0" spc="-85" dirty="0">
                <a:latin typeface="Trebuchet MS"/>
                <a:cs typeface="Trebuchet MS"/>
              </a:rPr>
              <a:t> </a:t>
            </a:r>
            <a:r>
              <a:rPr sz="2800" b="0" spc="-170" dirty="0">
                <a:latin typeface="Trebuchet MS"/>
                <a:cs typeface="Trebuchet MS"/>
              </a:rPr>
              <a:t>of</a:t>
            </a:r>
            <a:r>
              <a:rPr sz="2800" b="0" spc="-40" dirty="0">
                <a:latin typeface="Trebuchet MS"/>
                <a:cs typeface="Trebuchet MS"/>
              </a:rPr>
              <a:t> </a:t>
            </a:r>
            <a:r>
              <a:rPr sz="2800" b="0" spc="-125" dirty="0">
                <a:latin typeface="Trebuchet MS"/>
                <a:cs typeface="Trebuchet MS"/>
              </a:rPr>
              <a:t>the</a:t>
            </a:r>
            <a:r>
              <a:rPr sz="2800" b="0" spc="-85" dirty="0">
                <a:latin typeface="Trebuchet MS"/>
                <a:cs typeface="Trebuchet MS"/>
              </a:rPr>
              <a:t> </a:t>
            </a:r>
            <a:r>
              <a:rPr sz="2800" b="0" spc="100" dirty="0">
                <a:latin typeface="Trebuchet MS"/>
                <a:cs typeface="Trebuchet MS"/>
              </a:rPr>
              <a:t>OSI</a:t>
            </a:r>
            <a:r>
              <a:rPr sz="2800" b="0" spc="-105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Model.</a:t>
            </a:r>
            <a:r>
              <a:rPr sz="2800" b="0" spc="-120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This 	</a:t>
            </a:r>
            <a:r>
              <a:rPr sz="2800" b="0" dirty="0">
                <a:latin typeface="Trebuchet MS"/>
                <a:cs typeface="Trebuchet MS"/>
              </a:rPr>
              <a:t>means</a:t>
            </a:r>
            <a:r>
              <a:rPr sz="2800" b="0" spc="5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that</a:t>
            </a:r>
            <a:r>
              <a:rPr sz="2800" b="0" spc="-5" dirty="0">
                <a:latin typeface="Trebuchet MS"/>
                <a:cs typeface="Trebuchet MS"/>
              </a:rPr>
              <a:t> </a:t>
            </a:r>
            <a:r>
              <a:rPr sz="2800" b="0" spc="-60" dirty="0">
                <a:latin typeface="Trebuchet MS"/>
                <a:cs typeface="Trebuchet MS"/>
              </a:rPr>
              <a:t>after</a:t>
            </a:r>
            <a:r>
              <a:rPr sz="2800" b="0" spc="1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the</a:t>
            </a:r>
            <a:r>
              <a:rPr sz="2800" b="0" spc="10" dirty="0">
                <a:latin typeface="Trebuchet MS"/>
                <a:cs typeface="Trebuchet MS"/>
              </a:rPr>
              <a:t> </a:t>
            </a:r>
            <a:r>
              <a:rPr sz="2800" b="0" spc="-45" dirty="0">
                <a:latin typeface="Trebuchet MS"/>
                <a:cs typeface="Trebuchet MS"/>
              </a:rPr>
              <a:t>generation</a:t>
            </a:r>
            <a:r>
              <a:rPr sz="2800" b="0" spc="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of</a:t>
            </a:r>
            <a:r>
              <a:rPr sz="2800" b="0" spc="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data packets</a:t>
            </a:r>
            <a:r>
              <a:rPr sz="2800" b="0" spc="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in the</a:t>
            </a:r>
            <a:r>
              <a:rPr sz="2800" b="0" spc="1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Physical 	</a:t>
            </a:r>
            <a:r>
              <a:rPr sz="2800" b="0" dirty="0">
                <a:latin typeface="Trebuchet MS"/>
                <a:cs typeface="Trebuchet MS"/>
              </a:rPr>
              <a:t>Layer,</a:t>
            </a:r>
            <a:r>
              <a:rPr sz="2800" b="0" spc="235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switching</a:t>
            </a:r>
            <a:r>
              <a:rPr sz="2800" b="0" spc="235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is</a:t>
            </a:r>
            <a:r>
              <a:rPr sz="2800" b="0" spc="235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the</a:t>
            </a:r>
            <a:r>
              <a:rPr sz="2800" b="0" spc="229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immediate</a:t>
            </a:r>
            <a:r>
              <a:rPr sz="2800" b="0" spc="235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next</a:t>
            </a:r>
            <a:r>
              <a:rPr sz="2800" b="0" spc="229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process</a:t>
            </a:r>
            <a:r>
              <a:rPr sz="2800" b="0" spc="235" dirty="0">
                <a:latin typeface="Trebuchet MS"/>
                <a:cs typeface="Trebuchet MS"/>
              </a:rPr>
              <a:t>  </a:t>
            </a:r>
            <a:r>
              <a:rPr sz="2800" b="0" dirty="0">
                <a:latin typeface="Trebuchet MS"/>
                <a:cs typeface="Trebuchet MS"/>
              </a:rPr>
              <a:t>in</a:t>
            </a:r>
            <a:r>
              <a:rPr sz="2800" b="0" spc="229" dirty="0">
                <a:latin typeface="Trebuchet MS"/>
                <a:cs typeface="Trebuchet MS"/>
              </a:rPr>
              <a:t>  </a:t>
            </a:r>
            <a:r>
              <a:rPr sz="2800" b="0" spc="-20" dirty="0">
                <a:latin typeface="Trebuchet MS"/>
                <a:cs typeface="Trebuchet MS"/>
              </a:rPr>
              <a:t>data 	</a:t>
            </a:r>
            <a:r>
              <a:rPr sz="2800" b="0" spc="-10" dirty="0">
                <a:latin typeface="Trebuchet MS"/>
                <a:cs typeface="Trebuchet MS"/>
              </a:rPr>
              <a:t>communication.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985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Introduction</a:t>
            </a:r>
            <a:r>
              <a:rPr spc="-465" dirty="0"/>
              <a:t> </a:t>
            </a:r>
            <a:r>
              <a:rPr spc="-285" dirty="0"/>
              <a:t>to</a:t>
            </a:r>
            <a:r>
              <a:rPr spc="-445" dirty="0"/>
              <a:t> </a:t>
            </a:r>
            <a:r>
              <a:rPr spc="-10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61295" cy="42913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 algn="just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6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switch</a:t>
            </a:r>
            <a:r>
              <a:rPr sz="2600" spc="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hardware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in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6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network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that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connects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helps </a:t>
            </a:r>
            <a:r>
              <a:rPr sz="2600" dirty="0">
                <a:latin typeface="Trebuchet MS"/>
                <a:cs typeface="Trebuchet MS"/>
              </a:rPr>
              <a:t>multiple</a:t>
            </a:r>
            <a:r>
              <a:rPr sz="2600" spc="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share</a:t>
            </a:r>
            <a:r>
              <a:rPr sz="2600" spc="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network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without</a:t>
            </a:r>
            <a:r>
              <a:rPr sz="2600" spc="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their</a:t>
            </a:r>
            <a:r>
              <a:rPr sz="2600" spc="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3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interfering</a:t>
            </a:r>
            <a:r>
              <a:rPr sz="2600" spc="4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with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other.</a:t>
            </a:r>
            <a:endParaRPr sz="2600">
              <a:latin typeface="Trebuchet MS"/>
              <a:cs typeface="Trebuchet MS"/>
            </a:endParaRPr>
          </a:p>
          <a:p>
            <a:pPr marL="241300" marR="8890" indent="-22923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switch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works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like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traffic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cop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at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busy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intersection.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When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data </a:t>
            </a:r>
            <a:r>
              <a:rPr sz="2600" dirty="0">
                <a:latin typeface="Trebuchet MS"/>
                <a:cs typeface="Trebuchet MS"/>
              </a:rPr>
              <a:t>packet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arrives,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 switch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decides </a:t>
            </a:r>
            <a:r>
              <a:rPr sz="2600" spc="-10" dirty="0">
                <a:latin typeface="Trebuchet MS"/>
                <a:cs typeface="Trebuchet MS"/>
              </a:rPr>
              <a:t>where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it needs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to go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75" dirty="0">
                <a:latin typeface="Trebuchet MS"/>
                <a:cs typeface="Trebuchet MS"/>
              </a:rPr>
              <a:t>sends</a:t>
            </a:r>
            <a:r>
              <a:rPr sz="260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it </a:t>
            </a:r>
            <a:r>
              <a:rPr sz="2600" spc="-65" dirty="0">
                <a:latin typeface="Trebuchet MS"/>
                <a:cs typeface="Trebuchet MS"/>
              </a:rPr>
              <a:t>through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right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port.</a:t>
            </a:r>
            <a:endParaRPr sz="2600">
              <a:latin typeface="Trebuchet MS"/>
              <a:cs typeface="Trebuchet MS"/>
            </a:endParaRPr>
          </a:p>
          <a:p>
            <a:pPr marL="241300" marR="6350" indent="-229235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60" dirty="0">
                <a:latin typeface="Trebuchet MS"/>
                <a:cs typeface="Trebuchet MS"/>
              </a:rPr>
              <a:t>Some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4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packets</a:t>
            </a:r>
            <a:r>
              <a:rPr sz="2600" spc="4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come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from</a:t>
            </a:r>
            <a:r>
              <a:rPr sz="2600" spc="4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directly</a:t>
            </a:r>
            <a:r>
              <a:rPr sz="2600" spc="4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connected</a:t>
            </a:r>
            <a:r>
              <a:rPr sz="2600" spc="43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to</a:t>
            </a:r>
            <a:r>
              <a:rPr sz="2600" spc="44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dirty="0">
                <a:latin typeface="Trebuchet MS"/>
                <a:cs typeface="Trebuchet MS"/>
              </a:rPr>
              <a:t>switch,</a:t>
            </a:r>
            <a:r>
              <a:rPr sz="2600" spc="4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like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computers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or</a:t>
            </a:r>
            <a:r>
              <a:rPr sz="2600" spc="4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VoIP</a:t>
            </a:r>
            <a:r>
              <a:rPr sz="2600" spc="3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phones.</a:t>
            </a:r>
            <a:r>
              <a:rPr sz="2600" spc="3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Other</a:t>
            </a:r>
            <a:r>
              <a:rPr sz="2600" spc="4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packets</a:t>
            </a:r>
            <a:r>
              <a:rPr sz="2600" spc="3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come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from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connected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through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hubs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or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routers.</a:t>
            </a:r>
            <a:endParaRPr sz="2600">
              <a:latin typeface="Trebuchet MS"/>
              <a:cs typeface="Trebuchet MS"/>
            </a:endParaRPr>
          </a:p>
          <a:p>
            <a:pPr marL="241300" marR="8890" indent="-229235" algn="just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60" dirty="0">
                <a:latin typeface="Trebuchet MS"/>
                <a:cs typeface="Trebuchet MS"/>
              </a:rPr>
              <a:t>The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switch</a:t>
            </a:r>
            <a:r>
              <a:rPr sz="2600" spc="-16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knows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which</a:t>
            </a:r>
            <a:r>
              <a:rPr sz="2600" spc="-16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devices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are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connected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to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spc="-310" dirty="0">
                <a:latin typeface="Trebuchet MS"/>
                <a:cs typeface="Trebuchet MS"/>
              </a:rPr>
              <a:t>it</a:t>
            </a:r>
            <a:r>
              <a:rPr sz="2600" spc="11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can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data </a:t>
            </a:r>
            <a:r>
              <a:rPr sz="2600" spc="-90" dirty="0">
                <a:latin typeface="Trebuchet MS"/>
                <a:cs typeface="Trebuchet MS"/>
              </a:rPr>
              <a:t>directly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between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them.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If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the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data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needs</a:t>
            </a:r>
            <a:r>
              <a:rPr sz="2600" spc="-85" dirty="0">
                <a:latin typeface="Trebuchet MS"/>
                <a:cs typeface="Trebuchet MS"/>
              </a:rPr>
              <a:t> to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go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to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another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network,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spc="-35" dirty="0">
                <a:latin typeface="Trebuchet MS"/>
                <a:cs typeface="Trebuchet MS"/>
              </a:rPr>
              <a:t>switch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75" dirty="0">
                <a:latin typeface="Trebuchet MS"/>
                <a:cs typeface="Trebuchet MS"/>
              </a:rPr>
              <a:t>sends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router,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which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forwards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correct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destination.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How</a:t>
            </a:r>
            <a:r>
              <a:rPr spc="-434" dirty="0"/>
              <a:t> </a:t>
            </a:r>
            <a:r>
              <a:rPr spc="-215" dirty="0"/>
              <a:t>Network</a:t>
            </a:r>
            <a:r>
              <a:rPr spc="-434" dirty="0"/>
              <a:t> </a:t>
            </a:r>
            <a:r>
              <a:rPr spc="-140" dirty="0"/>
              <a:t>Switch</a:t>
            </a:r>
            <a:r>
              <a:rPr spc="-430" dirty="0"/>
              <a:t> </a:t>
            </a:r>
            <a:r>
              <a:rPr spc="-1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682"/>
            <a:ext cx="10360660" cy="42506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5715" indent="-227965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switch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dedicated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piece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computer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hardware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that</a:t>
            </a:r>
            <a:r>
              <a:rPr sz="2400" spc="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facilitates</a:t>
            </a:r>
            <a:r>
              <a:rPr sz="2400" spc="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dirty="0">
                <a:latin typeface="Trebuchet MS"/>
                <a:cs typeface="Trebuchet MS"/>
              </a:rPr>
              <a:t>process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switching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i.e.,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incoming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packets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transferring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them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to 	</a:t>
            </a:r>
            <a:r>
              <a:rPr sz="2400" spc="-105" dirty="0">
                <a:latin typeface="Trebuchet MS"/>
                <a:cs typeface="Trebuchet MS"/>
              </a:rPr>
              <a:t>their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destination.</a:t>
            </a:r>
            <a:endParaRPr sz="2400">
              <a:latin typeface="Trebuchet MS"/>
              <a:cs typeface="Trebuchet MS"/>
            </a:endParaRPr>
          </a:p>
          <a:p>
            <a:pPr marL="240029" marR="6985" indent="-227965" algn="just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5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switch</a:t>
            </a:r>
            <a:r>
              <a:rPr sz="2400" spc="5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primarily</a:t>
            </a:r>
            <a:r>
              <a:rPr sz="2400" spc="5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handles</a:t>
            </a:r>
            <a:r>
              <a:rPr sz="2400" spc="5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5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incoming</a:t>
            </a:r>
            <a:r>
              <a:rPr sz="2400" spc="5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5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packets</a:t>
            </a:r>
            <a:r>
              <a:rPr sz="2400" spc="5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5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5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source 	</a:t>
            </a:r>
            <a:r>
              <a:rPr sz="2400" dirty="0">
                <a:latin typeface="Trebuchet MS"/>
                <a:cs typeface="Trebuchet MS"/>
              </a:rPr>
              <a:t>computer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network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decides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appropriate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port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through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packets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will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reach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their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target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computer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  <a:p>
            <a:pPr marL="240029" marR="6350" indent="-227965" algn="just">
              <a:lnSpc>
                <a:spcPct val="800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switch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decides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port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through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which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packet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shall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pass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with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45" dirty="0">
                <a:latin typeface="Trebuchet MS"/>
                <a:cs typeface="Trebuchet MS"/>
              </a:rPr>
              <a:t>help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its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destination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b="1" spc="100" dirty="0">
                <a:latin typeface="Trebuchet MS"/>
                <a:cs typeface="Trebuchet MS"/>
              </a:rPr>
              <a:t>MAC</a:t>
            </a:r>
            <a:r>
              <a:rPr sz="2400" b="1" spc="-18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(Media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70" dirty="0">
                <a:latin typeface="Trebuchet MS"/>
                <a:cs typeface="Trebuchet MS"/>
              </a:rPr>
              <a:t>Access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Control)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Address.</a:t>
            </a:r>
            <a:endParaRPr sz="2400">
              <a:latin typeface="Trebuchet MS"/>
              <a:cs typeface="Trebuchet MS"/>
            </a:endParaRPr>
          </a:p>
          <a:p>
            <a:pPr marL="696595" lvl="1" indent="-226695" algn="just">
              <a:lnSpc>
                <a:spcPts val="2160"/>
              </a:lnSpc>
              <a:spcBef>
                <a:spcPts val="30"/>
              </a:spcBef>
              <a:buFont typeface="Arial MT"/>
              <a:buChar char="•"/>
              <a:tabLst>
                <a:tab pos="696595" algn="l"/>
              </a:tabLst>
            </a:pP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459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switch</a:t>
            </a:r>
            <a:r>
              <a:rPr sz="2000" spc="4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does</a:t>
            </a:r>
            <a:r>
              <a:rPr sz="2000" spc="4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this</a:t>
            </a:r>
            <a:r>
              <a:rPr sz="2000" spc="459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effectively</a:t>
            </a:r>
            <a:r>
              <a:rPr sz="2000" spc="4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4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maintaining</a:t>
            </a:r>
            <a:r>
              <a:rPr sz="2000" spc="4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4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switching</a:t>
            </a:r>
            <a:r>
              <a:rPr sz="2000" spc="4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table,</a:t>
            </a:r>
            <a:r>
              <a:rPr sz="2000" spc="4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(also</a:t>
            </a:r>
            <a:r>
              <a:rPr sz="2000" spc="459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known</a:t>
            </a:r>
            <a:r>
              <a:rPr sz="2000" spc="459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as</a:t>
            </a:r>
            <a:endParaRPr sz="2000">
              <a:latin typeface="Trebuchet MS"/>
              <a:cs typeface="Trebuchet MS"/>
            </a:endParaRPr>
          </a:p>
          <a:p>
            <a:pPr marL="698500" algn="just">
              <a:lnSpc>
                <a:spcPts val="2160"/>
              </a:lnSpc>
            </a:pPr>
            <a:r>
              <a:rPr sz="2000" b="1" i="1" spc="-90" dirty="0">
                <a:latin typeface="Trebuchet MS"/>
                <a:cs typeface="Trebuchet MS"/>
              </a:rPr>
              <a:t>forwarding</a:t>
            </a:r>
            <a:r>
              <a:rPr sz="2000" b="1" i="1" spc="-125" dirty="0">
                <a:latin typeface="Trebuchet MS"/>
                <a:cs typeface="Trebuchet MS"/>
              </a:rPr>
              <a:t> </a:t>
            </a:r>
            <a:r>
              <a:rPr sz="2000" b="1" i="1" spc="-10" dirty="0">
                <a:latin typeface="Trebuchet MS"/>
                <a:cs typeface="Trebuchet MS"/>
              </a:rPr>
              <a:t>table</a:t>
            </a:r>
            <a:r>
              <a:rPr sz="2000" spc="-10" dirty="0">
                <a:latin typeface="Trebuchet MS"/>
                <a:cs typeface="Trebuchet MS"/>
              </a:rPr>
              <a:t>).</a:t>
            </a:r>
            <a:endParaRPr sz="2000">
              <a:latin typeface="Trebuchet MS"/>
              <a:cs typeface="Trebuchet MS"/>
            </a:endParaRPr>
          </a:p>
          <a:p>
            <a:pPr marL="240029" marR="5715" indent="-227965" algn="just">
              <a:lnSpc>
                <a:spcPts val="23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network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switch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is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more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efficient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than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network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35" dirty="0">
                <a:latin typeface="Trebuchet MS"/>
                <a:cs typeface="Trebuchet MS"/>
              </a:rPr>
              <a:t>Hub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or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repeater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because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it</a:t>
            </a:r>
            <a:r>
              <a:rPr sz="2400" spc="-135" dirty="0">
                <a:latin typeface="Trebuchet MS"/>
                <a:cs typeface="Trebuchet MS"/>
              </a:rPr>
              <a:t> 	</a:t>
            </a:r>
            <a:r>
              <a:rPr sz="2400" spc="-25" dirty="0">
                <a:latin typeface="Trebuchet MS"/>
                <a:cs typeface="Trebuchet MS"/>
              </a:rPr>
              <a:t>maintains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switching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table,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which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simplifies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its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task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reduces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Trebuchet MS"/>
                <a:cs typeface="Trebuchet MS"/>
              </a:rPr>
              <a:t>congestion</a:t>
            </a:r>
            <a:r>
              <a:rPr sz="2400" dirty="0">
                <a:latin typeface="Trebuchet MS"/>
                <a:cs typeface="Trebuchet MS"/>
              </a:rPr>
              <a:t> 	</a:t>
            </a:r>
            <a:r>
              <a:rPr sz="2400" spc="5" dirty="0">
                <a:latin typeface="Trebuchet MS"/>
                <a:cs typeface="Trebuchet MS"/>
              </a:rPr>
              <a:t>on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10" dirty="0">
                <a:latin typeface="Trebuchet MS"/>
                <a:cs typeface="Trebuchet MS"/>
              </a:rPr>
              <a:t>a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network,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which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effectively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improves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performance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How</a:t>
            </a:r>
            <a:r>
              <a:rPr spc="-434" dirty="0"/>
              <a:t> </a:t>
            </a:r>
            <a:r>
              <a:rPr spc="-215" dirty="0"/>
              <a:t>Network</a:t>
            </a:r>
            <a:r>
              <a:rPr spc="-434" dirty="0"/>
              <a:t> </a:t>
            </a:r>
            <a:r>
              <a:rPr spc="-140" dirty="0"/>
              <a:t>Switch</a:t>
            </a:r>
            <a:r>
              <a:rPr spc="-430" dirty="0"/>
              <a:t> </a:t>
            </a:r>
            <a:r>
              <a:rPr spc="-10" dirty="0"/>
              <a:t>Works?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173" y="1690636"/>
            <a:ext cx="7899781" cy="4311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The</a:t>
            </a:r>
            <a:r>
              <a:rPr spc="-434" dirty="0"/>
              <a:t> </a:t>
            </a:r>
            <a:r>
              <a:rPr spc="-190" dirty="0"/>
              <a:t>Switching</a:t>
            </a:r>
            <a:r>
              <a:rPr spc="-434" dirty="0"/>
              <a:t> </a:t>
            </a:r>
            <a:r>
              <a:rPr spc="-65" dirty="0"/>
              <a:t>Process</a:t>
            </a:r>
            <a:r>
              <a:rPr spc="-434" dirty="0"/>
              <a:t> </a:t>
            </a:r>
            <a:r>
              <a:rPr spc="-165" dirty="0"/>
              <a:t>Involves: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10360660" cy="40100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80" dirty="0">
                <a:latin typeface="Trebuchet MS"/>
                <a:cs typeface="Trebuchet MS"/>
              </a:rPr>
              <a:t>Frame</a:t>
            </a:r>
            <a:r>
              <a:rPr sz="2800" b="1" spc="-22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Reception:</a:t>
            </a:r>
            <a:endParaRPr sz="2800">
              <a:latin typeface="Trebuchet MS"/>
              <a:cs typeface="Trebuchet MS"/>
            </a:endParaRPr>
          </a:p>
          <a:p>
            <a:pPr marL="697230" marR="6985" lvl="1" indent="-227329" algn="just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95" dirty="0">
                <a:latin typeface="Trebuchet MS"/>
                <a:cs typeface="Trebuchet MS"/>
              </a:rPr>
              <a:t>The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switch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receives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data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frame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packet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from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computer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connected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65" dirty="0">
                <a:latin typeface="Trebuchet MS"/>
                <a:cs typeface="Trebuchet MS"/>
              </a:rPr>
              <a:t> 	</a:t>
            </a:r>
            <a:r>
              <a:rPr sz="2400" spc="-35" dirty="0">
                <a:latin typeface="Trebuchet MS"/>
                <a:cs typeface="Trebuchet MS"/>
              </a:rPr>
              <a:t>its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ports.</a:t>
            </a:r>
            <a:endParaRPr sz="2400">
              <a:latin typeface="Trebuchet MS"/>
              <a:cs typeface="Trebuchet MS"/>
            </a:endParaRPr>
          </a:p>
          <a:p>
            <a:pPr marL="240665" indent="-227965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110" dirty="0">
                <a:latin typeface="Trebuchet MS"/>
                <a:cs typeface="Trebuchet MS"/>
              </a:rPr>
              <a:t>MAC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Address</a:t>
            </a:r>
            <a:r>
              <a:rPr sz="2800" b="1" spc="-15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Extraction:</a:t>
            </a:r>
            <a:endParaRPr sz="2800">
              <a:latin typeface="Trebuchet MS"/>
              <a:cs typeface="Trebuchet MS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switch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reads</a:t>
            </a:r>
            <a:r>
              <a:rPr sz="2400" spc="-3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header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frame</a:t>
            </a:r>
            <a:r>
              <a:rPr sz="2400" spc="-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collects</a:t>
            </a:r>
            <a:r>
              <a:rPr sz="2400" spc="-25" dirty="0">
                <a:latin typeface="Trebuchet MS"/>
                <a:cs typeface="Trebuchet MS"/>
              </a:rPr>
              <a:t>  the 	</a:t>
            </a:r>
            <a:r>
              <a:rPr sz="2400" spc="-55" dirty="0">
                <a:latin typeface="Trebuchet MS"/>
                <a:cs typeface="Trebuchet MS"/>
              </a:rPr>
              <a:t>destination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MAC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from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it.</a:t>
            </a:r>
            <a:endParaRPr sz="2400">
              <a:latin typeface="Trebuchet MS"/>
              <a:cs typeface="Trebuchet MS"/>
            </a:endParaRPr>
          </a:p>
          <a:p>
            <a:pPr marL="240665" indent="-227965" algn="just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110" dirty="0">
                <a:latin typeface="Trebuchet MS"/>
                <a:cs typeface="Trebuchet MS"/>
              </a:rPr>
              <a:t>MAC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Address</a:t>
            </a:r>
            <a:r>
              <a:rPr sz="2800" b="1" spc="-160" dirty="0">
                <a:latin typeface="Trebuchet MS"/>
                <a:cs typeface="Trebuchet MS"/>
              </a:rPr>
              <a:t> </a:t>
            </a:r>
            <a:r>
              <a:rPr sz="2800" b="1" spc="-120" dirty="0">
                <a:latin typeface="Trebuchet MS"/>
                <a:cs typeface="Trebuchet MS"/>
              </a:rPr>
              <a:t>Table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Lookup:</a:t>
            </a:r>
            <a:endParaRPr sz="2800">
              <a:latin typeface="Trebuchet MS"/>
              <a:cs typeface="Trebuchet MS"/>
            </a:endParaRPr>
          </a:p>
          <a:p>
            <a:pPr marL="697230" marR="6350" lvl="1" indent="-227329" algn="just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35" dirty="0">
                <a:latin typeface="Trebuchet MS"/>
                <a:cs typeface="Trebuchet MS"/>
              </a:rPr>
              <a:t>Once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switch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has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retrieved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MAC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Address,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it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performs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lookup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45" dirty="0">
                <a:latin typeface="Trebuchet MS"/>
                <a:cs typeface="Trebuchet MS"/>
              </a:rPr>
              <a:t> 	</a:t>
            </a:r>
            <a:r>
              <a:rPr sz="2400" spc="-35" dirty="0">
                <a:latin typeface="Trebuchet MS"/>
                <a:cs typeface="Trebuchet MS"/>
              </a:rPr>
              <a:t>its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Switching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table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find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port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that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5" dirty="0">
                <a:latin typeface="Trebuchet MS"/>
                <a:cs typeface="Trebuchet MS"/>
              </a:rPr>
              <a:t>leads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MAC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15" dirty="0">
                <a:latin typeface="Trebuchet MS"/>
                <a:cs typeface="Trebuchet MS"/>
              </a:rPr>
              <a:t>Address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65" dirty="0">
                <a:latin typeface="Trebuchet MS"/>
                <a:cs typeface="Trebuchet MS"/>
              </a:rPr>
              <a:t> 	</a:t>
            </a:r>
            <a:r>
              <a:rPr sz="2400" spc="-114" dirty="0">
                <a:latin typeface="Trebuchet MS"/>
                <a:cs typeface="Trebuchet MS"/>
              </a:rPr>
              <a:t>frame.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The</a:t>
            </a:r>
            <a:r>
              <a:rPr spc="-434" dirty="0"/>
              <a:t> </a:t>
            </a:r>
            <a:r>
              <a:rPr spc="-190" dirty="0"/>
              <a:t>Switching</a:t>
            </a:r>
            <a:r>
              <a:rPr spc="-434" dirty="0"/>
              <a:t> </a:t>
            </a:r>
            <a:r>
              <a:rPr spc="-65" dirty="0"/>
              <a:t>Process</a:t>
            </a:r>
            <a:r>
              <a:rPr spc="-434" dirty="0"/>
              <a:t> </a:t>
            </a:r>
            <a:r>
              <a:rPr spc="-120" dirty="0"/>
              <a:t>Involves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</a:tabLst>
            </a:pPr>
            <a:r>
              <a:rPr spc="-75" dirty="0"/>
              <a:t>Forwarding</a:t>
            </a:r>
            <a:r>
              <a:rPr spc="-185" dirty="0"/>
              <a:t> </a:t>
            </a:r>
            <a:r>
              <a:rPr dirty="0"/>
              <a:t>Decision</a:t>
            </a:r>
            <a:r>
              <a:rPr spc="-19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20" dirty="0"/>
              <a:t>Switching</a:t>
            </a:r>
            <a:r>
              <a:rPr spc="-229" dirty="0"/>
              <a:t> </a:t>
            </a:r>
            <a:r>
              <a:rPr spc="-105" dirty="0"/>
              <a:t>Table</a:t>
            </a:r>
            <a:r>
              <a:rPr spc="-190" dirty="0"/>
              <a:t> </a:t>
            </a:r>
            <a:r>
              <a:rPr spc="-10" dirty="0"/>
              <a:t>Update:</a:t>
            </a:r>
          </a:p>
          <a:p>
            <a:pPr marL="685800" lvl="1" indent="-228600" algn="ctr">
              <a:lnSpc>
                <a:spcPts val="2510"/>
              </a:lnSpc>
              <a:spcBef>
                <a:spcPts val="254"/>
              </a:spcBef>
              <a:buFont typeface="Arial MT"/>
              <a:buChar char="•"/>
              <a:tabLst>
                <a:tab pos="685800" algn="l"/>
              </a:tabLst>
            </a:pPr>
            <a:r>
              <a:rPr sz="2200" dirty="0">
                <a:latin typeface="Trebuchet MS"/>
                <a:cs typeface="Trebuchet MS"/>
              </a:rPr>
              <a:t>If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switch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matches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destination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MAC</a:t>
            </a:r>
            <a:r>
              <a:rPr sz="2200" spc="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Address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frame</a:t>
            </a:r>
            <a:r>
              <a:rPr sz="2200" spc="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45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MAC</a:t>
            </a:r>
            <a:endParaRPr sz="2200">
              <a:latin typeface="Trebuchet MS"/>
              <a:cs typeface="Trebuchet MS"/>
            </a:endParaRPr>
          </a:p>
          <a:p>
            <a:pPr marL="427355" algn="ctr">
              <a:lnSpc>
                <a:spcPts val="2510"/>
              </a:lnSpc>
            </a:pPr>
            <a:r>
              <a:rPr sz="2200" b="0" dirty="0">
                <a:latin typeface="Trebuchet MS"/>
                <a:cs typeface="Trebuchet MS"/>
              </a:rPr>
              <a:t>address</a:t>
            </a:r>
            <a:r>
              <a:rPr sz="2200" b="0" spc="-125" dirty="0">
                <a:latin typeface="Trebuchet MS"/>
                <a:cs typeface="Trebuchet MS"/>
              </a:rPr>
              <a:t> </a:t>
            </a:r>
            <a:r>
              <a:rPr sz="2200" b="0" spc="-55" dirty="0">
                <a:latin typeface="Trebuchet MS"/>
                <a:cs typeface="Trebuchet MS"/>
              </a:rPr>
              <a:t>in</a:t>
            </a:r>
            <a:r>
              <a:rPr sz="2200" b="0" spc="-180" dirty="0">
                <a:latin typeface="Trebuchet MS"/>
                <a:cs typeface="Trebuchet MS"/>
              </a:rPr>
              <a:t> </a:t>
            </a:r>
            <a:r>
              <a:rPr sz="2200" b="0" spc="-45" dirty="0">
                <a:latin typeface="Trebuchet MS"/>
                <a:cs typeface="Trebuchet MS"/>
              </a:rPr>
              <a:t>its</a:t>
            </a:r>
            <a:r>
              <a:rPr sz="2200" b="0" spc="-170" dirty="0">
                <a:latin typeface="Trebuchet MS"/>
                <a:cs typeface="Trebuchet MS"/>
              </a:rPr>
              <a:t> </a:t>
            </a:r>
            <a:r>
              <a:rPr sz="2200" b="0" spc="-40" dirty="0">
                <a:latin typeface="Trebuchet MS"/>
                <a:cs typeface="Trebuchet MS"/>
              </a:rPr>
              <a:t>switching</a:t>
            </a:r>
            <a:r>
              <a:rPr sz="2200" b="0" spc="-150" dirty="0">
                <a:latin typeface="Trebuchet MS"/>
                <a:cs typeface="Trebuchet MS"/>
              </a:rPr>
              <a:t> </a:t>
            </a:r>
            <a:r>
              <a:rPr sz="2200" b="0" spc="-95" dirty="0">
                <a:latin typeface="Trebuchet MS"/>
                <a:cs typeface="Trebuchet MS"/>
              </a:rPr>
              <a:t>table,</a:t>
            </a:r>
            <a:r>
              <a:rPr sz="2200" b="0" spc="-135" dirty="0">
                <a:latin typeface="Trebuchet MS"/>
                <a:cs typeface="Trebuchet MS"/>
              </a:rPr>
              <a:t> it</a:t>
            </a:r>
            <a:r>
              <a:rPr sz="2200" b="0" spc="-185" dirty="0">
                <a:latin typeface="Trebuchet MS"/>
                <a:cs typeface="Trebuchet MS"/>
              </a:rPr>
              <a:t> </a:t>
            </a:r>
            <a:r>
              <a:rPr sz="2200" b="0" spc="-45" dirty="0">
                <a:latin typeface="Trebuchet MS"/>
                <a:cs typeface="Trebuchet MS"/>
              </a:rPr>
              <a:t>forwards</a:t>
            </a:r>
            <a:r>
              <a:rPr sz="2200" b="0" spc="-130" dirty="0">
                <a:latin typeface="Trebuchet MS"/>
                <a:cs typeface="Trebuchet MS"/>
              </a:rPr>
              <a:t> </a:t>
            </a:r>
            <a:r>
              <a:rPr sz="2200" b="0" spc="-75" dirty="0">
                <a:latin typeface="Trebuchet MS"/>
                <a:cs typeface="Trebuchet MS"/>
              </a:rPr>
              <a:t>the</a:t>
            </a:r>
            <a:r>
              <a:rPr sz="2200" b="0" spc="-160" dirty="0">
                <a:latin typeface="Trebuchet MS"/>
                <a:cs typeface="Trebuchet MS"/>
              </a:rPr>
              <a:t> </a:t>
            </a:r>
            <a:r>
              <a:rPr sz="2200" b="0" spc="-50" dirty="0">
                <a:latin typeface="Trebuchet MS"/>
                <a:cs typeface="Trebuchet MS"/>
              </a:rPr>
              <a:t>data</a:t>
            </a:r>
            <a:r>
              <a:rPr sz="2200" b="0" spc="-145" dirty="0">
                <a:latin typeface="Trebuchet MS"/>
                <a:cs typeface="Trebuchet MS"/>
              </a:rPr>
              <a:t> </a:t>
            </a:r>
            <a:r>
              <a:rPr sz="2200" b="0" spc="-75" dirty="0">
                <a:latin typeface="Trebuchet MS"/>
                <a:cs typeface="Trebuchet MS"/>
              </a:rPr>
              <a:t>frame</a:t>
            </a:r>
            <a:r>
              <a:rPr sz="2200" b="0" spc="-155" dirty="0">
                <a:latin typeface="Trebuchet MS"/>
                <a:cs typeface="Trebuchet MS"/>
              </a:rPr>
              <a:t> </a:t>
            </a:r>
            <a:r>
              <a:rPr sz="2200" b="0" spc="-85" dirty="0">
                <a:latin typeface="Trebuchet MS"/>
                <a:cs typeface="Trebuchet MS"/>
              </a:rPr>
              <a:t>to</a:t>
            </a:r>
            <a:r>
              <a:rPr sz="2200" b="0" spc="-165" dirty="0">
                <a:latin typeface="Trebuchet MS"/>
                <a:cs typeface="Trebuchet MS"/>
              </a:rPr>
              <a:t> </a:t>
            </a:r>
            <a:r>
              <a:rPr sz="2200" b="0" spc="-75" dirty="0">
                <a:latin typeface="Trebuchet MS"/>
                <a:cs typeface="Trebuchet MS"/>
              </a:rPr>
              <a:t>the</a:t>
            </a:r>
            <a:r>
              <a:rPr sz="2200" b="0" spc="-165" dirty="0">
                <a:latin typeface="Trebuchet MS"/>
                <a:cs typeface="Trebuchet MS"/>
              </a:rPr>
              <a:t> </a:t>
            </a:r>
            <a:r>
              <a:rPr sz="2200" b="0" spc="-55" dirty="0">
                <a:latin typeface="Trebuchet MS"/>
                <a:cs typeface="Trebuchet MS"/>
              </a:rPr>
              <a:t>respective</a:t>
            </a:r>
            <a:r>
              <a:rPr sz="2200" b="0" spc="-130" dirty="0">
                <a:latin typeface="Trebuchet MS"/>
                <a:cs typeface="Trebuchet MS"/>
              </a:rPr>
              <a:t> </a:t>
            </a:r>
            <a:r>
              <a:rPr sz="2200" b="0" spc="-10" dirty="0">
                <a:latin typeface="Trebuchet MS"/>
                <a:cs typeface="Trebuchet MS"/>
              </a:rPr>
              <a:t>port.</a:t>
            </a:r>
            <a:endParaRPr sz="2200">
              <a:latin typeface="Trebuchet MS"/>
              <a:cs typeface="Trebuchet MS"/>
            </a:endParaRPr>
          </a:p>
          <a:p>
            <a:pPr marL="698500" marR="7620" lvl="1" indent="-228600" algn="just">
              <a:lnSpc>
                <a:spcPts val="238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100" dirty="0">
                <a:latin typeface="Trebuchet MS"/>
                <a:cs typeface="Trebuchet MS"/>
              </a:rPr>
              <a:t>However,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235" dirty="0">
                <a:latin typeface="Trebuchet MS"/>
                <a:cs typeface="Trebuchet MS"/>
              </a:rPr>
              <a:t>if</a:t>
            </a:r>
            <a:r>
              <a:rPr sz="2200" spc="70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the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destination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MAC</a:t>
            </a:r>
            <a:r>
              <a:rPr sz="2200" spc="-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Address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does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not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exist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in</a:t>
            </a:r>
            <a:r>
              <a:rPr sz="2200" spc="-45" dirty="0">
                <a:latin typeface="Trebuchet MS"/>
                <a:cs typeface="Trebuchet MS"/>
              </a:rPr>
              <a:t> its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forwarding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table,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it </a:t>
            </a:r>
            <a:r>
              <a:rPr sz="2200" dirty="0">
                <a:latin typeface="Trebuchet MS"/>
                <a:cs typeface="Trebuchet MS"/>
              </a:rPr>
              <a:t>follows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flooding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process,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which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sends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frame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all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its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ports </a:t>
            </a:r>
            <a:r>
              <a:rPr sz="2200" spc="-35" dirty="0">
                <a:latin typeface="Trebuchet MS"/>
                <a:cs typeface="Trebuchet MS"/>
              </a:rPr>
              <a:t>except</a:t>
            </a:r>
            <a:r>
              <a:rPr sz="2200" dirty="0">
                <a:latin typeface="Trebuchet MS"/>
                <a:cs typeface="Trebuchet MS"/>
              </a:rPr>
              <a:t> the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one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it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came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from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 records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all the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MAC</a:t>
            </a:r>
            <a:r>
              <a:rPr sz="2200" dirty="0">
                <a:latin typeface="Trebuchet MS"/>
                <a:cs typeface="Trebuchet MS"/>
              </a:rPr>
              <a:t> Addresses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which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the </a:t>
            </a:r>
            <a:r>
              <a:rPr sz="2200" spc="-80" dirty="0">
                <a:latin typeface="Trebuchet MS"/>
                <a:cs typeface="Trebuchet MS"/>
              </a:rPr>
              <a:t>frame</a:t>
            </a:r>
            <a:r>
              <a:rPr sz="2200" spc="-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was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delivered.</a:t>
            </a:r>
            <a:endParaRPr sz="2200">
              <a:latin typeface="Trebuchet MS"/>
              <a:cs typeface="Trebuchet MS"/>
            </a:endParaRPr>
          </a:p>
          <a:p>
            <a:pPr marL="697865" lvl="1" indent="-227965" algn="just">
              <a:lnSpc>
                <a:spcPts val="2510"/>
              </a:lnSpc>
              <a:spcBef>
                <a:spcPts val="190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way,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switch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finds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new</a:t>
            </a:r>
            <a:r>
              <a:rPr sz="2200" spc="14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MAC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Address</a:t>
            </a:r>
            <a:r>
              <a:rPr sz="2200" spc="1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1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updates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its</a:t>
            </a:r>
            <a:r>
              <a:rPr sz="2200" spc="13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forwarding</a:t>
            </a:r>
            <a:endParaRPr sz="2200">
              <a:latin typeface="Trebuchet MS"/>
              <a:cs typeface="Trebuchet MS"/>
            </a:endParaRPr>
          </a:p>
          <a:p>
            <a:pPr marL="698500">
              <a:lnSpc>
                <a:spcPts val="2510"/>
              </a:lnSpc>
            </a:pPr>
            <a:r>
              <a:rPr sz="2200" b="0" spc="-10" dirty="0">
                <a:latin typeface="Trebuchet MS"/>
                <a:cs typeface="Trebuchet MS"/>
              </a:rPr>
              <a:t>table.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pc="-75" dirty="0"/>
              <a:t>Frame</a:t>
            </a:r>
            <a:r>
              <a:rPr spc="-220" dirty="0"/>
              <a:t> </a:t>
            </a:r>
            <a:r>
              <a:rPr spc="-10" dirty="0"/>
              <a:t>Transition:</a:t>
            </a:r>
          </a:p>
          <a:p>
            <a:pPr marL="698500" lvl="1" indent="-228600">
              <a:lnSpc>
                <a:spcPts val="251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rebuchet MS"/>
                <a:cs typeface="Trebuchet MS"/>
              </a:rPr>
              <a:t>Once</a:t>
            </a:r>
            <a:r>
              <a:rPr sz="2200" spc="-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destination</a:t>
            </a:r>
            <a:r>
              <a:rPr sz="2200" spc="-65" dirty="0">
                <a:latin typeface="Trebuchet MS"/>
                <a:cs typeface="Trebuchet MS"/>
              </a:rPr>
              <a:t> port</a:t>
            </a:r>
            <a:r>
              <a:rPr sz="2200" spc="-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8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found,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the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switch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55" dirty="0">
                <a:latin typeface="Trebuchet MS"/>
                <a:cs typeface="Trebuchet MS"/>
              </a:rPr>
              <a:t>sends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the </a:t>
            </a:r>
            <a:r>
              <a:rPr sz="2200" spc="-45" dirty="0">
                <a:latin typeface="Trebuchet MS"/>
                <a:cs typeface="Trebuchet MS"/>
              </a:rPr>
              <a:t>data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frame </a:t>
            </a:r>
            <a:r>
              <a:rPr sz="2200" spc="-85" dirty="0">
                <a:latin typeface="Trebuchet MS"/>
                <a:cs typeface="Trebuchet MS"/>
              </a:rPr>
              <a:t>to </a:t>
            </a:r>
            <a:r>
              <a:rPr sz="2200" spc="-90" dirty="0">
                <a:latin typeface="Trebuchet MS"/>
                <a:cs typeface="Trebuchet MS"/>
              </a:rPr>
              <a:t>that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port</a:t>
            </a:r>
            <a:endParaRPr sz="2200">
              <a:latin typeface="Trebuchet MS"/>
              <a:cs typeface="Trebuchet MS"/>
            </a:endParaRPr>
          </a:p>
          <a:p>
            <a:pPr marL="698500">
              <a:lnSpc>
                <a:spcPts val="2510"/>
              </a:lnSpc>
            </a:pPr>
            <a:r>
              <a:rPr sz="2200" b="0" dirty="0">
                <a:latin typeface="Trebuchet MS"/>
                <a:cs typeface="Trebuchet MS"/>
              </a:rPr>
              <a:t>and</a:t>
            </a:r>
            <a:r>
              <a:rPr sz="2200" b="0" spc="-175" dirty="0">
                <a:latin typeface="Trebuchet MS"/>
                <a:cs typeface="Trebuchet MS"/>
              </a:rPr>
              <a:t> </a:t>
            </a:r>
            <a:r>
              <a:rPr sz="2200" b="0" spc="-45" dirty="0">
                <a:latin typeface="Trebuchet MS"/>
                <a:cs typeface="Trebuchet MS"/>
              </a:rPr>
              <a:t>forwards</a:t>
            </a:r>
            <a:r>
              <a:rPr sz="2200" b="0" spc="-150" dirty="0">
                <a:latin typeface="Trebuchet MS"/>
                <a:cs typeface="Trebuchet MS"/>
              </a:rPr>
              <a:t> </a:t>
            </a:r>
            <a:r>
              <a:rPr sz="2200" b="0" spc="-135" dirty="0">
                <a:latin typeface="Trebuchet MS"/>
                <a:cs typeface="Trebuchet MS"/>
              </a:rPr>
              <a:t>it</a:t>
            </a:r>
            <a:r>
              <a:rPr sz="2200" b="0" spc="-195" dirty="0">
                <a:latin typeface="Trebuchet MS"/>
                <a:cs typeface="Trebuchet MS"/>
              </a:rPr>
              <a:t> </a:t>
            </a:r>
            <a:r>
              <a:rPr sz="2200" b="0" spc="-85" dirty="0">
                <a:latin typeface="Trebuchet MS"/>
                <a:cs typeface="Trebuchet MS"/>
              </a:rPr>
              <a:t>to</a:t>
            </a:r>
            <a:r>
              <a:rPr sz="2200" b="0" spc="-185" dirty="0">
                <a:latin typeface="Trebuchet MS"/>
                <a:cs typeface="Trebuchet MS"/>
              </a:rPr>
              <a:t> </a:t>
            </a:r>
            <a:r>
              <a:rPr sz="2200" b="0" spc="-45" dirty="0">
                <a:latin typeface="Trebuchet MS"/>
                <a:cs typeface="Trebuchet MS"/>
              </a:rPr>
              <a:t>its</a:t>
            </a:r>
            <a:r>
              <a:rPr sz="2200" b="0" spc="-165" dirty="0">
                <a:latin typeface="Trebuchet MS"/>
                <a:cs typeface="Trebuchet MS"/>
              </a:rPr>
              <a:t> </a:t>
            </a:r>
            <a:r>
              <a:rPr sz="2200" b="0" spc="-105" dirty="0">
                <a:latin typeface="Trebuchet MS"/>
                <a:cs typeface="Trebuchet MS"/>
              </a:rPr>
              <a:t>target</a:t>
            </a:r>
            <a:r>
              <a:rPr sz="2200" b="0" spc="-175" dirty="0">
                <a:latin typeface="Trebuchet MS"/>
                <a:cs typeface="Trebuchet MS"/>
              </a:rPr>
              <a:t> </a:t>
            </a:r>
            <a:r>
              <a:rPr sz="2200" b="0" spc="-20" dirty="0">
                <a:latin typeface="Trebuchet MS"/>
                <a:cs typeface="Trebuchet MS"/>
              </a:rPr>
              <a:t>computer/network.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16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6898005" cy="23488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There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three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types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switching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methods: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50" dirty="0">
                <a:latin typeface="Trebuchet MS"/>
                <a:cs typeface="Trebuchet MS"/>
              </a:rPr>
              <a:t>Message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Switching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0" dirty="0">
                <a:latin typeface="Trebuchet MS"/>
                <a:cs typeface="Trebuchet MS"/>
              </a:rPr>
              <a:t>Circuit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Switching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60" dirty="0">
                <a:latin typeface="Trebuchet MS"/>
                <a:cs typeface="Trebuchet MS"/>
              </a:rPr>
              <a:t>Packet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Switching</a:t>
            </a:r>
            <a:endParaRPr sz="2400">
              <a:latin typeface="Trebuchet MS"/>
              <a:cs typeface="Trebuchet MS"/>
            </a:endParaRPr>
          </a:p>
          <a:p>
            <a:pPr marL="1155700" lvl="2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30" dirty="0">
                <a:latin typeface="Trebuchet MS"/>
                <a:cs typeface="Trebuchet MS"/>
              </a:rPr>
              <a:t>Datagram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Packet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Switching</a:t>
            </a:r>
            <a:endParaRPr sz="2000">
              <a:latin typeface="Trebuchet MS"/>
              <a:cs typeface="Trebuchet MS"/>
            </a:endParaRPr>
          </a:p>
          <a:p>
            <a:pPr marL="1155700" lvl="2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70" dirty="0">
                <a:latin typeface="Trebuchet MS"/>
                <a:cs typeface="Trebuchet MS"/>
              </a:rPr>
              <a:t>Virtual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Circuit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Packet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Switching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4821" y="2699844"/>
            <a:ext cx="5038979" cy="3477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Message</a:t>
            </a:r>
            <a:r>
              <a:rPr spc="-440" dirty="0"/>
              <a:t> </a:t>
            </a:r>
            <a:r>
              <a:rPr spc="-16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357485" cy="181483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older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switching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technique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become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obsolete.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5" dirty="0">
                <a:latin typeface="Trebuchet MS"/>
                <a:cs typeface="Trebuchet MS"/>
              </a:rPr>
              <a:t>In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message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switching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technique,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entire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data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block/message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is 	</a:t>
            </a:r>
            <a:r>
              <a:rPr sz="2800" dirty="0">
                <a:latin typeface="Trebuchet MS"/>
                <a:cs typeface="Trebuchet MS"/>
              </a:rPr>
              <a:t>forwarded</a:t>
            </a:r>
            <a:r>
              <a:rPr sz="2800" spc="63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across</a:t>
            </a:r>
            <a:r>
              <a:rPr sz="2800" spc="6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6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entire</a:t>
            </a:r>
            <a:r>
              <a:rPr sz="2800" spc="6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network</a:t>
            </a:r>
            <a:r>
              <a:rPr sz="2800" spc="6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thus,</a:t>
            </a:r>
            <a:r>
              <a:rPr sz="2800" spc="6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making</a:t>
            </a:r>
            <a:r>
              <a:rPr sz="2800" spc="6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6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highly 	</a:t>
            </a:r>
            <a:r>
              <a:rPr sz="2800" spc="-35" dirty="0">
                <a:latin typeface="Trebuchet MS"/>
                <a:cs typeface="Trebuchet MS"/>
              </a:rPr>
              <a:t>inefficient.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6615" y="3212338"/>
            <a:ext cx="5398896" cy="3280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Circuit</a:t>
            </a:r>
            <a:r>
              <a:rPr spc="-434" dirty="0"/>
              <a:t> </a:t>
            </a:r>
            <a:r>
              <a:rPr spc="-16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6014085" cy="41205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26034" indent="-227965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5" dirty="0">
                <a:latin typeface="Trebuchet MS"/>
                <a:cs typeface="Trebuchet MS"/>
              </a:rPr>
              <a:t>In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this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type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switching,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connection 	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established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source 	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destination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beforehand.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This</a:t>
            </a:r>
            <a:r>
              <a:rPr sz="2800" spc="480" dirty="0">
                <a:latin typeface="Trebuchet MS"/>
                <a:cs typeface="Trebuchet MS"/>
              </a:rPr>
              <a:t>   </a:t>
            </a:r>
            <a:r>
              <a:rPr sz="2800" dirty="0">
                <a:latin typeface="Trebuchet MS"/>
                <a:cs typeface="Trebuchet MS"/>
              </a:rPr>
              <a:t>connection</a:t>
            </a:r>
            <a:r>
              <a:rPr sz="2800" spc="480" dirty="0">
                <a:latin typeface="Trebuchet MS"/>
                <a:cs typeface="Trebuchet MS"/>
              </a:rPr>
              <a:t>   </a:t>
            </a:r>
            <a:r>
              <a:rPr sz="2800" dirty="0">
                <a:latin typeface="Trebuchet MS"/>
                <a:cs typeface="Trebuchet MS"/>
              </a:rPr>
              <a:t>receives</a:t>
            </a:r>
            <a:r>
              <a:rPr sz="2800" spc="480" dirty="0">
                <a:latin typeface="Trebuchet MS"/>
                <a:cs typeface="Trebuchet MS"/>
              </a:rPr>
              <a:t>  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dirty="0">
                <a:latin typeface="Trebuchet MS"/>
                <a:cs typeface="Trebuchet MS"/>
              </a:rPr>
              <a:t>complete</a:t>
            </a:r>
            <a:r>
              <a:rPr sz="2800" spc="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bandwidth</a:t>
            </a:r>
            <a:r>
              <a:rPr sz="2800" spc="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0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network 	</a:t>
            </a:r>
            <a:r>
              <a:rPr sz="2800" dirty="0">
                <a:latin typeface="Trebuchet MS"/>
                <a:cs typeface="Trebuchet MS"/>
              </a:rPr>
              <a:t>until</a:t>
            </a:r>
            <a:r>
              <a:rPr sz="2800" spc="350" dirty="0">
                <a:latin typeface="Trebuchet MS"/>
                <a:cs typeface="Trebuchet MS"/>
              </a:rPr>
              <a:t>  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350" dirty="0">
                <a:latin typeface="Trebuchet MS"/>
                <a:cs typeface="Trebuchet MS"/>
              </a:rPr>
              <a:t>  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360" dirty="0">
                <a:latin typeface="Trebuchet MS"/>
                <a:cs typeface="Trebuchet MS"/>
              </a:rPr>
              <a:t>  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350" dirty="0">
                <a:latin typeface="Trebuchet MS"/>
                <a:cs typeface="Trebuchet MS"/>
              </a:rPr>
              <a:t>   </a:t>
            </a:r>
            <a:r>
              <a:rPr sz="2800" spc="-65" dirty="0">
                <a:latin typeface="Trebuchet MS"/>
                <a:cs typeface="Trebuchet MS"/>
              </a:rPr>
              <a:t>transferred 	</a:t>
            </a:r>
            <a:r>
              <a:rPr sz="2800" spc="-10" dirty="0">
                <a:latin typeface="Trebuchet MS"/>
                <a:cs typeface="Trebuchet MS"/>
              </a:rPr>
              <a:t>completely.</a:t>
            </a:r>
            <a:endParaRPr sz="2800">
              <a:latin typeface="Trebuchet MS"/>
              <a:cs typeface="Trebuchet MS"/>
            </a:endParaRPr>
          </a:p>
          <a:p>
            <a:pPr marL="240029" marR="55880" indent="-227965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approach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better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than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message 	</a:t>
            </a:r>
            <a:r>
              <a:rPr sz="2800" spc="-55" dirty="0">
                <a:latin typeface="Trebuchet MS"/>
                <a:cs typeface="Trebuchet MS"/>
              </a:rPr>
              <a:t>switching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does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involve 	sending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entire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network, 	</a:t>
            </a:r>
            <a:r>
              <a:rPr sz="2800" spc="-35" dirty="0">
                <a:latin typeface="Trebuchet MS"/>
                <a:cs typeface="Trebuchet MS"/>
              </a:rPr>
              <a:t>instead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its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destination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only.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3097828"/>
            <a:ext cx="5181600" cy="1935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Packet</a:t>
            </a:r>
            <a:r>
              <a:rPr spc="-445" dirty="0"/>
              <a:t> </a:t>
            </a:r>
            <a:r>
              <a:rPr spc="-165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682"/>
            <a:ext cx="6009005" cy="4284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5715" indent="-227965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This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technique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requires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6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spc="-25" dirty="0">
                <a:latin typeface="Trebuchet MS"/>
                <a:cs typeface="Trebuchet MS"/>
              </a:rPr>
              <a:t>be 	</a:t>
            </a:r>
            <a:r>
              <a:rPr sz="2400" dirty="0">
                <a:latin typeface="Trebuchet MS"/>
                <a:cs typeface="Trebuchet MS"/>
              </a:rPr>
              <a:t>broken</a:t>
            </a:r>
            <a:r>
              <a:rPr sz="2400" spc="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down</a:t>
            </a:r>
            <a:r>
              <a:rPr sz="2400" spc="3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into</a:t>
            </a:r>
            <a:r>
              <a:rPr sz="2400" spc="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smaller</a:t>
            </a:r>
            <a:r>
              <a:rPr sz="2400" spc="35" dirty="0">
                <a:latin typeface="Trebuchet MS"/>
                <a:cs typeface="Trebuchet MS"/>
              </a:rPr>
              <a:t>  </a:t>
            </a:r>
            <a:r>
              <a:rPr sz="2400" spc="-10" dirty="0">
                <a:latin typeface="Trebuchet MS"/>
                <a:cs typeface="Trebuchet MS"/>
              </a:rPr>
              <a:t>components, 	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frames,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or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packets.</a:t>
            </a:r>
            <a:endParaRPr sz="24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These data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frames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then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transferred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to 	</a:t>
            </a:r>
            <a:r>
              <a:rPr sz="2400" spc="-125" dirty="0">
                <a:latin typeface="Trebuchet MS"/>
                <a:cs typeface="Trebuchet MS"/>
              </a:rPr>
              <a:t>their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destinations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according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to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the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available 	</a:t>
            </a:r>
            <a:r>
              <a:rPr sz="2400" dirty="0">
                <a:latin typeface="Trebuchet MS"/>
                <a:cs typeface="Trebuchet MS"/>
              </a:rPr>
              <a:t>resources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4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network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</a:t>
            </a:r>
            <a:r>
              <a:rPr sz="2400" spc="4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particular 	</a:t>
            </a:r>
            <a:r>
              <a:rPr sz="2400" spc="-10" dirty="0">
                <a:latin typeface="Trebuchet MS"/>
                <a:cs typeface="Trebuchet MS"/>
              </a:rPr>
              <a:t>time.</a:t>
            </a:r>
            <a:endParaRPr sz="2400">
              <a:latin typeface="Trebuchet MS"/>
              <a:cs typeface="Trebuchet MS"/>
            </a:endParaRPr>
          </a:p>
          <a:p>
            <a:pPr marL="240029" indent="-227329" algn="just">
              <a:lnSpc>
                <a:spcPts val="2595"/>
              </a:lnSpc>
              <a:spcBef>
                <a:spcPts val="46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rebuchet MS"/>
                <a:cs typeface="Trebuchet MS"/>
              </a:rPr>
              <a:t>This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switching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type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4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40" dirty="0">
                <a:latin typeface="Trebuchet MS"/>
                <a:cs typeface="Trebuchet MS"/>
              </a:rPr>
              <a:t>  </a:t>
            </a:r>
            <a:r>
              <a:rPr sz="2400" spc="-10" dirty="0">
                <a:latin typeface="Trebuchet MS"/>
                <a:cs typeface="Trebuchet MS"/>
              </a:rPr>
              <a:t>modern</a:t>
            </a:r>
            <a:endParaRPr sz="2400">
              <a:latin typeface="Trebuchet MS"/>
              <a:cs typeface="Trebuchet MS"/>
            </a:endParaRPr>
          </a:p>
          <a:p>
            <a:pPr marL="241300" algn="just">
              <a:lnSpc>
                <a:spcPts val="2595"/>
              </a:lnSpc>
            </a:pPr>
            <a:r>
              <a:rPr sz="2400" spc="-10" dirty="0">
                <a:latin typeface="Trebuchet MS"/>
                <a:cs typeface="Trebuchet MS"/>
              </a:rPr>
              <a:t>computers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even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Internet.</a:t>
            </a:r>
            <a:endParaRPr sz="24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40" dirty="0">
                <a:latin typeface="Trebuchet MS"/>
                <a:cs typeface="Trebuchet MS"/>
              </a:rPr>
              <a:t>Here,</a:t>
            </a:r>
            <a:r>
              <a:rPr sz="2400" dirty="0">
                <a:latin typeface="Trebuchet MS"/>
                <a:cs typeface="Trebuchet MS"/>
              </a:rPr>
              <a:t> each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 </a:t>
            </a:r>
            <a:r>
              <a:rPr sz="2400" spc="-20" dirty="0">
                <a:latin typeface="Trebuchet MS"/>
                <a:cs typeface="Trebuchet MS"/>
              </a:rPr>
              <a:t>frame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contains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additional 	</a:t>
            </a:r>
            <a:r>
              <a:rPr sz="2400" spc="-70" dirty="0">
                <a:latin typeface="Trebuchet MS"/>
                <a:cs typeface="Trebuchet MS"/>
              </a:rPr>
              <a:t>information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about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destination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other 	</a:t>
            </a:r>
            <a:r>
              <a:rPr sz="2400" dirty="0">
                <a:latin typeface="Trebuchet MS"/>
                <a:cs typeface="Trebuchet MS"/>
              </a:rPr>
              <a:t>information</a:t>
            </a:r>
            <a:r>
              <a:rPr sz="2400" spc="5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required</a:t>
            </a:r>
            <a:r>
              <a:rPr sz="2400" spc="5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5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proper</a:t>
            </a:r>
            <a:r>
              <a:rPr sz="2400" spc="53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transfer 	</a:t>
            </a:r>
            <a:r>
              <a:rPr sz="2400" spc="-60" dirty="0">
                <a:latin typeface="Trebuchet MS"/>
                <a:cs typeface="Trebuchet MS"/>
              </a:rPr>
              <a:t>through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network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components.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9046" y="2824226"/>
            <a:ext cx="5071353" cy="2354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Datagram</a:t>
            </a:r>
            <a:r>
              <a:rPr spc="-455" dirty="0"/>
              <a:t> </a:t>
            </a:r>
            <a:r>
              <a:rPr spc="-235" dirty="0"/>
              <a:t>Packet</a:t>
            </a:r>
            <a:r>
              <a:rPr spc="-440" dirty="0"/>
              <a:t> </a:t>
            </a:r>
            <a:r>
              <a:rPr spc="-15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12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1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Datagram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Packet</a:t>
            </a:r>
            <a:r>
              <a:rPr sz="2800" spc="1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switching,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1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1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frame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taken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as</a:t>
            </a:r>
            <a:r>
              <a:rPr sz="2800" spc="15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 	</a:t>
            </a:r>
            <a:r>
              <a:rPr sz="2800" spc="-65" dirty="0">
                <a:latin typeface="Trebuchet MS"/>
                <a:cs typeface="Trebuchet MS"/>
              </a:rPr>
              <a:t>individual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entity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thus,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they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processed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separately.</a:t>
            </a:r>
            <a:endParaRPr sz="2800">
              <a:latin typeface="Trebuchet MS"/>
              <a:cs typeface="Trebuchet MS"/>
            </a:endParaRPr>
          </a:p>
          <a:p>
            <a:pPr marL="240029" marR="571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75715" algn="l"/>
                <a:tab pos="1871980" algn="l"/>
                <a:tab pos="3813810" algn="l"/>
                <a:tab pos="4274185" algn="l"/>
                <a:tab pos="6272530" algn="l"/>
                <a:tab pos="7463155" algn="l"/>
                <a:tab pos="8354695" algn="l"/>
              </a:tabLst>
            </a:pPr>
            <a:r>
              <a:rPr sz="2800" spc="-10" dirty="0">
                <a:latin typeface="Trebuchet MS"/>
                <a:cs typeface="Trebuchet MS"/>
              </a:rPr>
              <a:t>Here,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no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connection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established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before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data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transmission 	occurs.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rebuchet MS"/>
                <a:cs typeface="Trebuchet MS"/>
              </a:rPr>
              <a:t>Although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this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approach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provides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flexibility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data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transfer,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may 	</a:t>
            </a:r>
            <a:r>
              <a:rPr sz="2800" dirty="0">
                <a:latin typeface="Trebuchet MS"/>
                <a:cs typeface="Trebuchet MS"/>
              </a:rPr>
              <a:t>cause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loss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data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frames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late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delivery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data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frames.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Virtual-</a:t>
            </a:r>
            <a:r>
              <a:rPr spc="-220" dirty="0"/>
              <a:t>Circuit</a:t>
            </a:r>
            <a:r>
              <a:rPr spc="-440" dirty="0"/>
              <a:t> </a:t>
            </a:r>
            <a:r>
              <a:rPr spc="-240" dirty="0"/>
              <a:t>Packet</a:t>
            </a:r>
            <a:r>
              <a:rPr spc="-425" dirty="0"/>
              <a:t> </a:t>
            </a:r>
            <a:r>
              <a:rPr spc="-135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078720" cy="21151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rebuchet MS"/>
                <a:cs typeface="Trebuchet MS"/>
              </a:rPr>
              <a:t>In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Virtual-</a:t>
            </a:r>
            <a:r>
              <a:rPr sz="2800" spc="-50" dirty="0">
                <a:latin typeface="Trebuchet MS"/>
                <a:cs typeface="Trebuchet MS"/>
              </a:rPr>
              <a:t>Circuit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Packet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switching,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logical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connection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between</a:t>
            </a:r>
            <a:r>
              <a:rPr sz="2800" spc="-25" dirty="0">
                <a:latin typeface="Trebuchet MS"/>
                <a:cs typeface="Trebuchet MS"/>
              </a:rPr>
              <a:t> 	</a:t>
            </a:r>
            <a:r>
              <a:rPr sz="2800" spc="-85" dirty="0">
                <a:latin typeface="Trebuchet MS"/>
                <a:cs typeface="Trebuchet MS"/>
              </a:rPr>
              <a:t>the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5" dirty="0">
                <a:latin typeface="Trebuchet MS"/>
                <a:cs typeface="Trebuchet MS"/>
              </a:rPr>
              <a:t>source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destination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35" dirty="0">
                <a:latin typeface="Trebuchet MS"/>
                <a:cs typeface="Trebuchet MS"/>
              </a:rPr>
              <a:t>is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made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before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transmitting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any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data.</a:t>
            </a:r>
            <a:r>
              <a:rPr sz="2800" spc="-80" dirty="0">
                <a:latin typeface="Trebuchet MS"/>
                <a:cs typeface="Trebuchet MS"/>
              </a:rPr>
              <a:t> 	</a:t>
            </a:r>
            <a:r>
              <a:rPr sz="2800" spc="-45" dirty="0">
                <a:latin typeface="Trebuchet MS"/>
                <a:cs typeface="Trebuchet MS"/>
              </a:rPr>
              <a:t>These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logical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connections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are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called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b="1" i="1" spc="-145" dirty="0">
                <a:latin typeface="Trebuchet MS"/>
                <a:cs typeface="Trebuchet MS"/>
              </a:rPr>
              <a:t>virtual</a:t>
            </a:r>
            <a:r>
              <a:rPr sz="2800" b="1" i="1" spc="-250" dirty="0">
                <a:latin typeface="Trebuchet MS"/>
                <a:cs typeface="Trebuchet MS"/>
              </a:rPr>
              <a:t> </a:t>
            </a:r>
            <a:r>
              <a:rPr sz="2800" b="1" i="1" spc="-75" dirty="0">
                <a:latin typeface="Trebuchet MS"/>
                <a:cs typeface="Trebuchet MS"/>
              </a:rPr>
              <a:t>circuits</a:t>
            </a:r>
            <a:r>
              <a:rPr sz="2800" spc="-75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029" marR="376555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data </a:t>
            </a:r>
            <a:r>
              <a:rPr sz="2800" spc="-130" dirty="0">
                <a:latin typeface="Trebuchet MS"/>
                <a:cs typeface="Trebuchet MS"/>
              </a:rPr>
              <a:t>frame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follows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these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logical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paths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and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provides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90" dirty="0">
                <a:latin typeface="Trebuchet MS"/>
                <a:cs typeface="Trebuchet MS"/>
              </a:rPr>
              <a:t>reliable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way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transmitting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less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chance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loss.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428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 MT</vt:lpstr>
      <vt:lpstr>Trebuchet MS</vt:lpstr>
      <vt:lpstr>Office Theme</vt:lpstr>
      <vt:lpstr>Computer Networks [Switching Techniques - DLL]</vt:lpstr>
      <vt:lpstr>What is Switching?</vt:lpstr>
      <vt:lpstr>Introduction to Switch</vt:lpstr>
      <vt:lpstr>How Network Switch Works?</vt:lpstr>
      <vt:lpstr>How Network Switch Works?</vt:lpstr>
      <vt:lpstr>The Switching Process Involves:</vt:lpstr>
      <vt:lpstr>The Switching Process Involves</vt:lpstr>
      <vt:lpstr>Types of Switching</vt:lpstr>
      <vt:lpstr>Message Switching</vt:lpstr>
      <vt:lpstr>Circuit Switching</vt:lpstr>
      <vt:lpstr>Packet Switching</vt:lpstr>
      <vt:lpstr>Datagram Packet Switching</vt:lpstr>
      <vt:lpstr>Virtual-Circuit Packet Switching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[Switching Techniques - DLL]</dc:title>
  <dc:creator>Muhammad Hammad Waseem</dc:creator>
  <cp:lastModifiedBy>Windows User</cp:lastModifiedBy>
  <cp:revision>1</cp:revision>
  <dcterms:created xsi:type="dcterms:W3CDTF">2025-06-30T07:11:14Z</dcterms:created>
  <dcterms:modified xsi:type="dcterms:W3CDTF">2025-06-30T07:19:38Z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