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6888" y="0"/>
            <a:ext cx="4325111" cy="26410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08036" y="0"/>
            <a:ext cx="4283964" cy="24216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8872"/>
            <a:ext cx="5638829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8872"/>
            <a:ext cx="5527421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4911"/>
            <a:ext cx="5638829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434162"/>
            <a:ext cx="11060430" cy="1136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13653" y="3391027"/>
            <a:ext cx="6363334" cy="310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3538854" cy="1059264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685"/>
              </a:spcBef>
            </a:pPr>
            <a:r>
              <a:rPr sz="3400" spc="-10" smtClean="0">
                <a:latin typeface="Calibri Light"/>
                <a:cs typeface="Calibri Light"/>
              </a:rPr>
              <a:t>Database</a:t>
            </a:r>
            <a:r>
              <a:rPr sz="3400" spc="-130" smtClean="0">
                <a:latin typeface="Calibri Light"/>
                <a:cs typeface="Calibri Light"/>
              </a:rPr>
              <a:t> </a:t>
            </a:r>
            <a:r>
              <a:rPr sz="3400" spc="-10" dirty="0">
                <a:latin typeface="Calibri Light"/>
                <a:cs typeface="Calibri Light"/>
              </a:rPr>
              <a:t>Systems </a:t>
            </a:r>
            <a:r>
              <a:rPr sz="3400" dirty="0">
                <a:latin typeface="Calibri Light"/>
                <a:cs typeface="Calibri Light"/>
              </a:rPr>
              <a:t>[</a:t>
            </a:r>
            <a:r>
              <a:rPr sz="3400" i="1" dirty="0">
                <a:latin typeface="Calibri Light"/>
                <a:cs typeface="Calibri Light"/>
              </a:rPr>
              <a:t>DBMS</a:t>
            </a:r>
            <a:r>
              <a:rPr sz="3400" i="1" spc="-120" dirty="0">
                <a:latin typeface="Calibri Light"/>
                <a:cs typeface="Calibri Light"/>
              </a:rPr>
              <a:t> </a:t>
            </a:r>
            <a:r>
              <a:rPr sz="3400" i="1" spc="-10" dirty="0">
                <a:latin typeface="Calibri Light"/>
                <a:cs typeface="Calibri Light"/>
              </a:rPr>
              <a:t>Architecture</a:t>
            </a:r>
            <a:r>
              <a:rPr sz="3400" spc="-10" dirty="0">
                <a:latin typeface="Calibri Light"/>
                <a:cs typeface="Calibri Light"/>
              </a:rPr>
              <a:t>]</a:t>
            </a:r>
            <a:endParaRPr sz="34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551430" cy="1184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560"/>
              </a:lnSpc>
              <a:spcBef>
                <a:spcPts val="95"/>
              </a:spcBef>
            </a:pPr>
            <a:r>
              <a:rPr sz="4000" spc="-20" dirty="0">
                <a:latin typeface="Calibri Light"/>
                <a:cs typeface="Calibri Light"/>
              </a:rPr>
              <a:t>DBMS</a:t>
            </a:r>
            <a:endParaRPr sz="4000">
              <a:latin typeface="Calibri Light"/>
              <a:cs typeface="Calibri Light"/>
            </a:endParaRPr>
          </a:p>
          <a:p>
            <a:pPr marL="12700">
              <a:lnSpc>
                <a:spcPts val="4560"/>
              </a:lnSpc>
            </a:pPr>
            <a:r>
              <a:rPr sz="4000" spc="-10" dirty="0">
                <a:latin typeface="Calibri Light"/>
                <a:cs typeface="Calibri Light"/>
              </a:rPr>
              <a:t>Architecture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017854"/>
            <a:ext cx="5083175" cy="472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DBMS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architecture.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client/server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PCs,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web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servers,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components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connected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networks.</a:t>
            </a:r>
            <a:endParaRPr sz="2400">
              <a:latin typeface="Calibri"/>
              <a:cs typeface="Calibri"/>
            </a:endParaRPr>
          </a:p>
          <a:p>
            <a:pPr marL="240029" marR="127000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client/server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consists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PCs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workstation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 	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network.</a:t>
            </a:r>
            <a:endParaRPr sz="2400">
              <a:latin typeface="Calibri"/>
              <a:cs typeface="Calibri"/>
            </a:endParaRPr>
          </a:p>
          <a:p>
            <a:pPr marL="240029" marR="12700" indent="-227329" algn="just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DBMS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how 	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request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done.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2779852"/>
            <a:ext cx="306641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0" dirty="0">
                <a:latin typeface="Calibri Light"/>
                <a:cs typeface="Calibri Light"/>
              </a:rPr>
              <a:t>Types</a:t>
            </a:r>
            <a:r>
              <a:rPr sz="4000" spc="-114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of</a:t>
            </a:r>
            <a:r>
              <a:rPr sz="4000" spc="-105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DBMS </a:t>
            </a:r>
            <a:r>
              <a:rPr sz="4000" spc="-10" dirty="0">
                <a:latin typeface="Calibri Light"/>
                <a:cs typeface="Calibri Light"/>
              </a:rPr>
              <a:t>Architecture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56478" y="1887982"/>
            <a:ext cx="2582545" cy="1299210"/>
            <a:chOff x="5856478" y="1887982"/>
            <a:chExt cx="2582545" cy="1299210"/>
          </a:xfrm>
        </p:grpSpPr>
        <p:sp>
          <p:nvSpPr>
            <p:cNvPr id="8" name="object 8"/>
            <p:cNvSpPr/>
            <p:nvPr/>
          </p:nvSpPr>
          <p:spPr>
            <a:xfrm>
              <a:off x="5862828" y="1894332"/>
              <a:ext cx="2569845" cy="1286510"/>
            </a:xfrm>
            <a:custGeom>
              <a:avLst/>
              <a:gdLst/>
              <a:ahLst/>
              <a:cxnLst/>
              <a:rect l="l" t="t" r="r" b="b"/>
              <a:pathLst>
                <a:path w="2569845" h="1286510">
                  <a:moveTo>
                    <a:pt x="2440813" y="0"/>
                  </a:moveTo>
                  <a:lnTo>
                    <a:pt x="128650" y="0"/>
                  </a:lnTo>
                  <a:lnTo>
                    <a:pt x="78545" y="10100"/>
                  </a:lnTo>
                  <a:lnTo>
                    <a:pt x="37655" y="37655"/>
                  </a:lnTo>
                  <a:lnTo>
                    <a:pt x="10100" y="78545"/>
                  </a:lnTo>
                  <a:lnTo>
                    <a:pt x="0" y="128650"/>
                  </a:lnTo>
                  <a:lnTo>
                    <a:pt x="0" y="1157604"/>
                  </a:lnTo>
                  <a:lnTo>
                    <a:pt x="10100" y="1207710"/>
                  </a:lnTo>
                  <a:lnTo>
                    <a:pt x="37655" y="1248600"/>
                  </a:lnTo>
                  <a:lnTo>
                    <a:pt x="78545" y="1276155"/>
                  </a:lnTo>
                  <a:lnTo>
                    <a:pt x="128650" y="1286255"/>
                  </a:lnTo>
                  <a:lnTo>
                    <a:pt x="2440813" y="1286255"/>
                  </a:lnTo>
                  <a:lnTo>
                    <a:pt x="2490918" y="1276155"/>
                  </a:lnTo>
                  <a:lnTo>
                    <a:pt x="2531808" y="1248600"/>
                  </a:lnTo>
                  <a:lnTo>
                    <a:pt x="2559363" y="1207710"/>
                  </a:lnTo>
                  <a:lnTo>
                    <a:pt x="2569464" y="1157604"/>
                  </a:lnTo>
                  <a:lnTo>
                    <a:pt x="2569464" y="128650"/>
                  </a:lnTo>
                  <a:lnTo>
                    <a:pt x="2559363" y="78545"/>
                  </a:lnTo>
                  <a:lnTo>
                    <a:pt x="2531808" y="37655"/>
                  </a:lnTo>
                  <a:lnTo>
                    <a:pt x="2490918" y="10100"/>
                  </a:lnTo>
                  <a:lnTo>
                    <a:pt x="244081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62828" y="1894332"/>
              <a:ext cx="2569845" cy="1286510"/>
            </a:xfrm>
            <a:custGeom>
              <a:avLst/>
              <a:gdLst/>
              <a:ahLst/>
              <a:cxnLst/>
              <a:rect l="l" t="t" r="r" b="b"/>
              <a:pathLst>
                <a:path w="2569845" h="1286510">
                  <a:moveTo>
                    <a:pt x="0" y="128650"/>
                  </a:moveTo>
                  <a:lnTo>
                    <a:pt x="10100" y="78545"/>
                  </a:lnTo>
                  <a:lnTo>
                    <a:pt x="37655" y="37655"/>
                  </a:lnTo>
                  <a:lnTo>
                    <a:pt x="78545" y="10100"/>
                  </a:lnTo>
                  <a:lnTo>
                    <a:pt x="128650" y="0"/>
                  </a:lnTo>
                  <a:lnTo>
                    <a:pt x="2440813" y="0"/>
                  </a:lnTo>
                  <a:lnTo>
                    <a:pt x="2490918" y="10100"/>
                  </a:lnTo>
                  <a:lnTo>
                    <a:pt x="2531808" y="37655"/>
                  </a:lnTo>
                  <a:lnTo>
                    <a:pt x="2559363" y="78545"/>
                  </a:lnTo>
                  <a:lnTo>
                    <a:pt x="2569464" y="128650"/>
                  </a:lnTo>
                  <a:lnTo>
                    <a:pt x="2569464" y="1157604"/>
                  </a:lnTo>
                  <a:lnTo>
                    <a:pt x="2559363" y="1207710"/>
                  </a:lnTo>
                  <a:lnTo>
                    <a:pt x="2531808" y="1248600"/>
                  </a:lnTo>
                  <a:lnTo>
                    <a:pt x="2490918" y="1276155"/>
                  </a:lnTo>
                  <a:lnTo>
                    <a:pt x="2440813" y="1286255"/>
                  </a:lnTo>
                  <a:lnTo>
                    <a:pt x="128650" y="1286255"/>
                  </a:lnTo>
                  <a:lnTo>
                    <a:pt x="78545" y="1276155"/>
                  </a:lnTo>
                  <a:lnTo>
                    <a:pt x="37655" y="1248600"/>
                  </a:lnTo>
                  <a:lnTo>
                    <a:pt x="10100" y="1207710"/>
                  </a:lnTo>
                  <a:lnTo>
                    <a:pt x="0" y="1157604"/>
                  </a:lnTo>
                  <a:lnTo>
                    <a:pt x="0" y="12865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919978" y="1912442"/>
            <a:ext cx="2458720" cy="1136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4370"/>
              </a:lnSpc>
              <a:spcBef>
                <a:spcPts val="105"/>
              </a:spcBef>
            </a:pPr>
            <a:r>
              <a:rPr sz="3800" spc="-20" dirty="0">
                <a:solidFill>
                  <a:srgbClr val="FFFFFF"/>
                </a:solidFill>
                <a:latin typeface="Calibri"/>
                <a:cs typeface="Calibri"/>
              </a:rPr>
              <a:t>DBMS</a:t>
            </a:r>
            <a:endParaRPr sz="3800">
              <a:latin typeface="Calibri"/>
              <a:cs typeface="Calibri"/>
            </a:endParaRPr>
          </a:p>
          <a:p>
            <a:pPr algn="ctr">
              <a:lnSpc>
                <a:spcPts val="4370"/>
              </a:lnSpc>
            </a:pPr>
            <a:r>
              <a:rPr sz="3800" spc="-10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endParaRPr sz="3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426450" y="411226"/>
            <a:ext cx="3610610" cy="2132965"/>
            <a:chOff x="8426450" y="411226"/>
            <a:chExt cx="3610610" cy="2132965"/>
          </a:xfrm>
        </p:grpSpPr>
        <p:sp>
          <p:nvSpPr>
            <p:cNvPr id="12" name="object 12"/>
            <p:cNvSpPr/>
            <p:nvPr/>
          </p:nvSpPr>
          <p:spPr>
            <a:xfrm>
              <a:off x="8432800" y="1059434"/>
              <a:ext cx="1028065" cy="1478280"/>
            </a:xfrm>
            <a:custGeom>
              <a:avLst/>
              <a:gdLst/>
              <a:ahLst/>
              <a:cxnLst/>
              <a:rect l="l" t="t" r="r" b="b"/>
              <a:pathLst>
                <a:path w="1028065" h="1478280">
                  <a:moveTo>
                    <a:pt x="0" y="1477899"/>
                  </a:moveTo>
                  <a:lnTo>
                    <a:pt x="1028065" y="0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60991" y="417576"/>
              <a:ext cx="2569845" cy="1285240"/>
            </a:xfrm>
            <a:custGeom>
              <a:avLst/>
              <a:gdLst/>
              <a:ahLst/>
              <a:cxnLst/>
              <a:rect l="l" t="t" r="r" b="b"/>
              <a:pathLst>
                <a:path w="2569845" h="1285239">
                  <a:moveTo>
                    <a:pt x="2440939" y="0"/>
                  </a:moveTo>
                  <a:lnTo>
                    <a:pt x="128524" y="0"/>
                  </a:lnTo>
                  <a:lnTo>
                    <a:pt x="78491" y="10098"/>
                  </a:lnTo>
                  <a:lnTo>
                    <a:pt x="37639" y="37639"/>
                  </a:lnTo>
                  <a:lnTo>
                    <a:pt x="10098" y="78491"/>
                  </a:lnTo>
                  <a:lnTo>
                    <a:pt x="0" y="128524"/>
                  </a:lnTo>
                  <a:lnTo>
                    <a:pt x="0" y="1156208"/>
                  </a:lnTo>
                  <a:lnTo>
                    <a:pt x="10098" y="1206240"/>
                  </a:lnTo>
                  <a:lnTo>
                    <a:pt x="37639" y="1247092"/>
                  </a:lnTo>
                  <a:lnTo>
                    <a:pt x="78491" y="1274633"/>
                  </a:lnTo>
                  <a:lnTo>
                    <a:pt x="128524" y="1284732"/>
                  </a:lnTo>
                  <a:lnTo>
                    <a:pt x="2440939" y="1284732"/>
                  </a:lnTo>
                  <a:lnTo>
                    <a:pt x="2490972" y="1274633"/>
                  </a:lnTo>
                  <a:lnTo>
                    <a:pt x="2531824" y="1247092"/>
                  </a:lnTo>
                  <a:lnTo>
                    <a:pt x="2559365" y="1206240"/>
                  </a:lnTo>
                  <a:lnTo>
                    <a:pt x="2569463" y="1156208"/>
                  </a:lnTo>
                  <a:lnTo>
                    <a:pt x="2569463" y="128524"/>
                  </a:lnTo>
                  <a:lnTo>
                    <a:pt x="2559365" y="78491"/>
                  </a:lnTo>
                  <a:lnTo>
                    <a:pt x="2531824" y="37639"/>
                  </a:lnTo>
                  <a:lnTo>
                    <a:pt x="2490972" y="10098"/>
                  </a:lnTo>
                  <a:lnTo>
                    <a:pt x="2440939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460991" y="417576"/>
              <a:ext cx="2569845" cy="1285240"/>
            </a:xfrm>
            <a:custGeom>
              <a:avLst/>
              <a:gdLst/>
              <a:ahLst/>
              <a:cxnLst/>
              <a:rect l="l" t="t" r="r" b="b"/>
              <a:pathLst>
                <a:path w="2569845" h="1285239">
                  <a:moveTo>
                    <a:pt x="0" y="128524"/>
                  </a:moveTo>
                  <a:lnTo>
                    <a:pt x="10098" y="78491"/>
                  </a:lnTo>
                  <a:lnTo>
                    <a:pt x="37639" y="37639"/>
                  </a:lnTo>
                  <a:lnTo>
                    <a:pt x="78491" y="10098"/>
                  </a:lnTo>
                  <a:lnTo>
                    <a:pt x="128524" y="0"/>
                  </a:lnTo>
                  <a:lnTo>
                    <a:pt x="2440939" y="0"/>
                  </a:lnTo>
                  <a:lnTo>
                    <a:pt x="2490972" y="10098"/>
                  </a:lnTo>
                  <a:lnTo>
                    <a:pt x="2531824" y="37639"/>
                  </a:lnTo>
                  <a:lnTo>
                    <a:pt x="2559365" y="78491"/>
                  </a:lnTo>
                  <a:lnTo>
                    <a:pt x="2569463" y="128524"/>
                  </a:lnTo>
                  <a:lnTo>
                    <a:pt x="2569463" y="1156208"/>
                  </a:lnTo>
                  <a:lnTo>
                    <a:pt x="2559365" y="1206240"/>
                  </a:lnTo>
                  <a:lnTo>
                    <a:pt x="2531824" y="1247092"/>
                  </a:lnTo>
                  <a:lnTo>
                    <a:pt x="2490972" y="1274633"/>
                  </a:lnTo>
                  <a:lnTo>
                    <a:pt x="2440939" y="1284732"/>
                  </a:lnTo>
                  <a:lnTo>
                    <a:pt x="128524" y="1284732"/>
                  </a:lnTo>
                  <a:lnTo>
                    <a:pt x="78491" y="1274633"/>
                  </a:lnTo>
                  <a:lnTo>
                    <a:pt x="37639" y="1247092"/>
                  </a:lnTo>
                  <a:lnTo>
                    <a:pt x="10098" y="1206240"/>
                  </a:lnTo>
                  <a:lnTo>
                    <a:pt x="0" y="1156208"/>
                  </a:lnTo>
                  <a:lnTo>
                    <a:pt x="0" y="1285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8614410" marR="5080" indent="676275">
              <a:lnSpc>
                <a:spcPts val="4180"/>
              </a:lnSpc>
              <a:spcBef>
                <a:spcPts val="560"/>
              </a:spcBef>
            </a:pPr>
            <a:r>
              <a:rPr sz="3800" spc="-10" dirty="0">
                <a:solidFill>
                  <a:srgbClr val="FFFFFF"/>
                </a:solidFill>
                <a:latin typeface="Calibri"/>
                <a:cs typeface="Calibri"/>
              </a:rPr>
              <a:t>1-</a:t>
            </a:r>
            <a:r>
              <a:rPr sz="3800" spc="-20" dirty="0">
                <a:solidFill>
                  <a:srgbClr val="FFFFFF"/>
                </a:solidFill>
                <a:latin typeface="Calibri"/>
                <a:cs typeface="Calibri"/>
              </a:rPr>
              <a:t>tier Architecture</a:t>
            </a:r>
            <a:endParaRPr sz="3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425942" y="1887982"/>
            <a:ext cx="3611245" cy="1299210"/>
            <a:chOff x="8425942" y="1887982"/>
            <a:chExt cx="3611245" cy="1299210"/>
          </a:xfrm>
        </p:grpSpPr>
        <p:sp>
          <p:nvSpPr>
            <p:cNvPr id="17" name="object 17"/>
            <p:cNvSpPr/>
            <p:nvPr/>
          </p:nvSpPr>
          <p:spPr>
            <a:xfrm>
              <a:off x="8432292" y="2537333"/>
              <a:ext cx="1028065" cy="0"/>
            </a:xfrm>
            <a:custGeom>
              <a:avLst/>
              <a:gdLst/>
              <a:ahLst/>
              <a:cxnLst/>
              <a:rect l="l" t="t" r="r" b="b"/>
              <a:pathLst>
                <a:path w="1028065">
                  <a:moveTo>
                    <a:pt x="0" y="0"/>
                  </a:moveTo>
                  <a:lnTo>
                    <a:pt x="1028064" y="0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60992" y="1894332"/>
              <a:ext cx="2569845" cy="1286510"/>
            </a:xfrm>
            <a:custGeom>
              <a:avLst/>
              <a:gdLst/>
              <a:ahLst/>
              <a:cxnLst/>
              <a:rect l="l" t="t" r="r" b="b"/>
              <a:pathLst>
                <a:path w="2569845" h="1286510">
                  <a:moveTo>
                    <a:pt x="2440812" y="0"/>
                  </a:moveTo>
                  <a:lnTo>
                    <a:pt x="128650" y="0"/>
                  </a:lnTo>
                  <a:lnTo>
                    <a:pt x="78545" y="10100"/>
                  </a:lnTo>
                  <a:lnTo>
                    <a:pt x="37655" y="37655"/>
                  </a:lnTo>
                  <a:lnTo>
                    <a:pt x="10100" y="78545"/>
                  </a:lnTo>
                  <a:lnTo>
                    <a:pt x="0" y="128650"/>
                  </a:lnTo>
                  <a:lnTo>
                    <a:pt x="0" y="1157604"/>
                  </a:lnTo>
                  <a:lnTo>
                    <a:pt x="10100" y="1207710"/>
                  </a:lnTo>
                  <a:lnTo>
                    <a:pt x="37655" y="1248600"/>
                  </a:lnTo>
                  <a:lnTo>
                    <a:pt x="78545" y="1276155"/>
                  </a:lnTo>
                  <a:lnTo>
                    <a:pt x="128650" y="1286255"/>
                  </a:lnTo>
                  <a:lnTo>
                    <a:pt x="2440812" y="1286255"/>
                  </a:lnTo>
                  <a:lnTo>
                    <a:pt x="2490918" y="1276155"/>
                  </a:lnTo>
                  <a:lnTo>
                    <a:pt x="2531808" y="1248600"/>
                  </a:lnTo>
                  <a:lnTo>
                    <a:pt x="2559363" y="1207710"/>
                  </a:lnTo>
                  <a:lnTo>
                    <a:pt x="2569463" y="1157604"/>
                  </a:lnTo>
                  <a:lnTo>
                    <a:pt x="2569463" y="128650"/>
                  </a:lnTo>
                  <a:lnTo>
                    <a:pt x="2559363" y="78545"/>
                  </a:lnTo>
                  <a:lnTo>
                    <a:pt x="2531808" y="37655"/>
                  </a:lnTo>
                  <a:lnTo>
                    <a:pt x="2490918" y="10100"/>
                  </a:lnTo>
                  <a:lnTo>
                    <a:pt x="244081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60992" y="1894332"/>
              <a:ext cx="2569845" cy="1286510"/>
            </a:xfrm>
            <a:custGeom>
              <a:avLst/>
              <a:gdLst/>
              <a:ahLst/>
              <a:cxnLst/>
              <a:rect l="l" t="t" r="r" b="b"/>
              <a:pathLst>
                <a:path w="2569845" h="1286510">
                  <a:moveTo>
                    <a:pt x="0" y="128650"/>
                  </a:moveTo>
                  <a:lnTo>
                    <a:pt x="10100" y="78545"/>
                  </a:lnTo>
                  <a:lnTo>
                    <a:pt x="37655" y="37655"/>
                  </a:lnTo>
                  <a:lnTo>
                    <a:pt x="78545" y="10100"/>
                  </a:lnTo>
                  <a:lnTo>
                    <a:pt x="128650" y="0"/>
                  </a:lnTo>
                  <a:lnTo>
                    <a:pt x="2440812" y="0"/>
                  </a:lnTo>
                  <a:lnTo>
                    <a:pt x="2490918" y="10100"/>
                  </a:lnTo>
                  <a:lnTo>
                    <a:pt x="2531808" y="37655"/>
                  </a:lnTo>
                  <a:lnTo>
                    <a:pt x="2559363" y="78545"/>
                  </a:lnTo>
                  <a:lnTo>
                    <a:pt x="2569463" y="128650"/>
                  </a:lnTo>
                  <a:lnTo>
                    <a:pt x="2569463" y="1157604"/>
                  </a:lnTo>
                  <a:lnTo>
                    <a:pt x="2559363" y="1207710"/>
                  </a:lnTo>
                  <a:lnTo>
                    <a:pt x="2531808" y="1248600"/>
                  </a:lnTo>
                  <a:lnTo>
                    <a:pt x="2490918" y="1276155"/>
                  </a:lnTo>
                  <a:lnTo>
                    <a:pt x="2440812" y="1286255"/>
                  </a:lnTo>
                  <a:lnTo>
                    <a:pt x="128650" y="1286255"/>
                  </a:lnTo>
                  <a:lnTo>
                    <a:pt x="78545" y="1276155"/>
                  </a:lnTo>
                  <a:lnTo>
                    <a:pt x="37655" y="1248600"/>
                  </a:lnTo>
                  <a:lnTo>
                    <a:pt x="10100" y="1207710"/>
                  </a:lnTo>
                  <a:lnTo>
                    <a:pt x="0" y="1157604"/>
                  </a:lnTo>
                  <a:lnTo>
                    <a:pt x="0" y="1286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518650" y="1912442"/>
            <a:ext cx="2458720" cy="11366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676275">
              <a:lnSpc>
                <a:spcPts val="4180"/>
              </a:lnSpc>
              <a:spcBef>
                <a:spcPts val="560"/>
              </a:spcBef>
            </a:pPr>
            <a:r>
              <a:rPr sz="3800" spc="-10" dirty="0">
                <a:solidFill>
                  <a:srgbClr val="FFFFFF"/>
                </a:solidFill>
                <a:latin typeface="Calibri"/>
                <a:cs typeface="Calibri"/>
              </a:rPr>
              <a:t>2-</a:t>
            </a:r>
            <a:r>
              <a:rPr sz="3800" spc="-20" dirty="0">
                <a:solidFill>
                  <a:srgbClr val="FFFFFF"/>
                </a:solidFill>
                <a:latin typeface="Calibri"/>
                <a:cs typeface="Calibri"/>
              </a:rPr>
              <a:t>tier Architecture</a:t>
            </a:r>
            <a:endParaRPr sz="3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426450" y="2530982"/>
            <a:ext cx="3610610" cy="2132965"/>
            <a:chOff x="8426450" y="2530982"/>
            <a:chExt cx="3610610" cy="2132965"/>
          </a:xfrm>
        </p:grpSpPr>
        <p:sp>
          <p:nvSpPr>
            <p:cNvPr id="22" name="object 22"/>
            <p:cNvSpPr/>
            <p:nvPr/>
          </p:nvSpPr>
          <p:spPr>
            <a:xfrm>
              <a:off x="8432800" y="2537332"/>
              <a:ext cx="1028065" cy="1478280"/>
            </a:xfrm>
            <a:custGeom>
              <a:avLst/>
              <a:gdLst/>
              <a:ahLst/>
              <a:cxnLst/>
              <a:rect l="l" t="t" r="r" b="b"/>
              <a:pathLst>
                <a:path w="1028065" h="1478279">
                  <a:moveTo>
                    <a:pt x="0" y="0"/>
                  </a:moveTo>
                  <a:lnTo>
                    <a:pt x="1028065" y="1477898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460991" y="3372611"/>
              <a:ext cx="2569845" cy="1285240"/>
            </a:xfrm>
            <a:custGeom>
              <a:avLst/>
              <a:gdLst/>
              <a:ahLst/>
              <a:cxnLst/>
              <a:rect l="l" t="t" r="r" b="b"/>
              <a:pathLst>
                <a:path w="2569845" h="1285239">
                  <a:moveTo>
                    <a:pt x="2440939" y="0"/>
                  </a:moveTo>
                  <a:lnTo>
                    <a:pt x="128524" y="0"/>
                  </a:lnTo>
                  <a:lnTo>
                    <a:pt x="78491" y="10098"/>
                  </a:lnTo>
                  <a:lnTo>
                    <a:pt x="37639" y="37639"/>
                  </a:lnTo>
                  <a:lnTo>
                    <a:pt x="10098" y="78491"/>
                  </a:lnTo>
                  <a:lnTo>
                    <a:pt x="0" y="128524"/>
                  </a:lnTo>
                  <a:lnTo>
                    <a:pt x="0" y="1156208"/>
                  </a:lnTo>
                  <a:lnTo>
                    <a:pt x="10098" y="1206240"/>
                  </a:lnTo>
                  <a:lnTo>
                    <a:pt x="37639" y="1247092"/>
                  </a:lnTo>
                  <a:lnTo>
                    <a:pt x="78491" y="1274633"/>
                  </a:lnTo>
                  <a:lnTo>
                    <a:pt x="128524" y="1284732"/>
                  </a:lnTo>
                  <a:lnTo>
                    <a:pt x="2440939" y="1284732"/>
                  </a:lnTo>
                  <a:lnTo>
                    <a:pt x="2490972" y="1274633"/>
                  </a:lnTo>
                  <a:lnTo>
                    <a:pt x="2531824" y="1247092"/>
                  </a:lnTo>
                  <a:lnTo>
                    <a:pt x="2559365" y="1206240"/>
                  </a:lnTo>
                  <a:lnTo>
                    <a:pt x="2569463" y="1156208"/>
                  </a:lnTo>
                  <a:lnTo>
                    <a:pt x="2569463" y="128524"/>
                  </a:lnTo>
                  <a:lnTo>
                    <a:pt x="2559365" y="78491"/>
                  </a:lnTo>
                  <a:lnTo>
                    <a:pt x="2531824" y="37639"/>
                  </a:lnTo>
                  <a:lnTo>
                    <a:pt x="2490972" y="10098"/>
                  </a:lnTo>
                  <a:lnTo>
                    <a:pt x="2440939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460991" y="3372611"/>
              <a:ext cx="2569845" cy="1285240"/>
            </a:xfrm>
            <a:custGeom>
              <a:avLst/>
              <a:gdLst/>
              <a:ahLst/>
              <a:cxnLst/>
              <a:rect l="l" t="t" r="r" b="b"/>
              <a:pathLst>
                <a:path w="2569845" h="1285239">
                  <a:moveTo>
                    <a:pt x="0" y="128524"/>
                  </a:moveTo>
                  <a:lnTo>
                    <a:pt x="10098" y="78491"/>
                  </a:lnTo>
                  <a:lnTo>
                    <a:pt x="37639" y="37639"/>
                  </a:lnTo>
                  <a:lnTo>
                    <a:pt x="78491" y="10098"/>
                  </a:lnTo>
                  <a:lnTo>
                    <a:pt x="128524" y="0"/>
                  </a:lnTo>
                  <a:lnTo>
                    <a:pt x="2440939" y="0"/>
                  </a:lnTo>
                  <a:lnTo>
                    <a:pt x="2490972" y="10098"/>
                  </a:lnTo>
                  <a:lnTo>
                    <a:pt x="2531824" y="37639"/>
                  </a:lnTo>
                  <a:lnTo>
                    <a:pt x="2559365" y="78491"/>
                  </a:lnTo>
                  <a:lnTo>
                    <a:pt x="2569463" y="128524"/>
                  </a:lnTo>
                  <a:lnTo>
                    <a:pt x="2569463" y="1156208"/>
                  </a:lnTo>
                  <a:lnTo>
                    <a:pt x="2559365" y="1206240"/>
                  </a:lnTo>
                  <a:lnTo>
                    <a:pt x="2531824" y="1247092"/>
                  </a:lnTo>
                  <a:lnTo>
                    <a:pt x="2490972" y="1274633"/>
                  </a:lnTo>
                  <a:lnTo>
                    <a:pt x="2440939" y="1284732"/>
                  </a:lnTo>
                  <a:lnTo>
                    <a:pt x="128524" y="1284732"/>
                  </a:lnTo>
                  <a:lnTo>
                    <a:pt x="78491" y="1274633"/>
                  </a:lnTo>
                  <a:lnTo>
                    <a:pt x="37639" y="1247092"/>
                  </a:lnTo>
                  <a:lnTo>
                    <a:pt x="10098" y="1206240"/>
                  </a:lnTo>
                  <a:lnTo>
                    <a:pt x="0" y="1156208"/>
                  </a:lnTo>
                  <a:lnTo>
                    <a:pt x="0" y="1285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917315" marR="5080" indent="676275">
              <a:lnSpc>
                <a:spcPts val="4180"/>
              </a:lnSpc>
              <a:spcBef>
                <a:spcPts val="560"/>
              </a:spcBef>
            </a:pPr>
            <a:r>
              <a:rPr spc="-10" dirty="0"/>
              <a:t>3-</a:t>
            </a:r>
            <a:r>
              <a:rPr spc="-20" dirty="0"/>
              <a:t>tier Architecture</a:t>
            </a:r>
          </a:p>
          <a:p>
            <a:pPr marL="240029" marR="125730" indent="-227329">
              <a:lnSpc>
                <a:spcPct val="90000"/>
              </a:lnSpc>
              <a:spcBef>
                <a:spcPts val="332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00000"/>
                </a:solidFill>
              </a:rPr>
              <a:t>Database</a:t>
            </a:r>
            <a:r>
              <a:rPr sz="2800" spc="-50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architecture</a:t>
            </a:r>
            <a:r>
              <a:rPr sz="2800" spc="-5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can</a:t>
            </a:r>
            <a:r>
              <a:rPr sz="2800" spc="-5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be</a:t>
            </a:r>
            <a:r>
              <a:rPr sz="2800" spc="-5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seen</a:t>
            </a:r>
            <a:r>
              <a:rPr sz="2800" spc="-5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as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spc="-50" dirty="0">
                <a:solidFill>
                  <a:srgbClr val="000000"/>
                </a:solidFill>
              </a:rPr>
              <a:t>a 	</a:t>
            </a:r>
            <a:r>
              <a:rPr sz="2800" dirty="0">
                <a:solidFill>
                  <a:srgbClr val="000000"/>
                </a:solidFill>
              </a:rPr>
              <a:t>single</a:t>
            </a:r>
            <a:r>
              <a:rPr sz="2800" spc="-4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tier</a:t>
            </a:r>
            <a:r>
              <a:rPr sz="2800" spc="-5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or</a:t>
            </a:r>
            <a:r>
              <a:rPr sz="2800" spc="-20" dirty="0">
                <a:solidFill>
                  <a:srgbClr val="000000"/>
                </a:solidFill>
              </a:rPr>
              <a:t> multi-</a:t>
            </a:r>
            <a:r>
              <a:rPr sz="2800" spc="-40" dirty="0">
                <a:solidFill>
                  <a:srgbClr val="000000"/>
                </a:solidFill>
              </a:rPr>
              <a:t>tier.</a:t>
            </a:r>
            <a:r>
              <a:rPr sz="2800" spc="-1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But</a:t>
            </a:r>
            <a:r>
              <a:rPr sz="2800" spc="-15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logically, 	</a:t>
            </a:r>
            <a:r>
              <a:rPr sz="2800" dirty="0">
                <a:solidFill>
                  <a:srgbClr val="000000"/>
                </a:solidFill>
              </a:rPr>
              <a:t>database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architecture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is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of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two</a:t>
            </a:r>
            <a:r>
              <a:rPr sz="2800" spc="-8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types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like: 	</a:t>
            </a:r>
            <a:r>
              <a:rPr sz="2800" spc="-25" dirty="0">
                <a:solidFill>
                  <a:srgbClr val="000000"/>
                </a:solidFill>
              </a:rPr>
              <a:t>2-</a:t>
            </a:r>
            <a:r>
              <a:rPr sz="2800" dirty="0">
                <a:solidFill>
                  <a:srgbClr val="000000"/>
                </a:solidFill>
              </a:rPr>
              <a:t>tier</a:t>
            </a:r>
            <a:r>
              <a:rPr sz="2800" spc="-20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architecture</a:t>
            </a:r>
            <a:r>
              <a:rPr sz="2800" spc="-3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and</a:t>
            </a:r>
            <a:r>
              <a:rPr sz="2800" spc="-25" dirty="0">
                <a:solidFill>
                  <a:srgbClr val="000000"/>
                </a:solidFill>
              </a:rPr>
              <a:t> 3-</a:t>
            </a:r>
            <a:r>
              <a:rPr sz="2800" dirty="0">
                <a:solidFill>
                  <a:srgbClr val="000000"/>
                </a:solidFill>
              </a:rPr>
              <a:t>tier</a:t>
            </a:r>
            <a:r>
              <a:rPr sz="2800" spc="-20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architecture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6888" y="0"/>
            <a:ext cx="4325620" cy="2641600"/>
            <a:chOff x="7866888" y="0"/>
            <a:chExt cx="4325620" cy="2641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6888" y="0"/>
              <a:ext cx="4325111" cy="26410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8036" y="0"/>
              <a:ext cx="4283964" cy="242163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8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1-</a:t>
            </a:r>
            <a:r>
              <a:rPr dirty="0"/>
              <a:t>Tier</a:t>
            </a:r>
            <a:r>
              <a:rPr spc="1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706841"/>
            <a:ext cx="10054590" cy="33528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available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user.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directly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DBMS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uses</a:t>
            </a:r>
            <a:r>
              <a:rPr sz="2800" spc="-25" dirty="0">
                <a:latin typeface="Calibri"/>
                <a:cs typeface="Calibri"/>
              </a:rPr>
              <a:t> it.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Any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done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done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itself.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doesn't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tool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users.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1-</a:t>
            </a:r>
            <a:r>
              <a:rPr sz="2800" dirty="0">
                <a:latin typeface="Calibri"/>
                <a:cs typeface="Calibri"/>
              </a:rPr>
              <a:t>Tier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local 	</a:t>
            </a:r>
            <a:r>
              <a:rPr sz="2800" dirty="0">
                <a:latin typeface="Calibri"/>
                <a:cs typeface="Calibri"/>
              </a:rPr>
              <a:t>application,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programmers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quick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response.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8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2-</a:t>
            </a:r>
            <a:r>
              <a:rPr dirty="0"/>
              <a:t>Tier</a:t>
            </a:r>
            <a:r>
              <a:rPr spc="1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547"/>
            <a:ext cx="10343515" cy="407542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2-</a:t>
            </a:r>
            <a:r>
              <a:rPr sz="2800" dirty="0">
                <a:latin typeface="Calibri"/>
                <a:cs typeface="Calibri"/>
              </a:rPr>
              <a:t>Tier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basic </a:t>
            </a:r>
            <a:r>
              <a:rPr sz="2800" spc="-20" dirty="0">
                <a:latin typeface="Calibri"/>
                <a:cs typeface="Calibri"/>
              </a:rPr>
              <a:t>client-</a:t>
            </a:r>
            <a:r>
              <a:rPr sz="2800" spc="-10" dirty="0">
                <a:latin typeface="Calibri"/>
                <a:cs typeface="Calibri"/>
              </a:rPr>
              <a:t>server.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269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two-</a:t>
            </a:r>
            <a:r>
              <a:rPr sz="2800" dirty="0">
                <a:latin typeface="Calibri"/>
                <a:cs typeface="Calibri"/>
              </a:rPr>
              <a:t>tier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client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directly 	communicate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side.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this 	</a:t>
            </a:r>
            <a:r>
              <a:rPr sz="2800" spc="-10" dirty="0">
                <a:latin typeface="Calibri"/>
                <a:cs typeface="Calibri"/>
              </a:rPr>
              <a:t>interaction,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API's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used.</a:t>
            </a:r>
            <a:endParaRPr sz="2800">
              <a:latin typeface="Calibri"/>
              <a:cs typeface="Calibri"/>
            </a:endParaRPr>
          </a:p>
          <a:p>
            <a:pPr marL="240029" marR="290830" indent="-227329">
              <a:lnSpc>
                <a:spcPts val="26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ODBC,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JDBC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interfaces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run 	</a:t>
            </a:r>
            <a:r>
              <a:rPr sz="2800" dirty="0">
                <a:latin typeface="Calibri"/>
                <a:cs typeface="Calibri"/>
              </a:rPr>
              <a:t>on the </a:t>
            </a:r>
            <a:r>
              <a:rPr sz="2800" spc="-20" dirty="0">
                <a:latin typeface="Calibri"/>
                <a:cs typeface="Calibri"/>
              </a:rPr>
              <a:t>client-side.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269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responsible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functionalities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query 	</a:t>
            </a:r>
            <a:r>
              <a:rPr sz="2800" dirty="0">
                <a:latin typeface="Calibri"/>
                <a:cs typeface="Calibri"/>
              </a:rPr>
              <a:t>processing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transaction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management.</a:t>
            </a:r>
            <a:endParaRPr sz="2800">
              <a:latin typeface="Calibri"/>
              <a:cs typeface="Calibri"/>
            </a:endParaRPr>
          </a:p>
          <a:p>
            <a:pPr marL="240029" marR="219075" indent="-227329">
              <a:lnSpc>
                <a:spcPct val="8000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DBMS,</a:t>
            </a:r>
            <a:r>
              <a:rPr sz="2800" spc="-25" dirty="0">
                <a:latin typeface="Calibri"/>
                <a:cs typeface="Calibri"/>
              </a:rPr>
              <a:t> client-</a:t>
            </a:r>
            <a:r>
              <a:rPr sz="2800" dirty="0">
                <a:latin typeface="Calibri"/>
                <a:cs typeface="Calibri"/>
              </a:rPr>
              <a:t>side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establishes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connection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side.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3411" y="2779852"/>
            <a:ext cx="255143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/>
              <a:t>2-</a:t>
            </a:r>
            <a:r>
              <a:rPr sz="4000" spc="-20" dirty="0"/>
              <a:t>tier Architecture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0129" y="1090180"/>
            <a:ext cx="4809892" cy="46656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8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3-</a:t>
            </a:r>
            <a:r>
              <a:rPr dirty="0"/>
              <a:t>Tier</a:t>
            </a:r>
            <a:r>
              <a:rPr spc="1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67950" cy="39065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 algn="just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3-</a:t>
            </a:r>
            <a:r>
              <a:rPr sz="2800" dirty="0">
                <a:latin typeface="Calibri"/>
                <a:cs typeface="Calibri"/>
              </a:rPr>
              <a:t>Tier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contains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another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client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spc="-30" dirty="0">
                <a:latin typeface="Calibri"/>
                <a:cs typeface="Calibri"/>
              </a:rPr>
              <a:t>server.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client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can't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directly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server.</a:t>
            </a:r>
            <a:endParaRPr sz="2800">
              <a:latin typeface="Calibri"/>
              <a:cs typeface="Calibri"/>
            </a:endParaRPr>
          </a:p>
          <a:p>
            <a:pPr marL="240029" marR="102870" indent="-227329" algn="just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client-</a:t>
            </a:r>
            <a:r>
              <a:rPr sz="2800" dirty="0">
                <a:latin typeface="Calibri"/>
                <a:cs typeface="Calibri"/>
              </a:rPr>
              <a:t>end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interacts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server 	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further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system.</a:t>
            </a:r>
            <a:endParaRPr sz="2800">
              <a:latin typeface="Calibri"/>
              <a:cs typeface="Calibri"/>
            </a:endParaRPr>
          </a:p>
          <a:p>
            <a:pPr marL="240029" marR="36830" indent="-227329">
              <a:lnSpc>
                <a:spcPct val="90000"/>
              </a:lnSpc>
              <a:spcBef>
                <a:spcPts val="94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existence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beyond</a:t>
            </a:r>
            <a:r>
              <a:rPr sz="2800" spc="-25" dirty="0">
                <a:latin typeface="Calibri"/>
                <a:cs typeface="Calibri"/>
              </a:rPr>
              <a:t> the 	</a:t>
            </a:r>
            <a:r>
              <a:rPr sz="2800" dirty="0">
                <a:latin typeface="Calibri"/>
                <a:cs typeface="Calibri"/>
              </a:rPr>
              <a:t>application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server.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 	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beyond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3-</a:t>
            </a:r>
            <a:r>
              <a:rPr sz="2800" dirty="0">
                <a:latin typeface="Calibri"/>
                <a:cs typeface="Calibri"/>
              </a:rPr>
              <a:t>Tier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3411" y="2779852"/>
            <a:ext cx="255143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/>
              <a:t>3-</a:t>
            </a:r>
            <a:r>
              <a:rPr sz="4000" spc="-20" dirty="0"/>
              <a:t>tier Architecture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5231" y="607235"/>
            <a:ext cx="4923117" cy="54391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4" y="2718942"/>
            <a:ext cx="83299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Three</a:t>
            </a:r>
            <a:r>
              <a:rPr sz="6000" spc="-60" dirty="0"/>
              <a:t> </a:t>
            </a:r>
            <a:r>
              <a:rPr sz="6000" dirty="0"/>
              <a:t>Schema</a:t>
            </a:r>
            <a:r>
              <a:rPr sz="6000" spc="-55" dirty="0"/>
              <a:t> </a:t>
            </a:r>
            <a:r>
              <a:rPr sz="6000" spc="-10" dirty="0"/>
              <a:t>Architecture</a:t>
            </a:r>
            <a:endParaRPr sz="6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2779852"/>
            <a:ext cx="292163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Three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Schema Architecture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0167" y="1119378"/>
            <a:ext cx="5147945" cy="45224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288925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also 	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ANSI/SPARC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architecture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</a:t>
            </a:r>
            <a:r>
              <a:rPr sz="2400" b="1" spc="-25" dirty="0">
                <a:latin typeface="Calibri"/>
                <a:cs typeface="Calibri"/>
              </a:rPr>
              <a:t>three-</a:t>
            </a:r>
            <a:r>
              <a:rPr sz="2400" b="1" dirty="0">
                <a:latin typeface="Calibri"/>
                <a:cs typeface="Calibri"/>
              </a:rPr>
              <a:t>level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architecture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42545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framework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40029" marR="192405" indent="-227329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also 	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separate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applications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physical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contains 	</a:t>
            </a:r>
            <a:r>
              <a:rPr sz="2400" spc="-20" dirty="0">
                <a:latin typeface="Calibri"/>
                <a:cs typeface="Calibri"/>
              </a:rPr>
              <a:t>three-</a:t>
            </a:r>
            <a:r>
              <a:rPr sz="2400" spc="-10" dirty="0">
                <a:latin typeface="Calibri"/>
                <a:cs typeface="Calibri"/>
              </a:rPr>
              <a:t>levels.</a:t>
            </a:r>
            <a:endParaRPr sz="2400">
              <a:latin typeface="Calibri"/>
              <a:cs typeface="Calibri"/>
            </a:endParaRPr>
          </a:p>
          <a:p>
            <a:pPr marL="240029" marR="104775" indent="-227329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breaks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down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three 	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categories.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8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Three</a:t>
            </a:r>
            <a:r>
              <a:rPr spc="-60" dirty="0"/>
              <a:t> </a:t>
            </a:r>
            <a:r>
              <a:rPr dirty="0"/>
              <a:t>Schema</a:t>
            </a:r>
            <a:r>
              <a:rPr spc="-3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117455" cy="37369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DBMS</a:t>
            </a:r>
            <a:r>
              <a:rPr sz="2800" spc="-10" dirty="0">
                <a:latin typeface="Calibri"/>
                <a:cs typeface="Calibri"/>
              </a:rPr>
              <a:t> architecture.</a:t>
            </a:r>
            <a:endParaRPr sz="2800">
              <a:latin typeface="Calibri"/>
              <a:cs typeface="Calibri"/>
            </a:endParaRPr>
          </a:p>
          <a:p>
            <a:pPr marL="240029" marR="487045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Mapping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transform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request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 	</a:t>
            </a:r>
            <a:r>
              <a:rPr sz="2800" dirty="0">
                <a:latin typeface="Calibri"/>
                <a:cs typeface="Calibri"/>
              </a:rPr>
              <a:t>various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levels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Mapping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good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small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DBMS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takes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time.</a:t>
            </a:r>
            <a:endParaRPr sz="2800">
              <a:latin typeface="Calibri"/>
              <a:cs typeface="Calibri"/>
            </a:endParaRPr>
          </a:p>
          <a:p>
            <a:pPr marL="240029" marR="398145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External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Conceptual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mapping,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necessary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transform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request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external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level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conceptual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schema.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Conceptual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Internal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mapping,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DBMS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transform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request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conceptual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level.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05836"/>
            <a:ext cx="2921635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Objectives</a:t>
            </a:r>
            <a:r>
              <a:rPr sz="4000" spc="-20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dirty="0">
                <a:latin typeface="Calibri Light"/>
                <a:cs typeface="Calibri Light"/>
              </a:rPr>
              <a:t>Three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Schema Architecture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133091"/>
            <a:ext cx="5067935" cy="24949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objective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 	architecture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enable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users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personalized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underlying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once.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Thus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separates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user’s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from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physical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31517"/>
            <a:ext cx="2921000" cy="2280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Three</a:t>
            </a:r>
            <a:r>
              <a:rPr sz="4000" spc="-16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Schema Architecture: </a:t>
            </a:r>
            <a:r>
              <a:rPr sz="4000" spc="-35" dirty="0">
                <a:latin typeface="Calibri Light"/>
                <a:cs typeface="Calibri Light"/>
              </a:rPr>
              <a:t>Reasons</a:t>
            </a:r>
            <a:r>
              <a:rPr sz="4000" spc="-17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10" dirty="0">
                <a:latin typeface="Calibri Light"/>
                <a:cs typeface="Calibri Light"/>
              </a:rPr>
              <a:t>Separation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780668"/>
            <a:ext cx="4135120" cy="6286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separation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desirable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following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reasons: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27368" y="1391792"/>
            <a:ext cx="4642485" cy="457073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41300" marR="264160" indent="-228600">
              <a:lnSpc>
                <a:spcPts val="1820"/>
              </a:lnSpc>
              <a:spcBef>
                <a:spcPts val="54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spc="-10" dirty="0">
                <a:latin typeface="Calibri"/>
                <a:cs typeface="Calibri"/>
              </a:rPr>
              <a:t>Different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users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different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views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same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data.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ts val="2055"/>
              </a:lnSpc>
              <a:spcBef>
                <a:spcPts val="5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approach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particular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user</a:t>
            </a:r>
            <a:endParaRPr sz="19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sz="1900" dirty="0">
                <a:latin typeface="Calibri"/>
                <a:cs typeface="Calibri"/>
              </a:rPr>
              <a:t>needs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change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time.</a:t>
            </a:r>
            <a:endParaRPr sz="1900">
              <a:latin typeface="Calibri"/>
              <a:cs typeface="Calibri"/>
            </a:endParaRPr>
          </a:p>
          <a:p>
            <a:pPr marL="241300" marR="146050" indent="-228600">
              <a:lnSpc>
                <a:spcPct val="8000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users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database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should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worry </a:t>
            </a:r>
            <a:r>
              <a:rPr sz="1900" dirty="0">
                <a:latin typeface="Calibri"/>
                <a:cs typeface="Calibri"/>
              </a:rPr>
              <a:t>about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physical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implementation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and </a:t>
            </a:r>
            <a:r>
              <a:rPr sz="1900" dirty="0">
                <a:latin typeface="Calibri"/>
                <a:cs typeface="Calibri"/>
              </a:rPr>
              <a:t>internal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workings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database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such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as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compression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encryption </a:t>
            </a:r>
            <a:r>
              <a:rPr sz="1900" dirty="0">
                <a:latin typeface="Calibri"/>
                <a:cs typeface="Calibri"/>
              </a:rPr>
              <a:t>techniques,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hashing,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optimization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internal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structures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etc.</a:t>
            </a:r>
            <a:endParaRPr sz="1900">
              <a:latin typeface="Calibri"/>
              <a:cs typeface="Calibri"/>
            </a:endParaRPr>
          </a:p>
          <a:p>
            <a:pPr marL="241300" marR="187960" indent="-228600">
              <a:lnSpc>
                <a:spcPts val="182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latin typeface="Calibri"/>
                <a:cs typeface="Calibri"/>
              </a:rPr>
              <a:t>All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users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should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able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access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same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according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their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requirements.</a:t>
            </a:r>
            <a:endParaRPr sz="1900">
              <a:latin typeface="Calibri"/>
              <a:cs typeface="Calibri"/>
            </a:endParaRPr>
          </a:p>
          <a:p>
            <a:pPr marL="241300" marR="781050" indent="-228600">
              <a:lnSpc>
                <a:spcPct val="80000"/>
              </a:lnSpc>
              <a:spcBef>
                <a:spcPts val="515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latin typeface="Calibri"/>
                <a:cs typeface="Calibri"/>
              </a:rPr>
              <a:t>DBA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should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able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change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conceptual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structure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database </a:t>
            </a:r>
            <a:r>
              <a:rPr sz="1900" dirty="0">
                <a:latin typeface="Calibri"/>
                <a:cs typeface="Calibri"/>
              </a:rPr>
              <a:t>without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affecting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user's</a:t>
            </a:r>
            <a:endParaRPr sz="1900">
              <a:latin typeface="Calibri"/>
              <a:cs typeface="Calibri"/>
            </a:endParaRPr>
          </a:p>
          <a:p>
            <a:pPr marL="240029" marR="66675" indent="-227329" algn="just">
              <a:lnSpc>
                <a:spcPts val="182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spc="-10" dirty="0">
                <a:latin typeface="Calibri"/>
                <a:cs typeface="Calibri"/>
              </a:rPr>
              <a:t>Internal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structure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database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should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be 	</a:t>
            </a:r>
            <a:r>
              <a:rPr sz="1900" spc="-10" dirty="0">
                <a:latin typeface="Calibri"/>
                <a:cs typeface="Calibri"/>
              </a:rPr>
              <a:t>unaffected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changes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physical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aspects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of 	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storage.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7711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Internal</a:t>
            </a:r>
            <a:r>
              <a:rPr sz="4000" spc="-17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Level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891285"/>
            <a:ext cx="5034280" cy="40652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26225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internal 	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physical 	storage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40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40"/>
              </a:lnSpc>
            </a:pPr>
            <a:r>
              <a:rPr sz="2400" b="1" i="1" dirty="0">
                <a:latin typeface="Calibri"/>
                <a:cs typeface="Calibri"/>
              </a:rPr>
              <a:t>physical</a:t>
            </a:r>
            <a:r>
              <a:rPr sz="2400" b="1" i="1" spc="-9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schema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234950" indent="-227329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physical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will 	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block.</a:t>
            </a:r>
            <a:endParaRPr sz="2400">
              <a:latin typeface="Calibri"/>
              <a:cs typeface="Calibri"/>
            </a:endParaRPr>
          </a:p>
          <a:p>
            <a:pPr marL="240029" marR="265430" indent="-227329" algn="just">
              <a:lnSpc>
                <a:spcPct val="901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physical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describe 	</a:t>
            </a: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low-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spc="-10" dirty="0">
                <a:latin typeface="Calibri"/>
                <a:cs typeface="Calibri"/>
              </a:rPr>
              <a:t>detail.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0543" y="4748784"/>
            <a:ext cx="4734301" cy="20848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7711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Internal</a:t>
            </a:r>
            <a:r>
              <a:rPr sz="4000" spc="-17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Level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101674"/>
            <a:ext cx="5115560" cy="455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generally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concerned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activities: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Storage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allocations.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Example: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B-</a:t>
            </a:r>
            <a:r>
              <a:rPr sz="2000" spc="-20" dirty="0">
                <a:latin typeface="Calibri"/>
                <a:cs typeface="Calibri"/>
              </a:rPr>
              <a:t>Trees,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Hashing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paths.</a:t>
            </a:r>
            <a:endParaRPr sz="2400">
              <a:latin typeface="Calibri"/>
              <a:cs typeface="Calibri"/>
            </a:endParaRPr>
          </a:p>
          <a:p>
            <a:pPr marL="698500" marR="116839" lvl="1" indent="-228600">
              <a:lnSpc>
                <a:spcPts val="2160"/>
              </a:lnSpc>
              <a:spcBef>
                <a:spcPts val="55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Specification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primary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secondary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keys,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indexes,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pointers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sequencing.</a:t>
            </a:r>
            <a:endParaRPr sz="2000">
              <a:latin typeface="Calibri"/>
              <a:cs typeface="Calibri"/>
            </a:endParaRPr>
          </a:p>
          <a:p>
            <a:pPr marL="240029" marR="708660" indent="-227329">
              <a:lnSpc>
                <a:spcPts val="259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compression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encryption 	techniques.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Optimization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20" dirty="0">
                <a:latin typeface="Calibri"/>
                <a:cs typeface="Calibri"/>
              </a:rPr>
              <a:t>Representation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fields.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34963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Conceptual</a:t>
            </a:r>
            <a:r>
              <a:rPr sz="4000" spc="-10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Level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867283"/>
            <a:ext cx="5083175" cy="49968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0029" marR="5080" indent="-227329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conceptual 	</a:t>
            </a:r>
            <a:r>
              <a:rPr sz="2400" dirty="0">
                <a:latin typeface="Calibri"/>
                <a:cs typeface="Calibri"/>
              </a:rPr>
              <a:t>level.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	</a:t>
            </a:r>
            <a:r>
              <a:rPr sz="2400" b="1" i="1" dirty="0">
                <a:latin typeface="Calibri"/>
                <a:cs typeface="Calibri"/>
              </a:rPr>
              <a:t>logical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level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201930" indent="-227329" algn="just">
              <a:lnSpc>
                <a:spcPts val="23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marR="274955" indent="-227329" algn="just">
              <a:lnSpc>
                <a:spcPts val="230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what 	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 	</a:t>
            </a:r>
            <a:r>
              <a:rPr sz="2400" dirty="0">
                <a:latin typeface="Calibri"/>
                <a:cs typeface="Calibri"/>
              </a:rPr>
              <a:t>exists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240029" marR="46355" indent="-227329" algn="just">
              <a:lnSpc>
                <a:spcPts val="23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details 	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	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hidden.</a:t>
            </a:r>
            <a:endParaRPr sz="2400">
              <a:latin typeface="Calibri"/>
              <a:cs typeface="Calibri"/>
            </a:endParaRPr>
          </a:p>
          <a:p>
            <a:pPr marL="240029" indent="-227329" algn="just">
              <a:lnSpc>
                <a:spcPts val="2595"/>
              </a:lnSpc>
              <a:spcBef>
                <a:spcPts val="44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Programmers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endParaRPr sz="2400">
              <a:latin typeface="Calibri"/>
              <a:cs typeface="Calibri"/>
            </a:endParaRPr>
          </a:p>
          <a:p>
            <a:pPr marL="241300" algn="just">
              <a:lnSpc>
                <a:spcPts val="2595"/>
              </a:lnSpc>
            </a:pPr>
            <a:r>
              <a:rPr sz="2400" spc="-10" dirty="0">
                <a:latin typeface="Calibri"/>
                <a:cs typeface="Calibri"/>
              </a:rPr>
              <a:t>administrators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5" y="4280914"/>
            <a:ext cx="5289804" cy="25587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3054172"/>
            <a:ext cx="28505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External</a:t>
            </a:r>
            <a:r>
              <a:rPr sz="4000" spc="-12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Level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0167" y="790194"/>
            <a:ext cx="5139055" cy="51809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85725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external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 	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several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	</a:t>
            </a:r>
            <a:r>
              <a:rPr sz="2400" dirty="0">
                <a:latin typeface="Calibri"/>
                <a:cs typeface="Calibri"/>
              </a:rPr>
              <a:t>sometimes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subschema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127000" indent="-227329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subschema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external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b="1" dirty="0">
                <a:latin typeface="Calibri"/>
                <a:cs typeface="Calibri"/>
              </a:rPr>
              <a:t>view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schema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519430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user 	</a:t>
            </a:r>
            <a:r>
              <a:rPr sz="2400" dirty="0">
                <a:latin typeface="Calibri"/>
                <a:cs typeface="Calibri"/>
              </a:rPr>
              <a:t>group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interested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remaining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user 	</a:t>
            </a:r>
            <a:r>
              <a:rPr sz="2400" spc="-10" dirty="0">
                <a:latin typeface="Calibri"/>
                <a:cs typeface="Calibri"/>
              </a:rPr>
              <a:t>group.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describes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end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user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interaction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74464" y="6213347"/>
            <a:ext cx="7402068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8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Mapping</a:t>
            </a:r>
            <a:r>
              <a:rPr spc="-55" dirty="0"/>
              <a:t> </a:t>
            </a:r>
            <a:r>
              <a:rPr dirty="0"/>
              <a:t>between</a:t>
            </a:r>
            <a:r>
              <a:rPr spc="-45" dirty="0"/>
              <a:t> </a:t>
            </a:r>
            <a:r>
              <a:rPr spc="-10" dirty="0"/>
              <a:t>Views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120630" cy="431228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27051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levels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DBMS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don't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exist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independently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other.</a:t>
            </a:r>
            <a:endParaRPr sz="2800">
              <a:latin typeface="Calibri"/>
              <a:cs typeface="Calibri"/>
            </a:endParaRPr>
          </a:p>
          <a:p>
            <a:pPr marL="240029" marR="46482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correspondence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levels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i.e.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how 	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actually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correspond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DBMS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responsible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correspondence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schema.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correspondence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Mapping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1652270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basically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mapping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database 	architecture: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Conceptual/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Mapping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External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Mapping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05836"/>
            <a:ext cx="2519680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spc="-10" dirty="0">
                <a:latin typeface="Calibri Light"/>
                <a:cs typeface="Calibri Light"/>
              </a:rPr>
              <a:t>Conceptual/ Internal Mapping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133091"/>
            <a:ext cx="5095240" cy="24949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113030" indent="-227329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Conceptual/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Mapping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lies 	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correspondence 	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fields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	</a:t>
            </a:r>
            <a:r>
              <a:rPr sz="2400" dirty="0">
                <a:latin typeface="Calibri"/>
                <a:cs typeface="Calibri"/>
              </a:rPr>
              <a:t>structures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05836"/>
            <a:ext cx="2337435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spc="-10" dirty="0">
                <a:latin typeface="Calibri Light"/>
                <a:cs typeface="Calibri Light"/>
              </a:rPr>
              <a:t>External/ Conceptual Mapping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297684"/>
            <a:ext cx="5095240" cy="21659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13335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external/Conceptual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Mapping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lies 	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external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correspondence 	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external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view.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403</Words>
  <Application>Microsoft Office PowerPoint</Application>
  <PresentationFormat>Widescreen</PresentationFormat>
  <Paragraphs>104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 MT</vt:lpstr>
      <vt:lpstr>Calibri</vt:lpstr>
      <vt:lpstr>Calibri Light</vt:lpstr>
      <vt:lpstr>Office Theme</vt:lpstr>
      <vt:lpstr>PowerPoint Presentation</vt:lpstr>
      <vt:lpstr>PowerPoint Presentation</vt:lpstr>
      <vt:lpstr>1-tier Architecture</vt:lpstr>
      <vt:lpstr>1-Tier Architecture</vt:lpstr>
      <vt:lpstr>2-Tier Architecture</vt:lpstr>
      <vt:lpstr>2-tier Architecture</vt:lpstr>
      <vt:lpstr>3-Tier Architecture</vt:lpstr>
      <vt:lpstr>3-tier Architecture</vt:lpstr>
      <vt:lpstr>Three Schema Architecture</vt:lpstr>
      <vt:lpstr>PowerPoint Presentation</vt:lpstr>
      <vt:lpstr>Three Schema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Mapping between Views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2025-06-30T07:18:04Z</dcterms:created>
  <dcterms:modified xsi:type="dcterms:W3CDTF">2025-06-30T07:27:25Z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