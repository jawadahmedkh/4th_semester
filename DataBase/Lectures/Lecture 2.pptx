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0" r:id="rId2"/>
    <p:sldId id="262" r:id="rId3"/>
    <p:sldId id="264" r:id="rId4"/>
    <p:sldId id="265" r:id="rId5"/>
    <p:sldId id="261" r:id="rId6"/>
    <p:sldId id="266" r:id="rId7"/>
    <p:sldId id="267" r:id="rId8"/>
    <p:sldId id="268" r:id="rId9"/>
    <p:sldId id="269" r:id="rId10"/>
    <p:sldId id="270" r:id="rId11"/>
    <p:sldId id="271" r:id="rId12"/>
    <p:sldId id="272" r:id="rId13"/>
    <p:sldId id="273" r:id="rId14"/>
    <p:sldId id="275" r:id="rId15"/>
    <p:sldId id="274" r:id="rId16"/>
    <p:sldId id="276" r:id="rId17"/>
    <p:sldId id="277" r:id="rId18"/>
    <p:sldId id="27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4C1C26-0DBD-4680-9B84-569AF5A234FA}" type="datetimeFigureOut">
              <a:rPr lang="en-US" smtClean="0"/>
              <a:t>7/18/2025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E8E6B-EBD0-4AE2-977E-B29A7096B0DD}" type="slidenum">
              <a:rPr lang="en-US" smtClean="0"/>
              <a:t>‹#›</a:t>
            </a:fld>
            <a:endParaRPr lang="en-US"/>
          </a:p>
        </p:txBody>
      </p:sp>
    </p:spTree>
    <p:extLst>
      <p:ext uri="{BB962C8B-B14F-4D97-AF65-F5344CB8AC3E}">
        <p14:creationId xmlns:p14="http://schemas.microsoft.com/office/powerpoint/2010/main" val="4218219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4DAFC0-A2FF-428C-BF7D-8EDF84926B18}" type="slidenum">
              <a:rPr lang="en-US" altLang="en-US">
                <a:solidFill>
                  <a:srgbClr val="000000"/>
                </a:solidFill>
              </a:rPr>
              <a:pPr>
                <a:spcBef>
                  <a:spcPct val="0"/>
                </a:spcBef>
              </a:pPr>
              <a:t>3</a:t>
            </a:fld>
            <a:endParaRPr lang="en-US" altLang="en-US">
              <a:solidFill>
                <a:srgbClr val="000000"/>
              </a:solidFill>
            </a:endParaRPr>
          </a:p>
        </p:txBody>
      </p:sp>
    </p:spTree>
    <p:extLst>
      <p:ext uri="{BB962C8B-B14F-4D97-AF65-F5344CB8AC3E}">
        <p14:creationId xmlns:p14="http://schemas.microsoft.com/office/powerpoint/2010/main" val="2341522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4AD6F54-C331-4A6A-9E62-75582DC67D17}" type="slidenum">
              <a:rPr lang="en-US" altLang="en-US">
                <a:solidFill>
                  <a:srgbClr val="000000"/>
                </a:solidFill>
              </a:rPr>
              <a:pPr>
                <a:spcBef>
                  <a:spcPct val="0"/>
                </a:spcBef>
              </a:pPr>
              <a:t>4</a:t>
            </a:fld>
            <a:endParaRPr lang="en-US" altLang="en-US">
              <a:solidFill>
                <a:srgbClr val="000000"/>
              </a:solidFill>
            </a:endParaRPr>
          </a:p>
        </p:txBody>
      </p:sp>
    </p:spTree>
    <p:extLst>
      <p:ext uri="{BB962C8B-B14F-4D97-AF65-F5344CB8AC3E}">
        <p14:creationId xmlns:p14="http://schemas.microsoft.com/office/powerpoint/2010/main" val="137973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E15FD49-A550-4043-851A-D7EA9A02CD31}"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2479041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15FD49-A550-4043-851A-D7EA9A02CD31}"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3546870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15FD49-A550-4043-851A-D7EA9A02CD31}"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687189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E15FD49-A550-4043-851A-D7EA9A02CD31}"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893913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E15FD49-A550-4043-851A-D7EA9A02CD31}" type="datetimeFigureOut">
              <a:rPr lang="en-US" smtClean="0"/>
              <a:t>7/18/2025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417677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15FD49-A550-4043-851A-D7EA9A02CD31}" type="datetimeFigureOut">
              <a:rPr lang="en-US" smtClean="0"/>
              <a:t>7/18/2025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3457721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15FD49-A550-4043-851A-D7EA9A02CD31}" type="datetimeFigureOut">
              <a:rPr lang="en-US" smtClean="0"/>
              <a:t>7/18/2025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1545896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15FD49-A550-4043-851A-D7EA9A02CD31}"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3309442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15FD49-A550-4043-851A-D7EA9A02CD31}"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393396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15FD49-A550-4043-851A-D7EA9A02CD31}"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2392249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15FD49-A550-4043-851A-D7EA9A02CD31}"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782E8-5066-4FBB-948F-EF3A2E7586D5}" type="slidenum">
              <a:rPr lang="en-US" smtClean="0"/>
              <a:t>‹#›</a:t>
            </a:fld>
            <a:endParaRPr lang="en-US"/>
          </a:p>
        </p:txBody>
      </p:sp>
    </p:spTree>
    <p:extLst>
      <p:ext uri="{BB962C8B-B14F-4D97-AF65-F5344CB8AC3E}">
        <p14:creationId xmlns:p14="http://schemas.microsoft.com/office/powerpoint/2010/main" val="423735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15FD49-A550-4043-851A-D7EA9A02CD31}" type="datetimeFigureOut">
              <a:rPr lang="en-US" smtClean="0"/>
              <a:t>7/18/2025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0782E8-5066-4FBB-948F-EF3A2E7586D5}" type="slidenum">
              <a:rPr lang="en-US" smtClean="0"/>
              <a:t>‹#›</a:t>
            </a:fld>
            <a:endParaRPr lang="en-US"/>
          </a:p>
        </p:txBody>
      </p:sp>
    </p:spTree>
    <p:extLst>
      <p:ext uri="{BB962C8B-B14F-4D97-AF65-F5344CB8AC3E}">
        <p14:creationId xmlns:p14="http://schemas.microsoft.com/office/powerpoint/2010/main" val="2259338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a:t>
            </a:r>
            <a:endParaRPr lang="en-US" dirty="0"/>
          </a:p>
        </p:txBody>
      </p:sp>
      <p:sp>
        <p:nvSpPr>
          <p:cNvPr id="3" name="Content Placeholder 2"/>
          <p:cNvSpPr>
            <a:spLocks noGrp="1"/>
          </p:cNvSpPr>
          <p:nvPr>
            <p:ph idx="1"/>
          </p:nvPr>
        </p:nvSpPr>
        <p:spPr/>
        <p:txBody>
          <a:bodyPr/>
          <a:lstStyle/>
          <a:p>
            <a:r>
              <a:rPr lang="en-US" b="1" dirty="0"/>
              <a:t>Join</a:t>
            </a:r>
            <a:r>
              <a:rPr lang="en-US" dirty="0"/>
              <a:t> is a combination of a Cartesian product followed by a selection process. A Join operation pairs two tuples from different relations, if and only if a given join condition is satisfied</a:t>
            </a:r>
            <a:r>
              <a:rPr lang="en-US" dirty="0" smtClean="0"/>
              <a:t>.</a:t>
            </a:r>
          </a:p>
          <a:p>
            <a:r>
              <a:rPr lang="en-US" dirty="0"/>
              <a:t>We will briefly describe various join types in the following sections</a:t>
            </a:r>
          </a:p>
        </p:txBody>
      </p:sp>
    </p:spTree>
    <p:extLst>
      <p:ext uri="{BB962C8B-B14F-4D97-AF65-F5344CB8AC3E}">
        <p14:creationId xmlns:p14="http://schemas.microsoft.com/office/powerpoint/2010/main" val="20816598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Theta (</a:t>
            </a:r>
            <a:r>
              <a:rPr lang="el-GR" dirty="0"/>
              <a:t>θ) </a:t>
            </a:r>
            <a:r>
              <a:rPr lang="en-US" dirty="0"/>
              <a:t>Join</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a:t>Theta join combines tuples from different relations provided they satisfy the theta condition. The join condition is denoted by the symbol </a:t>
            </a:r>
            <a:r>
              <a:rPr lang="en-US" b="1" dirty="0"/>
              <a:t>θ</a:t>
            </a:r>
            <a:r>
              <a:rPr lang="en-US" dirty="0" smtClean="0"/>
              <a:t>.</a:t>
            </a:r>
          </a:p>
          <a:p>
            <a:pPr algn="just">
              <a:spcBef>
                <a:spcPct val="60000"/>
              </a:spcBef>
            </a:pPr>
            <a:r>
              <a:rPr lang="en-US" altLang="en-US" sz="1800" b="1" dirty="0" smtClean="0">
                <a:solidFill>
                  <a:srgbClr val="0000CC"/>
                </a:solidFill>
                <a:latin typeface="Tahoma" panose="020B0604030504040204" pitchFamily="34" charset="0"/>
              </a:rPr>
              <a:t>The </a:t>
            </a:r>
            <a:r>
              <a:rPr lang="el-GR" altLang="en-US" sz="1800" b="1" dirty="0" smtClean="0">
                <a:solidFill>
                  <a:srgbClr val="0000CC"/>
                </a:solidFill>
                <a:latin typeface="Tahoma" panose="020B0604030504040204" pitchFamily="34" charset="0"/>
              </a:rPr>
              <a:t>θ</a:t>
            </a:r>
            <a:r>
              <a:rPr lang="en-US" altLang="en-US" sz="1800" b="1" dirty="0" smtClean="0">
                <a:solidFill>
                  <a:srgbClr val="0000CC"/>
                </a:solidFill>
                <a:latin typeface="Tahoma" panose="020B0604030504040204" pitchFamily="34" charset="0"/>
              </a:rPr>
              <a:t>-Join of two relations </a:t>
            </a:r>
            <a:r>
              <a:rPr lang="en-US" altLang="en-US" sz="1800" b="1" i="1" dirty="0" smtClean="0">
                <a:solidFill>
                  <a:srgbClr val="0000CC"/>
                </a:solidFill>
                <a:latin typeface="Tahoma" panose="020B0604030504040204" pitchFamily="34" charset="0"/>
              </a:rPr>
              <a:t>R </a:t>
            </a:r>
            <a:r>
              <a:rPr lang="en-US" altLang="en-US" sz="1800" b="1" dirty="0" smtClean="0">
                <a:solidFill>
                  <a:srgbClr val="0000CC"/>
                </a:solidFill>
                <a:latin typeface="Tahoma" panose="020B0604030504040204" pitchFamily="34" charset="0"/>
              </a:rPr>
              <a:t>and </a:t>
            </a:r>
            <a:r>
              <a:rPr lang="en-US" altLang="en-US" sz="1800" b="1" i="1" dirty="0" smtClean="0">
                <a:solidFill>
                  <a:srgbClr val="0000CC"/>
                </a:solidFill>
                <a:latin typeface="Tahoma" panose="020B0604030504040204" pitchFamily="34" charset="0"/>
              </a:rPr>
              <a:t>S </a:t>
            </a:r>
            <a:r>
              <a:rPr lang="en-US" altLang="en-US" sz="1800" b="1" dirty="0" smtClean="0">
                <a:solidFill>
                  <a:srgbClr val="0000CC"/>
                </a:solidFill>
                <a:latin typeface="Tahoma" panose="020B0604030504040204" pitchFamily="34" charset="0"/>
              </a:rPr>
              <a:t> is denoted as:</a:t>
            </a:r>
            <a:endParaRPr lang="en-US" altLang="en-US" b="1" dirty="0" smtClean="0">
              <a:solidFill>
                <a:srgbClr val="0000CC"/>
              </a:solidFill>
              <a:latin typeface="Tahoma" panose="020B0604030504040204" pitchFamily="34" charset="0"/>
            </a:endParaRPr>
          </a:p>
          <a:p>
            <a:pPr lvl="1" algn="just">
              <a:spcBef>
                <a:spcPct val="60000"/>
              </a:spcBef>
            </a:pPr>
            <a:r>
              <a:rPr lang="en-US" altLang="en-US" b="1" dirty="0" smtClean="0">
                <a:solidFill>
                  <a:srgbClr val="0000CC"/>
                </a:solidFill>
                <a:latin typeface="Tahoma" panose="020B0604030504040204" pitchFamily="34" charset="0"/>
              </a:rPr>
              <a:t>R     </a:t>
            </a:r>
            <a:r>
              <a:rPr lang="en-US" altLang="en-US" b="1" baseline="-25000" dirty="0" smtClean="0">
                <a:solidFill>
                  <a:srgbClr val="0000CC"/>
                </a:solidFill>
                <a:latin typeface="Tahoma" panose="020B0604030504040204" pitchFamily="34" charset="0"/>
              </a:rPr>
              <a:t>F </a:t>
            </a:r>
            <a:r>
              <a:rPr lang="en-US" altLang="en-US" b="1" dirty="0" smtClean="0">
                <a:solidFill>
                  <a:srgbClr val="0000CC"/>
                </a:solidFill>
                <a:latin typeface="Tahoma" panose="020B0604030504040204" pitchFamily="34" charset="0"/>
              </a:rPr>
              <a:t>S</a:t>
            </a:r>
            <a:endParaRPr lang="en-US" altLang="en-US" sz="1600" b="1" baseline="-25000" dirty="0" smtClean="0">
              <a:solidFill>
                <a:srgbClr val="0000CC"/>
              </a:solidFill>
              <a:latin typeface="Tahoma" panose="020B0604030504040204" pitchFamily="34" charset="0"/>
            </a:endParaRPr>
          </a:p>
          <a:p>
            <a:pPr lvl="1" algn="just">
              <a:spcBef>
                <a:spcPct val="60000"/>
              </a:spcBef>
            </a:pPr>
            <a:r>
              <a:rPr lang="en-US" altLang="en-US" sz="1800" b="1" dirty="0" smtClean="0">
                <a:solidFill>
                  <a:srgbClr val="0000CC"/>
                </a:solidFill>
                <a:latin typeface="Tahoma" panose="020B0604030504040204" pitchFamily="34" charset="0"/>
              </a:rPr>
              <a:t>Where </a:t>
            </a:r>
            <a:r>
              <a:rPr lang="en-US" altLang="en-US" sz="1800" b="1" i="1" dirty="0" smtClean="0">
                <a:solidFill>
                  <a:srgbClr val="0000CC"/>
                </a:solidFill>
                <a:latin typeface="Tahoma" panose="020B0604030504040204" pitchFamily="34" charset="0"/>
              </a:rPr>
              <a:t>F</a:t>
            </a:r>
            <a:r>
              <a:rPr lang="en-US" altLang="en-US" sz="1800" b="1" dirty="0" smtClean="0">
                <a:solidFill>
                  <a:srgbClr val="0000CC"/>
                </a:solidFill>
                <a:latin typeface="Tahoma" panose="020B0604030504040204" pitchFamily="34" charset="0"/>
              </a:rPr>
              <a:t> is the formula, specifying the join predicate.</a:t>
            </a:r>
            <a:r>
              <a:rPr lang="en-US" altLang="en-US" b="1" dirty="0" smtClean="0">
                <a:solidFill>
                  <a:srgbClr val="0000CC"/>
                </a:solidFill>
                <a:latin typeface="Tahoma" panose="020B0604030504040204" pitchFamily="34" charset="0"/>
              </a:rPr>
              <a:t> </a:t>
            </a:r>
            <a:endParaRPr lang="en-US" altLang="en-US" sz="1800" b="1" dirty="0" smtClean="0">
              <a:solidFill>
                <a:srgbClr val="0000CC"/>
              </a:solidFill>
              <a:latin typeface="Tahoma" panose="020B0604030504040204" pitchFamily="34" charset="0"/>
            </a:endParaRPr>
          </a:p>
          <a:p>
            <a:pPr lvl="1" algn="just">
              <a:spcBef>
                <a:spcPct val="60000"/>
              </a:spcBef>
            </a:pPr>
            <a:r>
              <a:rPr lang="en-US" altLang="en-US" sz="1800" b="1" dirty="0" smtClean="0">
                <a:solidFill>
                  <a:srgbClr val="0000CC"/>
                </a:solidFill>
                <a:latin typeface="Tahoma" panose="020B0604030504040204" pitchFamily="34" charset="0"/>
              </a:rPr>
              <a:t>A join predicate specified, is similar to selection predicate except the terms are of the form “R.A</a:t>
            </a:r>
            <a:r>
              <a:rPr lang="el-GR" altLang="en-US" sz="1800" b="1" dirty="0" smtClean="0">
                <a:solidFill>
                  <a:srgbClr val="0000CC"/>
                </a:solidFill>
                <a:latin typeface="Tahoma" panose="020B0604030504040204" pitchFamily="34" charset="0"/>
              </a:rPr>
              <a:t>θ</a:t>
            </a:r>
            <a:r>
              <a:rPr lang="en-US" altLang="en-US" sz="1800" b="1" dirty="0" smtClean="0">
                <a:solidFill>
                  <a:srgbClr val="0000CC"/>
                </a:solidFill>
                <a:latin typeface="Tahoma" panose="020B0604030504040204" pitchFamily="34" charset="0"/>
              </a:rPr>
              <a:t>S.B”  where A and B are attributes of ‘R’ and ‘S’ respectively.</a:t>
            </a:r>
          </a:p>
          <a:p>
            <a:pPr lvl="1" algn="just">
              <a:spcBef>
                <a:spcPct val="60000"/>
              </a:spcBef>
            </a:pPr>
            <a:r>
              <a:rPr lang="en-US" altLang="en-US" sz="1800" b="1" dirty="0" smtClean="0">
                <a:solidFill>
                  <a:srgbClr val="0000CC"/>
                </a:solidFill>
                <a:latin typeface="Tahoma" panose="020B0604030504040204" pitchFamily="34" charset="0"/>
              </a:rPr>
              <a:t>The join of two relations is equivalent to performing a selection, using the join predicate as the selection formula, over the Cartesian product of the two operand relations.</a:t>
            </a:r>
          </a:p>
          <a:p>
            <a:pPr lvl="1" algn="just">
              <a:spcBef>
                <a:spcPct val="60000"/>
              </a:spcBef>
            </a:pPr>
            <a:r>
              <a:rPr lang="en-US" altLang="en-US" sz="2000" b="1" dirty="0" smtClean="0">
                <a:solidFill>
                  <a:srgbClr val="0000CC"/>
                </a:solidFill>
                <a:latin typeface="Tahoma" panose="020B0604030504040204" pitchFamily="34" charset="0"/>
              </a:rPr>
              <a:t>                    R      </a:t>
            </a:r>
            <a:r>
              <a:rPr lang="en-US" altLang="en-US" sz="2000" b="1" baseline="-25000" dirty="0" smtClean="0">
                <a:solidFill>
                  <a:srgbClr val="0000CC"/>
                </a:solidFill>
                <a:latin typeface="Tahoma" panose="020B0604030504040204" pitchFamily="34" charset="0"/>
              </a:rPr>
              <a:t>F </a:t>
            </a:r>
            <a:r>
              <a:rPr lang="en-US" altLang="en-US" sz="2000" b="1" dirty="0" smtClean="0">
                <a:solidFill>
                  <a:srgbClr val="0000CC"/>
                </a:solidFill>
                <a:latin typeface="Tahoma" panose="020B0604030504040204" pitchFamily="34" charset="0"/>
              </a:rPr>
              <a:t>S=</a:t>
            </a:r>
            <a:r>
              <a:rPr lang="el-GR" altLang="en-US" sz="2000" b="1" dirty="0" smtClean="0">
                <a:solidFill>
                  <a:srgbClr val="0000CC"/>
                </a:solidFill>
                <a:latin typeface="Tahoma" panose="020B0604030504040204" pitchFamily="34" charset="0"/>
              </a:rPr>
              <a:t>σ</a:t>
            </a:r>
            <a:r>
              <a:rPr lang="en-US" altLang="en-US" sz="2000" b="1" baseline="-25000" dirty="0" smtClean="0">
                <a:solidFill>
                  <a:srgbClr val="0000CC"/>
                </a:solidFill>
                <a:latin typeface="Tahoma" panose="020B0604030504040204" pitchFamily="34" charset="0"/>
              </a:rPr>
              <a:t>F </a:t>
            </a:r>
            <a:r>
              <a:rPr lang="en-US" altLang="en-US" sz="2000" b="1" dirty="0" smtClean="0">
                <a:solidFill>
                  <a:srgbClr val="0000CC"/>
                </a:solidFill>
                <a:latin typeface="Tahoma" panose="020B0604030504040204" pitchFamily="34" charset="0"/>
              </a:rPr>
              <a:t> (R x S)</a:t>
            </a:r>
            <a:endParaRPr lang="en-US" altLang="en-US" sz="1400" b="1" baseline="-25000" dirty="0" smtClean="0">
              <a:solidFill>
                <a:srgbClr val="0000CC"/>
              </a:solidFill>
              <a:latin typeface="Tahoma" panose="020B0604030504040204" pitchFamily="34" charset="0"/>
            </a:endParaRPr>
          </a:p>
          <a:p>
            <a:endParaRPr lang="en-US" dirty="0"/>
          </a:p>
        </p:txBody>
      </p:sp>
      <p:grpSp>
        <p:nvGrpSpPr>
          <p:cNvPr id="6" name="Group 7"/>
          <p:cNvGrpSpPr>
            <a:grpSpLocks/>
          </p:cNvGrpSpPr>
          <p:nvPr/>
        </p:nvGrpSpPr>
        <p:grpSpPr bwMode="auto">
          <a:xfrm>
            <a:off x="1825625" y="3244103"/>
            <a:ext cx="382588" cy="195263"/>
            <a:chOff x="2327564" y="3671892"/>
            <a:chExt cx="382385" cy="195421"/>
          </a:xfrm>
        </p:grpSpPr>
        <p:cxnSp>
          <p:nvCxnSpPr>
            <p:cNvPr id="7" name="Straight Connector 8"/>
            <p:cNvCxnSpPr>
              <a:cxnSpLocks noChangeShapeType="1"/>
            </p:cNvCxnSpPr>
            <p:nvPr/>
          </p:nvCxnSpPr>
          <p:spPr bwMode="auto">
            <a:xfrm>
              <a:off x="2344189" y="3671892"/>
              <a:ext cx="36576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8" name="Straight Connector 9"/>
            <p:cNvCxnSpPr>
              <a:cxnSpLocks noChangeShapeType="1"/>
            </p:cNvCxnSpPr>
            <p:nvPr/>
          </p:nvCxnSpPr>
          <p:spPr bwMode="auto">
            <a:xfrm flipH="1">
              <a:off x="2327564" y="3674808"/>
              <a:ext cx="36576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9" name="Straight Connector 10"/>
            <p:cNvCxnSpPr>
              <a:cxnSpLocks noChangeShapeType="1"/>
            </p:cNvCxnSpPr>
            <p:nvPr/>
          </p:nvCxnSpPr>
          <p:spPr bwMode="auto">
            <a:xfrm>
              <a:off x="2344189" y="3671892"/>
              <a:ext cx="0" cy="195421"/>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0" name="Straight Connector 11"/>
            <p:cNvCxnSpPr>
              <a:cxnSpLocks noChangeShapeType="1"/>
            </p:cNvCxnSpPr>
            <p:nvPr/>
          </p:nvCxnSpPr>
          <p:spPr bwMode="auto">
            <a:xfrm>
              <a:off x="2693324" y="3674808"/>
              <a:ext cx="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grpSp>
      <p:grpSp>
        <p:nvGrpSpPr>
          <p:cNvPr id="11" name="Group 7"/>
          <p:cNvGrpSpPr>
            <a:grpSpLocks/>
          </p:cNvGrpSpPr>
          <p:nvPr/>
        </p:nvGrpSpPr>
        <p:grpSpPr bwMode="auto">
          <a:xfrm>
            <a:off x="3251014" y="5476316"/>
            <a:ext cx="382588" cy="195263"/>
            <a:chOff x="2327564" y="3671892"/>
            <a:chExt cx="382385" cy="195421"/>
          </a:xfrm>
        </p:grpSpPr>
        <p:cxnSp>
          <p:nvCxnSpPr>
            <p:cNvPr id="12" name="Straight Connector 8"/>
            <p:cNvCxnSpPr>
              <a:cxnSpLocks noChangeShapeType="1"/>
            </p:cNvCxnSpPr>
            <p:nvPr/>
          </p:nvCxnSpPr>
          <p:spPr bwMode="auto">
            <a:xfrm>
              <a:off x="2344189" y="3671892"/>
              <a:ext cx="36576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3" name="Straight Connector 9"/>
            <p:cNvCxnSpPr>
              <a:cxnSpLocks noChangeShapeType="1"/>
            </p:cNvCxnSpPr>
            <p:nvPr/>
          </p:nvCxnSpPr>
          <p:spPr bwMode="auto">
            <a:xfrm flipH="1">
              <a:off x="2327564" y="3674808"/>
              <a:ext cx="36576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4" name="Straight Connector 10"/>
            <p:cNvCxnSpPr>
              <a:cxnSpLocks noChangeShapeType="1"/>
            </p:cNvCxnSpPr>
            <p:nvPr/>
          </p:nvCxnSpPr>
          <p:spPr bwMode="auto">
            <a:xfrm>
              <a:off x="2344189" y="3671892"/>
              <a:ext cx="0" cy="195421"/>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5" name="Straight Connector 11"/>
            <p:cNvCxnSpPr>
              <a:cxnSpLocks noChangeShapeType="1"/>
            </p:cNvCxnSpPr>
            <p:nvPr/>
          </p:nvCxnSpPr>
          <p:spPr bwMode="auto">
            <a:xfrm>
              <a:off x="2693324" y="3674808"/>
              <a:ext cx="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005819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298700" y="762000"/>
            <a:ext cx="8140700" cy="1143000"/>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5F5F5F"/>
                  </a:outerShdw>
                </a:effectLst>
              </a14:hiddenEffects>
            </a:ext>
          </a:extLst>
        </p:spPr>
        <p:txBody>
          <a:bodyPr vert="horz" lIns="90488" tIns="44450" rIns="90488" bIns="44450" rtlCol="0" anchor="ctr">
            <a:normAutofit/>
          </a:bodyPr>
          <a:lstStyle/>
          <a:p>
            <a:r>
              <a:rPr lang="el-GR" altLang="en-US" sz="3200">
                <a:solidFill>
                  <a:srgbClr val="0000CC"/>
                </a:solidFill>
                <a:latin typeface="Tahoma" panose="020B0604030504040204" pitchFamily="34" charset="0"/>
              </a:rPr>
              <a:t>θ</a:t>
            </a:r>
            <a:r>
              <a:rPr lang="en-US" altLang="en-US" sz="3200">
                <a:solidFill>
                  <a:srgbClr val="0000CC"/>
                </a:solidFill>
                <a:latin typeface="Tahoma" panose="020B0604030504040204" pitchFamily="34" charset="0"/>
              </a:rPr>
              <a:t>-Join -Example</a:t>
            </a:r>
          </a:p>
        </p:txBody>
      </p:sp>
      <p:sp>
        <p:nvSpPr>
          <p:cNvPr id="46083" name="Rectangle 3"/>
          <p:cNvSpPr>
            <a:spLocks noGrp="1" noChangeArrowheads="1"/>
          </p:cNvSpPr>
          <p:nvPr>
            <p:ph type="body" idx="1"/>
          </p:nvPr>
        </p:nvSpPr>
        <p:spPr>
          <a:xfrm>
            <a:off x="2438400" y="2316163"/>
            <a:ext cx="7620000" cy="4495800"/>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pPr>
              <a:lnSpc>
                <a:spcPct val="90000"/>
              </a:lnSpc>
              <a:spcBef>
                <a:spcPct val="60000"/>
              </a:spcBef>
            </a:pPr>
            <a:r>
              <a:rPr lang="en-US" altLang="en-US" sz="2000" b="1">
                <a:solidFill>
                  <a:srgbClr val="0000CC"/>
                </a:solidFill>
                <a:latin typeface="Tahoma" panose="020B0604030504040204" pitchFamily="34" charset="0"/>
              </a:rPr>
              <a:t>EMP					PAY</a:t>
            </a:r>
          </a:p>
          <a:p>
            <a:pPr marL="457200" lvl="1" indent="0">
              <a:spcBef>
                <a:spcPct val="60000"/>
              </a:spcBef>
              <a:buNone/>
            </a:pPr>
            <a:r>
              <a:rPr lang="en-US" altLang="en-US" sz="4000" b="1">
                <a:solidFill>
                  <a:srgbClr val="0000CC"/>
                </a:solidFill>
                <a:latin typeface="Tahoma" panose="020B0604030504040204" pitchFamily="34" charset="0"/>
              </a:rPr>
              <a:t>		</a:t>
            </a:r>
          </a:p>
          <a:p>
            <a:pPr marL="457200" lvl="1" indent="0">
              <a:spcBef>
                <a:spcPct val="60000"/>
              </a:spcBef>
              <a:buNone/>
            </a:pPr>
            <a:endParaRPr lang="en-US" altLang="en-US" sz="1100" b="1">
              <a:solidFill>
                <a:srgbClr val="0000CC"/>
              </a:solidFill>
              <a:latin typeface="Tahoma" panose="020B0604030504040204" pitchFamily="34" charset="0"/>
            </a:endParaRPr>
          </a:p>
          <a:p>
            <a:pPr marL="457200" lvl="1" indent="0">
              <a:spcBef>
                <a:spcPct val="60000"/>
              </a:spcBef>
              <a:buNone/>
            </a:pPr>
            <a:endParaRPr lang="en-US" altLang="en-US" sz="2000" b="1">
              <a:solidFill>
                <a:srgbClr val="0000CC"/>
              </a:solidFill>
              <a:latin typeface="Tahoma" panose="020B0604030504040204" pitchFamily="34" charset="0"/>
            </a:endParaRPr>
          </a:p>
          <a:p>
            <a:pPr marL="457200" lvl="1" indent="0">
              <a:spcBef>
                <a:spcPct val="60000"/>
              </a:spcBef>
              <a:buNone/>
            </a:pPr>
            <a:r>
              <a:rPr lang="en-US" altLang="en-US" sz="2000" b="1">
                <a:solidFill>
                  <a:srgbClr val="0000CC"/>
                </a:solidFill>
                <a:latin typeface="Tahoma" panose="020B0604030504040204" pitchFamily="34" charset="0"/>
              </a:rPr>
              <a:t> EMP      </a:t>
            </a:r>
            <a:r>
              <a:rPr lang="en-US" altLang="en-US" sz="2000" b="1" baseline="-25000">
                <a:solidFill>
                  <a:srgbClr val="0000CC"/>
                </a:solidFill>
                <a:latin typeface="Tahoma" panose="020B0604030504040204" pitchFamily="34" charset="0"/>
              </a:rPr>
              <a:t>EMP.TITLE=PAY.TITLE </a:t>
            </a:r>
            <a:r>
              <a:rPr lang="en-US" altLang="en-US" sz="2000" b="1">
                <a:solidFill>
                  <a:srgbClr val="0000CC"/>
                </a:solidFill>
                <a:latin typeface="Tahoma" panose="020B0604030504040204" pitchFamily="34" charset="0"/>
              </a:rPr>
              <a:t>PAY</a:t>
            </a:r>
          </a:p>
          <a:p>
            <a:pPr marL="457200" lvl="1" indent="0">
              <a:spcBef>
                <a:spcPct val="60000"/>
              </a:spcBef>
              <a:buNone/>
            </a:pPr>
            <a:endParaRPr lang="en-US" altLang="en-US" sz="3200" b="1">
              <a:solidFill>
                <a:srgbClr val="0000CC"/>
              </a:solidFill>
              <a:latin typeface="Tahoma" panose="020B0604030504040204" pitchFamily="34" charset="0"/>
            </a:endParaRPr>
          </a:p>
          <a:p>
            <a:pPr marL="457200" lvl="1" indent="0">
              <a:spcBef>
                <a:spcPct val="60000"/>
              </a:spcBef>
              <a:buNone/>
            </a:pPr>
            <a:endParaRPr lang="en-US" altLang="en-US" sz="3200" b="1">
              <a:solidFill>
                <a:srgbClr val="0000CC"/>
              </a:solidFill>
              <a:latin typeface="Tahoma" panose="020B0604030504040204" pitchFamily="34" charset="0"/>
            </a:endParaRPr>
          </a:p>
        </p:txBody>
      </p:sp>
      <p:graphicFrame>
        <p:nvGraphicFramePr>
          <p:cNvPr id="2" name="Table 1"/>
          <p:cNvGraphicFramePr>
            <a:graphicFrameLocks noGrp="1"/>
          </p:cNvGraphicFramePr>
          <p:nvPr/>
        </p:nvGraphicFramePr>
        <p:xfrm>
          <a:off x="2800351" y="2713038"/>
          <a:ext cx="3698875" cy="1462560"/>
        </p:xfrm>
        <a:graphic>
          <a:graphicData uri="http://schemas.openxmlformats.org/drawingml/2006/table">
            <a:tbl>
              <a:tblPr firstRow="1" bandRow="1">
                <a:tableStyleId>{5C22544A-7EE6-4342-B048-85BDC9FD1C3A}</a:tableStyleId>
              </a:tblPr>
              <a:tblGrid>
                <a:gridCol w="784982"/>
                <a:gridCol w="1348450"/>
                <a:gridCol w="1565443"/>
              </a:tblGrid>
              <a:tr h="365522">
                <a:tc>
                  <a:txBody>
                    <a:bodyPr/>
                    <a:lstStyle/>
                    <a:p>
                      <a:r>
                        <a:rPr lang="en-US" sz="1800" dirty="0" smtClean="0"/>
                        <a:t>ENO</a:t>
                      </a:r>
                      <a:endParaRPr lang="en-US" sz="1800" dirty="0"/>
                    </a:p>
                  </a:txBody>
                  <a:tcPr marL="91445" marR="91445" marT="45660" marB="45660"/>
                </a:tc>
                <a:tc>
                  <a:txBody>
                    <a:bodyPr/>
                    <a:lstStyle/>
                    <a:p>
                      <a:r>
                        <a:rPr lang="en-US" sz="1800" dirty="0" smtClean="0"/>
                        <a:t>ENAME</a:t>
                      </a:r>
                      <a:endParaRPr lang="en-US" sz="1800" dirty="0"/>
                    </a:p>
                  </a:txBody>
                  <a:tcPr marL="91445" marR="91445" marT="45660" marB="45660"/>
                </a:tc>
                <a:tc>
                  <a:txBody>
                    <a:bodyPr/>
                    <a:lstStyle/>
                    <a:p>
                      <a:r>
                        <a:rPr lang="en-US" sz="1800" dirty="0" smtClean="0"/>
                        <a:t>TITLE</a:t>
                      </a:r>
                      <a:endParaRPr lang="en-US" sz="1800" dirty="0"/>
                    </a:p>
                  </a:txBody>
                  <a:tcPr marL="91445" marR="91445" marT="45660" marB="45660"/>
                </a:tc>
              </a:tr>
              <a:tr h="365522">
                <a:tc>
                  <a:txBody>
                    <a:bodyPr/>
                    <a:lstStyle/>
                    <a:p>
                      <a:r>
                        <a:rPr lang="en-US" sz="1800" dirty="0" smtClean="0"/>
                        <a:t>E1</a:t>
                      </a:r>
                      <a:endParaRPr lang="en-US" sz="1800" dirty="0"/>
                    </a:p>
                  </a:txBody>
                  <a:tcPr marL="91445" marR="91445" marT="45660" marB="45660"/>
                </a:tc>
                <a:tc>
                  <a:txBody>
                    <a:bodyPr/>
                    <a:lstStyle/>
                    <a:p>
                      <a:r>
                        <a:rPr lang="en-US" sz="1800" dirty="0" smtClean="0"/>
                        <a:t>J. Doe</a:t>
                      </a:r>
                      <a:endParaRPr lang="en-US" sz="1800" dirty="0"/>
                    </a:p>
                  </a:txBody>
                  <a:tcPr marL="91445" marR="91445" marT="45660" marB="45660"/>
                </a:tc>
                <a:tc>
                  <a:txBody>
                    <a:bodyPr/>
                    <a:lstStyle/>
                    <a:p>
                      <a:r>
                        <a:rPr lang="en-US" sz="1800" dirty="0" smtClean="0"/>
                        <a:t>Elect  </a:t>
                      </a:r>
                      <a:r>
                        <a:rPr lang="en-US" sz="1800" dirty="0" err="1" smtClean="0"/>
                        <a:t>Eng</a:t>
                      </a:r>
                      <a:endParaRPr lang="en-US" sz="1800" dirty="0"/>
                    </a:p>
                  </a:txBody>
                  <a:tcPr marL="91445" marR="91445" marT="45660" marB="45660"/>
                </a:tc>
              </a:tr>
              <a:tr h="365522">
                <a:tc>
                  <a:txBody>
                    <a:bodyPr/>
                    <a:lstStyle/>
                    <a:p>
                      <a:r>
                        <a:rPr lang="en-US" sz="1800" dirty="0" smtClean="0"/>
                        <a:t>E2</a:t>
                      </a:r>
                      <a:endParaRPr lang="en-US" sz="1800" dirty="0"/>
                    </a:p>
                  </a:txBody>
                  <a:tcPr marL="91445" marR="91445" marT="45660" marB="45660"/>
                </a:tc>
                <a:tc>
                  <a:txBody>
                    <a:bodyPr/>
                    <a:lstStyle/>
                    <a:p>
                      <a:r>
                        <a:rPr lang="en-US" sz="1800" dirty="0" smtClean="0"/>
                        <a:t>M. Smith</a:t>
                      </a:r>
                      <a:endParaRPr lang="en-US" sz="1800" dirty="0"/>
                    </a:p>
                  </a:txBody>
                  <a:tcPr marL="91445" marR="91445" marT="45660" marB="45660"/>
                </a:tc>
                <a:tc>
                  <a:txBody>
                    <a:bodyPr/>
                    <a:lstStyle/>
                    <a:p>
                      <a:r>
                        <a:rPr lang="en-US" sz="1800" dirty="0" smtClean="0"/>
                        <a:t>Syst. Anal.</a:t>
                      </a:r>
                      <a:endParaRPr lang="en-US" sz="1800" dirty="0"/>
                    </a:p>
                  </a:txBody>
                  <a:tcPr marL="91445" marR="91445" marT="45660" marB="45660"/>
                </a:tc>
              </a:tr>
              <a:tr h="365522">
                <a:tc>
                  <a:txBody>
                    <a:bodyPr/>
                    <a:lstStyle/>
                    <a:p>
                      <a:r>
                        <a:rPr lang="en-US" sz="1800" dirty="0" smtClean="0"/>
                        <a:t>E3</a:t>
                      </a:r>
                      <a:endParaRPr lang="en-US" sz="1800" dirty="0"/>
                    </a:p>
                  </a:txBody>
                  <a:tcPr marL="91445" marR="91445" marT="45660" marB="45660"/>
                </a:tc>
                <a:tc>
                  <a:txBody>
                    <a:bodyPr/>
                    <a:lstStyle/>
                    <a:p>
                      <a:pPr marL="342900" indent="-342900">
                        <a:buAutoNum type="alphaUcPeriod"/>
                      </a:pPr>
                      <a:r>
                        <a:rPr lang="en-US" sz="1800" baseline="0" dirty="0" smtClean="0"/>
                        <a:t>Lee</a:t>
                      </a:r>
                      <a:endParaRPr lang="en-US" sz="1800" dirty="0"/>
                    </a:p>
                  </a:txBody>
                  <a:tcPr marL="91445" marR="91445" marT="45660" marB="45660"/>
                </a:tc>
                <a:tc>
                  <a:txBody>
                    <a:bodyPr/>
                    <a:lstStyle/>
                    <a:p>
                      <a:r>
                        <a:rPr lang="en-US" sz="1800" dirty="0" smtClean="0"/>
                        <a:t>Mech.</a:t>
                      </a:r>
                      <a:r>
                        <a:rPr lang="en-US" sz="1800" baseline="0" dirty="0" smtClean="0"/>
                        <a:t> </a:t>
                      </a:r>
                      <a:r>
                        <a:rPr lang="en-US" sz="1800" baseline="0" dirty="0" err="1" smtClean="0"/>
                        <a:t>Eng</a:t>
                      </a:r>
                      <a:endParaRPr lang="en-US" sz="1800" dirty="0"/>
                    </a:p>
                  </a:txBody>
                  <a:tcPr marL="91445" marR="91445" marT="45660" marB="45660"/>
                </a:tc>
              </a:tr>
            </a:tbl>
          </a:graphicData>
        </a:graphic>
      </p:graphicFrame>
      <p:sp>
        <p:nvSpPr>
          <p:cNvPr id="3" name="Footer Placeholder 2"/>
          <p:cNvSpPr>
            <a:spLocks noGrp="1"/>
          </p:cNvSpPr>
          <p:nvPr>
            <p:ph type="ftr" sz="quarter" idx="11"/>
          </p:nvPr>
        </p:nvSpPr>
        <p:spPr/>
        <p:txBody>
          <a:bodyPr/>
          <a:lstStyle/>
          <a:p>
            <a:pPr>
              <a:defRPr/>
            </a:pPr>
            <a:r>
              <a:rPr lang="en-US"/>
              <a:t>Distributed Database Systems</a:t>
            </a:r>
          </a:p>
        </p:txBody>
      </p:sp>
      <p:graphicFrame>
        <p:nvGraphicFramePr>
          <p:cNvPr id="6" name="Table 5"/>
          <p:cNvGraphicFramePr>
            <a:graphicFrameLocks noGrp="1"/>
          </p:cNvGraphicFramePr>
          <p:nvPr/>
        </p:nvGraphicFramePr>
        <p:xfrm>
          <a:off x="6842126" y="2708275"/>
          <a:ext cx="3190875" cy="1463676"/>
        </p:xfrm>
        <a:graphic>
          <a:graphicData uri="http://schemas.openxmlformats.org/drawingml/2006/table">
            <a:tbl>
              <a:tblPr firstRow="1" bandRow="1">
                <a:tableStyleId>{5C22544A-7EE6-4342-B048-85BDC9FD1C3A}</a:tableStyleId>
              </a:tblPr>
              <a:tblGrid>
                <a:gridCol w="1516700"/>
                <a:gridCol w="1674175"/>
              </a:tblGrid>
              <a:tr h="365919">
                <a:tc>
                  <a:txBody>
                    <a:bodyPr/>
                    <a:lstStyle/>
                    <a:p>
                      <a:r>
                        <a:rPr lang="en-US" sz="1800" dirty="0" smtClean="0"/>
                        <a:t>TITLE</a:t>
                      </a:r>
                      <a:endParaRPr lang="en-US" sz="1800" dirty="0"/>
                    </a:p>
                  </a:txBody>
                  <a:tcPr marL="91458" marR="91458" marT="45730" marB="45730"/>
                </a:tc>
                <a:tc>
                  <a:txBody>
                    <a:bodyPr/>
                    <a:lstStyle/>
                    <a:p>
                      <a:r>
                        <a:rPr lang="en-US" sz="1800" dirty="0" smtClean="0"/>
                        <a:t>SALARY</a:t>
                      </a:r>
                      <a:endParaRPr lang="en-US" sz="1800" dirty="0"/>
                    </a:p>
                  </a:txBody>
                  <a:tcPr marL="91458" marR="91458" marT="45730" marB="45730"/>
                </a:tc>
              </a:tr>
              <a:tr h="365919">
                <a:tc>
                  <a:txBody>
                    <a:bodyPr/>
                    <a:lstStyle/>
                    <a:p>
                      <a:r>
                        <a:rPr lang="en-US" sz="1800" dirty="0" smtClean="0"/>
                        <a:t>Elect  </a:t>
                      </a:r>
                      <a:r>
                        <a:rPr lang="en-US" sz="1800" dirty="0" err="1" smtClean="0"/>
                        <a:t>Eng</a:t>
                      </a:r>
                      <a:endParaRPr lang="en-US" sz="1800" dirty="0"/>
                    </a:p>
                  </a:txBody>
                  <a:tcPr marL="91458" marR="91458" marT="45730" marB="45730"/>
                </a:tc>
                <a:tc>
                  <a:txBody>
                    <a:bodyPr/>
                    <a:lstStyle/>
                    <a:p>
                      <a:r>
                        <a:rPr lang="en-US" sz="1800" dirty="0" smtClean="0"/>
                        <a:t>50000</a:t>
                      </a:r>
                      <a:endParaRPr lang="en-US" sz="1800" dirty="0"/>
                    </a:p>
                  </a:txBody>
                  <a:tcPr marL="91458" marR="91458" marT="45730" marB="45730"/>
                </a:tc>
              </a:tr>
              <a:tr h="365919">
                <a:tc>
                  <a:txBody>
                    <a:bodyPr/>
                    <a:lstStyle/>
                    <a:p>
                      <a:r>
                        <a:rPr lang="en-US" sz="1800" dirty="0" smtClean="0"/>
                        <a:t>Syst. Anal.</a:t>
                      </a:r>
                      <a:endParaRPr lang="en-US" sz="1800" dirty="0"/>
                    </a:p>
                  </a:txBody>
                  <a:tcPr marL="91458" marR="91458" marT="45730" marB="45730"/>
                </a:tc>
                <a:tc>
                  <a:txBody>
                    <a:bodyPr/>
                    <a:lstStyle/>
                    <a:p>
                      <a:r>
                        <a:rPr lang="en-US" sz="1800" dirty="0" smtClean="0"/>
                        <a:t>55000</a:t>
                      </a:r>
                      <a:endParaRPr lang="en-US" sz="1800" dirty="0"/>
                    </a:p>
                  </a:txBody>
                  <a:tcPr marL="91458" marR="91458" marT="45730" marB="45730"/>
                </a:tc>
              </a:tr>
              <a:tr h="365919">
                <a:tc>
                  <a:txBody>
                    <a:bodyPr/>
                    <a:lstStyle/>
                    <a:p>
                      <a:r>
                        <a:rPr lang="en-US" sz="1800" dirty="0" smtClean="0"/>
                        <a:t>Programmer.</a:t>
                      </a:r>
                      <a:endParaRPr lang="en-US" sz="1800" dirty="0"/>
                    </a:p>
                  </a:txBody>
                  <a:tcPr marL="91458" marR="91458" marT="45730" marB="45730"/>
                </a:tc>
                <a:tc>
                  <a:txBody>
                    <a:bodyPr/>
                    <a:lstStyle/>
                    <a:p>
                      <a:r>
                        <a:rPr lang="en-US" sz="1800" dirty="0" smtClean="0"/>
                        <a:t>65000</a:t>
                      </a:r>
                      <a:endParaRPr lang="en-US" sz="1800" dirty="0"/>
                    </a:p>
                  </a:txBody>
                  <a:tcPr marL="91458" marR="91458" marT="45730" marB="45730"/>
                </a:tc>
              </a:tr>
            </a:tbl>
          </a:graphicData>
        </a:graphic>
      </p:graphicFrame>
      <p:graphicFrame>
        <p:nvGraphicFramePr>
          <p:cNvPr id="7" name="Table 6"/>
          <p:cNvGraphicFramePr>
            <a:graphicFrameLocks noGrp="1"/>
          </p:cNvGraphicFramePr>
          <p:nvPr/>
        </p:nvGraphicFramePr>
        <p:xfrm>
          <a:off x="2936876" y="4997451"/>
          <a:ext cx="4538663" cy="1195389"/>
        </p:xfrm>
        <a:graphic>
          <a:graphicData uri="http://schemas.openxmlformats.org/drawingml/2006/table">
            <a:tbl>
              <a:tblPr firstRow="1" bandRow="1">
                <a:tableStyleId>{5C22544A-7EE6-4342-B048-85BDC9FD1C3A}</a:tableStyleId>
              </a:tblPr>
              <a:tblGrid>
                <a:gridCol w="751701"/>
                <a:gridCol w="1163595"/>
                <a:gridCol w="1429781"/>
                <a:gridCol w="1193586"/>
              </a:tblGrid>
              <a:tr h="398463">
                <a:tc>
                  <a:txBody>
                    <a:bodyPr/>
                    <a:lstStyle/>
                    <a:p>
                      <a:r>
                        <a:rPr lang="en-US" sz="1600" dirty="0" smtClean="0"/>
                        <a:t>ENO</a:t>
                      </a:r>
                      <a:endParaRPr lang="en-US" sz="1600" dirty="0"/>
                    </a:p>
                  </a:txBody>
                  <a:tcPr marL="91433" marR="91433" marT="45707" marB="45707"/>
                </a:tc>
                <a:tc>
                  <a:txBody>
                    <a:bodyPr/>
                    <a:lstStyle/>
                    <a:p>
                      <a:r>
                        <a:rPr lang="en-US" sz="1600" dirty="0" smtClean="0"/>
                        <a:t>ENAME</a:t>
                      </a:r>
                      <a:endParaRPr lang="en-US" sz="1600" dirty="0"/>
                    </a:p>
                  </a:txBody>
                  <a:tcPr marL="91433" marR="91433" marT="45707" marB="45707"/>
                </a:tc>
                <a:tc>
                  <a:txBody>
                    <a:bodyPr/>
                    <a:lstStyle/>
                    <a:p>
                      <a:r>
                        <a:rPr lang="en-US" sz="1600" dirty="0" smtClean="0"/>
                        <a:t>TITLE</a:t>
                      </a:r>
                      <a:endParaRPr lang="en-US" sz="1600" dirty="0"/>
                    </a:p>
                  </a:txBody>
                  <a:tcPr marL="91433" marR="91433" marT="45707" marB="45707"/>
                </a:tc>
                <a:tc>
                  <a:txBody>
                    <a:bodyPr/>
                    <a:lstStyle/>
                    <a:p>
                      <a:r>
                        <a:rPr lang="en-US" sz="1600" dirty="0" smtClean="0"/>
                        <a:t>SALARY</a:t>
                      </a:r>
                      <a:endParaRPr lang="en-US" sz="1600" dirty="0"/>
                    </a:p>
                  </a:txBody>
                  <a:tcPr marL="91433" marR="91433" marT="45707" marB="45707"/>
                </a:tc>
              </a:tr>
              <a:tr h="398463">
                <a:tc>
                  <a:txBody>
                    <a:bodyPr/>
                    <a:lstStyle/>
                    <a:p>
                      <a:r>
                        <a:rPr lang="en-US" sz="1600" dirty="0" smtClean="0"/>
                        <a:t>E1</a:t>
                      </a:r>
                      <a:endParaRPr lang="en-US" sz="1600" dirty="0"/>
                    </a:p>
                  </a:txBody>
                  <a:tcPr marL="91433" marR="91433" marT="45707" marB="45707"/>
                </a:tc>
                <a:tc>
                  <a:txBody>
                    <a:bodyPr/>
                    <a:lstStyle/>
                    <a:p>
                      <a:r>
                        <a:rPr lang="en-US" sz="1600" dirty="0" smtClean="0"/>
                        <a:t>J. Doe</a:t>
                      </a:r>
                      <a:endParaRPr lang="en-US" sz="1600" dirty="0"/>
                    </a:p>
                  </a:txBody>
                  <a:tcPr marL="91433" marR="91433" marT="45707" marB="45707"/>
                </a:tc>
                <a:tc>
                  <a:txBody>
                    <a:bodyPr/>
                    <a:lstStyle/>
                    <a:p>
                      <a:r>
                        <a:rPr lang="en-US" sz="1600" dirty="0" smtClean="0"/>
                        <a:t>Elect  </a:t>
                      </a:r>
                      <a:r>
                        <a:rPr lang="en-US" sz="1600" dirty="0" err="1" smtClean="0"/>
                        <a:t>Eng</a:t>
                      </a:r>
                      <a:endParaRPr lang="en-US" sz="1600" dirty="0"/>
                    </a:p>
                  </a:txBody>
                  <a:tcPr marL="91433" marR="91433" marT="45707" marB="45707"/>
                </a:tc>
                <a:tc>
                  <a:txBody>
                    <a:bodyPr/>
                    <a:lstStyle/>
                    <a:p>
                      <a:r>
                        <a:rPr lang="en-US" sz="1600" dirty="0" smtClean="0"/>
                        <a:t>50000</a:t>
                      </a:r>
                      <a:endParaRPr lang="en-US" sz="1600" dirty="0"/>
                    </a:p>
                  </a:txBody>
                  <a:tcPr marL="91433" marR="91433" marT="45707" marB="45707"/>
                </a:tc>
              </a:tr>
              <a:tr h="398463">
                <a:tc>
                  <a:txBody>
                    <a:bodyPr/>
                    <a:lstStyle/>
                    <a:p>
                      <a:r>
                        <a:rPr lang="en-US" sz="1600" dirty="0" smtClean="0"/>
                        <a:t>E2</a:t>
                      </a:r>
                      <a:endParaRPr lang="en-US" sz="1600" dirty="0"/>
                    </a:p>
                  </a:txBody>
                  <a:tcPr marL="91433" marR="91433" marT="45707" marB="45707"/>
                </a:tc>
                <a:tc>
                  <a:txBody>
                    <a:bodyPr/>
                    <a:lstStyle/>
                    <a:p>
                      <a:r>
                        <a:rPr lang="en-US" sz="1600" dirty="0" smtClean="0"/>
                        <a:t>M. Smith</a:t>
                      </a:r>
                      <a:endParaRPr lang="en-US" sz="1600" dirty="0"/>
                    </a:p>
                  </a:txBody>
                  <a:tcPr marL="91433" marR="91433" marT="45707" marB="45707"/>
                </a:tc>
                <a:tc>
                  <a:txBody>
                    <a:bodyPr/>
                    <a:lstStyle/>
                    <a:p>
                      <a:r>
                        <a:rPr lang="en-US" sz="1600" dirty="0" smtClean="0"/>
                        <a:t>Syst. Anal.</a:t>
                      </a:r>
                      <a:endParaRPr lang="en-US" sz="1600" dirty="0"/>
                    </a:p>
                  </a:txBody>
                  <a:tcPr marL="91433" marR="91433" marT="45707" marB="45707"/>
                </a:tc>
                <a:tc>
                  <a:txBody>
                    <a:bodyPr/>
                    <a:lstStyle/>
                    <a:p>
                      <a:r>
                        <a:rPr lang="en-US" sz="1600" dirty="0" smtClean="0"/>
                        <a:t>55000</a:t>
                      </a:r>
                      <a:endParaRPr lang="en-US" sz="1600" dirty="0"/>
                    </a:p>
                  </a:txBody>
                  <a:tcPr marL="91433" marR="91433" marT="45707" marB="45707"/>
                </a:tc>
              </a:tr>
            </a:tbl>
          </a:graphicData>
        </a:graphic>
      </p:graphicFrame>
      <p:grpSp>
        <p:nvGrpSpPr>
          <p:cNvPr id="46146" name="Group 7"/>
          <p:cNvGrpSpPr>
            <a:grpSpLocks/>
          </p:cNvGrpSpPr>
          <p:nvPr/>
        </p:nvGrpSpPr>
        <p:grpSpPr bwMode="auto">
          <a:xfrm>
            <a:off x="3654425" y="4452938"/>
            <a:ext cx="382588" cy="195262"/>
            <a:chOff x="2327564" y="3671892"/>
            <a:chExt cx="382385" cy="195421"/>
          </a:xfrm>
        </p:grpSpPr>
        <p:cxnSp>
          <p:nvCxnSpPr>
            <p:cNvPr id="46147" name="Straight Connector 8"/>
            <p:cNvCxnSpPr>
              <a:cxnSpLocks noChangeShapeType="1"/>
            </p:cNvCxnSpPr>
            <p:nvPr/>
          </p:nvCxnSpPr>
          <p:spPr bwMode="auto">
            <a:xfrm>
              <a:off x="2344189" y="3671892"/>
              <a:ext cx="36576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6148" name="Straight Connector 9"/>
            <p:cNvCxnSpPr>
              <a:cxnSpLocks noChangeShapeType="1"/>
            </p:cNvCxnSpPr>
            <p:nvPr/>
          </p:nvCxnSpPr>
          <p:spPr bwMode="auto">
            <a:xfrm flipH="1">
              <a:off x="2327564" y="3674808"/>
              <a:ext cx="36576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6149" name="Straight Connector 10"/>
            <p:cNvCxnSpPr>
              <a:cxnSpLocks noChangeShapeType="1"/>
            </p:cNvCxnSpPr>
            <p:nvPr/>
          </p:nvCxnSpPr>
          <p:spPr bwMode="auto">
            <a:xfrm>
              <a:off x="2344189" y="3671892"/>
              <a:ext cx="0" cy="195421"/>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6150" name="Straight Connector 11"/>
            <p:cNvCxnSpPr>
              <a:cxnSpLocks noChangeShapeType="1"/>
            </p:cNvCxnSpPr>
            <p:nvPr/>
          </p:nvCxnSpPr>
          <p:spPr bwMode="auto">
            <a:xfrm>
              <a:off x="2693324" y="3674808"/>
              <a:ext cx="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095802258"/>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298700" y="762000"/>
            <a:ext cx="8140700" cy="1143000"/>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5F5F5F"/>
                  </a:outerShdw>
                </a:effectLst>
              </a14:hiddenEffects>
            </a:ext>
          </a:extLst>
        </p:spPr>
        <p:txBody>
          <a:bodyPr vert="horz" lIns="90488" tIns="44450" rIns="90488" bIns="44450" rtlCol="0" anchor="ctr">
            <a:normAutofit/>
          </a:bodyPr>
          <a:lstStyle/>
          <a:p>
            <a:r>
              <a:rPr lang="el-GR" altLang="en-US" sz="3200">
                <a:solidFill>
                  <a:srgbClr val="0000CC"/>
                </a:solidFill>
                <a:latin typeface="Tahoma" panose="020B0604030504040204" pitchFamily="34" charset="0"/>
              </a:rPr>
              <a:t>θ</a:t>
            </a:r>
            <a:r>
              <a:rPr lang="en-US" altLang="en-US" sz="3200">
                <a:solidFill>
                  <a:srgbClr val="0000CC"/>
                </a:solidFill>
                <a:latin typeface="Tahoma" panose="020B0604030504040204" pitchFamily="34" charset="0"/>
              </a:rPr>
              <a:t>-Join -Example</a:t>
            </a:r>
          </a:p>
        </p:txBody>
      </p:sp>
      <p:sp>
        <p:nvSpPr>
          <p:cNvPr id="45059" name="Rectangle 3"/>
          <p:cNvSpPr>
            <a:spLocks noGrp="1" noChangeArrowheads="1"/>
          </p:cNvSpPr>
          <p:nvPr>
            <p:ph type="body" idx="1"/>
          </p:nvPr>
        </p:nvSpPr>
        <p:spPr>
          <a:xfrm>
            <a:off x="2438400" y="2316163"/>
            <a:ext cx="7988300" cy="4495800"/>
          </a:xfrm>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pPr marL="457200" lvl="1" indent="0">
              <a:spcBef>
                <a:spcPct val="60000"/>
              </a:spcBef>
              <a:buNone/>
              <a:defRPr/>
            </a:pPr>
            <a:endParaRPr lang="en-US" sz="1100" b="1" dirty="0">
              <a:solidFill>
                <a:srgbClr val="0000CC"/>
              </a:solidFill>
              <a:latin typeface="Tahoma" pitchFamily="34" charset="0"/>
            </a:endParaRPr>
          </a:p>
          <a:p>
            <a:pPr lvl="1" algn="just">
              <a:lnSpc>
                <a:spcPct val="90000"/>
              </a:lnSpc>
              <a:spcBef>
                <a:spcPct val="60000"/>
              </a:spcBef>
              <a:defRPr/>
            </a:pPr>
            <a:r>
              <a:rPr lang="en-US" sz="2000" b="1" dirty="0">
                <a:latin typeface="Tahoma" pitchFamily="34" charset="0"/>
              </a:rPr>
              <a:t>If the attributes of two relations are common then projection is necessary to make sure that those attributed do not appear twice in the result.</a:t>
            </a:r>
          </a:p>
          <a:p>
            <a:pPr lvl="1" algn="just">
              <a:lnSpc>
                <a:spcPct val="90000"/>
              </a:lnSpc>
              <a:spcBef>
                <a:spcPct val="60000"/>
              </a:spcBef>
              <a:defRPr/>
            </a:pPr>
            <a:r>
              <a:rPr lang="en-US" sz="2000" b="1" dirty="0">
                <a:latin typeface="Tahoma" pitchFamily="34" charset="0"/>
              </a:rPr>
              <a:t>So we can write above as:</a:t>
            </a:r>
          </a:p>
          <a:p>
            <a:pPr marL="457200" lvl="1" indent="0">
              <a:spcBef>
                <a:spcPct val="60000"/>
              </a:spcBef>
              <a:buNone/>
              <a:defRPr/>
            </a:pPr>
            <a:endParaRPr lang="en-US" sz="1050" b="1" dirty="0">
              <a:latin typeface="Tahoma" pitchFamily="34" charset="0"/>
            </a:endParaRPr>
          </a:p>
          <a:p>
            <a:pPr marL="457200" lvl="1" indent="0">
              <a:spcBef>
                <a:spcPct val="60000"/>
              </a:spcBef>
              <a:buNone/>
              <a:defRPr/>
            </a:pPr>
            <a:r>
              <a:rPr lang="en-US" sz="2000" b="1" dirty="0">
                <a:latin typeface="Tahoma" pitchFamily="34" charset="0"/>
              </a:rPr>
              <a:t> EMP      </a:t>
            </a:r>
            <a:r>
              <a:rPr lang="en-US" sz="2000" b="1" baseline="-25000" dirty="0">
                <a:latin typeface="Tahoma" pitchFamily="34" charset="0"/>
              </a:rPr>
              <a:t>EMP.TITLE=PAY.TITLE </a:t>
            </a:r>
            <a:r>
              <a:rPr lang="en-US" sz="2000" b="1" dirty="0">
                <a:latin typeface="Tahoma" pitchFamily="34" charset="0"/>
              </a:rPr>
              <a:t>PAY = 	  	</a:t>
            </a:r>
          </a:p>
          <a:p>
            <a:pPr marL="457200" lvl="1" indent="0">
              <a:spcBef>
                <a:spcPct val="60000"/>
              </a:spcBef>
              <a:buNone/>
              <a:defRPr/>
            </a:pPr>
            <a:r>
              <a:rPr lang="el-GR" sz="2000" b="1" dirty="0">
                <a:latin typeface="Tahoma" pitchFamily="34" charset="0"/>
              </a:rPr>
              <a:t>Π</a:t>
            </a:r>
            <a:r>
              <a:rPr lang="en-US" sz="2000" b="1" dirty="0">
                <a:latin typeface="Tahoma" pitchFamily="34" charset="0"/>
              </a:rPr>
              <a:t> </a:t>
            </a:r>
            <a:r>
              <a:rPr lang="en-US" sz="2000" b="1" baseline="-25000" dirty="0" err="1">
                <a:latin typeface="Tahoma" pitchFamily="34" charset="0"/>
              </a:rPr>
              <a:t>ENo</a:t>
            </a:r>
            <a:r>
              <a:rPr lang="en-US" sz="2000" b="1" baseline="-25000" dirty="0">
                <a:latin typeface="Tahoma" pitchFamily="34" charset="0"/>
              </a:rPr>
              <a:t>, ENAME,</a:t>
            </a:r>
            <a:r>
              <a:rPr lang="en-US" sz="2000" b="1" dirty="0">
                <a:latin typeface="Tahoma" pitchFamily="34" charset="0"/>
              </a:rPr>
              <a:t> </a:t>
            </a:r>
            <a:r>
              <a:rPr lang="en-US" sz="2000" b="1" baseline="-25000" dirty="0">
                <a:latin typeface="Tahoma" pitchFamily="34" charset="0"/>
              </a:rPr>
              <a:t>TITLE, SAL</a:t>
            </a:r>
            <a:r>
              <a:rPr lang="en-US" sz="2000" b="1" dirty="0">
                <a:latin typeface="Tahoma" pitchFamily="34" charset="0"/>
              </a:rPr>
              <a:t>(</a:t>
            </a:r>
            <a:r>
              <a:rPr lang="el-GR" sz="2000" b="1" dirty="0">
                <a:latin typeface="Tahoma" pitchFamily="34" charset="0"/>
              </a:rPr>
              <a:t>σ</a:t>
            </a:r>
            <a:r>
              <a:rPr lang="en-US" sz="2000" b="1" baseline="-25000" dirty="0">
                <a:latin typeface="Tahoma" pitchFamily="34" charset="0"/>
              </a:rPr>
              <a:t>EMP.TITLE=PAY.TITLE </a:t>
            </a:r>
            <a:r>
              <a:rPr lang="en-US" sz="2000" b="1" dirty="0">
                <a:latin typeface="Tahoma" pitchFamily="34" charset="0"/>
              </a:rPr>
              <a:t> (EMP x PAY)</a:t>
            </a:r>
          </a:p>
          <a:p>
            <a:pPr marL="457200" lvl="1" indent="0">
              <a:spcBef>
                <a:spcPct val="60000"/>
              </a:spcBef>
              <a:buNone/>
              <a:defRPr/>
            </a:pPr>
            <a:endParaRPr lang="en-US" sz="1400" b="1" baseline="-25000" dirty="0">
              <a:latin typeface="Tahoma" pitchFamily="34" charset="0"/>
            </a:endParaRPr>
          </a:p>
          <a:p>
            <a:pPr lvl="1" algn="just">
              <a:lnSpc>
                <a:spcPct val="90000"/>
              </a:lnSpc>
              <a:spcBef>
                <a:spcPct val="60000"/>
              </a:spcBef>
              <a:defRPr/>
            </a:pPr>
            <a:r>
              <a:rPr lang="en-US" sz="2000" b="1" dirty="0">
                <a:latin typeface="Tahoma" pitchFamily="34" charset="0"/>
              </a:rPr>
              <a:t>This example demonstrates a special case of </a:t>
            </a:r>
            <a:r>
              <a:rPr lang="el-GR" sz="2000" b="1" dirty="0">
                <a:latin typeface="Tahoma" pitchFamily="34" charset="0"/>
              </a:rPr>
              <a:t>θ</a:t>
            </a:r>
            <a:r>
              <a:rPr lang="en-US" sz="2000" b="1" dirty="0">
                <a:latin typeface="Tahoma" pitchFamily="34" charset="0"/>
              </a:rPr>
              <a:t>-join which is called </a:t>
            </a:r>
            <a:r>
              <a:rPr lang="en-US" sz="2000" b="1" dirty="0" err="1">
                <a:latin typeface="Tahoma" pitchFamily="34" charset="0"/>
              </a:rPr>
              <a:t>equi</a:t>
            </a:r>
            <a:r>
              <a:rPr lang="en-US" sz="2000" b="1" dirty="0">
                <a:latin typeface="Tahoma" pitchFamily="34" charset="0"/>
              </a:rPr>
              <a:t>-join. Because the join predicate contains equality (=) as arithmetic operator.</a:t>
            </a:r>
          </a:p>
          <a:p>
            <a:pPr marL="457200" lvl="1" indent="0">
              <a:spcBef>
                <a:spcPct val="60000"/>
              </a:spcBef>
              <a:buNone/>
              <a:defRPr/>
            </a:pPr>
            <a:endParaRPr lang="en-US" sz="3200" b="1" dirty="0">
              <a:solidFill>
                <a:srgbClr val="0000CC"/>
              </a:solidFill>
              <a:latin typeface="Tahoma" pitchFamily="34" charset="0"/>
            </a:endParaRPr>
          </a:p>
          <a:p>
            <a:pPr marL="457200" lvl="1" indent="0">
              <a:spcBef>
                <a:spcPct val="60000"/>
              </a:spcBef>
              <a:buNone/>
              <a:defRPr/>
            </a:pPr>
            <a:endParaRPr lang="en-US" sz="3200" b="1" dirty="0">
              <a:solidFill>
                <a:srgbClr val="0000CC"/>
              </a:solidFill>
              <a:latin typeface="Tahoma" pitchFamily="34" charset="0"/>
            </a:endParaRPr>
          </a:p>
        </p:txBody>
      </p:sp>
      <p:sp>
        <p:nvSpPr>
          <p:cNvPr id="3" name="Footer Placeholder 2"/>
          <p:cNvSpPr>
            <a:spLocks noGrp="1"/>
          </p:cNvSpPr>
          <p:nvPr>
            <p:ph type="ftr" sz="quarter" idx="11"/>
          </p:nvPr>
        </p:nvSpPr>
        <p:spPr/>
        <p:txBody>
          <a:bodyPr/>
          <a:lstStyle/>
          <a:p>
            <a:pPr>
              <a:defRPr/>
            </a:pPr>
            <a:r>
              <a:rPr lang="en-US"/>
              <a:t>Distributed Database Systems</a:t>
            </a:r>
          </a:p>
        </p:txBody>
      </p:sp>
      <p:grpSp>
        <p:nvGrpSpPr>
          <p:cNvPr id="48133" name="Group 7"/>
          <p:cNvGrpSpPr>
            <a:grpSpLocks/>
          </p:cNvGrpSpPr>
          <p:nvPr/>
        </p:nvGrpSpPr>
        <p:grpSpPr bwMode="auto">
          <a:xfrm>
            <a:off x="3654425" y="4629151"/>
            <a:ext cx="382588" cy="195263"/>
            <a:chOff x="2327564" y="3671892"/>
            <a:chExt cx="382385" cy="195421"/>
          </a:xfrm>
        </p:grpSpPr>
        <p:cxnSp>
          <p:nvCxnSpPr>
            <p:cNvPr id="48134" name="Straight Connector 8"/>
            <p:cNvCxnSpPr>
              <a:cxnSpLocks noChangeShapeType="1"/>
            </p:cNvCxnSpPr>
            <p:nvPr/>
          </p:nvCxnSpPr>
          <p:spPr bwMode="auto">
            <a:xfrm>
              <a:off x="2344189" y="3671892"/>
              <a:ext cx="36576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8135" name="Straight Connector 9"/>
            <p:cNvCxnSpPr>
              <a:cxnSpLocks noChangeShapeType="1"/>
            </p:cNvCxnSpPr>
            <p:nvPr/>
          </p:nvCxnSpPr>
          <p:spPr bwMode="auto">
            <a:xfrm flipH="1">
              <a:off x="2327564" y="3674808"/>
              <a:ext cx="36576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8136" name="Straight Connector 10"/>
            <p:cNvCxnSpPr>
              <a:cxnSpLocks noChangeShapeType="1"/>
            </p:cNvCxnSpPr>
            <p:nvPr/>
          </p:nvCxnSpPr>
          <p:spPr bwMode="auto">
            <a:xfrm>
              <a:off x="2344189" y="3671892"/>
              <a:ext cx="0" cy="195421"/>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8137" name="Straight Connector 11"/>
            <p:cNvCxnSpPr>
              <a:cxnSpLocks noChangeShapeType="1"/>
            </p:cNvCxnSpPr>
            <p:nvPr/>
          </p:nvCxnSpPr>
          <p:spPr bwMode="auto">
            <a:xfrm>
              <a:off x="2693324" y="3674808"/>
              <a:ext cx="0" cy="19250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963881126"/>
      </p:ext>
    </p:extLst>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Equijoin</a:t>
            </a:r>
            <a:br>
              <a:rPr lang="en-US" dirty="0"/>
            </a:br>
            <a:endParaRPr lang="en-US" dirty="0"/>
          </a:p>
        </p:txBody>
      </p:sp>
      <p:sp>
        <p:nvSpPr>
          <p:cNvPr id="3" name="Content Placeholder 2"/>
          <p:cNvSpPr>
            <a:spLocks noGrp="1"/>
          </p:cNvSpPr>
          <p:nvPr>
            <p:ph idx="1"/>
          </p:nvPr>
        </p:nvSpPr>
        <p:spPr/>
        <p:txBody>
          <a:bodyPr/>
          <a:lstStyle/>
          <a:p>
            <a:r>
              <a:rPr lang="en-US" dirty="0"/>
              <a:t>When Theta join uses only </a:t>
            </a:r>
            <a:r>
              <a:rPr lang="en-US" b="1" dirty="0"/>
              <a:t>equality</a:t>
            </a:r>
            <a:r>
              <a:rPr lang="en-US" dirty="0"/>
              <a:t> comparison operator, it is said to be equijoin. The above example corresponds to equijoin.</a:t>
            </a:r>
          </a:p>
        </p:txBody>
      </p:sp>
    </p:spTree>
    <p:extLst>
      <p:ext uri="{BB962C8B-B14F-4D97-AF65-F5344CB8AC3E}">
        <p14:creationId xmlns:p14="http://schemas.microsoft.com/office/powerpoint/2010/main" val="29287094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Natural join does not use any comparison operator. It does not concatenate the way a Cartesian product does. We can perform a Natural Join only if there is at least one common attribute that exists between two relations. In addition, the attributes must have the same name and domain.</a:t>
            </a:r>
          </a:p>
          <a:p>
            <a:r>
              <a:rPr lang="en-US" dirty="0"/>
              <a:t>Natural join acts on those matching attributes where the values of attributes in both the relations are same.</a:t>
            </a:r>
          </a:p>
          <a:p>
            <a:endParaRPr lang="en-US" dirty="0"/>
          </a:p>
        </p:txBody>
      </p:sp>
      <p:sp>
        <p:nvSpPr>
          <p:cNvPr id="4" name="Rectangle 1"/>
          <p:cNvSpPr>
            <a:spLocks noGrp="1" noChangeArrowheads="1"/>
          </p:cNvSpPr>
          <p:nvPr>
            <p:ph type="title"/>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700" b="0" i="0" u="none" strike="noStrike" cap="none" normalizeH="0" baseline="0" smtClean="0">
                <a:ln>
                  <a:noFill/>
                </a:ln>
                <a:solidFill>
                  <a:srgbClr val="000000"/>
                </a:solidFill>
                <a:effectLst/>
                <a:latin typeface="Heebo"/>
              </a:rPr>
              <a:t>Natural Join (</a:t>
            </a:r>
            <a:r>
              <a:rPr kumimoji="0" lang="en-US" sz="1800" b="0" i="0" u="none" strike="noStrike" cap="none" normalizeH="0" baseline="0" smtClean="0">
                <a:ln>
                  <a:noFill/>
                </a:ln>
                <a:solidFill>
                  <a:srgbClr val="000000"/>
                </a:solidFill>
                <a:effectLst/>
                <a:latin typeface="Heebo"/>
              </a:rPr>
              <a:t>⋈</a:t>
            </a:r>
            <a:r>
              <a:rPr kumimoji="0" lang="en-US" sz="1700" b="0" i="0" u="none" strike="noStrike" cap="none" normalizeH="0" baseline="0" smtClean="0">
                <a:ln>
                  <a:noFill/>
                </a:ln>
                <a:solidFill>
                  <a:srgbClr val="000000"/>
                </a:solidFill>
                <a:effectLst/>
                <a:latin typeface="Heebo"/>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84313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220414343"/>
              </p:ext>
            </p:extLst>
          </p:nvPr>
        </p:nvGraphicFramePr>
        <p:xfrm>
          <a:off x="838200" y="1825625"/>
          <a:ext cx="4715436" cy="2133600"/>
        </p:xfrm>
        <a:graphic>
          <a:graphicData uri="http://schemas.openxmlformats.org/drawingml/2006/table">
            <a:tbl>
              <a:tblPr firstRow="1" bandRow="1">
                <a:tableStyleId>{5C22544A-7EE6-4342-B048-85BDC9FD1C3A}</a:tableStyleId>
              </a:tblPr>
              <a:tblGrid>
                <a:gridCol w="1571812"/>
                <a:gridCol w="1571812"/>
                <a:gridCol w="1571812"/>
              </a:tblGrid>
              <a:tr h="370840">
                <a:tc gridSpan="3">
                  <a:txBody>
                    <a:bodyPr/>
                    <a:lstStyle/>
                    <a:p>
                      <a:pPr algn="ctr" fontAlgn="t"/>
                      <a:r>
                        <a:rPr lang="en-US" dirty="0">
                          <a:effectLst/>
                        </a:rPr>
                        <a:t>Courses</a:t>
                      </a:r>
                    </a:p>
                  </a:txBody>
                  <a:tcPr marL="76200" marR="76200" marT="76200" marB="76200"/>
                </a:tc>
                <a:tc hMerge="1">
                  <a:txBody>
                    <a:bodyPr/>
                    <a:lstStyle/>
                    <a:p>
                      <a:endParaRPr lang="en-US"/>
                    </a:p>
                  </a:txBody>
                  <a:tcPr/>
                </a:tc>
                <a:tc hMerge="1">
                  <a:txBody>
                    <a:bodyPr/>
                    <a:lstStyle/>
                    <a:p>
                      <a:endParaRPr lang="en-US"/>
                    </a:p>
                  </a:txBody>
                  <a:tcPr/>
                </a:tc>
              </a:tr>
              <a:tr h="370840">
                <a:tc>
                  <a:txBody>
                    <a:bodyPr/>
                    <a:lstStyle/>
                    <a:p>
                      <a:pPr algn="l" fontAlgn="t"/>
                      <a:r>
                        <a:rPr lang="en-US">
                          <a:effectLst/>
                        </a:rPr>
                        <a:t>CID</a:t>
                      </a:r>
                    </a:p>
                  </a:txBody>
                  <a:tcPr marL="76200" marR="76200" marT="76200" marB="76200"/>
                </a:tc>
                <a:tc>
                  <a:txBody>
                    <a:bodyPr/>
                    <a:lstStyle/>
                    <a:p>
                      <a:pPr algn="l" fontAlgn="t"/>
                      <a:r>
                        <a:rPr lang="en-US">
                          <a:effectLst/>
                        </a:rPr>
                        <a:t>Course</a:t>
                      </a:r>
                    </a:p>
                  </a:txBody>
                  <a:tcPr marL="76200" marR="76200" marT="76200" marB="76200"/>
                </a:tc>
                <a:tc>
                  <a:txBody>
                    <a:bodyPr/>
                    <a:lstStyle/>
                    <a:p>
                      <a:pPr algn="l" fontAlgn="t"/>
                      <a:r>
                        <a:rPr lang="en-US">
                          <a:effectLst/>
                        </a:rPr>
                        <a:t>Dept</a:t>
                      </a:r>
                    </a:p>
                  </a:txBody>
                  <a:tcPr marL="76200" marR="76200" marT="76200" marB="76200"/>
                </a:tc>
              </a:tr>
              <a:tr h="370840">
                <a:tc>
                  <a:txBody>
                    <a:bodyPr/>
                    <a:lstStyle/>
                    <a:p>
                      <a:pPr fontAlgn="t"/>
                      <a:r>
                        <a:rPr lang="en-US">
                          <a:effectLst/>
                        </a:rPr>
                        <a:t>CS01</a:t>
                      </a:r>
                    </a:p>
                  </a:txBody>
                  <a:tcPr marL="76200" marR="76200" marT="76200" marB="76200"/>
                </a:tc>
                <a:tc>
                  <a:txBody>
                    <a:bodyPr/>
                    <a:lstStyle/>
                    <a:p>
                      <a:pPr fontAlgn="t"/>
                      <a:r>
                        <a:rPr lang="en-US">
                          <a:effectLst/>
                        </a:rPr>
                        <a:t>Database</a:t>
                      </a:r>
                    </a:p>
                  </a:txBody>
                  <a:tcPr marL="76200" marR="76200" marT="76200" marB="76200"/>
                </a:tc>
                <a:tc>
                  <a:txBody>
                    <a:bodyPr/>
                    <a:lstStyle/>
                    <a:p>
                      <a:pPr fontAlgn="t"/>
                      <a:r>
                        <a:rPr lang="en-US" dirty="0">
                          <a:effectLst/>
                        </a:rPr>
                        <a:t>CS</a:t>
                      </a:r>
                    </a:p>
                  </a:txBody>
                  <a:tcPr marL="76200" marR="76200" marT="76200" marB="76200"/>
                </a:tc>
              </a:tr>
              <a:tr h="370840">
                <a:tc>
                  <a:txBody>
                    <a:bodyPr/>
                    <a:lstStyle/>
                    <a:p>
                      <a:pPr fontAlgn="t"/>
                      <a:r>
                        <a:rPr lang="en-US">
                          <a:effectLst/>
                        </a:rPr>
                        <a:t>ME01</a:t>
                      </a:r>
                    </a:p>
                  </a:txBody>
                  <a:tcPr marL="76200" marR="76200" marT="76200" marB="76200"/>
                </a:tc>
                <a:tc>
                  <a:txBody>
                    <a:bodyPr/>
                    <a:lstStyle/>
                    <a:p>
                      <a:pPr fontAlgn="t"/>
                      <a:r>
                        <a:rPr lang="en-US">
                          <a:effectLst/>
                        </a:rPr>
                        <a:t>Mechanics</a:t>
                      </a:r>
                    </a:p>
                  </a:txBody>
                  <a:tcPr marL="76200" marR="76200" marT="76200" marB="76200"/>
                </a:tc>
                <a:tc>
                  <a:txBody>
                    <a:bodyPr/>
                    <a:lstStyle/>
                    <a:p>
                      <a:pPr fontAlgn="t"/>
                      <a:r>
                        <a:rPr lang="en-US">
                          <a:effectLst/>
                        </a:rPr>
                        <a:t>ME</a:t>
                      </a:r>
                    </a:p>
                  </a:txBody>
                  <a:tcPr marL="76200" marR="76200" marT="76200" marB="76200"/>
                </a:tc>
              </a:tr>
              <a:tr h="370840">
                <a:tc>
                  <a:txBody>
                    <a:bodyPr/>
                    <a:lstStyle/>
                    <a:p>
                      <a:pPr fontAlgn="t"/>
                      <a:r>
                        <a:rPr lang="en-US">
                          <a:effectLst/>
                        </a:rPr>
                        <a:t>EE01</a:t>
                      </a:r>
                    </a:p>
                  </a:txBody>
                  <a:tcPr marL="76200" marR="76200" marT="76200" marB="76200"/>
                </a:tc>
                <a:tc>
                  <a:txBody>
                    <a:bodyPr/>
                    <a:lstStyle/>
                    <a:p>
                      <a:pPr fontAlgn="t"/>
                      <a:r>
                        <a:rPr lang="en-US">
                          <a:effectLst/>
                        </a:rPr>
                        <a:t>Electronics</a:t>
                      </a:r>
                    </a:p>
                  </a:txBody>
                  <a:tcPr marL="76200" marR="76200" marT="76200" marB="76200"/>
                </a:tc>
                <a:tc>
                  <a:txBody>
                    <a:bodyPr/>
                    <a:lstStyle/>
                    <a:p>
                      <a:pPr fontAlgn="t"/>
                      <a:r>
                        <a:rPr lang="en-US" dirty="0">
                          <a:effectLst/>
                        </a:rPr>
                        <a:t>EE</a:t>
                      </a:r>
                    </a:p>
                  </a:txBody>
                  <a:tcPr marL="76200" marR="76200" marT="76200" marB="76200"/>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33445273"/>
              </p:ext>
            </p:extLst>
          </p:nvPr>
        </p:nvGraphicFramePr>
        <p:xfrm>
          <a:off x="6039223" y="1862666"/>
          <a:ext cx="4557060" cy="2133600"/>
        </p:xfrm>
        <a:graphic>
          <a:graphicData uri="http://schemas.openxmlformats.org/drawingml/2006/table">
            <a:tbl>
              <a:tblPr firstRow="1" bandRow="1">
                <a:tableStyleId>{5C22544A-7EE6-4342-B048-85BDC9FD1C3A}</a:tableStyleId>
              </a:tblPr>
              <a:tblGrid>
                <a:gridCol w="2278530"/>
                <a:gridCol w="2278530"/>
              </a:tblGrid>
              <a:tr h="370840">
                <a:tc gridSpan="2">
                  <a:txBody>
                    <a:bodyPr/>
                    <a:lstStyle/>
                    <a:p>
                      <a:pPr algn="ctr" fontAlgn="t"/>
                      <a:r>
                        <a:rPr lang="en-US">
                          <a:effectLst/>
                        </a:rPr>
                        <a:t>HoD</a:t>
                      </a:r>
                    </a:p>
                  </a:txBody>
                  <a:tcPr marL="76200" marR="76200" marT="76200" marB="76200"/>
                </a:tc>
                <a:tc hMerge="1">
                  <a:txBody>
                    <a:bodyPr/>
                    <a:lstStyle/>
                    <a:p>
                      <a:endParaRPr lang="en-US"/>
                    </a:p>
                  </a:txBody>
                  <a:tcPr/>
                </a:tc>
              </a:tr>
              <a:tr h="370840">
                <a:tc>
                  <a:txBody>
                    <a:bodyPr/>
                    <a:lstStyle/>
                    <a:p>
                      <a:pPr algn="l" fontAlgn="t"/>
                      <a:r>
                        <a:rPr lang="en-US">
                          <a:effectLst/>
                        </a:rPr>
                        <a:t>Dept</a:t>
                      </a:r>
                    </a:p>
                  </a:txBody>
                  <a:tcPr marL="76200" marR="76200" marT="76200" marB="76200"/>
                </a:tc>
                <a:tc>
                  <a:txBody>
                    <a:bodyPr/>
                    <a:lstStyle/>
                    <a:p>
                      <a:pPr algn="l" fontAlgn="t"/>
                      <a:r>
                        <a:rPr lang="en-US">
                          <a:effectLst/>
                        </a:rPr>
                        <a:t>Head</a:t>
                      </a:r>
                    </a:p>
                  </a:txBody>
                  <a:tcPr marL="76200" marR="76200" marT="76200" marB="76200"/>
                </a:tc>
              </a:tr>
              <a:tr h="370840">
                <a:tc>
                  <a:txBody>
                    <a:bodyPr/>
                    <a:lstStyle/>
                    <a:p>
                      <a:pPr fontAlgn="t"/>
                      <a:r>
                        <a:rPr lang="en-US">
                          <a:effectLst/>
                        </a:rPr>
                        <a:t>CS</a:t>
                      </a:r>
                    </a:p>
                  </a:txBody>
                  <a:tcPr marL="76200" marR="76200" marT="76200" marB="76200"/>
                </a:tc>
                <a:tc>
                  <a:txBody>
                    <a:bodyPr/>
                    <a:lstStyle/>
                    <a:p>
                      <a:pPr fontAlgn="t"/>
                      <a:r>
                        <a:rPr lang="en-US">
                          <a:effectLst/>
                        </a:rPr>
                        <a:t>Alex</a:t>
                      </a:r>
                    </a:p>
                  </a:txBody>
                  <a:tcPr marL="76200" marR="76200" marT="76200" marB="76200"/>
                </a:tc>
              </a:tr>
              <a:tr h="370840">
                <a:tc>
                  <a:txBody>
                    <a:bodyPr/>
                    <a:lstStyle/>
                    <a:p>
                      <a:pPr fontAlgn="t"/>
                      <a:r>
                        <a:rPr lang="en-US">
                          <a:effectLst/>
                        </a:rPr>
                        <a:t>ME</a:t>
                      </a:r>
                    </a:p>
                  </a:txBody>
                  <a:tcPr marL="76200" marR="76200" marT="76200" marB="76200"/>
                </a:tc>
                <a:tc>
                  <a:txBody>
                    <a:bodyPr/>
                    <a:lstStyle/>
                    <a:p>
                      <a:pPr fontAlgn="t"/>
                      <a:r>
                        <a:rPr lang="en-US">
                          <a:effectLst/>
                        </a:rPr>
                        <a:t>Maya</a:t>
                      </a:r>
                    </a:p>
                  </a:txBody>
                  <a:tcPr marL="76200" marR="76200" marT="76200" marB="76200"/>
                </a:tc>
              </a:tr>
              <a:tr h="370840">
                <a:tc>
                  <a:txBody>
                    <a:bodyPr/>
                    <a:lstStyle/>
                    <a:p>
                      <a:pPr fontAlgn="t"/>
                      <a:r>
                        <a:rPr lang="en-US">
                          <a:effectLst/>
                        </a:rPr>
                        <a:t>EE</a:t>
                      </a:r>
                    </a:p>
                  </a:txBody>
                  <a:tcPr marL="76200" marR="76200" marT="76200" marB="76200"/>
                </a:tc>
                <a:tc>
                  <a:txBody>
                    <a:bodyPr/>
                    <a:lstStyle/>
                    <a:p>
                      <a:pPr fontAlgn="t"/>
                      <a:r>
                        <a:rPr lang="en-US" dirty="0">
                          <a:effectLst/>
                        </a:rPr>
                        <a:t>Mira</a:t>
                      </a:r>
                    </a:p>
                  </a:txBody>
                  <a:tcPr marL="76200" marR="76200" marT="76200" marB="76200"/>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444826375"/>
              </p:ext>
            </p:extLst>
          </p:nvPr>
        </p:nvGraphicFramePr>
        <p:xfrm>
          <a:off x="2247153" y="4323478"/>
          <a:ext cx="6695140" cy="2133600"/>
        </p:xfrm>
        <a:graphic>
          <a:graphicData uri="http://schemas.openxmlformats.org/drawingml/2006/table">
            <a:tbl>
              <a:tblPr firstRow="1" bandRow="1">
                <a:tableStyleId>{5C22544A-7EE6-4342-B048-85BDC9FD1C3A}</a:tableStyleId>
              </a:tblPr>
              <a:tblGrid>
                <a:gridCol w="1673785"/>
                <a:gridCol w="1673785"/>
                <a:gridCol w="1673785"/>
                <a:gridCol w="1673785"/>
              </a:tblGrid>
              <a:tr h="370840">
                <a:tc gridSpan="4">
                  <a:txBody>
                    <a:bodyPr/>
                    <a:lstStyle/>
                    <a:p>
                      <a:pPr algn="ctr" fontAlgn="t"/>
                      <a:r>
                        <a:rPr lang="en-US">
                          <a:effectLst/>
                        </a:rPr>
                        <a:t>Courses ⋈ HoD</a:t>
                      </a:r>
                    </a:p>
                  </a:txBody>
                  <a:tcPr marL="76200" marR="76200" marT="76200" marB="76200"/>
                </a:tc>
                <a:tc hMerge="1">
                  <a:txBody>
                    <a:bodyPr/>
                    <a:lstStyle/>
                    <a:p>
                      <a:endParaRPr lang="en-US"/>
                    </a:p>
                  </a:txBody>
                  <a:tcPr/>
                </a:tc>
                <a:tc hMerge="1">
                  <a:txBody>
                    <a:bodyPr/>
                    <a:lstStyle/>
                    <a:p>
                      <a:endParaRPr lang="en-US"/>
                    </a:p>
                  </a:txBody>
                  <a:tcPr/>
                </a:tc>
                <a:tc hMerge="1">
                  <a:txBody>
                    <a:bodyPr/>
                    <a:lstStyle/>
                    <a:p>
                      <a:endParaRPr lang="en-US"/>
                    </a:p>
                  </a:txBody>
                  <a:tcPr/>
                </a:tc>
              </a:tr>
              <a:tr h="370840">
                <a:tc>
                  <a:txBody>
                    <a:bodyPr/>
                    <a:lstStyle/>
                    <a:p>
                      <a:pPr algn="l" fontAlgn="t"/>
                      <a:r>
                        <a:rPr lang="en-US">
                          <a:effectLst/>
                        </a:rPr>
                        <a:t>Dept</a:t>
                      </a:r>
                    </a:p>
                  </a:txBody>
                  <a:tcPr marL="76200" marR="76200" marT="76200" marB="76200"/>
                </a:tc>
                <a:tc>
                  <a:txBody>
                    <a:bodyPr/>
                    <a:lstStyle/>
                    <a:p>
                      <a:pPr algn="l" fontAlgn="t"/>
                      <a:r>
                        <a:rPr lang="en-US">
                          <a:effectLst/>
                        </a:rPr>
                        <a:t>CID</a:t>
                      </a:r>
                    </a:p>
                  </a:txBody>
                  <a:tcPr marL="76200" marR="76200" marT="76200" marB="76200"/>
                </a:tc>
                <a:tc>
                  <a:txBody>
                    <a:bodyPr/>
                    <a:lstStyle/>
                    <a:p>
                      <a:pPr algn="l" fontAlgn="t"/>
                      <a:r>
                        <a:rPr lang="en-US">
                          <a:effectLst/>
                        </a:rPr>
                        <a:t>Course</a:t>
                      </a:r>
                    </a:p>
                  </a:txBody>
                  <a:tcPr marL="76200" marR="76200" marT="76200" marB="76200"/>
                </a:tc>
                <a:tc>
                  <a:txBody>
                    <a:bodyPr/>
                    <a:lstStyle/>
                    <a:p>
                      <a:pPr algn="l" fontAlgn="t"/>
                      <a:r>
                        <a:rPr lang="en-US">
                          <a:effectLst/>
                        </a:rPr>
                        <a:t>Head</a:t>
                      </a:r>
                    </a:p>
                  </a:txBody>
                  <a:tcPr marL="76200" marR="76200" marT="76200" marB="76200"/>
                </a:tc>
              </a:tr>
              <a:tr h="370840">
                <a:tc>
                  <a:txBody>
                    <a:bodyPr/>
                    <a:lstStyle/>
                    <a:p>
                      <a:pPr fontAlgn="t"/>
                      <a:r>
                        <a:rPr lang="en-US">
                          <a:effectLst/>
                        </a:rPr>
                        <a:t>CS</a:t>
                      </a:r>
                    </a:p>
                  </a:txBody>
                  <a:tcPr marL="76200" marR="76200" marT="76200" marB="76200"/>
                </a:tc>
                <a:tc>
                  <a:txBody>
                    <a:bodyPr/>
                    <a:lstStyle/>
                    <a:p>
                      <a:pPr fontAlgn="t"/>
                      <a:r>
                        <a:rPr lang="en-US">
                          <a:effectLst/>
                        </a:rPr>
                        <a:t>CS01</a:t>
                      </a:r>
                    </a:p>
                  </a:txBody>
                  <a:tcPr marL="76200" marR="76200" marT="76200" marB="76200"/>
                </a:tc>
                <a:tc>
                  <a:txBody>
                    <a:bodyPr/>
                    <a:lstStyle/>
                    <a:p>
                      <a:pPr fontAlgn="t"/>
                      <a:r>
                        <a:rPr lang="en-US">
                          <a:effectLst/>
                        </a:rPr>
                        <a:t>Database</a:t>
                      </a:r>
                    </a:p>
                  </a:txBody>
                  <a:tcPr marL="76200" marR="76200" marT="76200" marB="76200"/>
                </a:tc>
                <a:tc>
                  <a:txBody>
                    <a:bodyPr/>
                    <a:lstStyle/>
                    <a:p>
                      <a:pPr fontAlgn="t"/>
                      <a:r>
                        <a:rPr lang="en-US">
                          <a:effectLst/>
                        </a:rPr>
                        <a:t>Alex</a:t>
                      </a:r>
                    </a:p>
                  </a:txBody>
                  <a:tcPr marL="76200" marR="76200" marT="76200" marB="76200"/>
                </a:tc>
              </a:tr>
              <a:tr h="370840">
                <a:tc>
                  <a:txBody>
                    <a:bodyPr/>
                    <a:lstStyle/>
                    <a:p>
                      <a:pPr fontAlgn="t"/>
                      <a:r>
                        <a:rPr lang="en-US">
                          <a:effectLst/>
                        </a:rPr>
                        <a:t>ME</a:t>
                      </a:r>
                    </a:p>
                  </a:txBody>
                  <a:tcPr marL="76200" marR="76200" marT="76200" marB="76200"/>
                </a:tc>
                <a:tc>
                  <a:txBody>
                    <a:bodyPr/>
                    <a:lstStyle/>
                    <a:p>
                      <a:pPr fontAlgn="t"/>
                      <a:r>
                        <a:rPr lang="en-US">
                          <a:effectLst/>
                        </a:rPr>
                        <a:t>ME01</a:t>
                      </a:r>
                    </a:p>
                  </a:txBody>
                  <a:tcPr marL="76200" marR="76200" marT="76200" marB="76200"/>
                </a:tc>
                <a:tc>
                  <a:txBody>
                    <a:bodyPr/>
                    <a:lstStyle/>
                    <a:p>
                      <a:pPr fontAlgn="t"/>
                      <a:r>
                        <a:rPr lang="en-US">
                          <a:effectLst/>
                        </a:rPr>
                        <a:t>Mechanics</a:t>
                      </a:r>
                    </a:p>
                  </a:txBody>
                  <a:tcPr marL="76200" marR="76200" marT="76200" marB="76200"/>
                </a:tc>
                <a:tc>
                  <a:txBody>
                    <a:bodyPr/>
                    <a:lstStyle/>
                    <a:p>
                      <a:pPr fontAlgn="t"/>
                      <a:r>
                        <a:rPr lang="en-US">
                          <a:effectLst/>
                        </a:rPr>
                        <a:t>Maya</a:t>
                      </a:r>
                    </a:p>
                  </a:txBody>
                  <a:tcPr marL="76200" marR="76200" marT="76200" marB="76200"/>
                </a:tc>
              </a:tr>
              <a:tr h="370840">
                <a:tc>
                  <a:txBody>
                    <a:bodyPr/>
                    <a:lstStyle/>
                    <a:p>
                      <a:pPr fontAlgn="t"/>
                      <a:r>
                        <a:rPr lang="en-US">
                          <a:effectLst/>
                        </a:rPr>
                        <a:t>EE</a:t>
                      </a:r>
                    </a:p>
                  </a:txBody>
                  <a:tcPr marL="76200" marR="76200" marT="76200" marB="76200"/>
                </a:tc>
                <a:tc>
                  <a:txBody>
                    <a:bodyPr/>
                    <a:lstStyle/>
                    <a:p>
                      <a:pPr fontAlgn="t"/>
                      <a:r>
                        <a:rPr lang="en-US">
                          <a:effectLst/>
                        </a:rPr>
                        <a:t>EE01</a:t>
                      </a:r>
                    </a:p>
                  </a:txBody>
                  <a:tcPr marL="76200" marR="76200" marT="76200" marB="76200"/>
                </a:tc>
                <a:tc>
                  <a:txBody>
                    <a:bodyPr/>
                    <a:lstStyle/>
                    <a:p>
                      <a:pPr fontAlgn="t"/>
                      <a:r>
                        <a:rPr lang="en-US">
                          <a:effectLst/>
                        </a:rPr>
                        <a:t>Electronics</a:t>
                      </a:r>
                    </a:p>
                  </a:txBody>
                  <a:tcPr marL="76200" marR="76200" marT="76200" marB="76200"/>
                </a:tc>
                <a:tc>
                  <a:txBody>
                    <a:bodyPr/>
                    <a:lstStyle/>
                    <a:p>
                      <a:pPr fontAlgn="t"/>
                      <a:r>
                        <a:rPr lang="en-US" dirty="0">
                          <a:effectLst/>
                        </a:rPr>
                        <a:t>Mira</a:t>
                      </a:r>
                    </a:p>
                  </a:txBody>
                  <a:tcPr marL="76200" marR="76200" marT="76200" marB="76200"/>
                </a:tc>
              </a:tr>
            </a:tbl>
          </a:graphicData>
        </a:graphic>
      </p:graphicFrame>
    </p:spTree>
    <p:extLst>
      <p:ext uri="{BB962C8B-B14F-4D97-AF65-F5344CB8AC3E}">
        <p14:creationId xmlns:p14="http://schemas.microsoft.com/office/powerpoint/2010/main" val="5680580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INNER JOIN</a:t>
            </a:r>
            <a:br>
              <a:rPr lang="en-US" dirty="0"/>
            </a:br>
            <a:endParaRPr lang="en-US" dirty="0"/>
          </a:p>
        </p:txBody>
      </p:sp>
      <p:sp>
        <p:nvSpPr>
          <p:cNvPr id="3" name="Content Placeholder 2"/>
          <p:cNvSpPr>
            <a:spLocks noGrp="1"/>
          </p:cNvSpPr>
          <p:nvPr>
            <p:ph idx="1"/>
          </p:nvPr>
        </p:nvSpPr>
        <p:spPr/>
        <p:txBody>
          <a:bodyPr/>
          <a:lstStyle/>
          <a:p>
            <a:r>
              <a:rPr lang="en-US" dirty="0"/>
              <a:t>INNER JOIN selects records that have matching values in both tables as long as the condition is satisfied. It returns the combination of all rows from both the tables where the condition satisfies.</a:t>
            </a:r>
          </a:p>
        </p:txBody>
      </p:sp>
    </p:spTree>
    <p:extLst>
      <p:ext uri="{BB962C8B-B14F-4D97-AF65-F5344CB8AC3E}">
        <p14:creationId xmlns:p14="http://schemas.microsoft.com/office/powerpoint/2010/main" val="22795867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30651530"/>
              </p:ext>
            </p:extLst>
          </p:nvPr>
        </p:nvGraphicFramePr>
        <p:xfrm>
          <a:off x="636495" y="1373505"/>
          <a:ext cx="6127375" cy="4727840"/>
        </p:xfrm>
        <a:graphic>
          <a:graphicData uri="http://schemas.openxmlformats.org/drawingml/2006/table">
            <a:tbl>
              <a:tblPr firstRow="1" bandRow="1">
                <a:tableStyleId>{5C22544A-7EE6-4342-B048-85BDC9FD1C3A}</a:tableStyleId>
              </a:tblPr>
              <a:tblGrid>
                <a:gridCol w="1225475"/>
                <a:gridCol w="1225475"/>
                <a:gridCol w="1225475"/>
                <a:gridCol w="1225475"/>
                <a:gridCol w="1225475"/>
              </a:tblGrid>
              <a:tr h="288662">
                <a:tc gridSpan="5">
                  <a:txBody>
                    <a:bodyPr/>
                    <a:lstStyle/>
                    <a:p>
                      <a:pPr algn="ctr"/>
                      <a:r>
                        <a:rPr lang="en-US" dirty="0" smtClean="0"/>
                        <a:t>Employee</a:t>
                      </a:r>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r>
              <a:tr h="605004">
                <a:tc>
                  <a:txBody>
                    <a:bodyPr/>
                    <a:lstStyle/>
                    <a:p>
                      <a:pPr algn="l" fontAlgn="t"/>
                      <a:r>
                        <a:rPr lang="en-US">
                          <a:solidFill>
                            <a:srgbClr val="000000"/>
                          </a:solidFill>
                          <a:effectLst/>
                          <a:latin typeface="times new roman" panose="02020603050405020304" pitchFamily="18" charset="0"/>
                        </a:rPr>
                        <a:t>EMP_ID</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EMP_NAME</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CITY</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SALARY</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AGE</a:t>
                      </a:r>
                    </a:p>
                  </a:txBody>
                  <a:tcPr marL="114300" marR="114300" marT="114300" marB="114300"/>
                </a:tc>
              </a:tr>
              <a:tr h="545690">
                <a:tc>
                  <a:txBody>
                    <a:bodyPr/>
                    <a:lstStyle/>
                    <a:p>
                      <a:pPr algn="just" fontAlgn="t"/>
                      <a:r>
                        <a:rPr lang="en-US">
                          <a:solidFill>
                            <a:srgbClr val="333333"/>
                          </a:solidFill>
                          <a:effectLst/>
                          <a:latin typeface="inter-regular"/>
                        </a:rPr>
                        <a:t>1</a:t>
                      </a:r>
                    </a:p>
                  </a:txBody>
                  <a:tcPr marL="76200" marR="76200" marT="76200" marB="76200"/>
                </a:tc>
                <a:tc>
                  <a:txBody>
                    <a:bodyPr/>
                    <a:lstStyle/>
                    <a:p>
                      <a:pPr algn="just" fontAlgn="t"/>
                      <a:r>
                        <a:rPr lang="en-US">
                          <a:solidFill>
                            <a:srgbClr val="333333"/>
                          </a:solidFill>
                          <a:effectLst/>
                          <a:latin typeface="inter-regular"/>
                        </a:rPr>
                        <a:t>Angelina</a:t>
                      </a:r>
                    </a:p>
                  </a:txBody>
                  <a:tcPr marL="76200" marR="76200" marT="76200" marB="76200"/>
                </a:tc>
                <a:tc>
                  <a:txBody>
                    <a:bodyPr/>
                    <a:lstStyle/>
                    <a:p>
                      <a:pPr algn="just" fontAlgn="t"/>
                      <a:r>
                        <a:rPr lang="en-US">
                          <a:solidFill>
                            <a:srgbClr val="333333"/>
                          </a:solidFill>
                          <a:effectLst/>
                          <a:latin typeface="inter-regular"/>
                        </a:rPr>
                        <a:t>Chicago</a:t>
                      </a:r>
                    </a:p>
                  </a:txBody>
                  <a:tcPr marL="76200" marR="76200" marT="76200" marB="76200"/>
                </a:tc>
                <a:tc>
                  <a:txBody>
                    <a:bodyPr/>
                    <a:lstStyle/>
                    <a:p>
                      <a:pPr algn="just" fontAlgn="t"/>
                      <a:r>
                        <a:rPr lang="en-US">
                          <a:solidFill>
                            <a:srgbClr val="333333"/>
                          </a:solidFill>
                          <a:effectLst/>
                          <a:latin typeface="inter-regular"/>
                        </a:rPr>
                        <a:t>200000</a:t>
                      </a:r>
                    </a:p>
                  </a:txBody>
                  <a:tcPr marL="76200" marR="76200" marT="76200" marB="76200"/>
                </a:tc>
                <a:tc>
                  <a:txBody>
                    <a:bodyPr/>
                    <a:lstStyle/>
                    <a:p>
                      <a:pPr algn="just" fontAlgn="t"/>
                      <a:r>
                        <a:rPr lang="en-US">
                          <a:solidFill>
                            <a:srgbClr val="333333"/>
                          </a:solidFill>
                          <a:effectLst/>
                          <a:latin typeface="inter-regular"/>
                        </a:rPr>
                        <a:t>30</a:t>
                      </a:r>
                    </a:p>
                  </a:txBody>
                  <a:tcPr marL="76200" marR="76200" marT="76200" marB="76200"/>
                </a:tc>
              </a:tr>
              <a:tr h="545690">
                <a:tc>
                  <a:txBody>
                    <a:bodyPr/>
                    <a:lstStyle/>
                    <a:p>
                      <a:pPr algn="just" fontAlgn="t"/>
                      <a:r>
                        <a:rPr lang="en-US">
                          <a:solidFill>
                            <a:srgbClr val="333333"/>
                          </a:solidFill>
                          <a:effectLst/>
                          <a:latin typeface="inter-regular"/>
                        </a:rPr>
                        <a:t>2</a:t>
                      </a:r>
                    </a:p>
                  </a:txBody>
                  <a:tcPr marL="76200" marR="76200" marT="76200" marB="76200"/>
                </a:tc>
                <a:tc>
                  <a:txBody>
                    <a:bodyPr/>
                    <a:lstStyle/>
                    <a:p>
                      <a:pPr algn="just" fontAlgn="t"/>
                      <a:r>
                        <a:rPr lang="en-US">
                          <a:solidFill>
                            <a:srgbClr val="333333"/>
                          </a:solidFill>
                          <a:effectLst/>
                          <a:latin typeface="inter-regular"/>
                        </a:rPr>
                        <a:t>Robert</a:t>
                      </a:r>
                    </a:p>
                  </a:txBody>
                  <a:tcPr marL="76200" marR="76200" marT="76200" marB="76200"/>
                </a:tc>
                <a:tc>
                  <a:txBody>
                    <a:bodyPr/>
                    <a:lstStyle/>
                    <a:p>
                      <a:pPr algn="just" fontAlgn="t"/>
                      <a:r>
                        <a:rPr lang="en-US">
                          <a:solidFill>
                            <a:srgbClr val="333333"/>
                          </a:solidFill>
                          <a:effectLst/>
                          <a:latin typeface="inter-regular"/>
                        </a:rPr>
                        <a:t>Austin</a:t>
                      </a:r>
                    </a:p>
                  </a:txBody>
                  <a:tcPr marL="76200" marR="76200" marT="76200" marB="76200"/>
                </a:tc>
                <a:tc>
                  <a:txBody>
                    <a:bodyPr/>
                    <a:lstStyle/>
                    <a:p>
                      <a:pPr algn="just" fontAlgn="t"/>
                      <a:r>
                        <a:rPr lang="en-US">
                          <a:solidFill>
                            <a:srgbClr val="333333"/>
                          </a:solidFill>
                          <a:effectLst/>
                          <a:latin typeface="inter-regular"/>
                        </a:rPr>
                        <a:t>300000</a:t>
                      </a:r>
                    </a:p>
                  </a:txBody>
                  <a:tcPr marL="76200" marR="76200" marT="76200" marB="76200"/>
                </a:tc>
                <a:tc>
                  <a:txBody>
                    <a:bodyPr/>
                    <a:lstStyle/>
                    <a:p>
                      <a:pPr algn="just" fontAlgn="t"/>
                      <a:r>
                        <a:rPr lang="en-US">
                          <a:solidFill>
                            <a:srgbClr val="333333"/>
                          </a:solidFill>
                          <a:effectLst/>
                          <a:latin typeface="inter-regular"/>
                        </a:rPr>
                        <a:t>26</a:t>
                      </a:r>
                    </a:p>
                  </a:txBody>
                  <a:tcPr marL="76200" marR="76200" marT="76200" marB="76200"/>
                </a:tc>
              </a:tr>
              <a:tr h="545690">
                <a:tc>
                  <a:txBody>
                    <a:bodyPr/>
                    <a:lstStyle/>
                    <a:p>
                      <a:pPr algn="just" fontAlgn="t"/>
                      <a:r>
                        <a:rPr lang="en-US">
                          <a:solidFill>
                            <a:srgbClr val="333333"/>
                          </a:solidFill>
                          <a:effectLst/>
                          <a:latin typeface="inter-regular"/>
                        </a:rPr>
                        <a:t>3</a:t>
                      </a:r>
                    </a:p>
                  </a:txBody>
                  <a:tcPr marL="76200" marR="76200" marT="76200" marB="76200"/>
                </a:tc>
                <a:tc>
                  <a:txBody>
                    <a:bodyPr/>
                    <a:lstStyle/>
                    <a:p>
                      <a:pPr algn="just" fontAlgn="t"/>
                      <a:r>
                        <a:rPr lang="en-US">
                          <a:solidFill>
                            <a:srgbClr val="333333"/>
                          </a:solidFill>
                          <a:effectLst/>
                          <a:latin typeface="inter-regular"/>
                        </a:rPr>
                        <a:t>Christian</a:t>
                      </a:r>
                    </a:p>
                  </a:txBody>
                  <a:tcPr marL="76200" marR="76200" marT="76200" marB="76200"/>
                </a:tc>
                <a:tc>
                  <a:txBody>
                    <a:bodyPr/>
                    <a:lstStyle/>
                    <a:p>
                      <a:pPr algn="just" fontAlgn="t"/>
                      <a:r>
                        <a:rPr lang="en-US">
                          <a:solidFill>
                            <a:srgbClr val="333333"/>
                          </a:solidFill>
                          <a:effectLst/>
                          <a:latin typeface="inter-regular"/>
                        </a:rPr>
                        <a:t>Denver</a:t>
                      </a:r>
                    </a:p>
                  </a:txBody>
                  <a:tcPr marL="76200" marR="76200" marT="76200" marB="76200"/>
                </a:tc>
                <a:tc>
                  <a:txBody>
                    <a:bodyPr/>
                    <a:lstStyle/>
                    <a:p>
                      <a:pPr algn="just" fontAlgn="t"/>
                      <a:r>
                        <a:rPr lang="en-US">
                          <a:solidFill>
                            <a:srgbClr val="333333"/>
                          </a:solidFill>
                          <a:effectLst/>
                          <a:latin typeface="inter-regular"/>
                        </a:rPr>
                        <a:t>100000</a:t>
                      </a:r>
                    </a:p>
                  </a:txBody>
                  <a:tcPr marL="76200" marR="76200" marT="76200" marB="76200"/>
                </a:tc>
                <a:tc>
                  <a:txBody>
                    <a:bodyPr/>
                    <a:lstStyle/>
                    <a:p>
                      <a:pPr algn="just" fontAlgn="t"/>
                      <a:r>
                        <a:rPr lang="en-US">
                          <a:solidFill>
                            <a:srgbClr val="333333"/>
                          </a:solidFill>
                          <a:effectLst/>
                          <a:latin typeface="inter-regular"/>
                        </a:rPr>
                        <a:t>42</a:t>
                      </a:r>
                    </a:p>
                  </a:txBody>
                  <a:tcPr marL="76200" marR="76200" marT="76200" marB="76200"/>
                </a:tc>
              </a:tr>
              <a:tr h="545690">
                <a:tc>
                  <a:txBody>
                    <a:bodyPr/>
                    <a:lstStyle/>
                    <a:p>
                      <a:pPr algn="just" fontAlgn="t"/>
                      <a:r>
                        <a:rPr lang="en-US">
                          <a:solidFill>
                            <a:srgbClr val="333333"/>
                          </a:solidFill>
                          <a:effectLst/>
                          <a:latin typeface="inter-regular"/>
                        </a:rPr>
                        <a:t>4</a:t>
                      </a:r>
                    </a:p>
                  </a:txBody>
                  <a:tcPr marL="76200" marR="76200" marT="76200" marB="76200"/>
                </a:tc>
                <a:tc>
                  <a:txBody>
                    <a:bodyPr/>
                    <a:lstStyle/>
                    <a:p>
                      <a:pPr algn="just" fontAlgn="t"/>
                      <a:r>
                        <a:rPr lang="en-US">
                          <a:solidFill>
                            <a:srgbClr val="333333"/>
                          </a:solidFill>
                          <a:effectLst/>
                          <a:latin typeface="inter-regular"/>
                        </a:rPr>
                        <a:t>Kristen</a:t>
                      </a:r>
                    </a:p>
                  </a:txBody>
                  <a:tcPr marL="76200" marR="76200" marT="76200" marB="76200"/>
                </a:tc>
                <a:tc>
                  <a:txBody>
                    <a:bodyPr/>
                    <a:lstStyle/>
                    <a:p>
                      <a:pPr algn="just" fontAlgn="t"/>
                      <a:r>
                        <a:rPr lang="en-US">
                          <a:solidFill>
                            <a:srgbClr val="333333"/>
                          </a:solidFill>
                          <a:effectLst/>
                          <a:latin typeface="inter-regular"/>
                        </a:rPr>
                        <a:t>Washington</a:t>
                      </a:r>
                    </a:p>
                  </a:txBody>
                  <a:tcPr marL="76200" marR="76200" marT="76200" marB="76200"/>
                </a:tc>
                <a:tc>
                  <a:txBody>
                    <a:bodyPr/>
                    <a:lstStyle/>
                    <a:p>
                      <a:pPr algn="just" fontAlgn="t"/>
                      <a:r>
                        <a:rPr lang="en-US">
                          <a:solidFill>
                            <a:srgbClr val="333333"/>
                          </a:solidFill>
                          <a:effectLst/>
                          <a:latin typeface="inter-regular"/>
                        </a:rPr>
                        <a:t>500000</a:t>
                      </a:r>
                    </a:p>
                  </a:txBody>
                  <a:tcPr marL="76200" marR="76200" marT="76200" marB="76200"/>
                </a:tc>
                <a:tc>
                  <a:txBody>
                    <a:bodyPr/>
                    <a:lstStyle/>
                    <a:p>
                      <a:pPr algn="just" fontAlgn="t"/>
                      <a:r>
                        <a:rPr lang="en-US">
                          <a:solidFill>
                            <a:srgbClr val="333333"/>
                          </a:solidFill>
                          <a:effectLst/>
                          <a:latin typeface="inter-regular"/>
                        </a:rPr>
                        <a:t>29</a:t>
                      </a:r>
                    </a:p>
                  </a:txBody>
                  <a:tcPr marL="76200" marR="76200" marT="76200" marB="76200"/>
                </a:tc>
              </a:tr>
              <a:tr h="545690">
                <a:tc>
                  <a:txBody>
                    <a:bodyPr/>
                    <a:lstStyle/>
                    <a:p>
                      <a:pPr algn="just" fontAlgn="t"/>
                      <a:r>
                        <a:rPr lang="en-US">
                          <a:solidFill>
                            <a:srgbClr val="333333"/>
                          </a:solidFill>
                          <a:effectLst/>
                          <a:latin typeface="inter-regular"/>
                        </a:rPr>
                        <a:t>5</a:t>
                      </a:r>
                    </a:p>
                  </a:txBody>
                  <a:tcPr marL="76200" marR="76200" marT="76200" marB="76200"/>
                </a:tc>
                <a:tc>
                  <a:txBody>
                    <a:bodyPr/>
                    <a:lstStyle/>
                    <a:p>
                      <a:pPr algn="just" fontAlgn="t"/>
                      <a:r>
                        <a:rPr lang="en-US">
                          <a:solidFill>
                            <a:srgbClr val="333333"/>
                          </a:solidFill>
                          <a:effectLst/>
                          <a:latin typeface="inter-regular"/>
                        </a:rPr>
                        <a:t>Russell</a:t>
                      </a:r>
                    </a:p>
                  </a:txBody>
                  <a:tcPr marL="76200" marR="76200" marT="76200" marB="76200"/>
                </a:tc>
                <a:tc>
                  <a:txBody>
                    <a:bodyPr/>
                    <a:lstStyle/>
                    <a:p>
                      <a:pPr algn="just" fontAlgn="t"/>
                      <a:r>
                        <a:rPr lang="en-US">
                          <a:solidFill>
                            <a:srgbClr val="333333"/>
                          </a:solidFill>
                          <a:effectLst/>
                          <a:latin typeface="inter-regular"/>
                        </a:rPr>
                        <a:t>Los angels</a:t>
                      </a:r>
                    </a:p>
                  </a:txBody>
                  <a:tcPr marL="76200" marR="76200" marT="76200" marB="76200"/>
                </a:tc>
                <a:tc>
                  <a:txBody>
                    <a:bodyPr/>
                    <a:lstStyle/>
                    <a:p>
                      <a:pPr algn="just" fontAlgn="t"/>
                      <a:r>
                        <a:rPr lang="en-US">
                          <a:solidFill>
                            <a:srgbClr val="333333"/>
                          </a:solidFill>
                          <a:effectLst/>
                          <a:latin typeface="inter-regular"/>
                        </a:rPr>
                        <a:t>200000</a:t>
                      </a:r>
                    </a:p>
                  </a:txBody>
                  <a:tcPr marL="76200" marR="76200" marT="76200" marB="76200"/>
                </a:tc>
                <a:tc>
                  <a:txBody>
                    <a:bodyPr/>
                    <a:lstStyle/>
                    <a:p>
                      <a:pPr algn="just" fontAlgn="t"/>
                      <a:r>
                        <a:rPr lang="en-US">
                          <a:solidFill>
                            <a:srgbClr val="333333"/>
                          </a:solidFill>
                          <a:effectLst/>
                          <a:latin typeface="inter-regular"/>
                        </a:rPr>
                        <a:t>36</a:t>
                      </a:r>
                    </a:p>
                  </a:txBody>
                  <a:tcPr marL="76200" marR="76200" marT="76200" marB="76200"/>
                </a:tc>
              </a:tr>
              <a:tr h="545690">
                <a:tc>
                  <a:txBody>
                    <a:bodyPr/>
                    <a:lstStyle/>
                    <a:p>
                      <a:pPr algn="just" fontAlgn="t"/>
                      <a:r>
                        <a:rPr lang="en-US">
                          <a:solidFill>
                            <a:srgbClr val="333333"/>
                          </a:solidFill>
                          <a:effectLst/>
                          <a:latin typeface="inter-regular"/>
                        </a:rPr>
                        <a:t>6</a:t>
                      </a:r>
                    </a:p>
                  </a:txBody>
                  <a:tcPr marL="76200" marR="76200" marT="76200" marB="76200"/>
                </a:tc>
                <a:tc>
                  <a:txBody>
                    <a:bodyPr/>
                    <a:lstStyle/>
                    <a:p>
                      <a:pPr algn="just" fontAlgn="t"/>
                      <a:r>
                        <a:rPr lang="en-US">
                          <a:solidFill>
                            <a:srgbClr val="333333"/>
                          </a:solidFill>
                          <a:effectLst/>
                          <a:latin typeface="inter-regular"/>
                        </a:rPr>
                        <a:t>Marry</a:t>
                      </a:r>
                    </a:p>
                  </a:txBody>
                  <a:tcPr marL="76200" marR="76200" marT="76200" marB="76200"/>
                </a:tc>
                <a:tc>
                  <a:txBody>
                    <a:bodyPr/>
                    <a:lstStyle/>
                    <a:p>
                      <a:pPr algn="just" fontAlgn="t"/>
                      <a:r>
                        <a:rPr lang="en-US">
                          <a:solidFill>
                            <a:srgbClr val="333333"/>
                          </a:solidFill>
                          <a:effectLst/>
                          <a:latin typeface="inter-regular"/>
                        </a:rPr>
                        <a:t>Canada</a:t>
                      </a:r>
                    </a:p>
                  </a:txBody>
                  <a:tcPr marL="76200" marR="76200" marT="76200" marB="76200"/>
                </a:tc>
                <a:tc>
                  <a:txBody>
                    <a:bodyPr/>
                    <a:lstStyle/>
                    <a:p>
                      <a:pPr algn="just" fontAlgn="t"/>
                      <a:r>
                        <a:rPr lang="en-US">
                          <a:solidFill>
                            <a:srgbClr val="333333"/>
                          </a:solidFill>
                          <a:effectLst/>
                          <a:latin typeface="inter-regular"/>
                        </a:rPr>
                        <a:t>600000</a:t>
                      </a:r>
                    </a:p>
                  </a:txBody>
                  <a:tcPr marL="76200" marR="76200" marT="76200" marB="76200"/>
                </a:tc>
                <a:tc>
                  <a:txBody>
                    <a:bodyPr/>
                    <a:lstStyle/>
                    <a:p>
                      <a:pPr algn="just" fontAlgn="t"/>
                      <a:r>
                        <a:rPr lang="en-US" dirty="0">
                          <a:solidFill>
                            <a:srgbClr val="333333"/>
                          </a:solidFill>
                          <a:effectLst/>
                          <a:latin typeface="inter-regular"/>
                        </a:rPr>
                        <a:t>48</a:t>
                      </a:r>
                    </a:p>
                  </a:txBody>
                  <a:tcPr marL="76200" marR="76200" marT="76200" marB="76200"/>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40358047"/>
              </p:ext>
            </p:extLst>
          </p:nvPr>
        </p:nvGraphicFramePr>
        <p:xfrm>
          <a:off x="6965576" y="1311338"/>
          <a:ext cx="4996329" cy="3650626"/>
        </p:xfrm>
        <a:graphic>
          <a:graphicData uri="http://schemas.openxmlformats.org/drawingml/2006/table">
            <a:tbl>
              <a:tblPr firstRow="1" bandRow="1">
                <a:tableStyleId>{5C22544A-7EE6-4342-B048-85BDC9FD1C3A}</a:tableStyleId>
              </a:tblPr>
              <a:tblGrid>
                <a:gridCol w="1665443"/>
                <a:gridCol w="1665443"/>
                <a:gridCol w="1665443"/>
              </a:tblGrid>
              <a:tr h="474192">
                <a:tc gridSpan="3">
                  <a:txBody>
                    <a:bodyPr/>
                    <a:lstStyle/>
                    <a:p>
                      <a:pPr algn="ctr"/>
                      <a:r>
                        <a:rPr lang="en-US" dirty="0" smtClean="0"/>
                        <a:t>Project</a:t>
                      </a:r>
                      <a:endParaRPr lang="en-US" dirty="0"/>
                    </a:p>
                  </a:txBody>
                  <a:tcPr/>
                </a:tc>
                <a:tc hMerge="1">
                  <a:txBody>
                    <a:bodyPr/>
                    <a:lstStyle/>
                    <a:p>
                      <a:endParaRPr lang="en-US" dirty="0"/>
                    </a:p>
                  </a:txBody>
                  <a:tcPr/>
                </a:tc>
                <a:tc hMerge="1">
                  <a:txBody>
                    <a:bodyPr/>
                    <a:lstStyle/>
                    <a:p>
                      <a:endParaRPr lang="en-US" dirty="0"/>
                    </a:p>
                  </a:txBody>
                  <a:tcPr/>
                </a:tc>
              </a:tr>
              <a:tr h="993854">
                <a:tc>
                  <a:txBody>
                    <a:bodyPr/>
                    <a:lstStyle/>
                    <a:p>
                      <a:pPr algn="l" fontAlgn="t"/>
                      <a:r>
                        <a:rPr lang="en-US">
                          <a:solidFill>
                            <a:srgbClr val="000000"/>
                          </a:solidFill>
                          <a:effectLst/>
                          <a:latin typeface="times new roman" panose="02020603050405020304" pitchFamily="18" charset="0"/>
                        </a:rPr>
                        <a:t>PROJECT_NO</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EMP_ID</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DEPARTMENT</a:t>
                      </a:r>
                    </a:p>
                  </a:txBody>
                  <a:tcPr marL="114300" marR="114300" marT="114300" marB="114300"/>
                </a:tc>
              </a:tr>
              <a:tr h="545645">
                <a:tc>
                  <a:txBody>
                    <a:bodyPr/>
                    <a:lstStyle/>
                    <a:p>
                      <a:pPr algn="just" fontAlgn="t"/>
                      <a:r>
                        <a:rPr lang="en-US">
                          <a:solidFill>
                            <a:srgbClr val="333333"/>
                          </a:solidFill>
                          <a:effectLst/>
                          <a:latin typeface="inter-regular"/>
                        </a:rPr>
                        <a:t>101</a:t>
                      </a:r>
                    </a:p>
                  </a:txBody>
                  <a:tcPr marL="76200" marR="76200" marT="76200" marB="76200"/>
                </a:tc>
                <a:tc>
                  <a:txBody>
                    <a:bodyPr/>
                    <a:lstStyle/>
                    <a:p>
                      <a:pPr algn="just" fontAlgn="t"/>
                      <a:r>
                        <a:rPr lang="en-US">
                          <a:solidFill>
                            <a:srgbClr val="333333"/>
                          </a:solidFill>
                          <a:effectLst/>
                          <a:latin typeface="inter-regular"/>
                        </a:rPr>
                        <a:t>1</a:t>
                      </a:r>
                    </a:p>
                  </a:txBody>
                  <a:tcPr marL="76200" marR="76200" marT="76200" marB="76200"/>
                </a:tc>
                <a:tc>
                  <a:txBody>
                    <a:bodyPr/>
                    <a:lstStyle/>
                    <a:p>
                      <a:pPr algn="just" fontAlgn="t"/>
                      <a:r>
                        <a:rPr lang="en-US">
                          <a:solidFill>
                            <a:srgbClr val="333333"/>
                          </a:solidFill>
                          <a:effectLst/>
                          <a:latin typeface="inter-regular"/>
                        </a:rPr>
                        <a:t>Testing</a:t>
                      </a:r>
                    </a:p>
                  </a:txBody>
                  <a:tcPr marL="76200" marR="76200" marT="76200" marB="76200"/>
                </a:tc>
              </a:tr>
              <a:tr h="545645">
                <a:tc>
                  <a:txBody>
                    <a:bodyPr/>
                    <a:lstStyle/>
                    <a:p>
                      <a:pPr algn="just" fontAlgn="t"/>
                      <a:r>
                        <a:rPr lang="en-US">
                          <a:solidFill>
                            <a:srgbClr val="333333"/>
                          </a:solidFill>
                          <a:effectLst/>
                          <a:latin typeface="inter-regular"/>
                        </a:rPr>
                        <a:t>102</a:t>
                      </a:r>
                    </a:p>
                  </a:txBody>
                  <a:tcPr marL="76200" marR="76200" marT="76200" marB="76200"/>
                </a:tc>
                <a:tc>
                  <a:txBody>
                    <a:bodyPr/>
                    <a:lstStyle/>
                    <a:p>
                      <a:pPr algn="just" fontAlgn="t"/>
                      <a:r>
                        <a:rPr lang="en-US">
                          <a:solidFill>
                            <a:srgbClr val="333333"/>
                          </a:solidFill>
                          <a:effectLst/>
                          <a:latin typeface="inter-regular"/>
                        </a:rPr>
                        <a:t>2</a:t>
                      </a:r>
                    </a:p>
                  </a:txBody>
                  <a:tcPr marL="76200" marR="76200" marT="76200" marB="76200"/>
                </a:tc>
                <a:tc>
                  <a:txBody>
                    <a:bodyPr/>
                    <a:lstStyle/>
                    <a:p>
                      <a:pPr algn="just" fontAlgn="t"/>
                      <a:r>
                        <a:rPr lang="en-US">
                          <a:solidFill>
                            <a:srgbClr val="333333"/>
                          </a:solidFill>
                          <a:effectLst/>
                          <a:latin typeface="inter-regular"/>
                        </a:rPr>
                        <a:t>Development</a:t>
                      </a:r>
                    </a:p>
                  </a:txBody>
                  <a:tcPr marL="76200" marR="76200" marT="76200" marB="76200"/>
                </a:tc>
              </a:tr>
              <a:tr h="545645">
                <a:tc>
                  <a:txBody>
                    <a:bodyPr/>
                    <a:lstStyle/>
                    <a:p>
                      <a:pPr algn="just" fontAlgn="t"/>
                      <a:r>
                        <a:rPr lang="en-US">
                          <a:solidFill>
                            <a:srgbClr val="333333"/>
                          </a:solidFill>
                          <a:effectLst/>
                          <a:latin typeface="inter-regular"/>
                        </a:rPr>
                        <a:t>103</a:t>
                      </a:r>
                    </a:p>
                  </a:txBody>
                  <a:tcPr marL="76200" marR="76200" marT="76200" marB="76200"/>
                </a:tc>
                <a:tc>
                  <a:txBody>
                    <a:bodyPr/>
                    <a:lstStyle/>
                    <a:p>
                      <a:pPr algn="just" fontAlgn="t"/>
                      <a:r>
                        <a:rPr lang="en-US">
                          <a:solidFill>
                            <a:srgbClr val="333333"/>
                          </a:solidFill>
                          <a:effectLst/>
                          <a:latin typeface="inter-regular"/>
                        </a:rPr>
                        <a:t>3</a:t>
                      </a:r>
                    </a:p>
                  </a:txBody>
                  <a:tcPr marL="76200" marR="76200" marT="76200" marB="76200"/>
                </a:tc>
                <a:tc>
                  <a:txBody>
                    <a:bodyPr/>
                    <a:lstStyle/>
                    <a:p>
                      <a:pPr algn="just" fontAlgn="t"/>
                      <a:r>
                        <a:rPr lang="en-US">
                          <a:solidFill>
                            <a:srgbClr val="333333"/>
                          </a:solidFill>
                          <a:effectLst/>
                          <a:latin typeface="inter-regular"/>
                        </a:rPr>
                        <a:t>Designing</a:t>
                      </a:r>
                    </a:p>
                  </a:txBody>
                  <a:tcPr marL="76200" marR="76200" marT="76200" marB="76200"/>
                </a:tc>
              </a:tr>
              <a:tr h="545645">
                <a:tc>
                  <a:txBody>
                    <a:bodyPr/>
                    <a:lstStyle/>
                    <a:p>
                      <a:pPr algn="just" fontAlgn="t"/>
                      <a:r>
                        <a:rPr lang="en-US">
                          <a:solidFill>
                            <a:srgbClr val="333333"/>
                          </a:solidFill>
                          <a:effectLst/>
                          <a:latin typeface="inter-regular"/>
                        </a:rPr>
                        <a:t>104</a:t>
                      </a:r>
                    </a:p>
                  </a:txBody>
                  <a:tcPr marL="76200" marR="76200" marT="76200" marB="76200"/>
                </a:tc>
                <a:tc>
                  <a:txBody>
                    <a:bodyPr/>
                    <a:lstStyle/>
                    <a:p>
                      <a:pPr algn="just" fontAlgn="t"/>
                      <a:r>
                        <a:rPr lang="en-US" dirty="0">
                          <a:solidFill>
                            <a:srgbClr val="333333"/>
                          </a:solidFill>
                          <a:effectLst/>
                          <a:latin typeface="inter-regular"/>
                        </a:rPr>
                        <a:t>4</a:t>
                      </a:r>
                    </a:p>
                  </a:txBody>
                  <a:tcPr marL="76200" marR="76200" marT="76200" marB="76200"/>
                </a:tc>
                <a:tc>
                  <a:txBody>
                    <a:bodyPr/>
                    <a:lstStyle/>
                    <a:p>
                      <a:pPr algn="just" fontAlgn="t"/>
                      <a:r>
                        <a:rPr lang="en-US" dirty="0">
                          <a:solidFill>
                            <a:srgbClr val="333333"/>
                          </a:solidFill>
                          <a:effectLst/>
                          <a:latin typeface="inter-regular"/>
                        </a:rPr>
                        <a:t>Development</a:t>
                      </a:r>
                    </a:p>
                  </a:txBody>
                  <a:tcPr marL="76200" marR="76200" marT="76200" marB="76200"/>
                </a:tc>
              </a:tr>
            </a:tbl>
          </a:graphicData>
        </a:graphic>
      </p:graphicFrame>
    </p:spTree>
    <p:extLst>
      <p:ext uri="{BB962C8B-B14F-4D97-AF65-F5344CB8AC3E}">
        <p14:creationId xmlns:p14="http://schemas.microsoft.com/office/powerpoint/2010/main" val="17071547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59" y="365125"/>
            <a:ext cx="11165541" cy="1325563"/>
          </a:xfrm>
        </p:spPr>
        <p:txBody>
          <a:bodyPr/>
          <a:lstStyle/>
          <a:p>
            <a:r>
              <a:rPr lang="en-US" dirty="0"/>
              <a:t>O</a:t>
            </a:r>
            <a:r>
              <a:rPr lang="en-US" dirty="0" smtClean="0"/>
              <a:t>utput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98798543"/>
              </p:ext>
            </p:extLst>
          </p:nvPr>
        </p:nvGraphicFramePr>
        <p:xfrm>
          <a:off x="546847" y="2081119"/>
          <a:ext cx="10515600" cy="3284256"/>
        </p:xfrm>
        <a:graphic>
          <a:graphicData uri="http://schemas.openxmlformats.org/drawingml/2006/table">
            <a:tbl>
              <a:tblPr firstRow="1" bandRow="1">
                <a:tableStyleId>{5C22544A-7EE6-4342-B048-85BDC9FD1C3A}</a:tableStyleId>
              </a:tblPr>
              <a:tblGrid>
                <a:gridCol w="5257800"/>
                <a:gridCol w="5257800"/>
              </a:tblGrid>
              <a:tr h="747452">
                <a:tc>
                  <a:txBody>
                    <a:bodyPr/>
                    <a:lstStyle/>
                    <a:p>
                      <a:pPr algn="l" fontAlgn="t"/>
                      <a:r>
                        <a:rPr lang="en-US" dirty="0">
                          <a:solidFill>
                            <a:srgbClr val="000000"/>
                          </a:solidFill>
                          <a:effectLst/>
                          <a:latin typeface="times new roman" panose="02020603050405020304" pitchFamily="18" charset="0"/>
                        </a:rPr>
                        <a:t>EMP_NAME</a:t>
                      </a:r>
                    </a:p>
                  </a:txBody>
                  <a:tcPr marL="114300" marR="114300" marT="114300" marB="114300"/>
                </a:tc>
                <a:tc>
                  <a:txBody>
                    <a:bodyPr/>
                    <a:lstStyle/>
                    <a:p>
                      <a:pPr algn="l" fontAlgn="t"/>
                      <a:r>
                        <a:rPr lang="en-US">
                          <a:solidFill>
                            <a:srgbClr val="000000"/>
                          </a:solidFill>
                          <a:effectLst/>
                          <a:latin typeface="times new roman" panose="02020603050405020304" pitchFamily="18" charset="0"/>
                        </a:rPr>
                        <a:t>DEPARTMENT</a:t>
                      </a:r>
                    </a:p>
                  </a:txBody>
                  <a:tcPr marL="114300" marR="114300" marT="114300" marB="114300"/>
                </a:tc>
              </a:tr>
              <a:tr h="634201">
                <a:tc>
                  <a:txBody>
                    <a:bodyPr/>
                    <a:lstStyle/>
                    <a:p>
                      <a:pPr algn="just" fontAlgn="t"/>
                      <a:r>
                        <a:rPr lang="en-US">
                          <a:solidFill>
                            <a:srgbClr val="333333"/>
                          </a:solidFill>
                          <a:effectLst/>
                          <a:latin typeface="inter-regular"/>
                        </a:rPr>
                        <a:t>Angelina</a:t>
                      </a:r>
                    </a:p>
                  </a:txBody>
                  <a:tcPr marL="76200" marR="76200" marT="76200" marB="76200"/>
                </a:tc>
                <a:tc>
                  <a:txBody>
                    <a:bodyPr/>
                    <a:lstStyle/>
                    <a:p>
                      <a:pPr algn="just" fontAlgn="t"/>
                      <a:r>
                        <a:rPr lang="en-US">
                          <a:solidFill>
                            <a:srgbClr val="333333"/>
                          </a:solidFill>
                          <a:effectLst/>
                          <a:latin typeface="inter-regular"/>
                        </a:rPr>
                        <a:t>Testing</a:t>
                      </a:r>
                    </a:p>
                  </a:txBody>
                  <a:tcPr marL="76200" marR="76200" marT="76200" marB="76200"/>
                </a:tc>
              </a:tr>
              <a:tr h="634201">
                <a:tc>
                  <a:txBody>
                    <a:bodyPr/>
                    <a:lstStyle/>
                    <a:p>
                      <a:pPr algn="just" fontAlgn="t"/>
                      <a:r>
                        <a:rPr lang="en-US">
                          <a:solidFill>
                            <a:srgbClr val="333333"/>
                          </a:solidFill>
                          <a:effectLst/>
                          <a:latin typeface="inter-regular"/>
                        </a:rPr>
                        <a:t>Robert</a:t>
                      </a:r>
                    </a:p>
                  </a:txBody>
                  <a:tcPr marL="76200" marR="76200" marT="76200" marB="76200"/>
                </a:tc>
                <a:tc>
                  <a:txBody>
                    <a:bodyPr/>
                    <a:lstStyle/>
                    <a:p>
                      <a:pPr algn="just" fontAlgn="t"/>
                      <a:r>
                        <a:rPr lang="en-US">
                          <a:solidFill>
                            <a:srgbClr val="333333"/>
                          </a:solidFill>
                          <a:effectLst/>
                          <a:latin typeface="inter-regular"/>
                        </a:rPr>
                        <a:t>Development</a:t>
                      </a:r>
                    </a:p>
                  </a:txBody>
                  <a:tcPr marL="76200" marR="76200" marT="76200" marB="76200"/>
                </a:tc>
              </a:tr>
              <a:tr h="634201">
                <a:tc>
                  <a:txBody>
                    <a:bodyPr/>
                    <a:lstStyle/>
                    <a:p>
                      <a:pPr algn="just" fontAlgn="t"/>
                      <a:r>
                        <a:rPr lang="en-US">
                          <a:solidFill>
                            <a:srgbClr val="333333"/>
                          </a:solidFill>
                          <a:effectLst/>
                          <a:latin typeface="inter-regular"/>
                        </a:rPr>
                        <a:t>Christian</a:t>
                      </a:r>
                    </a:p>
                  </a:txBody>
                  <a:tcPr marL="76200" marR="76200" marT="76200" marB="76200"/>
                </a:tc>
                <a:tc>
                  <a:txBody>
                    <a:bodyPr/>
                    <a:lstStyle/>
                    <a:p>
                      <a:pPr algn="just" fontAlgn="t"/>
                      <a:r>
                        <a:rPr lang="en-US">
                          <a:solidFill>
                            <a:srgbClr val="333333"/>
                          </a:solidFill>
                          <a:effectLst/>
                          <a:latin typeface="inter-regular"/>
                        </a:rPr>
                        <a:t>Designing</a:t>
                      </a:r>
                    </a:p>
                  </a:txBody>
                  <a:tcPr marL="76200" marR="76200" marT="76200" marB="76200"/>
                </a:tc>
              </a:tr>
              <a:tr h="634201">
                <a:tc>
                  <a:txBody>
                    <a:bodyPr/>
                    <a:lstStyle/>
                    <a:p>
                      <a:pPr algn="just" fontAlgn="t"/>
                      <a:r>
                        <a:rPr lang="en-US">
                          <a:solidFill>
                            <a:srgbClr val="333333"/>
                          </a:solidFill>
                          <a:effectLst/>
                          <a:latin typeface="inter-regular"/>
                        </a:rPr>
                        <a:t>Kristen</a:t>
                      </a:r>
                    </a:p>
                  </a:txBody>
                  <a:tcPr marL="76200" marR="76200" marT="76200" marB="76200"/>
                </a:tc>
                <a:tc>
                  <a:txBody>
                    <a:bodyPr/>
                    <a:lstStyle/>
                    <a:p>
                      <a:pPr algn="just" fontAlgn="t"/>
                      <a:r>
                        <a:rPr lang="en-US" dirty="0">
                          <a:solidFill>
                            <a:srgbClr val="333333"/>
                          </a:solidFill>
                          <a:effectLst/>
                          <a:latin typeface="inter-regular"/>
                        </a:rPr>
                        <a:t>Development</a:t>
                      </a:r>
                    </a:p>
                  </a:txBody>
                  <a:tcPr marL="76200" marR="76200" marT="76200" marB="76200"/>
                </a:tc>
              </a:tr>
            </a:tbl>
          </a:graphicData>
        </a:graphic>
      </p:graphicFrame>
    </p:spTree>
    <p:extLst>
      <p:ext uri="{BB962C8B-B14F-4D97-AF65-F5344CB8AC3E}">
        <p14:creationId xmlns:p14="http://schemas.microsoft.com/office/powerpoint/2010/main" val="16741447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Outer Joins</a:t>
            </a:r>
          </a:p>
        </p:txBody>
      </p:sp>
      <p:sp>
        <p:nvSpPr>
          <p:cNvPr id="3" name="Content Placeholder 2"/>
          <p:cNvSpPr>
            <a:spLocks noGrp="1"/>
          </p:cNvSpPr>
          <p:nvPr>
            <p:ph idx="1"/>
          </p:nvPr>
        </p:nvSpPr>
        <p:spPr/>
        <p:txBody>
          <a:bodyPr/>
          <a:lstStyle/>
          <a:p>
            <a:r>
              <a:rPr lang="en-US" dirty="0" smtClean="0"/>
              <a:t>Theta </a:t>
            </a:r>
            <a:r>
              <a:rPr lang="en-US" dirty="0"/>
              <a:t>Join, Equijoin, and Natural Join are called inner joins. An inner join includes only those tuples with matching attributes and the rest are discarded in the resulting relation. Therefore, we need to use outer joins to include all the tuples from the participating relations in the resulting relation. There are three kinds of outer joins − left outer join, right outer join, and full outer join.</a:t>
            </a:r>
          </a:p>
        </p:txBody>
      </p:sp>
    </p:spTree>
    <p:extLst>
      <p:ext uri="{BB962C8B-B14F-4D97-AF65-F5344CB8AC3E}">
        <p14:creationId xmlns:p14="http://schemas.microsoft.com/office/powerpoint/2010/main" val="16168516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eaLnBrk="0" fontAlgn="base" hangingPunct="0">
              <a:lnSpc>
                <a:spcPct val="100000"/>
              </a:lnSpc>
              <a:spcAft>
                <a:spcPct val="0"/>
              </a:spcAft>
            </a:pPr>
            <a:r>
              <a:rPr kumimoji="0" lang="en-US" b="0" i="0" u="none" strike="noStrike" cap="none" normalizeH="0" baseline="0" dirty="0" smtClean="0">
                <a:ln>
                  <a:noFill/>
                </a:ln>
                <a:solidFill>
                  <a:srgbClr val="000000"/>
                </a:solidFill>
                <a:effectLst/>
                <a:latin typeface="Heebo"/>
              </a:rPr>
              <a:t>Left Outer Join(R   </a:t>
            </a:r>
            <a:r>
              <a:rPr kumimoji="0" lang="en-US" sz="1800" b="0" i="0" u="none" strike="noStrike" cap="none" normalizeH="0" baseline="0" dirty="0" smtClean="0">
                <a:ln>
                  <a:noFill/>
                </a:ln>
                <a:solidFill>
                  <a:srgbClr val="000000"/>
                </a:solidFill>
                <a:effectLst/>
                <a:latin typeface="Heebo"/>
              </a:rPr>
              <a:t> </a:t>
            </a:r>
            <a:r>
              <a:rPr kumimoji="0" lang="en-US" b="0" i="0" u="none" strike="noStrike" cap="none" normalizeH="0" baseline="0" dirty="0" smtClean="0">
                <a:ln>
                  <a:noFill/>
                </a:ln>
                <a:solidFill>
                  <a:srgbClr val="000000"/>
                </a:solidFill>
                <a:effectLst/>
                <a:latin typeface="Heebo"/>
              </a:rPr>
              <a:t>S)</a:t>
            </a:r>
          </a:p>
        </p:txBody>
      </p:sp>
      <p:sp>
        <p:nvSpPr>
          <p:cNvPr id="3" name="Content Placeholder 2"/>
          <p:cNvSpPr>
            <a:spLocks noGrp="1"/>
          </p:cNvSpPr>
          <p:nvPr>
            <p:ph idx="1"/>
          </p:nvPr>
        </p:nvSpPr>
        <p:spPr/>
        <p:txBody>
          <a:bodyPr/>
          <a:lstStyle/>
          <a:p>
            <a:r>
              <a:rPr lang="en-US" dirty="0"/>
              <a:t>All the tuples from the Left relation, R, are included in the resulting relation. If there are tuples in R without any matching tuple in the Right relation S, then the S-attributes of the resulting relation are made NULL</a:t>
            </a:r>
            <a:r>
              <a:rPr lang="en-US" dirty="0" smtClean="0"/>
              <a:t>.</a:t>
            </a:r>
          </a:p>
          <a:p>
            <a:endParaRPr lang="en-US" dirty="0"/>
          </a:p>
        </p:txBody>
      </p:sp>
      <p:pic>
        <p:nvPicPr>
          <p:cNvPr id="6" name="Picture 2" descr="Left Outer Joi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6337" y="857202"/>
            <a:ext cx="512109" cy="341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1430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61374734"/>
              </p:ext>
            </p:extLst>
          </p:nvPr>
        </p:nvGraphicFramePr>
        <p:xfrm>
          <a:off x="838200" y="1825625"/>
          <a:ext cx="5118848" cy="2077720"/>
        </p:xfrm>
        <a:graphic>
          <a:graphicData uri="http://schemas.openxmlformats.org/drawingml/2006/table">
            <a:tbl>
              <a:tblPr firstRow="1" bandRow="1">
                <a:tableStyleId>{5C22544A-7EE6-4342-B048-85BDC9FD1C3A}</a:tableStyleId>
              </a:tblPr>
              <a:tblGrid>
                <a:gridCol w="2559424"/>
                <a:gridCol w="2559424"/>
              </a:tblGrid>
              <a:tr h="370840">
                <a:tc gridSpan="2">
                  <a:txBody>
                    <a:bodyPr/>
                    <a:lstStyle/>
                    <a:p>
                      <a:pPr algn="ctr"/>
                      <a:r>
                        <a:rPr lang="en-US" dirty="0" smtClean="0"/>
                        <a:t>Left Table </a:t>
                      </a:r>
                      <a:endParaRPr lang="en-US" dirty="0"/>
                    </a:p>
                  </a:txBody>
                  <a:tcPr/>
                </a:tc>
                <a:tc hMerge="1">
                  <a:txBody>
                    <a:bodyPr/>
                    <a:lstStyle/>
                    <a:p>
                      <a:endParaRPr lang="en-US" dirty="0"/>
                    </a:p>
                  </a:txBody>
                  <a:tcPr/>
                </a:tc>
              </a:tr>
              <a:tr h="370840">
                <a:tc>
                  <a:txBody>
                    <a:bodyPr/>
                    <a:lstStyle/>
                    <a:p>
                      <a:pPr algn="l" fontAlgn="t"/>
                      <a:r>
                        <a:rPr lang="en-US">
                          <a:effectLst/>
                        </a:rPr>
                        <a:t>A</a:t>
                      </a:r>
                    </a:p>
                  </a:txBody>
                  <a:tcPr marL="76200" marR="76200" marT="76200" marB="76200"/>
                </a:tc>
                <a:tc>
                  <a:txBody>
                    <a:bodyPr/>
                    <a:lstStyle/>
                    <a:p>
                      <a:pPr algn="l" fontAlgn="t"/>
                      <a:r>
                        <a:rPr lang="en-US">
                          <a:effectLst/>
                        </a:rPr>
                        <a:t>B</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Database</a:t>
                      </a:r>
                    </a:p>
                  </a:txBody>
                  <a:tcPr marL="76200" marR="76200" marT="76200" marB="76200"/>
                </a:tc>
              </a:tr>
              <a:tr h="370840">
                <a:tc>
                  <a:txBody>
                    <a:bodyPr/>
                    <a:lstStyle/>
                    <a:p>
                      <a:pPr fontAlgn="t"/>
                      <a:r>
                        <a:rPr lang="en-US">
                          <a:effectLst/>
                        </a:rPr>
                        <a:t>101</a:t>
                      </a:r>
                    </a:p>
                  </a:txBody>
                  <a:tcPr marL="76200" marR="76200" marT="76200" marB="76200"/>
                </a:tc>
                <a:tc>
                  <a:txBody>
                    <a:bodyPr/>
                    <a:lstStyle/>
                    <a:p>
                      <a:pPr fontAlgn="t"/>
                      <a:r>
                        <a:rPr lang="en-US">
                          <a:effectLst/>
                        </a:rPr>
                        <a:t>Mechanics</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dirty="0">
                          <a:effectLst/>
                        </a:rPr>
                        <a:t>Electronics</a:t>
                      </a:r>
                    </a:p>
                  </a:txBody>
                  <a:tcPr marL="76200" marR="76200" marT="76200" marB="76200"/>
                </a:tc>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918969850"/>
              </p:ext>
            </p:extLst>
          </p:nvPr>
        </p:nvGraphicFramePr>
        <p:xfrm>
          <a:off x="6234952" y="1816660"/>
          <a:ext cx="5118848" cy="2077720"/>
        </p:xfrm>
        <a:graphic>
          <a:graphicData uri="http://schemas.openxmlformats.org/drawingml/2006/table">
            <a:tbl>
              <a:tblPr firstRow="1" bandRow="1">
                <a:tableStyleId>{5C22544A-7EE6-4342-B048-85BDC9FD1C3A}</a:tableStyleId>
              </a:tblPr>
              <a:tblGrid>
                <a:gridCol w="2559424"/>
                <a:gridCol w="2559424"/>
              </a:tblGrid>
              <a:tr h="370840">
                <a:tc gridSpan="2">
                  <a:txBody>
                    <a:bodyPr/>
                    <a:lstStyle/>
                    <a:p>
                      <a:pPr algn="ctr"/>
                      <a:r>
                        <a:rPr lang="en-US" dirty="0" smtClean="0"/>
                        <a:t>Right Table</a:t>
                      </a:r>
                      <a:endParaRPr lang="en-US" dirty="0"/>
                    </a:p>
                  </a:txBody>
                  <a:tcPr/>
                </a:tc>
                <a:tc hMerge="1">
                  <a:txBody>
                    <a:bodyPr/>
                    <a:lstStyle/>
                    <a:p>
                      <a:endParaRPr lang="en-US" dirty="0"/>
                    </a:p>
                  </a:txBody>
                  <a:tcPr/>
                </a:tc>
              </a:tr>
              <a:tr h="370840">
                <a:tc>
                  <a:txBody>
                    <a:bodyPr/>
                    <a:lstStyle/>
                    <a:p>
                      <a:pPr algn="l" fontAlgn="t"/>
                      <a:r>
                        <a:rPr lang="en-US">
                          <a:effectLst/>
                        </a:rPr>
                        <a:t>A</a:t>
                      </a:r>
                    </a:p>
                  </a:txBody>
                  <a:tcPr marL="76200" marR="76200" marT="76200" marB="76200"/>
                </a:tc>
                <a:tc>
                  <a:txBody>
                    <a:bodyPr/>
                    <a:lstStyle/>
                    <a:p>
                      <a:pPr algn="l" fontAlgn="t"/>
                      <a:r>
                        <a:rPr lang="en-US">
                          <a:effectLst/>
                        </a:rPr>
                        <a:t>B</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Alex</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a:effectLst/>
                        </a:rPr>
                        <a:t>Maya</a:t>
                      </a:r>
                    </a:p>
                  </a:txBody>
                  <a:tcPr marL="76200" marR="76200" marT="76200" marB="76200"/>
                </a:tc>
              </a:tr>
              <a:tr h="370840">
                <a:tc>
                  <a:txBody>
                    <a:bodyPr/>
                    <a:lstStyle/>
                    <a:p>
                      <a:pPr fontAlgn="t"/>
                      <a:r>
                        <a:rPr lang="en-US">
                          <a:effectLst/>
                        </a:rPr>
                        <a:t>104</a:t>
                      </a:r>
                    </a:p>
                  </a:txBody>
                  <a:tcPr marL="76200" marR="76200" marT="76200" marB="76200"/>
                </a:tc>
                <a:tc>
                  <a:txBody>
                    <a:bodyPr/>
                    <a:lstStyle/>
                    <a:p>
                      <a:pPr fontAlgn="t"/>
                      <a:r>
                        <a:rPr lang="en-US" dirty="0">
                          <a:effectLst/>
                        </a:rPr>
                        <a:t>Mira</a:t>
                      </a:r>
                    </a:p>
                  </a:txBody>
                  <a:tcPr marL="76200" marR="76200" marT="76200" marB="76200"/>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329252116"/>
              </p:ext>
            </p:extLst>
          </p:nvPr>
        </p:nvGraphicFramePr>
        <p:xfrm>
          <a:off x="1910976" y="4215902"/>
          <a:ext cx="8128000" cy="213360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gridSpan="4">
                  <a:txBody>
                    <a:bodyPr/>
                    <a:lstStyle/>
                    <a:p>
                      <a:pPr algn="ctr" fontAlgn="t"/>
                      <a:r>
                        <a:rPr lang="en-US" dirty="0" smtClean="0">
                          <a:effectLst/>
                        </a:rPr>
                        <a:t>Output</a:t>
                      </a:r>
                      <a:endParaRPr lang="en-US" dirty="0">
                        <a:effectLst/>
                      </a:endParaRPr>
                    </a:p>
                  </a:txBody>
                  <a:tcPr marL="76200" marR="76200" marT="76200" marB="76200"/>
                </a:tc>
                <a:tc hMerge="1">
                  <a:txBody>
                    <a:bodyPr/>
                    <a:lstStyle/>
                    <a:p>
                      <a:endParaRPr lang="en-US"/>
                    </a:p>
                  </a:txBody>
                  <a:tcPr/>
                </a:tc>
                <a:tc hMerge="1">
                  <a:txBody>
                    <a:bodyPr/>
                    <a:lstStyle/>
                    <a:p>
                      <a:endParaRPr lang="en-US"/>
                    </a:p>
                  </a:txBody>
                  <a:tcPr/>
                </a:tc>
                <a:tc hMerge="1">
                  <a:txBody>
                    <a:bodyPr/>
                    <a:lstStyle/>
                    <a:p>
                      <a:endParaRPr lang="en-US"/>
                    </a:p>
                  </a:txBody>
                  <a:tcPr/>
                </a:tc>
              </a:tr>
              <a:tr h="370840">
                <a:tc>
                  <a:txBody>
                    <a:bodyPr/>
                    <a:lstStyle/>
                    <a:p>
                      <a:pPr algn="l" fontAlgn="t"/>
                      <a:r>
                        <a:rPr lang="en-US">
                          <a:effectLst/>
                        </a:rPr>
                        <a:t>A</a:t>
                      </a:r>
                    </a:p>
                  </a:txBody>
                  <a:tcPr marL="76200" marR="76200" marT="76200" marB="76200"/>
                </a:tc>
                <a:tc>
                  <a:txBody>
                    <a:bodyPr/>
                    <a:lstStyle/>
                    <a:p>
                      <a:pPr algn="l" fontAlgn="t"/>
                      <a:r>
                        <a:rPr lang="en-US">
                          <a:effectLst/>
                        </a:rPr>
                        <a:t>B</a:t>
                      </a:r>
                    </a:p>
                  </a:txBody>
                  <a:tcPr marL="76200" marR="76200" marT="76200" marB="76200"/>
                </a:tc>
                <a:tc>
                  <a:txBody>
                    <a:bodyPr/>
                    <a:lstStyle/>
                    <a:p>
                      <a:pPr algn="l" fontAlgn="t"/>
                      <a:r>
                        <a:rPr lang="en-US">
                          <a:effectLst/>
                        </a:rPr>
                        <a:t>C</a:t>
                      </a:r>
                    </a:p>
                  </a:txBody>
                  <a:tcPr marL="76200" marR="76200" marT="76200" marB="76200"/>
                </a:tc>
                <a:tc>
                  <a:txBody>
                    <a:bodyPr/>
                    <a:lstStyle/>
                    <a:p>
                      <a:pPr algn="l" fontAlgn="t"/>
                      <a:r>
                        <a:rPr lang="en-US">
                          <a:effectLst/>
                        </a:rPr>
                        <a:t>D</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Database</a:t>
                      </a:r>
                    </a:p>
                  </a:txBody>
                  <a:tcPr marL="76200" marR="76200" marT="76200" marB="76200"/>
                </a:tc>
                <a:tc>
                  <a:txBody>
                    <a:bodyPr/>
                    <a:lstStyle/>
                    <a:p>
                      <a:pPr fontAlgn="t"/>
                      <a:r>
                        <a:rPr lang="en-US">
                          <a:effectLst/>
                        </a:rPr>
                        <a:t>100</a:t>
                      </a:r>
                    </a:p>
                  </a:txBody>
                  <a:tcPr marL="76200" marR="76200" marT="76200" marB="76200"/>
                </a:tc>
                <a:tc>
                  <a:txBody>
                    <a:bodyPr/>
                    <a:lstStyle/>
                    <a:p>
                      <a:pPr fontAlgn="t"/>
                      <a:r>
                        <a:rPr lang="en-US">
                          <a:effectLst/>
                        </a:rPr>
                        <a:t>Alex</a:t>
                      </a:r>
                    </a:p>
                  </a:txBody>
                  <a:tcPr marL="76200" marR="76200" marT="76200" marB="76200"/>
                </a:tc>
              </a:tr>
              <a:tr h="370840">
                <a:tc>
                  <a:txBody>
                    <a:bodyPr/>
                    <a:lstStyle/>
                    <a:p>
                      <a:pPr fontAlgn="t"/>
                      <a:r>
                        <a:rPr lang="en-US">
                          <a:effectLst/>
                        </a:rPr>
                        <a:t>101</a:t>
                      </a:r>
                    </a:p>
                  </a:txBody>
                  <a:tcPr marL="76200" marR="76200" marT="76200" marB="76200"/>
                </a:tc>
                <a:tc>
                  <a:txBody>
                    <a:bodyPr/>
                    <a:lstStyle/>
                    <a:p>
                      <a:pPr fontAlgn="t"/>
                      <a:r>
                        <a:rPr lang="en-US">
                          <a:effectLst/>
                        </a:rPr>
                        <a:t>Mechanics</a:t>
                      </a:r>
                    </a:p>
                  </a:txBody>
                  <a:tcPr marL="76200" marR="76200" marT="76200" marB="76200"/>
                </a:tc>
                <a:tc>
                  <a:txBody>
                    <a:bodyPr/>
                    <a:lstStyle/>
                    <a:p>
                      <a:pPr fontAlgn="t"/>
                      <a:r>
                        <a:rPr lang="en-US">
                          <a:effectLst/>
                        </a:rPr>
                        <a:t>---</a:t>
                      </a:r>
                    </a:p>
                  </a:txBody>
                  <a:tcPr marL="76200" marR="76200" marT="76200" marB="76200"/>
                </a:tc>
                <a:tc>
                  <a:txBody>
                    <a:bodyPr/>
                    <a:lstStyle/>
                    <a:p>
                      <a:pPr fontAlgn="t"/>
                      <a:r>
                        <a:rPr lang="en-US">
                          <a:effectLst/>
                        </a:rPr>
                        <a:t>---</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a:effectLst/>
                        </a:rPr>
                        <a:t>Electronics</a:t>
                      </a:r>
                    </a:p>
                  </a:txBody>
                  <a:tcPr marL="76200" marR="76200" marT="76200" marB="76200"/>
                </a:tc>
                <a:tc>
                  <a:txBody>
                    <a:bodyPr/>
                    <a:lstStyle/>
                    <a:p>
                      <a:pPr fontAlgn="t"/>
                      <a:r>
                        <a:rPr lang="en-US">
                          <a:effectLst/>
                        </a:rPr>
                        <a:t>102</a:t>
                      </a:r>
                    </a:p>
                  </a:txBody>
                  <a:tcPr marL="76200" marR="76200" marT="76200" marB="76200"/>
                </a:tc>
                <a:tc>
                  <a:txBody>
                    <a:bodyPr/>
                    <a:lstStyle/>
                    <a:p>
                      <a:pPr fontAlgn="t"/>
                      <a:r>
                        <a:rPr lang="en-US" dirty="0">
                          <a:effectLst/>
                        </a:rPr>
                        <a:t>Maya</a:t>
                      </a:r>
                    </a:p>
                  </a:txBody>
                  <a:tcPr marL="76200" marR="76200" marT="76200" marB="76200"/>
                </a:tc>
              </a:tr>
            </a:tbl>
          </a:graphicData>
        </a:graphic>
      </p:graphicFrame>
      <p:pic>
        <p:nvPicPr>
          <p:cNvPr id="16385" name="Picture 1" descr="Left Outer Joi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28600" cy="15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4785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b="0" i="0" u="none" strike="noStrike" cap="none" normalizeH="0" baseline="0" dirty="0" smtClean="0">
                <a:ln>
                  <a:noFill/>
                </a:ln>
                <a:solidFill>
                  <a:srgbClr val="000000"/>
                </a:solidFill>
                <a:effectLst/>
                <a:latin typeface="Heebo"/>
              </a:rPr>
              <a:t>Right Outer Join(R    </a:t>
            </a:r>
            <a:r>
              <a:rPr kumimoji="0" lang="en-US" sz="1800" b="0" i="0" u="none" strike="noStrike" cap="none" normalizeH="0" baseline="0" dirty="0" smtClean="0">
                <a:ln>
                  <a:noFill/>
                </a:ln>
                <a:solidFill>
                  <a:srgbClr val="000000"/>
                </a:solidFill>
                <a:effectLst/>
                <a:latin typeface="Heebo"/>
              </a:rPr>
              <a:t>    </a:t>
            </a:r>
            <a:r>
              <a:rPr kumimoji="0" lang="en-US" b="0" i="0" u="none" strike="noStrike" cap="none" normalizeH="0" baseline="0" dirty="0" smtClean="0">
                <a:ln>
                  <a:noFill/>
                </a:ln>
                <a:solidFill>
                  <a:srgbClr val="000000"/>
                </a:solidFill>
                <a:effectLst/>
                <a:latin typeface="Heebo"/>
              </a:rPr>
              <a:t>S)</a:t>
            </a:r>
            <a:endParaRPr lang="en-US" dirty="0"/>
          </a:p>
        </p:txBody>
      </p:sp>
      <p:sp>
        <p:nvSpPr>
          <p:cNvPr id="3" name="Content Placeholder 2"/>
          <p:cNvSpPr>
            <a:spLocks noGrp="1"/>
          </p:cNvSpPr>
          <p:nvPr>
            <p:ph idx="1"/>
          </p:nvPr>
        </p:nvSpPr>
        <p:spPr/>
        <p:txBody>
          <a:bodyPr/>
          <a:lstStyle/>
          <a:p>
            <a:r>
              <a:rPr lang="en-US" dirty="0"/>
              <a:t>All the tuples from the Right relation, S, are included in the resulting relation. If there are tuples in S without any matching tuple in R, then the R-attributes of resulting relation are made NULL.</a:t>
            </a:r>
          </a:p>
        </p:txBody>
      </p:sp>
      <p:sp>
        <p:nvSpPr>
          <p:cNvPr id="7" name="AutoShape 4" descr="Right Outer Join"/>
          <p:cNvSpPr>
            <a:spLocks noChangeAspect="1" noChangeArrowheads="1"/>
          </p:cNvSpPr>
          <p:nvPr/>
        </p:nvSpPr>
        <p:spPr bwMode="auto">
          <a:xfrm>
            <a:off x="2024063" y="-3016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2" descr="Left Outer Joi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5667306" y="785415"/>
            <a:ext cx="630400" cy="420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1596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4" name="Content Placeholder 3"/>
          <p:cNvGraphicFramePr>
            <a:graphicFrameLocks noGrp="1"/>
          </p:cNvGraphicFramePr>
          <p:nvPr>
            <p:ph idx="1"/>
          </p:nvPr>
        </p:nvGraphicFramePr>
        <p:xfrm>
          <a:off x="838200" y="1825625"/>
          <a:ext cx="5118848" cy="2077720"/>
        </p:xfrm>
        <a:graphic>
          <a:graphicData uri="http://schemas.openxmlformats.org/drawingml/2006/table">
            <a:tbl>
              <a:tblPr firstRow="1" bandRow="1">
                <a:tableStyleId>{5C22544A-7EE6-4342-B048-85BDC9FD1C3A}</a:tableStyleId>
              </a:tblPr>
              <a:tblGrid>
                <a:gridCol w="2559424"/>
                <a:gridCol w="2559424"/>
              </a:tblGrid>
              <a:tr h="370840">
                <a:tc gridSpan="2">
                  <a:txBody>
                    <a:bodyPr/>
                    <a:lstStyle/>
                    <a:p>
                      <a:pPr algn="ctr"/>
                      <a:r>
                        <a:rPr lang="en-US" dirty="0" smtClean="0"/>
                        <a:t>Left Table </a:t>
                      </a:r>
                      <a:endParaRPr lang="en-US" dirty="0"/>
                    </a:p>
                  </a:txBody>
                  <a:tcPr/>
                </a:tc>
                <a:tc hMerge="1">
                  <a:txBody>
                    <a:bodyPr/>
                    <a:lstStyle/>
                    <a:p>
                      <a:endParaRPr lang="en-US" dirty="0"/>
                    </a:p>
                  </a:txBody>
                  <a:tcPr/>
                </a:tc>
              </a:tr>
              <a:tr h="370840">
                <a:tc>
                  <a:txBody>
                    <a:bodyPr/>
                    <a:lstStyle/>
                    <a:p>
                      <a:pPr algn="l" fontAlgn="t"/>
                      <a:r>
                        <a:rPr lang="en-US">
                          <a:effectLst/>
                        </a:rPr>
                        <a:t>A</a:t>
                      </a:r>
                    </a:p>
                  </a:txBody>
                  <a:tcPr marL="76200" marR="76200" marT="76200" marB="76200"/>
                </a:tc>
                <a:tc>
                  <a:txBody>
                    <a:bodyPr/>
                    <a:lstStyle/>
                    <a:p>
                      <a:pPr algn="l" fontAlgn="t"/>
                      <a:r>
                        <a:rPr lang="en-US">
                          <a:effectLst/>
                        </a:rPr>
                        <a:t>B</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Database</a:t>
                      </a:r>
                    </a:p>
                  </a:txBody>
                  <a:tcPr marL="76200" marR="76200" marT="76200" marB="76200"/>
                </a:tc>
              </a:tr>
              <a:tr h="370840">
                <a:tc>
                  <a:txBody>
                    <a:bodyPr/>
                    <a:lstStyle/>
                    <a:p>
                      <a:pPr fontAlgn="t"/>
                      <a:r>
                        <a:rPr lang="en-US">
                          <a:effectLst/>
                        </a:rPr>
                        <a:t>101</a:t>
                      </a:r>
                    </a:p>
                  </a:txBody>
                  <a:tcPr marL="76200" marR="76200" marT="76200" marB="76200"/>
                </a:tc>
                <a:tc>
                  <a:txBody>
                    <a:bodyPr/>
                    <a:lstStyle/>
                    <a:p>
                      <a:pPr fontAlgn="t"/>
                      <a:r>
                        <a:rPr lang="en-US">
                          <a:effectLst/>
                        </a:rPr>
                        <a:t>Mechanics</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dirty="0">
                          <a:effectLst/>
                        </a:rPr>
                        <a:t>Electronics</a:t>
                      </a:r>
                    </a:p>
                  </a:txBody>
                  <a:tcPr marL="76200" marR="76200" marT="76200" marB="76200"/>
                </a:tc>
              </a:tr>
            </a:tbl>
          </a:graphicData>
        </a:graphic>
      </p:graphicFrame>
      <p:graphicFrame>
        <p:nvGraphicFramePr>
          <p:cNvPr id="5" name="Content Placeholder 3"/>
          <p:cNvGraphicFramePr>
            <a:graphicFrameLocks/>
          </p:cNvGraphicFramePr>
          <p:nvPr/>
        </p:nvGraphicFramePr>
        <p:xfrm>
          <a:off x="6234952" y="1816660"/>
          <a:ext cx="5118848" cy="2077720"/>
        </p:xfrm>
        <a:graphic>
          <a:graphicData uri="http://schemas.openxmlformats.org/drawingml/2006/table">
            <a:tbl>
              <a:tblPr firstRow="1" bandRow="1">
                <a:tableStyleId>{5C22544A-7EE6-4342-B048-85BDC9FD1C3A}</a:tableStyleId>
              </a:tblPr>
              <a:tblGrid>
                <a:gridCol w="2559424"/>
                <a:gridCol w="2559424"/>
              </a:tblGrid>
              <a:tr h="370840">
                <a:tc gridSpan="2">
                  <a:txBody>
                    <a:bodyPr/>
                    <a:lstStyle/>
                    <a:p>
                      <a:pPr algn="ctr"/>
                      <a:r>
                        <a:rPr lang="en-US" dirty="0" smtClean="0"/>
                        <a:t>Right Table</a:t>
                      </a:r>
                      <a:endParaRPr lang="en-US" dirty="0"/>
                    </a:p>
                  </a:txBody>
                  <a:tcPr/>
                </a:tc>
                <a:tc hMerge="1">
                  <a:txBody>
                    <a:bodyPr/>
                    <a:lstStyle/>
                    <a:p>
                      <a:endParaRPr lang="en-US" dirty="0"/>
                    </a:p>
                  </a:txBody>
                  <a:tcPr/>
                </a:tc>
              </a:tr>
              <a:tr h="370840">
                <a:tc>
                  <a:txBody>
                    <a:bodyPr/>
                    <a:lstStyle/>
                    <a:p>
                      <a:pPr algn="l" fontAlgn="t"/>
                      <a:r>
                        <a:rPr lang="en-US">
                          <a:effectLst/>
                        </a:rPr>
                        <a:t>A</a:t>
                      </a:r>
                    </a:p>
                  </a:txBody>
                  <a:tcPr marL="76200" marR="76200" marT="76200" marB="76200"/>
                </a:tc>
                <a:tc>
                  <a:txBody>
                    <a:bodyPr/>
                    <a:lstStyle/>
                    <a:p>
                      <a:pPr algn="l" fontAlgn="t"/>
                      <a:r>
                        <a:rPr lang="en-US">
                          <a:effectLst/>
                        </a:rPr>
                        <a:t>B</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Alex</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a:effectLst/>
                        </a:rPr>
                        <a:t>Maya</a:t>
                      </a:r>
                    </a:p>
                  </a:txBody>
                  <a:tcPr marL="76200" marR="76200" marT="76200" marB="76200"/>
                </a:tc>
              </a:tr>
              <a:tr h="370840">
                <a:tc>
                  <a:txBody>
                    <a:bodyPr/>
                    <a:lstStyle/>
                    <a:p>
                      <a:pPr fontAlgn="t"/>
                      <a:r>
                        <a:rPr lang="en-US">
                          <a:effectLst/>
                        </a:rPr>
                        <a:t>104</a:t>
                      </a:r>
                    </a:p>
                  </a:txBody>
                  <a:tcPr marL="76200" marR="76200" marT="76200" marB="76200"/>
                </a:tc>
                <a:tc>
                  <a:txBody>
                    <a:bodyPr/>
                    <a:lstStyle/>
                    <a:p>
                      <a:pPr fontAlgn="t"/>
                      <a:r>
                        <a:rPr lang="en-US" dirty="0">
                          <a:effectLst/>
                        </a:rPr>
                        <a:t>Mira</a:t>
                      </a:r>
                    </a:p>
                  </a:txBody>
                  <a:tcPr marL="76200" marR="76200" marT="76200" marB="76200"/>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26358291"/>
              </p:ext>
            </p:extLst>
          </p:nvPr>
        </p:nvGraphicFramePr>
        <p:xfrm>
          <a:off x="1910976" y="4215902"/>
          <a:ext cx="8128000" cy="213360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gridSpan="4">
                  <a:txBody>
                    <a:bodyPr/>
                    <a:lstStyle/>
                    <a:p>
                      <a:pPr algn="ctr" fontAlgn="t"/>
                      <a:r>
                        <a:rPr lang="en-US" dirty="0" smtClean="0">
                          <a:effectLst/>
                        </a:rPr>
                        <a:t>Output</a:t>
                      </a:r>
                      <a:endParaRPr lang="en-US" dirty="0">
                        <a:effectLst/>
                      </a:endParaRPr>
                    </a:p>
                  </a:txBody>
                  <a:tcPr marL="76200" marR="76200" marT="76200" marB="76200"/>
                </a:tc>
                <a:tc hMerge="1">
                  <a:txBody>
                    <a:bodyPr/>
                    <a:lstStyle/>
                    <a:p>
                      <a:endParaRPr lang="en-US"/>
                    </a:p>
                  </a:txBody>
                  <a:tcPr/>
                </a:tc>
                <a:tc hMerge="1">
                  <a:txBody>
                    <a:bodyPr/>
                    <a:lstStyle/>
                    <a:p>
                      <a:endParaRPr lang="en-US"/>
                    </a:p>
                  </a:txBody>
                  <a:tcPr/>
                </a:tc>
                <a:tc hMerge="1">
                  <a:txBody>
                    <a:bodyPr/>
                    <a:lstStyle/>
                    <a:p>
                      <a:endParaRPr lang="en-US"/>
                    </a:p>
                  </a:txBody>
                  <a:tcPr/>
                </a:tc>
              </a:tr>
              <a:tr h="370840">
                <a:tc>
                  <a:txBody>
                    <a:bodyPr/>
                    <a:lstStyle/>
                    <a:p>
                      <a:pPr fontAlgn="t"/>
                      <a:r>
                        <a:rPr lang="en-US">
                          <a:effectLst/>
                        </a:rPr>
                        <a:t>100</a:t>
                      </a:r>
                    </a:p>
                  </a:txBody>
                  <a:tcPr marL="76200" marR="76200" marT="76200" marB="76200"/>
                </a:tc>
                <a:tc>
                  <a:txBody>
                    <a:bodyPr/>
                    <a:lstStyle/>
                    <a:p>
                      <a:pPr fontAlgn="t"/>
                      <a:r>
                        <a:rPr lang="en-US">
                          <a:effectLst/>
                        </a:rPr>
                        <a:t>Database</a:t>
                      </a:r>
                    </a:p>
                  </a:txBody>
                  <a:tcPr marL="76200" marR="76200" marT="76200" marB="76200"/>
                </a:tc>
                <a:tc>
                  <a:txBody>
                    <a:bodyPr/>
                    <a:lstStyle/>
                    <a:p>
                      <a:pPr fontAlgn="t"/>
                      <a:r>
                        <a:rPr lang="en-US">
                          <a:effectLst/>
                        </a:rPr>
                        <a:t>100</a:t>
                      </a:r>
                    </a:p>
                  </a:txBody>
                  <a:tcPr marL="76200" marR="76200" marT="76200" marB="76200"/>
                </a:tc>
                <a:tc>
                  <a:txBody>
                    <a:bodyPr/>
                    <a:lstStyle/>
                    <a:p>
                      <a:pPr fontAlgn="t"/>
                      <a:r>
                        <a:rPr lang="en-US">
                          <a:effectLst/>
                        </a:rPr>
                        <a:t>Alex</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a:effectLst/>
                        </a:rPr>
                        <a:t>Electronics</a:t>
                      </a:r>
                    </a:p>
                  </a:txBody>
                  <a:tcPr marL="76200" marR="76200" marT="76200" marB="76200"/>
                </a:tc>
                <a:tc>
                  <a:txBody>
                    <a:bodyPr/>
                    <a:lstStyle/>
                    <a:p>
                      <a:pPr fontAlgn="t"/>
                      <a:r>
                        <a:rPr lang="en-US">
                          <a:effectLst/>
                        </a:rPr>
                        <a:t>102</a:t>
                      </a:r>
                    </a:p>
                  </a:txBody>
                  <a:tcPr marL="76200" marR="76200" marT="76200" marB="76200"/>
                </a:tc>
                <a:tc>
                  <a:txBody>
                    <a:bodyPr/>
                    <a:lstStyle/>
                    <a:p>
                      <a:pPr fontAlgn="t"/>
                      <a:r>
                        <a:rPr lang="en-US">
                          <a:effectLst/>
                        </a:rPr>
                        <a:t>Maya</a:t>
                      </a:r>
                    </a:p>
                  </a:txBody>
                  <a:tcPr marL="76200" marR="76200" marT="76200" marB="76200"/>
                </a:tc>
              </a:tr>
              <a:tr h="370840">
                <a:tc>
                  <a:txBody>
                    <a:bodyPr/>
                    <a:lstStyle/>
                    <a:p>
                      <a:pPr fontAlgn="t"/>
                      <a:r>
                        <a:rPr lang="en-US">
                          <a:effectLst/>
                        </a:rPr>
                        <a:t>---</a:t>
                      </a:r>
                    </a:p>
                  </a:txBody>
                  <a:tcPr marL="76200" marR="76200" marT="76200" marB="76200"/>
                </a:tc>
                <a:tc>
                  <a:txBody>
                    <a:bodyPr/>
                    <a:lstStyle/>
                    <a:p>
                      <a:pPr fontAlgn="t"/>
                      <a:r>
                        <a:rPr lang="en-US">
                          <a:effectLst/>
                        </a:rPr>
                        <a:t>---</a:t>
                      </a:r>
                    </a:p>
                  </a:txBody>
                  <a:tcPr marL="76200" marR="76200" marT="76200" marB="76200"/>
                </a:tc>
                <a:tc>
                  <a:txBody>
                    <a:bodyPr/>
                    <a:lstStyle/>
                    <a:p>
                      <a:pPr fontAlgn="t"/>
                      <a:r>
                        <a:rPr lang="en-US">
                          <a:effectLst/>
                        </a:rPr>
                        <a:t>104</a:t>
                      </a:r>
                    </a:p>
                  </a:txBody>
                  <a:tcPr marL="76200" marR="76200" marT="76200" marB="76200"/>
                </a:tc>
                <a:tc>
                  <a:txBody>
                    <a:bodyPr/>
                    <a:lstStyle/>
                    <a:p>
                      <a:pPr fontAlgn="t"/>
                      <a:r>
                        <a:rPr lang="en-US">
                          <a:effectLst/>
                        </a:rPr>
                        <a:t>Mira</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Database</a:t>
                      </a:r>
                    </a:p>
                  </a:txBody>
                  <a:tcPr marL="76200" marR="76200" marT="76200" marB="76200"/>
                </a:tc>
                <a:tc>
                  <a:txBody>
                    <a:bodyPr/>
                    <a:lstStyle/>
                    <a:p>
                      <a:pPr fontAlgn="t"/>
                      <a:r>
                        <a:rPr lang="en-US">
                          <a:effectLst/>
                        </a:rPr>
                        <a:t>100</a:t>
                      </a:r>
                    </a:p>
                  </a:txBody>
                  <a:tcPr marL="76200" marR="76200" marT="76200" marB="76200"/>
                </a:tc>
                <a:tc>
                  <a:txBody>
                    <a:bodyPr/>
                    <a:lstStyle/>
                    <a:p>
                      <a:pPr fontAlgn="t"/>
                      <a:r>
                        <a:rPr lang="en-US" dirty="0">
                          <a:effectLst/>
                        </a:rPr>
                        <a:t>Alex</a:t>
                      </a:r>
                    </a:p>
                  </a:txBody>
                  <a:tcPr marL="76200" marR="76200" marT="76200" marB="76200"/>
                </a:tc>
              </a:tr>
            </a:tbl>
          </a:graphicData>
        </a:graphic>
      </p:graphicFrame>
    </p:spTree>
    <p:extLst>
      <p:ext uri="{BB962C8B-B14F-4D97-AF65-F5344CB8AC3E}">
        <p14:creationId xmlns:p14="http://schemas.microsoft.com/office/powerpoint/2010/main" val="26884743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Outer </a:t>
            </a:r>
            <a:r>
              <a:rPr lang="en-US" dirty="0" smtClean="0"/>
              <a:t>Join ( R    S)</a:t>
            </a:r>
            <a:r>
              <a:rPr lang="en-US" dirty="0"/>
              <a:t/>
            </a:r>
            <a:br>
              <a:rPr lang="en-US" dirty="0"/>
            </a:br>
            <a:endParaRPr lang="en-US" dirty="0"/>
          </a:p>
        </p:txBody>
      </p:sp>
      <p:sp>
        <p:nvSpPr>
          <p:cNvPr id="7" name="Content Placeholder 6"/>
          <p:cNvSpPr>
            <a:spLocks noGrp="1"/>
          </p:cNvSpPr>
          <p:nvPr>
            <p:ph idx="1"/>
          </p:nvPr>
        </p:nvSpPr>
        <p:spPr/>
        <p:txBody>
          <a:bodyPr/>
          <a:lstStyle/>
          <a:p>
            <a:r>
              <a:rPr lang="en-US" dirty="0"/>
              <a:t>All the tuples from both participating relations are included in the resulting relation. If there are no matching tuples for both relations, their respective unmatched attributes are made NULL.</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5103" y="533304"/>
            <a:ext cx="544061" cy="494602"/>
          </a:xfrm>
          <a:prstGeom prst="rect">
            <a:avLst/>
          </a:prstGeom>
        </p:spPr>
      </p:pic>
    </p:spTree>
    <p:extLst>
      <p:ext uri="{BB962C8B-B14F-4D97-AF65-F5344CB8AC3E}">
        <p14:creationId xmlns:p14="http://schemas.microsoft.com/office/powerpoint/2010/main" val="23957523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4" name="Content Placeholder 3"/>
          <p:cNvGraphicFramePr>
            <a:graphicFrameLocks noGrp="1"/>
          </p:cNvGraphicFramePr>
          <p:nvPr>
            <p:ph idx="1"/>
          </p:nvPr>
        </p:nvGraphicFramePr>
        <p:xfrm>
          <a:off x="838200" y="1825625"/>
          <a:ext cx="5118848" cy="2077720"/>
        </p:xfrm>
        <a:graphic>
          <a:graphicData uri="http://schemas.openxmlformats.org/drawingml/2006/table">
            <a:tbl>
              <a:tblPr firstRow="1" bandRow="1">
                <a:tableStyleId>{5C22544A-7EE6-4342-B048-85BDC9FD1C3A}</a:tableStyleId>
              </a:tblPr>
              <a:tblGrid>
                <a:gridCol w="2559424"/>
                <a:gridCol w="2559424"/>
              </a:tblGrid>
              <a:tr h="370840">
                <a:tc gridSpan="2">
                  <a:txBody>
                    <a:bodyPr/>
                    <a:lstStyle/>
                    <a:p>
                      <a:pPr algn="ctr"/>
                      <a:r>
                        <a:rPr lang="en-US" dirty="0" smtClean="0"/>
                        <a:t>Left Table </a:t>
                      </a:r>
                      <a:endParaRPr lang="en-US" dirty="0"/>
                    </a:p>
                  </a:txBody>
                  <a:tcPr/>
                </a:tc>
                <a:tc hMerge="1">
                  <a:txBody>
                    <a:bodyPr/>
                    <a:lstStyle/>
                    <a:p>
                      <a:endParaRPr lang="en-US" dirty="0"/>
                    </a:p>
                  </a:txBody>
                  <a:tcPr/>
                </a:tc>
              </a:tr>
              <a:tr h="370840">
                <a:tc>
                  <a:txBody>
                    <a:bodyPr/>
                    <a:lstStyle/>
                    <a:p>
                      <a:pPr algn="l" fontAlgn="t"/>
                      <a:r>
                        <a:rPr lang="en-US">
                          <a:effectLst/>
                        </a:rPr>
                        <a:t>A</a:t>
                      </a:r>
                    </a:p>
                  </a:txBody>
                  <a:tcPr marL="76200" marR="76200" marT="76200" marB="76200"/>
                </a:tc>
                <a:tc>
                  <a:txBody>
                    <a:bodyPr/>
                    <a:lstStyle/>
                    <a:p>
                      <a:pPr algn="l" fontAlgn="t"/>
                      <a:r>
                        <a:rPr lang="en-US">
                          <a:effectLst/>
                        </a:rPr>
                        <a:t>B</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Database</a:t>
                      </a:r>
                    </a:p>
                  </a:txBody>
                  <a:tcPr marL="76200" marR="76200" marT="76200" marB="76200"/>
                </a:tc>
              </a:tr>
              <a:tr h="370840">
                <a:tc>
                  <a:txBody>
                    <a:bodyPr/>
                    <a:lstStyle/>
                    <a:p>
                      <a:pPr fontAlgn="t"/>
                      <a:r>
                        <a:rPr lang="en-US">
                          <a:effectLst/>
                        </a:rPr>
                        <a:t>101</a:t>
                      </a:r>
                    </a:p>
                  </a:txBody>
                  <a:tcPr marL="76200" marR="76200" marT="76200" marB="76200"/>
                </a:tc>
                <a:tc>
                  <a:txBody>
                    <a:bodyPr/>
                    <a:lstStyle/>
                    <a:p>
                      <a:pPr fontAlgn="t"/>
                      <a:r>
                        <a:rPr lang="en-US">
                          <a:effectLst/>
                        </a:rPr>
                        <a:t>Mechanics</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dirty="0">
                          <a:effectLst/>
                        </a:rPr>
                        <a:t>Electronics</a:t>
                      </a:r>
                    </a:p>
                  </a:txBody>
                  <a:tcPr marL="76200" marR="76200" marT="76200" marB="76200"/>
                </a:tc>
              </a:tr>
            </a:tbl>
          </a:graphicData>
        </a:graphic>
      </p:graphicFrame>
      <p:graphicFrame>
        <p:nvGraphicFramePr>
          <p:cNvPr id="5" name="Content Placeholder 3"/>
          <p:cNvGraphicFramePr>
            <a:graphicFrameLocks/>
          </p:cNvGraphicFramePr>
          <p:nvPr/>
        </p:nvGraphicFramePr>
        <p:xfrm>
          <a:off x="6234952" y="1816660"/>
          <a:ext cx="5118848" cy="2077720"/>
        </p:xfrm>
        <a:graphic>
          <a:graphicData uri="http://schemas.openxmlformats.org/drawingml/2006/table">
            <a:tbl>
              <a:tblPr firstRow="1" bandRow="1">
                <a:tableStyleId>{5C22544A-7EE6-4342-B048-85BDC9FD1C3A}</a:tableStyleId>
              </a:tblPr>
              <a:tblGrid>
                <a:gridCol w="2559424"/>
                <a:gridCol w="2559424"/>
              </a:tblGrid>
              <a:tr h="370840">
                <a:tc gridSpan="2">
                  <a:txBody>
                    <a:bodyPr/>
                    <a:lstStyle/>
                    <a:p>
                      <a:pPr algn="ctr"/>
                      <a:r>
                        <a:rPr lang="en-US" dirty="0" smtClean="0"/>
                        <a:t>Right Table</a:t>
                      </a:r>
                      <a:endParaRPr lang="en-US" dirty="0"/>
                    </a:p>
                  </a:txBody>
                  <a:tcPr/>
                </a:tc>
                <a:tc hMerge="1">
                  <a:txBody>
                    <a:bodyPr/>
                    <a:lstStyle/>
                    <a:p>
                      <a:endParaRPr lang="en-US" dirty="0"/>
                    </a:p>
                  </a:txBody>
                  <a:tcPr/>
                </a:tc>
              </a:tr>
              <a:tr h="370840">
                <a:tc>
                  <a:txBody>
                    <a:bodyPr/>
                    <a:lstStyle/>
                    <a:p>
                      <a:pPr algn="l" fontAlgn="t"/>
                      <a:r>
                        <a:rPr lang="en-US">
                          <a:effectLst/>
                        </a:rPr>
                        <a:t>A</a:t>
                      </a:r>
                    </a:p>
                  </a:txBody>
                  <a:tcPr marL="76200" marR="76200" marT="76200" marB="76200"/>
                </a:tc>
                <a:tc>
                  <a:txBody>
                    <a:bodyPr/>
                    <a:lstStyle/>
                    <a:p>
                      <a:pPr algn="l" fontAlgn="t"/>
                      <a:r>
                        <a:rPr lang="en-US">
                          <a:effectLst/>
                        </a:rPr>
                        <a:t>B</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Alex</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a:effectLst/>
                        </a:rPr>
                        <a:t>Maya</a:t>
                      </a:r>
                    </a:p>
                  </a:txBody>
                  <a:tcPr marL="76200" marR="76200" marT="76200" marB="76200"/>
                </a:tc>
              </a:tr>
              <a:tr h="370840">
                <a:tc>
                  <a:txBody>
                    <a:bodyPr/>
                    <a:lstStyle/>
                    <a:p>
                      <a:pPr fontAlgn="t"/>
                      <a:r>
                        <a:rPr lang="en-US">
                          <a:effectLst/>
                        </a:rPr>
                        <a:t>104</a:t>
                      </a:r>
                    </a:p>
                  </a:txBody>
                  <a:tcPr marL="76200" marR="76200" marT="76200" marB="76200"/>
                </a:tc>
                <a:tc>
                  <a:txBody>
                    <a:bodyPr/>
                    <a:lstStyle/>
                    <a:p>
                      <a:pPr fontAlgn="t"/>
                      <a:r>
                        <a:rPr lang="en-US" dirty="0">
                          <a:effectLst/>
                        </a:rPr>
                        <a:t>Mira</a:t>
                      </a:r>
                    </a:p>
                  </a:txBody>
                  <a:tcPr marL="76200" marR="76200" marT="76200" marB="76200"/>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38181860"/>
              </p:ext>
            </p:extLst>
          </p:nvPr>
        </p:nvGraphicFramePr>
        <p:xfrm>
          <a:off x="1910976" y="4215902"/>
          <a:ext cx="8128000" cy="213360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gridSpan="4">
                  <a:txBody>
                    <a:bodyPr/>
                    <a:lstStyle/>
                    <a:p>
                      <a:pPr algn="ctr" fontAlgn="t"/>
                      <a:r>
                        <a:rPr lang="en-US" dirty="0" smtClean="0">
                          <a:effectLst/>
                        </a:rPr>
                        <a:t>Output</a:t>
                      </a:r>
                      <a:endParaRPr lang="en-US" dirty="0">
                        <a:effectLst/>
                      </a:endParaRPr>
                    </a:p>
                  </a:txBody>
                  <a:tcPr marL="76200" marR="76200" marT="76200" marB="76200"/>
                </a:tc>
                <a:tc hMerge="1">
                  <a:txBody>
                    <a:bodyPr/>
                    <a:lstStyle/>
                    <a:p>
                      <a:endParaRPr lang="en-US"/>
                    </a:p>
                  </a:txBody>
                  <a:tcPr/>
                </a:tc>
                <a:tc hMerge="1">
                  <a:txBody>
                    <a:bodyPr/>
                    <a:lstStyle/>
                    <a:p>
                      <a:endParaRPr lang="en-US"/>
                    </a:p>
                  </a:txBody>
                  <a:tcPr/>
                </a:tc>
                <a:tc hMerge="1">
                  <a:txBody>
                    <a:bodyPr/>
                    <a:lstStyle/>
                    <a:p>
                      <a:endParaRPr lang="en-US"/>
                    </a:p>
                  </a:txBody>
                  <a:tcPr/>
                </a:tc>
              </a:tr>
              <a:tr h="370840">
                <a:tc>
                  <a:txBody>
                    <a:bodyPr/>
                    <a:lstStyle/>
                    <a:p>
                      <a:pPr algn="l" fontAlgn="t"/>
                      <a:r>
                        <a:rPr lang="en-US">
                          <a:effectLst/>
                        </a:rPr>
                        <a:t>A</a:t>
                      </a:r>
                    </a:p>
                  </a:txBody>
                  <a:tcPr marL="76200" marR="76200" marT="76200" marB="76200"/>
                </a:tc>
                <a:tc>
                  <a:txBody>
                    <a:bodyPr/>
                    <a:lstStyle/>
                    <a:p>
                      <a:pPr algn="l" fontAlgn="t"/>
                      <a:r>
                        <a:rPr lang="en-US">
                          <a:effectLst/>
                        </a:rPr>
                        <a:t>B</a:t>
                      </a:r>
                    </a:p>
                  </a:txBody>
                  <a:tcPr marL="76200" marR="76200" marT="76200" marB="76200"/>
                </a:tc>
                <a:tc>
                  <a:txBody>
                    <a:bodyPr/>
                    <a:lstStyle/>
                    <a:p>
                      <a:pPr algn="l" fontAlgn="t"/>
                      <a:r>
                        <a:rPr lang="en-US">
                          <a:effectLst/>
                        </a:rPr>
                        <a:t>C</a:t>
                      </a:r>
                    </a:p>
                  </a:txBody>
                  <a:tcPr marL="76200" marR="76200" marT="76200" marB="76200"/>
                </a:tc>
                <a:tc>
                  <a:txBody>
                    <a:bodyPr/>
                    <a:lstStyle/>
                    <a:p>
                      <a:pPr algn="l" fontAlgn="t"/>
                      <a:r>
                        <a:rPr lang="en-US">
                          <a:effectLst/>
                        </a:rPr>
                        <a:t>D</a:t>
                      </a:r>
                    </a:p>
                  </a:txBody>
                  <a:tcPr marL="76200" marR="76200" marT="76200" marB="76200"/>
                </a:tc>
              </a:tr>
              <a:tr h="370840">
                <a:tc>
                  <a:txBody>
                    <a:bodyPr/>
                    <a:lstStyle/>
                    <a:p>
                      <a:pPr fontAlgn="t"/>
                      <a:r>
                        <a:rPr lang="en-US">
                          <a:effectLst/>
                        </a:rPr>
                        <a:t>100</a:t>
                      </a:r>
                    </a:p>
                  </a:txBody>
                  <a:tcPr marL="76200" marR="76200" marT="76200" marB="76200"/>
                </a:tc>
                <a:tc>
                  <a:txBody>
                    <a:bodyPr/>
                    <a:lstStyle/>
                    <a:p>
                      <a:pPr fontAlgn="t"/>
                      <a:r>
                        <a:rPr lang="en-US">
                          <a:effectLst/>
                        </a:rPr>
                        <a:t>Database</a:t>
                      </a:r>
                    </a:p>
                  </a:txBody>
                  <a:tcPr marL="76200" marR="76200" marT="76200" marB="76200"/>
                </a:tc>
                <a:tc>
                  <a:txBody>
                    <a:bodyPr/>
                    <a:lstStyle/>
                    <a:p>
                      <a:pPr fontAlgn="t"/>
                      <a:r>
                        <a:rPr lang="en-US">
                          <a:effectLst/>
                        </a:rPr>
                        <a:t>100</a:t>
                      </a:r>
                    </a:p>
                  </a:txBody>
                  <a:tcPr marL="76200" marR="76200" marT="76200" marB="76200"/>
                </a:tc>
                <a:tc>
                  <a:txBody>
                    <a:bodyPr/>
                    <a:lstStyle/>
                    <a:p>
                      <a:pPr fontAlgn="t"/>
                      <a:r>
                        <a:rPr lang="en-US">
                          <a:effectLst/>
                        </a:rPr>
                        <a:t>Alex</a:t>
                      </a:r>
                    </a:p>
                  </a:txBody>
                  <a:tcPr marL="76200" marR="76200" marT="76200" marB="76200"/>
                </a:tc>
              </a:tr>
              <a:tr h="370840">
                <a:tc>
                  <a:txBody>
                    <a:bodyPr/>
                    <a:lstStyle/>
                    <a:p>
                      <a:pPr fontAlgn="t"/>
                      <a:r>
                        <a:rPr lang="en-US">
                          <a:effectLst/>
                        </a:rPr>
                        <a:t>101</a:t>
                      </a:r>
                    </a:p>
                  </a:txBody>
                  <a:tcPr marL="76200" marR="76200" marT="76200" marB="76200"/>
                </a:tc>
                <a:tc>
                  <a:txBody>
                    <a:bodyPr/>
                    <a:lstStyle/>
                    <a:p>
                      <a:pPr fontAlgn="t"/>
                      <a:r>
                        <a:rPr lang="en-US">
                          <a:effectLst/>
                        </a:rPr>
                        <a:t>Mechanics</a:t>
                      </a:r>
                    </a:p>
                  </a:txBody>
                  <a:tcPr marL="76200" marR="76200" marT="76200" marB="76200"/>
                </a:tc>
                <a:tc>
                  <a:txBody>
                    <a:bodyPr/>
                    <a:lstStyle/>
                    <a:p>
                      <a:pPr fontAlgn="t"/>
                      <a:r>
                        <a:rPr lang="en-US">
                          <a:effectLst/>
                        </a:rPr>
                        <a:t>---</a:t>
                      </a:r>
                    </a:p>
                  </a:txBody>
                  <a:tcPr marL="76200" marR="76200" marT="76200" marB="76200"/>
                </a:tc>
                <a:tc>
                  <a:txBody>
                    <a:bodyPr/>
                    <a:lstStyle/>
                    <a:p>
                      <a:pPr fontAlgn="t"/>
                      <a:r>
                        <a:rPr lang="en-US">
                          <a:effectLst/>
                        </a:rPr>
                        <a:t>---</a:t>
                      </a:r>
                    </a:p>
                  </a:txBody>
                  <a:tcPr marL="76200" marR="76200" marT="76200" marB="76200"/>
                </a:tc>
              </a:tr>
              <a:tr h="370840">
                <a:tc>
                  <a:txBody>
                    <a:bodyPr/>
                    <a:lstStyle/>
                    <a:p>
                      <a:pPr fontAlgn="t"/>
                      <a:r>
                        <a:rPr lang="en-US">
                          <a:effectLst/>
                        </a:rPr>
                        <a:t>102</a:t>
                      </a:r>
                    </a:p>
                  </a:txBody>
                  <a:tcPr marL="76200" marR="76200" marT="76200" marB="76200"/>
                </a:tc>
                <a:tc>
                  <a:txBody>
                    <a:bodyPr/>
                    <a:lstStyle/>
                    <a:p>
                      <a:pPr fontAlgn="t"/>
                      <a:r>
                        <a:rPr lang="en-US">
                          <a:effectLst/>
                        </a:rPr>
                        <a:t>Electronics</a:t>
                      </a:r>
                    </a:p>
                  </a:txBody>
                  <a:tcPr marL="76200" marR="76200" marT="76200" marB="76200"/>
                </a:tc>
                <a:tc>
                  <a:txBody>
                    <a:bodyPr/>
                    <a:lstStyle/>
                    <a:p>
                      <a:pPr fontAlgn="t"/>
                      <a:r>
                        <a:rPr lang="en-US">
                          <a:effectLst/>
                        </a:rPr>
                        <a:t>102</a:t>
                      </a:r>
                    </a:p>
                  </a:txBody>
                  <a:tcPr marL="76200" marR="76200" marT="76200" marB="76200"/>
                </a:tc>
                <a:tc>
                  <a:txBody>
                    <a:bodyPr/>
                    <a:lstStyle/>
                    <a:p>
                      <a:pPr fontAlgn="t"/>
                      <a:r>
                        <a:rPr lang="en-US" dirty="0">
                          <a:effectLst/>
                        </a:rPr>
                        <a:t>Maya</a:t>
                      </a:r>
                    </a:p>
                  </a:txBody>
                  <a:tcPr marL="76200" marR="76200" marT="76200" marB="76200"/>
                </a:tc>
              </a:tr>
            </a:tbl>
          </a:graphicData>
        </a:graphic>
      </p:graphicFrame>
    </p:spTree>
    <p:extLst>
      <p:ext uri="{BB962C8B-B14F-4D97-AF65-F5344CB8AC3E}">
        <p14:creationId xmlns:p14="http://schemas.microsoft.com/office/powerpoint/2010/main" val="37479544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dirty="0" smtClean="0"/>
              <a:t>Task No. </a:t>
            </a:r>
            <a:r>
              <a:rPr lang="en-US" altLang="en-US" dirty="0"/>
              <a:t>3</a:t>
            </a:r>
            <a:endParaRPr lang="en-US" altLang="en-US" dirty="0" smtClean="0"/>
          </a:p>
        </p:txBody>
      </p:sp>
      <p:sp>
        <p:nvSpPr>
          <p:cNvPr id="3" name="Content Placeholder 2"/>
          <p:cNvSpPr>
            <a:spLocks noGrp="1"/>
          </p:cNvSpPr>
          <p:nvPr>
            <p:ph idx="1"/>
          </p:nvPr>
        </p:nvSpPr>
        <p:spPr/>
        <p:txBody>
          <a:bodyPr/>
          <a:lstStyle/>
          <a:p>
            <a:pPr marL="0" indent="0">
              <a:buNone/>
              <a:defRPr/>
            </a:pPr>
            <a:r>
              <a:rPr lang="en-US" dirty="0" smtClean="0"/>
              <a:t>Submission Date: Next Class</a:t>
            </a:r>
            <a:endParaRPr lang="en-US" sz="3200" dirty="0"/>
          </a:p>
          <a:p>
            <a:pPr marL="0" indent="0">
              <a:buNone/>
              <a:defRPr/>
            </a:pPr>
            <a:r>
              <a:rPr lang="en-US" sz="2000" b="1" dirty="0"/>
              <a:t>Note: Assignments must be hand written. Examples should not be copied from each other.</a:t>
            </a:r>
            <a:r>
              <a:rPr lang="en-US" sz="1800" dirty="0"/>
              <a:t> </a:t>
            </a:r>
          </a:p>
          <a:p>
            <a:pPr marL="0" indent="0">
              <a:buNone/>
              <a:defRPr/>
            </a:pPr>
            <a:r>
              <a:rPr lang="en-US" dirty="0" smtClean="0"/>
              <a:t>Q.No. 1 : Explain Following Relational Algebra operations with suitable examples.</a:t>
            </a:r>
          </a:p>
          <a:p>
            <a:pPr marL="514350" indent="-514350">
              <a:buFont typeface="Wingdings" panose="05000000000000000000" pitchFamily="2" charset="2"/>
              <a:buAutoNum type="arabicPeriod"/>
              <a:defRPr/>
            </a:pPr>
            <a:r>
              <a:rPr lang="en-US" dirty="0" smtClean="0"/>
              <a:t>Natural Join</a:t>
            </a:r>
          </a:p>
          <a:p>
            <a:pPr marL="514350" indent="-514350">
              <a:buFont typeface="Wingdings" panose="05000000000000000000" pitchFamily="2" charset="2"/>
              <a:buAutoNum type="arabicPeriod"/>
              <a:defRPr/>
            </a:pPr>
            <a:r>
              <a:rPr lang="en-US" dirty="0" smtClean="0"/>
              <a:t>Semi </a:t>
            </a:r>
            <a:r>
              <a:rPr lang="en-US" dirty="0" smtClean="0"/>
              <a:t>Join</a:t>
            </a:r>
          </a:p>
          <a:p>
            <a:pPr marL="514350" indent="-514350">
              <a:buFont typeface="Wingdings" panose="05000000000000000000" pitchFamily="2" charset="2"/>
              <a:buAutoNum type="arabicPeriod"/>
              <a:defRPr/>
            </a:pPr>
            <a:r>
              <a:rPr lang="en-US" smtClean="0"/>
              <a:t>Theta Join</a:t>
            </a:r>
            <a:endParaRPr lang="en-US" dirty="0" smtClean="0"/>
          </a:p>
          <a:p>
            <a:pPr marL="0" indent="0">
              <a:buNone/>
              <a:defRPr/>
            </a:pPr>
            <a:endParaRPr lang="en-US" sz="1600" dirty="0"/>
          </a:p>
        </p:txBody>
      </p:sp>
      <p:sp>
        <p:nvSpPr>
          <p:cNvPr id="4" name="Footer Placeholder 3"/>
          <p:cNvSpPr>
            <a:spLocks noGrp="1"/>
          </p:cNvSpPr>
          <p:nvPr>
            <p:ph type="ftr" sz="quarter" idx="11"/>
          </p:nvPr>
        </p:nvSpPr>
        <p:spPr/>
        <p:txBody>
          <a:bodyPr/>
          <a:lstStyle/>
          <a:p>
            <a:pPr>
              <a:defRPr/>
            </a:pPr>
            <a:r>
              <a:rPr lang="en-US" smtClean="0"/>
              <a:t>Distributed Database Systems</a:t>
            </a:r>
            <a:endParaRPr lang="en-US"/>
          </a:p>
        </p:txBody>
      </p:sp>
    </p:spTree>
    <p:extLst>
      <p:ext uri="{BB962C8B-B14F-4D97-AF65-F5344CB8AC3E}">
        <p14:creationId xmlns:p14="http://schemas.microsoft.com/office/powerpoint/2010/main" val="28221846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736</Words>
  <Application>Microsoft Office PowerPoint</Application>
  <PresentationFormat>Widescreen</PresentationFormat>
  <Paragraphs>297</Paragraphs>
  <Slides>18</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Calibri Light</vt:lpstr>
      <vt:lpstr>Heebo</vt:lpstr>
      <vt:lpstr>inter-regular</vt:lpstr>
      <vt:lpstr>Tahoma</vt:lpstr>
      <vt:lpstr>Times New Roman</vt:lpstr>
      <vt:lpstr>Times New Roman</vt:lpstr>
      <vt:lpstr>Wingdings</vt:lpstr>
      <vt:lpstr>Office Theme</vt:lpstr>
      <vt:lpstr>Join</vt:lpstr>
      <vt:lpstr>Theta (θ) Join </vt:lpstr>
      <vt:lpstr>θ-Join -Example</vt:lpstr>
      <vt:lpstr>θ-Join -Example</vt:lpstr>
      <vt:lpstr>Equijoin </vt:lpstr>
      <vt:lpstr>Natural Join (⋈) </vt:lpstr>
      <vt:lpstr>Example</vt:lpstr>
      <vt:lpstr>INNER JOIN </vt:lpstr>
      <vt:lpstr>Example</vt:lpstr>
      <vt:lpstr>Output</vt:lpstr>
      <vt:lpstr>Outer Joins</vt:lpstr>
      <vt:lpstr>Left Outer Join(R    S)</vt:lpstr>
      <vt:lpstr>Example</vt:lpstr>
      <vt:lpstr>Right Outer Join(R        S)</vt:lpstr>
      <vt:lpstr>Example</vt:lpstr>
      <vt:lpstr>Full Outer Join ( R    S) </vt:lpstr>
      <vt:lpstr>Example</vt:lpstr>
      <vt:lpstr>Task No. 3</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Muhammad</cp:lastModifiedBy>
  <cp:revision>12</cp:revision>
  <dcterms:created xsi:type="dcterms:W3CDTF">2022-11-01T04:37:20Z</dcterms:created>
  <dcterms:modified xsi:type="dcterms:W3CDTF">2025-07-18T05:45:03Z</dcterms:modified>
</cp:coreProperties>
</file>