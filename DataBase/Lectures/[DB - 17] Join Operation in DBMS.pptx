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3411" y="2779852"/>
            <a:ext cx="3194050" cy="1184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4346575" cy="111056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ts val="3875"/>
              </a:lnSpc>
              <a:spcBef>
                <a:spcPts val="225"/>
              </a:spcBef>
            </a:pPr>
            <a:r>
              <a:rPr sz="3400" spc="-10" smtClean="0">
                <a:latin typeface="Calibri Light"/>
                <a:cs typeface="Calibri Light"/>
              </a:rPr>
              <a:t>Database</a:t>
            </a:r>
            <a:r>
              <a:rPr sz="3400" spc="-130" smtClean="0">
                <a:latin typeface="Calibri Light"/>
                <a:cs typeface="Calibri Light"/>
              </a:rPr>
              <a:t> </a:t>
            </a:r>
            <a:r>
              <a:rPr sz="3400" spc="-10" dirty="0">
                <a:latin typeface="Calibri Light"/>
                <a:cs typeface="Calibri Light"/>
              </a:rPr>
              <a:t>System</a:t>
            </a:r>
            <a:endParaRPr sz="3400" dirty="0">
              <a:latin typeface="Calibri Light"/>
              <a:cs typeface="Calibri Light"/>
            </a:endParaRPr>
          </a:p>
          <a:p>
            <a:pPr marL="12700">
              <a:lnSpc>
                <a:spcPts val="3875"/>
              </a:lnSpc>
            </a:pPr>
            <a:r>
              <a:rPr sz="3400" dirty="0">
                <a:latin typeface="Calibri Light"/>
                <a:cs typeface="Calibri Light"/>
              </a:rPr>
              <a:t>[</a:t>
            </a:r>
            <a:r>
              <a:rPr sz="3400" i="1" dirty="0">
                <a:latin typeface="Calibri Light"/>
                <a:cs typeface="Calibri Light"/>
              </a:rPr>
              <a:t>Join</a:t>
            </a:r>
            <a:r>
              <a:rPr sz="3400" i="1" spc="-70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Operation</a:t>
            </a:r>
            <a:r>
              <a:rPr sz="3400" i="1" spc="-45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in</a:t>
            </a:r>
            <a:r>
              <a:rPr sz="3400" i="1" spc="-75" dirty="0">
                <a:latin typeface="Calibri Light"/>
                <a:cs typeface="Calibri Light"/>
              </a:rPr>
              <a:t> </a:t>
            </a:r>
            <a:r>
              <a:rPr sz="3400" i="1" spc="-10" dirty="0">
                <a:latin typeface="Calibri Light"/>
                <a:cs typeface="Calibri Light"/>
              </a:rPr>
              <a:t>DBMS</a:t>
            </a:r>
            <a:r>
              <a:rPr sz="3400" spc="-10" dirty="0">
                <a:latin typeface="Calibri Light"/>
                <a:cs typeface="Calibri Light"/>
              </a:rPr>
              <a:t>]</a:t>
            </a:r>
            <a:endParaRPr sz="3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3194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Join</a:t>
            </a:r>
            <a:r>
              <a:rPr sz="4000" spc="-6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Operations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2140457"/>
            <a:ext cx="4710430" cy="2119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Join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combines 	</a:t>
            </a:r>
            <a:r>
              <a:rPr sz="2800" b="1" i="1" dirty="0">
                <a:latin typeface="Calibri"/>
                <a:cs typeface="Calibri"/>
              </a:rPr>
              <a:t>related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tuples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from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different 	</a:t>
            </a:r>
            <a:r>
              <a:rPr sz="2800" b="1" i="1" dirty="0">
                <a:latin typeface="Calibri"/>
                <a:cs typeface="Calibri"/>
              </a:rPr>
              <a:t>relations,</a:t>
            </a:r>
            <a:r>
              <a:rPr sz="2800" b="1" i="1" spc="-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if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and</a:t>
            </a:r>
            <a:r>
              <a:rPr sz="2800" b="1" i="1" spc="-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only</a:t>
            </a:r>
            <a:r>
              <a:rPr sz="2800" b="1" i="1" spc="-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if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given 	</a:t>
            </a:r>
            <a:r>
              <a:rPr sz="2800" b="1" i="1" dirty="0">
                <a:latin typeface="Calibri"/>
                <a:cs typeface="Calibri"/>
              </a:rPr>
              <a:t>join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condition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is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satisfied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denoted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⋈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/>
              <a:t>Join</a:t>
            </a:r>
            <a:r>
              <a:rPr spc="-65" dirty="0"/>
              <a:t> </a:t>
            </a:r>
            <a:r>
              <a:rPr spc="-10" dirty="0"/>
              <a:t>Operations 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5134" y="1115948"/>
            <a:ext cx="1833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EMPLOYEE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3734" y="3159709"/>
            <a:ext cx="1376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SALARY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37068" y="252729"/>
          <a:ext cx="3041015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7005"/>
                <a:gridCol w="1515109"/>
              </a:tblGrid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EMP_CODE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Stephan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Jack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Harry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38490" y="2414904"/>
          <a:ext cx="2771140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7005"/>
                <a:gridCol w="1245234"/>
              </a:tblGrid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EMP_CODE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25000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021448" y="4369130"/>
            <a:ext cx="43535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Operation: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(EMPLOYEE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⋈</a:t>
            </a:r>
            <a:r>
              <a:rPr sz="2400" spc="-100" dirty="0">
                <a:latin typeface="Cambria Math"/>
                <a:cs typeface="Cambria Math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SALARY)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03108" y="4929123"/>
          <a:ext cx="4041775" cy="1584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7005"/>
                <a:gridCol w="1515109"/>
                <a:gridCol w="1001394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EMP_CODE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Stephan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Jack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Harry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25000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60286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60" dirty="0">
                <a:latin typeface="Calibri Light"/>
                <a:cs typeface="Calibri Light"/>
              </a:rPr>
              <a:t>Types</a:t>
            </a:r>
            <a:r>
              <a:rPr sz="4000" spc="-12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of</a:t>
            </a:r>
            <a:r>
              <a:rPr sz="4000" spc="-55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Operation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63514" y="1327150"/>
            <a:ext cx="1729105" cy="872490"/>
            <a:chOff x="5763514" y="1327150"/>
            <a:chExt cx="1729105" cy="872490"/>
          </a:xfrm>
        </p:grpSpPr>
        <p:sp>
          <p:nvSpPr>
            <p:cNvPr id="4" name="object 4"/>
            <p:cNvSpPr/>
            <p:nvPr/>
          </p:nvSpPr>
          <p:spPr>
            <a:xfrm>
              <a:off x="5769864" y="1333500"/>
              <a:ext cx="1716405" cy="859790"/>
            </a:xfrm>
            <a:custGeom>
              <a:avLst/>
              <a:gdLst/>
              <a:ahLst/>
              <a:cxnLst/>
              <a:rect l="l" t="t" r="r" b="b"/>
              <a:pathLst>
                <a:path w="1716404" h="859789">
                  <a:moveTo>
                    <a:pt x="1630044" y="0"/>
                  </a:moveTo>
                  <a:lnTo>
                    <a:pt x="85978" y="0"/>
                  </a:lnTo>
                  <a:lnTo>
                    <a:pt x="52506" y="6754"/>
                  </a:lnTo>
                  <a:lnTo>
                    <a:pt x="25177" y="25177"/>
                  </a:lnTo>
                  <a:lnTo>
                    <a:pt x="6754" y="52506"/>
                  </a:lnTo>
                  <a:lnTo>
                    <a:pt x="0" y="85978"/>
                  </a:lnTo>
                  <a:lnTo>
                    <a:pt x="0" y="773557"/>
                  </a:lnTo>
                  <a:lnTo>
                    <a:pt x="6754" y="807029"/>
                  </a:lnTo>
                  <a:lnTo>
                    <a:pt x="25177" y="834358"/>
                  </a:lnTo>
                  <a:lnTo>
                    <a:pt x="52506" y="852781"/>
                  </a:lnTo>
                  <a:lnTo>
                    <a:pt x="85978" y="859536"/>
                  </a:lnTo>
                  <a:lnTo>
                    <a:pt x="1630044" y="859536"/>
                  </a:lnTo>
                  <a:lnTo>
                    <a:pt x="1663517" y="852781"/>
                  </a:lnTo>
                  <a:lnTo>
                    <a:pt x="1690846" y="834358"/>
                  </a:lnTo>
                  <a:lnTo>
                    <a:pt x="1709269" y="807029"/>
                  </a:lnTo>
                  <a:lnTo>
                    <a:pt x="1716024" y="773557"/>
                  </a:lnTo>
                  <a:lnTo>
                    <a:pt x="1716024" y="85978"/>
                  </a:lnTo>
                  <a:lnTo>
                    <a:pt x="1709269" y="52506"/>
                  </a:lnTo>
                  <a:lnTo>
                    <a:pt x="1690846" y="25177"/>
                  </a:lnTo>
                  <a:lnTo>
                    <a:pt x="1663517" y="6754"/>
                  </a:lnTo>
                  <a:lnTo>
                    <a:pt x="163004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69864" y="1333500"/>
              <a:ext cx="1716405" cy="859790"/>
            </a:xfrm>
            <a:custGeom>
              <a:avLst/>
              <a:gdLst/>
              <a:ahLst/>
              <a:cxnLst/>
              <a:rect l="l" t="t" r="r" b="b"/>
              <a:pathLst>
                <a:path w="1716404" h="859789">
                  <a:moveTo>
                    <a:pt x="0" y="85978"/>
                  </a:moveTo>
                  <a:lnTo>
                    <a:pt x="6754" y="52506"/>
                  </a:lnTo>
                  <a:lnTo>
                    <a:pt x="25177" y="25177"/>
                  </a:lnTo>
                  <a:lnTo>
                    <a:pt x="52506" y="6754"/>
                  </a:lnTo>
                  <a:lnTo>
                    <a:pt x="85978" y="0"/>
                  </a:lnTo>
                  <a:lnTo>
                    <a:pt x="1630044" y="0"/>
                  </a:lnTo>
                  <a:lnTo>
                    <a:pt x="1663517" y="6754"/>
                  </a:lnTo>
                  <a:lnTo>
                    <a:pt x="1690846" y="25177"/>
                  </a:lnTo>
                  <a:lnTo>
                    <a:pt x="1709269" y="52506"/>
                  </a:lnTo>
                  <a:lnTo>
                    <a:pt x="1716024" y="85978"/>
                  </a:lnTo>
                  <a:lnTo>
                    <a:pt x="1716024" y="773557"/>
                  </a:lnTo>
                  <a:lnTo>
                    <a:pt x="1709269" y="807029"/>
                  </a:lnTo>
                  <a:lnTo>
                    <a:pt x="1690846" y="834358"/>
                  </a:lnTo>
                  <a:lnTo>
                    <a:pt x="1663517" y="852781"/>
                  </a:lnTo>
                  <a:lnTo>
                    <a:pt x="1630044" y="859536"/>
                  </a:lnTo>
                  <a:lnTo>
                    <a:pt x="85978" y="859536"/>
                  </a:lnTo>
                  <a:lnTo>
                    <a:pt x="52506" y="852781"/>
                  </a:lnTo>
                  <a:lnTo>
                    <a:pt x="25177" y="834358"/>
                  </a:lnTo>
                  <a:lnTo>
                    <a:pt x="6754" y="807029"/>
                  </a:lnTo>
                  <a:lnTo>
                    <a:pt x="0" y="773557"/>
                  </a:lnTo>
                  <a:lnTo>
                    <a:pt x="0" y="8597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16828" y="1331417"/>
            <a:ext cx="1024255" cy="78613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7650" marR="5080" indent="-234950">
              <a:lnSpc>
                <a:spcPts val="2860"/>
              </a:lnSpc>
              <a:spcBef>
                <a:spcPts val="415"/>
              </a:spcBef>
            </a:pPr>
            <a:r>
              <a:rPr sz="2600" spc="-20" dirty="0">
                <a:solidFill>
                  <a:srgbClr val="FFFFFF"/>
                </a:solidFill>
                <a:latin typeface="Calibri"/>
                <a:cs typeface="Calibri"/>
              </a:rPr>
              <a:t>Natural Join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09306" y="1327150"/>
            <a:ext cx="1730375" cy="872490"/>
            <a:chOff x="7909306" y="1327150"/>
            <a:chExt cx="1730375" cy="872490"/>
          </a:xfrm>
        </p:grpSpPr>
        <p:sp>
          <p:nvSpPr>
            <p:cNvPr id="8" name="object 8"/>
            <p:cNvSpPr/>
            <p:nvPr/>
          </p:nvSpPr>
          <p:spPr>
            <a:xfrm>
              <a:off x="7915656" y="1333500"/>
              <a:ext cx="1717675" cy="859790"/>
            </a:xfrm>
            <a:custGeom>
              <a:avLst/>
              <a:gdLst/>
              <a:ahLst/>
              <a:cxnLst/>
              <a:rect l="l" t="t" r="r" b="b"/>
              <a:pathLst>
                <a:path w="1717675" h="859789">
                  <a:moveTo>
                    <a:pt x="1631569" y="0"/>
                  </a:moveTo>
                  <a:lnTo>
                    <a:pt x="85978" y="0"/>
                  </a:lnTo>
                  <a:lnTo>
                    <a:pt x="52506" y="6754"/>
                  </a:lnTo>
                  <a:lnTo>
                    <a:pt x="25177" y="25177"/>
                  </a:lnTo>
                  <a:lnTo>
                    <a:pt x="6754" y="52506"/>
                  </a:lnTo>
                  <a:lnTo>
                    <a:pt x="0" y="85978"/>
                  </a:lnTo>
                  <a:lnTo>
                    <a:pt x="0" y="773557"/>
                  </a:lnTo>
                  <a:lnTo>
                    <a:pt x="6754" y="807029"/>
                  </a:lnTo>
                  <a:lnTo>
                    <a:pt x="25177" y="834358"/>
                  </a:lnTo>
                  <a:lnTo>
                    <a:pt x="52506" y="852781"/>
                  </a:lnTo>
                  <a:lnTo>
                    <a:pt x="85978" y="859536"/>
                  </a:lnTo>
                  <a:lnTo>
                    <a:pt x="1631569" y="859536"/>
                  </a:lnTo>
                  <a:lnTo>
                    <a:pt x="1665041" y="852781"/>
                  </a:lnTo>
                  <a:lnTo>
                    <a:pt x="1692370" y="834358"/>
                  </a:lnTo>
                  <a:lnTo>
                    <a:pt x="1710793" y="807029"/>
                  </a:lnTo>
                  <a:lnTo>
                    <a:pt x="1717548" y="773557"/>
                  </a:lnTo>
                  <a:lnTo>
                    <a:pt x="1717548" y="85978"/>
                  </a:lnTo>
                  <a:lnTo>
                    <a:pt x="1710793" y="52506"/>
                  </a:lnTo>
                  <a:lnTo>
                    <a:pt x="1692370" y="25177"/>
                  </a:lnTo>
                  <a:lnTo>
                    <a:pt x="1665041" y="6754"/>
                  </a:lnTo>
                  <a:lnTo>
                    <a:pt x="1631569" y="0"/>
                  </a:lnTo>
                  <a:close/>
                </a:path>
              </a:pathLst>
            </a:custGeom>
            <a:solidFill>
              <a:srgbClr val="4DC5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15656" y="1333500"/>
              <a:ext cx="1717675" cy="859790"/>
            </a:xfrm>
            <a:custGeom>
              <a:avLst/>
              <a:gdLst/>
              <a:ahLst/>
              <a:cxnLst/>
              <a:rect l="l" t="t" r="r" b="b"/>
              <a:pathLst>
                <a:path w="1717675" h="859789">
                  <a:moveTo>
                    <a:pt x="0" y="85978"/>
                  </a:moveTo>
                  <a:lnTo>
                    <a:pt x="6754" y="52506"/>
                  </a:lnTo>
                  <a:lnTo>
                    <a:pt x="25177" y="25177"/>
                  </a:lnTo>
                  <a:lnTo>
                    <a:pt x="52506" y="6754"/>
                  </a:lnTo>
                  <a:lnTo>
                    <a:pt x="85978" y="0"/>
                  </a:lnTo>
                  <a:lnTo>
                    <a:pt x="1631569" y="0"/>
                  </a:lnTo>
                  <a:lnTo>
                    <a:pt x="1665041" y="6754"/>
                  </a:lnTo>
                  <a:lnTo>
                    <a:pt x="1692370" y="25177"/>
                  </a:lnTo>
                  <a:lnTo>
                    <a:pt x="1710793" y="52506"/>
                  </a:lnTo>
                  <a:lnTo>
                    <a:pt x="1717548" y="85978"/>
                  </a:lnTo>
                  <a:lnTo>
                    <a:pt x="1717548" y="773557"/>
                  </a:lnTo>
                  <a:lnTo>
                    <a:pt x="1710793" y="807029"/>
                  </a:lnTo>
                  <a:lnTo>
                    <a:pt x="1692370" y="834358"/>
                  </a:lnTo>
                  <a:lnTo>
                    <a:pt x="1665041" y="852781"/>
                  </a:lnTo>
                  <a:lnTo>
                    <a:pt x="1631569" y="859536"/>
                  </a:lnTo>
                  <a:lnTo>
                    <a:pt x="85978" y="859536"/>
                  </a:lnTo>
                  <a:lnTo>
                    <a:pt x="52506" y="852781"/>
                  </a:lnTo>
                  <a:lnTo>
                    <a:pt x="25177" y="834358"/>
                  </a:lnTo>
                  <a:lnTo>
                    <a:pt x="6754" y="807029"/>
                  </a:lnTo>
                  <a:lnTo>
                    <a:pt x="0" y="773557"/>
                  </a:lnTo>
                  <a:lnTo>
                    <a:pt x="0" y="8597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071484" y="1513458"/>
            <a:ext cx="14084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FFFFFF"/>
                </a:solidFill>
                <a:latin typeface="Calibri"/>
                <a:cs typeface="Calibri"/>
              </a:rPr>
              <a:t>Outer</a:t>
            </a:r>
            <a:r>
              <a:rPr sz="2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81518" y="2186685"/>
            <a:ext cx="1558290" cy="1085850"/>
            <a:chOff x="8081518" y="2186685"/>
            <a:chExt cx="1558290" cy="1085850"/>
          </a:xfrm>
        </p:grpSpPr>
        <p:sp>
          <p:nvSpPr>
            <p:cNvPr id="12" name="object 12"/>
            <p:cNvSpPr/>
            <p:nvPr/>
          </p:nvSpPr>
          <p:spPr>
            <a:xfrm>
              <a:off x="8087868" y="2193035"/>
              <a:ext cx="172085" cy="643890"/>
            </a:xfrm>
            <a:custGeom>
              <a:avLst/>
              <a:gdLst/>
              <a:ahLst/>
              <a:cxnLst/>
              <a:rect l="l" t="t" r="r" b="b"/>
              <a:pathLst>
                <a:path w="172084" h="643889">
                  <a:moveTo>
                    <a:pt x="0" y="0"/>
                  </a:moveTo>
                  <a:lnTo>
                    <a:pt x="0" y="643889"/>
                  </a:lnTo>
                  <a:lnTo>
                    <a:pt x="171703" y="643889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58556" y="2407919"/>
              <a:ext cx="1374775" cy="858519"/>
            </a:xfrm>
            <a:custGeom>
              <a:avLst/>
              <a:gdLst/>
              <a:ahLst/>
              <a:cxnLst/>
              <a:rect l="l" t="t" r="r" b="b"/>
              <a:pathLst>
                <a:path w="1374775" h="858520">
                  <a:moveTo>
                    <a:pt x="0" y="85851"/>
                  </a:moveTo>
                  <a:lnTo>
                    <a:pt x="6734" y="52399"/>
                  </a:lnTo>
                  <a:lnTo>
                    <a:pt x="25114" y="25114"/>
                  </a:lnTo>
                  <a:lnTo>
                    <a:pt x="52399" y="6734"/>
                  </a:lnTo>
                  <a:lnTo>
                    <a:pt x="85851" y="0"/>
                  </a:lnTo>
                  <a:lnTo>
                    <a:pt x="1288796" y="0"/>
                  </a:lnTo>
                  <a:lnTo>
                    <a:pt x="1322248" y="6734"/>
                  </a:lnTo>
                  <a:lnTo>
                    <a:pt x="1349533" y="25114"/>
                  </a:lnTo>
                  <a:lnTo>
                    <a:pt x="1367913" y="52399"/>
                  </a:lnTo>
                  <a:lnTo>
                    <a:pt x="1374648" y="85851"/>
                  </a:lnTo>
                  <a:lnTo>
                    <a:pt x="1374648" y="772159"/>
                  </a:lnTo>
                  <a:lnTo>
                    <a:pt x="1367913" y="805612"/>
                  </a:lnTo>
                  <a:lnTo>
                    <a:pt x="1349533" y="832897"/>
                  </a:lnTo>
                  <a:lnTo>
                    <a:pt x="1322248" y="851277"/>
                  </a:lnTo>
                  <a:lnTo>
                    <a:pt x="1288796" y="858012"/>
                  </a:lnTo>
                  <a:lnTo>
                    <a:pt x="85851" y="858012"/>
                  </a:lnTo>
                  <a:lnTo>
                    <a:pt x="52399" y="851277"/>
                  </a:lnTo>
                  <a:lnTo>
                    <a:pt x="25114" y="832897"/>
                  </a:lnTo>
                  <a:lnTo>
                    <a:pt x="6734" y="805612"/>
                  </a:lnTo>
                  <a:lnTo>
                    <a:pt x="0" y="772159"/>
                  </a:lnTo>
                  <a:lnTo>
                    <a:pt x="0" y="85851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329930" y="2452827"/>
            <a:ext cx="1234440" cy="699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645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Left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Outer</a:t>
            </a:r>
            <a:endParaRPr sz="2300">
              <a:latin typeface="Calibri"/>
              <a:cs typeface="Calibri"/>
            </a:endParaRPr>
          </a:p>
          <a:p>
            <a:pPr algn="ctr">
              <a:lnSpc>
                <a:spcPts val="2645"/>
              </a:lnSpc>
            </a:pPr>
            <a:r>
              <a:rPr sz="2300" spc="-20" dirty="0">
                <a:latin typeface="Calibri"/>
                <a:cs typeface="Calibri"/>
              </a:rPr>
              <a:t>Join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81518" y="2186685"/>
            <a:ext cx="1558290" cy="2159000"/>
            <a:chOff x="8081518" y="2186685"/>
            <a:chExt cx="1558290" cy="2159000"/>
          </a:xfrm>
        </p:grpSpPr>
        <p:sp>
          <p:nvSpPr>
            <p:cNvPr id="16" name="object 16"/>
            <p:cNvSpPr/>
            <p:nvPr/>
          </p:nvSpPr>
          <p:spPr>
            <a:xfrm>
              <a:off x="8087868" y="2193035"/>
              <a:ext cx="172085" cy="1717039"/>
            </a:xfrm>
            <a:custGeom>
              <a:avLst/>
              <a:gdLst/>
              <a:ahLst/>
              <a:cxnLst/>
              <a:rect l="l" t="t" r="r" b="b"/>
              <a:pathLst>
                <a:path w="172084" h="1717039">
                  <a:moveTo>
                    <a:pt x="0" y="0"/>
                  </a:moveTo>
                  <a:lnTo>
                    <a:pt x="0" y="1717039"/>
                  </a:lnTo>
                  <a:lnTo>
                    <a:pt x="171703" y="1717039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58556" y="3480815"/>
              <a:ext cx="1374775" cy="858519"/>
            </a:xfrm>
            <a:custGeom>
              <a:avLst/>
              <a:gdLst/>
              <a:ahLst/>
              <a:cxnLst/>
              <a:rect l="l" t="t" r="r" b="b"/>
              <a:pathLst>
                <a:path w="1374775" h="858520">
                  <a:moveTo>
                    <a:pt x="0" y="85851"/>
                  </a:moveTo>
                  <a:lnTo>
                    <a:pt x="6734" y="52399"/>
                  </a:lnTo>
                  <a:lnTo>
                    <a:pt x="25114" y="25114"/>
                  </a:lnTo>
                  <a:lnTo>
                    <a:pt x="52399" y="6734"/>
                  </a:lnTo>
                  <a:lnTo>
                    <a:pt x="85851" y="0"/>
                  </a:lnTo>
                  <a:lnTo>
                    <a:pt x="1288796" y="0"/>
                  </a:lnTo>
                  <a:lnTo>
                    <a:pt x="1322248" y="6734"/>
                  </a:lnTo>
                  <a:lnTo>
                    <a:pt x="1349533" y="25114"/>
                  </a:lnTo>
                  <a:lnTo>
                    <a:pt x="1367913" y="52399"/>
                  </a:lnTo>
                  <a:lnTo>
                    <a:pt x="1374648" y="85851"/>
                  </a:lnTo>
                  <a:lnTo>
                    <a:pt x="1374648" y="772160"/>
                  </a:lnTo>
                  <a:lnTo>
                    <a:pt x="1367913" y="805612"/>
                  </a:lnTo>
                  <a:lnTo>
                    <a:pt x="1349533" y="832897"/>
                  </a:lnTo>
                  <a:lnTo>
                    <a:pt x="1322248" y="851277"/>
                  </a:lnTo>
                  <a:lnTo>
                    <a:pt x="1288796" y="858012"/>
                  </a:lnTo>
                  <a:lnTo>
                    <a:pt x="85851" y="858012"/>
                  </a:lnTo>
                  <a:lnTo>
                    <a:pt x="52399" y="851277"/>
                  </a:lnTo>
                  <a:lnTo>
                    <a:pt x="25114" y="832897"/>
                  </a:lnTo>
                  <a:lnTo>
                    <a:pt x="6734" y="805612"/>
                  </a:lnTo>
                  <a:lnTo>
                    <a:pt x="0" y="772160"/>
                  </a:lnTo>
                  <a:lnTo>
                    <a:pt x="0" y="85851"/>
                  </a:lnTo>
                  <a:close/>
                </a:path>
              </a:pathLst>
            </a:custGeom>
            <a:ln w="12700">
              <a:solidFill>
                <a:srgbClr val="4DC5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322309" y="3526663"/>
            <a:ext cx="1247775" cy="698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ts val="2645"/>
              </a:lnSpc>
              <a:spcBef>
                <a:spcPts val="105"/>
              </a:spcBef>
            </a:pPr>
            <a:r>
              <a:rPr sz="2300" spc="-10" dirty="0">
                <a:latin typeface="Calibri"/>
                <a:cs typeface="Calibri"/>
              </a:rPr>
              <a:t>Right</a:t>
            </a:r>
            <a:endParaRPr sz="2300">
              <a:latin typeface="Calibri"/>
              <a:cs typeface="Calibri"/>
            </a:endParaRPr>
          </a:p>
          <a:p>
            <a:pPr algn="ctr">
              <a:lnSpc>
                <a:spcPts val="2645"/>
              </a:lnSpc>
            </a:pPr>
            <a:r>
              <a:rPr sz="2300" dirty="0">
                <a:latin typeface="Calibri"/>
                <a:cs typeface="Calibri"/>
              </a:rPr>
              <a:t>Outer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Join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087868" y="2193035"/>
            <a:ext cx="1545590" cy="3218815"/>
          </a:xfrm>
          <a:custGeom>
            <a:avLst/>
            <a:gdLst/>
            <a:ahLst/>
            <a:cxnLst/>
            <a:rect l="l" t="t" r="r" b="b"/>
            <a:pathLst>
              <a:path w="1545590" h="3218815">
                <a:moveTo>
                  <a:pt x="0" y="0"/>
                </a:moveTo>
                <a:lnTo>
                  <a:pt x="0" y="2790190"/>
                </a:lnTo>
                <a:lnTo>
                  <a:pt x="171703" y="2790190"/>
                </a:lnTo>
              </a:path>
              <a:path w="1545590" h="3218815">
                <a:moveTo>
                  <a:pt x="170687" y="2446528"/>
                </a:moveTo>
                <a:lnTo>
                  <a:pt x="177422" y="2413075"/>
                </a:lnTo>
                <a:lnTo>
                  <a:pt x="195802" y="2385790"/>
                </a:lnTo>
                <a:lnTo>
                  <a:pt x="223087" y="2367410"/>
                </a:lnTo>
                <a:lnTo>
                  <a:pt x="256539" y="2360676"/>
                </a:lnTo>
                <a:lnTo>
                  <a:pt x="1459483" y="2360676"/>
                </a:lnTo>
                <a:lnTo>
                  <a:pt x="1492936" y="2367410"/>
                </a:lnTo>
                <a:lnTo>
                  <a:pt x="1520221" y="2385790"/>
                </a:lnTo>
                <a:lnTo>
                  <a:pt x="1538601" y="2413075"/>
                </a:lnTo>
                <a:lnTo>
                  <a:pt x="1545335" y="2446528"/>
                </a:lnTo>
                <a:lnTo>
                  <a:pt x="1545335" y="3132836"/>
                </a:lnTo>
                <a:lnTo>
                  <a:pt x="1538601" y="3166288"/>
                </a:lnTo>
                <a:lnTo>
                  <a:pt x="1520221" y="3193573"/>
                </a:lnTo>
                <a:lnTo>
                  <a:pt x="1492936" y="3211953"/>
                </a:lnTo>
                <a:lnTo>
                  <a:pt x="1459483" y="3218688"/>
                </a:lnTo>
                <a:lnTo>
                  <a:pt x="256539" y="3218688"/>
                </a:lnTo>
                <a:lnTo>
                  <a:pt x="223087" y="3211953"/>
                </a:lnTo>
                <a:lnTo>
                  <a:pt x="195802" y="3193573"/>
                </a:lnTo>
                <a:lnTo>
                  <a:pt x="177422" y="3166288"/>
                </a:lnTo>
                <a:lnTo>
                  <a:pt x="170687" y="3132836"/>
                </a:lnTo>
                <a:lnTo>
                  <a:pt x="170687" y="2446528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345169" y="4600194"/>
            <a:ext cx="1203960" cy="6985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67665" marR="5080" indent="-355600">
              <a:lnSpc>
                <a:spcPts val="2530"/>
              </a:lnSpc>
              <a:spcBef>
                <a:spcPts val="380"/>
              </a:spcBef>
            </a:pPr>
            <a:r>
              <a:rPr sz="2300" dirty="0">
                <a:latin typeface="Calibri"/>
                <a:cs typeface="Calibri"/>
              </a:rPr>
              <a:t>Full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Outer Join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055097" y="1327150"/>
            <a:ext cx="1730375" cy="872490"/>
            <a:chOff x="10055097" y="1327150"/>
            <a:chExt cx="1730375" cy="872490"/>
          </a:xfrm>
        </p:grpSpPr>
        <p:sp>
          <p:nvSpPr>
            <p:cNvPr id="22" name="object 22"/>
            <p:cNvSpPr/>
            <p:nvPr/>
          </p:nvSpPr>
          <p:spPr>
            <a:xfrm>
              <a:off x="10061447" y="1333500"/>
              <a:ext cx="1717675" cy="859790"/>
            </a:xfrm>
            <a:custGeom>
              <a:avLst/>
              <a:gdLst/>
              <a:ahLst/>
              <a:cxnLst/>
              <a:rect l="l" t="t" r="r" b="b"/>
              <a:pathLst>
                <a:path w="1717675" h="859789">
                  <a:moveTo>
                    <a:pt x="1631569" y="0"/>
                  </a:moveTo>
                  <a:lnTo>
                    <a:pt x="85978" y="0"/>
                  </a:lnTo>
                  <a:lnTo>
                    <a:pt x="52506" y="6754"/>
                  </a:lnTo>
                  <a:lnTo>
                    <a:pt x="25177" y="25177"/>
                  </a:lnTo>
                  <a:lnTo>
                    <a:pt x="6754" y="52506"/>
                  </a:lnTo>
                  <a:lnTo>
                    <a:pt x="0" y="85978"/>
                  </a:lnTo>
                  <a:lnTo>
                    <a:pt x="0" y="773557"/>
                  </a:lnTo>
                  <a:lnTo>
                    <a:pt x="6754" y="807029"/>
                  </a:lnTo>
                  <a:lnTo>
                    <a:pt x="25177" y="834358"/>
                  </a:lnTo>
                  <a:lnTo>
                    <a:pt x="52506" y="852781"/>
                  </a:lnTo>
                  <a:lnTo>
                    <a:pt x="85978" y="859536"/>
                  </a:lnTo>
                  <a:lnTo>
                    <a:pt x="1631569" y="859536"/>
                  </a:lnTo>
                  <a:lnTo>
                    <a:pt x="1665041" y="852781"/>
                  </a:lnTo>
                  <a:lnTo>
                    <a:pt x="1692370" y="834358"/>
                  </a:lnTo>
                  <a:lnTo>
                    <a:pt x="1710793" y="807029"/>
                  </a:lnTo>
                  <a:lnTo>
                    <a:pt x="1717548" y="773557"/>
                  </a:lnTo>
                  <a:lnTo>
                    <a:pt x="1717548" y="85978"/>
                  </a:lnTo>
                  <a:lnTo>
                    <a:pt x="1710793" y="52506"/>
                  </a:lnTo>
                  <a:lnTo>
                    <a:pt x="1692370" y="25177"/>
                  </a:lnTo>
                  <a:lnTo>
                    <a:pt x="1665041" y="6754"/>
                  </a:lnTo>
                  <a:lnTo>
                    <a:pt x="1631569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61447" y="1333500"/>
              <a:ext cx="1717675" cy="859790"/>
            </a:xfrm>
            <a:custGeom>
              <a:avLst/>
              <a:gdLst/>
              <a:ahLst/>
              <a:cxnLst/>
              <a:rect l="l" t="t" r="r" b="b"/>
              <a:pathLst>
                <a:path w="1717675" h="859789">
                  <a:moveTo>
                    <a:pt x="0" y="85978"/>
                  </a:moveTo>
                  <a:lnTo>
                    <a:pt x="6754" y="52506"/>
                  </a:lnTo>
                  <a:lnTo>
                    <a:pt x="25177" y="25177"/>
                  </a:lnTo>
                  <a:lnTo>
                    <a:pt x="52506" y="6754"/>
                  </a:lnTo>
                  <a:lnTo>
                    <a:pt x="85978" y="0"/>
                  </a:lnTo>
                  <a:lnTo>
                    <a:pt x="1631569" y="0"/>
                  </a:lnTo>
                  <a:lnTo>
                    <a:pt x="1665041" y="6754"/>
                  </a:lnTo>
                  <a:lnTo>
                    <a:pt x="1692370" y="25177"/>
                  </a:lnTo>
                  <a:lnTo>
                    <a:pt x="1710793" y="52506"/>
                  </a:lnTo>
                  <a:lnTo>
                    <a:pt x="1717548" y="85978"/>
                  </a:lnTo>
                  <a:lnTo>
                    <a:pt x="1717548" y="773557"/>
                  </a:lnTo>
                  <a:lnTo>
                    <a:pt x="1710793" y="807029"/>
                  </a:lnTo>
                  <a:lnTo>
                    <a:pt x="1692370" y="834358"/>
                  </a:lnTo>
                  <a:lnTo>
                    <a:pt x="1665041" y="852781"/>
                  </a:lnTo>
                  <a:lnTo>
                    <a:pt x="1631569" y="859536"/>
                  </a:lnTo>
                  <a:lnTo>
                    <a:pt x="85978" y="859536"/>
                  </a:lnTo>
                  <a:lnTo>
                    <a:pt x="52506" y="852781"/>
                  </a:lnTo>
                  <a:lnTo>
                    <a:pt x="25177" y="834358"/>
                  </a:lnTo>
                  <a:lnTo>
                    <a:pt x="6754" y="807029"/>
                  </a:lnTo>
                  <a:lnTo>
                    <a:pt x="0" y="773557"/>
                  </a:lnTo>
                  <a:lnTo>
                    <a:pt x="0" y="8597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317226" y="1513458"/>
            <a:ext cx="120840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FFFFFF"/>
                </a:solidFill>
                <a:latin typeface="Calibri"/>
                <a:cs typeface="Calibri"/>
              </a:rPr>
              <a:t>Equi</a:t>
            </a:r>
            <a:r>
              <a:rPr sz="2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4479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Natural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30848" y="2219070"/>
            <a:ext cx="5322570" cy="23996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84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natural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set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of 	</a:t>
            </a:r>
            <a:r>
              <a:rPr sz="3200" b="1" i="1" dirty="0">
                <a:latin typeface="Calibri"/>
                <a:cs typeface="Calibri"/>
              </a:rPr>
              <a:t>tuples</a:t>
            </a:r>
            <a:r>
              <a:rPr sz="3200" b="1" i="1" spc="-4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of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all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combinations</a:t>
            </a:r>
            <a:r>
              <a:rPr sz="3200" b="1" i="1" spc="-5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25" dirty="0">
                <a:latin typeface="Calibri"/>
                <a:cs typeface="Calibri"/>
              </a:rPr>
              <a:t> </a:t>
            </a:r>
            <a:r>
              <a:rPr sz="3200" b="1" i="1" spc="-50" dirty="0">
                <a:latin typeface="Calibri"/>
                <a:cs typeface="Calibri"/>
              </a:rPr>
              <a:t>R 	</a:t>
            </a:r>
            <a:r>
              <a:rPr sz="3200" b="1" i="1" dirty="0">
                <a:latin typeface="Calibri"/>
                <a:cs typeface="Calibri"/>
              </a:rPr>
              <a:t>and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S</a:t>
            </a:r>
            <a:r>
              <a:rPr sz="3200" b="1" i="1" spc="-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that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are</a:t>
            </a:r>
            <a:r>
              <a:rPr sz="3200" b="1" i="1" spc="-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equal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on</a:t>
            </a:r>
            <a:r>
              <a:rPr sz="3200" b="1" i="1" spc="-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their 	</a:t>
            </a:r>
            <a:r>
              <a:rPr sz="3200" b="1" i="1" dirty="0">
                <a:latin typeface="Calibri"/>
                <a:cs typeface="Calibri"/>
              </a:rPr>
              <a:t>common</a:t>
            </a:r>
            <a:r>
              <a:rPr sz="3200" b="1" i="1" spc="-6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attribute</a:t>
            </a:r>
            <a:r>
              <a:rPr sz="3200" b="1" i="1" spc="-5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names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denoted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mbria Math"/>
                <a:cs typeface="Cambria Math"/>
              </a:rPr>
              <a:t>⋈</a:t>
            </a:r>
            <a:r>
              <a:rPr sz="3200" spc="-2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/>
              <a:t>Natural</a:t>
            </a:r>
            <a:r>
              <a:rPr spc="-185" dirty="0"/>
              <a:t> </a:t>
            </a:r>
            <a:r>
              <a:rPr spc="-20" dirty="0"/>
              <a:t>Join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5134" y="1115948"/>
            <a:ext cx="1833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EMPLOYEE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3734" y="3159709"/>
            <a:ext cx="1376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SALARY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37068" y="252729"/>
          <a:ext cx="3041015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7005"/>
                <a:gridCol w="1515109"/>
              </a:tblGrid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EMP_CODE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Stephan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Jack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Harry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38490" y="2414904"/>
          <a:ext cx="2771140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7005"/>
                <a:gridCol w="1245234"/>
              </a:tblGrid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EMP_CODE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103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25000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175375" y="4142358"/>
            <a:ext cx="526288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INPUT: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∏EMP_NAME,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SALARY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(EMPLOYEE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Cambria Math"/>
                <a:cs typeface="Cambria Math"/>
              </a:rPr>
              <a:t>⋈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libri"/>
                <a:cs typeface="Calibri"/>
              </a:rPr>
              <a:t>SALARY)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OUTPUT: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321420" y="4891785"/>
          <a:ext cx="2604770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5110"/>
                <a:gridCol w="1001394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Stephan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Jack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Harry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25000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125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1993468"/>
            <a:ext cx="5128895" cy="23971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outer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operation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 </a:t>
            </a:r>
            <a:r>
              <a:rPr sz="3200" b="1" i="1" dirty="0">
                <a:latin typeface="Calibri"/>
                <a:cs typeface="Calibri"/>
              </a:rPr>
              <a:t>extension</a:t>
            </a:r>
            <a:r>
              <a:rPr sz="3200" b="1" i="1" spc="-8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of</a:t>
            </a:r>
            <a:r>
              <a:rPr sz="3200" b="1" i="1" spc="-7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the</a:t>
            </a:r>
            <a:r>
              <a:rPr sz="3200" b="1" i="1" spc="-75" dirty="0">
                <a:latin typeface="Calibri"/>
                <a:cs typeface="Calibri"/>
              </a:rPr>
              <a:t> </a:t>
            </a:r>
            <a:r>
              <a:rPr sz="3200" b="1" i="1" spc="-20" dirty="0">
                <a:latin typeface="Calibri"/>
                <a:cs typeface="Calibri"/>
              </a:rPr>
              <a:t>join </a:t>
            </a:r>
            <a:r>
              <a:rPr sz="3200" b="1" i="1" spc="-10" dirty="0">
                <a:latin typeface="Calibri"/>
                <a:cs typeface="Calibri"/>
              </a:rPr>
              <a:t>operation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240029" marR="1303655" indent="-227329">
              <a:lnSpc>
                <a:spcPts val="346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deal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spc="-20" dirty="0">
                <a:latin typeface="Calibri"/>
                <a:cs typeface="Calibri"/>
              </a:rPr>
              <a:t>with 	</a:t>
            </a:r>
            <a:r>
              <a:rPr sz="3200" b="1" i="1" dirty="0">
                <a:latin typeface="Calibri"/>
                <a:cs typeface="Calibri"/>
              </a:rPr>
              <a:t>missing</a:t>
            </a:r>
            <a:r>
              <a:rPr sz="3200" b="1" i="1" spc="-4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information.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12534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64067" y="-4190"/>
            <a:ext cx="1833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EMPLOYEE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1350" y="3573526"/>
            <a:ext cx="2640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25" dirty="0">
                <a:latin typeface="Calibri"/>
                <a:cs typeface="Calibri"/>
              </a:rPr>
              <a:t>FACT_WORKERS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72095" y="685037"/>
          <a:ext cx="4770755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5110"/>
                <a:gridCol w="1494155"/>
                <a:gridCol w="1672589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Civil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line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Muzaffarabad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Park</a:t>
                      </a:r>
                      <a:r>
                        <a:rPr sz="20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Kel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Haider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M.G.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Lahore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Hyderabad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679563" y="4179061"/>
          <a:ext cx="4463415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475"/>
                <a:gridCol w="1494155"/>
                <a:gridCol w="1365249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BRANCH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Infosys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Wipro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Ayyaz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HCL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TCS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12534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634" y="935888"/>
            <a:ext cx="5905500" cy="10439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10" dirty="0">
                <a:latin typeface="Calibri"/>
                <a:cs typeface="Calibri"/>
              </a:rPr>
              <a:t>INPUT: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(EMPLOYEE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⋈</a:t>
            </a:r>
            <a:r>
              <a:rPr sz="2800" spc="-7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FACT_WORKERS)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10" dirty="0">
                <a:latin typeface="Calibri"/>
                <a:cs typeface="Calibri"/>
              </a:rPr>
              <a:t>OUTPUT: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1896" y="2290191"/>
          <a:ext cx="6955790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475"/>
                <a:gridCol w="1494155"/>
                <a:gridCol w="1672590"/>
                <a:gridCol w="1141729"/>
                <a:gridCol w="1043304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BRANCH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Civil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line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Muzaffarabad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Infosys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Park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Kel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Wipro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Hyderabad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TCS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12534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Types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2044141"/>
            <a:ext cx="4674235" cy="22980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86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An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outer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basically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three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types:</a:t>
            </a:r>
            <a:endParaRPr sz="32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Calibri"/>
                <a:cs typeface="Calibri"/>
              </a:rPr>
              <a:t>Left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join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Calibri"/>
                <a:cs typeface="Calibri"/>
              </a:rPr>
              <a:t>Right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join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Calibri"/>
                <a:cs typeface="Calibri"/>
              </a:rPr>
              <a:t>Full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join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3017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Left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1052017"/>
            <a:ext cx="5124450" cy="428244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1300" marR="49530" indent="-228600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Left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contains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b="1" i="1" dirty="0">
                <a:latin typeface="Calibri"/>
                <a:cs typeface="Calibri"/>
              </a:rPr>
              <a:t>set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of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tuples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of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all </a:t>
            </a:r>
            <a:r>
              <a:rPr sz="3200" b="1" i="1" dirty="0">
                <a:latin typeface="Calibri"/>
                <a:cs typeface="Calibri"/>
              </a:rPr>
              <a:t>combinations</a:t>
            </a:r>
            <a:r>
              <a:rPr sz="3200" b="1" i="1" spc="-4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R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and</a:t>
            </a:r>
            <a:r>
              <a:rPr sz="3200" b="1" i="1" spc="-2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S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spc="-20" dirty="0">
                <a:latin typeface="Calibri"/>
                <a:cs typeface="Calibri"/>
              </a:rPr>
              <a:t>that </a:t>
            </a:r>
            <a:r>
              <a:rPr sz="3200" b="1" i="1" dirty="0">
                <a:latin typeface="Calibri"/>
                <a:cs typeface="Calibri"/>
              </a:rPr>
              <a:t>are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equal</a:t>
            </a:r>
            <a:r>
              <a:rPr sz="3200" b="1" i="1" spc="-2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on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their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common </a:t>
            </a:r>
            <a:r>
              <a:rPr sz="3200" b="1" i="1" dirty="0">
                <a:latin typeface="Calibri"/>
                <a:cs typeface="Calibri"/>
              </a:rPr>
              <a:t>attribute</a:t>
            </a:r>
            <a:r>
              <a:rPr sz="3200" b="1" i="1" spc="-8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names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left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tuples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R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have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no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matching</a:t>
            </a:r>
            <a:r>
              <a:rPr sz="3200" b="1" i="1" spc="-5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tuples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S</a:t>
            </a:r>
            <a:r>
              <a:rPr sz="3200" spc="-2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denoted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355" dirty="0">
                <a:latin typeface="Cambria Math"/>
                <a:cs typeface="Cambria Math"/>
              </a:rPr>
              <a:t>𝔴</a:t>
            </a:r>
            <a:r>
              <a:rPr sz="3200" spc="35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01752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Left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64067" y="-4190"/>
            <a:ext cx="1833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EMPLOYEE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1350" y="3573526"/>
            <a:ext cx="2640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25" dirty="0">
                <a:latin typeface="Calibri"/>
                <a:cs typeface="Calibri"/>
              </a:rPr>
              <a:t>FACT_WORKERS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72095" y="685037"/>
          <a:ext cx="4770755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5110"/>
                <a:gridCol w="1494155"/>
                <a:gridCol w="1672589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Civil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line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Muzaffarabad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Park</a:t>
                      </a:r>
                      <a:r>
                        <a:rPr sz="20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Kel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Haider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M.G.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Lahore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Hyderabad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679563" y="4179061"/>
          <a:ext cx="4463415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475"/>
                <a:gridCol w="1494155"/>
                <a:gridCol w="1365249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BRANCH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Infosys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Wipro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Ayyaz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HCL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TCS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935888"/>
            <a:ext cx="10677525" cy="302768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4945380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4945380" algn="l"/>
              </a:tabLst>
            </a:pPr>
            <a:r>
              <a:rPr sz="2800" b="1" spc="-10" dirty="0">
                <a:latin typeface="Calibri"/>
                <a:cs typeface="Calibri"/>
              </a:rPr>
              <a:t>INPUT: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(EMPLOYEE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720" dirty="0">
                <a:latin typeface="Cambria Math"/>
                <a:cs typeface="Cambria Math"/>
              </a:rPr>
              <a:t>𝔴</a:t>
            </a:r>
            <a:r>
              <a:rPr sz="2800" spc="-7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FACT_WORKERS)</a:t>
            </a:r>
            <a:endParaRPr sz="2800">
              <a:latin typeface="Calibri"/>
              <a:cs typeface="Calibri"/>
            </a:endParaRPr>
          </a:p>
          <a:p>
            <a:pPr marL="4945380" indent="-2279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4945380" algn="l"/>
              </a:tabLst>
            </a:pPr>
            <a:r>
              <a:rPr sz="2800" b="1" spc="-10" dirty="0">
                <a:latin typeface="Calibri"/>
                <a:cs typeface="Calibri"/>
              </a:rPr>
              <a:t>OUTPUT: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800">
              <a:latin typeface="Calibri"/>
              <a:cs typeface="Calibri"/>
            </a:endParaRPr>
          </a:p>
          <a:p>
            <a:pPr marL="12700" marR="7665084">
              <a:lnSpc>
                <a:spcPts val="4320"/>
              </a:lnSpc>
            </a:pPr>
            <a:r>
              <a:rPr sz="4000" dirty="0">
                <a:latin typeface="Calibri Light"/>
                <a:cs typeface="Calibri Light"/>
              </a:rPr>
              <a:t>Left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71896" y="2290191"/>
          <a:ext cx="6955790" cy="1979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475"/>
                <a:gridCol w="1494155"/>
                <a:gridCol w="1672590"/>
                <a:gridCol w="1141729"/>
                <a:gridCol w="1043304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BRANCH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Civil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line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Muzaffarabad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Infosys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Park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Kel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Wipro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Hyderabad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TCS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Haider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M.G.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Lahore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NULL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NULL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3286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Right</a:t>
            </a:r>
            <a:r>
              <a:rPr sz="4000" spc="-8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8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1052017"/>
            <a:ext cx="5084445" cy="428244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1300" marR="9525" indent="-228600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Right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outer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contains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b="1" i="1" dirty="0">
                <a:latin typeface="Calibri"/>
                <a:cs typeface="Calibri"/>
              </a:rPr>
              <a:t>set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of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tuples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of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all </a:t>
            </a:r>
            <a:r>
              <a:rPr sz="3200" b="1" i="1" dirty="0">
                <a:latin typeface="Calibri"/>
                <a:cs typeface="Calibri"/>
              </a:rPr>
              <a:t>combinations</a:t>
            </a:r>
            <a:r>
              <a:rPr sz="3200" b="1" i="1" spc="-4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R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and</a:t>
            </a:r>
            <a:r>
              <a:rPr sz="3200" b="1" i="1" spc="-2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S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spc="-20" dirty="0">
                <a:latin typeface="Calibri"/>
                <a:cs typeface="Calibri"/>
              </a:rPr>
              <a:t>that </a:t>
            </a:r>
            <a:r>
              <a:rPr sz="3200" b="1" i="1" dirty="0">
                <a:latin typeface="Calibri"/>
                <a:cs typeface="Calibri"/>
              </a:rPr>
              <a:t>are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equal</a:t>
            </a:r>
            <a:r>
              <a:rPr sz="3200" b="1" i="1" spc="-2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on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their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common </a:t>
            </a:r>
            <a:r>
              <a:rPr sz="3200" b="1" i="1" dirty="0">
                <a:latin typeface="Calibri"/>
                <a:cs typeface="Calibri"/>
              </a:rPr>
              <a:t>attribute</a:t>
            </a:r>
            <a:r>
              <a:rPr sz="3200" b="1" i="1" spc="-8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names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right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outer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tuples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S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have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no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matching</a:t>
            </a:r>
            <a:r>
              <a:rPr sz="3200" b="1" i="1" spc="-5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tuples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R</a:t>
            </a:r>
            <a:r>
              <a:rPr sz="3200" spc="-2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denoted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35" dirty="0">
                <a:latin typeface="Cambria Math"/>
                <a:cs typeface="Cambria Math"/>
              </a:rPr>
              <a:t>⟖</a:t>
            </a:r>
            <a:r>
              <a:rPr sz="3200" spc="-3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28612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Right</a:t>
            </a:r>
            <a:r>
              <a:rPr sz="4000" spc="-8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8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64067" y="-4190"/>
            <a:ext cx="1833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EMPLOYEE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1350" y="3573526"/>
            <a:ext cx="2640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25" dirty="0">
                <a:latin typeface="Calibri"/>
                <a:cs typeface="Calibri"/>
              </a:rPr>
              <a:t>FACT_WORKERS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72095" y="685037"/>
          <a:ext cx="4770755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5110"/>
                <a:gridCol w="1494155"/>
                <a:gridCol w="1672589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Civil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line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Muzaffarabad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Park</a:t>
                      </a:r>
                      <a:r>
                        <a:rPr sz="20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Kel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Haider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M.G.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Lahore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Hyderabad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679563" y="4179061"/>
          <a:ext cx="4463415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475"/>
                <a:gridCol w="1494155"/>
                <a:gridCol w="1365249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BRANCH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Infosys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Wipro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Ayyaz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HCL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TCS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935888"/>
            <a:ext cx="10677525" cy="302768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4945380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4945380" algn="l"/>
              </a:tabLst>
            </a:pPr>
            <a:r>
              <a:rPr sz="2800" b="1" spc="-10" dirty="0">
                <a:latin typeface="Calibri"/>
                <a:cs typeface="Calibri"/>
              </a:rPr>
              <a:t>INPUT: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(EMPLOYEE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⟖</a:t>
            </a:r>
            <a:r>
              <a:rPr sz="2800" spc="-7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FACT_WORKERS)</a:t>
            </a:r>
            <a:endParaRPr sz="2800">
              <a:latin typeface="Calibri"/>
              <a:cs typeface="Calibri"/>
            </a:endParaRPr>
          </a:p>
          <a:p>
            <a:pPr marL="4945380" indent="-2279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4945380" algn="l"/>
              </a:tabLst>
            </a:pPr>
            <a:r>
              <a:rPr sz="2800" b="1" spc="-10" dirty="0">
                <a:latin typeface="Calibri"/>
                <a:cs typeface="Calibri"/>
              </a:rPr>
              <a:t>OUTPUT: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800">
              <a:latin typeface="Calibri"/>
              <a:cs typeface="Calibri"/>
            </a:endParaRPr>
          </a:p>
          <a:p>
            <a:pPr marL="12700" marR="7395845">
              <a:lnSpc>
                <a:spcPts val="4320"/>
              </a:lnSpc>
            </a:pPr>
            <a:r>
              <a:rPr sz="4000" dirty="0">
                <a:latin typeface="Calibri Light"/>
                <a:cs typeface="Calibri Light"/>
              </a:rPr>
              <a:t>Right</a:t>
            </a:r>
            <a:r>
              <a:rPr sz="4000" spc="-8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8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71896" y="2290191"/>
          <a:ext cx="6885940" cy="1979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475"/>
                <a:gridCol w="1141730"/>
                <a:gridCol w="1043305"/>
                <a:gridCol w="1424305"/>
                <a:gridCol w="1672590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BRANCH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Infosys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Civil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line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Muzaffarabad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Wipro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Park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Kel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TCS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Hyderabad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Ayyaz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HCL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NULL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NULL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962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Full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613409"/>
            <a:ext cx="4926965" cy="51600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84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Full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outer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like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left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or 	</a:t>
            </a:r>
            <a:r>
              <a:rPr sz="3200" dirty="0">
                <a:latin typeface="Calibri"/>
                <a:cs typeface="Calibri"/>
              </a:rPr>
              <a:t>right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except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 	</a:t>
            </a:r>
            <a:r>
              <a:rPr sz="3200" spc="-10" dirty="0">
                <a:latin typeface="Calibri"/>
                <a:cs typeface="Calibri"/>
              </a:rPr>
              <a:t>contains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rows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both 	</a:t>
            </a:r>
            <a:r>
              <a:rPr sz="3200" spc="-10" dirty="0">
                <a:latin typeface="Calibri"/>
                <a:cs typeface="Calibri"/>
              </a:rPr>
              <a:t>tables.</a:t>
            </a:r>
            <a:endParaRPr sz="3200">
              <a:latin typeface="Calibri"/>
              <a:cs typeface="Calibri"/>
            </a:endParaRPr>
          </a:p>
          <a:p>
            <a:pPr marL="241300" marR="67310" indent="-228600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full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outer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join,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tuples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R</a:t>
            </a:r>
            <a:r>
              <a:rPr sz="3200" b="1" i="1" spc="-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that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have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no</a:t>
            </a:r>
            <a:r>
              <a:rPr sz="3200" b="1" i="1" spc="-10" dirty="0">
                <a:latin typeface="Calibri"/>
                <a:cs typeface="Calibri"/>
              </a:rPr>
              <a:t> matching </a:t>
            </a:r>
            <a:r>
              <a:rPr sz="3200" b="1" i="1" dirty="0">
                <a:latin typeface="Calibri"/>
                <a:cs typeface="Calibri"/>
              </a:rPr>
              <a:t>tuples</a:t>
            </a:r>
            <a:r>
              <a:rPr sz="3200" b="1" i="1" spc="-2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S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and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tuples</a:t>
            </a:r>
            <a:r>
              <a:rPr sz="3200" b="1" i="1" spc="-2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spc="-50" dirty="0">
                <a:latin typeface="Calibri"/>
                <a:cs typeface="Calibri"/>
              </a:rPr>
              <a:t>S </a:t>
            </a:r>
            <a:r>
              <a:rPr sz="3200" b="1" i="1" dirty="0">
                <a:latin typeface="Calibri"/>
                <a:cs typeface="Calibri"/>
              </a:rPr>
              <a:t>that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have</a:t>
            </a:r>
            <a:r>
              <a:rPr sz="3200" b="1" i="1" spc="-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no</a:t>
            </a:r>
            <a:r>
              <a:rPr sz="3200" b="1" i="1" spc="-10" dirty="0">
                <a:latin typeface="Calibri"/>
                <a:cs typeface="Calibri"/>
              </a:rPr>
              <a:t> matching </a:t>
            </a:r>
            <a:r>
              <a:rPr sz="3200" b="1" i="1" dirty="0">
                <a:latin typeface="Calibri"/>
                <a:cs typeface="Calibri"/>
              </a:rPr>
              <a:t>tuples</a:t>
            </a:r>
            <a:r>
              <a:rPr sz="3200" b="1" i="1" spc="-4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R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in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their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common </a:t>
            </a:r>
            <a:r>
              <a:rPr sz="3200" b="1" i="1" dirty="0">
                <a:latin typeface="Calibri"/>
                <a:cs typeface="Calibri"/>
              </a:rPr>
              <a:t>attribute</a:t>
            </a:r>
            <a:r>
              <a:rPr sz="3200" b="1" i="1" spc="-7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name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denoted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555" dirty="0">
                <a:latin typeface="Cambria Math"/>
                <a:cs typeface="Cambria Math"/>
              </a:rPr>
              <a:t>𝔴</a:t>
            </a:r>
            <a:r>
              <a:rPr sz="3200" spc="55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96227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Full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64067" y="-4190"/>
            <a:ext cx="1833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EMPLOYEE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1350" y="3573526"/>
            <a:ext cx="2640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25" dirty="0">
                <a:latin typeface="Calibri"/>
                <a:cs typeface="Calibri"/>
              </a:rPr>
              <a:t>FACT_WORKERS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72095" y="685037"/>
          <a:ext cx="4770755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5110"/>
                <a:gridCol w="1494155"/>
                <a:gridCol w="1672589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Civil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line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Muzaffarabad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Park</a:t>
                      </a:r>
                      <a:r>
                        <a:rPr sz="20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Kel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Haider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M.G.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Lahore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Hyderabad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679563" y="4179061"/>
          <a:ext cx="4463415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475"/>
                <a:gridCol w="1494155"/>
                <a:gridCol w="1365249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BRANCH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Infosys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Wipro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Ayyaz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HCL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TCS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935888"/>
            <a:ext cx="10723245" cy="302768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4945380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4945380" algn="l"/>
              </a:tabLst>
            </a:pPr>
            <a:r>
              <a:rPr sz="2800" b="1" spc="-10" dirty="0">
                <a:latin typeface="Calibri"/>
                <a:cs typeface="Calibri"/>
              </a:rPr>
              <a:t>INPUT: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(EMPLOYEE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1080" dirty="0">
                <a:latin typeface="Cambria Math"/>
                <a:cs typeface="Cambria Math"/>
              </a:rPr>
              <a:t>𝔴</a:t>
            </a:r>
            <a:r>
              <a:rPr sz="2800" spc="-7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FACT_WORKERS)</a:t>
            </a:r>
            <a:endParaRPr sz="2800">
              <a:latin typeface="Calibri"/>
              <a:cs typeface="Calibri"/>
            </a:endParaRPr>
          </a:p>
          <a:p>
            <a:pPr marL="4945380" indent="-2279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4945380" algn="l"/>
              </a:tabLst>
            </a:pPr>
            <a:r>
              <a:rPr sz="2800" b="1" spc="-10" dirty="0">
                <a:latin typeface="Calibri"/>
                <a:cs typeface="Calibri"/>
              </a:rPr>
              <a:t>OUTPUT: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800">
              <a:latin typeface="Calibri"/>
              <a:cs typeface="Calibri"/>
            </a:endParaRPr>
          </a:p>
          <a:p>
            <a:pPr marL="12700" marR="7765415">
              <a:lnSpc>
                <a:spcPts val="4320"/>
              </a:lnSpc>
            </a:pPr>
            <a:r>
              <a:rPr sz="4000" dirty="0">
                <a:latin typeface="Calibri Light"/>
                <a:cs typeface="Calibri Light"/>
              </a:rPr>
              <a:t>Full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Outer</a:t>
            </a:r>
            <a:r>
              <a:rPr sz="4000" spc="-5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71896" y="2290191"/>
          <a:ext cx="6885940" cy="2374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475"/>
                <a:gridCol w="1424305"/>
                <a:gridCol w="1672590"/>
                <a:gridCol w="1141729"/>
                <a:gridCol w="1043304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BRANCH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Kamran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Civil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line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Muzaffarabad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Infosys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10000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Saqib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Park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Kel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Wipro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20000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Bilawal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Hyderabad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TCS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Haider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M.G.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Street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Lahore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NULL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NULL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Ayyaz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NULL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NULL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HCL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30000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181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Equi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1427429"/>
            <a:ext cx="5083810" cy="35299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374650" indent="-2286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known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inner join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40029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most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common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join.</a:t>
            </a:r>
            <a:endParaRPr sz="3200">
              <a:latin typeface="Calibri"/>
              <a:cs typeface="Calibri"/>
            </a:endParaRPr>
          </a:p>
          <a:p>
            <a:pPr marL="240029" marR="5080" indent="-227329">
              <a:lnSpc>
                <a:spcPts val="346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matched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 	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equality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condition.</a:t>
            </a:r>
            <a:endParaRPr sz="3200">
              <a:latin typeface="Calibri"/>
              <a:cs typeface="Calibri"/>
            </a:endParaRPr>
          </a:p>
          <a:p>
            <a:pPr marL="241300" marR="807720" indent="-228600">
              <a:lnSpc>
                <a:spcPts val="34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equi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join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comparison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operator(=).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181991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Equi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16822" y="-4190"/>
            <a:ext cx="1929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CUSTOMER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1122" y="3573526"/>
            <a:ext cx="1699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PRODUCT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988045" y="685037"/>
          <a:ext cx="3098165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475"/>
                <a:gridCol w="1494155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CLASS_ID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Jhon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Harry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Jackson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17509" y="4195064"/>
          <a:ext cx="3213100" cy="1584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9410"/>
                <a:gridCol w="1494155"/>
              </a:tblGrid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PRODUCT_ID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Delhi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Mumbai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Noida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181991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Equi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Join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634" y="935888"/>
            <a:ext cx="5084445" cy="10439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10" dirty="0">
                <a:latin typeface="Calibri"/>
                <a:cs typeface="Calibri"/>
              </a:rPr>
              <a:t>INPUT: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(CUSTOMER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⋈</a:t>
            </a:r>
            <a:r>
              <a:rPr sz="2800" spc="-8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PRODUCT)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10" dirty="0">
                <a:latin typeface="Calibri"/>
                <a:cs typeface="Calibri"/>
              </a:rPr>
              <a:t>OUTPUT: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61354" y="2442591"/>
          <a:ext cx="5842635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5110"/>
                <a:gridCol w="1424940"/>
                <a:gridCol w="1673225"/>
                <a:gridCol w="1142364"/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CLASS_ID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PRODUCT_ID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Jhon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Delhi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Harry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Mumbai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Jackson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Noida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677</Words>
  <Application>Microsoft Office PowerPoint</Application>
  <PresentationFormat>Widescreen</PresentationFormat>
  <Paragraphs>393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 MT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Join Operations Example</vt:lpstr>
      <vt:lpstr>Natural Join</vt:lpstr>
      <vt:lpstr>PowerPoint Presentation</vt:lpstr>
      <vt:lpstr>Natural Join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2025-06-30T07:23:45Z</dcterms:created>
  <dcterms:modified xsi:type="dcterms:W3CDTF">2025-06-30T07:31:01Z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