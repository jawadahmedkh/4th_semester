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72" r:id="rId5"/>
    <p:sldId id="259" r:id="rId6"/>
    <p:sldId id="260" r:id="rId7"/>
    <p:sldId id="261" r:id="rId8"/>
    <p:sldId id="262" r:id="rId9"/>
    <p:sldId id="263" r:id="rId10"/>
    <p:sldId id="270" r:id="rId11"/>
    <p:sldId id="271" r:id="rId12"/>
    <p:sldId id="266" r:id="rId13"/>
    <p:sldId id="267"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388333-48AC-425F-8D75-46B731F282DF}"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8CFF24A8-B656-425C-8F39-E5305F728C40}">
      <dgm:prSet/>
      <dgm:spPr/>
      <dgm:t>
        <a:bodyPr/>
        <a:lstStyle/>
        <a:p>
          <a:r>
            <a:rPr lang="en-US" b="0" i="0" baseline="0"/>
            <a:t>Newer and more powerful systems even have three levels of cache: L1, L2, and L3.</a:t>
          </a:r>
          <a:endParaRPr lang="en-US"/>
        </a:p>
      </dgm:t>
    </dgm:pt>
    <dgm:pt modelId="{398CDB4E-BC17-4A30-A3EE-5F0F8B978B4A}" type="parTrans" cxnId="{BF45D86E-22D9-4F48-92DD-ABA308E6B8B6}">
      <dgm:prSet/>
      <dgm:spPr/>
      <dgm:t>
        <a:bodyPr/>
        <a:lstStyle/>
        <a:p>
          <a:endParaRPr lang="en-US"/>
        </a:p>
      </dgm:t>
    </dgm:pt>
    <dgm:pt modelId="{4E5B31CF-0532-491E-A989-A16B7AB76306}" type="sibTrans" cxnId="{BF45D86E-22D9-4F48-92DD-ABA308E6B8B6}">
      <dgm:prSet/>
      <dgm:spPr/>
      <dgm:t>
        <a:bodyPr/>
        <a:lstStyle/>
        <a:p>
          <a:endParaRPr lang="en-US"/>
        </a:p>
      </dgm:t>
    </dgm:pt>
    <dgm:pt modelId="{CB0B7F5D-464C-4124-B183-71792C9C6F1F}">
      <dgm:prSet/>
      <dgm:spPr/>
      <dgm:t>
        <a:bodyPr/>
        <a:lstStyle/>
        <a:p>
          <a:r>
            <a:rPr lang="en-US" b="0" i="0" baseline="0"/>
            <a:t>The idea behind caching is that a system can get the effect of both a very large memory and a very fast one by exploiting </a:t>
          </a:r>
          <a:r>
            <a:rPr lang="en-US" b="0" i="1" baseline="0"/>
            <a:t>locality</a:t>
          </a:r>
          <a:r>
            <a:rPr lang="en-US"/>
            <a:t>.</a:t>
          </a:r>
        </a:p>
      </dgm:t>
    </dgm:pt>
    <dgm:pt modelId="{024DAA09-A698-4483-AF1C-ED2C9160EE09}" type="parTrans" cxnId="{AE4B5267-500B-41AA-ABB6-76EBBF3AE047}">
      <dgm:prSet/>
      <dgm:spPr/>
      <dgm:t>
        <a:bodyPr/>
        <a:lstStyle/>
        <a:p>
          <a:endParaRPr lang="en-US"/>
        </a:p>
      </dgm:t>
    </dgm:pt>
    <dgm:pt modelId="{F6150AE6-52E9-475B-A2E8-641EB3AC8C07}" type="sibTrans" cxnId="{AE4B5267-500B-41AA-ABB6-76EBBF3AE047}">
      <dgm:prSet/>
      <dgm:spPr/>
      <dgm:t>
        <a:bodyPr/>
        <a:lstStyle/>
        <a:p>
          <a:endParaRPr lang="en-US"/>
        </a:p>
      </dgm:t>
    </dgm:pt>
    <dgm:pt modelId="{39B25423-70D8-4A8A-9197-6F859A8EE994}">
      <dgm:prSet/>
      <dgm:spPr/>
      <dgm:t>
        <a:bodyPr/>
        <a:lstStyle/>
        <a:p>
          <a:r>
            <a:rPr lang="en-US"/>
            <a:t>T</a:t>
          </a:r>
          <a:r>
            <a:rPr lang="en-US" b="0" i="0" baseline="0"/>
            <a:t>he tendency for programs to access data and code in localized regions.</a:t>
          </a:r>
          <a:endParaRPr lang="en-US"/>
        </a:p>
      </dgm:t>
    </dgm:pt>
    <dgm:pt modelId="{F395E4F8-9C98-4B11-AEBC-1A0EC68467CE}" type="parTrans" cxnId="{255C284F-7601-4C77-89B3-ED0EFBFE2C52}">
      <dgm:prSet/>
      <dgm:spPr/>
      <dgm:t>
        <a:bodyPr/>
        <a:lstStyle/>
        <a:p>
          <a:endParaRPr lang="en-US"/>
        </a:p>
      </dgm:t>
    </dgm:pt>
    <dgm:pt modelId="{4B393E69-7373-4549-99C1-17867EFD3ECC}" type="sibTrans" cxnId="{255C284F-7601-4C77-89B3-ED0EFBFE2C52}">
      <dgm:prSet/>
      <dgm:spPr/>
      <dgm:t>
        <a:bodyPr/>
        <a:lstStyle/>
        <a:p>
          <a:endParaRPr lang="en-US"/>
        </a:p>
      </dgm:t>
    </dgm:pt>
    <dgm:pt modelId="{90BD23E0-162D-4E92-B7B8-27637B33B537}" type="pres">
      <dgm:prSet presAssocID="{4C388333-48AC-425F-8D75-46B731F282DF}" presName="outerComposite" presStyleCnt="0">
        <dgm:presLayoutVars>
          <dgm:chMax val="5"/>
          <dgm:dir/>
          <dgm:resizeHandles val="exact"/>
        </dgm:presLayoutVars>
      </dgm:prSet>
      <dgm:spPr/>
    </dgm:pt>
    <dgm:pt modelId="{7C999989-A915-4DA8-8B20-2D821E29E34E}" type="pres">
      <dgm:prSet presAssocID="{4C388333-48AC-425F-8D75-46B731F282DF}" presName="dummyMaxCanvas" presStyleCnt="0">
        <dgm:presLayoutVars/>
      </dgm:prSet>
      <dgm:spPr/>
    </dgm:pt>
    <dgm:pt modelId="{3A7945C7-FF63-4EA6-AD13-577EE65388CA}" type="pres">
      <dgm:prSet presAssocID="{4C388333-48AC-425F-8D75-46B731F282DF}" presName="ThreeNodes_1" presStyleLbl="node1" presStyleIdx="0" presStyleCnt="3">
        <dgm:presLayoutVars>
          <dgm:bulletEnabled val="1"/>
        </dgm:presLayoutVars>
      </dgm:prSet>
      <dgm:spPr/>
    </dgm:pt>
    <dgm:pt modelId="{771AA5C5-B230-4D27-923F-F54F498BA0C2}" type="pres">
      <dgm:prSet presAssocID="{4C388333-48AC-425F-8D75-46B731F282DF}" presName="ThreeNodes_2" presStyleLbl="node1" presStyleIdx="1" presStyleCnt="3">
        <dgm:presLayoutVars>
          <dgm:bulletEnabled val="1"/>
        </dgm:presLayoutVars>
      </dgm:prSet>
      <dgm:spPr/>
    </dgm:pt>
    <dgm:pt modelId="{E141F7EE-5D34-4001-90C1-C1B1CE15FB20}" type="pres">
      <dgm:prSet presAssocID="{4C388333-48AC-425F-8D75-46B731F282DF}" presName="ThreeNodes_3" presStyleLbl="node1" presStyleIdx="2" presStyleCnt="3">
        <dgm:presLayoutVars>
          <dgm:bulletEnabled val="1"/>
        </dgm:presLayoutVars>
      </dgm:prSet>
      <dgm:spPr/>
    </dgm:pt>
    <dgm:pt modelId="{94E4AD29-7975-40CE-AB57-49B19E09C017}" type="pres">
      <dgm:prSet presAssocID="{4C388333-48AC-425F-8D75-46B731F282DF}" presName="ThreeConn_1-2" presStyleLbl="fgAccFollowNode1" presStyleIdx="0" presStyleCnt="2">
        <dgm:presLayoutVars>
          <dgm:bulletEnabled val="1"/>
        </dgm:presLayoutVars>
      </dgm:prSet>
      <dgm:spPr/>
    </dgm:pt>
    <dgm:pt modelId="{887F0A8C-EC06-4A3F-8AC6-068D5F4D604B}" type="pres">
      <dgm:prSet presAssocID="{4C388333-48AC-425F-8D75-46B731F282DF}" presName="ThreeConn_2-3" presStyleLbl="fgAccFollowNode1" presStyleIdx="1" presStyleCnt="2">
        <dgm:presLayoutVars>
          <dgm:bulletEnabled val="1"/>
        </dgm:presLayoutVars>
      </dgm:prSet>
      <dgm:spPr/>
    </dgm:pt>
    <dgm:pt modelId="{A4B06DD3-19F4-415D-9187-CACF4D20970D}" type="pres">
      <dgm:prSet presAssocID="{4C388333-48AC-425F-8D75-46B731F282DF}" presName="ThreeNodes_1_text" presStyleLbl="node1" presStyleIdx="2" presStyleCnt="3">
        <dgm:presLayoutVars>
          <dgm:bulletEnabled val="1"/>
        </dgm:presLayoutVars>
      </dgm:prSet>
      <dgm:spPr/>
    </dgm:pt>
    <dgm:pt modelId="{60226437-EBD7-4C8B-BE62-AC1C2A40DDCA}" type="pres">
      <dgm:prSet presAssocID="{4C388333-48AC-425F-8D75-46B731F282DF}" presName="ThreeNodes_2_text" presStyleLbl="node1" presStyleIdx="2" presStyleCnt="3">
        <dgm:presLayoutVars>
          <dgm:bulletEnabled val="1"/>
        </dgm:presLayoutVars>
      </dgm:prSet>
      <dgm:spPr/>
    </dgm:pt>
    <dgm:pt modelId="{4087C40A-CD12-4530-BF55-9CDF71B077C3}" type="pres">
      <dgm:prSet presAssocID="{4C388333-48AC-425F-8D75-46B731F282DF}" presName="ThreeNodes_3_text" presStyleLbl="node1" presStyleIdx="2" presStyleCnt="3">
        <dgm:presLayoutVars>
          <dgm:bulletEnabled val="1"/>
        </dgm:presLayoutVars>
      </dgm:prSet>
      <dgm:spPr/>
    </dgm:pt>
  </dgm:ptLst>
  <dgm:cxnLst>
    <dgm:cxn modelId="{48A89C08-715D-4218-ABFC-C47B50778AB9}" type="presOf" srcId="{8CFF24A8-B656-425C-8F39-E5305F728C40}" destId="{A4B06DD3-19F4-415D-9187-CACF4D20970D}" srcOrd="1" destOrd="0" presId="urn:microsoft.com/office/officeart/2005/8/layout/vProcess5"/>
    <dgm:cxn modelId="{CAC7390A-BC34-4499-BCE1-E5367FF64C1E}" type="presOf" srcId="{F6150AE6-52E9-475B-A2E8-641EB3AC8C07}" destId="{887F0A8C-EC06-4A3F-8AC6-068D5F4D604B}" srcOrd="0" destOrd="0" presId="urn:microsoft.com/office/officeart/2005/8/layout/vProcess5"/>
    <dgm:cxn modelId="{EA0B8231-F78E-427D-A937-6C33C721B3C4}" type="presOf" srcId="{39B25423-70D8-4A8A-9197-6F859A8EE994}" destId="{E141F7EE-5D34-4001-90C1-C1B1CE15FB20}" srcOrd="0" destOrd="0" presId="urn:microsoft.com/office/officeart/2005/8/layout/vProcess5"/>
    <dgm:cxn modelId="{4398A366-5794-4E31-B01D-EC0F864144A2}" type="presOf" srcId="{4C388333-48AC-425F-8D75-46B731F282DF}" destId="{90BD23E0-162D-4E92-B7B8-27637B33B537}" srcOrd="0" destOrd="0" presId="urn:microsoft.com/office/officeart/2005/8/layout/vProcess5"/>
    <dgm:cxn modelId="{AE4B5267-500B-41AA-ABB6-76EBBF3AE047}" srcId="{4C388333-48AC-425F-8D75-46B731F282DF}" destId="{CB0B7F5D-464C-4124-B183-71792C9C6F1F}" srcOrd="1" destOrd="0" parTransId="{024DAA09-A698-4483-AF1C-ED2C9160EE09}" sibTransId="{F6150AE6-52E9-475B-A2E8-641EB3AC8C07}"/>
    <dgm:cxn modelId="{BF45D86E-22D9-4F48-92DD-ABA308E6B8B6}" srcId="{4C388333-48AC-425F-8D75-46B731F282DF}" destId="{8CFF24A8-B656-425C-8F39-E5305F728C40}" srcOrd="0" destOrd="0" parTransId="{398CDB4E-BC17-4A30-A3EE-5F0F8B978B4A}" sibTransId="{4E5B31CF-0532-491E-A989-A16B7AB76306}"/>
    <dgm:cxn modelId="{255C284F-7601-4C77-89B3-ED0EFBFE2C52}" srcId="{4C388333-48AC-425F-8D75-46B731F282DF}" destId="{39B25423-70D8-4A8A-9197-6F859A8EE994}" srcOrd="2" destOrd="0" parTransId="{F395E4F8-9C98-4B11-AEBC-1A0EC68467CE}" sibTransId="{4B393E69-7373-4549-99C1-17867EFD3ECC}"/>
    <dgm:cxn modelId="{2EF17E9E-003D-4CAC-B4EF-3B6A6A938758}" type="presOf" srcId="{4E5B31CF-0532-491E-A989-A16B7AB76306}" destId="{94E4AD29-7975-40CE-AB57-49B19E09C017}" srcOrd="0" destOrd="0" presId="urn:microsoft.com/office/officeart/2005/8/layout/vProcess5"/>
    <dgm:cxn modelId="{BBFFFCA4-5F9C-4D71-9D68-ADBC956BFE91}" type="presOf" srcId="{CB0B7F5D-464C-4124-B183-71792C9C6F1F}" destId="{60226437-EBD7-4C8B-BE62-AC1C2A40DDCA}" srcOrd="1" destOrd="0" presId="urn:microsoft.com/office/officeart/2005/8/layout/vProcess5"/>
    <dgm:cxn modelId="{ACAF53C8-C9AB-4F9D-9C63-B87043359000}" type="presOf" srcId="{CB0B7F5D-464C-4124-B183-71792C9C6F1F}" destId="{771AA5C5-B230-4D27-923F-F54F498BA0C2}" srcOrd="0" destOrd="0" presId="urn:microsoft.com/office/officeart/2005/8/layout/vProcess5"/>
    <dgm:cxn modelId="{BB5CF5E6-0036-4150-9E05-FFD2A2A9ADDB}" type="presOf" srcId="{39B25423-70D8-4A8A-9197-6F859A8EE994}" destId="{4087C40A-CD12-4530-BF55-9CDF71B077C3}" srcOrd="1" destOrd="0" presId="urn:microsoft.com/office/officeart/2005/8/layout/vProcess5"/>
    <dgm:cxn modelId="{DA29B5EE-9657-4CE0-90C8-A914B187A09B}" type="presOf" srcId="{8CFF24A8-B656-425C-8F39-E5305F728C40}" destId="{3A7945C7-FF63-4EA6-AD13-577EE65388CA}" srcOrd="0" destOrd="0" presId="urn:microsoft.com/office/officeart/2005/8/layout/vProcess5"/>
    <dgm:cxn modelId="{73E85031-D865-4B3C-953D-58A2998AFA32}" type="presParOf" srcId="{90BD23E0-162D-4E92-B7B8-27637B33B537}" destId="{7C999989-A915-4DA8-8B20-2D821E29E34E}" srcOrd="0" destOrd="0" presId="urn:microsoft.com/office/officeart/2005/8/layout/vProcess5"/>
    <dgm:cxn modelId="{A399D3C5-9D33-4FE9-BA03-3EAFF19AB547}" type="presParOf" srcId="{90BD23E0-162D-4E92-B7B8-27637B33B537}" destId="{3A7945C7-FF63-4EA6-AD13-577EE65388CA}" srcOrd="1" destOrd="0" presId="urn:microsoft.com/office/officeart/2005/8/layout/vProcess5"/>
    <dgm:cxn modelId="{A4000BD8-CD3A-4BD0-BC5E-9DF5775686E8}" type="presParOf" srcId="{90BD23E0-162D-4E92-B7B8-27637B33B537}" destId="{771AA5C5-B230-4D27-923F-F54F498BA0C2}" srcOrd="2" destOrd="0" presId="urn:microsoft.com/office/officeart/2005/8/layout/vProcess5"/>
    <dgm:cxn modelId="{2A96321F-EC82-4266-A093-F84F9C3FDCCE}" type="presParOf" srcId="{90BD23E0-162D-4E92-B7B8-27637B33B537}" destId="{E141F7EE-5D34-4001-90C1-C1B1CE15FB20}" srcOrd="3" destOrd="0" presId="urn:microsoft.com/office/officeart/2005/8/layout/vProcess5"/>
    <dgm:cxn modelId="{687C016A-3707-4628-B2CB-0669DAF8F80D}" type="presParOf" srcId="{90BD23E0-162D-4E92-B7B8-27637B33B537}" destId="{94E4AD29-7975-40CE-AB57-49B19E09C017}" srcOrd="4" destOrd="0" presId="urn:microsoft.com/office/officeart/2005/8/layout/vProcess5"/>
    <dgm:cxn modelId="{9C695097-3605-478D-8801-6040576A2FBB}" type="presParOf" srcId="{90BD23E0-162D-4E92-B7B8-27637B33B537}" destId="{887F0A8C-EC06-4A3F-8AC6-068D5F4D604B}" srcOrd="5" destOrd="0" presId="urn:microsoft.com/office/officeart/2005/8/layout/vProcess5"/>
    <dgm:cxn modelId="{08CC834F-C8B9-40C4-830B-61E241031822}" type="presParOf" srcId="{90BD23E0-162D-4E92-B7B8-27637B33B537}" destId="{A4B06DD3-19F4-415D-9187-CACF4D20970D}" srcOrd="6" destOrd="0" presId="urn:microsoft.com/office/officeart/2005/8/layout/vProcess5"/>
    <dgm:cxn modelId="{CF365CC9-7C96-413B-9B98-A92758C9783D}" type="presParOf" srcId="{90BD23E0-162D-4E92-B7B8-27637B33B537}" destId="{60226437-EBD7-4C8B-BE62-AC1C2A40DDCA}" srcOrd="7" destOrd="0" presId="urn:microsoft.com/office/officeart/2005/8/layout/vProcess5"/>
    <dgm:cxn modelId="{47B7FA64-1B13-486C-A4C6-B6CC30509F39}" type="presParOf" srcId="{90BD23E0-162D-4E92-B7B8-27637B33B537}" destId="{4087C40A-CD12-4530-BF55-9CDF71B077C3}"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7945C7-FF63-4EA6-AD13-577EE65388CA}">
      <dsp:nvSpPr>
        <dsp:cNvPr id="0" name=""/>
        <dsp:cNvSpPr/>
      </dsp:nvSpPr>
      <dsp:spPr>
        <a:xfrm>
          <a:off x="0" y="0"/>
          <a:ext cx="8622117" cy="103065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baseline="0"/>
            <a:t>Newer and more powerful systems even have three levels of cache: L1, L2, and L3.</a:t>
          </a:r>
          <a:endParaRPr lang="en-US" sz="2000" kern="1200"/>
        </a:p>
      </dsp:txBody>
      <dsp:txXfrm>
        <a:off x="30187" y="30187"/>
        <a:ext cx="7509955" cy="970285"/>
      </dsp:txXfrm>
    </dsp:sp>
    <dsp:sp modelId="{771AA5C5-B230-4D27-923F-F54F498BA0C2}">
      <dsp:nvSpPr>
        <dsp:cNvPr id="0" name=""/>
        <dsp:cNvSpPr/>
      </dsp:nvSpPr>
      <dsp:spPr>
        <a:xfrm>
          <a:off x="760775" y="1202435"/>
          <a:ext cx="8622117" cy="103065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baseline="0"/>
            <a:t>The idea behind caching is that a system can get the effect of both a very large memory and a very fast one by exploiting </a:t>
          </a:r>
          <a:r>
            <a:rPr lang="en-US" sz="2000" b="0" i="1" kern="1200" baseline="0"/>
            <a:t>locality</a:t>
          </a:r>
          <a:r>
            <a:rPr lang="en-US" sz="2000" kern="1200"/>
            <a:t>.</a:t>
          </a:r>
        </a:p>
      </dsp:txBody>
      <dsp:txXfrm>
        <a:off x="790962" y="1232622"/>
        <a:ext cx="7131040" cy="970285"/>
      </dsp:txXfrm>
    </dsp:sp>
    <dsp:sp modelId="{E141F7EE-5D34-4001-90C1-C1B1CE15FB20}">
      <dsp:nvSpPr>
        <dsp:cNvPr id="0" name=""/>
        <dsp:cNvSpPr/>
      </dsp:nvSpPr>
      <dsp:spPr>
        <a:xfrm>
          <a:off x="1521550" y="2404871"/>
          <a:ext cx="8622117" cy="103065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a:t>
          </a:r>
          <a:r>
            <a:rPr lang="en-US" sz="2000" b="0" i="0" kern="1200" baseline="0"/>
            <a:t>he tendency for programs to access data and code in localized regions.</a:t>
          </a:r>
          <a:endParaRPr lang="en-US" sz="2000" kern="1200"/>
        </a:p>
      </dsp:txBody>
      <dsp:txXfrm>
        <a:off x="1551737" y="2435058"/>
        <a:ext cx="7131040" cy="970285"/>
      </dsp:txXfrm>
    </dsp:sp>
    <dsp:sp modelId="{94E4AD29-7975-40CE-AB57-49B19E09C017}">
      <dsp:nvSpPr>
        <dsp:cNvPr id="0" name=""/>
        <dsp:cNvSpPr/>
      </dsp:nvSpPr>
      <dsp:spPr>
        <a:xfrm>
          <a:off x="7952189" y="781583"/>
          <a:ext cx="669928" cy="669928"/>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8102923" y="781583"/>
        <a:ext cx="368460" cy="504121"/>
      </dsp:txXfrm>
    </dsp:sp>
    <dsp:sp modelId="{887F0A8C-EC06-4A3F-8AC6-068D5F4D604B}">
      <dsp:nvSpPr>
        <dsp:cNvPr id="0" name=""/>
        <dsp:cNvSpPr/>
      </dsp:nvSpPr>
      <dsp:spPr>
        <a:xfrm>
          <a:off x="8712964" y="1977148"/>
          <a:ext cx="669928" cy="669928"/>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8863698" y="1977148"/>
        <a:ext cx="368460" cy="504121"/>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B643DA-594A-4035-B66F-876305A8FB59}" type="datetimeFigureOut">
              <a:rPr lang="en-US" smtClean="0"/>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843878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B643DA-594A-4035-B66F-876305A8FB59}" type="datetimeFigureOut">
              <a:rPr lang="en-US" smtClean="0"/>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1302432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B643DA-594A-4035-B66F-876305A8FB59}" type="datetimeFigureOut">
              <a:rPr lang="en-US" smtClean="0"/>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085698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B643DA-594A-4035-B66F-876305A8FB59}" type="datetimeFigureOut">
              <a:rPr lang="en-US" smtClean="0"/>
              <a:t>6/30/2025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178192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B643DA-594A-4035-B66F-876305A8FB59}" type="datetimeFigureOut">
              <a:rPr lang="en-US" smtClean="0"/>
              <a:t>6/30/2025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323578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B643DA-594A-4035-B66F-876305A8FB59}" type="datetimeFigureOut">
              <a:rPr lang="en-US" smtClean="0"/>
              <a:t>6/30/2025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2994666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B643DA-594A-4035-B66F-876305A8FB59}" type="datetimeFigureOut">
              <a:rPr lang="en-US" smtClean="0"/>
              <a:t>6/30/2025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4098078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B643DA-594A-4035-B66F-876305A8FB59}" type="datetimeFigureOut">
              <a:rPr lang="en-US" smtClean="0"/>
              <a:t>6/30/2025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146245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B643DA-594A-4035-B66F-876305A8FB59}" type="datetimeFigureOut">
              <a:rPr lang="en-US" smtClean="0"/>
              <a:t>6/30/2025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638675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B643DA-594A-4035-B66F-876305A8FB59}" type="datetimeFigureOut">
              <a:rPr lang="en-US" smtClean="0"/>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3204713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B643DA-594A-4035-B66F-876305A8FB59}" type="datetimeFigureOut">
              <a:rPr lang="en-US" smtClean="0"/>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CA60FE-7FC0-4017-BEF2-3AA9C93EF49F}" type="slidenum">
              <a:rPr lang="en-US" smtClean="0"/>
              <a:t>‹#›</a:t>
            </a:fld>
            <a:endParaRPr lang="en-US"/>
          </a:p>
        </p:txBody>
      </p:sp>
    </p:spTree>
    <p:extLst>
      <p:ext uri="{BB962C8B-B14F-4D97-AF65-F5344CB8AC3E}">
        <p14:creationId xmlns:p14="http://schemas.microsoft.com/office/powerpoint/2010/main" val="992960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B643DA-594A-4035-B66F-876305A8FB59}" type="datetimeFigureOut">
              <a:rPr lang="en-US" smtClean="0"/>
              <a:t>6/30/2025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CA60FE-7FC0-4017-BEF2-3AA9C93EF49F}" type="slidenum">
              <a:rPr lang="en-US" smtClean="0"/>
              <a:t>‹#›</a:t>
            </a:fld>
            <a:endParaRPr lang="en-US"/>
          </a:p>
        </p:txBody>
      </p:sp>
    </p:spTree>
    <p:extLst>
      <p:ext uri="{BB962C8B-B14F-4D97-AF65-F5344CB8AC3E}">
        <p14:creationId xmlns:p14="http://schemas.microsoft.com/office/powerpoint/2010/main" val="32957765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6ADC262-99D6-C90D-AAC0-C0559F3E6A81}"/>
              </a:ext>
            </a:extLst>
          </p:cNvPr>
          <p:cNvSpPr>
            <a:spLocks noGrp="1" noChangeArrowheads="1"/>
          </p:cNvSpPr>
          <p:nvPr>
            <p:ph type="ctrTitle"/>
          </p:nvPr>
        </p:nvSpPr>
        <p:spPr/>
        <p:txBody>
          <a:bodyPr>
            <a:normAutofit/>
          </a:bodyPr>
          <a:lstStyle/>
          <a:p>
            <a:pPr algn="just" eaLnBrk="1" hangingPunct="1">
              <a:spcBef>
                <a:spcPct val="50000"/>
              </a:spcBef>
            </a:pPr>
            <a:r>
              <a:rPr lang="en-US" altLang="en-US" sz="3600" b="1" dirty="0"/>
              <a:t>Computer Organization and Assembly Language</a:t>
            </a:r>
            <a:endParaRPr lang="en-US" altLang="en-US" sz="7200" b="1" dirty="0"/>
          </a:p>
          <a:p>
            <a:pPr algn="r" eaLnBrk="1" hangingPunct="1">
              <a:spcBef>
                <a:spcPct val="150000"/>
              </a:spcBef>
            </a:pPr>
            <a:br>
              <a:rPr lang="en-US" altLang="en-US" sz="1400" i="1" u="sng" dirty="0"/>
            </a:br>
            <a:endParaRPr lang="en-US" altLang="en-US" sz="1400" i="1" u="sng" dirty="0"/>
          </a:p>
        </p:txBody>
      </p:sp>
      <p:sp>
        <p:nvSpPr>
          <p:cNvPr id="3" name="Subtitle 2">
            <a:extLst>
              <a:ext uri="{FF2B5EF4-FFF2-40B4-BE49-F238E27FC236}">
                <a16:creationId xmlns:a16="http://schemas.microsoft.com/office/drawing/2014/main" id="{FD20FEE5-D0E2-3A25-E47F-611026A08EFC}"/>
              </a:ext>
            </a:extLst>
          </p:cNvPr>
          <p:cNvSpPr>
            <a:spLocks noGrp="1"/>
          </p:cNvSpPr>
          <p:nvPr>
            <p:ph type="subTitle" idx="1"/>
          </p:nvPr>
        </p:nvSpPr>
        <p:spPr/>
        <p:txBody>
          <a:bodyPr/>
          <a:lstStyle/>
          <a:p>
            <a:pPr algn="r"/>
            <a:r>
              <a:rPr lang="en-US" altLang="en-US" sz="2400" i="1" u="sng" dirty="0"/>
              <a:t>By Abdual Qaddous</a:t>
            </a:r>
            <a:endParaRPr lang="en-US" dirty="0"/>
          </a:p>
        </p:txBody>
      </p:sp>
    </p:spTree>
    <p:extLst>
      <p:ext uri="{BB962C8B-B14F-4D97-AF65-F5344CB8AC3E}">
        <p14:creationId xmlns:p14="http://schemas.microsoft.com/office/powerpoint/2010/main" val="2149062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0" name="Rectangle 19">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ED1C51-E25D-5E7F-3601-B3223EF1BA0F}"/>
              </a:ext>
            </a:extLst>
          </p:cNvPr>
          <p:cNvSpPr>
            <a:spLocks noGrp="1"/>
          </p:cNvSpPr>
          <p:nvPr>
            <p:ph type="title"/>
          </p:nvPr>
        </p:nvSpPr>
        <p:spPr>
          <a:xfrm>
            <a:off x="1043631" y="809898"/>
            <a:ext cx="9942716" cy="1554480"/>
          </a:xfrm>
        </p:spPr>
        <p:txBody>
          <a:bodyPr anchor="ctr">
            <a:normAutofit/>
          </a:bodyPr>
          <a:lstStyle/>
          <a:p>
            <a:r>
              <a:rPr lang="en-US" sz="4800"/>
              <a:t>Memory Hierarchy</a:t>
            </a:r>
          </a:p>
        </p:txBody>
      </p:sp>
      <p:sp>
        <p:nvSpPr>
          <p:cNvPr id="3" name="Content Placeholder 2">
            <a:extLst>
              <a:ext uri="{FF2B5EF4-FFF2-40B4-BE49-F238E27FC236}">
                <a16:creationId xmlns:a16="http://schemas.microsoft.com/office/drawing/2014/main" id="{DC5BC744-9851-1B9C-997C-55548A862018}"/>
              </a:ext>
            </a:extLst>
          </p:cNvPr>
          <p:cNvSpPr>
            <a:spLocks noGrp="1"/>
          </p:cNvSpPr>
          <p:nvPr>
            <p:ph idx="1"/>
          </p:nvPr>
        </p:nvSpPr>
        <p:spPr>
          <a:xfrm>
            <a:off x="731525" y="2581910"/>
            <a:ext cx="9941319" cy="3056308"/>
          </a:xfrm>
        </p:spPr>
        <p:txBody>
          <a:bodyPr anchor="ctr">
            <a:normAutofit/>
          </a:bodyPr>
          <a:lstStyle/>
          <a:p>
            <a:pPr marL="0" indent="0">
              <a:buNone/>
            </a:pPr>
            <a:r>
              <a:rPr lang="en-US" sz="1500" dirty="0">
                <a:latin typeface="TimesTen-Roman"/>
              </a:rPr>
              <a:t>A</a:t>
            </a:r>
            <a:r>
              <a:rPr lang="en-US" sz="1500" b="0" i="0" u="none" strike="noStrike" baseline="0" dirty="0">
                <a:latin typeface="TimesTen-Roman"/>
              </a:rPr>
              <a:t> </a:t>
            </a:r>
            <a:r>
              <a:rPr lang="en-US" sz="1800" b="0" i="0" u="none" strike="noStrike" baseline="0" dirty="0">
                <a:latin typeface="TimesTen-Roman"/>
              </a:rPr>
              <a:t>typical register file stores only a few hundred bytes of information, as opposed to billions of bytes in the main memory.</a:t>
            </a:r>
          </a:p>
          <a:p>
            <a:pPr marL="0" indent="0">
              <a:buNone/>
            </a:pPr>
            <a:r>
              <a:rPr lang="en-US" sz="1800" b="0" i="0" u="none" strike="noStrike" baseline="0" dirty="0">
                <a:latin typeface="TimesTen-Roman"/>
              </a:rPr>
              <a:t>The processor can read data from the register file almost 100 times faster than from memory.</a:t>
            </a:r>
          </a:p>
          <a:p>
            <a:pPr>
              <a:buFont typeface="Wingdings" panose="05000000000000000000" pitchFamily="2" charset="2"/>
              <a:buChar char="Ø"/>
            </a:pPr>
            <a:r>
              <a:rPr lang="en-US" sz="1800" b="0" i="0" u="none" strike="noStrike" baseline="0" dirty="0">
                <a:latin typeface="TimesTen-Roman"/>
              </a:rPr>
              <a:t>To deal with the processor–memory gap, system designers include smaller, faster storage devices called </a:t>
            </a:r>
            <a:r>
              <a:rPr lang="en-US" sz="1800" b="0" i="1" u="none" strike="noStrike" baseline="0" dirty="0">
                <a:latin typeface="TimesTen-Italic"/>
              </a:rPr>
              <a:t>cache memories </a:t>
            </a:r>
            <a:r>
              <a:rPr lang="en-US" sz="1800" b="0" i="0" u="none" strike="noStrike" baseline="0" dirty="0">
                <a:latin typeface="TimesTen-Roman"/>
              </a:rPr>
              <a:t>(or simply caches) that serve as temporary staging areas for information that the processor is likely to need in the near future.</a:t>
            </a:r>
          </a:p>
        </p:txBody>
      </p:sp>
      <p:cxnSp>
        <p:nvCxnSpPr>
          <p:cNvPr id="26" name="Straight Connector 2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1665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1322E2-B55F-F04F-AF68-62DEFB526EF5}"/>
              </a:ext>
            </a:extLst>
          </p:cNvPr>
          <p:cNvSpPr>
            <a:spLocks noGrp="1"/>
          </p:cNvSpPr>
          <p:nvPr>
            <p:ph type="title"/>
          </p:nvPr>
        </p:nvSpPr>
        <p:spPr>
          <a:xfrm>
            <a:off x="808638" y="386930"/>
            <a:ext cx="9236700" cy="1188950"/>
          </a:xfrm>
        </p:spPr>
        <p:txBody>
          <a:bodyPr anchor="b">
            <a:normAutofit/>
          </a:bodyPr>
          <a:lstStyle/>
          <a:p>
            <a:r>
              <a:rPr lang="en-US" sz="5400"/>
              <a:t>Cache</a:t>
            </a:r>
          </a:p>
        </p:txBody>
      </p:sp>
      <p:grpSp>
        <p:nvGrpSpPr>
          <p:cNvPr id="31" name="Group 3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2" name="Rectangle 3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Rectangle 3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Content Placeholder 2">
            <a:extLst>
              <a:ext uri="{FF2B5EF4-FFF2-40B4-BE49-F238E27FC236}">
                <a16:creationId xmlns:a16="http://schemas.microsoft.com/office/drawing/2014/main" id="{46B99695-034C-A739-A4F8-1FA7FA1F95F6}"/>
              </a:ext>
            </a:extLst>
          </p:cNvPr>
          <p:cNvGraphicFramePr>
            <a:graphicFrameLocks noGrp="1"/>
          </p:cNvGraphicFramePr>
          <p:nvPr>
            <p:ph idx="1"/>
          </p:nvPr>
        </p:nvGraphicFramePr>
        <p:xfrm>
          <a:off x="793660" y="2599509"/>
          <a:ext cx="10143668" cy="34355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88333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75420-6538-4DDC-C4DE-EBC72FE83040}"/>
              </a:ext>
            </a:extLst>
          </p:cNvPr>
          <p:cNvSpPr>
            <a:spLocks noGrp="1"/>
          </p:cNvSpPr>
          <p:nvPr>
            <p:ph type="title"/>
          </p:nvPr>
        </p:nvSpPr>
        <p:spPr/>
        <p:txBody>
          <a:bodyPr/>
          <a:lstStyle/>
          <a:p>
            <a:r>
              <a:rPr lang="en-US" dirty="0"/>
              <a:t>Types of Cashe</a:t>
            </a:r>
          </a:p>
        </p:txBody>
      </p:sp>
      <p:sp>
        <p:nvSpPr>
          <p:cNvPr id="3" name="Content Placeholder 2">
            <a:extLst>
              <a:ext uri="{FF2B5EF4-FFF2-40B4-BE49-F238E27FC236}">
                <a16:creationId xmlns:a16="http://schemas.microsoft.com/office/drawing/2014/main" id="{4F3EF460-DD66-EB46-1372-F630BCB55F67}"/>
              </a:ext>
            </a:extLst>
          </p:cNvPr>
          <p:cNvSpPr>
            <a:spLocks noGrp="1"/>
          </p:cNvSpPr>
          <p:nvPr>
            <p:ph idx="1"/>
          </p:nvPr>
        </p:nvSpPr>
        <p:spPr/>
        <p:txBody>
          <a:bodyPr/>
          <a:lstStyle/>
          <a:p>
            <a:pPr>
              <a:buFont typeface="Wingdings" panose="05000000000000000000" pitchFamily="2" charset="2"/>
              <a:buChar char="Ø"/>
            </a:pPr>
            <a:r>
              <a:rPr lang="en-US" sz="2800" b="0" i="0" u="none" strike="noStrike" baseline="0" dirty="0">
                <a:latin typeface="TimesTen-Roman"/>
              </a:rPr>
              <a:t>An </a:t>
            </a:r>
            <a:r>
              <a:rPr lang="en-US" sz="2800" b="0" i="1" u="none" strike="noStrike" baseline="0" dirty="0">
                <a:latin typeface="TimesTen-Italic"/>
              </a:rPr>
              <a:t>L1 cache </a:t>
            </a:r>
            <a:r>
              <a:rPr lang="en-US" sz="2800" b="0" i="0" u="none" strike="noStrike" baseline="0" dirty="0">
                <a:latin typeface="TimesTen-Roman"/>
              </a:rPr>
              <a:t>on the processor chip holds tens of thousands of bytes and can be accessed nearly as fast as the register file. </a:t>
            </a:r>
          </a:p>
          <a:p>
            <a:pPr>
              <a:buFont typeface="Wingdings" panose="05000000000000000000" pitchFamily="2" charset="2"/>
              <a:buChar char="Ø"/>
            </a:pPr>
            <a:r>
              <a:rPr lang="en-US" sz="2800" b="0" i="0" u="none" strike="noStrike" baseline="0" dirty="0">
                <a:latin typeface="TimesTen-Roman"/>
              </a:rPr>
              <a:t>A larger </a:t>
            </a:r>
            <a:r>
              <a:rPr lang="en-US" sz="2800" b="0" i="1" u="none" strike="noStrike" baseline="0" dirty="0">
                <a:latin typeface="TimesTen-Italic"/>
              </a:rPr>
              <a:t>L2 cache </a:t>
            </a:r>
            <a:r>
              <a:rPr lang="en-US" sz="2800" b="0" i="0" u="none" strike="noStrike" baseline="0" dirty="0">
                <a:latin typeface="TimesTen-Roman"/>
              </a:rPr>
              <a:t>with hundreds of thousands to millions of bytes is connected to the processor by a special bus. It might take 5 times longer for the processor to access the L2 cache than the L1 cache.</a:t>
            </a:r>
          </a:p>
          <a:p>
            <a:pPr>
              <a:buFont typeface="Wingdings" panose="05000000000000000000" pitchFamily="2" charset="2"/>
              <a:buChar char="Ø"/>
            </a:pPr>
            <a:r>
              <a:rPr lang="en-US" sz="2800" b="0" i="0" u="none" strike="noStrike" baseline="0" dirty="0">
                <a:latin typeface="TimesTen-Roman"/>
              </a:rPr>
              <a:t>The L1 and L2 caches are implemented with a hardware technology known as </a:t>
            </a:r>
            <a:r>
              <a:rPr lang="en-US" sz="2800" b="0" i="1" u="none" strike="noStrike" baseline="0" dirty="0">
                <a:latin typeface="TimesTen-Italic"/>
              </a:rPr>
              <a:t>static random access memory </a:t>
            </a:r>
          </a:p>
          <a:p>
            <a:pPr>
              <a:buFont typeface="Wingdings" panose="05000000000000000000" pitchFamily="2" charset="2"/>
              <a:buChar char="Ø"/>
            </a:pPr>
            <a:r>
              <a:rPr lang="en-US" sz="2800" b="0" i="0" u="none" strike="noStrike" baseline="0" dirty="0">
                <a:latin typeface="TimesTen-Roman"/>
              </a:rPr>
              <a:t>(SRAM).</a:t>
            </a:r>
            <a:endParaRPr lang="en-US" sz="2800" dirty="0"/>
          </a:p>
          <a:p>
            <a:pPr marL="0" indent="0">
              <a:buNone/>
            </a:pPr>
            <a:endParaRPr lang="en-US" dirty="0"/>
          </a:p>
        </p:txBody>
      </p:sp>
    </p:spTree>
    <p:extLst>
      <p:ext uri="{BB962C8B-B14F-4D97-AF65-F5344CB8AC3E}">
        <p14:creationId xmlns:p14="http://schemas.microsoft.com/office/powerpoint/2010/main" val="168601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A3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62A1EA64-566A-46FA-CA95-BF1A018D4B2E}"/>
              </a:ext>
            </a:extLst>
          </p:cNvPr>
          <p:cNvPicPr>
            <a:picLocks noGrp="1" noChangeAspect="1"/>
          </p:cNvPicPr>
          <p:nvPr>
            <p:ph idx="1"/>
          </p:nvPr>
        </p:nvPicPr>
        <p:blipFill>
          <a:blip r:embed="rId2"/>
          <a:stretch>
            <a:fillRect/>
          </a:stretch>
        </p:blipFill>
        <p:spPr>
          <a:xfrm>
            <a:off x="1461886" y="643467"/>
            <a:ext cx="9268227" cy="5571066"/>
          </a:xfrm>
          <a:prstGeom prst="rect">
            <a:avLst/>
          </a:prstGeom>
        </p:spPr>
      </p:pic>
    </p:spTree>
    <p:extLst>
      <p:ext uri="{BB962C8B-B14F-4D97-AF65-F5344CB8AC3E}">
        <p14:creationId xmlns:p14="http://schemas.microsoft.com/office/powerpoint/2010/main" val="3511392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8B64F-983B-9DD8-4CD2-1F3302C2D25E}"/>
              </a:ext>
            </a:extLst>
          </p:cNvPr>
          <p:cNvSpPr>
            <a:spLocks noGrp="1"/>
          </p:cNvSpPr>
          <p:nvPr>
            <p:ph type="title"/>
          </p:nvPr>
        </p:nvSpPr>
        <p:spPr/>
        <p:txBody>
          <a:bodyPr>
            <a:normAutofit/>
          </a:bodyPr>
          <a:lstStyle/>
          <a:p>
            <a:r>
              <a:rPr lang="en-US" sz="2000" b="1" i="0" u="none" strike="noStrike" baseline="0" dirty="0">
                <a:latin typeface="Times New Roman" panose="02020603050405020304" pitchFamily="18" charset="0"/>
                <a:cs typeface="Times New Roman" panose="02020603050405020304" pitchFamily="18" charset="0"/>
              </a:rPr>
              <a:t>The Operating System Manages the Hardware</a:t>
            </a:r>
            <a:endParaRPr lang="en-US"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189D9B-051B-5EF5-FA57-77930A08183E}"/>
              </a:ext>
            </a:extLst>
          </p:cNvPr>
          <p:cNvSpPr>
            <a:spLocks noGrp="1"/>
          </p:cNvSpPr>
          <p:nvPr>
            <p:ph idx="1"/>
          </p:nvPr>
        </p:nvSpPr>
        <p:spPr>
          <a:xfrm>
            <a:off x="838200" y="1361390"/>
            <a:ext cx="10515600" cy="4801979"/>
          </a:xfrm>
        </p:spPr>
        <p:txBody>
          <a:bodyPr/>
          <a:lstStyle/>
          <a:p>
            <a:pPr algn="l">
              <a:buFont typeface="Wingdings" panose="05000000000000000000" pitchFamily="2" charset="2"/>
              <a:buChar char="Ø"/>
            </a:pPr>
            <a:r>
              <a:rPr lang="en-US" sz="2000" b="0" i="0" u="none" strike="noStrike" baseline="0" dirty="0">
                <a:latin typeface="TimesTen-Roman"/>
              </a:rPr>
              <a:t>Program is loaded by shell(Hello).</a:t>
            </a:r>
          </a:p>
          <a:p>
            <a:pPr algn="l">
              <a:buFont typeface="Wingdings" panose="05000000000000000000" pitchFamily="2" charset="2"/>
              <a:buChar char="Ø"/>
            </a:pPr>
            <a:r>
              <a:rPr lang="en-US" sz="2000" dirty="0">
                <a:latin typeface="TimesTen-Roman"/>
              </a:rPr>
              <a:t>Program print its message(welcome) it call services provider rather then directly access to neighbors components(</a:t>
            </a:r>
            <a:r>
              <a:rPr lang="en-US" sz="2000" b="0" i="0" u="none" strike="noStrike" baseline="0" dirty="0">
                <a:latin typeface="TimesTen-Roman"/>
              </a:rPr>
              <a:t>keyboard, display, disk, or main memory </a:t>
            </a:r>
            <a:r>
              <a:rPr lang="en-US" sz="2000" dirty="0">
                <a:latin typeface="TimesTen-Roman"/>
              </a:rPr>
              <a:t>)</a:t>
            </a:r>
            <a:endParaRPr lang="en-US" sz="2000" b="0" i="0" u="none" strike="noStrike" baseline="0" dirty="0">
              <a:latin typeface="TimesTen-Roman"/>
            </a:endParaRPr>
          </a:p>
          <a:p>
            <a:pPr algn="l">
              <a:buFont typeface="Wingdings" panose="05000000000000000000" pitchFamily="2" charset="2"/>
              <a:buChar char="Ø"/>
            </a:pPr>
            <a:r>
              <a:rPr lang="en-US" sz="2000" dirty="0">
                <a:latin typeface="TimesTen-Roman"/>
              </a:rPr>
              <a:t>T</a:t>
            </a:r>
            <a:r>
              <a:rPr lang="en-US" sz="2000" b="0" i="0" u="none" strike="noStrike" baseline="0" dirty="0">
                <a:latin typeface="TimesTen-Roman"/>
              </a:rPr>
              <a:t>he operating system as a layer of software interposed between the application program and the hardware.</a:t>
            </a:r>
          </a:p>
          <a:p>
            <a:pPr algn="l">
              <a:buFont typeface="Wingdings" panose="05000000000000000000" pitchFamily="2" charset="2"/>
              <a:buChar char="Ø"/>
            </a:pPr>
            <a:r>
              <a:rPr lang="en-US" sz="2000" b="0" i="0" u="none" strike="noStrike" baseline="0" dirty="0">
                <a:latin typeface="TimesTen-Roman"/>
              </a:rPr>
              <a:t>All attempts by an application program to manipulate the hardware must go through the operating system.</a:t>
            </a:r>
          </a:p>
          <a:p>
            <a:pPr algn="l">
              <a:buFont typeface="Wingdings" panose="05000000000000000000" pitchFamily="2" charset="2"/>
              <a:buChar char="Ø"/>
            </a:pPr>
            <a:r>
              <a:rPr lang="en-US" sz="2000" b="0" i="0" u="none" strike="noStrike" baseline="0" dirty="0">
                <a:latin typeface="TimesTen-Roman"/>
              </a:rPr>
              <a:t>The operating system has two primary purposes:</a:t>
            </a:r>
          </a:p>
          <a:p>
            <a:pPr marL="800100" lvl="1" indent="-342900">
              <a:buFont typeface="+mj-lt"/>
              <a:buAutoNum type="arabicPeriod"/>
            </a:pPr>
            <a:r>
              <a:rPr lang="en-US" sz="2000" dirty="0">
                <a:latin typeface="TimesTen-Roman"/>
              </a:rPr>
              <a:t>To protect the hardware from misuse by runaway applications</a:t>
            </a:r>
          </a:p>
          <a:p>
            <a:pPr marL="800100" lvl="1" indent="-342900">
              <a:buFont typeface="+mj-lt"/>
              <a:buAutoNum type="arabicPeriod"/>
            </a:pPr>
            <a:r>
              <a:rPr lang="en-US" sz="2000" b="0" i="0" u="none" strike="noStrike" baseline="0" dirty="0">
                <a:latin typeface="TimesTen-Roman"/>
              </a:rPr>
              <a:t>To provide applications with simple and uniform mechanisms for manipulating complicated and often wildly different low-level hardware devices.</a:t>
            </a:r>
          </a:p>
          <a:p>
            <a:pPr marL="0" indent="0" algn="l">
              <a:buNone/>
            </a:pPr>
            <a:endParaRPr lang="en-US" dirty="0"/>
          </a:p>
        </p:txBody>
      </p:sp>
      <p:pic>
        <p:nvPicPr>
          <p:cNvPr id="5" name="Picture 4">
            <a:extLst>
              <a:ext uri="{FF2B5EF4-FFF2-40B4-BE49-F238E27FC236}">
                <a16:creationId xmlns:a16="http://schemas.microsoft.com/office/drawing/2014/main" id="{AD3B3889-AB05-75F6-EE84-96D9553DE5E4}"/>
              </a:ext>
            </a:extLst>
          </p:cNvPr>
          <p:cNvPicPr>
            <a:picLocks noChangeAspect="1"/>
          </p:cNvPicPr>
          <p:nvPr/>
        </p:nvPicPr>
        <p:blipFill>
          <a:blip r:embed="rId2"/>
          <a:stretch>
            <a:fillRect/>
          </a:stretch>
        </p:blipFill>
        <p:spPr>
          <a:xfrm>
            <a:off x="5753101" y="4950618"/>
            <a:ext cx="5600699" cy="1907382"/>
          </a:xfrm>
          <a:prstGeom prst="rect">
            <a:avLst/>
          </a:prstGeom>
        </p:spPr>
      </p:pic>
    </p:spTree>
    <p:extLst>
      <p:ext uri="{BB962C8B-B14F-4D97-AF65-F5344CB8AC3E}">
        <p14:creationId xmlns:p14="http://schemas.microsoft.com/office/powerpoint/2010/main" val="2479801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AC28BA-3EF8-E518-2350-2C1ED6318008}"/>
              </a:ext>
            </a:extLst>
          </p:cNvPr>
          <p:cNvSpPr>
            <a:spLocks noGrp="1"/>
          </p:cNvSpPr>
          <p:nvPr>
            <p:ph type="title"/>
          </p:nvPr>
        </p:nvSpPr>
        <p:spPr>
          <a:xfrm>
            <a:off x="501639" y="236643"/>
            <a:ext cx="9829800" cy="1325880"/>
          </a:xfrm>
        </p:spPr>
        <p:txBody>
          <a:bodyPr anchor="b">
            <a:normAutofit/>
          </a:bodyPr>
          <a:lstStyle/>
          <a:p>
            <a:pPr algn="ctr"/>
            <a:r>
              <a:rPr lang="en-US" sz="3600" dirty="0">
                <a:solidFill>
                  <a:schemeClr val="tx2"/>
                </a:solidFill>
              </a:rPr>
              <a:t>Cont..</a:t>
            </a:r>
          </a:p>
        </p:txBody>
      </p:sp>
      <p:grpSp>
        <p:nvGrpSpPr>
          <p:cNvPr id="14" name="Group 13">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15" name="Freeform: Shape 14">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6C42BC4-4328-D958-C1C7-1124B7CDB107}"/>
              </a:ext>
            </a:extLst>
          </p:cNvPr>
          <p:cNvSpPr>
            <a:spLocks noGrp="1"/>
          </p:cNvSpPr>
          <p:nvPr>
            <p:ph idx="1"/>
          </p:nvPr>
        </p:nvSpPr>
        <p:spPr>
          <a:xfrm>
            <a:off x="651394" y="1562523"/>
            <a:ext cx="5126896" cy="4661941"/>
          </a:xfrm>
        </p:spPr>
        <p:txBody>
          <a:bodyPr anchor="ctr">
            <a:normAutofit/>
          </a:bodyPr>
          <a:lstStyle/>
          <a:p>
            <a:pPr>
              <a:buFont typeface="Wingdings" panose="05000000000000000000" pitchFamily="2" charset="2"/>
              <a:buChar char="Ø"/>
            </a:pPr>
            <a:r>
              <a:rPr lang="en-US" sz="2400" b="0" i="0" u="none" strike="noStrike" baseline="0" dirty="0">
                <a:solidFill>
                  <a:schemeClr val="tx2"/>
                </a:solidFill>
                <a:latin typeface="Times New Roman" panose="02020603050405020304" pitchFamily="18" charset="0"/>
                <a:cs typeface="Times New Roman" panose="02020603050405020304" pitchFamily="18" charset="0"/>
              </a:rPr>
              <a:t>The operating system achieves both goals via the fundamental abstractions  </a:t>
            </a:r>
            <a:r>
              <a:rPr lang="en-US" sz="2400" b="0" i="1" u="none" strike="noStrike" baseline="0" dirty="0">
                <a:solidFill>
                  <a:schemeClr val="tx2"/>
                </a:solidFill>
                <a:latin typeface="Times New Roman" panose="02020603050405020304" pitchFamily="18" charset="0"/>
                <a:cs typeface="Times New Roman" panose="02020603050405020304" pitchFamily="18" charset="0"/>
              </a:rPr>
              <a:t>processes</a:t>
            </a:r>
            <a:r>
              <a:rPr lang="en-US" sz="2400" b="0" i="0" u="none" strike="noStrike" baseline="0" dirty="0">
                <a:solidFill>
                  <a:schemeClr val="tx2"/>
                </a:solidFill>
                <a:latin typeface="Times New Roman" panose="02020603050405020304" pitchFamily="18" charset="0"/>
                <a:cs typeface="Times New Roman" panose="02020603050405020304" pitchFamily="18" charset="0"/>
              </a:rPr>
              <a:t>, </a:t>
            </a:r>
            <a:r>
              <a:rPr lang="en-US" sz="2400" b="0" i="1" u="none" strike="noStrike" baseline="0" dirty="0">
                <a:solidFill>
                  <a:schemeClr val="tx2"/>
                </a:solidFill>
                <a:latin typeface="Times New Roman" panose="02020603050405020304" pitchFamily="18" charset="0"/>
                <a:cs typeface="Times New Roman" panose="02020603050405020304" pitchFamily="18" charset="0"/>
              </a:rPr>
              <a:t>virtual memory</a:t>
            </a:r>
            <a:r>
              <a:rPr lang="en-US" sz="2400" b="0" i="0" u="none" strike="noStrike" baseline="0" dirty="0">
                <a:solidFill>
                  <a:schemeClr val="tx2"/>
                </a:solidFill>
                <a:latin typeface="Times New Roman" panose="02020603050405020304" pitchFamily="18" charset="0"/>
                <a:cs typeface="Times New Roman" panose="02020603050405020304" pitchFamily="18" charset="0"/>
              </a:rPr>
              <a:t>, and </a:t>
            </a:r>
            <a:r>
              <a:rPr lang="en-US" sz="2400" b="0" i="1" u="none" strike="noStrike" baseline="0" dirty="0">
                <a:solidFill>
                  <a:schemeClr val="tx2"/>
                </a:solidFill>
                <a:latin typeface="Times New Roman" panose="02020603050405020304" pitchFamily="18" charset="0"/>
                <a:cs typeface="Times New Roman" panose="02020603050405020304" pitchFamily="18" charset="0"/>
              </a:rPr>
              <a:t>files</a:t>
            </a:r>
            <a:r>
              <a:rPr lang="en-US" sz="2400" b="0" i="0" u="none" strike="noStrike" baseline="0" dirty="0">
                <a:solidFill>
                  <a:schemeClr val="tx2"/>
                </a:solidFill>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r>
              <a:rPr lang="en-US" sz="2400" dirty="0">
                <a:solidFill>
                  <a:schemeClr val="tx2"/>
                </a:solidFill>
                <a:latin typeface="Times New Roman" panose="02020603050405020304" pitchFamily="18" charset="0"/>
                <a:cs typeface="Times New Roman" panose="02020603050405020304" pitchFamily="18" charset="0"/>
              </a:rPr>
              <a:t>F</a:t>
            </a:r>
            <a:r>
              <a:rPr lang="en-US" sz="2400" b="0" i="0" u="none" strike="noStrike" baseline="0" dirty="0">
                <a:solidFill>
                  <a:schemeClr val="tx2"/>
                </a:solidFill>
                <a:latin typeface="Times New Roman" panose="02020603050405020304" pitchFamily="18" charset="0"/>
                <a:cs typeface="Times New Roman" panose="02020603050405020304" pitchFamily="18" charset="0"/>
              </a:rPr>
              <a:t>iles are abstractions for I/O devices, virtual memory is an abstraction for both the main memory and disk I/O devices, and processes are abstractions for the processor, main memory, and I/O devices.</a:t>
            </a:r>
            <a:endParaRPr lang="en-US" sz="2400" dirty="0">
              <a:solidFill>
                <a:schemeClr val="tx2"/>
              </a:solidFill>
              <a:latin typeface="Times New Roman" panose="02020603050405020304" pitchFamily="18" charset="0"/>
              <a:cs typeface="Times New Roman" panose="02020603050405020304" pitchFamily="18" charset="0"/>
            </a:endParaRPr>
          </a:p>
        </p:txBody>
      </p:sp>
      <p:grpSp>
        <p:nvGrpSpPr>
          <p:cNvPr id="20" name="Group 19">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21" name="Freeform: Shape 20">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4" name="Freeform: Shape 23">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a:extLst>
              <a:ext uri="{FF2B5EF4-FFF2-40B4-BE49-F238E27FC236}">
                <a16:creationId xmlns:a16="http://schemas.microsoft.com/office/drawing/2014/main" id="{82F1592F-1877-EAF9-053E-9193FE9A56DE}"/>
              </a:ext>
            </a:extLst>
          </p:cNvPr>
          <p:cNvPicPr>
            <a:picLocks noChangeAspect="1"/>
          </p:cNvPicPr>
          <p:nvPr/>
        </p:nvPicPr>
        <p:blipFill>
          <a:blip r:embed="rId2"/>
          <a:stretch>
            <a:fillRect/>
          </a:stretch>
        </p:blipFill>
        <p:spPr>
          <a:xfrm>
            <a:off x="6585913" y="2699862"/>
            <a:ext cx="4954693" cy="2387261"/>
          </a:xfrm>
          <a:prstGeom prst="rect">
            <a:avLst/>
          </a:prstGeom>
        </p:spPr>
      </p:pic>
    </p:spTree>
    <p:extLst>
      <p:ext uri="{BB962C8B-B14F-4D97-AF65-F5344CB8AC3E}">
        <p14:creationId xmlns:p14="http://schemas.microsoft.com/office/powerpoint/2010/main" val="1363894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1125F5-9C59-99BA-4FDE-D2598434E6FC}"/>
              </a:ext>
            </a:extLst>
          </p:cNvPr>
          <p:cNvSpPr>
            <a:spLocks noGrp="1"/>
          </p:cNvSpPr>
          <p:nvPr>
            <p:ph type="title"/>
          </p:nvPr>
        </p:nvSpPr>
        <p:spPr>
          <a:xfrm>
            <a:off x="808638" y="386930"/>
            <a:ext cx="9236700" cy="1188950"/>
          </a:xfrm>
        </p:spPr>
        <p:txBody>
          <a:bodyPr anchor="b">
            <a:normAutofit/>
          </a:bodyPr>
          <a:lstStyle/>
          <a:p>
            <a:r>
              <a:rPr lang="en-US" sz="5400" b="1" i="0" u="none" strike="noStrike" baseline="0">
                <a:latin typeface="StoneSans-Semibold"/>
              </a:rPr>
              <a:t>Processes</a:t>
            </a:r>
            <a:endParaRPr lang="en-US" sz="54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039C03-802E-C26F-174D-527A58E95A4C}"/>
              </a:ext>
            </a:extLst>
          </p:cNvPr>
          <p:cNvSpPr>
            <a:spLocks noGrp="1"/>
          </p:cNvSpPr>
          <p:nvPr>
            <p:ph idx="1"/>
          </p:nvPr>
        </p:nvSpPr>
        <p:spPr>
          <a:xfrm>
            <a:off x="737407" y="2203079"/>
            <a:ext cx="10143668" cy="4147845"/>
          </a:xfrm>
        </p:spPr>
        <p:txBody>
          <a:bodyPr anchor="ctr">
            <a:normAutofit/>
          </a:bodyPr>
          <a:lstStyle/>
          <a:p>
            <a:pPr>
              <a:buFont typeface="Wingdings" panose="05000000000000000000" pitchFamily="2" charset="2"/>
              <a:buChar char="Ø"/>
            </a:pPr>
            <a:r>
              <a:rPr lang="en-US" sz="1800" b="0" i="0" u="none" strike="noStrike" baseline="0" dirty="0">
                <a:latin typeface="TimesTen-Roman"/>
              </a:rPr>
              <a:t>When a program such as </a:t>
            </a:r>
            <a:r>
              <a:rPr lang="en-US" sz="1800" b="0" i="0" u="none" strike="noStrike" baseline="0" dirty="0">
                <a:latin typeface="ZztexMono-Regular"/>
              </a:rPr>
              <a:t>hello </a:t>
            </a:r>
            <a:r>
              <a:rPr lang="en-US" sz="1800" b="0" i="0" u="none" strike="noStrike" baseline="0" dirty="0">
                <a:latin typeface="TimesTen-Roman"/>
              </a:rPr>
              <a:t>runs on a modern system, the operating system provides the illusion that the only one  program is running on the system.</a:t>
            </a:r>
          </a:p>
          <a:p>
            <a:pPr>
              <a:buFont typeface="Wingdings" panose="05000000000000000000" pitchFamily="2" charset="2"/>
              <a:buChar char="Ø"/>
            </a:pPr>
            <a:r>
              <a:rPr lang="en-US" sz="1800" b="0" i="0" u="none" strike="noStrike" baseline="0" dirty="0">
                <a:latin typeface="TimesTen-Roman"/>
              </a:rPr>
              <a:t>The program appears to have exclusive use of both the processor, main memory, and I/O devices.</a:t>
            </a:r>
          </a:p>
          <a:p>
            <a:pPr>
              <a:buFont typeface="Wingdings" panose="05000000000000000000" pitchFamily="2" charset="2"/>
              <a:buChar char="Ø"/>
            </a:pPr>
            <a:r>
              <a:rPr lang="en-US" sz="1800" b="0" i="0" u="none" strike="noStrike" baseline="0" dirty="0">
                <a:latin typeface="TimesTen-Roman"/>
              </a:rPr>
              <a:t>The processor appears to execute the instructions in the program, one after the other, without interruption And the code and data of the program appear to be the only objects in the system’s memory.</a:t>
            </a:r>
          </a:p>
          <a:p>
            <a:pPr>
              <a:buFont typeface="Wingdings" panose="05000000000000000000" pitchFamily="2" charset="2"/>
              <a:buChar char="Ø"/>
            </a:pPr>
            <a:r>
              <a:rPr lang="en-US" sz="1800" b="0" i="0" u="none" strike="noStrike" baseline="0" dirty="0">
                <a:latin typeface="TimesTen-Roman"/>
              </a:rPr>
              <a:t>A </a:t>
            </a:r>
            <a:r>
              <a:rPr lang="en-US" sz="1800" b="0" i="1" u="none" strike="noStrike" baseline="0" dirty="0">
                <a:latin typeface="TimesTen-Italic"/>
              </a:rPr>
              <a:t>process </a:t>
            </a:r>
            <a:r>
              <a:rPr lang="en-US" sz="1800" b="0" i="0" u="none" strike="noStrike" baseline="0" dirty="0">
                <a:latin typeface="TimesTen-Roman"/>
              </a:rPr>
              <a:t>is the operating system’s abstraction for a running program. Multiple processes can run concurrently on the same system, and each process appears to have exclusive use of the hardware.</a:t>
            </a:r>
          </a:p>
          <a:p>
            <a:pPr>
              <a:buFont typeface="Wingdings" panose="05000000000000000000" pitchFamily="2" charset="2"/>
              <a:buChar char="Ø"/>
            </a:pPr>
            <a:r>
              <a:rPr lang="en-US" sz="1800" b="0" i="0" u="none" strike="noStrike" baseline="0" dirty="0">
                <a:latin typeface="TimesTen-Roman"/>
              </a:rPr>
              <a:t>Traditional systems could only execute one program at a time, while newer </a:t>
            </a:r>
            <a:r>
              <a:rPr lang="en-US" sz="1800" b="0" i="1" u="none" strike="noStrike" baseline="0" dirty="0">
                <a:latin typeface="TimesTen-Italic"/>
              </a:rPr>
              <a:t>multicore </a:t>
            </a:r>
            <a:r>
              <a:rPr lang="en-US" sz="1800" b="0" i="0" u="none" strike="noStrike" baseline="0" dirty="0">
                <a:latin typeface="TimesTen-Roman"/>
              </a:rPr>
              <a:t>processors can execute several programs simultaneously.</a:t>
            </a:r>
          </a:p>
          <a:p>
            <a:pPr>
              <a:buFont typeface="Wingdings" panose="05000000000000000000" pitchFamily="2" charset="2"/>
              <a:buChar char="Ø"/>
            </a:pPr>
            <a:r>
              <a:rPr lang="en-US" sz="1800" b="0" i="0" u="none" strike="noStrike" baseline="0" dirty="0">
                <a:latin typeface="TimesTen-Roman"/>
              </a:rPr>
              <a:t>In either case, a single CPU can appear to execute multiple processes concurrently by having the processor switch among them. </a:t>
            </a:r>
          </a:p>
          <a:p>
            <a:pPr>
              <a:buFont typeface="Wingdings" panose="05000000000000000000" pitchFamily="2" charset="2"/>
              <a:buChar char="Ø"/>
            </a:pPr>
            <a:r>
              <a:rPr lang="en-US" sz="1800" b="0" i="0" u="none" strike="noStrike" baseline="0" dirty="0">
                <a:latin typeface="TimesTen-Roman"/>
              </a:rPr>
              <a:t>The operating system performs this interleaving  with a mechanism known as </a:t>
            </a:r>
            <a:r>
              <a:rPr lang="en-US" sz="1800" b="0" i="1" u="none" strike="noStrike" baseline="0" dirty="0">
                <a:latin typeface="TimesTen-Italic"/>
              </a:rPr>
              <a:t>context switching</a:t>
            </a:r>
            <a:endParaRPr lang="en-US" sz="1800" dirty="0"/>
          </a:p>
        </p:txBody>
      </p:sp>
    </p:spTree>
    <p:extLst>
      <p:ext uri="{BB962C8B-B14F-4D97-AF65-F5344CB8AC3E}">
        <p14:creationId xmlns:p14="http://schemas.microsoft.com/office/powerpoint/2010/main" val="39465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953EC90C-082B-4667-A29F-E4E4D515A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lor Cover">
            <a:extLst>
              <a:ext uri="{FF2B5EF4-FFF2-40B4-BE49-F238E27FC236}">
                <a16:creationId xmlns:a16="http://schemas.microsoft.com/office/drawing/2014/main" id="{E99FF883-3EBA-49CC-8D77-1EE69E182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rgbClr val="FEC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1080CC40-197E-4064-A999-72A67A9D9B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5" name="Color">
              <a:extLst>
                <a:ext uri="{FF2B5EF4-FFF2-40B4-BE49-F238E27FC236}">
                  <a16:creationId xmlns:a16="http://schemas.microsoft.com/office/drawing/2014/main" id="{D8AB7BAA-8B3E-4E09-88C6-BB6C8F22F9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24142A11-1685-445B-A5A3-B842B86CE2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a:extLst>
              <a:ext uri="{FF2B5EF4-FFF2-40B4-BE49-F238E27FC236}">
                <a16:creationId xmlns:a16="http://schemas.microsoft.com/office/drawing/2014/main" id="{86BF1BC8-91C2-E87B-6D98-53AE635B1C15}"/>
              </a:ext>
            </a:extLst>
          </p:cNvPr>
          <p:cNvPicPr>
            <a:picLocks noChangeAspect="1"/>
          </p:cNvPicPr>
          <p:nvPr/>
        </p:nvPicPr>
        <p:blipFill>
          <a:blip r:embed="rId2"/>
          <a:stretch>
            <a:fillRect/>
          </a:stretch>
        </p:blipFill>
        <p:spPr>
          <a:xfrm>
            <a:off x="4280011" y="3428426"/>
            <a:ext cx="7262372" cy="2850419"/>
          </a:xfrm>
          <a:prstGeom prst="rect">
            <a:avLst/>
          </a:prstGeom>
        </p:spPr>
      </p:pic>
      <p:grpSp>
        <p:nvGrpSpPr>
          <p:cNvPr id="18" name="Group 17">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9" name="Freeform: Shape 18">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3" name="Content Placeholder 2">
            <a:extLst>
              <a:ext uri="{FF2B5EF4-FFF2-40B4-BE49-F238E27FC236}">
                <a16:creationId xmlns:a16="http://schemas.microsoft.com/office/drawing/2014/main" id="{E22E039A-F0FA-8C89-981D-EA6B6572C188}"/>
              </a:ext>
            </a:extLst>
          </p:cNvPr>
          <p:cNvSpPr>
            <a:spLocks noGrp="1"/>
          </p:cNvSpPr>
          <p:nvPr>
            <p:ph idx="4294967295"/>
          </p:nvPr>
        </p:nvSpPr>
        <p:spPr>
          <a:xfrm>
            <a:off x="4280007" y="546340"/>
            <a:ext cx="7262372" cy="2736505"/>
          </a:xfrm>
        </p:spPr>
        <p:txBody>
          <a:bodyPr vert="horz" lIns="91440" tIns="45720" rIns="91440" bIns="45720" rtlCol="0" anchor="ctr">
            <a:normAutofit lnSpcReduction="10000"/>
          </a:bodyPr>
          <a:lstStyle/>
          <a:p>
            <a:pPr>
              <a:buFont typeface="Wingdings" panose="05000000000000000000" pitchFamily="2" charset="2"/>
              <a:buChar char="Ø"/>
            </a:pPr>
            <a:r>
              <a:rPr lang="en-US" sz="1800" b="0" i="0" u="none" strike="noStrike" baseline="0" dirty="0">
                <a:solidFill>
                  <a:schemeClr val="tx2"/>
                </a:solidFill>
              </a:rPr>
              <a:t>The operating system keeps track of all the state information that the process needs in order to run. This state, which is known as the </a:t>
            </a:r>
            <a:r>
              <a:rPr lang="en-US" sz="1800" b="0" i="1" u="none" strike="noStrike" baseline="0" dirty="0">
                <a:solidFill>
                  <a:schemeClr val="tx2"/>
                </a:solidFill>
              </a:rPr>
              <a:t>context</a:t>
            </a:r>
            <a:r>
              <a:rPr lang="en-US" sz="1800" b="0" i="0" u="none" strike="noStrike" baseline="0" dirty="0">
                <a:solidFill>
                  <a:schemeClr val="tx2"/>
                </a:solidFill>
              </a:rPr>
              <a:t>, includes information such as the current values of the PC, the register file, and the contents of main memory.</a:t>
            </a:r>
          </a:p>
          <a:p>
            <a:pPr>
              <a:buFont typeface="Wingdings" panose="05000000000000000000" pitchFamily="2" charset="2"/>
              <a:buChar char="Ø"/>
            </a:pPr>
            <a:r>
              <a:rPr lang="en-US" sz="1800" b="0" i="0" u="none" strike="noStrike" baseline="0" dirty="0">
                <a:solidFill>
                  <a:schemeClr val="tx2"/>
                </a:solidFill>
              </a:rPr>
              <a:t>At any point in time, a uniprocessor system can only execute the code for a single process. When the operating system decides to transfer control from the current process to some new process, it performs a </a:t>
            </a:r>
            <a:r>
              <a:rPr lang="en-US" sz="1800" b="0" i="1" u="none" strike="noStrike" baseline="0" dirty="0">
                <a:solidFill>
                  <a:schemeClr val="tx2"/>
                </a:solidFill>
              </a:rPr>
              <a:t>context switch </a:t>
            </a:r>
            <a:r>
              <a:rPr lang="en-US" sz="1800" b="0" i="0" u="none" strike="noStrike" baseline="0" dirty="0">
                <a:solidFill>
                  <a:schemeClr val="tx2"/>
                </a:solidFill>
              </a:rPr>
              <a:t>by saving the context of the current process, restoring the context of the new process then passing control to the new process. </a:t>
            </a:r>
          </a:p>
          <a:p>
            <a:pPr>
              <a:buFont typeface="Wingdings" panose="05000000000000000000" pitchFamily="2" charset="2"/>
              <a:buChar char="Ø"/>
            </a:pPr>
            <a:r>
              <a:rPr lang="en-US" sz="1800" b="0" i="0" u="none" strike="noStrike" baseline="0" dirty="0">
                <a:solidFill>
                  <a:schemeClr val="tx2"/>
                </a:solidFill>
              </a:rPr>
              <a:t>The new process picks up exactly where it left off.</a:t>
            </a:r>
          </a:p>
          <a:p>
            <a:endParaRPr lang="en-US" sz="1500" dirty="0">
              <a:solidFill>
                <a:schemeClr val="tx2"/>
              </a:solidFill>
            </a:endParaRPr>
          </a:p>
        </p:txBody>
      </p:sp>
      <p:sp>
        <p:nvSpPr>
          <p:cNvPr id="2" name="TextBox 1">
            <a:extLst>
              <a:ext uri="{FF2B5EF4-FFF2-40B4-BE49-F238E27FC236}">
                <a16:creationId xmlns:a16="http://schemas.microsoft.com/office/drawing/2014/main" id="{5085175F-8D16-E776-E323-3EF9D836D58C}"/>
              </a:ext>
            </a:extLst>
          </p:cNvPr>
          <p:cNvSpPr txBox="1"/>
          <p:nvPr/>
        </p:nvSpPr>
        <p:spPr>
          <a:xfrm>
            <a:off x="141585" y="2574376"/>
            <a:ext cx="6098344" cy="584775"/>
          </a:xfrm>
          <a:prstGeom prst="rect">
            <a:avLst/>
          </a:prstGeom>
          <a:noFill/>
        </p:spPr>
        <p:txBody>
          <a:bodyPr wrap="square">
            <a:spAutoFit/>
          </a:bodyPr>
          <a:lstStyle/>
          <a:p>
            <a:r>
              <a:rPr lang="en-US" sz="3200" b="0" i="0" u="none" strike="noStrike" baseline="0" dirty="0">
                <a:latin typeface="TimesTen-Roman"/>
              </a:rPr>
              <a:t>Context Switching</a:t>
            </a:r>
            <a:endParaRPr lang="en-US" sz="3200" dirty="0"/>
          </a:p>
        </p:txBody>
      </p:sp>
    </p:spTree>
    <p:extLst>
      <p:ext uri="{BB962C8B-B14F-4D97-AF65-F5344CB8AC3E}">
        <p14:creationId xmlns:p14="http://schemas.microsoft.com/office/powerpoint/2010/main" val="2030571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953EC90C-082B-4667-A29F-E4E4D515A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lor Cover">
            <a:extLst>
              <a:ext uri="{FF2B5EF4-FFF2-40B4-BE49-F238E27FC236}">
                <a16:creationId xmlns:a16="http://schemas.microsoft.com/office/drawing/2014/main" id="{E99FF883-3EBA-49CC-8D77-1EE69E182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rgbClr val="FEC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1080CC40-197E-4064-A999-72A67A9D9B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5" name="Color">
              <a:extLst>
                <a:ext uri="{FF2B5EF4-FFF2-40B4-BE49-F238E27FC236}">
                  <a16:creationId xmlns:a16="http://schemas.microsoft.com/office/drawing/2014/main" id="{D8AB7BAA-8B3E-4E09-88C6-BB6C8F22F9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24142A11-1685-445B-A5A3-B842B86CE2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9" name="Freeform: Shape 18">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4" name="TextBox 3">
            <a:extLst>
              <a:ext uri="{FF2B5EF4-FFF2-40B4-BE49-F238E27FC236}">
                <a16:creationId xmlns:a16="http://schemas.microsoft.com/office/drawing/2014/main" id="{6F51DA7C-4E2A-BCA8-0A94-1B1D81095DB2}"/>
              </a:ext>
            </a:extLst>
          </p:cNvPr>
          <p:cNvSpPr txBox="1"/>
          <p:nvPr/>
        </p:nvSpPr>
        <p:spPr>
          <a:xfrm>
            <a:off x="4162018" y="671883"/>
            <a:ext cx="7813671" cy="5864875"/>
          </a:xfrm>
          <a:prstGeom prst="rect">
            <a:avLst/>
          </a:prstGeom>
          <a:noFill/>
        </p:spPr>
        <p:txBody>
          <a:bodyPr wrap="square">
            <a:spAutoFit/>
          </a:bodyPr>
          <a:lstStyle/>
          <a:p>
            <a:pPr marL="285750" indent="-285750" algn="l">
              <a:lnSpc>
                <a:spcPct val="150000"/>
              </a:lnSpc>
              <a:buFont typeface="Wingdings" panose="05000000000000000000" pitchFamily="2" charset="2"/>
              <a:buChar char="Ø"/>
            </a:pPr>
            <a:r>
              <a:rPr lang="en-US" sz="1800" b="0" i="0" u="none" strike="noStrike" baseline="0" dirty="0">
                <a:latin typeface="TimesTen-Roman"/>
              </a:rPr>
              <a:t>There are two concurrent processes in our example scenario: the shell process and the </a:t>
            </a:r>
            <a:r>
              <a:rPr lang="en-US" sz="1800" b="0" i="0" u="none" strike="noStrike" baseline="0" dirty="0">
                <a:latin typeface="ZztexMono-Regular"/>
              </a:rPr>
              <a:t>hello </a:t>
            </a:r>
            <a:r>
              <a:rPr lang="en-US" sz="1800" b="0" i="0" u="none" strike="noStrike" baseline="0" dirty="0">
                <a:latin typeface="TimesTen-Roman"/>
              </a:rPr>
              <a:t>process.</a:t>
            </a:r>
          </a:p>
          <a:p>
            <a:pPr marL="285750" indent="-285750" algn="l">
              <a:lnSpc>
                <a:spcPct val="150000"/>
              </a:lnSpc>
              <a:buFont typeface="Wingdings" panose="05000000000000000000" pitchFamily="2" charset="2"/>
              <a:buChar char="Ø"/>
            </a:pPr>
            <a:r>
              <a:rPr lang="en-US" sz="1800" b="0" i="0" u="none" strike="noStrike" baseline="0" dirty="0">
                <a:latin typeface="TimesTen-Roman"/>
              </a:rPr>
              <a:t> Initially, the shell process is running alone, waiting for input on the command line.</a:t>
            </a:r>
          </a:p>
          <a:p>
            <a:pPr marL="285750" indent="-285750" algn="l">
              <a:lnSpc>
                <a:spcPct val="150000"/>
              </a:lnSpc>
              <a:buFont typeface="Wingdings" panose="05000000000000000000" pitchFamily="2" charset="2"/>
              <a:buChar char="Ø"/>
            </a:pPr>
            <a:r>
              <a:rPr lang="en-US" sz="1800" b="0" i="0" u="none" strike="noStrike" baseline="0" dirty="0">
                <a:latin typeface="TimesTen-Roman"/>
              </a:rPr>
              <a:t>When we ask it to run the </a:t>
            </a:r>
            <a:r>
              <a:rPr lang="en-US" sz="1800" b="0" i="0" u="none" strike="noStrike" baseline="0" dirty="0">
                <a:latin typeface="ZztexMono-Regular"/>
              </a:rPr>
              <a:t>hello </a:t>
            </a:r>
            <a:r>
              <a:rPr lang="en-US" sz="1800" b="0" i="0" u="none" strike="noStrike" baseline="0" dirty="0">
                <a:latin typeface="TimesTen-Roman"/>
              </a:rPr>
              <a:t>program, the shell carries out our request by invoking a special function known as a </a:t>
            </a:r>
            <a:r>
              <a:rPr lang="en-US" sz="1800" b="0" i="1" u="none" strike="noStrike" baseline="0" dirty="0">
                <a:latin typeface="TimesTen-Italic"/>
              </a:rPr>
              <a:t>system call </a:t>
            </a:r>
            <a:r>
              <a:rPr lang="en-US" sz="1800" b="0" i="0" u="none" strike="noStrike" baseline="0" dirty="0">
                <a:latin typeface="TimesTen-Roman"/>
              </a:rPr>
              <a:t>that passes control to the operating system. </a:t>
            </a:r>
          </a:p>
          <a:p>
            <a:pPr marL="285750" indent="-285750" algn="l">
              <a:lnSpc>
                <a:spcPct val="150000"/>
              </a:lnSpc>
              <a:buFont typeface="Wingdings" panose="05000000000000000000" pitchFamily="2" charset="2"/>
              <a:buChar char="Ø"/>
            </a:pPr>
            <a:r>
              <a:rPr lang="en-US" sz="1800" b="0" i="0" u="none" strike="noStrike" baseline="0" dirty="0">
                <a:latin typeface="TimesTen-Roman"/>
              </a:rPr>
              <a:t>The operating system saves the shell’s context, creates a new </a:t>
            </a:r>
            <a:r>
              <a:rPr lang="en-US" sz="1800" b="0" i="0" u="none" strike="noStrike" baseline="0" dirty="0">
                <a:latin typeface="ZztexMono-Regular"/>
              </a:rPr>
              <a:t>hello </a:t>
            </a:r>
            <a:r>
              <a:rPr lang="en-US" sz="1800" b="0" i="0" u="none" strike="noStrike" baseline="0" dirty="0">
                <a:latin typeface="TimesTen-Roman"/>
              </a:rPr>
              <a:t>process and its context, and then passes control to the new </a:t>
            </a:r>
            <a:r>
              <a:rPr lang="en-US" sz="1800" b="0" i="0" u="none" strike="noStrike" baseline="0" dirty="0">
                <a:latin typeface="ZztexMono-Regular"/>
              </a:rPr>
              <a:t>hello </a:t>
            </a:r>
            <a:r>
              <a:rPr lang="en-US" sz="1800" b="0" i="0" u="none" strike="noStrike" baseline="0" dirty="0">
                <a:latin typeface="TimesTen-Roman"/>
              </a:rPr>
              <a:t>process.</a:t>
            </a:r>
          </a:p>
          <a:p>
            <a:pPr marL="285750" indent="-285750" algn="l">
              <a:lnSpc>
                <a:spcPct val="150000"/>
              </a:lnSpc>
              <a:buFont typeface="Wingdings" panose="05000000000000000000" pitchFamily="2" charset="2"/>
              <a:buChar char="Ø"/>
            </a:pPr>
            <a:r>
              <a:rPr lang="en-US" sz="1800" b="0" i="0" u="none" strike="noStrike" baseline="0" dirty="0">
                <a:latin typeface="TimesTen-Roman"/>
              </a:rPr>
              <a:t> After </a:t>
            </a:r>
            <a:r>
              <a:rPr lang="en-US" sz="1800" b="0" i="0" u="none" strike="noStrike" baseline="0" dirty="0">
                <a:latin typeface="ZztexMono-Regular"/>
              </a:rPr>
              <a:t>hello </a:t>
            </a:r>
            <a:r>
              <a:rPr lang="en-US" sz="1800" b="0" i="0" u="none" strike="noStrike" baseline="0" dirty="0">
                <a:latin typeface="TimesTen-Roman"/>
              </a:rPr>
              <a:t>terminates, the operating system restores the context of the shell process and passes control back to it, where it waits for the next command-line input.</a:t>
            </a:r>
          </a:p>
          <a:p>
            <a:pPr marL="285750" indent="-285750" algn="l">
              <a:lnSpc>
                <a:spcPct val="150000"/>
              </a:lnSpc>
              <a:buFont typeface="Wingdings" panose="05000000000000000000" pitchFamily="2" charset="2"/>
              <a:buChar char="Ø"/>
            </a:pPr>
            <a:r>
              <a:rPr lang="en-US" sz="1800" dirty="0">
                <a:latin typeface="TimesTen-Roman"/>
              </a:rPr>
              <a:t>T</a:t>
            </a:r>
            <a:r>
              <a:rPr lang="en-US" sz="1800" b="0" i="0" u="none" strike="noStrike" baseline="0" dirty="0">
                <a:latin typeface="TimesTen-Roman"/>
              </a:rPr>
              <a:t>he transition from one process to another is managed  by the operating system </a:t>
            </a:r>
            <a:r>
              <a:rPr lang="en-US" sz="1800" b="0" i="1" u="none" strike="noStrike" baseline="0" dirty="0">
                <a:latin typeface="TimesTen-Italic"/>
              </a:rPr>
              <a:t>kernel</a:t>
            </a:r>
            <a:r>
              <a:rPr lang="en-US" sz="1800" b="0" i="0" u="none" strike="noStrike" baseline="0" dirty="0">
                <a:latin typeface="TimesTen-Roman"/>
              </a:rPr>
              <a:t>.</a:t>
            </a:r>
            <a:endParaRPr lang="en-US" dirty="0"/>
          </a:p>
        </p:txBody>
      </p:sp>
      <p:sp>
        <p:nvSpPr>
          <p:cNvPr id="3" name="TextBox 2">
            <a:extLst>
              <a:ext uri="{FF2B5EF4-FFF2-40B4-BE49-F238E27FC236}">
                <a16:creationId xmlns:a16="http://schemas.microsoft.com/office/drawing/2014/main" id="{1220C242-0592-840B-E1D4-266B3B4A19CF}"/>
              </a:ext>
            </a:extLst>
          </p:cNvPr>
          <p:cNvSpPr txBox="1"/>
          <p:nvPr/>
        </p:nvSpPr>
        <p:spPr>
          <a:xfrm>
            <a:off x="141585" y="2574376"/>
            <a:ext cx="6098344" cy="584775"/>
          </a:xfrm>
          <a:prstGeom prst="rect">
            <a:avLst/>
          </a:prstGeom>
          <a:noFill/>
        </p:spPr>
        <p:txBody>
          <a:bodyPr wrap="square">
            <a:spAutoFit/>
          </a:bodyPr>
          <a:lstStyle/>
          <a:p>
            <a:r>
              <a:rPr lang="en-US" sz="3200" b="0" i="0" u="none" strike="noStrike" baseline="0" dirty="0">
                <a:latin typeface="TimesTen-Roman"/>
              </a:rPr>
              <a:t>Context Switching</a:t>
            </a:r>
            <a:endParaRPr lang="en-US" sz="3200" dirty="0"/>
          </a:p>
        </p:txBody>
      </p:sp>
    </p:spTree>
    <p:extLst>
      <p:ext uri="{BB962C8B-B14F-4D97-AF65-F5344CB8AC3E}">
        <p14:creationId xmlns:p14="http://schemas.microsoft.com/office/powerpoint/2010/main" val="4132572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953EC90C-082B-4667-A29F-E4E4D515A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lor Cover">
            <a:extLst>
              <a:ext uri="{FF2B5EF4-FFF2-40B4-BE49-F238E27FC236}">
                <a16:creationId xmlns:a16="http://schemas.microsoft.com/office/drawing/2014/main" id="{E99FF883-3EBA-49CC-8D77-1EE69E182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rgbClr val="FECA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1080CC40-197E-4064-A999-72A67A9D9B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5" name="Color">
              <a:extLst>
                <a:ext uri="{FF2B5EF4-FFF2-40B4-BE49-F238E27FC236}">
                  <a16:creationId xmlns:a16="http://schemas.microsoft.com/office/drawing/2014/main" id="{D8AB7BAA-8B3E-4E09-88C6-BB6C8F22F9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24142A11-1685-445B-A5A3-B842B86CE2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9" name="Freeform: Shape 18">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4" name="TextBox 3">
            <a:extLst>
              <a:ext uri="{FF2B5EF4-FFF2-40B4-BE49-F238E27FC236}">
                <a16:creationId xmlns:a16="http://schemas.microsoft.com/office/drawing/2014/main" id="{6F51DA7C-4E2A-BCA8-0A94-1B1D81095DB2}"/>
              </a:ext>
            </a:extLst>
          </p:cNvPr>
          <p:cNvSpPr txBox="1"/>
          <p:nvPr/>
        </p:nvSpPr>
        <p:spPr>
          <a:xfrm>
            <a:off x="3924700" y="1415321"/>
            <a:ext cx="7813671" cy="3371885"/>
          </a:xfrm>
          <a:prstGeom prst="rect">
            <a:avLst/>
          </a:prstGeom>
          <a:noFill/>
        </p:spPr>
        <p:txBody>
          <a:bodyPr wrap="square">
            <a:spAutoFit/>
          </a:bodyPr>
          <a:lstStyle/>
          <a:p>
            <a:pPr marL="285750" indent="-285750" algn="l">
              <a:lnSpc>
                <a:spcPct val="150000"/>
              </a:lnSpc>
              <a:buFont typeface="Wingdings" panose="05000000000000000000" pitchFamily="2" charset="2"/>
              <a:buChar char="Ø"/>
            </a:pPr>
            <a:r>
              <a:rPr lang="en-US" sz="1800" b="0" i="0" u="none" strike="noStrike" baseline="0" dirty="0">
                <a:latin typeface="TimesTen-Roman"/>
              </a:rPr>
              <a:t>The kernel is the portion of the operating system code that is always resident in memory. When an application program requires some action by the operating system, such as to read or write a file, it executes a special </a:t>
            </a:r>
            <a:r>
              <a:rPr lang="en-US" sz="1800" b="0" i="1" u="none" strike="noStrike" baseline="0" dirty="0">
                <a:latin typeface="TimesTen-Italic"/>
              </a:rPr>
              <a:t>system call </a:t>
            </a:r>
            <a:r>
              <a:rPr lang="en-US" sz="1800" b="0" i="0" u="none" strike="noStrike" baseline="0" dirty="0">
                <a:latin typeface="TimesTen-Roman"/>
              </a:rPr>
              <a:t>instruction, transferring control to the kernel.</a:t>
            </a:r>
          </a:p>
          <a:p>
            <a:pPr marL="285750" indent="-285750" algn="l">
              <a:lnSpc>
                <a:spcPct val="150000"/>
              </a:lnSpc>
              <a:buFont typeface="Wingdings" panose="05000000000000000000" pitchFamily="2" charset="2"/>
              <a:buChar char="Ø"/>
            </a:pPr>
            <a:r>
              <a:rPr lang="en-US" sz="1800" b="0" i="0" u="none" strike="noStrike" baseline="0" dirty="0">
                <a:latin typeface="TimesTen-Roman"/>
              </a:rPr>
              <a:t>The kernel then performs the requested operation and returns back to the application program.</a:t>
            </a:r>
          </a:p>
          <a:p>
            <a:pPr marL="285750" indent="-285750" algn="l">
              <a:lnSpc>
                <a:spcPct val="150000"/>
              </a:lnSpc>
              <a:buFont typeface="Wingdings" panose="05000000000000000000" pitchFamily="2" charset="2"/>
              <a:buChar char="Ø"/>
            </a:pPr>
            <a:r>
              <a:rPr lang="en-US" sz="1800" dirty="0">
                <a:latin typeface="TimesTen-Roman"/>
              </a:rPr>
              <a:t>T</a:t>
            </a:r>
            <a:r>
              <a:rPr lang="en-US" sz="1800" b="0" i="0" u="none" strike="noStrike" baseline="0" dirty="0">
                <a:latin typeface="TimesTen-Roman"/>
              </a:rPr>
              <a:t>he kernel is not a separate process. Instead, it is a collection of code and data structures that the system uses to manage all the processes. </a:t>
            </a:r>
            <a:endParaRPr lang="en-US" dirty="0"/>
          </a:p>
        </p:txBody>
      </p:sp>
      <p:sp>
        <p:nvSpPr>
          <p:cNvPr id="3" name="TextBox 2">
            <a:extLst>
              <a:ext uri="{FF2B5EF4-FFF2-40B4-BE49-F238E27FC236}">
                <a16:creationId xmlns:a16="http://schemas.microsoft.com/office/drawing/2014/main" id="{E2DF23CC-E8BE-1F45-F2A8-B86C3075C5DE}"/>
              </a:ext>
            </a:extLst>
          </p:cNvPr>
          <p:cNvSpPr txBox="1"/>
          <p:nvPr/>
        </p:nvSpPr>
        <p:spPr>
          <a:xfrm>
            <a:off x="613015" y="2413372"/>
            <a:ext cx="2066741" cy="830997"/>
          </a:xfrm>
          <a:prstGeom prst="rect">
            <a:avLst/>
          </a:prstGeom>
          <a:noFill/>
        </p:spPr>
        <p:txBody>
          <a:bodyPr wrap="square">
            <a:spAutoFit/>
          </a:bodyPr>
          <a:lstStyle/>
          <a:p>
            <a:r>
              <a:rPr lang="en-US" sz="4800" b="0" i="0" u="none" strike="noStrike" baseline="0" dirty="0">
                <a:latin typeface="TimesTen-Roman"/>
              </a:rPr>
              <a:t>kernel</a:t>
            </a:r>
            <a:endParaRPr lang="en-US" sz="4800" dirty="0"/>
          </a:p>
        </p:txBody>
      </p:sp>
    </p:spTree>
    <p:extLst>
      <p:ext uri="{BB962C8B-B14F-4D97-AF65-F5344CB8AC3E}">
        <p14:creationId xmlns:p14="http://schemas.microsoft.com/office/powerpoint/2010/main" val="3858499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33071-A948-103C-0AC8-D357D3A7CF86}"/>
              </a:ext>
            </a:extLst>
          </p:cNvPr>
          <p:cNvSpPr>
            <a:spLocks noGrp="1"/>
          </p:cNvSpPr>
          <p:nvPr>
            <p:ph type="title"/>
          </p:nvPr>
        </p:nvSpPr>
        <p:spPr>
          <a:xfrm>
            <a:off x="589560" y="856180"/>
            <a:ext cx="4560584" cy="1128068"/>
          </a:xfrm>
        </p:spPr>
        <p:txBody>
          <a:bodyPr anchor="ctr">
            <a:normAutofit/>
          </a:bodyPr>
          <a:lstStyle/>
          <a:p>
            <a:r>
              <a:rPr lang="en-US" sz="4000" b="1" i="0" u="none" strike="noStrike" baseline="0">
                <a:latin typeface="StoneSans-Semibold"/>
              </a:rPr>
              <a:t>Threads</a:t>
            </a:r>
            <a:endParaRPr lang="en-US" sz="4000"/>
          </a:p>
        </p:txBody>
      </p:sp>
      <p:grpSp>
        <p:nvGrpSpPr>
          <p:cNvPr id="19" name="Group 18">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240698-935C-D726-362F-82B0F61688B3}"/>
              </a:ext>
            </a:extLst>
          </p:cNvPr>
          <p:cNvSpPr>
            <a:spLocks noGrp="1"/>
          </p:cNvSpPr>
          <p:nvPr>
            <p:ph idx="1"/>
          </p:nvPr>
        </p:nvSpPr>
        <p:spPr>
          <a:xfrm>
            <a:off x="590719" y="2330505"/>
            <a:ext cx="4559425" cy="3979585"/>
          </a:xfrm>
        </p:spPr>
        <p:txBody>
          <a:bodyPr anchor="ctr">
            <a:normAutofit/>
          </a:bodyPr>
          <a:lstStyle/>
          <a:p>
            <a:r>
              <a:rPr lang="en-US" sz="2000" b="0" i="0" u="none" strike="noStrike" baseline="0">
                <a:latin typeface="TimesTen-Roman"/>
              </a:rPr>
              <a:t> We normally think of a process as having a single control flow,</a:t>
            </a:r>
          </a:p>
          <a:p>
            <a:r>
              <a:rPr lang="en-US" sz="2000" b="0" i="0" u="none" strike="noStrike" baseline="0">
                <a:latin typeface="TimesTen-Roman"/>
              </a:rPr>
              <a:t> In modern systems a process can actually consist of multiple execution units, called </a:t>
            </a:r>
            <a:r>
              <a:rPr lang="en-US" sz="2000" b="0" i="1" u="none" strike="noStrike" baseline="0">
                <a:latin typeface="TimesTen-Italic"/>
              </a:rPr>
              <a:t>threads</a:t>
            </a:r>
            <a:r>
              <a:rPr lang="en-US" sz="2000" b="0" i="0" u="none" strike="noStrike" baseline="0">
                <a:latin typeface="TimesTen-Roman"/>
              </a:rPr>
              <a:t>, each running in the context of the process and sharing the same code and global data.</a:t>
            </a:r>
          </a:p>
          <a:p>
            <a:r>
              <a:rPr lang="en-US" sz="2000" b="0" i="0" u="none" strike="noStrike" baseline="0">
                <a:latin typeface="TimesTen-Roman"/>
              </a:rPr>
              <a:t>Multi-threading is also one way to make programs run faster</a:t>
            </a:r>
            <a:endParaRPr lang="en-US" sz="2000"/>
          </a:p>
        </p:txBody>
      </p:sp>
      <p:sp>
        <p:nvSpPr>
          <p:cNvPr id="18"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program&#10;&#10;Description automatically generated">
            <a:extLst>
              <a:ext uri="{FF2B5EF4-FFF2-40B4-BE49-F238E27FC236}">
                <a16:creationId xmlns:a16="http://schemas.microsoft.com/office/drawing/2014/main" id="{819752CD-DDDE-D63D-704E-431515262149}"/>
              </a:ext>
            </a:extLst>
          </p:cNvPr>
          <p:cNvPicPr>
            <a:picLocks noChangeAspect="1"/>
          </p:cNvPicPr>
          <p:nvPr/>
        </p:nvPicPr>
        <p:blipFill rotWithShape="1">
          <a:blip r:embed="rId2"/>
          <a:srcRect r="4649" b="-2"/>
          <a:stretch/>
        </p:blipFill>
        <p:spPr>
          <a:xfrm>
            <a:off x="5977788" y="799352"/>
            <a:ext cx="5425410" cy="5259296"/>
          </a:xfrm>
          <a:prstGeom prst="rect">
            <a:avLst/>
          </a:prstGeom>
        </p:spPr>
      </p:pic>
    </p:spTree>
    <p:extLst>
      <p:ext uri="{BB962C8B-B14F-4D97-AF65-F5344CB8AC3E}">
        <p14:creationId xmlns:p14="http://schemas.microsoft.com/office/powerpoint/2010/main" val="1577484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5F3AF9-AB41-F699-DBA5-BE2303F582EC}"/>
              </a:ext>
            </a:extLst>
          </p:cNvPr>
          <p:cNvSpPr>
            <a:spLocks noGrp="1"/>
          </p:cNvSpPr>
          <p:nvPr>
            <p:ph type="title"/>
          </p:nvPr>
        </p:nvSpPr>
        <p:spPr>
          <a:xfrm>
            <a:off x="838200" y="365125"/>
            <a:ext cx="10515600" cy="1325563"/>
          </a:xfrm>
        </p:spPr>
        <p:txBody>
          <a:bodyPr>
            <a:normAutofit/>
          </a:bodyPr>
          <a:lstStyle/>
          <a:p>
            <a:r>
              <a:rPr lang="en-US" sz="5400" b="1" i="0" u="none" strike="noStrike" baseline="0">
                <a:latin typeface="StoneSans-Semibold"/>
              </a:rPr>
              <a:t>Virtual Memory</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0E1C7E8-8C1C-B420-B01A-A7A5F8611783}"/>
              </a:ext>
            </a:extLst>
          </p:cNvPr>
          <p:cNvSpPr>
            <a:spLocks noGrp="1"/>
          </p:cNvSpPr>
          <p:nvPr>
            <p:ph idx="1"/>
          </p:nvPr>
        </p:nvSpPr>
        <p:spPr>
          <a:xfrm>
            <a:off x="838200" y="1929384"/>
            <a:ext cx="10515600" cy="4251960"/>
          </a:xfrm>
        </p:spPr>
        <p:txBody>
          <a:bodyPr>
            <a:normAutofit/>
          </a:bodyPr>
          <a:lstStyle/>
          <a:p>
            <a:pPr>
              <a:buFont typeface="Wingdings" panose="05000000000000000000" pitchFamily="2" charset="2"/>
              <a:buChar char="Ø"/>
            </a:pPr>
            <a:r>
              <a:rPr lang="en-US" sz="1900" b="0" i="1" u="none" strike="noStrike" baseline="0" dirty="0">
                <a:latin typeface="TimesTen-Italic"/>
              </a:rPr>
              <a:t>Virtual memory </a:t>
            </a:r>
            <a:r>
              <a:rPr lang="en-US" sz="1900" b="0" i="0" u="none" strike="noStrike" baseline="0" dirty="0">
                <a:latin typeface="TimesTen-Roman"/>
              </a:rPr>
              <a:t>is an abstraction that provides each process with the illusion that it has exclusive use of the main memory.</a:t>
            </a:r>
          </a:p>
          <a:p>
            <a:pPr>
              <a:buFont typeface="Wingdings" panose="05000000000000000000" pitchFamily="2" charset="2"/>
              <a:buChar char="Ø"/>
            </a:pPr>
            <a:r>
              <a:rPr lang="en-US" sz="1900" b="0" i="0" u="none" strike="noStrike" baseline="0" dirty="0">
                <a:latin typeface="TimesTen-Roman"/>
              </a:rPr>
              <a:t> Each process has the same uniform view of memory, which is known as its </a:t>
            </a:r>
            <a:r>
              <a:rPr lang="en-US" sz="1900" b="0" i="1" u="none" strike="noStrike" baseline="0" dirty="0">
                <a:latin typeface="TimesTen-Italic"/>
              </a:rPr>
              <a:t>virtual address space</a:t>
            </a:r>
            <a:r>
              <a:rPr lang="en-US" sz="1900" b="0" i="0" u="none" strike="noStrike" baseline="0" dirty="0">
                <a:latin typeface="TimesTen-Roman"/>
              </a:rPr>
              <a:t>.</a:t>
            </a:r>
          </a:p>
          <a:p>
            <a:pPr>
              <a:buFont typeface="Wingdings" panose="05000000000000000000" pitchFamily="2" charset="2"/>
              <a:buChar char="Ø"/>
            </a:pPr>
            <a:r>
              <a:rPr lang="en-US" sz="1900" b="0" i="0" u="none" strike="noStrike" baseline="0" dirty="0">
                <a:latin typeface="TimesTen-Roman"/>
              </a:rPr>
              <a:t>The virtual address space seen by each process consists of a number of well defined</a:t>
            </a:r>
            <a:r>
              <a:rPr lang="en-US" sz="1900" dirty="0">
                <a:latin typeface="TimesTen-Roman"/>
              </a:rPr>
              <a:t> </a:t>
            </a:r>
            <a:r>
              <a:rPr lang="en-US" sz="1900" b="0" i="0" u="none" strike="noStrike" baseline="0" dirty="0">
                <a:latin typeface="TimesTen-Roman"/>
              </a:rPr>
              <a:t>areas, each with a specific purpose</a:t>
            </a:r>
          </a:p>
          <a:p>
            <a:pPr marL="0" indent="0">
              <a:buNone/>
            </a:pPr>
            <a:r>
              <a:rPr lang="en-US" sz="1900" b="1" i="1" u="none" strike="noStrike" baseline="0" dirty="0">
                <a:latin typeface="TimesTen-Italic"/>
              </a:rPr>
              <a:t>Program code and data</a:t>
            </a:r>
            <a:r>
              <a:rPr lang="en-US" sz="1900" b="0" i="1" u="none" strike="noStrike" baseline="0" dirty="0">
                <a:latin typeface="TimesTen-Italic"/>
              </a:rPr>
              <a:t>.</a:t>
            </a:r>
          </a:p>
          <a:p>
            <a:pPr marL="0" indent="0">
              <a:buNone/>
            </a:pPr>
            <a:r>
              <a:rPr lang="en-US" sz="1900" b="0" i="0" u="none" strike="noStrike" baseline="0" dirty="0">
                <a:latin typeface="TimesTen-Roman"/>
              </a:rPr>
              <a:t>Code begins at the same fixed address for all processes, followed by data locations that correspond to global C variables. The code and data areas are initialized directly from the contents of an executable object file—in our case, the </a:t>
            </a:r>
            <a:r>
              <a:rPr lang="en-US" sz="1900" b="0" i="0" u="none" strike="noStrike" baseline="0" dirty="0">
                <a:latin typeface="ZztexMono-Regular"/>
              </a:rPr>
              <a:t>hello </a:t>
            </a:r>
            <a:r>
              <a:rPr lang="en-US" sz="1900" b="0" i="0" u="none" strike="noStrike" baseline="0" dirty="0">
                <a:latin typeface="TimesTen-Roman"/>
              </a:rPr>
              <a:t>executable.</a:t>
            </a:r>
          </a:p>
          <a:p>
            <a:pPr marL="0" indent="0">
              <a:buNone/>
            </a:pPr>
            <a:r>
              <a:rPr lang="en-US" sz="1900" b="1" i="1" u="none" strike="noStrike" baseline="0" dirty="0">
                <a:latin typeface="TimesTen-Italic"/>
              </a:rPr>
              <a:t>Heap.</a:t>
            </a:r>
          </a:p>
          <a:p>
            <a:pPr marL="0" indent="0">
              <a:buNone/>
            </a:pPr>
            <a:r>
              <a:rPr lang="en-US" sz="1900" b="0" i="0" u="none" strike="noStrike" baseline="0" dirty="0">
                <a:latin typeface="TimesTen-Roman"/>
              </a:rPr>
              <a:t>The code and data areas are followed immediately by the run-time </a:t>
            </a:r>
            <a:r>
              <a:rPr lang="en-US" sz="1900" b="0" i="1" u="none" strike="noStrike" baseline="0" dirty="0">
                <a:latin typeface="TimesTen-Italic"/>
              </a:rPr>
              <a:t>heap</a:t>
            </a:r>
            <a:r>
              <a:rPr lang="en-US" sz="1900" b="0" i="0" u="none" strike="noStrike" baseline="0" dirty="0">
                <a:latin typeface="TimesTen-Roman"/>
              </a:rPr>
              <a:t>. Unlike the code and data areas, which are fixed in size once the process begins running, the heap expands and contracts dynamically at run time as a result  of calls to C standard library routines such as </a:t>
            </a:r>
            <a:r>
              <a:rPr lang="en-US" sz="1900" b="0" i="0" u="none" strike="noStrike" baseline="0" dirty="0">
                <a:latin typeface="ZztexMono-Regular"/>
              </a:rPr>
              <a:t>malloc </a:t>
            </a:r>
            <a:r>
              <a:rPr lang="en-US" sz="1900" b="0" i="0" u="none" strike="noStrike" baseline="0" dirty="0">
                <a:latin typeface="TimesTen-Roman"/>
              </a:rPr>
              <a:t>and </a:t>
            </a:r>
            <a:r>
              <a:rPr lang="en-US" sz="1900" b="0" i="0" u="none" strike="noStrike" baseline="0" dirty="0">
                <a:latin typeface="ZztexMono-Regular"/>
              </a:rPr>
              <a:t>free</a:t>
            </a:r>
            <a:endParaRPr lang="en-US" sz="1900" dirty="0"/>
          </a:p>
        </p:txBody>
      </p:sp>
    </p:spTree>
    <p:extLst>
      <p:ext uri="{BB962C8B-B14F-4D97-AF65-F5344CB8AC3E}">
        <p14:creationId xmlns:p14="http://schemas.microsoft.com/office/powerpoint/2010/main" val="2914676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extBox 4">
            <a:extLst>
              <a:ext uri="{FF2B5EF4-FFF2-40B4-BE49-F238E27FC236}">
                <a16:creationId xmlns:a16="http://schemas.microsoft.com/office/drawing/2014/main" id="{33C0DF05-330A-9AB0-7766-FC5DA4198DB1}"/>
              </a:ext>
            </a:extLst>
          </p:cNvPr>
          <p:cNvSpPr txBox="1"/>
          <p:nvPr/>
        </p:nvSpPr>
        <p:spPr>
          <a:xfrm>
            <a:off x="1120690" y="1031146"/>
            <a:ext cx="10515600" cy="4351338"/>
          </a:xfrm>
          <a:prstGeom prst="rect">
            <a:avLst/>
          </a:prstGeom>
        </p:spPr>
        <p:txBody>
          <a:bodyPr vert="horz" lIns="91440" tIns="45720" rIns="91440" bIns="45720" rtlCol="0">
            <a:normAutofit/>
          </a:bodyPr>
          <a:lstStyle/>
          <a:p>
            <a:pPr defTabSz="914400">
              <a:lnSpc>
                <a:spcPct val="90000"/>
              </a:lnSpc>
              <a:spcAft>
                <a:spcPts val="600"/>
              </a:spcAft>
            </a:pPr>
            <a:r>
              <a:rPr lang="en-US" sz="1700" b="1" i="1" u="none" strike="noStrike" baseline="0" dirty="0"/>
              <a:t>Shared libraries.</a:t>
            </a:r>
          </a:p>
          <a:p>
            <a:pPr marL="285750" indent="-285750" defTabSz="914400">
              <a:lnSpc>
                <a:spcPct val="90000"/>
              </a:lnSpc>
              <a:spcAft>
                <a:spcPts val="600"/>
              </a:spcAft>
              <a:buFont typeface="Wingdings" panose="05000000000000000000" pitchFamily="2" charset="2"/>
              <a:buChar char="Ø"/>
            </a:pPr>
            <a:r>
              <a:rPr lang="en-US" sz="1700" b="0" i="0" u="none" strike="noStrike" baseline="0" dirty="0"/>
              <a:t>Near the middle of the address space is an area that holds the code and data for </a:t>
            </a:r>
            <a:r>
              <a:rPr lang="en-US" sz="1700" b="0" i="1" u="none" strike="noStrike" baseline="0" dirty="0"/>
              <a:t>shared libraries </a:t>
            </a:r>
            <a:r>
              <a:rPr lang="en-US" sz="1700" b="0" i="0" u="none" strike="noStrike" baseline="0" dirty="0"/>
              <a:t>such as the C standard library and the math library. </a:t>
            </a:r>
          </a:p>
          <a:p>
            <a:pPr marL="285750" indent="-285750" defTabSz="914400">
              <a:lnSpc>
                <a:spcPct val="90000"/>
              </a:lnSpc>
              <a:spcAft>
                <a:spcPts val="600"/>
              </a:spcAft>
              <a:buFont typeface="Wingdings" panose="05000000000000000000" pitchFamily="2" charset="2"/>
              <a:buChar char="Ø"/>
            </a:pPr>
            <a:r>
              <a:rPr lang="en-US" sz="1700" b="0" i="0" u="none" strike="noStrike" baseline="0" dirty="0"/>
              <a:t>The notion of a shared library is a powerful but somewhat difficult concept.</a:t>
            </a:r>
          </a:p>
          <a:p>
            <a:pPr defTabSz="914400">
              <a:lnSpc>
                <a:spcPct val="90000"/>
              </a:lnSpc>
              <a:spcAft>
                <a:spcPts val="600"/>
              </a:spcAft>
            </a:pPr>
            <a:r>
              <a:rPr lang="en-US" sz="1700" b="1" i="1" u="none" strike="noStrike" baseline="0" dirty="0"/>
              <a:t>Stack</a:t>
            </a:r>
            <a:r>
              <a:rPr lang="en-US" sz="1700" b="0" i="1" u="none" strike="noStrike" baseline="0" dirty="0"/>
              <a:t>. </a:t>
            </a:r>
          </a:p>
          <a:p>
            <a:pPr marL="285750" indent="-285750" defTabSz="914400">
              <a:lnSpc>
                <a:spcPct val="90000"/>
              </a:lnSpc>
              <a:spcAft>
                <a:spcPts val="600"/>
              </a:spcAft>
              <a:buFont typeface="Wingdings" panose="05000000000000000000" pitchFamily="2" charset="2"/>
              <a:buChar char="Ø"/>
            </a:pPr>
            <a:r>
              <a:rPr lang="en-US" sz="1700" b="0" i="0" u="none" strike="noStrike" baseline="0" dirty="0"/>
              <a:t>At the top of the user’s virtual address space is the </a:t>
            </a:r>
            <a:r>
              <a:rPr lang="en-US" sz="1700" b="0" i="1" u="none" strike="noStrike" baseline="0" dirty="0"/>
              <a:t>user stack </a:t>
            </a:r>
            <a:r>
              <a:rPr lang="en-US" sz="1700" b="0" i="0" u="none" strike="noStrike" baseline="0" dirty="0"/>
              <a:t>that the compiler uses to implement function calls. </a:t>
            </a:r>
          </a:p>
          <a:p>
            <a:pPr marL="285750" indent="-285750" defTabSz="914400">
              <a:lnSpc>
                <a:spcPct val="90000"/>
              </a:lnSpc>
              <a:spcAft>
                <a:spcPts val="600"/>
              </a:spcAft>
              <a:buFont typeface="Wingdings" panose="05000000000000000000" pitchFamily="2" charset="2"/>
              <a:buChar char="Ø"/>
            </a:pPr>
            <a:r>
              <a:rPr lang="en-US" sz="1700" b="0" i="0" u="none" strike="noStrike" baseline="0" dirty="0"/>
              <a:t>Like the heap, the user stack expands and contracts dynamically during the execution of the program.</a:t>
            </a:r>
          </a:p>
          <a:p>
            <a:pPr marL="285750" indent="-285750" defTabSz="914400">
              <a:lnSpc>
                <a:spcPct val="90000"/>
              </a:lnSpc>
              <a:spcAft>
                <a:spcPts val="600"/>
              </a:spcAft>
              <a:buFont typeface="Wingdings" panose="05000000000000000000" pitchFamily="2" charset="2"/>
              <a:buChar char="Ø"/>
            </a:pPr>
            <a:r>
              <a:rPr lang="en-US" sz="1700" b="0" i="0" u="none" strike="noStrike" baseline="0" dirty="0"/>
              <a:t> In particular, each time we call a function, the stack grows. Each time we return from a function, it contracts.</a:t>
            </a:r>
          </a:p>
          <a:p>
            <a:pPr defTabSz="914400">
              <a:lnSpc>
                <a:spcPct val="90000"/>
              </a:lnSpc>
              <a:spcAft>
                <a:spcPts val="600"/>
              </a:spcAft>
            </a:pPr>
            <a:r>
              <a:rPr lang="en-US" sz="1700" b="1" i="1" u="none" strike="noStrike" baseline="0" dirty="0"/>
              <a:t>Kernel virtual memory</a:t>
            </a:r>
          </a:p>
          <a:p>
            <a:pPr marL="285750" indent="-285750" defTabSz="914400">
              <a:lnSpc>
                <a:spcPct val="90000"/>
              </a:lnSpc>
              <a:spcAft>
                <a:spcPts val="600"/>
              </a:spcAft>
              <a:buFont typeface="Wingdings" panose="05000000000000000000" pitchFamily="2" charset="2"/>
              <a:buChar char="Ø"/>
            </a:pPr>
            <a:r>
              <a:rPr lang="en-US" sz="1700" b="0" i="0" u="none" strike="noStrike" baseline="0" dirty="0"/>
              <a:t>The top region of the address space is reserved for the kernel. </a:t>
            </a:r>
          </a:p>
          <a:p>
            <a:pPr marL="285750" indent="-285750" defTabSz="914400">
              <a:lnSpc>
                <a:spcPct val="90000"/>
              </a:lnSpc>
              <a:spcAft>
                <a:spcPts val="600"/>
              </a:spcAft>
              <a:buFont typeface="Wingdings" panose="05000000000000000000" pitchFamily="2" charset="2"/>
              <a:buChar char="Ø"/>
            </a:pPr>
            <a:r>
              <a:rPr lang="en-US" sz="1700" b="0" i="0" u="none" strike="noStrike" baseline="0" dirty="0"/>
              <a:t>Application programs are not allowed to read or write the contents of this area or to directly call functions defined in the kernel code. Instead, they must invoke the kernel to perform these operations</a:t>
            </a:r>
            <a:endParaRPr lang="en-US" sz="1700" dirty="0"/>
          </a:p>
        </p:txBody>
      </p:sp>
    </p:spTree>
    <p:extLst>
      <p:ext uri="{BB962C8B-B14F-4D97-AF65-F5344CB8AC3E}">
        <p14:creationId xmlns:p14="http://schemas.microsoft.com/office/powerpoint/2010/main" val="3442031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3D4B15-94FF-E831-504A-A2A7B27D0FB0}"/>
              </a:ext>
            </a:extLst>
          </p:cNvPr>
          <p:cNvSpPr>
            <a:spLocks noGrp="1"/>
          </p:cNvSpPr>
          <p:nvPr>
            <p:ph type="title"/>
          </p:nvPr>
        </p:nvSpPr>
        <p:spPr>
          <a:xfrm>
            <a:off x="6739128" y="638089"/>
            <a:ext cx="4818888" cy="1476801"/>
          </a:xfrm>
        </p:spPr>
        <p:txBody>
          <a:bodyPr anchor="b">
            <a:normAutofit/>
          </a:bodyPr>
          <a:lstStyle/>
          <a:p>
            <a:r>
              <a:rPr lang="en-US" sz="5400" b="1" i="0" u="none" strike="noStrike" baseline="0" dirty="0">
                <a:latin typeface="StoneSans-Semibold"/>
              </a:rPr>
              <a:t>Files</a:t>
            </a:r>
            <a:endParaRPr lang="en-US" sz="5400" dirty="0"/>
          </a:p>
        </p:txBody>
      </p:sp>
      <p:pic>
        <p:nvPicPr>
          <p:cNvPr id="7" name="Graphic 6" descr="Devices">
            <a:extLst>
              <a:ext uri="{FF2B5EF4-FFF2-40B4-BE49-F238E27FC236}">
                <a16:creationId xmlns:a16="http://schemas.microsoft.com/office/drawing/2014/main" id="{C9FE210C-4BBB-566C-6F96-8D89E56DFC6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0936" y="699516"/>
            <a:ext cx="5458968" cy="5458968"/>
          </a:xfrm>
          <a:prstGeom prst="rect">
            <a:avLst/>
          </a:prstGeom>
        </p:spPr>
      </p:pic>
      <p:sp>
        <p:nvSpPr>
          <p:cNvPr id="12"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7E4FB77-6B19-0863-E36D-D2D88CB2E3A2}"/>
              </a:ext>
            </a:extLst>
          </p:cNvPr>
          <p:cNvSpPr>
            <a:spLocks noGrp="1"/>
          </p:cNvSpPr>
          <p:nvPr>
            <p:ph idx="1"/>
          </p:nvPr>
        </p:nvSpPr>
        <p:spPr>
          <a:xfrm>
            <a:off x="6739128" y="2664886"/>
            <a:ext cx="4818888" cy="3550789"/>
          </a:xfrm>
        </p:spPr>
        <p:txBody>
          <a:bodyPr anchor="t">
            <a:normAutofit/>
          </a:bodyPr>
          <a:lstStyle/>
          <a:p>
            <a:pPr>
              <a:buFont typeface="Wingdings" panose="05000000000000000000" pitchFamily="2" charset="2"/>
              <a:buChar char="Ø"/>
            </a:pPr>
            <a:r>
              <a:rPr lang="en-US" sz="2200" b="0" i="0" u="none" strike="noStrike" baseline="0" dirty="0">
                <a:latin typeface="TimesTen-Roman"/>
              </a:rPr>
              <a:t>A </a:t>
            </a:r>
            <a:r>
              <a:rPr lang="en-US" sz="2200" b="0" i="1" u="none" strike="noStrike" baseline="0" dirty="0">
                <a:latin typeface="TimesTen-Italic"/>
              </a:rPr>
              <a:t>file </a:t>
            </a:r>
            <a:r>
              <a:rPr lang="en-US" sz="2200" b="0" i="0" u="none" strike="noStrike" baseline="0" dirty="0">
                <a:latin typeface="TimesTen-Roman"/>
              </a:rPr>
              <a:t>is a sequence of bytes, nothing more and nothing less. Every I/O device, including disks, keyboards, displays, and even networks, is modeled as a file. </a:t>
            </a:r>
          </a:p>
          <a:p>
            <a:pPr>
              <a:buFont typeface="Wingdings" panose="05000000000000000000" pitchFamily="2" charset="2"/>
              <a:buChar char="Ø"/>
            </a:pPr>
            <a:r>
              <a:rPr lang="en-US" sz="2200" b="0" i="0" u="none" strike="noStrike" baseline="0" dirty="0">
                <a:latin typeface="TimesTen-Roman"/>
              </a:rPr>
              <a:t>All input and output in the system is performed by reading and writing files, using a small set of system calls known as </a:t>
            </a:r>
            <a:r>
              <a:rPr lang="en-US" sz="2200" b="0" i="1" u="none" strike="noStrike" baseline="0" dirty="0">
                <a:latin typeface="TimesTen-Italic"/>
              </a:rPr>
              <a:t>Unix I/O</a:t>
            </a:r>
            <a:r>
              <a:rPr lang="en-US" sz="2200" b="0" i="0" u="none" strike="noStrike" baseline="0" dirty="0">
                <a:latin typeface="TimesTen-Roman"/>
              </a:rPr>
              <a:t>.</a:t>
            </a:r>
            <a:endParaRPr lang="en-US" sz="2200" dirty="0"/>
          </a:p>
        </p:txBody>
      </p:sp>
    </p:spTree>
    <p:extLst>
      <p:ext uri="{BB962C8B-B14F-4D97-AF65-F5344CB8AC3E}">
        <p14:creationId xmlns:p14="http://schemas.microsoft.com/office/powerpoint/2010/main" val="23486124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436</TotalTime>
  <Words>1439</Words>
  <Application>Microsoft Office PowerPoint</Application>
  <PresentationFormat>Widescreen</PresentationFormat>
  <Paragraphs>75</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Arial</vt:lpstr>
      <vt:lpstr>Calibri</vt:lpstr>
      <vt:lpstr>Calibri Light</vt:lpstr>
      <vt:lpstr>StoneSans-Semibold</vt:lpstr>
      <vt:lpstr>Times New Roman</vt:lpstr>
      <vt:lpstr>TimesTen-Italic</vt:lpstr>
      <vt:lpstr>TimesTen-Roman</vt:lpstr>
      <vt:lpstr>Wingdings</vt:lpstr>
      <vt:lpstr>ZztexMono-Regular</vt:lpstr>
      <vt:lpstr>Office Theme</vt:lpstr>
      <vt:lpstr>Computer Organization and Assembly Language  </vt:lpstr>
      <vt:lpstr>Memory Hierarchy</vt:lpstr>
      <vt:lpstr>Cache</vt:lpstr>
      <vt:lpstr>Types of Cashe</vt:lpstr>
      <vt:lpstr>PowerPoint Presentation</vt:lpstr>
      <vt:lpstr>The Operating System Manages the Hardware</vt:lpstr>
      <vt:lpstr>Cont..</vt:lpstr>
      <vt:lpstr>Processes</vt:lpstr>
      <vt:lpstr>PowerPoint Presentation</vt:lpstr>
      <vt:lpstr>PowerPoint Presentation</vt:lpstr>
      <vt:lpstr>PowerPoint Presentation</vt:lpstr>
      <vt:lpstr>Threads</vt:lpstr>
      <vt:lpstr>Virtual Memory</vt:lpstr>
      <vt:lpstr>PowerPoint Presentation</vt:lpstr>
      <vt:lpstr>Files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 and Assembly Language</dc:title>
  <dc:creator>Abdul Qaddous</dc:creator>
  <cp:lastModifiedBy>Abdul Qaddous</cp:lastModifiedBy>
  <cp:revision>7</cp:revision>
  <dcterms:created xsi:type="dcterms:W3CDTF">2023-11-14T16:14:31Z</dcterms:created>
  <dcterms:modified xsi:type="dcterms:W3CDTF">2025-06-30T05:27:35Z</dcterms:modified>
</cp:coreProperties>
</file>