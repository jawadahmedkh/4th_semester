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6" r:id="rId3"/>
    <p:sldId id="298" r:id="rId4"/>
    <p:sldId id="299" r:id="rId5"/>
    <p:sldId id="289" r:id="rId6"/>
    <p:sldId id="300" r:id="rId7"/>
    <p:sldId id="287" r:id="rId8"/>
    <p:sldId id="288" r:id="rId9"/>
    <p:sldId id="301" r:id="rId10"/>
    <p:sldId id="291" r:id="rId11"/>
    <p:sldId id="290" r:id="rId12"/>
    <p:sldId id="292" r:id="rId13"/>
    <p:sldId id="293" r:id="rId14"/>
    <p:sldId id="294" r:id="rId15"/>
    <p:sldId id="295" r:id="rId16"/>
    <p:sldId id="296" r:id="rId17"/>
    <p:sldId id="29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7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32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9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9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7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6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7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7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1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6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643DA-594A-4035-B66F-876305A8FB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A60FE-7FC0-4017-BEF2-3AA9C93EF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7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ADC262-99D6-C90D-AAC0-C0559F3E6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n-US" altLang="en-US" sz="3600" b="1" dirty="0"/>
              <a:t>Computer Organization and Assembly Language</a:t>
            </a:r>
            <a:endParaRPr lang="en-US" altLang="en-US" sz="7200" b="1" dirty="0"/>
          </a:p>
          <a:p>
            <a:pPr algn="r" eaLnBrk="1" hangingPunct="1">
              <a:spcBef>
                <a:spcPct val="150000"/>
              </a:spcBef>
            </a:pPr>
            <a:br>
              <a:rPr lang="en-US" altLang="en-US" sz="1400" i="1" u="sng" dirty="0"/>
            </a:br>
            <a:endParaRPr lang="en-US" altLang="en-US" sz="1400" i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0FEE5-D0E2-3A25-E47F-611026A08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en-US" sz="2400" i="1" u="sng" dirty="0"/>
              <a:t>By Abdual Qaddous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06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4F81-0EC1-C0C2-271B-45BD99AF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Operations in C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2D435-F361-0A56-7887-4D5B12F2F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i="1" dirty="0">
                <a:latin typeface="TimesTen-Italic"/>
              </a:rPr>
              <a:t>L</a:t>
            </a:r>
            <a:r>
              <a:rPr lang="en-US" sz="2000" b="0" i="1" u="none" strike="noStrike" baseline="0" dirty="0">
                <a:latin typeface="TimesTen-Italic"/>
              </a:rPr>
              <a:t>ogical </a:t>
            </a:r>
            <a:r>
              <a:rPr lang="en-US" sz="2000" b="0" i="0" u="none" strike="noStrike" baseline="0" dirty="0">
                <a:latin typeface="TimesTen-Roman"/>
              </a:rPr>
              <a:t>operators </a:t>
            </a:r>
            <a:r>
              <a:rPr lang="en-US" sz="2000" b="0" i="0" u="none" strike="noStrike" baseline="0" dirty="0">
                <a:latin typeface="ZztexMono-Regular"/>
              </a:rPr>
              <a:t>||</a:t>
            </a:r>
            <a:r>
              <a:rPr lang="en-US" sz="2000" b="0" i="0" u="none" strike="noStrike" baseline="0" dirty="0">
                <a:latin typeface="TimesTen-Roman"/>
              </a:rPr>
              <a:t>, </a:t>
            </a:r>
            <a:r>
              <a:rPr lang="en-US" sz="2000" b="0" i="0" u="none" strike="noStrike" baseline="0" dirty="0">
                <a:latin typeface="ZztexMono-Regular"/>
              </a:rPr>
              <a:t>&amp;&amp;</a:t>
            </a:r>
            <a:r>
              <a:rPr lang="en-US" sz="2000" b="0" i="0" u="none" strike="noStrike" baseline="0" dirty="0">
                <a:latin typeface="TimesTen-Roman"/>
              </a:rPr>
              <a:t>, and </a:t>
            </a:r>
            <a:r>
              <a:rPr lang="en-US" sz="2000" b="0" i="0" u="none" strike="noStrike" baseline="0" dirty="0">
                <a:latin typeface="ZztexMono-Regular"/>
              </a:rPr>
              <a:t>!</a:t>
            </a:r>
            <a:r>
              <a:rPr lang="en-US" sz="2000" b="0" i="0" u="none" strike="noStrike" baseline="0" dirty="0">
                <a:latin typeface="TimesTen-Roman"/>
              </a:rPr>
              <a:t>, which correspond to the </a:t>
            </a:r>
            <a:r>
              <a:rPr lang="en-US" sz="2000" b="0" i="0" u="none" strike="noStrike" baseline="0" dirty="0">
                <a:latin typeface="TimesTen-RomanSC"/>
              </a:rPr>
              <a:t>or</a:t>
            </a:r>
            <a:r>
              <a:rPr lang="en-US" sz="2000" b="0" i="0" u="none" strike="noStrike" baseline="0" dirty="0">
                <a:latin typeface="TimesTen-Roman"/>
              </a:rPr>
              <a:t>, </a:t>
            </a:r>
            <a:r>
              <a:rPr lang="en-US" sz="2000" b="0" i="0" u="none" strike="noStrike" baseline="0" dirty="0">
                <a:latin typeface="TimesTen-RomanSC"/>
              </a:rPr>
              <a:t>and</a:t>
            </a:r>
            <a:r>
              <a:rPr lang="en-US" sz="2000" b="0" i="0" u="none" strike="noStrike" baseline="0" dirty="0">
                <a:latin typeface="TimesTen-Roman"/>
              </a:rPr>
              <a:t>, and </a:t>
            </a:r>
            <a:r>
              <a:rPr lang="en-US" sz="2000" b="0" i="0" u="none" strike="noStrike" baseline="0" dirty="0">
                <a:latin typeface="TimesTen-RomanSC"/>
              </a:rPr>
              <a:t>not </a:t>
            </a:r>
            <a:r>
              <a:rPr lang="en-US" sz="2000" b="0" i="0" u="none" strike="noStrike" baseline="0" dirty="0">
                <a:latin typeface="TimesTen-Roman"/>
              </a:rPr>
              <a:t>operations of logic. 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Ten-Roman"/>
              </a:rPr>
              <a:t>These can easily be confused with the bit level</a:t>
            </a:r>
            <a:r>
              <a:rPr lang="en-US" sz="2000" dirty="0">
                <a:latin typeface="TimesTen-Roman"/>
              </a:rPr>
              <a:t> </a:t>
            </a:r>
            <a:r>
              <a:rPr lang="en-US" sz="2000" b="0" i="0" u="none" strike="noStrike" baseline="0" dirty="0">
                <a:latin typeface="TimesTen-Roman"/>
              </a:rPr>
              <a:t>operations, but their behavior is quite different.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Ten-Roman"/>
              </a:rPr>
              <a:t> The logical operations treat any nonzero argument as representing </a:t>
            </a:r>
            <a:r>
              <a:rPr lang="en-US" sz="2000" b="0" i="0" u="none" strike="noStrike" baseline="0" dirty="0">
                <a:latin typeface="TimesTen-RomanSC"/>
              </a:rPr>
              <a:t>true </a:t>
            </a:r>
            <a:r>
              <a:rPr lang="en-US" sz="2000" b="0" i="0" u="none" strike="noStrike" baseline="0" dirty="0">
                <a:latin typeface="TimesTen-Roman"/>
              </a:rPr>
              <a:t>and argument 0 as representing </a:t>
            </a:r>
            <a:r>
              <a:rPr lang="en-US" sz="2000" b="0" i="0" u="none" strike="noStrike" baseline="0" dirty="0">
                <a:latin typeface="TimesTen-RomanSC"/>
              </a:rPr>
              <a:t>false</a:t>
            </a:r>
            <a:r>
              <a:rPr lang="en-US" sz="2000" b="0" i="0" u="none" strike="noStrike" baseline="0" dirty="0">
                <a:latin typeface="TimesTen-Roman"/>
              </a:rPr>
              <a:t>.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Ten-Roman"/>
              </a:rPr>
              <a:t>They return either 1 or 0, indicating a result of either </a:t>
            </a:r>
            <a:r>
              <a:rPr lang="en-US" sz="2000" b="0" i="0" u="none" strike="noStrike" baseline="0" dirty="0">
                <a:latin typeface="TimesTen-RomanSC"/>
              </a:rPr>
              <a:t>true </a:t>
            </a:r>
            <a:r>
              <a:rPr lang="en-US" sz="2000" b="0" i="0" u="none" strike="noStrike" baseline="0" dirty="0">
                <a:latin typeface="TimesTen-Roman"/>
              </a:rPr>
              <a:t>or </a:t>
            </a:r>
            <a:r>
              <a:rPr lang="en-US" sz="2000" b="0" i="0" u="none" strike="noStrike" baseline="0" dirty="0">
                <a:latin typeface="TimesTen-RomanSC"/>
              </a:rPr>
              <a:t>false</a:t>
            </a:r>
            <a:r>
              <a:rPr lang="en-US" sz="2000" dirty="0">
                <a:latin typeface="TimesTen-Roman"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54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8705-676F-2482-0CDE-FFA06311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level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F18D-452B-A94F-53CB-91346EF67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 		Result</a:t>
            </a:r>
          </a:p>
          <a:p>
            <a:r>
              <a:rPr lang="en-US" dirty="0"/>
              <a:t>!0x41			 0x00</a:t>
            </a:r>
          </a:p>
          <a:p>
            <a:r>
              <a:rPr lang="en-US" dirty="0"/>
              <a:t>!0x00			 0x01</a:t>
            </a:r>
          </a:p>
          <a:p>
            <a:r>
              <a:rPr lang="en-US" dirty="0"/>
              <a:t>!!0x41			 0x01</a:t>
            </a:r>
          </a:p>
          <a:p>
            <a:r>
              <a:rPr lang="en-US" dirty="0"/>
              <a:t>0x69 &amp;&amp; 0x55		 0x01</a:t>
            </a:r>
          </a:p>
          <a:p>
            <a:r>
              <a:rPr lang="en-US" dirty="0"/>
              <a:t>0x69 || 0x55		 0x01</a:t>
            </a:r>
          </a:p>
          <a:p>
            <a:r>
              <a:rPr lang="en-US" dirty="0"/>
              <a:t>How these Calculated any idea?</a:t>
            </a:r>
          </a:p>
        </p:txBody>
      </p:sp>
    </p:spTree>
    <p:extLst>
      <p:ext uri="{BB962C8B-B14F-4D97-AF65-F5344CB8AC3E}">
        <p14:creationId xmlns:p14="http://schemas.microsoft.com/office/powerpoint/2010/main" val="357700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F747-A94C-9E58-6B32-A659B86C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8BD8CE-F731-11B0-C498-A3884B492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473" y="2436739"/>
            <a:ext cx="4305300" cy="19431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443F5-3092-DA99-3C01-D08181E97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457450"/>
            <a:ext cx="3352800" cy="167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37D8E4-813C-27DF-B92D-A5505B253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35" y="2505075"/>
            <a:ext cx="3705225" cy="1895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CDB674-583B-FE2A-52BC-8CFFE9187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023" y="4611614"/>
            <a:ext cx="3886200" cy="1905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E8AAFB-5533-491C-FD57-021A94C82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5223" y="4864100"/>
            <a:ext cx="37052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5FDA-A1C2-1768-F69E-9DE1574E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level &amp; Logical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F55B-B0B2-4482-A5B3-B5C799CF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i="0" dirty="0">
                <a:solidFill>
                  <a:srgbClr val="202124"/>
                </a:solidFill>
                <a:effectLst/>
                <a:latin typeface="Google Sans"/>
              </a:rPr>
              <a:t>bitwise and logical operators can perform AND, OR, and NOT operations, they do so in fundamentally different ways. 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i="0" dirty="0">
                <a:solidFill>
                  <a:srgbClr val="040C28"/>
                </a:solidFill>
                <a:effectLst/>
                <a:latin typeface="Google Sans"/>
              </a:rPr>
              <a:t>Bitwise operators work on the binary representations of numbers, manipulating individual bits, while logical operators evaluate </a:t>
            </a:r>
            <a:r>
              <a:rPr lang="en-US" sz="2200" i="0" dirty="0" err="1">
                <a:solidFill>
                  <a:srgbClr val="040C28"/>
                </a:solidFill>
                <a:effectLst/>
                <a:latin typeface="Google Sans"/>
              </a:rPr>
              <a:t>boolean</a:t>
            </a:r>
            <a:r>
              <a:rPr lang="en-US" sz="2200" i="0" dirty="0">
                <a:solidFill>
                  <a:srgbClr val="040C28"/>
                </a:solidFill>
                <a:effectLst/>
                <a:latin typeface="Google Sans"/>
              </a:rPr>
              <a:t> expressions and return a </a:t>
            </a:r>
            <a:r>
              <a:rPr lang="en-US" sz="2200" i="0" dirty="0" err="1">
                <a:solidFill>
                  <a:srgbClr val="040C28"/>
                </a:solidFill>
                <a:effectLst/>
                <a:latin typeface="Google Sans"/>
              </a:rPr>
              <a:t>boolean</a:t>
            </a:r>
            <a:r>
              <a:rPr lang="en-US" sz="2200" i="0" dirty="0">
                <a:solidFill>
                  <a:srgbClr val="040C28"/>
                </a:solidFill>
                <a:effectLst/>
                <a:latin typeface="Google Sans"/>
              </a:rPr>
              <a:t> result</a:t>
            </a:r>
            <a:r>
              <a:rPr lang="en-US" sz="220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200" i="0" u="none" strike="noStrike" baseline="0" dirty="0">
                <a:latin typeface="TimesTen-Roman"/>
              </a:rPr>
              <a:t>A second important distinction between the logical operators ‘</a:t>
            </a:r>
            <a:r>
              <a:rPr lang="en-US" sz="2200" i="0" u="none" strike="noStrike" baseline="0" dirty="0">
                <a:latin typeface="ZztexMono-Regular"/>
              </a:rPr>
              <a:t>&amp;&amp;</a:t>
            </a:r>
            <a:r>
              <a:rPr lang="en-US" sz="2200" i="0" u="none" strike="noStrike" baseline="0" dirty="0">
                <a:latin typeface="TimesTen-Roman"/>
              </a:rPr>
              <a:t>’ and ‘</a:t>
            </a:r>
            <a:r>
              <a:rPr lang="en-US" sz="2200" i="0" u="none" strike="noStrike" baseline="0" dirty="0">
                <a:latin typeface="ZztexMono-Regular"/>
              </a:rPr>
              <a:t>||</a:t>
            </a:r>
            <a:r>
              <a:rPr lang="en-US" sz="2200" i="0" u="none" strike="noStrike" baseline="0" dirty="0">
                <a:latin typeface="TimesTen-Roman"/>
              </a:rPr>
              <a:t>’ versus their bit-level counterparts ‘</a:t>
            </a:r>
            <a:r>
              <a:rPr lang="en-US" sz="2200" i="0" u="none" strike="noStrike" baseline="0" dirty="0">
                <a:latin typeface="ZztexMono-Regular"/>
              </a:rPr>
              <a:t>&amp;</a:t>
            </a:r>
            <a:r>
              <a:rPr lang="en-US" sz="2200" i="0" u="none" strike="noStrike" baseline="0" dirty="0">
                <a:latin typeface="TimesTen-Roman"/>
              </a:rPr>
              <a:t>’ and ‘</a:t>
            </a:r>
            <a:r>
              <a:rPr lang="en-US" sz="2200" i="0" u="none" strike="noStrike" baseline="0" dirty="0">
                <a:latin typeface="ZztexMono-Regular"/>
              </a:rPr>
              <a:t>|</a:t>
            </a:r>
            <a:r>
              <a:rPr lang="en-US" sz="2200" i="0" u="none" strike="noStrike" baseline="0" dirty="0">
                <a:latin typeface="TimesTen-Roman"/>
              </a:rPr>
              <a:t>’ is that the logical operators do not evaluate their second argument if the result of the expression can be determined by evaluating the first argument.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200" i="0" u="none" strike="noStrike" baseline="0" dirty="0">
                <a:latin typeface="TimesTen-Roman"/>
              </a:rPr>
              <a:t>Thus, for example, the expression </a:t>
            </a:r>
            <a:r>
              <a:rPr lang="en-US" sz="2200" i="0" u="none" strike="noStrike" baseline="0" dirty="0">
                <a:latin typeface="ZztexMono-Regular"/>
              </a:rPr>
              <a:t>a &amp;&amp; 5/a </a:t>
            </a:r>
            <a:r>
              <a:rPr lang="en-US" sz="2200" i="0" u="none" strike="noStrike" baseline="0" dirty="0">
                <a:latin typeface="TimesTen-Roman"/>
              </a:rPr>
              <a:t>will never cause a division by zero, and the expression </a:t>
            </a:r>
            <a:r>
              <a:rPr lang="en-US" sz="2200" i="0" u="none" strike="noStrike" baseline="0" dirty="0">
                <a:latin typeface="ZztexMono-Regular"/>
              </a:rPr>
              <a:t>p &amp;&amp; *p++ </a:t>
            </a:r>
            <a:r>
              <a:rPr lang="en-US" sz="2200" i="0" u="none" strike="noStrike" baseline="0" dirty="0">
                <a:latin typeface="TimesTen-Roman"/>
              </a:rPr>
              <a:t>will never cause the dereferencing of a null pointe. How????</a:t>
            </a: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3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A4F6-9891-C2C5-4F13-27433AFD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7552B5-3095-D788-86F2-655305FC1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843954" cy="40067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7A47EA-17E2-9034-9D6C-0D1456C59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537982" cy="40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00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E1AA-1EAE-0F39-18E7-F7ABB0B4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A435F-5FFB-7820-8D32-9AA03E1B8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800" b="0" i="0" u="none" strike="noStrike" baseline="0" dirty="0">
                <a:latin typeface="TimesTen-Roman"/>
              </a:rPr>
              <a:t>Suppose that </a:t>
            </a:r>
            <a:r>
              <a:rPr lang="en-US" sz="1800" b="0" i="0" u="none" strike="noStrike" baseline="0" dirty="0">
                <a:latin typeface="ZztexMono-Regular"/>
              </a:rPr>
              <a:t>a </a:t>
            </a:r>
            <a:r>
              <a:rPr lang="en-US" sz="1800" b="0" i="0" u="none" strike="noStrike" baseline="0" dirty="0">
                <a:latin typeface="TimesTen-Roman"/>
              </a:rPr>
              <a:t>and </a:t>
            </a:r>
            <a:r>
              <a:rPr lang="en-US" sz="1800" b="0" i="0" u="none" strike="noStrike" baseline="0" dirty="0">
                <a:latin typeface="ZztexMono-Regular"/>
              </a:rPr>
              <a:t>b </a:t>
            </a:r>
            <a:r>
              <a:rPr lang="en-US" sz="1800" b="0" i="0" u="none" strike="noStrike" baseline="0" dirty="0">
                <a:latin typeface="TimesTen-Roman"/>
              </a:rPr>
              <a:t>have byte values </a:t>
            </a:r>
            <a:r>
              <a:rPr lang="en-US" sz="1800" b="0" i="0" u="none" strike="noStrike" baseline="0" dirty="0">
                <a:latin typeface="ZztexMono-Regular"/>
              </a:rPr>
              <a:t>0x55 </a:t>
            </a:r>
            <a:r>
              <a:rPr lang="en-US" sz="1800" b="0" i="0" u="none" strike="noStrike" baseline="0" dirty="0">
                <a:latin typeface="TimesTen-Roman"/>
              </a:rPr>
              <a:t>and </a:t>
            </a:r>
            <a:r>
              <a:rPr lang="en-US" sz="1800" b="0" i="0" u="none" strike="noStrike" baseline="0" dirty="0">
                <a:latin typeface="ZztexMono-Regular"/>
              </a:rPr>
              <a:t>0x46</a:t>
            </a:r>
            <a:r>
              <a:rPr lang="en-US" sz="1800" b="0" i="0" u="none" strike="noStrike" baseline="0" dirty="0">
                <a:latin typeface="TimesTen-Roman"/>
              </a:rPr>
              <a:t>, respectively. Fill in the following table indicating the byte values of the different C expressions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Ten-Roman"/>
              </a:rPr>
              <a:t>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A749C-74B3-E4C6-294D-CDAA074FB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18" y="3023420"/>
            <a:ext cx="9607163" cy="262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3FC5-9ACC-51FE-DA02-56F9E10F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1ACC9A-CFA8-9140-6D8F-4EB60ADBF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969" y="1858297"/>
            <a:ext cx="8694061" cy="3451121"/>
          </a:xfrm>
        </p:spPr>
      </p:pic>
    </p:spTree>
    <p:extLst>
      <p:ext uri="{BB962C8B-B14F-4D97-AF65-F5344CB8AC3E}">
        <p14:creationId xmlns:p14="http://schemas.microsoft.com/office/powerpoint/2010/main" val="276388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B377-0872-79E5-D6E2-69A4A5E9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Solution(1/2)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0C9CDF-26F7-766E-3F74-2615C303F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195" y="642955"/>
            <a:ext cx="4014860" cy="1325563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1A22A8-D5AE-ACA0-DDAE-8BB07A878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645261"/>
              </p:ext>
            </p:extLst>
          </p:nvPr>
        </p:nvGraphicFramePr>
        <p:xfrm>
          <a:off x="838200" y="1866521"/>
          <a:ext cx="10515600" cy="486014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418880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005249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15694724"/>
                    </a:ext>
                  </a:extLst>
                </a:gridCol>
              </a:tblGrid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Expression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Value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Explanation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262981"/>
                  </a:ext>
                </a:extLst>
              </a:tr>
              <a:tr h="762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0x55 &amp; 0x46 → 0101 0101 &amp; 0100 0110 = 0100 0100 = 0x44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629670"/>
                  </a:ext>
                </a:extLst>
              </a:tr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&amp;&amp;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Both non-zero → result is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741832"/>
                  </a:ext>
                </a:extLst>
              </a:tr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l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0x55 l 0x46 →  (0101 0101) l  (0100 0110) 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358545"/>
                  </a:ext>
                </a:extLst>
              </a:tr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l </a:t>
                      </a:r>
                      <a:r>
                        <a:rPr lang="en-US" dirty="0" err="1"/>
                        <a:t>l</a:t>
                      </a:r>
                      <a:r>
                        <a:rPr lang="en-US" dirty="0"/>
                        <a:t>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0x01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Both non-zero → result is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614809"/>
                  </a:ext>
                </a:extLst>
              </a:tr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~a l ~b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0xBB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0x55 l 0x46 → ~ (0101 0101) l ~ (0100 0110) 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534980"/>
                  </a:ext>
                </a:extLst>
              </a:tr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~a l </a:t>
                      </a:r>
                      <a:r>
                        <a:rPr lang="en-US" dirty="0" err="1"/>
                        <a:t>l</a:t>
                      </a:r>
                      <a:r>
                        <a:rPr lang="en-US" dirty="0"/>
                        <a:t> ~b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0x00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Both non-zero → result is 0(invert 1 to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24928"/>
                  </a:ext>
                </a:extLst>
              </a:tr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&amp; !b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!b = 0, a &amp; 0 = 0x00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004147"/>
                  </a:ext>
                </a:extLst>
              </a:tr>
              <a:tr h="43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&amp;&amp; ~b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~b = 0xB9 (non-zero), a &amp;&amp; ~b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610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663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3B3E3-7171-05D5-BCD9-04A073BE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6180-83AA-0130-1F91-92949595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800" b="0" i="0" u="none" strike="noStrike" baseline="0" dirty="0">
                <a:latin typeface="TimesTen-Roman"/>
              </a:rPr>
              <a:t>Using only bit-level and logical operations, write a C expression that is equivalent to </a:t>
            </a:r>
            <a:r>
              <a:rPr lang="en-US" sz="1800" b="0" i="0" u="none" strike="noStrike" baseline="0" dirty="0">
                <a:latin typeface="ZztexMono-Regular"/>
              </a:rPr>
              <a:t>x == y</a:t>
            </a:r>
            <a:r>
              <a:rPr lang="en-US" sz="1800" b="0" i="0" u="none" strike="noStrike" baseline="0" dirty="0">
                <a:latin typeface="TimesTen-Roman"/>
              </a:rPr>
              <a:t>. In other words, it will return 1 when </a:t>
            </a:r>
            <a:r>
              <a:rPr lang="en-US" sz="1800" b="0" i="0" u="none" strike="noStrike" baseline="0" dirty="0">
                <a:latin typeface="ZztexMono-Regular"/>
              </a:rPr>
              <a:t>x </a:t>
            </a:r>
            <a:r>
              <a:rPr lang="en-US" sz="1800" b="0" i="0" u="none" strike="noStrike" baseline="0" dirty="0">
                <a:latin typeface="TimesTen-Roman"/>
              </a:rPr>
              <a:t>and </a:t>
            </a:r>
            <a:r>
              <a:rPr lang="en-US" sz="1800" b="0" i="0" u="none" strike="noStrike" baseline="0" dirty="0">
                <a:latin typeface="ZztexMono-Regular"/>
              </a:rPr>
              <a:t>y </a:t>
            </a:r>
            <a:r>
              <a:rPr lang="en-US" sz="1800" b="0" i="0" u="none" strike="noStrike" baseline="0" dirty="0">
                <a:latin typeface="TimesTen-Roman"/>
              </a:rPr>
              <a:t>are equal and 0 otherwise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8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2958-D38F-032D-A83F-8592E31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940F2-FB1A-99D3-8A15-4BC5EB7A7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Ten-Roman"/>
              </a:rPr>
              <a:t>The expression is </a:t>
            </a:r>
            <a:r>
              <a:rPr lang="en-US" sz="2000" b="0" i="0" u="none" strike="noStrike" baseline="0" dirty="0">
                <a:latin typeface="ZztexMono-Regular"/>
              </a:rPr>
              <a:t>!(x ^ y)</a:t>
            </a:r>
            <a:r>
              <a:rPr lang="en-US" sz="2000" b="0" i="0" u="none" strike="noStrike" baseline="0" dirty="0">
                <a:latin typeface="TimesTen-Roman"/>
              </a:rPr>
              <a:t>. That is, </a:t>
            </a:r>
            <a:r>
              <a:rPr lang="en-US" sz="2000" b="0" i="0" u="none" strike="noStrike" baseline="0" dirty="0" err="1">
                <a:latin typeface="ZztexMono-Regular"/>
              </a:rPr>
              <a:t>x^y</a:t>
            </a:r>
            <a:r>
              <a:rPr lang="en-US" sz="2000" b="0" i="0" u="none" strike="noStrike" baseline="0" dirty="0">
                <a:latin typeface="ZztexMono-Regular"/>
              </a:rPr>
              <a:t> </a:t>
            </a:r>
            <a:r>
              <a:rPr lang="en-US" sz="2000" b="0" i="0" u="none" strike="noStrike" baseline="0" dirty="0">
                <a:latin typeface="TimesTen-Roman"/>
              </a:rPr>
              <a:t>will be zero if and only if every bit of </a:t>
            </a:r>
            <a:r>
              <a:rPr lang="en-US" sz="2000" b="0" i="0" u="none" strike="noStrike" baseline="0" dirty="0">
                <a:latin typeface="ZztexMono-Regular"/>
              </a:rPr>
              <a:t>x </a:t>
            </a:r>
            <a:r>
              <a:rPr lang="en-US" sz="2000" b="0" i="0" u="none" strike="noStrike" baseline="0" dirty="0">
                <a:latin typeface="TimesTen-Roman"/>
              </a:rPr>
              <a:t>matches the corresponding bit of </a:t>
            </a:r>
            <a:r>
              <a:rPr lang="en-US" sz="2000" b="0" i="0" u="none" strike="noStrike" baseline="0" dirty="0">
                <a:latin typeface="ZztexMono-Regular"/>
              </a:rPr>
              <a:t>y</a:t>
            </a:r>
            <a:r>
              <a:rPr lang="en-US" sz="2000" b="0" i="0" u="none" strike="noStrike" baseline="0" dirty="0">
                <a:latin typeface="TimesTen-Roman"/>
              </a:rPr>
              <a:t>.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Ten-Roman"/>
              </a:rPr>
              <a:t>We then exploit the ability of </a:t>
            </a:r>
            <a:r>
              <a:rPr lang="en-US" sz="2000" b="0" i="0" u="none" strike="noStrike" baseline="0" dirty="0">
                <a:latin typeface="ZztexMono-Regular"/>
              </a:rPr>
              <a:t>! </a:t>
            </a:r>
            <a:r>
              <a:rPr lang="en-US" sz="2000" b="0" i="0" u="none" strike="noStrike" baseline="0" dirty="0">
                <a:latin typeface="TimesTen-Roman"/>
              </a:rPr>
              <a:t>to determine whether a word contains any nonzero bit.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Ten-Roman"/>
              </a:rPr>
              <a:t>There is no real reason to use this expression rather than simply writing </a:t>
            </a:r>
            <a:r>
              <a:rPr lang="en-US" sz="2000" b="0" i="0" u="none" strike="noStrike" baseline="0" dirty="0">
                <a:latin typeface="ZztexMono-Regular"/>
              </a:rPr>
              <a:t>x == y</a:t>
            </a:r>
            <a:r>
              <a:rPr lang="en-US" sz="2000" b="0" i="0" u="none" strike="noStrike" baseline="0" dirty="0">
                <a:latin typeface="TimesTen-Roman"/>
              </a:rPr>
              <a:t>, but it demonstrates some of the nuances of bit-level and logical operations.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85364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C40E-F0FF-F7F7-1583-2FFDA67E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latin typeface="time new"/>
              </a:rPr>
              <a:t>Shift Operations in C</a:t>
            </a:r>
            <a:endParaRPr lang="en-US" dirty="0">
              <a:latin typeface="time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94651-DF50-DB87-C4B9-B65ABF6BB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also provides a set of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for shifting bit patterns to the left and to the right.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operand x having bit representation [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xw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xw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, x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0], the C expression x &lt;&lt; k yields a value with bit representation [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xw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xw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−2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, x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,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0].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x is shifted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to the left, dropping off the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significant bits and filling the right end with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zeros.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shift amount should be a value between 0 and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− 1. Shift operations associate from left to right, so x &lt;&lt; j &lt;&lt; k is equivalent to (x &lt;&lt; j) &lt;&lt; k.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174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7499-4419-C1F4-2F19-D5A78BA4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Shift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E88ED-75BA-7E02-9062-0DE47D1AD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00" b="0" i="0" u="none" strike="noStrike" baseline="0" dirty="0">
                <a:latin typeface="TimesTen-Roman"/>
              </a:rPr>
              <a:t>There is a corresponding right shift operation, written in C </a:t>
            </a:r>
            <a:r>
              <a:rPr lang="en-US" sz="2000" b="0" i="0" u="none" strike="noStrike" baseline="0" dirty="0" err="1">
                <a:latin typeface="TimesTen-Roman"/>
              </a:rPr>
              <a:t>as</a:t>
            </a:r>
            <a:r>
              <a:rPr lang="en-US" sz="2000" b="0" i="0" u="none" strike="noStrike" baseline="0" dirty="0" err="1">
                <a:latin typeface="ZztexMono-Regular"/>
              </a:rPr>
              <a:t>x</a:t>
            </a:r>
            <a:r>
              <a:rPr lang="en-US" sz="2000" b="0" i="0" u="none" strike="noStrike" baseline="0" dirty="0">
                <a:latin typeface="ZztexMono-Regular"/>
              </a:rPr>
              <a:t> &gt;&gt; k</a:t>
            </a:r>
            <a:r>
              <a:rPr lang="en-US" sz="2000" b="0" i="0" u="none" strike="noStrike" baseline="0" dirty="0">
                <a:latin typeface="TimesTen-Roman"/>
              </a:rPr>
              <a:t>, but it has a slightly subtle behavior. Generally, machines support two forms of right shift: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0" i="1" u="none" strike="noStrike" baseline="0" dirty="0">
                <a:latin typeface="TimesTen-Italic"/>
              </a:rPr>
              <a:t>Logical. </a:t>
            </a:r>
            <a:r>
              <a:rPr lang="en-US" sz="2000" b="0" i="0" u="none" strike="noStrike" baseline="0" dirty="0">
                <a:latin typeface="TimesTen-Roman"/>
              </a:rPr>
              <a:t>A logical right shift fills the left end with </a:t>
            </a:r>
            <a:r>
              <a:rPr lang="en-US" sz="2000" b="0" i="1" u="none" strike="noStrike" baseline="0" dirty="0">
                <a:latin typeface="MTMIZ"/>
              </a:rPr>
              <a:t>k </a:t>
            </a:r>
            <a:r>
              <a:rPr lang="en-US" sz="2000" b="0" i="0" u="none" strike="noStrike" baseline="0" dirty="0">
                <a:latin typeface="TimesTen-Roman"/>
              </a:rPr>
              <a:t>zeros, giving a result [0</a:t>
            </a:r>
            <a:r>
              <a:rPr lang="en-US" sz="2000" b="0" i="1" u="none" strike="noStrike" baseline="0" dirty="0">
                <a:latin typeface="MTMIZ"/>
              </a:rPr>
              <a:t>, . . . , </a:t>
            </a:r>
            <a:r>
              <a:rPr lang="en-US" sz="2000" b="0" i="0" u="none" strike="noStrike" baseline="0" dirty="0">
                <a:latin typeface="TimesTen-Roman"/>
              </a:rPr>
              <a:t>0</a:t>
            </a:r>
            <a:r>
              <a:rPr lang="en-US" sz="2000" b="0" i="1" u="none" strike="noStrike" baseline="0" dirty="0">
                <a:latin typeface="MTMIZ"/>
              </a:rPr>
              <a:t>, xw</a:t>
            </a:r>
            <a:r>
              <a:rPr lang="en-US" sz="2000" b="0" i="0" u="none" strike="noStrike" baseline="0" dirty="0">
                <a:latin typeface="MTSYN"/>
              </a:rPr>
              <a:t>−</a:t>
            </a:r>
            <a:r>
              <a:rPr lang="en-US" sz="2000" b="0" i="0" u="none" strike="noStrike" baseline="0" dirty="0">
                <a:latin typeface="TimesTen-Roman"/>
              </a:rPr>
              <a:t>1</a:t>
            </a:r>
            <a:r>
              <a:rPr lang="en-US" sz="2000" b="0" i="1" u="none" strike="noStrike" baseline="0" dirty="0">
                <a:latin typeface="MTMIZ"/>
              </a:rPr>
              <a:t>, xw</a:t>
            </a:r>
            <a:r>
              <a:rPr lang="en-US" sz="2000" b="0" i="0" u="none" strike="noStrike" baseline="0" dirty="0">
                <a:latin typeface="MTSYN"/>
              </a:rPr>
              <a:t>−</a:t>
            </a:r>
            <a:r>
              <a:rPr lang="en-US" sz="2000" b="0" i="0" u="none" strike="noStrike" baseline="0" dirty="0">
                <a:latin typeface="TimesTen-Roman"/>
              </a:rPr>
              <a:t>2</a:t>
            </a:r>
            <a:r>
              <a:rPr lang="en-US" sz="2000" b="0" i="1" u="none" strike="noStrike" baseline="0" dirty="0">
                <a:latin typeface="MTMIZ"/>
              </a:rPr>
              <a:t>, . . . </a:t>
            </a:r>
            <a:r>
              <a:rPr lang="en-US" sz="2000" b="0" i="1" u="none" strike="noStrike" baseline="0" dirty="0" err="1">
                <a:latin typeface="MTMIZ"/>
              </a:rPr>
              <a:t>xk</a:t>
            </a:r>
            <a:r>
              <a:rPr lang="en-US" sz="2000" b="0" i="0" u="none" strike="noStrike" baseline="0" dirty="0">
                <a:latin typeface="TimesTen-Roman"/>
              </a:rPr>
              <a:t>].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0" i="1" u="none" strike="noStrike" baseline="0" dirty="0">
                <a:latin typeface="TimesTen-Italic"/>
              </a:rPr>
              <a:t>Arithmetic. </a:t>
            </a:r>
            <a:r>
              <a:rPr lang="en-US" sz="2000" b="0" i="0" u="none" strike="noStrike" baseline="0" dirty="0">
                <a:latin typeface="TimesTen-Roman"/>
              </a:rPr>
              <a:t>An arithmetic right shift fills the left end with </a:t>
            </a:r>
            <a:r>
              <a:rPr lang="en-US" sz="2000" b="0" i="1" u="none" strike="noStrike" baseline="0" dirty="0">
                <a:latin typeface="MTMIZ"/>
              </a:rPr>
              <a:t>k </a:t>
            </a:r>
            <a:r>
              <a:rPr lang="en-US" sz="2000" b="0" i="0" u="none" strike="noStrike" baseline="0" dirty="0">
                <a:latin typeface="TimesTen-Roman"/>
              </a:rPr>
              <a:t>repetitions of the most significant bit, giving a result [</a:t>
            </a:r>
            <a:r>
              <a:rPr lang="en-US" sz="2000" b="0" i="1" u="none" strike="noStrike" baseline="0" dirty="0">
                <a:latin typeface="MTMIZ"/>
              </a:rPr>
              <a:t>xw</a:t>
            </a:r>
            <a:r>
              <a:rPr lang="en-US" sz="2000" b="0" i="0" u="none" strike="noStrike" baseline="0" dirty="0">
                <a:latin typeface="MTSYN"/>
              </a:rPr>
              <a:t>−</a:t>
            </a:r>
            <a:r>
              <a:rPr lang="en-US" sz="2000" b="0" i="0" u="none" strike="noStrike" baseline="0" dirty="0">
                <a:latin typeface="TimesTen-Roman"/>
              </a:rPr>
              <a:t>1</a:t>
            </a:r>
            <a:r>
              <a:rPr lang="en-US" sz="2000" b="0" i="1" u="none" strike="noStrike" baseline="0" dirty="0">
                <a:latin typeface="MTMIZ"/>
              </a:rPr>
              <a:t>, . . . , xw</a:t>
            </a:r>
            <a:r>
              <a:rPr lang="en-US" sz="2000" b="0" i="0" u="none" strike="noStrike" baseline="0" dirty="0">
                <a:latin typeface="MTSYN"/>
              </a:rPr>
              <a:t>−</a:t>
            </a:r>
            <a:r>
              <a:rPr lang="en-US" sz="2000" b="0" i="0" u="none" strike="noStrike" baseline="0" dirty="0">
                <a:latin typeface="TimesTen-Roman"/>
              </a:rPr>
              <a:t>1</a:t>
            </a:r>
            <a:r>
              <a:rPr lang="en-US" sz="2000" b="0" i="1" u="none" strike="noStrike" baseline="0" dirty="0">
                <a:latin typeface="MTMIZ"/>
              </a:rPr>
              <a:t>, xw</a:t>
            </a:r>
            <a:r>
              <a:rPr lang="en-US" sz="2000" b="0" i="0" u="none" strike="noStrike" baseline="0" dirty="0">
                <a:latin typeface="MTSYN"/>
              </a:rPr>
              <a:t>−</a:t>
            </a:r>
            <a:r>
              <a:rPr lang="en-US" sz="2000" b="0" i="0" u="none" strike="noStrike" baseline="0" dirty="0">
                <a:latin typeface="TimesTen-Roman"/>
              </a:rPr>
              <a:t>1</a:t>
            </a:r>
            <a:r>
              <a:rPr lang="en-US" sz="2000" b="0" i="1" u="none" strike="noStrike" baseline="0" dirty="0">
                <a:latin typeface="MTMIZ"/>
              </a:rPr>
              <a:t>, xw</a:t>
            </a:r>
            <a:r>
              <a:rPr lang="en-US" sz="2000" b="0" i="0" u="none" strike="noStrike" baseline="0" dirty="0">
                <a:latin typeface="MTSYN"/>
              </a:rPr>
              <a:t>−</a:t>
            </a:r>
            <a:r>
              <a:rPr lang="en-US" sz="2000" b="0" i="0" u="none" strike="noStrike" baseline="0" dirty="0">
                <a:latin typeface="TimesTen-Roman"/>
              </a:rPr>
              <a:t>2</a:t>
            </a:r>
            <a:r>
              <a:rPr lang="en-US" sz="2000" b="0" i="1" u="none" strike="noStrike" baseline="0" dirty="0">
                <a:latin typeface="MTMIZ"/>
              </a:rPr>
              <a:t>, . . . </a:t>
            </a:r>
            <a:r>
              <a:rPr lang="en-US" sz="2000" b="0" i="1" u="none" strike="noStrike" baseline="0" dirty="0" err="1">
                <a:latin typeface="MTMIZ"/>
              </a:rPr>
              <a:t>xk</a:t>
            </a:r>
            <a:r>
              <a:rPr lang="en-US" sz="2000" b="0" i="0" u="none" strike="noStrike" baseline="0" dirty="0">
                <a:latin typeface="TimesTen-Roman"/>
              </a:rPr>
              <a:t>].</a:t>
            </a:r>
          </a:p>
          <a:p>
            <a:pPr algn="l">
              <a:lnSpc>
                <a:spcPct val="150000"/>
              </a:lnSpc>
            </a:pPr>
            <a:r>
              <a:rPr lang="en-US" sz="2000" b="0" i="0" u="none" strike="noStrike" baseline="0" dirty="0">
                <a:latin typeface="TimesTen-Roman"/>
              </a:rPr>
              <a:t>This convention might seem peculiar, but as we will see, it is useful for operating on signed integer data.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7695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D262-2FC4-713D-3C3E-D355F0C5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D603B2-4763-C79F-EB4B-4E3AB5609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519" y="2556748"/>
            <a:ext cx="8396465" cy="2932589"/>
          </a:xfrm>
        </p:spPr>
      </p:pic>
    </p:spTree>
    <p:extLst>
      <p:ext uri="{BB962C8B-B14F-4D97-AF65-F5344CB8AC3E}">
        <p14:creationId xmlns:p14="http://schemas.microsoft.com/office/powerpoint/2010/main" val="660272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567F-57EC-D071-82C5-6B53B791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A91CB-2027-54DD-7739-CE48760B0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1800" b="0" i="0" u="none" strike="noStrike" baseline="0" dirty="0">
                <a:latin typeface="TimesTen-Roman"/>
              </a:rPr>
              <a:t>The italicized digits indicate the values that fill the right (left shift) or left (right shift) ends.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1800" b="0" i="0" u="none" strike="noStrike" baseline="0" dirty="0">
                <a:latin typeface="TimesTen-Roman"/>
              </a:rPr>
              <a:t>Observe that all but one entry involves filling with zeros.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1800" b="0" i="0" u="none" strike="noStrike" baseline="0" dirty="0">
                <a:latin typeface="TimesTen-Roman"/>
              </a:rPr>
              <a:t> The exception is the case of shifting [10010101] right arithmetically. Since its most significant bit is 1, this will be used as the fill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59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900A-F2D6-5C4B-F381-E9E06A4D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46DAC-97EE-4E38-C1E6-02497126C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4312" y="2366884"/>
            <a:ext cx="9903375" cy="3329146"/>
          </a:xfrm>
        </p:spPr>
      </p:pic>
    </p:spTree>
    <p:extLst>
      <p:ext uri="{BB962C8B-B14F-4D97-AF65-F5344CB8AC3E}">
        <p14:creationId xmlns:p14="http://schemas.microsoft.com/office/powerpoint/2010/main" val="435780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1C7F-5C44-FA6B-D701-8A2341F4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09D1B7-C975-B3D3-9478-8B66CB770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425" y="1874520"/>
            <a:ext cx="9201150" cy="3531711"/>
          </a:xfrm>
        </p:spPr>
      </p:pic>
    </p:spTree>
    <p:extLst>
      <p:ext uri="{BB962C8B-B14F-4D97-AF65-F5344CB8AC3E}">
        <p14:creationId xmlns:p14="http://schemas.microsoft.com/office/powerpoint/2010/main" val="46435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</TotalTime>
  <Words>922</Words>
  <Application>Microsoft Office PowerPoint</Application>
  <PresentationFormat>Widescreen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Arial</vt:lpstr>
      <vt:lpstr>Calibri</vt:lpstr>
      <vt:lpstr>Calibri Light</vt:lpstr>
      <vt:lpstr>Google Sans</vt:lpstr>
      <vt:lpstr>MTMIZ</vt:lpstr>
      <vt:lpstr>MTSYN</vt:lpstr>
      <vt:lpstr>time new</vt:lpstr>
      <vt:lpstr>Times New Roman</vt:lpstr>
      <vt:lpstr>TimesTen-Italic</vt:lpstr>
      <vt:lpstr>TimesTen-Roman</vt:lpstr>
      <vt:lpstr>TimesTen-RomanSC</vt:lpstr>
      <vt:lpstr>Wingdings</vt:lpstr>
      <vt:lpstr>ZztexMono-Regular</vt:lpstr>
      <vt:lpstr>Office Theme</vt:lpstr>
      <vt:lpstr>Computer Organization and Assembly Language  </vt:lpstr>
      <vt:lpstr>Logical Operations in C</vt:lpstr>
      <vt:lpstr>Bit level operation</vt:lpstr>
      <vt:lpstr>Solution</vt:lpstr>
      <vt:lpstr>Bit level &amp; Logical operation</vt:lpstr>
      <vt:lpstr>Solution</vt:lpstr>
      <vt:lpstr>Example</vt:lpstr>
      <vt:lpstr>Solution</vt:lpstr>
      <vt:lpstr>Solution(1/2)</vt:lpstr>
      <vt:lpstr>Practice</vt:lpstr>
      <vt:lpstr>Solution</vt:lpstr>
      <vt:lpstr>Shift Operations in C</vt:lpstr>
      <vt:lpstr>Right Shift </vt:lpstr>
      <vt:lpstr>Example</vt:lpstr>
      <vt:lpstr>Explanation </vt:lpstr>
      <vt:lpstr>Practice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Assembly Language</dc:title>
  <dc:creator>Abdul Qaddous</dc:creator>
  <cp:lastModifiedBy>Abdul Qaddous</cp:lastModifiedBy>
  <cp:revision>14</cp:revision>
  <dcterms:created xsi:type="dcterms:W3CDTF">2023-11-14T16:14:31Z</dcterms:created>
  <dcterms:modified xsi:type="dcterms:W3CDTF">2025-07-15T19:40:46Z</dcterms:modified>
</cp:coreProperties>
</file>