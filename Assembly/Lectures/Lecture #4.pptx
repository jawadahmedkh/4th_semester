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6"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843878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1302432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B643DA-594A-4035-B66F-876305A8FB59}"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085698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B643DA-594A-4035-B66F-876305A8FB59}"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178192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B643DA-594A-4035-B66F-876305A8FB59}" type="datetimeFigureOut">
              <a:rPr lang="en-US" smtClean="0"/>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32357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B643DA-594A-4035-B66F-876305A8FB59}" type="datetimeFigureOut">
              <a:rPr lang="en-US" smtClean="0"/>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299466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643DA-594A-4035-B66F-876305A8FB59}" type="datetimeFigureOut">
              <a:rPr lang="en-US" smtClean="0"/>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409807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43DA-594A-4035-B66F-876305A8FB59}"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14624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43DA-594A-4035-B66F-876305A8FB59}"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63867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204713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992960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643DA-594A-4035-B66F-876305A8FB59}" type="datetimeFigureOut">
              <a:rPr lang="en-US" smtClean="0"/>
              <a:t>7/14/2025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CA60FE-7FC0-4017-BEF2-3AA9C93EF49F}" type="slidenum">
              <a:rPr lang="en-US" smtClean="0"/>
              <a:t>‹#›</a:t>
            </a:fld>
            <a:endParaRPr lang="en-US"/>
          </a:p>
        </p:txBody>
      </p:sp>
    </p:spTree>
    <p:extLst>
      <p:ext uri="{BB962C8B-B14F-4D97-AF65-F5344CB8AC3E}">
        <p14:creationId xmlns:p14="http://schemas.microsoft.com/office/powerpoint/2010/main" val="32957765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ADC262-99D6-C90D-AAC0-C0559F3E6A81}"/>
              </a:ext>
            </a:extLst>
          </p:cNvPr>
          <p:cNvSpPr>
            <a:spLocks noGrp="1" noChangeArrowheads="1"/>
          </p:cNvSpPr>
          <p:nvPr>
            <p:ph type="ctrTitle"/>
          </p:nvPr>
        </p:nvSpPr>
        <p:spPr/>
        <p:txBody>
          <a:bodyPr>
            <a:normAutofit/>
          </a:bodyPr>
          <a:lstStyle/>
          <a:p>
            <a:pPr algn="just" eaLnBrk="1" hangingPunct="1">
              <a:spcBef>
                <a:spcPct val="50000"/>
              </a:spcBef>
            </a:pPr>
            <a:r>
              <a:rPr lang="en-US" altLang="en-US" sz="3600" b="1" dirty="0"/>
              <a:t>Computer Organization and Assembly Language</a:t>
            </a:r>
            <a:endParaRPr lang="en-US" altLang="en-US" sz="7200" b="1" dirty="0"/>
          </a:p>
          <a:p>
            <a:pPr algn="r" eaLnBrk="1" hangingPunct="1">
              <a:spcBef>
                <a:spcPct val="150000"/>
              </a:spcBef>
            </a:pPr>
            <a:br>
              <a:rPr lang="en-US" altLang="en-US" sz="1400" i="1" u="sng" dirty="0"/>
            </a:br>
            <a:endParaRPr lang="en-US" altLang="en-US" sz="1400" i="1" u="sng" dirty="0"/>
          </a:p>
        </p:txBody>
      </p:sp>
      <p:sp>
        <p:nvSpPr>
          <p:cNvPr id="3" name="Subtitle 2">
            <a:extLst>
              <a:ext uri="{FF2B5EF4-FFF2-40B4-BE49-F238E27FC236}">
                <a16:creationId xmlns:a16="http://schemas.microsoft.com/office/drawing/2014/main" id="{FD20FEE5-D0E2-3A25-E47F-611026A08EFC}"/>
              </a:ext>
            </a:extLst>
          </p:cNvPr>
          <p:cNvSpPr>
            <a:spLocks noGrp="1"/>
          </p:cNvSpPr>
          <p:nvPr>
            <p:ph type="subTitle" idx="1"/>
          </p:nvPr>
        </p:nvSpPr>
        <p:spPr/>
        <p:txBody>
          <a:bodyPr/>
          <a:lstStyle/>
          <a:p>
            <a:pPr algn="r"/>
            <a:r>
              <a:rPr lang="en-US" altLang="en-US" sz="2400" i="1" u="sng" dirty="0"/>
              <a:t>By Abdual Qaddous</a:t>
            </a:r>
            <a:endParaRPr lang="en-US" dirty="0"/>
          </a:p>
        </p:txBody>
      </p:sp>
    </p:spTree>
    <p:extLst>
      <p:ext uri="{BB962C8B-B14F-4D97-AF65-F5344CB8AC3E}">
        <p14:creationId xmlns:p14="http://schemas.microsoft.com/office/powerpoint/2010/main" val="2149062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3CF7-970B-15A0-26E6-755D2640D27B}"/>
              </a:ext>
            </a:extLst>
          </p:cNvPr>
          <p:cNvSpPr>
            <a:spLocks noGrp="1"/>
          </p:cNvSpPr>
          <p:nvPr>
            <p:ph type="title"/>
          </p:nvPr>
        </p:nvSpPr>
        <p:spPr/>
        <p:txBody>
          <a:bodyPr/>
          <a:lstStyle/>
          <a:p>
            <a:r>
              <a:rPr lang="en-US" b="1" dirty="0"/>
              <a:t>Data Size</a:t>
            </a:r>
          </a:p>
        </p:txBody>
      </p:sp>
      <p:sp>
        <p:nvSpPr>
          <p:cNvPr id="3" name="Content Placeholder 2">
            <a:extLst>
              <a:ext uri="{FF2B5EF4-FFF2-40B4-BE49-F238E27FC236}">
                <a16:creationId xmlns:a16="http://schemas.microsoft.com/office/drawing/2014/main" id="{F7808687-0AE9-77FE-EFCF-8F43944C9DA1}"/>
              </a:ext>
            </a:extLst>
          </p:cNvPr>
          <p:cNvSpPr>
            <a:spLocks noGrp="1"/>
          </p:cNvSpPr>
          <p:nvPr>
            <p:ph idx="1"/>
          </p:nvPr>
        </p:nvSpPr>
        <p:spPr/>
        <p:txBody>
          <a:bodyPr/>
          <a:lstStyle/>
          <a:p>
            <a:pPr algn="l"/>
            <a:r>
              <a:rPr lang="en-US" sz="1800" b="0" i="0" u="none" strike="noStrike" baseline="0" dirty="0">
                <a:latin typeface="TimesTen-Roman"/>
              </a:rPr>
              <a:t>Every computer has a </a:t>
            </a:r>
            <a:r>
              <a:rPr lang="en-US" sz="1800" b="0" i="1" u="none" strike="noStrike" baseline="0" dirty="0">
                <a:latin typeface="TimesTen-Italic"/>
              </a:rPr>
              <a:t>word size</a:t>
            </a:r>
            <a:r>
              <a:rPr lang="en-US" sz="1800" b="0" i="0" u="none" strike="noStrike" baseline="0" dirty="0">
                <a:latin typeface="TimesTen-Roman"/>
              </a:rPr>
              <a:t>, indicating the nominal size of pointer data.</a:t>
            </a:r>
          </a:p>
          <a:p>
            <a:pPr algn="l"/>
            <a:r>
              <a:rPr lang="en-US" sz="1800" b="0" i="0" u="none" strike="noStrike" baseline="0" dirty="0">
                <a:latin typeface="TimesTen-Roman"/>
              </a:rPr>
              <a:t>A virtual address is encoded by such a word</a:t>
            </a:r>
          </a:p>
          <a:p>
            <a:pPr algn="l"/>
            <a:r>
              <a:rPr lang="en-US" sz="1800" dirty="0">
                <a:latin typeface="TimesTen-Roman"/>
              </a:rPr>
              <a:t>T</a:t>
            </a:r>
            <a:r>
              <a:rPr lang="en-US" sz="1800" b="0" i="0" u="none" strike="noStrike" baseline="0" dirty="0">
                <a:latin typeface="TimesTen-Roman"/>
              </a:rPr>
              <a:t>he most important system parameter determined by the word size is the maximum size of the virtual address space.</a:t>
            </a:r>
          </a:p>
          <a:p>
            <a:pPr algn="l"/>
            <a:r>
              <a:rPr lang="en-US" sz="1800" b="0" i="0" u="none" strike="noStrike" baseline="0" dirty="0">
                <a:latin typeface="TimesTen-Roman"/>
              </a:rPr>
              <a:t>That is, for a machine with a </a:t>
            </a:r>
            <a:r>
              <a:rPr lang="en-US" sz="1800" b="0" i="1" u="none" strike="noStrike" baseline="0" dirty="0">
                <a:latin typeface="MTMIZ"/>
              </a:rPr>
              <a:t>w</a:t>
            </a:r>
            <a:r>
              <a:rPr lang="en-US" sz="1800" b="0" i="0" u="none" strike="noStrike" baseline="0" dirty="0">
                <a:latin typeface="TimesTen-Roman"/>
              </a:rPr>
              <a:t>-bit word size, the virtual addresses can range from 0 to 2</a:t>
            </a:r>
            <a:r>
              <a:rPr lang="en-US" sz="1800" b="0" i="1" u="none" strike="noStrike" baseline="0" dirty="0">
                <a:latin typeface="MTMIZ"/>
              </a:rPr>
              <a:t>w </a:t>
            </a:r>
            <a:r>
              <a:rPr lang="en-US" sz="1800" b="0" i="0" u="none" strike="noStrike" baseline="0" dirty="0">
                <a:latin typeface="MTSYN"/>
              </a:rPr>
              <a:t>− </a:t>
            </a:r>
            <a:r>
              <a:rPr lang="en-US" sz="1800" b="0" i="0" u="none" strike="noStrike" baseline="0" dirty="0">
                <a:latin typeface="TimesTen-Roman"/>
              </a:rPr>
              <a:t>1, giving the program access to at most 2</a:t>
            </a:r>
            <a:r>
              <a:rPr lang="en-US" sz="1800" b="0" i="1" u="none" strike="noStrike" baseline="0" dirty="0">
                <a:latin typeface="MTMIZ"/>
              </a:rPr>
              <a:t>w </a:t>
            </a:r>
            <a:r>
              <a:rPr lang="en-US" sz="1800" b="0" i="0" u="none" strike="noStrike" baseline="0" dirty="0">
                <a:latin typeface="TimesTen-Roman"/>
              </a:rPr>
              <a:t>bytes</a:t>
            </a:r>
          </a:p>
          <a:p>
            <a:pPr algn="l"/>
            <a:r>
              <a:rPr lang="en-US" sz="1800" b="0" i="0" u="none" strike="noStrike" baseline="0" dirty="0">
                <a:latin typeface="TimesTen-Roman"/>
              </a:rPr>
              <a:t>A 32-bit word size limits the virtual address space to 4 gigabytes (written 4 GB).</a:t>
            </a:r>
          </a:p>
          <a:p>
            <a:pPr algn="l"/>
            <a:r>
              <a:rPr lang="en-US" sz="1800" b="0" i="0" u="none" strike="noStrike" baseline="0" dirty="0">
                <a:latin typeface="TimesTen-Roman"/>
              </a:rPr>
              <a:t>Scaling up to a 64-bit word size leads to a virtual address space of 16 </a:t>
            </a:r>
            <a:r>
              <a:rPr lang="en-US" sz="1800" b="0" i="1" u="none" strike="noStrike" baseline="0" dirty="0">
                <a:latin typeface="TimesTen-Italic"/>
              </a:rPr>
              <a:t>exabytes</a:t>
            </a:r>
            <a:r>
              <a:rPr lang="en-US" sz="1800" b="0" i="0" u="none" strike="noStrike" baseline="0" dirty="0">
                <a:latin typeface="TimesTen-Roman"/>
              </a:rPr>
              <a:t>, or around 1</a:t>
            </a:r>
            <a:r>
              <a:rPr lang="en-US" sz="1800" b="0" i="1" u="none" strike="noStrike" baseline="0" dirty="0">
                <a:latin typeface="MTMIZ"/>
              </a:rPr>
              <a:t>.</a:t>
            </a:r>
            <a:r>
              <a:rPr lang="en-US" sz="1800" b="0" i="0" u="none" strike="noStrike" baseline="0" dirty="0">
                <a:latin typeface="TimesTen-Roman"/>
              </a:rPr>
              <a:t>84 </a:t>
            </a:r>
            <a:r>
              <a:rPr lang="en-US" sz="1800" b="0" i="0" u="none" strike="noStrike" baseline="0" dirty="0">
                <a:latin typeface="MTSYN"/>
              </a:rPr>
              <a:t>× </a:t>
            </a:r>
            <a:r>
              <a:rPr lang="en-US" sz="1800" b="0" i="0" u="none" strike="noStrike" baseline="0" dirty="0">
                <a:latin typeface="TimesTen-Roman"/>
              </a:rPr>
              <a:t>1019 bytes.</a:t>
            </a:r>
          </a:p>
          <a:p>
            <a:pPr algn="l"/>
            <a:r>
              <a:rPr lang="en-US" sz="1800" b="0" i="0" u="none" strike="noStrike" baseline="0" dirty="0">
                <a:latin typeface="TimesTen-Roman"/>
              </a:rPr>
              <a:t>Most 64-bit machines can also run programs compiled for use on 32-bit machines, a form of backward compatibility</a:t>
            </a:r>
            <a:endParaRPr lang="en-US" dirty="0"/>
          </a:p>
        </p:txBody>
      </p:sp>
    </p:spTree>
    <p:extLst>
      <p:ext uri="{BB962C8B-B14F-4D97-AF65-F5344CB8AC3E}">
        <p14:creationId xmlns:p14="http://schemas.microsoft.com/office/powerpoint/2010/main" val="32625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5DE63-3CE3-25A4-E5AE-BE7358F695D6}"/>
              </a:ext>
            </a:extLst>
          </p:cNvPr>
          <p:cNvSpPr>
            <a:spLocks noGrp="1"/>
          </p:cNvSpPr>
          <p:nvPr>
            <p:ph type="title"/>
          </p:nvPr>
        </p:nvSpPr>
        <p:spPr>
          <a:xfrm>
            <a:off x="838200" y="365125"/>
            <a:ext cx="10515600" cy="779463"/>
          </a:xfrm>
        </p:spPr>
        <p:txBody>
          <a:bodyPr/>
          <a:lstStyle/>
          <a:p>
            <a:r>
              <a:rPr lang="en-US" dirty="0"/>
              <a:t>Cont..</a:t>
            </a:r>
          </a:p>
        </p:txBody>
      </p:sp>
      <p:sp>
        <p:nvSpPr>
          <p:cNvPr id="3" name="Content Placeholder 2">
            <a:extLst>
              <a:ext uri="{FF2B5EF4-FFF2-40B4-BE49-F238E27FC236}">
                <a16:creationId xmlns:a16="http://schemas.microsoft.com/office/drawing/2014/main" id="{46D5BC25-9B22-D886-DB69-7E76D5A264E9}"/>
              </a:ext>
            </a:extLst>
          </p:cNvPr>
          <p:cNvSpPr>
            <a:spLocks noGrp="1"/>
          </p:cNvSpPr>
          <p:nvPr>
            <p:ph idx="1"/>
          </p:nvPr>
        </p:nvSpPr>
        <p:spPr>
          <a:xfrm>
            <a:off x="838200" y="1144588"/>
            <a:ext cx="10515600" cy="4351338"/>
          </a:xfrm>
        </p:spPr>
        <p:txBody>
          <a:bodyPr/>
          <a:lstStyle/>
          <a:p>
            <a:pPr algn="l"/>
            <a:r>
              <a:rPr lang="en-US" sz="1800" b="0" i="0" u="none" strike="noStrike" baseline="0" dirty="0">
                <a:latin typeface="TimesTen-Roman"/>
              </a:rPr>
              <a:t>Computers and compilers support multiple data formats using different ways to encode data, such as integers and floating point, as well as different lengths.</a:t>
            </a:r>
            <a:endParaRPr lang="en-US" dirty="0"/>
          </a:p>
        </p:txBody>
      </p:sp>
      <p:pic>
        <p:nvPicPr>
          <p:cNvPr id="5" name="Picture 4">
            <a:extLst>
              <a:ext uri="{FF2B5EF4-FFF2-40B4-BE49-F238E27FC236}">
                <a16:creationId xmlns:a16="http://schemas.microsoft.com/office/drawing/2014/main" id="{F7336DC7-D56C-1278-59AD-6A18B4A6FA3C}"/>
              </a:ext>
            </a:extLst>
          </p:cNvPr>
          <p:cNvPicPr>
            <a:picLocks noChangeAspect="1"/>
          </p:cNvPicPr>
          <p:nvPr/>
        </p:nvPicPr>
        <p:blipFill>
          <a:blip r:embed="rId2"/>
          <a:stretch>
            <a:fillRect/>
          </a:stretch>
        </p:blipFill>
        <p:spPr>
          <a:xfrm>
            <a:off x="2079524" y="1924052"/>
            <a:ext cx="8657302" cy="4568824"/>
          </a:xfrm>
          <a:prstGeom prst="rect">
            <a:avLst/>
          </a:prstGeom>
        </p:spPr>
      </p:pic>
    </p:spTree>
    <p:extLst>
      <p:ext uri="{BB962C8B-B14F-4D97-AF65-F5344CB8AC3E}">
        <p14:creationId xmlns:p14="http://schemas.microsoft.com/office/powerpoint/2010/main" val="1605645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83F1-1554-E2EF-D044-C2369A516822}"/>
              </a:ext>
            </a:extLst>
          </p:cNvPr>
          <p:cNvSpPr>
            <a:spLocks noGrp="1"/>
          </p:cNvSpPr>
          <p:nvPr>
            <p:ph type="title"/>
          </p:nvPr>
        </p:nvSpPr>
        <p:spPr/>
        <p:txBody>
          <a:bodyPr/>
          <a:lstStyle/>
          <a:p>
            <a:r>
              <a:rPr lang="en-US" b="1" dirty="0"/>
              <a:t>Addressing and Byte Ordering</a:t>
            </a:r>
          </a:p>
        </p:txBody>
      </p:sp>
      <p:sp>
        <p:nvSpPr>
          <p:cNvPr id="3" name="Content Placeholder 2">
            <a:extLst>
              <a:ext uri="{FF2B5EF4-FFF2-40B4-BE49-F238E27FC236}">
                <a16:creationId xmlns:a16="http://schemas.microsoft.com/office/drawing/2014/main" id="{EE0807CD-252F-7C00-E037-5DACF374DF53}"/>
              </a:ext>
            </a:extLst>
          </p:cNvPr>
          <p:cNvSpPr>
            <a:spLocks noGrp="1"/>
          </p:cNvSpPr>
          <p:nvPr>
            <p:ph idx="1"/>
          </p:nvPr>
        </p:nvSpPr>
        <p:spPr/>
        <p:txBody>
          <a:bodyPr/>
          <a:lstStyle/>
          <a:p>
            <a:pPr algn="l"/>
            <a:r>
              <a:rPr lang="en-US" sz="1800" b="0" i="0" u="none" strike="noStrike" baseline="0" dirty="0">
                <a:latin typeface="TimesTen-Roman"/>
              </a:rPr>
              <a:t>For program objects that span multiple bytes, we must establish two conventions, what the address of the object will be, and how we will order the bytes in memory.</a:t>
            </a:r>
          </a:p>
          <a:p>
            <a:pPr algn="l"/>
            <a:r>
              <a:rPr lang="en-US" sz="1800" b="0" i="0" u="none" strike="noStrike" baseline="0" dirty="0">
                <a:latin typeface="TimesTen-Roman"/>
              </a:rPr>
              <a:t>In virtually all machines, a multi-byte object is stored as a contiguous sequence of bytes.</a:t>
            </a:r>
          </a:p>
          <a:p>
            <a:pPr algn="l"/>
            <a:r>
              <a:rPr lang="en-US" sz="1800" b="0" i="0" u="none" strike="noStrike" baseline="0" dirty="0">
                <a:latin typeface="TimesTen-Roman"/>
              </a:rPr>
              <a:t>For example, suppose a variable </a:t>
            </a:r>
            <a:r>
              <a:rPr lang="en-US" sz="1800" b="0" i="0" u="none" strike="noStrike" baseline="0" dirty="0">
                <a:latin typeface="ZztexMono-Regular"/>
              </a:rPr>
              <a:t>x </a:t>
            </a:r>
            <a:r>
              <a:rPr lang="en-US" sz="1800" b="0" i="0" u="none" strike="noStrike" baseline="0" dirty="0">
                <a:latin typeface="TimesTen-Roman"/>
              </a:rPr>
              <a:t>of type </a:t>
            </a:r>
            <a:r>
              <a:rPr lang="en-US" sz="1800" b="0" i="0" u="none" strike="noStrike" baseline="0" dirty="0">
                <a:latin typeface="ZztexMono-Regular"/>
              </a:rPr>
              <a:t>int </a:t>
            </a:r>
            <a:r>
              <a:rPr lang="en-US" sz="1800" b="0" i="0" u="none" strike="noStrike" baseline="0" dirty="0">
                <a:latin typeface="TimesTen-Roman"/>
              </a:rPr>
              <a:t>has address </a:t>
            </a:r>
            <a:r>
              <a:rPr lang="en-US" sz="1800" b="0" i="0" u="none" strike="noStrike" baseline="0" dirty="0">
                <a:latin typeface="ZztexMono-Regular"/>
              </a:rPr>
              <a:t>0x100</a:t>
            </a:r>
            <a:r>
              <a:rPr lang="en-US" sz="1800" b="0" i="0" u="none" strike="noStrike" baseline="0" dirty="0">
                <a:latin typeface="TimesTen-Roman"/>
              </a:rPr>
              <a:t>; </a:t>
            </a:r>
          </a:p>
          <a:p>
            <a:pPr algn="l"/>
            <a:r>
              <a:rPr lang="en-US" sz="1800" b="0" i="0" u="none" strike="noStrike" baseline="0" dirty="0">
                <a:latin typeface="TimesTen-Roman"/>
              </a:rPr>
              <a:t>That is, the value of the address expression </a:t>
            </a:r>
            <a:r>
              <a:rPr lang="en-US" sz="1800" b="0" i="0" u="none" strike="noStrike" baseline="0" dirty="0">
                <a:latin typeface="ZztexMono-Regular"/>
              </a:rPr>
              <a:t>&amp;x </a:t>
            </a:r>
            <a:r>
              <a:rPr lang="en-US" sz="1800" b="0" i="0" u="none" strike="noStrike" baseline="0" dirty="0">
                <a:latin typeface="TimesTen-Roman"/>
              </a:rPr>
              <a:t>is </a:t>
            </a:r>
            <a:r>
              <a:rPr lang="en-US" sz="1800" b="0" i="0" u="none" strike="noStrike" baseline="0" dirty="0">
                <a:latin typeface="ZztexMono-Regular"/>
              </a:rPr>
              <a:t>0x100</a:t>
            </a:r>
            <a:r>
              <a:rPr lang="en-US" sz="1800" b="0" i="0" u="none" strike="noStrike" baseline="0" dirty="0">
                <a:latin typeface="TimesTen-Roman"/>
              </a:rPr>
              <a:t>.</a:t>
            </a:r>
          </a:p>
          <a:p>
            <a:pPr algn="l"/>
            <a:r>
              <a:rPr lang="en-US" sz="1800" b="0" i="0" u="none" strike="noStrike" baseline="0" dirty="0">
                <a:latin typeface="TimesTen-Roman"/>
              </a:rPr>
              <a:t> Then (assuming data type </a:t>
            </a:r>
            <a:r>
              <a:rPr lang="en-US" sz="1800" b="0" i="0" u="none" strike="noStrike" baseline="0" dirty="0">
                <a:latin typeface="ZztexMono-Regular"/>
              </a:rPr>
              <a:t>int </a:t>
            </a:r>
            <a:r>
              <a:rPr lang="en-US" sz="1800" b="0" i="0" u="none" strike="noStrike" baseline="0" dirty="0">
                <a:latin typeface="TimesTen-Roman"/>
              </a:rPr>
              <a:t>has a 32-bit representation) the 4 bytes of </a:t>
            </a:r>
            <a:r>
              <a:rPr lang="en-US" sz="1800" b="0" i="0" u="none" strike="noStrike" baseline="0" dirty="0">
                <a:latin typeface="ZztexMono-Regular"/>
              </a:rPr>
              <a:t>x </a:t>
            </a:r>
            <a:r>
              <a:rPr lang="en-US" sz="1800" b="0" i="0" u="none" strike="noStrike" baseline="0" dirty="0">
                <a:latin typeface="TimesTen-Roman"/>
              </a:rPr>
              <a:t>would be stored in memory locations</a:t>
            </a:r>
          </a:p>
          <a:p>
            <a:pPr marL="342900" indent="-342900" algn="l">
              <a:buFont typeface="+mj-lt"/>
              <a:buAutoNum type="arabicPeriod"/>
            </a:pPr>
            <a:r>
              <a:rPr lang="en-US" sz="1800" b="0" i="0" u="none" strike="noStrike" baseline="0" dirty="0">
                <a:latin typeface="ZztexMono-Regular"/>
              </a:rPr>
              <a:t>0x100</a:t>
            </a:r>
            <a:r>
              <a:rPr lang="en-US" sz="1800" b="0" i="0" u="none" strike="noStrike" baseline="0" dirty="0">
                <a:latin typeface="TimesTen-Roman"/>
              </a:rPr>
              <a:t>,</a:t>
            </a:r>
          </a:p>
          <a:p>
            <a:pPr marL="342900" indent="-342900" algn="l">
              <a:buFont typeface="+mj-lt"/>
              <a:buAutoNum type="arabicPeriod"/>
            </a:pPr>
            <a:r>
              <a:rPr lang="en-US" sz="1800" b="0" i="0" u="none" strike="noStrike" baseline="0" dirty="0">
                <a:latin typeface="ZztexMono-Regular"/>
              </a:rPr>
              <a:t>0x101</a:t>
            </a:r>
            <a:r>
              <a:rPr lang="en-US" sz="1800" b="0" i="0" u="none" strike="noStrike" baseline="0" dirty="0">
                <a:latin typeface="TimesTen-Roman"/>
              </a:rPr>
              <a:t>,</a:t>
            </a:r>
          </a:p>
          <a:p>
            <a:pPr marL="342900" indent="-342900" algn="l">
              <a:buFont typeface="+mj-lt"/>
              <a:buAutoNum type="arabicPeriod"/>
            </a:pPr>
            <a:r>
              <a:rPr lang="en-US" sz="1800" b="0" i="0" u="none" strike="noStrike" baseline="0" dirty="0">
                <a:latin typeface="ZztexMono-Regular"/>
              </a:rPr>
              <a:t>0x102</a:t>
            </a:r>
            <a:r>
              <a:rPr lang="en-US" sz="1800" b="0" i="0" u="none" strike="noStrike" baseline="0" dirty="0">
                <a:latin typeface="TimesTen-Roman"/>
              </a:rPr>
              <a:t>,</a:t>
            </a:r>
          </a:p>
          <a:p>
            <a:pPr marL="342900" indent="-342900" algn="l">
              <a:buFont typeface="+mj-lt"/>
              <a:buAutoNum type="arabicPeriod"/>
            </a:pPr>
            <a:r>
              <a:rPr lang="en-US" sz="1800" b="0" i="0" u="none" strike="noStrike" baseline="0" dirty="0">
                <a:latin typeface="ZztexMono-Regular"/>
              </a:rPr>
              <a:t>0x103</a:t>
            </a:r>
            <a:r>
              <a:rPr lang="en-US" sz="1800" b="0" i="0" u="none" strike="noStrike" baseline="0" dirty="0">
                <a:latin typeface="TimesTen-Roman"/>
              </a:rPr>
              <a:t>.</a:t>
            </a:r>
            <a:endParaRPr lang="en-US" dirty="0"/>
          </a:p>
        </p:txBody>
      </p:sp>
    </p:spTree>
    <p:extLst>
      <p:ext uri="{BB962C8B-B14F-4D97-AF65-F5344CB8AC3E}">
        <p14:creationId xmlns:p14="http://schemas.microsoft.com/office/powerpoint/2010/main" val="3009366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063E9-DE7A-B453-A3E5-09B71F28CC81}"/>
              </a:ext>
            </a:extLst>
          </p:cNvPr>
          <p:cNvSpPr>
            <a:spLocks noGrp="1"/>
          </p:cNvSpPr>
          <p:nvPr>
            <p:ph type="title"/>
          </p:nvPr>
        </p:nvSpPr>
        <p:spPr/>
        <p:txBody>
          <a:bodyPr/>
          <a:lstStyle/>
          <a:p>
            <a:r>
              <a:rPr lang="en-US" b="1" dirty="0"/>
              <a:t>Byte Representation</a:t>
            </a:r>
          </a:p>
        </p:txBody>
      </p:sp>
      <p:sp>
        <p:nvSpPr>
          <p:cNvPr id="3" name="Content Placeholder 2">
            <a:extLst>
              <a:ext uri="{FF2B5EF4-FFF2-40B4-BE49-F238E27FC236}">
                <a16:creationId xmlns:a16="http://schemas.microsoft.com/office/drawing/2014/main" id="{2C8AAFC7-13C0-2E92-2273-76BB8EDFEAAA}"/>
              </a:ext>
            </a:extLst>
          </p:cNvPr>
          <p:cNvSpPr>
            <a:spLocks noGrp="1"/>
          </p:cNvSpPr>
          <p:nvPr>
            <p:ph idx="1"/>
          </p:nvPr>
        </p:nvSpPr>
        <p:spPr/>
        <p:txBody>
          <a:bodyPr/>
          <a:lstStyle/>
          <a:p>
            <a:r>
              <a:rPr lang="en-US" sz="1800" b="0" i="0" u="none" strike="noStrike" baseline="0" dirty="0">
                <a:latin typeface="TimesTen-Roman"/>
              </a:rPr>
              <a:t>For ordering the bytes representing an object, there are two common conventions.</a:t>
            </a:r>
          </a:p>
          <a:p>
            <a:pPr algn="l"/>
            <a:r>
              <a:rPr lang="en-US" sz="1800" b="0" i="0" u="none" strike="noStrike" baseline="0" dirty="0">
                <a:latin typeface="TimesTen-Roman"/>
              </a:rPr>
              <a:t>Some machines choose to store the object in memory ordered from least significant byte to most, while other machines store them from most to least. </a:t>
            </a:r>
          </a:p>
          <a:p>
            <a:pPr algn="l"/>
            <a:r>
              <a:rPr lang="en-US" sz="1800" b="0" i="0" u="none" strike="noStrike" baseline="0" dirty="0">
                <a:latin typeface="TimesTen-Roman"/>
              </a:rPr>
              <a:t>The former convention—where the least significant byte comes first—is referred to as </a:t>
            </a:r>
            <a:r>
              <a:rPr lang="en-US" sz="1800" b="0" i="1" u="none" strike="noStrike" baseline="0" dirty="0">
                <a:latin typeface="TimesTen-Italic"/>
              </a:rPr>
              <a:t>little endian</a:t>
            </a:r>
            <a:r>
              <a:rPr lang="en-US" sz="1800" b="0" i="0" u="none" strike="noStrike" baseline="0" dirty="0">
                <a:latin typeface="TimesTen-Roman"/>
              </a:rPr>
              <a:t>. </a:t>
            </a:r>
          </a:p>
          <a:p>
            <a:pPr algn="l"/>
            <a:r>
              <a:rPr lang="en-US" sz="1800" b="0" i="0" u="none" strike="noStrike" baseline="0" dirty="0">
                <a:latin typeface="TimesTen-Roman"/>
              </a:rPr>
              <a:t>The latter convention—where the most significant byte comes first—is referred to as </a:t>
            </a:r>
            <a:r>
              <a:rPr lang="en-US" sz="1800" b="0" i="1" u="none" strike="noStrike" baseline="0" dirty="0">
                <a:latin typeface="TimesTen-Italic"/>
              </a:rPr>
              <a:t>big endian</a:t>
            </a:r>
            <a:endParaRPr lang="en-US" sz="1800" dirty="0">
              <a:latin typeface="TimesTen-Roman"/>
            </a:endParaRPr>
          </a:p>
          <a:p>
            <a:pPr algn="l"/>
            <a:r>
              <a:rPr lang="en-US" sz="1800" b="0" i="0" u="none" strike="noStrike" baseline="0" dirty="0">
                <a:latin typeface="TimesTen-Roman"/>
              </a:rPr>
              <a:t>Consider a</a:t>
            </a:r>
            <a:r>
              <a:rPr lang="en-US" sz="1800" b="0" i="1" u="none" strike="noStrike" baseline="0" dirty="0">
                <a:latin typeface="MTMIZ"/>
              </a:rPr>
              <a:t>w</a:t>
            </a:r>
            <a:r>
              <a:rPr lang="en-US" sz="1800" b="0" i="0" u="none" strike="noStrike" baseline="0" dirty="0">
                <a:latin typeface="TimesTen-Roman"/>
              </a:rPr>
              <a:t>-bit integer having a bit representation [</a:t>
            </a:r>
            <a:r>
              <a:rPr lang="en-US" sz="1800" b="0" i="1" u="none" strike="noStrike" baseline="0" dirty="0">
                <a:latin typeface="MTMIZ"/>
              </a:rPr>
              <a:t>xw</a:t>
            </a:r>
            <a:r>
              <a:rPr lang="en-US" sz="1800" b="0" i="0" u="none" strike="noStrike" baseline="0" dirty="0">
                <a:latin typeface="MTSYN"/>
              </a:rPr>
              <a:t>−</a:t>
            </a:r>
            <a:r>
              <a:rPr lang="en-US" sz="1800" b="0" i="0" u="none" strike="noStrike" baseline="0" dirty="0">
                <a:latin typeface="TimesTen-Roman"/>
              </a:rPr>
              <a:t>1</a:t>
            </a:r>
            <a:r>
              <a:rPr lang="en-US" sz="1800" b="0" i="1" u="none" strike="noStrike" baseline="0" dirty="0">
                <a:latin typeface="MTMIZ"/>
              </a:rPr>
              <a:t>, xw</a:t>
            </a:r>
            <a:r>
              <a:rPr lang="en-US" sz="1800" b="0" i="0" u="none" strike="noStrike" baseline="0" dirty="0">
                <a:latin typeface="MTSYN"/>
              </a:rPr>
              <a:t>−</a:t>
            </a:r>
            <a:r>
              <a:rPr lang="en-US" sz="1800" b="0" i="0" u="none" strike="noStrike" baseline="0" dirty="0">
                <a:latin typeface="TimesTen-Roman"/>
              </a:rPr>
              <a:t>2</a:t>
            </a:r>
            <a:r>
              <a:rPr lang="en-US" sz="1800" b="0" i="1" u="none" strike="noStrike" baseline="0" dirty="0">
                <a:latin typeface="MTMIZ"/>
              </a:rPr>
              <a:t>, . . . , x</a:t>
            </a:r>
            <a:r>
              <a:rPr lang="en-US" sz="1800" b="0" i="0" u="none" strike="noStrike" baseline="0" dirty="0">
                <a:latin typeface="TimesTen-Roman"/>
              </a:rPr>
              <a:t>1</a:t>
            </a:r>
            <a:r>
              <a:rPr lang="en-US" sz="1800" b="0" i="1" u="none" strike="noStrike" baseline="0" dirty="0">
                <a:latin typeface="MTMIZ"/>
              </a:rPr>
              <a:t>, x</a:t>
            </a:r>
            <a:r>
              <a:rPr lang="en-US" sz="1800" b="0" i="0" u="none" strike="noStrike" baseline="0" dirty="0">
                <a:latin typeface="TimesTen-Roman"/>
              </a:rPr>
              <a:t>0],</a:t>
            </a:r>
          </a:p>
          <a:p>
            <a:pPr algn="l"/>
            <a:r>
              <a:rPr lang="en-US" sz="1800" b="0" i="0" u="none" strike="noStrike" baseline="0" dirty="0">
                <a:latin typeface="TimesTen-Roman"/>
              </a:rPr>
              <a:t>where </a:t>
            </a:r>
            <a:r>
              <a:rPr lang="en-US" sz="1800" b="0" i="1" u="none" strike="noStrike" baseline="0" dirty="0">
                <a:latin typeface="MTMIZ"/>
              </a:rPr>
              <a:t>xw</a:t>
            </a:r>
            <a:r>
              <a:rPr lang="en-US" sz="1800" b="0" i="0" u="none" strike="noStrike" baseline="0" dirty="0">
                <a:latin typeface="MTSYN"/>
              </a:rPr>
              <a:t>−</a:t>
            </a:r>
            <a:r>
              <a:rPr lang="en-US" sz="1800" b="0" i="0" u="none" strike="noStrike" baseline="0" dirty="0">
                <a:latin typeface="TimesTen-Roman"/>
              </a:rPr>
              <a:t>1 is the most significant bit and </a:t>
            </a:r>
            <a:r>
              <a:rPr lang="en-US" sz="1800" b="0" i="1" u="none" strike="noStrike" baseline="0" dirty="0">
                <a:latin typeface="MTMIZ"/>
              </a:rPr>
              <a:t>x</a:t>
            </a:r>
            <a:r>
              <a:rPr lang="en-US" sz="1800" b="0" i="0" u="none" strike="noStrike" baseline="0" dirty="0">
                <a:latin typeface="TimesTen-Roman"/>
              </a:rPr>
              <a:t>0 is the least.</a:t>
            </a:r>
          </a:p>
          <a:p>
            <a:pPr algn="l"/>
            <a:endParaRPr lang="en-US" dirty="0"/>
          </a:p>
        </p:txBody>
      </p:sp>
    </p:spTree>
    <p:extLst>
      <p:ext uri="{BB962C8B-B14F-4D97-AF65-F5344CB8AC3E}">
        <p14:creationId xmlns:p14="http://schemas.microsoft.com/office/powerpoint/2010/main" val="3705987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88DB-D07E-2514-EC67-56A84E1040B6}"/>
              </a:ext>
            </a:extLst>
          </p:cNvPr>
          <p:cNvSpPr>
            <a:spLocks noGrp="1"/>
          </p:cNvSpPr>
          <p:nvPr>
            <p:ph type="title"/>
          </p:nvPr>
        </p:nvSpPr>
        <p:spPr/>
        <p:txBody>
          <a:bodyPr/>
          <a:lstStyle/>
          <a:p>
            <a:r>
              <a:rPr lang="en-US" b="1" dirty="0"/>
              <a:t>Practice</a:t>
            </a:r>
          </a:p>
        </p:txBody>
      </p:sp>
      <p:sp>
        <p:nvSpPr>
          <p:cNvPr id="3" name="Content Placeholder 2">
            <a:extLst>
              <a:ext uri="{FF2B5EF4-FFF2-40B4-BE49-F238E27FC236}">
                <a16:creationId xmlns:a16="http://schemas.microsoft.com/office/drawing/2014/main" id="{913C0BC1-CA60-8DD7-207F-DA045D766B56}"/>
              </a:ext>
            </a:extLst>
          </p:cNvPr>
          <p:cNvSpPr>
            <a:spLocks noGrp="1"/>
          </p:cNvSpPr>
          <p:nvPr>
            <p:ph idx="1"/>
          </p:nvPr>
        </p:nvSpPr>
        <p:spPr/>
        <p:txBody>
          <a:bodyPr/>
          <a:lstStyle/>
          <a:p>
            <a:pPr algn="l"/>
            <a:r>
              <a:rPr lang="en-US" sz="1800" b="0" i="0" u="none" strike="noStrike" baseline="0" dirty="0">
                <a:latin typeface="TimesTen-Roman"/>
              </a:rPr>
              <a:t>Suppose the variable </a:t>
            </a:r>
            <a:r>
              <a:rPr lang="en-US" sz="1800" b="0" i="0" u="none" strike="noStrike" baseline="0" dirty="0">
                <a:latin typeface="ZztexMono-Regular"/>
              </a:rPr>
              <a:t>x </a:t>
            </a:r>
            <a:r>
              <a:rPr lang="en-US" sz="1800" b="0" i="0" u="none" strike="noStrike" baseline="0" dirty="0">
                <a:latin typeface="TimesTen-Roman"/>
              </a:rPr>
              <a:t>of type </a:t>
            </a:r>
            <a:r>
              <a:rPr lang="en-US" sz="1800" b="0" i="0" u="none" strike="noStrike" baseline="0" dirty="0">
                <a:latin typeface="ZztexMono-Regular"/>
              </a:rPr>
              <a:t>int </a:t>
            </a:r>
            <a:r>
              <a:rPr lang="en-US" sz="1800" b="0" i="0" u="none" strike="noStrike" baseline="0" dirty="0">
                <a:latin typeface="TimesTen-Roman"/>
              </a:rPr>
              <a:t>and at address </a:t>
            </a:r>
            <a:r>
              <a:rPr lang="en-US" sz="1800" b="0" i="0" u="none" strike="noStrike" baseline="0" dirty="0">
                <a:latin typeface="ZztexMono-Regular"/>
              </a:rPr>
              <a:t>0x100 </a:t>
            </a:r>
            <a:r>
              <a:rPr lang="en-US" sz="1800" b="0" i="0" u="none" strike="noStrike" baseline="0" dirty="0">
                <a:latin typeface="TimesTen-Roman"/>
              </a:rPr>
              <a:t>has a hexadecimal value of </a:t>
            </a:r>
            <a:r>
              <a:rPr lang="en-US" sz="1800" b="0" i="0" u="none" strike="noStrike" baseline="0" dirty="0">
                <a:latin typeface="ZztexMono-Regular"/>
              </a:rPr>
              <a:t>0x01234567</a:t>
            </a:r>
            <a:r>
              <a:rPr lang="en-US" sz="1800" b="0" i="0" u="none" strike="noStrike" baseline="0" dirty="0">
                <a:latin typeface="TimesTen-Roman"/>
              </a:rPr>
              <a:t>. </a:t>
            </a:r>
          </a:p>
          <a:p>
            <a:pPr algn="l"/>
            <a:r>
              <a:rPr lang="en-US" sz="1800" b="0" i="0" u="none" strike="noStrike" baseline="0" dirty="0">
                <a:latin typeface="TimesTen-Roman"/>
              </a:rPr>
              <a:t>The ordering of the bytes within the address range </a:t>
            </a:r>
            <a:r>
              <a:rPr lang="en-US" sz="1800" b="0" i="0" u="none" strike="noStrike" baseline="0" dirty="0">
                <a:latin typeface="ZztexMono-Regular"/>
              </a:rPr>
              <a:t>0x100 </a:t>
            </a:r>
            <a:r>
              <a:rPr lang="en-US" sz="1800" b="0" i="0" u="none" strike="noStrike" baseline="0" dirty="0">
                <a:latin typeface="TimesTen-Roman"/>
              </a:rPr>
              <a:t>through </a:t>
            </a:r>
            <a:r>
              <a:rPr lang="en-US" sz="1800" b="0" i="0" u="none" strike="noStrike" baseline="0" dirty="0">
                <a:latin typeface="ZztexMono-Regular"/>
              </a:rPr>
              <a:t>0x103 </a:t>
            </a:r>
            <a:r>
              <a:rPr lang="en-US" sz="1800" b="0" i="0" u="none" strike="noStrike" baseline="0" dirty="0">
                <a:latin typeface="TimesTen-Roman"/>
              </a:rPr>
              <a:t>depends on the type of machine:</a:t>
            </a:r>
          </a:p>
          <a:p>
            <a:pPr algn="l"/>
            <a:r>
              <a:rPr lang="en-US" sz="1800" dirty="0">
                <a:latin typeface="TimesTen-Roman"/>
              </a:rPr>
              <a:t>Express this value into little and big endian</a:t>
            </a:r>
            <a:endParaRPr lang="en-US" dirty="0"/>
          </a:p>
        </p:txBody>
      </p:sp>
    </p:spTree>
    <p:extLst>
      <p:ext uri="{BB962C8B-B14F-4D97-AF65-F5344CB8AC3E}">
        <p14:creationId xmlns:p14="http://schemas.microsoft.com/office/powerpoint/2010/main" val="404877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D01F-42A4-741E-54D0-ADE876A4EF9E}"/>
              </a:ext>
            </a:extLst>
          </p:cNvPr>
          <p:cNvSpPr>
            <a:spLocks noGrp="1"/>
          </p:cNvSpPr>
          <p:nvPr>
            <p:ph type="title"/>
          </p:nvPr>
        </p:nvSpPr>
        <p:spPr/>
        <p:txBody>
          <a:bodyPr/>
          <a:lstStyle/>
          <a:p>
            <a:r>
              <a:rPr lang="en-US" b="1" dirty="0"/>
              <a:t>Solution</a:t>
            </a:r>
          </a:p>
        </p:txBody>
      </p:sp>
      <p:pic>
        <p:nvPicPr>
          <p:cNvPr id="5" name="Content Placeholder 4">
            <a:extLst>
              <a:ext uri="{FF2B5EF4-FFF2-40B4-BE49-F238E27FC236}">
                <a16:creationId xmlns:a16="http://schemas.microsoft.com/office/drawing/2014/main" id="{8608CBC8-EAA5-DAFB-2A1C-2E00A1BD4100}"/>
              </a:ext>
            </a:extLst>
          </p:cNvPr>
          <p:cNvPicPr>
            <a:picLocks noGrp="1" noChangeAspect="1"/>
          </p:cNvPicPr>
          <p:nvPr>
            <p:ph idx="1"/>
          </p:nvPr>
        </p:nvPicPr>
        <p:blipFill>
          <a:blip r:embed="rId2"/>
          <a:stretch>
            <a:fillRect/>
          </a:stretch>
        </p:blipFill>
        <p:spPr>
          <a:xfrm>
            <a:off x="1538736" y="2182763"/>
            <a:ext cx="9114528" cy="3524864"/>
          </a:xfrm>
        </p:spPr>
      </p:pic>
    </p:spTree>
    <p:extLst>
      <p:ext uri="{BB962C8B-B14F-4D97-AF65-F5344CB8AC3E}">
        <p14:creationId xmlns:p14="http://schemas.microsoft.com/office/powerpoint/2010/main" val="142146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DD71-02E4-A00B-5AB2-608D7CB6DA70}"/>
              </a:ext>
            </a:extLst>
          </p:cNvPr>
          <p:cNvSpPr>
            <a:spLocks noGrp="1"/>
          </p:cNvSpPr>
          <p:nvPr>
            <p:ph type="title"/>
          </p:nvPr>
        </p:nvSpPr>
        <p:spPr/>
        <p:txBody>
          <a:bodyPr/>
          <a:lstStyle/>
          <a:p>
            <a:r>
              <a:rPr lang="en-US" dirty="0"/>
              <a:t>Implementation of little and big endian</a:t>
            </a:r>
          </a:p>
        </p:txBody>
      </p:sp>
      <p:sp>
        <p:nvSpPr>
          <p:cNvPr id="3" name="Content Placeholder 2">
            <a:extLst>
              <a:ext uri="{FF2B5EF4-FFF2-40B4-BE49-F238E27FC236}">
                <a16:creationId xmlns:a16="http://schemas.microsoft.com/office/drawing/2014/main" id="{9E0E82FC-28CC-8BDF-8AD3-DC058B258394}"/>
              </a:ext>
            </a:extLst>
          </p:cNvPr>
          <p:cNvSpPr>
            <a:spLocks noGrp="1"/>
          </p:cNvSpPr>
          <p:nvPr>
            <p:ph idx="1"/>
          </p:nvPr>
        </p:nvSpPr>
        <p:spPr/>
        <p:txBody>
          <a:bodyPr/>
          <a:lstStyle/>
          <a:p>
            <a:pPr algn="l"/>
            <a:r>
              <a:rPr lang="en-US" sz="1800" b="0" i="0" u="none" strike="noStrike" baseline="0" dirty="0">
                <a:latin typeface="TimesTen-Roman"/>
              </a:rPr>
              <a:t>Most Intel-compatible machines operate exclusively in little-endian mode. On the other hand, most machines from IBM and Oracle operate in big-endian mode.</a:t>
            </a:r>
          </a:p>
          <a:p>
            <a:pPr algn="l"/>
            <a:r>
              <a:rPr lang="en-US" sz="1800" b="0" i="0" u="none" strike="noStrike" baseline="0" dirty="0">
                <a:latin typeface="TimesTen-Roman"/>
              </a:rPr>
              <a:t>Many recent microprocessor chips are </a:t>
            </a:r>
            <a:r>
              <a:rPr lang="en-US" sz="1800" b="0" i="1" u="none" strike="noStrike" baseline="0" dirty="0">
                <a:latin typeface="TimesTen-Italic"/>
              </a:rPr>
              <a:t>bi-endian</a:t>
            </a:r>
            <a:r>
              <a:rPr lang="en-US" sz="1800" b="0" i="0" u="none" strike="noStrike" baseline="0" dirty="0">
                <a:latin typeface="TimesTen-Roman"/>
              </a:rPr>
              <a:t>, meaning that they can be configured to operate as either little- or big-endian machines.</a:t>
            </a:r>
          </a:p>
          <a:p>
            <a:pPr algn="l"/>
            <a:r>
              <a:rPr lang="en-US" sz="1800" b="0" i="0" u="none" strike="noStrike" baseline="0" dirty="0">
                <a:latin typeface="TimesTen-Roman"/>
              </a:rPr>
              <a:t>In practice, however, byte ordering becomes fixed once a particular operating system is chosen. For example, ARM microprocessors, used in many cell phones, have hardware that can operate in either little- or big-endian mode,</a:t>
            </a:r>
          </a:p>
          <a:p>
            <a:pPr algn="l"/>
            <a:r>
              <a:rPr lang="en-US" sz="1800" b="0" i="0" u="none" strike="noStrike" baseline="0" dirty="0">
                <a:latin typeface="TimesTen-Roman"/>
              </a:rPr>
              <a:t> </a:t>
            </a:r>
            <a:r>
              <a:rPr lang="en-US" sz="1800" dirty="0">
                <a:latin typeface="TimesTen-Roman"/>
              </a:rPr>
              <a:t>B</a:t>
            </a:r>
            <a:r>
              <a:rPr lang="en-US" sz="1800" b="0" i="0" u="none" strike="noStrike" baseline="0" dirty="0">
                <a:latin typeface="TimesTen-Roman"/>
              </a:rPr>
              <a:t>ut the two most common operating systems for these chips—Android (from Google) and IOS (from Apple)—operate only in little-endian mode.</a:t>
            </a:r>
          </a:p>
          <a:p>
            <a:pPr algn="l"/>
            <a:r>
              <a:rPr lang="en-US" sz="1800" b="0" i="0" u="none" strike="noStrike" baseline="0" dirty="0">
                <a:latin typeface="TimesTen-Roman"/>
              </a:rPr>
              <a:t>For most application programmers, the byte orderings used by their machines are totally invisible; programs compiled for either class of machine give identical results.</a:t>
            </a:r>
            <a:endParaRPr lang="en-US" dirty="0"/>
          </a:p>
        </p:txBody>
      </p:sp>
    </p:spTree>
    <p:extLst>
      <p:ext uri="{BB962C8B-B14F-4D97-AF65-F5344CB8AC3E}">
        <p14:creationId xmlns:p14="http://schemas.microsoft.com/office/powerpoint/2010/main" val="3341248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BB8F0-97B7-24C2-E6B3-3646B60129AA}"/>
              </a:ext>
            </a:extLst>
          </p:cNvPr>
          <p:cNvSpPr>
            <a:spLocks noGrp="1"/>
          </p:cNvSpPr>
          <p:nvPr>
            <p:ph type="title"/>
          </p:nvPr>
        </p:nvSpPr>
        <p:spPr/>
        <p:txBody>
          <a:bodyPr/>
          <a:lstStyle/>
          <a:p>
            <a:r>
              <a:rPr lang="en-US" b="1" dirty="0"/>
              <a:t>Bi-endian Problem on Network</a:t>
            </a:r>
          </a:p>
        </p:txBody>
      </p:sp>
      <p:sp>
        <p:nvSpPr>
          <p:cNvPr id="3" name="Content Placeholder 2">
            <a:extLst>
              <a:ext uri="{FF2B5EF4-FFF2-40B4-BE49-F238E27FC236}">
                <a16:creationId xmlns:a16="http://schemas.microsoft.com/office/drawing/2014/main" id="{2DAA27C2-F1F0-E6E2-A7D6-56C23B3EF544}"/>
              </a:ext>
            </a:extLst>
          </p:cNvPr>
          <p:cNvSpPr>
            <a:spLocks noGrp="1"/>
          </p:cNvSpPr>
          <p:nvPr>
            <p:ph idx="1"/>
          </p:nvPr>
        </p:nvSpPr>
        <p:spPr/>
        <p:txBody>
          <a:bodyPr/>
          <a:lstStyle/>
          <a:p>
            <a:pPr marL="0" indent="0" algn="l">
              <a:buNone/>
            </a:pPr>
            <a:r>
              <a:rPr lang="en-US" sz="1800" b="0" i="0" u="none" strike="noStrike" baseline="0" dirty="0">
                <a:latin typeface="TimesTen-Roman"/>
              </a:rPr>
              <a:t> when binary data are communicated over a network between different machines. A common problem is for data produced by a little-endian machine to be sent to a big-endian machine, or vice versa, leading to the bytes within the words being in reverse order for the receiving program. </a:t>
            </a:r>
          </a:p>
        </p:txBody>
      </p:sp>
    </p:spTree>
    <p:extLst>
      <p:ext uri="{BB962C8B-B14F-4D97-AF65-F5344CB8AC3E}">
        <p14:creationId xmlns:p14="http://schemas.microsoft.com/office/powerpoint/2010/main" val="1644524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5CA5F-72E2-3E19-41B0-A31864F01757}"/>
              </a:ext>
            </a:extLst>
          </p:cNvPr>
          <p:cNvSpPr>
            <a:spLocks noGrp="1"/>
          </p:cNvSpPr>
          <p:nvPr>
            <p:ph type="title"/>
          </p:nvPr>
        </p:nvSpPr>
        <p:spPr/>
        <p:txBody>
          <a:bodyPr/>
          <a:lstStyle/>
          <a:p>
            <a:r>
              <a:rPr lang="en-US" b="1" dirty="0"/>
              <a:t>Solution</a:t>
            </a:r>
          </a:p>
        </p:txBody>
      </p:sp>
      <p:sp>
        <p:nvSpPr>
          <p:cNvPr id="3" name="Content Placeholder 2">
            <a:extLst>
              <a:ext uri="{FF2B5EF4-FFF2-40B4-BE49-F238E27FC236}">
                <a16:creationId xmlns:a16="http://schemas.microsoft.com/office/drawing/2014/main" id="{9D25DEB4-966C-FE9A-90FE-DC8F15AEDF6A}"/>
              </a:ext>
            </a:extLst>
          </p:cNvPr>
          <p:cNvSpPr>
            <a:spLocks noGrp="1"/>
          </p:cNvSpPr>
          <p:nvPr>
            <p:ph idx="1"/>
          </p:nvPr>
        </p:nvSpPr>
        <p:spPr/>
        <p:txBody>
          <a:bodyPr/>
          <a:lstStyle/>
          <a:p>
            <a:pPr algn="l">
              <a:buFont typeface="Wingdings" panose="05000000000000000000" pitchFamily="2" charset="2"/>
              <a:buChar char="v"/>
            </a:pPr>
            <a:r>
              <a:rPr lang="en-US" sz="2800" b="0" i="0" u="none" strike="noStrike" baseline="0" dirty="0">
                <a:latin typeface="TimesTen-Roman"/>
              </a:rPr>
              <a:t>To avoid such problems, code written for networking applications must follow established conventions for byte ordering</a:t>
            </a:r>
          </a:p>
          <a:p>
            <a:pPr algn="l">
              <a:buFont typeface="Wingdings" panose="05000000000000000000" pitchFamily="2" charset="2"/>
              <a:buChar char="v"/>
            </a:pPr>
            <a:r>
              <a:rPr lang="en-US" sz="2800" b="0" i="0" u="none" strike="noStrike" baseline="0" dirty="0">
                <a:latin typeface="TimesTen-Roman"/>
              </a:rPr>
              <a:t>To make sure the sending machine converts its internal representation to the network standard</a:t>
            </a:r>
          </a:p>
          <a:p>
            <a:pPr algn="l">
              <a:buFont typeface="Wingdings" panose="05000000000000000000" pitchFamily="2" charset="2"/>
              <a:buChar char="v"/>
            </a:pPr>
            <a:r>
              <a:rPr lang="en-US" sz="2800" b="0" i="0" u="none" strike="noStrike" baseline="0" dirty="0">
                <a:latin typeface="TimesTen-Roman"/>
              </a:rPr>
              <a:t>while the receiving machine converts the network standard to its internal representation.</a:t>
            </a:r>
            <a:endParaRPr lang="en-US" dirty="0"/>
          </a:p>
          <a:p>
            <a:endParaRPr lang="en-US" dirty="0"/>
          </a:p>
        </p:txBody>
      </p:sp>
    </p:spTree>
    <p:extLst>
      <p:ext uri="{BB962C8B-B14F-4D97-AF65-F5344CB8AC3E}">
        <p14:creationId xmlns:p14="http://schemas.microsoft.com/office/powerpoint/2010/main" val="2304597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A6C20-1D1F-AEB0-F7BD-B1E26A49BDE7}"/>
              </a:ext>
            </a:extLst>
          </p:cNvPr>
          <p:cNvSpPr>
            <a:spLocks noGrp="1"/>
          </p:cNvSpPr>
          <p:nvPr>
            <p:ph type="title"/>
          </p:nvPr>
        </p:nvSpPr>
        <p:spPr/>
        <p:txBody>
          <a:bodyPr/>
          <a:lstStyle/>
          <a:p>
            <a:r>
              <a:rPr lang="en-US" dirty="0"/>
              <a:t>Representation of code</a:t>
            </a:r>
          </a:p>
        </p:txBody>
      </p:sp>
      <p:sp>
        <p:nvSpPr>
          <p:cNvPr id="3" name="Content Placeholder 2">
            <a:extLst>
              <a:ext uri="{FF2B5EF4-FFF2-40B4-BE49-F238E27FC236}">
                <a16:creationId xmlns:a16="http://schemas.microsoft.com/office/drawing/2014/main" id="{C0A24110-7D3D-BB55-D90A-D855003BEBF3}"/>
              </a:ext>
            </a:extLst>
          </p:cNvPr>
          <p:cNvSpPr>
            <a:spLocks noGrp="1"/>
          </p:cNvSpPr>
          <p:nvPr>
            <p:ph idx="1"/>
          </p:nvPr>
        </p:nvSpPr>
        <p:spPr/>
        <p:txBody>
          <a:bodyPr>
            <a:normAutofit/>
          </a:bodyPr>
          <a:lstStyle/>
          <a:p>
            <a:pPr marL="0" indent="0" algn="l">
              <a:buNone/>
            </a:pPr>
            <a:r>
              <a:rPr lang="en-US" sz="1800" b="1" i="0" u="none" strike="noStrike" baseline="0" dirty="0">
                <a:solidFill>
                  <a:srgbClr val="000000"/>
                </a:solidFill>
                <a:latin typeface="TimesTen-Roman"/>
              </a:rPr>
              <a:t>Consider the following C function:</a:t>
            </a:r>
          </a:p>
          <a:p>
            <a:pPr marL="0" indent="0" algn="l">
              <a:buNone/>
            </a:pPr>
            <a:r>
              <a:rPr lang="fr-FR" sz="1800" b="1" i="0" u="none" strike="noStrike" baseline="0" dirty="0">
                <a:solidFill>
                  <a:srgbClr val="00FFFF"/>
                </a:solidFill>
                <a:latin typeface="StoneSans"/>
              </a:rPr>
              <a:t> </a:t>
            </a:r>
            <a:r>
              <a:rPr lang="fr-FR" sz="1800" b="1" i="0" u="none" strike="noStrike" baseline="0" dirty="0" err="1">
                <a:solidFill>
                  <a:srgbClr val="000000"/>
                </a:solidFill>
                <a:latin typeface="ZztexMono-Regular"/>
              </a:rPr>
              <a:t>int</a:t>
            </a:r>
            <a:r>
              <a:rPr lang="fr-FR" sz="1800" b="1" i="0" u="none" strike="noStrike" baseline="0" dirty="0">
                <a:solidFill>
                  <a:srgbClr val="000000"/>
                </a:solidFill>
                <a:latin typeface="ZztexMono-Regular"/>
              </a:rPr>
              <a:t> </a:t>
            </a:r>
            <a:r>
              <a:rPr lang="fr-FR" sz="1800" b="1" i="0" u="none" strike="noStrike" baseline="0" dirty="0" err="1">
                <a:solidFill>
                  <a:srgbClr val="000000"/>
                </a:solidFill>
                <a:latin typeface="ZztexMono-Regular"/>
              </a:rPr>
              <a:t>sum</a:t>
            </a:r>
            <a:r>
              <a:rPr lang="fr-FR" sz="1800" b="1" i="0" u="none" strike="noStrike" baseline="0" dirty="0">
                <a:solidFill>
                  <a:srgbClr val="000000"/>
                </a:solidFill>
                <a:latin typeface="ZztexMono-Regular"/>
              </a:rPr>
              <a:t>(</a:t>
            </a:r>
            <a:r>
              <a:rPr lang="fr-FR" sz="1800" b="1" i="0" u="none" strike="noStrike" baseline="0" dirty="0" err="1">
                <a:solidFill>
                  <a:srgbClr val="000000"/>
                </a:solidFill>
                <a:latin typeface="ZztexMono-Regular"/>
              </a:rPr>
              <a:t>int</a:t>
            </a:r>
            <a:r>
              <a:rPr lang="fr-FR" sz="1800" b="1" i="0" u="none" strike="noStrike" baseline="0" dirty="0">
                <a:solidFill>
                  <a:srgbClr val="000000"/>
                </a:solidFill>
                <a:latin typeface="ZztexMono-Regular"/>
              </a:rPr>
              <a:t> x, </a:t>
            </a:r>
            <a:r>
              <a:rPr lang="fr-FR" sz="1800" b="1" i="0" u="none" strike="noStrike" baseline="0" dirty="0" err="1">
                <a:solidFill>
                  <a:srgbClr val="000000"/>
                </a:solidFill>
                <a:latin typeface="ZztexMono-Regular"/>
              </a:rPr>
              <a:t>int</a:t>
            </a:r>
            <a:r>
              <a:rPr lang="fr-FR" sz="1800" b="1" i="0" u="none" strike="noStrike" baseline="0" dirty="0">
                <a:solidFill>
                  <a:srgbClr val="000000"/>
                </a:solidFill>
                <a:latin typeface="ZztexMono-Regular"/>
              </a:rPr>
              <a:t> y)</a:t>
            </a:r>
          </a:p>
          <a:p>
            <a:pPr marL="0" indent="0" algn="l">
              <a:buNone/>
            </a:pPr>
            <a:r>
              <a:rPr lang="fr-FR" sz="1800" b="1" i="0" u="none" strike="noStrike" baseline="0" dirty="0">
                <a:solidFill>
                  <a:srgbClr val="000000"/>
                </a:solidFill>
                <a:latin typeface="ZztexMono-Regular"/>
              </a:rPr>
              <a:t> {</a:t>
            </a:r>
          </a:p>
          <a:p>
            <a:pPr marL="0" indent="0" algn="l">
              <a:buNone/>
            </a:pPr>
            <a:r>
              <a:rPr lang="en-US" sz="1800" b="1" i="0" u="none" strike="noStrike" baseline="0" dirty="0">
                <a:solidFill>
                  <a:srgbClr val="00FFFF"/>
                </a:solidFill>
                <a:latin typeface="StoneSans"/>
              </a:rPr>
              <a:t> </a:t>
            </a:r>
            <a:r>
              <a:rPr lang="en-US" sz="1800" b="1" i="0" u="none" strike="noStrike" baseline="0" dirty="0">
                <a:solidFill>
                  <a:srgbClr val="000000"/>
                </a:solidFill>
                <a:latin typeface="ZztexMono-Regular"/>
              </a:rPr>
              <a:t>return x + y;</a:t>
            </a:r>
          </a:p>
          <a:p>
            <a:pPr marL="0" indent="0" algn="l">
              <a:buNone/>
            </a:pPr>
            <a:r>
              <a:rPr lang="en-US" sz="1800" b="1" i="0" u="none" strike="noStrike" baseline="0" dirty="0">
                <a:solidFill>
                  <a:srgbClr val="00FFFF"/>
                </a:solidFill>
                <a:latin typeface="StoneSans"/>
              </a:rPr>
              <a:t> </a:t>
            </a:r>
            <a:r>
              <a:rPr lang="en-US" sz="1800" b="1" i="0" u="none" strike="noStrike" baseline="0" dirty="0">
                <a:solidFill>
                  <a:srgbClr val="000000"/>
                </a:solidFill>
                <a:latin typeface="ZztexMono-Regular"/>
              </a:rPr>
              <a:t>}</a:t>
            </a:r>
          </a:p>
          <a:p>
            <a:pPr marL="0" indent="0" algn="l">
              <a:buNone/>
            </a:pPr>
            <a:r>
              <a:rPr lang="en-US" sz="1800" b="1" i="0" u="none" strike="noStrike" baseline="0" dirty="0">
                <a:solidFill>
                  <a:srgbClr val="000000"/>
                </a:solidFill>
                <a:latin typeface="TimesTen-Roman"/>
              </a:rPr>
              <a:t>When compiled on our sample machines, we generate machine code having the following byte representations:</a:t>
            </a:r>
          </a:p>
          <a:p>
            <a:pPr algn="l"/>
            <a:r>
              <a:rPr lang="pt-BR" sz="1800" b="1" i="0" u="none" strike="noStrike" baseline="0" dirty="0">
                <a:solidFill>
                  <a:srgbClr val="000000"/>
                </a:solidFill>
                <a:latin typeface="TimesTen-Bold"/>
              </a:rPr>
              <a:t>Linux 32 </a:t>
            </a:r>
            <a:r>
              <a:rPr lang="pt-BR" sz="1800" b="1" i="0" u="none" strike="noStrike" baseline="0" dirty="0">
                <a:solidFill>
                  <a:srgbClr val="000000"/>
                </a:solidFill>
                <a:latin typeface="ZztexMono-Regular"/>
              </a:rPr>
              <a:t>55 89 e5 8b 45 0c 03 45 08 c9 c3</a:t>
            </a:r>
          </a:p>
          <a:p>
            <a:pPr algn="l"/>
            <a:r>
              <a:rPr lang="en-US" sz="1800" b="1" i="0" u="none" strike="noStrike" baseline="0" dirty="0">
                <a:solidFill>
                  <a:srgbClr val="000000"/>
                </a:solidFill>
                <a:latin typeface="TimesTen-Bold"/>
              </a:rPr>
              <a:t>Windows </a:t>
            </a:r>
            <a:r>
              <a:rPr lang="en-US" sz="1800" b="1" i="0" u="none" strike="noStrike" baseline="0" dirty="0">
                <a:solidFill>
                  <a:srgbClr val="000000"/>
                </a:solidFill>
                <a:latin typeface="ZztexMono-Regular"/>
              </a:rPr>
              <a:t>55 89 e5 8b 45 0c 03 45 08 5d c3</a:t>
            </a:r>
          </a:p>
          <a:p>
            <a:pPr algn="l"/>
            <a:r>
              <a:rPr lang="it-IT" sz="1800" b="1" i="0" u="none" strike="noStrike" baseline="0" dirty="0">
                <a:solidFill>
                  <a:srgbClr val="000000"/>
                </a:solidFill>
                <a:latin typeface="TimesTen-Bold"/>
              </a:rPr>
              <a:t>Sun </a:t>
            </a:r>
            <a:r>
              <a:rPr lang="it-IT" sz="1800" b="1" i="0" u="none" strike="noStrike" baseline="0" dirty="0">
                <a:solidFill>
                  <a:srgbClr val="000000"/>
                </a:solidFill>
                <a:latin typeface="ZztexMono-Regular"/>
              </a:rPr>
              <a:t>81 c3 e0 08 90 02 00 09</a:t>
            </a:r>
          </a:p>
          <a:p>
            <a:pPr algn="l"/>
            <a:r>
              <a:rPr lang="en-US" sz="1800" b="1" i="0" u="none" strike="noStrike" baseline="0" dirty="0">
                <a:solidFill>
                  <a:srgbClr val="000000"/>
                </a:solidFill>
                <a:latin typeface="TimesTen-Bold"/>
              </a:rPr>
              <a:t>Linux 64 </a:t>
            </a:r>
            <a:r>
              <a:rPr lang="en-US" sz="1800" b="1" i="0" u="none" strike="noStrike" baseline="0" dirty="0">
                <a:solidFill>
                  <a:srgbClr val="000000"/>
                </a:solidFill>
                <a:latin typeface="ZztexMono-Regular"/>
              </a:rPr>
              <a:t>55 48 89 e5 89 7d fc 89 75 f8 03 45 fc c9 c3</a:t>
            </a:r>
            <a:endParaRPr lang="en-US" b="1" dirty="0"/>
          </a:p>
        </p:txBody>
      </p:sp>
    </p:spTree>
    <p:extLst>
      <p:ext uri="{BB962C8B-B14F-4D97-AF65-F5344CB8AC3E}">
        <p14:creationId xmlns:p14="http://schemas.microsoft.com/office/powerpoint/2010/main" val="2702546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92A12-6A67-123A-1B95-FDE45E311C99}"/>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ED1C3F3A-020B-5F9A-61E5-1524CD59BB7C}"/>
              </a:ext>
            </a:extLst>
          </p:cNvPr>
          <p:cNvSpPr>
            <a:spLocks noGrp="1"/>
          </p:cNvSpPr>
          <p:nvPr>
            <p:ph idx="1"/>
          </p:nvPr>
        </p:nvSpPr>
        <p:spPr/>
        <p:txBody>
          <a:bodyPr/>
          <a:lstStyle/>
          <a:p>
            <a:pPr algn="l">
              <a:lnSpc>
                <a:spcPct val="150000"/>
              </a:lnSpc>
              <a:buFont typeface="Wingdings" panose="05000000000000000000" pitchFamily="2" charset="2"/>
              <a:buChar char="v"/>
            </a:pPr>
            <a:r>
              <a:rPr lang="en-US" sz="1800" b="1" i="0" u="none" strike="noStrike" baseline="0" dirty="0">
                <a:latin typeface="TimesTen-Roman"/>
              </a:rPr>
              <a:t>Here we find that the instruction coding are different.</a:t>
            </a:r>
          </a:p>
          <a:p>
            <a:pPr algn="l">
              <a:lnSpc>
                <a:spcPct val="150000"/>
              </a:lnSpc>
              <a:buFont typeface="Wingdings" panose="05000000000000000000" pitchFamily="2" charset="2"/>
              <a:buChar char="v"/>
            </a:pPr>
            <a:r>
              <a:rPr lang="en-US" sz="1800" b="1" i="0" u="none" strike="noStrike" baseline="0" dirty="0">
                <a:latin typeface="TimesTen-Roman"/>
              </a:rPr>
              <a:t> Different machine types use different and incompatible instructions and encodings.</a:t>
            </a:r>
          </a:p>
          <a:p>
            <a:pPr algn="l">
              <a:lnSpc>
                <a:spcPct val="150000"/>
              </a:lnSpc>
              <a:buFont typeface="Wingdings" panose="05000000000000000000" pitchFamily="2" charset="2"/>
              <a:buChar char="v"/>
            </a:pPr>
            <a:r>
              <a:rPr lang="en-US" sz="1800" b="1" i="0" u="none" strike="noStrike" baseline="0" dirty="0">
                <a:latin typeface="TimesTen-Roman"/>
              </a:rPr>
              <a:t>Even identical processors running different operating systems have differences in their coding conventions and hence are not binary compatible.</a:t>
            </a:r>
          </a:p>
          <a:p>
            <a:pPr algn="l">
              <a:lnSpc>
                <a:spcPct val="150000"/>
              </a:lnSpc>
              <a:buFont typeface="Wingdings" panose="05000000000000000000" pitchFamily="2" charset="2"/>
              <a:buChar char="v"/>
            </a:pPr>
            <a:r>
              <a:rPr lang="en-US" sz="1800" b="1" i="0" u="none" strike="noStrike" baseline="0" dirty="0">
                <a:latin typeface="TimesTen-Roman"/>
              </a:rPr>
              <a:t>Binary code is seldom portable across different combinations of machine and operating system.</a:t>
            </a:r>
            <a:endParaRPr lang="en-US" b="1" dirty="0"/>
          </a:p>
        </p:txBody>
      </p:sp>
    </p:spTree>
    <p:extLst>
      <p:ext uri="{BB962C8B-B14F-4D97-AF65-F5344CB8AC3E}">
        <p14:creationId xmlns:p14="http://schemas.microsoft.com/office/powerpoint/2010/main" val="2608525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ECAE-76AF-DDD0-435F-F74C96E53FFB}"/>
              </a:ext>
            </a:extLst>
          </p:cNvPr>
          <p:cNvSpPr>
            <a:spLocks noGrp="1"/>
          </p:cNvSpPr>
          <p:nvPr>
            <p:ph type="title"/>
          </p:nvPr>
        </p:nvSpPr>
        <p:spPr>
          <a:xfrm>
            <a:off x="838200" y="699370"/>
            <a:ext cx="10515600" cy="785249"/>
          </a:xfrm>
        </p:spPr>
        <p:txBody>
          <a:bodyPr/>
          <a:lstStyle/>
          <a:p>
            <a:pPr algn="ctr"/>
            <a:r>
              <a:rPr lang="en-US" b="1" dirty="0"/>
              <a:t>Introduction to Boolean Algebra</a:t>
            </a:r>
          </a:p>
        </p:txBody>
      </p:sp>
      <p:sp>
        <p:nvSpPr>
          <p:cNvPr id="3" name="Content Placeholder 2">
            <a:extLst>
              <a:ext uri="{FF2B5EF4-FFF2-40B4-BE49-F238E27FC236}">
                <a16:creationId xmlns:a16="http://schemas.microsoft.com/office/drawing/2014/main" id="{B53C7ED6-F052-8AAD-D92A-535D1654CA44}"/>
              </a:ext>
            </a:extLst>
          </p:cNvPr>
          <p:cNvSpPr>
            <a:spLocks noGrp="1"/>
          </p:cNvSpPr>
          <p:nvPr>
            <p:ph idx="1"/>
          </p:nvPr>
        </p:nvSpPr>
        <p:spPr>
          <a:xfrm>
            <a:off x="838200" y="1807292"/>
            <a:ext cx="10515600" cy="4351338"/>
          </a:xfrm>
        </p:spPr>
        <p:txBody>
          <a:bodyPr/>
          <a:lstStyle/>
          <a:p>
            <a:pPr algn="l">
              <a:buFont typeface="Wingdings" panose="05000000000000000000" pitchFamily="2" charset="2"/>
              <a:buChar char="v"/>
            </a:pPr>
            <a:r>
              <a:rPr lang="en-US" sz="2400" b="0" i="0" u="none" strike="noStrike" baseline="0" dirty="0">
                <a:latin typeface="TimesTen-Roman"/>
              </a:rPr>
              <a:t>Since binary values are at the core of how computers encode, store, and manipulate information, a rich body of mathematical knowledge has evolved around the study of the values 0 and 1.</a:t>
            </a:r>
          </a:p>
          <a:p>
            <a:pPr algn="l">
              <a:buFont typeface="Wingdings" panose="05000000000000000000" pitchFamily="2" charset="2"/>
              <a:buChar char="v"/>
            </a:pPr>
            <a:r>
              <a:rPr lang="en-US" sz="2400" b="0" i="0" u="none" strike="noStrike" baseline="0" dirty="0">
                <a:latin typeface="TimesTen-Roman"/>
              </a:rPr>
              <a:t> This started with the work of George Boole (1815–1864) around 1850 and thus is known as </a:t>
            </a:r>
            <a:r>
              <a:rPr lang="en-US" sz="2400" b="0" i="1" u="none" strike="noStrike" baseline="0" dirty="0">
                <a:latin typeface="TimesTen-Italic"/>
              </a:rPr>
              <a:t>Boolean algebra</a:t>
            </a:r>
            <a:r>
              <a:rPr lang="en-US" sz="2400" b="0" i="0" u="none" strike="noStrike" baseline="0" dirty="0">
                <a:latin typeface="TimesTen-Roman"/>
              </a:rPr>
              <a:t>.</a:t>
            </a:r>
          </a:p>
          <a:p>
            <a:pPr algn="l">
              <a:buFont typeface="Wingdings" panose="05000000000000000000" pitchFamily="2" charset="2"/>
              <a:buChar char="v"/>
            </a:pPr>
            <a:r>
              <a:rPr lang="en-US" sz="2400" b="0" i="0" u="none" strike="noStrike" baseline="0" dirty="0">
                <a:latin typeface="TimesTen-Roman"/>
              </a:rPr>
              <a:t>Boole observed that by encoding logic values </a:t>
            </a:r>
            <a:r>
              <a:rPr lang="en-US" sz="2400" b="0" i="0" u="none" strike="noStrike" baseline="0" dirty="0">
                <a:latin typeface="TimesTen-RomanSC"/>
              </a:rPr>
              <a:t>true </a:t>
            </a:r>
            <a:r>
              <a:rPr lang="en-US" sz="2400" b="0" i="0" u="none" strike="noStrike" baseline="0" dirty="0">
                <a:latin typeface="TimesTen-Roman"/>
              </a:rPr>
              <a:t>and </a:t>
            </a:r>
            <a:r>
              <a:rPr lang="en-US" sz="2400" b="0" i="0" u="none" strike="noStrike" baseline="0" dirty="0">
                <a:latin typeface="TimesTen-RomanSC"/>
              </a:rPr>
              <a:t>false </a:t>
            </a:r>
            <a:r>
              <a:rPr lang="en-US" sz="2400" b="0" i="0" u="none" strike="noStrike" baseline="0" dirty="0">
                <a:latin typeface="TimesTen-Roman"/>
              </a:rPr>
              <a:t>as binary values 1 and 0, he could formulate an algebra that captures the basic principles of logical reasoning.</a:t>
            </a:r>
          </a:p>
          <a:p>
            <a:pPr algn="l">
              <a:buFont typeface="Wingdings" panose="05000000000000000000" pitchFamily="2" charset="2"/>
              <a:buChar char="v"/>
            </a:pPr>
            <a:r>
              <a:rPr lang="en-US" sz="2400" b="0" i="0" u="none" strike="noStrike" baseline="0" dirty="0">
                <a:latin typeface="TimesTen-Roman"/>
              </a:rPr>
              <a:t>The simplest Boolean algebra is defined over the two-element set </a:t>
            </a:r>
            <a:r>
              <a:rPr lang="en-US" sz="2400" b="0" i="0" u="none" strike="noStrike" baseline="0" dirty="0">
                <a:latin typeface="MTSYN"/>
              </a:rPr>
              <a:t>{</a:t>
            </a:r>
            <a:r>
              <a:rPr lang="en-US" sz="2400" b="0" i="0" u="none" strike="noStrike" baseline="0" dirty="0">
                <a:latin typeface="TimesTen-Roman"/>
              </a:rPr>
              <a:t>0</a:t>
            </a:r>
            <a:r>
              <a:rPr lang="en-US" sz="2400" b="0" i="1" u="none" strike="noStrike" baseline="0" dirty="0">
                <a:latin typeface="MTMIZ"/>
              </a:rPr>
              <a:t>, </a:t>
            </a:r>
            <a:r>
              <a:rPr lang="en-US" sz="2400" b="0" i="0" u="none" strike="noStrike" baseline="0" dirty="0">
                <a:latin typeface="TimesTen-Roman"/>
              </a:rPr>
              <a:t>1</a:t>
            </a:r>
            <a:r>
              <a:rPr lang="en-US" sz="2400" b="0" i="0" u="none" strike="noStrike" baseline="0" dirty="0">
                <a:latin typeface="MTSYN"/>
              </a:rPr>
              <a:t>}</a:t>
            </a:r>
            <a:r>
              <a:rPr lang="en-US" sz="2400" b="0" i="0" u="none" strike="noStrike" baseline="0" dirty="0">
                <a:latin typeface="TimesTen-Roman"/>
              </a:rPr>
              <a:t>.</a:t>
            </a:r>
          </a:p>
          <a:p>
            <a:pPr algn="l">
              <a:buFont typeface="Wingdings" panose="05000000000000000000" pitchFamily="2" charset="2"/>
              <a:buChar char="v"/>
            </a:pPr>
            <a:endParaRPr lang="en-US" dirty="0"/>
          </a:p>
        </p:txBody>
      </p:sp>
    </p:spTree>
    <p:extLst>
      <p:ext uri="{BB962C8B-B14F-4D97-AF65-F5344CB8AC3E}">
        <p14:creationId xmlns:p14="http://schemas.microsoft.com/office/powerpoint/2010/main" val="1843677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9361-2C14-8552-29F2-D42AEBC3AB8B}"/>
              </a:ext>
            </a:extLst>
          </p:cNvPr>
          <p:cNvSpPr>
            <a:spLocks noGrp="1"/>
          </p:cNvSpPr>
          <p:nvPr>
            <p:ph type="title"/>
          </p:nvPr>
        </p:nvSpPr>
        <p:spPr/>
        <p:txBody>
          <a:bodyPr/>
          <a:lstStyle/>
          <a:p>
            <a:r>
              <a:rPr lang="en-US" dirty="0"/>
              <a:t>Operation of Boolean Algebra</a:t>
            </a:r>
          </a:p>
        </p:txBody>
      </p:sp>
      <p:pic>
        <p:nvPicPr>
          <p:cNvPr id="4" name="Content Placeholder 3">
            <a:extLst>
              <a:ext uri="{FF2B5EF4-FFF2-40B4-BE49-F238E27FC236}">
                <a16:creationId xmlns:a16="http://schemas.microsoft.com/office/drawing/2014/main" id="{618F6BED-3E31-4CC3-6699-390D7E1A5D6D}"/>
              </a:ext>
            </a:extLst>
          </p:cNvPr>
          <p:cNvPicPr>
            <a:picLocks noGrp="1" noChangeAspect="1"/>
          </p:cNvPicPr>
          <p:nvPr>
            <p:ph idx="1"/>
          </p:nvPr>
        </p:nvPicPr>
        <p:blipFill>
          <a:blip r:embed="rId2"/>
          <a:stretch>
            <a:fillRect/>
          </a:stretch>
        </p:blipFill>
        <p:spPr>
          <a:xfrm>
            <a:off x="2103796" y="2683783"/>
            <a:ext cx="6686550" cy="1171575"/>
          </a:xfrm>
          <a:prstGeom prst="rect">
            <a:avLst/>
          </a:prstGeom>
        </p:spPr>
      </p:pic>
      <p:sp>
        <p:nvSpPr>
          <p:cNvPr id="6" name="TextBox 5">
            <a:extLst>
              <a:ext uri="{FF2B5EF4-FFF2-40B4-BE49-F238E27FC236}">
                <a16:creationId xmlns:a16="http://schemas.microsoft.com/office/drawing/2014/main" id="{70C94CDA-D925-78B7-9803-27AE6F0A5892}"/>
              </a:ext>
            </a:extLst>
          </p:cNvPr>
          <p:cNvSpPr txBox="1"/>
          <p:nvPr/>
        </p:nvSpPr>
        <p:spPr>
          <a:xfrm>
            <a:off x="838200" y="1650474"/>
            <a:ext cx="10193594" cy="677108"/>
          </a:xfrm>
          <a:prstGeom prst="rect">
            <a:avLst/>
          </a:prstGeom>
          <a:noFill/>
        </p:spPr>
        <p:txBody>
          <a:bodyPr wrap="square">
            <a:spAutoFit/>
          </a:bodyPr>
          <a:lstStyle/>
          <a:p>
            <a:pPr algn="l"/>
            <a:r>
              <a:rPr lang="en-US" sz="1800" b="0" i="0" u="none" strike="noStrike" baseline="0" dirty="0">
                <a:latin typeface="StoneSans"/>
              </a:rPr>
              <a:t>Binary values 1 and 0 encode logic values </a:t>
            </a:r>
            <a:r>
              <a:rPr lang="en-US" sz="1800" b="0" i="0" u="none" strike="noStrike" baseline="0" dirty="0">
                <a:latin typeface="ITCStoneSansSC"/>
              </a:rPr>
              <a:t>true </a:t>
            </a:r>
            <a:r>
              <a:rPr lang="en-US" sz="1800" b="0" i="0" u="none" strike="noStrike" baseline="0" dirty="0">
                <a:latin typeface="StoneSans"/>
              </a:rPr>
              <a:t>and </a:t>
            </a:r>
            <a:r>
              <a:rPr lang="en-US" sz="1800" b="0" i="0" u="none" strike="noStrike" baseline="0" dirty="0">
                <a:latin typeface="ITCStoneSansSC"/>
              </a:rPr>
              <a:t>false</a:t>
            </a:r>
            <a:r>
              <a:rPr lang="en-US" sz="1800" b="0" i="0" u="none" strike="noStrike" baseline="0" dirty="0">
                <a:latin typeface="StoneSans"/>
              </a:rPr>
              <a:t>, while operations </a:t>
            </a:r>
            <a:r>
              <a:rPr lang="en-US" sz="2000" b="0" i="0" u="none" strike="noStrike" baseline="0" dirty="0">
                <a:latin typeface="ZztexMono-Regular"/>
              </a:rPr>
              <a:t>~</a:t>
            </a:r>
            <a:r>
              <a:rPr lang="en-US" sz="1800" b="0" i="0" u="none" strike="noStrike" baseline="0" dirty="0">
                <a:latin typeface="StoneSans"/>
              </a:rPr>
              <a:t>, </a:t>
            </a:r>
            <a:r>
              <a:rPr lang="en-US" sz="2000" b="0" i="0" u="none" strike="noStrike" baseline="0" dirty="0">
                <a:latin typeface="ZztexMono-Regular"/>
              </a:rPr>
              <a:t>&amp;</a:t>
            </a:r>
            <a:r>
              <a:rPr lang="en-US" sz="1800" b="0" i="0" u="none" strike="noStrike" baseline="0" dirty="0">
                <a:latin typeface="StoneSans"/>
              </a:rPr>
              <a:t>, </a:t>
            </a:r>
            <a:r>
              <a:rPr lang="en-US" sz="2000" b="0" i="0" u="none" strike="noStrike" baseline="0" dirty="0">
                <a:latin typeface="ZztexMono-Regular"/>
              </a:rPr>
              <a:t>|</a:t>
            </a:r>
            <a:r>
              <a:rPr lang="en-US" sz="1800" b="0" i="0" u="none" strike="noStrike" baseline="0" dirty="0">
                <a:latin typeface="StoneSans"/>
              </a:rPr>
              <a:t>, and </a:t>
            </a:r>
            <a:r>
              <a:rPr lang="en-US" sz="2000" b="0" i="0" u="none" strike="noStrike" baseline="0" dirty="0">
                <a:latin typeface="ZztexMono-Regular"/>
              </a:rPr>
              <a:t>^ </a:t>
            </a:r>
            <a:r>
              <a:rPr lang="en-US" sz="1800" b="0" i="0" u="none" strike="noStrike" baseline="0" dirty="0">
                <a:latin typeface="StoneSans"/>
              </a:rPr>
              <a:t>encode logical operations </a:t>
            </a:r>
            <a:r>
              <a:rPr lang="en-US" sz="1800" b="0" i="0" u="none" strike="noStrike" baseline="0" dirty="0">
                <a:latin typeface="ITCStoneSansSC"/>
              </a:rPr>
              <a:t>not</a:t>
            </a:r>
            <a:r>
              <a:rPr lang="en-US" sz="1800" b="0" i="0" u="none" strike="noStrike" baseline="0" dirty="0">
                <a:latin typeface="StoneSans"/>
              </a:rPr>
              <a:t>, </a:t>
            </a:r>
            <a:r>
              <a:rPr lang="en-US" sz="1800" b="0" i="0" u="none" strike="noStrike" baseline="0" dirty="0">
                <a:latin typeface="ITCStoneSansSC"/>
              </a:rPr>
              <a:t>and</a:t>
            </a:r>
            <a:r>
              <a:rPr lang="en-US" sz="1800" b="0" i="0" u="none" strike="noStrike" baseline="0" dirty="0">
                <a:latin typeface="StoneSans"/>
              </a:rPr>
              <a:t>, </a:t>
            </a:r>
            <a:r>
              <a:rPr lang="en-US" sz="1800" b="0" i="0" u="none" strike="noStrike" baseline="0" dirty="0">
                <a:latin typeface="ITCStoneSansSC"/>
              </a:rPr>
              <a:t>or</a:t>
            </a:r>
            <a:r>
              <a:rPr lang="en-US" sz="1800" b="0" i="0" u="none" strike="noStrike" baseline="0" dirty="0">
                <a:latin typeface="StoneSans"/>
              </a:rPr>
              <a:t>, and </a:t>
            </a:r>
            <a:r>
              <a:rPr lang="en-US" sz="1800" b="0" i="0" u="none" strike="noStrike" baseline="0" dirty="0">
                <a:latin typeface="ITCStoneSansSC"/>
              </a:rPr>
              <a:t>exclusive-or</a:t>
            </a:r>
            <a:r>
              <a:rPr lang="en-US" sz="1800" b="0" i="0" u="none" strike="noStrike" baseline="0" dirty="0">
                <a:latin typeface="StoneSans"/>
              </a:rPr>
              <a:t>, respectively.</a:t>
            </a:r>
            <a:endParaRPr lang="en-US" dirty="0"/>
          </a:p>
        </p:txBody>
      </p:sp>
    </p:spTree>
    <p:extLst>
      <p:ext uri="{BB962C8B-B14F-4D97-AF65-F5344CB8AC3E}">
        <p14:creationId xmlns:p14="http://schemas.microsoft.com/office/powerpoint/2010/main" val="2934419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FE31-C957-B38F-9BD4-825ACA87FAA9}"/>
              </a:ext>
            </a:extLst>
          </p:cNvPr>
          <p:cNvSpPr>
            <a:spLocks noGrp="1"/>
          </p:cNvSpPr>
          <p:nvPr>
            <p:ph type="title"/>
          </p:nvPr>
        </p:nvSpPr>
        <p:spPr/>
        <p:txBody>
          <a:bodyPr/>
          <a:lstStyle/>
          <a:p>
            <a:r>
              <a:rPr lang="en-US" b="1" dirty="0"/>
              <a:t>Practice</a:t>
            </a:r>
          </a:p>
        </p:txBody>
      </p:sp>
      <p:sp>
        <p:nvSpPr>
          <p:cNvPr id="3" name="Content Placeholder 2">
            <a:extLst>
              <a:ext uri="{FF2B5EF4-FFF2-40B4-BE49-F238E27FC236}">
                <a16:creationId xmlns:a16="http://schemas.microsoft.com/office/drawing/2014/main" id="{CBED7D21-35E9-52B6-14AC-957D29B97376}"/>
              </a:ext>
            </a:extLst>
          </p:cNvPr>
          <p:cNvSpPr>
            <a:spLocks noGrp="1"/>
          </p:cNvSpPr>
          <p:nvPr>
            <p:ph idx="1"/>
          </p:nvPr>
        </p:nvSpPr>
        <p:spPr/>
        <p:txBody>
          <a:bodyPr/>
          <a:lstStyle/>
          <a:p>
            <a:pPr algn="l"/>
            <a:r>
              <a:rPr lang="en-US" sz="1800" b="0" i="0" u="none" strike="noStrike" baseline="0" dirty="0">
                <a:latin typeface="TimesTen-Roman"/>
              </a:rPr>
              <a:t>Fill in the following table showing the results of evaluating Boolean operations on bit vectors.</a:t>
            </a:r>
            <a:endParaRPr lang="en-US" dirty="0"/>
          </a:p>
        </p:txBody>
      </p:sp>
      <p:pic>
        <p:nvPicPr>
          <p:cNvPr id="5" name="Picture 4">
            <a:extLst>
              <a:ext uri="{FF2B5EF4-FFF2-40B4-BE49-F238E27FC236}">
                <a16:creationId xmlns:a16="http://schemas.microsoft.com/office/drawing/2014/main" id="{7DA431C6-23B3-DF62-FB1C-EF3DCB4B7ED6}"/>
              </a:ext>
            </a:extLst>
          </p:cNvPr>
          <p:cNvPicPr>
            <a:picLocks noChangeAspect="1"/>
          </p:cNvPicPr>
          <p:nvPr/>
        </p:nvPicPr>
        <p:blipFill>
          <a:blip r:embed="rId2"/>
          <a:stretch>
            <a:fillRect/>
          </a:stretch>
        </p:blipFill>
        <p:spPr>
          <a:xfrm>
            <a:off x="3392129" y="2500466"/>
            <a:ext cx="4104661" cy="3811434"/>
          </a:xfrm>
          <a:prstGeom prst="rect">
            <a:avLst/>
          </a:prstGeom>
        </p:spPr>
      </p:pic>
    </p:spTree>
    <p:extLst>
      <p:ext uri="{BB962C8B-B14F-4D97-AF65-F5344CB8AC3E}">
        <p14:creationId xmlns:p14="http://schemas.microsoft.com/office/powerpoint/2010/main" val="1291583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C739-212B-1088-5934-DF3A61650065}"/>
              </a:ext>
            </a:extLst>
          </p:cNvPr>
          <p:cNvSpPr>
            <a:spLocks noGrp="1"/>
          </p:cNvSpPr>
          <p:nvPr>
            <p:ph type="title"/>
          </p:nvPr>
        </p:nvSpPr>
        <p:spPr/>
        <p:txBody>
          <a:bodyPr/>
          <a:lstStyle/>
          <a:p>
            <a:r>
              <a:rPr lang="en-US" dirty="0"/>
              <a:t>Solution</a:t>
            </a:r>
          </a:p>
        </p:txBody>
      </p:sp>
      <p:pic>
        <p:nvPicPr>
          <p:cNvPr id="5" name="Content Placeholder 4">
            <a:extLst>
              <a:ext uri="{FF2B5EF4-FFF2-40B4-BE49-F238E27FC236}">
                <a16:creationId xmlns:a16="http://schemas.microsoft.com/office/drawing/2014/main" id="{845F0519-B991-144B-8A60-FF8F67795EBE}"/>
              </a:ext>
            </a:extLst>
          </p:cNvPr>
          <p:cNvPicPr>
            <a:picLocks noGrp="1" noChangeAspect="1"/>
          </p:cNvPicPr>
          <p:nvPr>
            <p:ph idx="1"/>
          </p:nvPr>
        </p:nvPicPr>
        <p:blipFill>
          <a:blip r:embed="rId2"/>
          <a:stretch>
            <a:fillRect/>
          </a:stretch>
        </p:blipFill>
        <p:spPr>
          <a:xfrm>
            <a:off x="3529627" y="1312606"/>
            <a:ext cx="5132746" cy="5041735"/>
          </a:xfrm>
        </p:spPr>
      </p:pic>
    </p:spTree>
    <p:extLst>
      <p:ext uri="{BB962C8B-B14F-4D97-AF65-F5344CB8AC3E}">
        <p14:creationId xmlns:p14="http://schemas.microsoft.com/office/powerpoint/2010/main" val="367442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FC78E-B484-4AF2-34C5-24FE49EB208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7CD5773-2AE5-608D-AF15-AA9FD24C8CA7}"/>
              </a:ext>
            </a:extLst>
          </p:cNvPr>
          <p:cNvSpPr>
            <a:spLocks noGrp="1"/>
          </p:cNvSpPr>
          <p:nvPr>
            <p:ph idx="1"/>
          </p:nvPr>
        </p:nvSpPr>
        <p:spPr/>
        <p:txBody>
          <a:bodyPr/>
          <a:lstStyle/>
          <a:p>
            <a:pPr algn="l">
              <a:buFont typeface="Wingdings" panose="05000000000000000000" pitchFamily="2" charset="2"/>
              <a:buChar char="v"/>
            </a:pPr>
            <a:r>
              <a:rPr lang="en-US" sz="1800" b="0" i="0" u="none" strike="noStrike" baseline="0" dirty="0">
                <a:latin typeface="TimesTen-Roman"/>
              </a:rPr>
              <a:t>Computers generate color pictures on a video screen or liquid crystal display by mixing three different colors of light: red, green, and blue.</a:t>
            </a:r>
          </a:p>
          <a:p>
            <a:pPr algn="l">
              <a:buFont typeface="Wingdings" panose="05000000000000000000" pitchFamily="2" charset="2"/>
              <a:buChar char="v"/>
            </a:pPr>
            <a:r>
              <a:rPr lang="en-US" sz="1800" b="0" i="0" u="none" strike="noStrike" baseline="0" dirty="0">
                <a:latin typeface="TimesTen-Roman"/>
              </a:rPr>
              <a:t> Imagine a simple scheme, with three different lights, each of which can be turned on or off, projecting onto a glass screen:</a:t>
            </a:r>
            <a:endParaRPr lang="en-US" dirty="0"/>
          </a:p>
        </p:txBody>
      </p:sp>
      <p:pic>
        <p:nvPicPr>
          <p:cNvPr id="5" name="Picture 4">
            <a:extLst>
              <a:ext uri="{FF2B5EF4-FFF2-40B4-BE49-F238E27FC236}">
                <a16:creationId xmlns:a16="http://schemas.microsoft.com/office/drawing/2014/main" id="{A6BC38E1-FE59-B07F-1648-9E68E6FBDA71}"/>
              </a:ext>
            </a:extLst>
          </p:cNvPr>
          <p:cNvPicPr>
            <a:picLocks noChangeAspect="1"/>
          </p:cNvPicPr>
          <p:nvPr/>
        </p:nvPicPr>
        <p:blipFill>
          <a:blip r:embed="rId2"/>
          <a:stretch>
            <a:fillRect/>
          </a:stretch>
        </p:blipFill>
        <p:spPr>
          <a:xfrm>
            <a:off x="2669458" y="2835275"/>
            <a:ext cx="6445045" cy="3657600"/>
          </a:xfrm>
          <a:prstGeom prst="rect">
            <a:avLst/>
          </a:prstGeom>
        </p:spPr>
      </p:pic>
    </p:spTree>
    <p:extLst>
      <p:ext uri="{BB962C8B-B14F-4D97-AF65-F5344CB8AC3E}">
        <p14:creationId xmlns:p14="http://schemas.microsoft.com/office/powerpoint/2010/main" val="1009411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0C3FD-6AF5-45AC-829E-AE6E464C44A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ED007E5-4856-999E-6F7A-E3BB50DC43C3}"/>
              </a:ext>
            </a:extLst>
          </p:cNvPr>
          <p:cNvSpPr>
            <a:spLocks noGrp="1"/>
          </p:cNvSpPr>
          <p:nvPr>
            <p:ph idx="1"/>
          </p:nvPr>
        </p:nvSpPr>
        <p:spPr/>
        <p:txBody>
          <a:bodyPr/>
          <a:lstStyle/>
          <a:p>
            <a:pPr algn="l"/>
            <a:r>
              <a:rPr lang="en-US" sz="1800" b="0" i="0" u="none" strike="noStrike" baseline="0" dirty="0">
                <a:latin typeface="TimesTen-Roman"/>
              </a:rPr>
              <a:t>We can then create eight different colors based on the absence (0) or presence</a:t>
            </a:r>
          </a:p>
          <a:p>
            <a:pPr algn="l"/>
            <a:r>
              <a:rPr lang="en-US" sz="1800" b="0" i="0" u="none" strike="noStrike" baseline="0" dirty="0">
                <a:latin typeface="TimesTen-Roman"/>
              </a:rPr>
              <a:t>(1) of light sources </a:t>
            </a:r>
            <a:r>
              <a:rPr lang="en-US" sz="1800" b="0" i="1" u="none" strike="noStrike" baseline="0" dirty="0">
                <a:latin typeface="MTMIZ"/>
              </a:rPr>
              <a:t>R</a:t>
            </a:r>
            <a:r>
              <a:rPr lang="en-US" sz="1800" b="0" i="0" u="none" strike="noStrike" baseline="0" dirty="0">
                <a:latin typeface="TimesTen-Roman"/>
              </a:rPr>
              <a:t>, </a:t>
            </a:r>
            <a:r>
              <a:rPr lang="en-US" sz="1800" b="0" i="1" u="none" strike="noStrike" baseline="0" dirty="0">
                <a:latin typeface="MTMIZ"/>
              </a:rPr>
              <a:t>G</a:t>
            </a:r>
            <a:r>
              <a:rPr lang="en-US" sz="1800" b="0" i="0" u="none" strike="noStrike" baseline="0" dirty="0">
                <a:latin typeface="TimesTen-Roman"/>
              </a:rPr>
              <a:t>, and </a:t>
            </a:r>
            <a:r>
              <a:rPr lang="en-US" sz="1800" b="0" i="1" u="none" strike="noStrike" baseline="0" dirty="0">
                <a:latin typeface="MTMIZ"/>
              </a:rPr>
              <a:t>B</a:t>
            </a:r>
            <a:endParaRPr lang="en-US" sz="1800" dirty="0">
              <a:latin typeface="TimesTen-Roman"/>
            </a:endParaRPr>
          </a:p>
          <a:p>
            <a:pPr algn="l"/>
            <a:endParaRPr lang="en-US" dirty="0"/>
          </a:p>
        </p:txBody>
      </p:sp>
      <p:pic>
        <p:nvPicPr>
          <p:cNvPr id="5" name="Picture 4">
            <a:extLst>
              <a:ext uri="{FF2B5EF4-FFF2-40B4-BE49-F238E27FC236}">
                <a16:creationId xmlns:a16="http://schemas.microsoft.com/office/drawing/2014/main" id="{047330DB-EE97-8E46-849F-C2ADFE315C83}"/>
              </a:ext>
            </a:extLst>
          </p:cNvPr>
          <p:cNvPicPr>
            <a:picLocks noChangeAspect="1"/>
          </p:cNvPicPr>
          <p:nvPr/>
        </p:nvPicPr>
        <p:blipFill>
          <a:blip r:embed="rId2"/>
          <a:stretch>
            <a:fillRect/>
          </a:stretch>
        </p:blipFill>
        <p:spPr>
          <a:xfrm>
            <a:off x="4312827" y="2553493"/>
            <a:ext cx="3282592" cy="3623469"/>
          </a:xfrm>
          <a:prstGeom prst="rect">
            <a:avLst/>
          </a:prstGeom>
        </p:spPr>
      </p:pic>
    </p:spTree>
    <p:extLst>
      <p:ext uri="{BB962C8B-B14F-4D97-AF65-F5344CB8AC3E}">
        <p14:creationId xmlns:p14="http://schemas.microsoft.com/office/powerpoint/2010/main" val="646016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7E828-A33B-F372-838E-B7DF65B81E71}"/>
              </a:ext>
            </a:extLst>
          </p:cNvPr>
          <p:cNvSpPr>
            <a:spLocks noGrp="1"/>
          </p:cNvSpPr>
          <p:nvPr>
            <p:ph type="title"/>
          </p:nvPr>
        </p:nvSpPr>
        <p:spPr/>
        <p:txBody>
          <a:bodyPr/>
          <a:lstStyle/>
          <a:p>
            <a:r>
              <a:rPr lang="en-US" dirty="0"/>
              <a:t>Think</a:t>
            </a:r>
          </a:p>
        </p:txBody>
      </p:sp>
      <p:sp>
        <p:nvSpPr>
          <p:cNvPr id="3" name="Content Placeholder 2">
            <a:extLst>
              <a:ext uri="{FF2B5EF4-FFF2-40B4-BE49-F238E27FC236}">
                <a16:creationId xmlns:a16="http://schemas.microsoft.com/office/drawing/2014/main" id="{7CE706E2-CA35-8C43-A8F1-6735F79B18ED}"/>
              </a:ext>
            </a:extLst>
          </p:cNvPr>
          <p:cNvSpPr>
            <a:spLocks noGrp="1"/>
          </p:cNvSpPr>
          <p:nvPr>
            <p:ph idx="1"/>
          </p:nvPr>
        </p:nvSpPr>
        <p:spPr/>
        <p:txBody>
          <a:bodyPr/>
          <a:lstStyle/>
          <a:p>
            <a:pPr marL="514350" indent="-514350">
              <a:buFont typeface="+mj-lt"/>
              <a:buAutoNum type="arabicPeriod"/>
            </a:pPr>
            <a:r>
              <a:rPr lang="en-US" dirty="0"/>
              <a:t>Describe the effect of applying Boolean operations on the following colors:</a:t>
            </a:r>
          </a:p>
          <a:p>
            <a:pPr marL="0" indent="0">
              <a:buNone/>
            </a:pPr>
            <a:r>
              <a:rPr lang="en-US" dirty="0"/>
              <a:t>Blue | Green =</a:t>
            </a:r>
          </a:p>
          <a:p>
            <a:pPr marL="0" indent="0">
              <a:buNone/>
            </a:pPr>
            <a:r>
              <a:rPr lang="en-US" dirty="0"/>
              <a:t>Yellow &amp; Cyan = </a:t>
            </a:r>
          </a:p>
          <a:p>
            <a:pPr marL="0" indent="0">
              <a:buNone/>
            </a:pPr>
            <a:r>
              <a:rPr lang="en-US" dirty="0"/>
              <a:t>Red ^ Magenta =</a:t>
            </a:r>
          </a:p>
          <a:p>
            <a:pPr marL="514350" indent="-514350">
              <a:buFont typeface="+mj-lt"/>
              <a:buAutoNum type="arabicPeriod"/>
            </a:pPr>
            <a:r>
              <a:rPr lang="en-US" dirty="0"/>
              <a:t>How we compute complement of these colure?</a:t>
            </a:r>
          </a:p>
        </p:txBody>
      </p:sp>
    </p:spTree>
    <p:extLst>
      <p:ext uri="{BB962C8B-B14F-4D97-AF65-F5344CB8AC3E}">
        <p14:creationId xmlns:p14="http://schemas.microsoft.com/office/powerpoint/2010/main" val="1784652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DF14-6A23-E5BB-A7F1-852236C10C1B}"/>
              </a:ext>
            </a:extLst>
          </p:cNvPr>
          <p:cNvSpPr>
            <a:spLocks noGrp="1"/>
          </p:cNvSpPr>
          <p:nvPr>
            <p:ph type="title"/>
          </p:nvPr>
        </p:nvSpPr>
        <p:spPr/>
        <p:txBody>
          <a:bodyPr/>
          <a:lstStyle/>
          <a:p>
            <a:r>
              <a:rPr lang="en-US" b="1" dirty="0"/>
              <a:t>Solution</a:t>
            </a:r>
          </a:p>
        </p:txBody>
      </p:sp>
      <p:sp>
        <p:nvSpPr>
          <p:cNvPr id="3" name="Content Placeholder 2">
            <a:extLst>
              <a:ext uri="{FF2B5EF4-FFF2-40B4-BE49-F238E27FC236}">
                <a16:creationId xmlns:a16="http://schemas.microsoft.com/office/drawing/2014/main" id="{7D63742B-DCAE-734C-8F48-7F3A55F8D1BA}"/>
              </a:ext>
            </a:extLst>
          </p:cNvPr>
          <p:cNvSpPr>
            <a:spLocks noGrp="1"/>
          </p:cNvSpPr>
          <p:nvPr>
            <p:ph idx="1"/>
          </p:nvPr>
        </p:nvSpPr>
        <p:spPr/>
        <p:txBody>
          <a:bodyPr/>
          <a:lstStyle/>
          <a:p>
            <a:pPr marL="0" indent="0">
              <a:buNone/>
            </a:pPr>
            <a:r>
              <a:rPr lang="en-US" sz="1800" b="1" dirty="0"/>
              <a:t>Blue | Green =cyan</a:t>
            </a:r>
            <a:endParaRPr lang="en-US" sz="1800" b="1" i="0" u="none" strike="noStrike" baseline="0" dirty="0">
              <a:latin typeface="TimesTen-Roman"/>
            </a:endParaRPr>
          </a:p>
          <a:p>
            <a:pPr marL="0" indent="0" algn="l">
              <a:buNone/>
            </a:pPr>
            <a:r>
              <a:rPr lang="en-US" sz="1800" b="1" i="0" u="none" strike="noStrike" baseline="0" dirty="0">
                <a:latin typeface="TimesTen-Roman"/>
              </a:rPr>
              <a:t>001|010=011</a:t>
            </a:r>
          </a:p>
          <a:p>
            <a:pPr marL="0" indent="0">
              <a:buNone/>
            </a:pPr>
            <a:r>
              <a:rPr lang="en-US" sz="1800" b="1" dirty="0"/>
              <a:t>Yellow &amp; Cyan = Green</a:t>
            </a:r>
            <a:endParaRPr lang="en-US" sz="1800" b="1" i="0" u="none" strike="noStrike" baseline="0" dirty="0">
              <a:latin typeface="TimesTen-Roman"/>
            </a:endParaRPr>
          </a:p>
          <a:p>
            <a:pPr marL="0" indent="0" algn="l">
              <a:buNone/>
            </a:pPr>
            <a:r>
              <a:rPr lang="en-US" sz="1800" b="1" dirty="0">
                <a:latin typeface="TimesTen-Roman"/>
              </a:rPr>
              <a:t>110&amp;011=010</a:t>
            </a:r>
          </a:p>
          <a:p>
            <a:pPr marL="0" indent="0">
              <a:buNone/>
            </a:pPr>
            <a:r>
              <a:rPr lang="en-US" sz="1800" b="1" dirty="0"/>
              <a:t>Red ^ Magenta = Blue</a:t>
            </a:r>
          </a:p>
          <a:p>
            <a:pPr marL="0" indent="0" algn="l">
              <a:buNone/>
            </a:pPr>
            <a:r>
              <a:rPr lang="en-US" sz="1800" b="1" i="0" u="none" strike="noStrike" baseline="0" dirty="0">
                <a:latin typeface="TimesTen-Roman"/>
              </a:rPr>
              <a:t>100+101=001</a:t>
            </a:r>
          </a:p>
          <a:p>
            <a:pPr marL="0" indent="0" algn="l">
              <a:buNone/>
            </a:pPr>
            <a:endParaRPr lang="en-US" sz="1800" b="1" dirty="0">
              <a:latin typeface="TimesTen-Roman"/>
            </a:endParaRPr>
          </a:p>
          <a:p>
            <a:pPr marL="0" indent="0" algn="l">
              <a:buNone/>
            </a:pPr>
            <a:endParaRPr lang="en-US" sz="1800" b="1" i="0" u="none" strike="noStrike" baseline="0" dirty="0">
              <a:latin typeface="TimesTen-Roman"/>
            </a:endParaRPr>
          </a:p>
          <a:p>
            <a:pPr marL="0" indent="0" algn="l">
              <a:buNone/>
            </a:pPr>
            <a:r>
              <a:rPr lang="en-US" sz="1800" b="1" i="0" u="none" strike="noStrike" baseline="0" dirty="0">
                <a:latin typeface="TimesTen-Roman"/>
              </a:rPr>
              <a:t>2.The complement of a color is formed by turning off the lights that are on and turning on the lights that are off. </a:t>
            </a:r>
            <a:endParaRPr lang="en-US" b="1" dirty="0"/>
          </a:p>
        </p:txBody>
      </p:sp>
    </p:spTree>
    <p:extLst>
      <p:ext uri="{BB962C8B-B14F-4D97-AF65-F5344CB8AC3E}">
        <p14:creationId xmlns:p14="http://schemas.microsoft.com/office/powerpoint/2010/main" val="1027254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120D5-F291-41FD-6183-2D9D26F864D4}"/>
              </a:ext>
            </a:extLst>
          </p:cNvPr>
          <p:cNvSpPr>
            <a:spLocks noGrp="1"/>
          </p:cNvSpPr>
          <p:nvPr>
            <p:ph type="title"/>
          </p:nvPr>
        </p:nvSpPr>
        <p:spPr/>
        <p:txBody>
          <a:bodyPr/>
          <a:lstStyle/>
          <a:p>
            <a:r>
              <a:rPr lang="en-US" dirty="0"/>
              <a:t>Swapping the value</a:t>
            </a:r>
          </a:p>
        </p:txBody>
      </p:sp>
      <p:sp>
        <p:nvSpPr>
          <p:cNvPr id="3" name="Content Placeholder 2">
            <a:extLst>
              <a:ext uri="{FF2B5EF4-FFF2-40B4-BE49-F238E27FC236}">
                <a16:creationId xmlns:a16="http://schemas.microsoft.com/office/drawing/2014/main" id="{B9398F92-21F2-1123-274F-4F69FE7283BB}"/>
              </a:ext>
            </a:extLst>
          </p:cNvPr>
          <p:cNvSpPr>
            <a:spLocks noGrp="1"/>
          </p:cNvSpPr>
          <p:nvPr>
            <p:ph idx="1"/>
          </p:nvPr>
        </p:nvSpPr>
        <p:spPr/>
        <p:txBody>
          <a:bodyPr>
            <a:normAutofit/>
          </a:bodyPr>
          <a:lstStyle/>
          <a:p>
            <a:pPr algn="l"/>
            <a:r>
              <a:rPr lang="en-US" b="0" i="0" u="none" strike="noStrike" baseline="0" dirty="0">
                <a:solidFill>
                  <a:srgbClr val="000000"/>
                </a:solidFill>
                <a:latin typeface="TimesTen-Roman"/>
              </a:rPr>
              <a:t>As an application of the property that </a:t>
            </a:r>
            <a:r>
              <a:rPr lang="en-US" b="0" i="1" u="none" strike="noStrike" baseline="0" dirty="0">
                <a:solidFill>
                  <a:srgbClr val="000000"/>
                </a:solidFill>
                <a:latin typeface="MTMIZ"/>
              </a:rPr>
              <a:t>a </a:t>
            </a:r>
            <a:r>
              <a:rPr lang="en-US" b="0" i="0" u="none" strike="noStrike" baseline="0" dirty="0">
                <a:solidFill>
                  <a:srgbClr val="000000"/>
                </a:solidFill>
                <a:latin typeface="ZztexMono-Regular"/>
              </a:rPr>
              <a:t>^ </a:t>
            </a:r>
            <a:r>
              <a:rPr lang="en-US" b="0" i="1" u="none" strike="noStrike" baseline="0" dirty="0">
                <a:solidFill>
                  <a:srgbClr val="000000"/>
                </a:solidFill>
                <a:latin typeface="MTMIZ"/>
              </a:rPr>
              <a:t>a </a:t>
            </a:r>
            <a:r>
              <a:rPr lang="en-US" b="0" i="0" u="none" strike="noStrike" baseline="0" dirty="0">
                <a:solidFill>
                  <a:srgbClr val="000000"/>
                </a:solidFill>
                <a:latin typeface="MTSYN"/>
              </a:rPr>
              <a:t>= </a:t>
            </a:r>
            <a:r>
              <a:rPr lang="en-US" b="0" i="0" u="none" strike="noStrike" baseline="0" dirty="0">
                <a:solidFill>
                  <a:srgbClr val="000000"/>
                </a:solidFill>
                <a:latin typeface="TimesTen-Roman"/>
              </a:rPr>
              <a:t>0 for any bit vector </a:t>
            </a:r>
            <a:r>
              <a:rPr lang="en-US" b="0" i="1" u="none" strike="noStrike" baseline="0" dirty="0">
                <a:solidFill>
                  <a:srgbClr val="000000"/>
                </a:solidFill>
                <a:latin typeface="MTMIZ"/>
              </a:rPr>
              <a:t>a</a:t>
            </a:r>
            <a:r>
              <a:rPr lang="en-US" b="0" i="0" u="none" strike="noStrike" baseline="0" dirty="0">
                <a:solidFill>
                  <a:srgbClr val="000000"/>
                </a:solidFill>
                <a:latin typeface="TimesTen-Roman"/>
              </a:rPr>
              <a:t>, consider the following program:</a:t>
            </a:r>
          </a:p>
          <a:p>
            <a:pPr marL="0" indent="0" algn="l">
              <a:buNone/>
            </a:pPr>
            <a:r>
              <a:rPr lang="en-US" b="0" i="0" u="none" strike="noStrike" baseline="0" dirty="0">
                <a:solidFill>
                  <a:srgbClr val="00FFFF"/>
                </a:solidFill>
                <a:latin typeface="StoneSans"/>
              </a:rPr>
              <a:t>1 </a:t>
            </a:r>
            <a:r>
              <a:rPr lang="en-US" b="0" i="0" u="none" strike="noStrike" baseline="0" dirty="0">
                <a:solidFill>
                  <a:srgbClr val="000000"/>
                </a:solidFill>
                <a:latin typeface="ZztexMono-Regular"/>
              </a:rPr>
              <a:t>void </a:t>
            </a:r>
            <a:r>
              <a:rPr lang="en-US" b="0" i="0" u="none" strike="noStrike" baseline="0" dirty="0" err="1">
                <a:solidFill>
                  <a:srgbClr val="000000"/>
                </a:solidFill>
                <a:latin typeface="ZztexMono-Regular"/>
              </a:rPr>
              <a:t>inplace_swap</a:t>
            </a:r>
            <a:r>
              <a:rPr lang="en-US" b="0" i="0" u="none" strike="noStrike" baseline="0" dirty="0">
                <a:solidFill>
                  <a:srgbClr val="000000"/>
                </a:solidFill>
                <a:latin typeface="ZztexMono-Regular"/>
              </a:rPr>
              <a:t>(int *x, int *y) {</a:t>
            </a:r>
          </a:p>
          <a:p>
            <a:pPr marL="0" indent="0" algn="l">
              <a:buNone/>
            </a:pPr>
            <a:r>
              <a:rPr lang="es-ES" b="0" i="0" u="none" strike="noStrike" baseline="0" dirty="0">
                <a:solidFill>
                  <a:srgbClr val="00FFFF"/>
                </a:solidFill>
                <a:latin typeface="StoneSans"/>
              </a:rPr>
              <a:t>2 </a:t>
            </a:r>
            <a:r>
              <a:rPr lang="es-ES" b="0" i="0" u="none" strike="noStrike" baseline="0" dirty="0">
                <a:solidFill>
                  <a:srgbClr val="000000"/>
                </a:solidFill>
                <a:latin typeface="ZztexMono-Regular"/>
              </a:rPr>
              <a:t>*y = *x ^ *y; /* Step 1 */</a:t>
            </a:r>
          </a:p>
          <a:p>
            <a:pPr marL="0" indent="0" algn="l">
              <a:buNone/>
            </a:pPr>
            <a:r>
              <a:rPr lang="en-US" b="0" i="0" u="none" strike="noStrike" baseline="0" dirty="0">
                <a:solidFill>
                  <a:srgbClr val="00FFFF"/>
                </a:solidFill>
                <a:latin typeface="StoneSans"/>
              </a:rPr>
              <a:t>3 </a:t>
            </a:r>
            <a:r>
              <a:rPr lang="en-US" b="0" i="0" u="none" strike="noStrike" baseline="0" dirty="0">
                <a:solidFill>
                  <a:srgbClr val="000000"/>
                </a:solidFill>
                <a:latin typeface="ZztexMono-Regular"/>
              </a:rPr>
              <a:t>*x = *x ^ *y; /* Step 2 */</a:t>
            </a:r>
          </a:p>
          <a:p>
            <a:pPr marL="0" indent="0" algn="l">
              <a:buNone/>
            </a:pPr>
            <a:r>
              <a:rPr lang="es-ES" b="0" i="0" u="none" strike="noStrike" baseline="0" dirty="0">
                <a:solidFill>
                  <a:srgbClr val="00FFFF"/>
                </a:solidFill>
                <a:latin typeface="StoneSans"/>
              </a:rPr>
              <a:t>4 </a:t>
            </a:r>
            <a:r>
              <a:rPr lang="es-ES" b="0" i="0" u="none" strike="noStrike" baseline="0" dirty="0">
                <a:solidFill>
                  <a:srgbClr val="000000"/>
                </a:solidFill>
                <a:latin typeface="ZztexMono-Regular"/>
              </a:rPr>
              <a:t>*y = *x ^ *y; /* Step 3 */</a:t>
            </a:r>
          </a:p>
          <a:p>
            <a:pPr marL="0" indent="0" algn="l">
              <a:buNone/>
            </a:pPr>
            <a:r>
              <a:rPr lang="en-US" b="0" i="0" u="none" strike="noStrike" baseline="0" dirty="0">
                <a:solidFill>
                  <a:srgbClr val="00FFFF"/>
                </a:solidFill>
                <a:latin typeface="StoneSans"/>
              </a:rPr>
              <a:t>5 </a:t>
            </a:r>
            <a:r>
              <a:rPr lang="en-US" b="0" i="0" u="none" strike="noStrike" baseline="0" dirty="0">
                <a:solidFill>
                  <a:srgbClr val="000000"/>
                </a:solidFill>
                <a:latin typeface="ZztexMono-Regular"/>
              </a:rPr>
              <a:t>}</a:t>
            </a:r>
            <a:endParaRPr lang="en-US" sz="4000" dirty="0"/>
          </a:p>
        </p:txBody>
      </p:sp>
    </p:spTree>
    <p:extLst>
      <p:ext uri="{BB962C8B-B14F-4D97-AF65-F5344CB8AC3E}">
        <p14:creationId xmlns:p14="http://schemas.microsoft.com/office/powerpoint/2010/main" val="511308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8CE1-0499-E035-4F39-4C63DD5B796C}"/>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a16="http://schemas.microsoft.com/office/drawing/2014/main" id="{90C11C1A-AB4F-1396-1123-B971B5301E64}"/>
              </a:ext>
            </a:extLst>
          </p:cNvPr>
          <p:cNvSpPr>
            <a:spLocks noGrp="1"/>
          </p:cNvSpPr>
          <p:nvPr>
            <p:ph idx="1"/>
          </p:nvPr>
        </p:nvSpPr>
        <p:spPr>
          <a:xfrm>
            <a:off x="838200" y="1589649"/>
            <a:ext cx="10515600" cy="4587314"/>
          </a:xfrm>
        </p:spPr>
        <p:txBody>
          <a:bodyPr/>
          <a:lstStyle/>
          <a:p>
            <a:pPr marL="0" indent="0" algn="l">
              <a:buNone/>
            </a:pPr>
            <a:r>
              <a:rPr lang="en-US" sz="1800" b="1" i="0" u="none" strike="noStrike" baseline="0" dirty="0">
                <a:latin typeface="TimesTen-Roman"/>
              </a:rPr>
              <a:t>Starting with values </a:t>
            </a:r>
            <a:r>
              <a:rPr lang="en-US" sz="1800" b="1" i="1" u="none" strike="noStrike" baseline="0" dirty="0">
                <a:latin typeface="MTMIZ"/>
              </a:rPr>
              <a:t>a </a:t>
            </a:r>
            <a:r>
              <a:rPr lang="en-US" sz="1800" b="1" i="0" u="none" strike="noStrike" baseline="0" dirty="0">
                <a:latin typeface="TimesTen-Roman"/>
              </a:rPr>
              <a:t>and </a:t>
            </a:r>
            <a:r>
              <a:rPr lang="en-US" sz="1800" b="1" i="1" u="none" strike="noStrike" baseline="0" dirty="0">
                <a:latin typeface="MTMIZ"/>
              </a:rPr>
              <a:t>b </a:t>
            </a:r>
            <a:r>
              <a:rPr lang="en-US" sz="1800" b="1" i="0" u="none" strike="noStrike" baseline="0" dirty="0">
                <a:latin typeface="TimesTen-Roman"/>
              </a:rPr>
              <a:t>in the locations pointed to by </a:t>
            </a:r>
            <a:r>
              <a:rPr lang="en-US" sz="1800" b="1" i="0" u="none" strike="noStrike" baseline="0" dirty="0">
                <a:latin typeface="ZztexMono-Regular"/>
              </a:rPr>
              <a:t>x </a:t>
            </a:r>
            <a:r>
              <a:rPr lang="en-US" sz="1800" b="1" i="0" u="none" strike="noStrike" baseline="0" dirty="0">
                <a:latin typeface="TimesTen-Roman"/>
              </a:rPr>
              <a:t>and </a:t>
            </a:r>
            <a:r>
              <a:rPr lang="en-US" sz="1800" b="1" i="0" u="none" strike="noStrike" baseline="0" dirty="0">
                <a:latin typeface="ZztexMono-Regular"/>
              </a:rPr>
              <a:t>y</a:t>
            </a:r>
            <a:r>
              <a:rPr lang="en-US" sz="1800" b="1" i="0" u="none" strike="noStrike" baseline="0" dirty="0">
                <a:latin typeface="TimesTen-Roman"/>
              </a:rPr>
              <a:t>, respectively, fill in the table that follows, giving the values stored at the two locations after each step of the procedure. Use the properties of </a:t>
            </a:r>
            <a:r>
              <a:rPr lang="en-US" sz="1800" b="1" i="0" u="none" strike="noStrike" baseline="0" dirty="0">
                <a:latin typeface="ZztexMono-Regular"/>
              </a:rPr>
              <a:t>^ </a:t>
            </a:r>
            <a:r>
              <a:rPr lang="en-US" sz="1800" b="1" i="0" u="none" strike="noStrike" baseline="0" dirty="0">
                <a:latin typeface="TimesTen-Roman"/>
              </a:rPr>
              <a:t>to show that the desired effect is achieved.</a:t>
            </a:r>
          </a:p>
          <a:p>
            <a:pPr marL="0" indent="0" algn="l">
              <a:buNone/>
            </a:pPr>
            <a:r>
              <a:rPr lang="en-US" sz="1800" b="1" i="0" u="none" strike="noStrike" baseline="0" dirty="0">
                <a:latin typeface="TimesTen-Roman"/>
              </a:rPr>
              <a:t> Recall that every element is its own additive inverse (that is, </a:t>
            </a:r>
            <a:r>
              <a:rPr lang="en-US" sz="1800" b="1" i="1" u="none" strike="noStrike" baseline="0" dirty="0">
                <a:latin typeface="MTMIZ"/>
              </a:rPr>
              <a:t>a </a:t>
            </a:r>
            <a:r>
              <a:rPr lang="en-US" sz="1800" b="1" i="0" u="none" strike="noStrike" baseline="0" dirty="0">
                <a:latin typeface="ZztexMono-Regular"/>
              </a:rPr>
              <a:t>^ </a:t>
            </a:r>
            <a:r>
              <a:rPr lang="en-US" sz="1800" b="1" i="1" u="none" strike="noStrike" baseline="0" dirty="0">
                <a:latin typeface="MTMIZ"/>
              </a:rPr>
              <a:t>a </a:t>
            </a:r>
            <a:r>
              <a:rPr lang="en-US" sz="1800" b="1" i="0" u="none" strike="noStrike" baseline="0" dirty="0">
                <a:latin typeface="MTSYN"/>
              </a:rPr>
              <a:t>= </a:t>
            </a:r>
            <a:r>
              <a:rPr lang="en-US" sz="1800" b="1" i="0" u="none" strike="noStrike" baseline="0" dirty="0">
                <a:latin typeface="TimesTen-Roman"/>
              </a:rPr>
              <a:t>0).</a:t>
            </a:r>
          </a:p>
          <a:p>
            <a:pPr marL="0" indent="0" algn="l">
              <a:buNone/>
            </a:pPr>
            <a:endParaRPr lang="en-US" sz="1800" b="1" i="0" u="none" strike="noStrike" baseline="0" dirty="0">
              <a:latin typeface="TimesTen-Roman"/>
            </a:endParaRPr>
          </a:p>
          <a:p>
            <a:pPr marL="0" indent="0" algn="l">
              <a:buNone/>
            </a:pPr>
            <a:r>
              <a:rPr lang="en-US" sz="1800" b="1" i="0" u="none" strike="noStrike" baseline="0" dirty="0">
                <a:latin typeface="TimesTen-Roman"/>
              </a:rPr>
              <a:t>Step </a:t>
            </a:r>
            <a:r>
              <a:rPr lang="en-US" sz="1800" b="1" i="0" u="none" strike="noStrike" baseline="0" dirty="0">
                <a:latin typeface="ZztexMono-Regular"/>
              </a:rPr>
              <a:t>*x                          *y</a:t>
            </a:r>
          </a:p>
          <a:p>
            <a:pPr marL="0" indent="0" algn="l">
              <a:buNone/>
            </a:pPr>
            <a:r>
              <a:rPr lang="en-US" sz="1800" b="1" i="0" u="none" strike="noStrike" baseline="0" dirty="0">
                <a:latin typeface="TimesTen-Roman"/>
              </a:rPr>
              <a:t>Initially </a:t>
            </a:r>
            <a:r>
              <a:rPr lang="en-US" sz="1800" b="1" i="1" u="none" strike="noStrike" baseline="0" dirty="0">
                <a:latin typeface="MTMIZ"/>
              </a:rPr>
              <a:t>a                        b</a:t>
            </a:r>
          </a:p>
          <a:p>
            <a:pPr marL="0" indent="0" algn="l">
              <a:buNone/>
            </a:pPr>
            <a:r>
              <a:rPr lang="en-US" sz="1800" b="1" i="0" u="none" strike="noStrike" baseline="0" dirty="0">
                <a:latin typeface="TimesTen-Roman"/>
              </a:rPr>
              <a:t>Step 1________           __________</a:t>
            </a:r>
          </a:p>
          <a:p>
            <a:pPr marL="0" indent="0" algn="l">
              <a:buNone/>
            </a:pPr>
            <a:r>
              <a:rPr lang="en-US" sz="1800" b="1" i="0" u="none" strike="noStrike" baseline="0" dirty="0">
                <a:latin typeface="TimesTen-Roman"/>
              </a:rPr>
              <a:t>Step 2________           __________</a:t>
            </a:r>
          </a:p>
          <a:p>
            <a:pPr marL="0" indent="0">
              <a:buNone/>
            </a:pPr>
            <a:r>
              <a:rPr lang="en-US" sz="1800" b="1" i="0" u="none" strike="noStrike" baseline="0" dirty="0">
                <a:latin typeface="TimesTen-Roman"/>
              </a:rPr>
              <a:t>Step 3________           __________</a:t>
            </a:r>
          </a:p>
          <a:p>
            <a:pPr marL="0" indent="0" algn="l">
              <a:buNone/>
            </a:pPr>
            <a:endParaRPr lang="en-US" dirty="0"/>
          </a:p>
        </p:txBody>
      </p:sp>
    </p:spTree>
    <p:extLst>
      <p:ext uri="{BB962C8B-B14F-4D97-AF65-F5344CB8AC3E}">
        <p14:creationId xmlns:p14="http://schemas.microsoft.com/office/powerpoint/2010/main" val="3193022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298A-1749-EE8E-32C6-FBB8C88B12C6}"/>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27E9E6A9-5E29-0674-16C1-B975A6866F2F}"/>
              </a:ext>
            </a:extLst>
          </p:cNvPr>
          <p:cNvSpPr>
            <a:spLocks noGrp="1"/>
          </p:cNvSpPr>
          <p:nvPr>
            <p:ph idx="1"/>
          </p:nvPr>
        </p:nvSpPr>
        <p:spPr/>
        <p:txBody>
          <a:bodyPr/>
          <a:lstStyle/>
          <a:p>
            <a:pPr marL="0" indent="0" algn="l">
              <a:buNone/>
            </a:pPr>
            <a:r>
              <a:rPr lang="en-US" sz="1800" b="0" i="0" u="none" strike="noStrike" baseline="0" dirty="0">
                <a:latin typeface="TimesTen-Roman"/>
              </a:rPr>
              <a:t>This procedure relies on the fact that </a:t>
            </a:r>
            <a:r>
              <a:rPr lang="en-US" sz="1800" b="0" i="0" u="none" strike="noStrike" baseline="0" dirty="0">
                <a:latin typeface="TimesTen-RomanSC"/>
              </a:rPr>
              <a:t>exclusive-or </a:t>
            </a:r>
            <a:r>
              <a:rPr lang="en-US" sz="1800" b="0" i="0" u="none" strike="noStrike" baseline="0" dirty="0">
                <a:latin typeface="TimesTen-Roman"/>
              </a:rPr>
              <a:t>is commutative and associative,</a:t>
            </a:r>
          </a:p>
          <a:p>
            <a:pPr marL="0" indent="0" algn="l">
              <a:buNone/>
            </a:pPr>
            <a:r>
              <a:rPr lang="en-US" sz="1800" b="0" i="0" u="none" strike="noStrike" baseline="0" dirty="0">
                <a:latin typeface="TimesTen-Roman"/>
              </a:rPr>
              <a:t>and that </a:t>
            </a:r>
            <a:r>
              <a:rPr lang="en-US" sz="1800" b="0" i="1" u="none" strike="noStrike" baseline="0" dirty="0">
                <a:latin typeface="MTMIZ"/>
              </a:rPr>
              <a:t>a </a:t>
            </a:r>
            <a:r>
              <a:rPr lang="en-US" sz="1800" b="0" i="0" u="none" strike="noStrike" baseline="0" dirty="0">
                <a:latin typeface="ZztexMono-Regular"/>
              </a:rPr>
              <a:t>^ </a:t>
            </a:r>
            <a:r>
              <a:rPr lang="en-US" sz="1800" b="0" i="1" u="none" strike="noStrike" baseline="0" dirty="0">
                <a:latin typeface="MTMIZ"/>
              </a:rPr>
              <a:t>a </a:t>
            </a:r>
            <a:r>
              <a:rPr lang="en-US" sz="1800" b="0" i="0" u="none" strike="noStrike" baseline="0" dirty="0">
                <a:latin typeface="MTSYN"/>
              </a:rPr>
              <a:t>= </a:t>
            </a:r>
            <a:r>
              <a:rPr lang="en-US" sz="1800" b="0" i="0" u="none" strike="noStrike" baseline="0" dirty="0">
                <a:latin typeface="TimesTen-Roman"/>
              </a:rPr>
              <a:t>0 for any </a:t>
            </a:r>
            <a:r>
              <a:rPr lang="en-US" sz="1800" b="0" i="1" u="none" strike="noStrike" baseline="0" dirty="0">
                <a:latin typeface="MTMIZ"/>
              </a:rPr>
              <a:t>a</a:t>
            </a:r>
            <a:r>
              <a:rPr lang="en-US" sz="1800" b="0" i="0" u="none" strike="noStrike" baseline="0" dirty="0">
                <a:latin typeface="TimesTen-Roman"/>
              </a:rPr>
              <a:t>.</a:t>
            </a:r>
          </a:p>
          <a:p>
            <a:pPr marL="0" indent="0" algn="l">
              <a:buNone/>
            </a:pPr>
            <a:r>
              <a:rPr lang="en-US" sz="1800" b="0" i="0" u="none" strike="noStrike" baseline="0" dirty="0">
                <a:latin typeface="TimesTen-Roman"/>
              </a:rPr>
              <a:t>Step </a:t>
            </a:r>
            <a:r>
              <a:rPr lang="en-US" sz="1800" b="0" i="0" u="none" strike="noStrike" baseline="0" dirty="0">
                <a:latin typeface="ZztexMono-Regular"/>
              </a:rPr>
              <a:t>*x *y</a:t>
            </a:r>
          </a:p>
          <a:p>
            <a:pPr marL="0" indent="0" algn="l">
              <a:buNone/>
            </a:pPr>
            <a:r>
              <a:rPr lang="en-US" sz="1800" b="0" i="0" u="none" strike="noStrike" baseline="0" dirty="0">
                <a:latin typeface="TimesTen-Roman"/>
              </a:rPr>
              <a:t>Initially </a:t>
            </a:r>
            <a:r>
              <a:rPr lang="en-US" sz="1800" b="0" i="1" u="none" strike="noStrike" baseline="0" dirty="0">
                <a:latin typeface="MTMIZ"/>
              </a:rPr>
              <a:t>a                                                   b</a:t>
            </a:r>
          </a:p>
          <a:p>
            <a:pPr marL="0" indent="0" algn="l">
              <a:buNone/>
            </a:pPr>
            <a:r>
              <a:rPr lang="en-US" sz="1800" b="0" i="0" u="none" strike="noStrike" baseline="0" dirty="0">
                <a:latin typeface="TimesTen-Roman"/>
              </a:rPr>
              <a:t>Step 1 </a:t>
            </a:r>
            <a:r>
              <a:rPr lang="en-US" sz="1800" b="0" i="1" u="none" strike="noStrike" baseline="0" dirty="0">
                <a:latin typeface="MTMIZ"/>
              </a:rPr>
              <a:t>a                                                    </a:t>
            </a:r>
            <a:r>
              <a:rPr lang="en-US" sz="1800" b="0" i="1" u="none" strike="noStrike" baseline="0" dirty="0" err="1">
                <a:latin typeface="MTMIZ"/>
              </a:rPr>
              <a:t>a</a:t>
            </a:r>
            <a:r>
              <a:rPr lang="en-US" sz="1800" b="0" i="0" u="none" strike="noStrike" baseline="0" dirty="0">
                <a:latin typeface="ZztexMono-Regular"/>
              </a:rPr>
              <a:t>^ </a:t>
            </a:r>
            <a:r>
              <a:rPr lang="en-US" sz="1800" b="0" i="1" u="none" strike="noStrike" baseline="0" dirty="0">
                <a:latin typeface="MTMIZ"/>
              </a:rPr>
              <a:t>b</a:t>
            </a:r>
          </a:p>
          <a:p>
            <a:pPr marL="0" indent="0" algn="l">
              <a:buNone/>
            </a:pPr>
            <a:r>
              <a:rPr lang="en-US" sz="1800" b="0" i="0" u="none" strike="noStrike" baseline="0" dirty="0">
                <a:latin typeface="TimesTen-Roman"/>
              </a:rPr>
              <a:t>Step 2 </a:t>
            </a:r>
            <a:r>
              <a:rPr lang="en-US" sz="1800" b="0" i="1" u="none" strike="noStrike" baseline="0" dirty="0">
                <a:latin typeface="MTMIZ"/>
              </a:rPr>
              <a:t>a </a:t>
            </a:r>
            <a:r>
              <a:rPr lang="en-US" sz="1800" b="0" i="0" u="none" strike="noStrike" baseline="0" dirty="0">
                <a:latin typeface="ZztexMono-Regular"/>
              </a:rPr>
              <a:t>^ </a:t>
            </a:r>
            <a:r>
              <a:rPr lang="en-US" sz="1800" b="0" i="1" u="none" strike="noStrike" baseline="0" dirty="0">
                <a:latin typeface="MTMIZ"/>
              </a:rPr>
              <a:t>(a </a:t>
            </a:r>
            <a:r>
              <a:rPr lang="en-US" sz="1800" b="0" i="0" u="none" strike="noStrike" baseline="0" dirty="0">
                <a:latin typeface="ZztexMono-Regular"/>
              </a:rPr>
              <a:t>^ </a:t>
            </a:r>
            <a:r>
              <a:rPr lang="en-US" sz="1800" b="0" i="1" u="none" strike="noStrike" baseline="0" dirty="0">
                <a:latin typeface="MTMIZ"/>
              </a:rPr>
              <a:t>b) </a:t>
            </a:r>
            <a:r>
              <a:rPr lang="en-US" sz="1800" b="0" i="0" u="none" strike="noStrike" baseline="0" dirty="0">
                <a:latin typeface="MTSYN"/>
              </a:rPr>
              <a:t>= </a:t>
            </a:r>
            <a:r>
              <a:rPr lang="en-US" sz="1800" b="0" i="1" u="none" strike="noStrike" baseline="0" dirty="0">
                <a:latin typeface="MTMIZ"/>
              </a:rPr>
              <a:t>(a </a:t>
            </a:r>
            <a:r>
              <a:rPr lang="en-US" sz="1800" b="0" i="0" u="none" strike="noStrike" baseline="0" dirty="0">
                <a:latin typeface="ZztexMono-Regular"/>
              </a:rPr>
              <a:t>^ </a:t>
            </a:r>
            <a:r>
              <a:rPr lang="en-US" sz="1800" b="0" i="1" u="none" strike="noStrike" baseline="0" dirty="0">
                <a:latin typeface="MTMIZ"/>
              </a:rPr>
              <a:t>a) </a:t>
            </a:r>
            <a:r>
              <a:rPr lang="en-US" sz="1800" b="0" i="0" u="none" strike="noStrike" baseline="0" dirty="0">
                <a:latin typeface="ZztexMono-Regular"/>
              </a:rPr>
              <a:t>^ </a:t>
            </a:r>
            <a:r>
              <a:rPr lang="en-US" sz="1800" b="0" i="1" u="none" strike="noStrike" baseline="0" dirty="0">
                <a:latin typeface="MTMIZ"/>
              </a:rPr>
              <a:t>b </a:t>
            </a:r>
            <a:r>
              <a:rPr lang="en-US" sz="1800" b="0" i="0" u="none" strike="noStrike" baseline="0" dirty="0">
                <a:latin typeface="MTSYN"/>
              </a:rPr>
              <a:t>=</a:t>
            </a:r>
            <a:r>
              <a:rPr lang="en-US" sz="1800" b="0" i="1" u="none" strike="noStrike" baseline="0" dirty="0">
                <a:latin typeface="MTMIZ"/>
              </a:rPr>
              <a:t>b         a</a:t>
            </a:r>
            <a:r>
              <a:rPr lang="en-US" sz="1800" b="0" i="0" u="none" strike="noStrike" baseline="0" dirty="0">
                <a:latin typeface="ZztexMono-Regular"/>
              </a:rPr>
              <a:t>^ </a:t>
            </a:r>
            <a:r>
              <a:rPr lang="en-US" sz="1800" b="0" i="1" u="none" strike="noStrike" baseline="0" dirty="0">
                <a:latin typeface="MTMIZ"/>
              </a:rPr>
              <a:t>b</a:t>
            </a:r>
          </a:p>
          <a:p>
            <a:pPr marL="0" indent="0" algn="l">
              <a:buNone/>
            </a:pPr>
            <a:r>
              <a:rPr lang="en-US" sz="1800" b="0" i="0" u="none" strike="noStrike" baseline="0" dirty="0">
                <a:latin typeface="TimesTen-Roman"/>
              </a:rPr>
              <a:t>Step 3 </a:t>
            </a:r>
            <a:r>
              <a:rPr lang="en-US" sz="1800" b="0" i="1" u="none" strike="noStrike" baseline="0" dirty="0">
                <a:latin typeface="MTMIZ"/>
              </a:rPr>
              <a:t>b                                                    </a:t>
            </a:r>
            <a:r>
              <a:rPr lang="en-US" sz="1800" b="0" i="1" u="none" strike="noStrike" baseline="0" dirty="0" err="1">
                <a:latin typeface="MTMIZ"/>
              </a:rPr>
              <a:t>b</a:t>
            </a:r>
            <a:r>
              <a:rPr lang="en-US" sz="1800" b="0" i="0" u="none" strike="noStrike" baseline="0" dirty="0">
                <a:latin typeface="ZztexMono-Regular"/>
              </a:rPr>
              <a:t>^ </a:t>
            </a:r>
            <a:r>
              <a:rPr lang="en-US" sz="1800" b="0" i="1" u="none" strike="noStrike" baseline="0" dirty="0">
                <a:latin typeface="MTMIZ"/>
              </a:rPr>
              <a:t>(a </a:t>
            </a:r>
            <a:r>
              <a:rPr lang="en-US" sz="1800" b="0" i="0" u="none" strike="noStrike" baseline="0" dirty="0">
                <a:latin typeface="ZztexMono-Regular"/>
              </a:rPr>
              <a:t>^ </a:t>
            </a:r>
            <a:r>
              <a:rPr lang="en-US" sz="1800" b="0" i="1" u="none" strike="noStrike" baseline="0" dirty="0">
                <a:latin typeface="MTMIZ"/>
              </a:rPr>
              <a:t>b) </a:t>
            </a:r>
            <a:r>
              <a:rPr lang="en-US" sz="1800" b="0" i="0" u="none" strike="noStrike" baseline="0" dirty="0">
                <a:latin typeface="MTSYN"/>
              </a:rPr>
              <a:t>= </a:t>
            </a:r>
            <a:r>
              <a:rPr lang="en-US" sz="1800" b="0" i="1" u="none" strike="noStrike" baseline="0" dirty="0">
                <a:latin typeface="MTMIZ"/>
              </a:rPr>
              <a:t>(b </a:t>
            </a:r>
            <a:r>
              <a:rPr lang="en-US" sz="1800" b="0" i="0" u="none" strike="noStrike" baseline="0" dirty="0">
                <a:latin typeface="ZztexMono-Regular"/>
              </a:rPr>
              <a:t>^ </a:t>
            </a:r>
            <a:r>
              <a:rPr lang="en-US" sz="1800" b="0" i="1" u="none" strike="noStrike" baseline="0" dirty="0">
                <a:latin typeface="MTMIZ"/>
              </a:rPr>
              <a:t>b) </a:t>
            </a:r>
            <a:r>
              <a:rPr lang="en-US" sz="1800" b="0" i="0" u="none" strike="noStrike" baseline="0" dirty="0">
                <a:latin typeface="ZztexMono-Regular"/>
              </a:rPr>
              <a:t>^ </a:t>
            </a:r>
            <a:r>
              <a:rPr lang="en-US" sz="1800" b="0" i="1" u="none" strike="noStrike" baseline="0" dirty="0">
                <a:latin typeface="MTMIZ"/>
              </a:rPr>
              <a:t>a </a:t>
            </a:r>
            <a:r>
              <a:rPr lang="en-US" sz="1800" b="0" i="0" u="none" strike="noStrike" baseline="0" dirty="0">
                <a:latin typeface="MTSYN"/>
              </a:rPr>
              <a:t>= </a:t>
            </a:r>
            <a:r>
              <a:rPr lang="en-US" sz="1800" b="0" i="1" u="none" strike="noStrike" baseline="0" dirty="0">
                <a:latin typeface="MTMIZ"/>
              </a:rPr>
              <a:t>a</a:t>
            </a:r>
            <a:endParaRPr lang="en-US" dirty="0"/>
          </a:p>
        </p:txBody>
      </p:sp>
    </p:spTree>
    <p:extLst>
      <p:ext uri="{BB962C8B-B14F-4D97-AF65-F5344CB8AC3E}">
        <p14:creationId xmlns:p14="http://schemas.microsoft.com/office/powerpoint/2010/main" val="3964294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E5AF5D-8B4C-6AAF-A2D4-F0B1BB4E3D0A}"/>
              </a:ext>
            </a:extLst>
          </p:cNvPr>
          <p:cNvSpPr txBox="1"/>
          <p:nvPr/>
        </p:nvSpPr>
        <p:spPr>
          <a:xfrm>
            <a:off x="1317522" y="1478866"/>
            <a:ext cx="9556955" cy="4366260"/>
          </a:xfrm>
          <a:prstGeom prst="rect">
            <a:avLst/>
          </a:prstGeom>
          <a:noFill/>
        </p:spPr>
        <p:txBody>
          <a:bodyPr wrap="square">
            <a:spAutoFit/>
          </a:bodyPr>
          <a:lstStyle/>
          <a:p>
            <a:pPr marL="285750" indent="-285750" algn="l">
              <a:lnSpc>
                <a:spcPct val="200000"/>
              </a:lnSpc>
              <a:buFont typeface="Wingdings" panose="05000000000000000000" pitchFamily="2" charset="2"/>
              <a:buChar char="v"/>
            </a:pPr>
            <a:r>
              <a:rPr lang="en-US" sz="1800" b="0" i="0" u="none" strike="noStrike" baseline="0" dirty="0">
                <a:latin typeface="TimesTen-Roman"/>
              </a:rPr>
              <a:t>When you apply your function to an array containing elements 1, 2, 3, and 4,</a:t>
            </a:r>
            <a:r>
              <a:rPr lang="en-US" dirty="0">
                <a:latin typeface="TimesTen-Roman"/>
              </a:rPr>
              <a:t> </a:t>
            </a:r>
            <a:r>
              <a:rPr lang="en-US" sz="1800" b="0" i="0" u="none" strike="noStrike" baseline="0" dirty="0">
                <a:latin typeface="TimesTen-Roman"/>
              </a:rPr>
              <a:t>you find the array now has, as expected, elements 4, 3, 2, and 1. </a:t>
            </a:r>
          </a:p>
          <a:p>
            <a:pPr marL="285750" indent="-285750" algn="l">
              <a:lnSpc>
                <a:spcPct val="200000"/>
              </a:lnSpc>
              <a:buFont typeface="Wingdings" panose="05000000000000000000" pitchFamily="2" charset="2"/>
              <a:buChar char="v"/>
            </a:pPr>
            <a:r>
              <a:rPr lang="en-US" sz="1800" b="0" i="0" u="none" strike="noStrike" baseline="0" dirty="0">
                <a:latin typeface="TimesTen-Roman"/>
              </a:rPr>
              <a:t>When you try it on an array with elements 1, 2, 3, 4, and 5, however, you are surprised to see that the array now has elements 5, 4, 0, 2, and 1. </a:t>
            </a:r>
          </a:p>
          <a:p>
            <a:pPr marL="285750" indent="-285750" algn="l">
              <a:lnSpc>
                <a:spcPct val="200000"/>
              </a:lnSpc>
              <a:buFont typeface="Wingdings" panose="05000000000000000000" pitchFamily="2" charset="2"/>
              <a:buChar char="v"/>
            </a:pPr>
            <a:r>
              <a:rPr lang="en-US" sz="1800" b="0" i="0" u="none" strike="noStrike" baseline="0" dirty="0">
                <a:latin typeface="TimesTen-Roman"/>
              </a:rPr>
              <a:t>In fact, you discover that the code always works correctly on arrays of even length, but it sets the middle element to 0 whenever the array has odd length.</a:t>
            </a:r>
          </a:p>
          <a:p>
            <a:pPr marL="285750" indent="-285750" algn="l">
              <a:lnSpc>
                <a:spcPct val="200000"/>
              </a:lnSpc>
              <a:buFont typeface="Wingdings" panose="05000000000000000000" pitchFamily="2" charset="2"/>
              <a:buChar char="v"/>
            </a:pPr>
            <a:r>
              <a:rPr lang="en-US" sz="3600" dirty="0">
                <a:latin typeface="TimesTen-Roman"/>
              </a:rPr>
              <a:t>Why???</a:t>
            </a:r>
            <a:endParaRPr lang="en-US" sz="3600" dirty="0"/>
          </a:p>
        </p:txBody>
      </p:sp>
      <p:sp>
        <p:nvSpPr>
          <p:cNvPr id="2" name="TextBox 1">
            <a:extLst>
              <a:ext uri="{FF2B5EF4-FFF2-40B4-BE49-F238E27FC236}">
                <a16:creationId xmlns:a16="http://schemas.microsoft.com/office/drawing/2014/main" id="{84D37BFF-CCAE-2455-5BAF-6365F980424F}"/>
              </a:ext>
            </a:extLst>
          </p:cNvPr>
          <p:cNvSpPr txBox="1"/>
          <p:nvPr/>
        </p:nvSpPr>
        <p:spPr>
          <a:xfrm>
            <a:off x="2208627" y="1012874"/>
            <a:ext cx="5866227" cy="461665"/>
          </a:xfrm>
          <a:prstGeom prst="rect">
            <a:avLst/>
          </a:prstGeom>
          <a:noFill/>
        </p:spPr>
        <p:txBody>
          <a:bodyPr wrap="square" rtlCol="0">
            <a:spAutoFit/>
          </a:bodyPr>
          <a:lstStyle/>
          <a:p>
            <a:pPr algn="ctr"/>
            <a:r>
              <a:rPr lang="en-US" sz="2400" b="1" dirty="0"/>
              <a:t>Think</a:t>
            </a:r>
          </a:p>
        </p:txBody>
      </p:sp>
    </p:spTree>
    <p:extLst>
      <p:ext uri="{BB962C8B-B14F-4D97-AF65-F5344CB8AC3E}">
        <p14:creationId xmlns:p14="http://schemas.microsoft.com/office/powerpoint/2010/main" val="682700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9C4AAB-15DA-256C-CDA4-0FFD566D4945}"/>
              </a:ext>
            </a:extLst>
          </p:cNvPr>
          <p:cNvSpPr txBox="1"/>
          <p:nvPr/>
        </p:nvSpPr>
        <p:spPr>
          <a:xfrm>
            <a:off x="1106129" y="1832387"/>
            <a:ext cx="9147687" cy="4524315"/>
          </a:xfrm>
          <a:prstGeom prst="rect">
            <a:avLst/>
          </a:prstGeom>
          <a:noFill/>
        </p:spPr>
        <p:txBody>
          <a:bodyPr wrap="square">
            <a:spAutoFit/>
          </a:bodyPr>
          <a:lstStyle/>
          <a:p>
            <a:pPr algn="l"/>
            <a:r>
              <a:rPr lang="en-US" sz="1800" b="0" i="0" u="none" strike="noStrike" baseline="0" dirty="0">
                <a:solidFill>
                  <a:srgbClr val="000000"/>
                </a:solidFill>
                <a:latin typeface="ZztexMono-Regular"/>
              </a:rPr>
              <a:t>void </a:t>
            </a:r>
            <a:r>
              <a:rPr lang="en-US" sz="1800" b="0" i="0" u="none" strike="noStrike" baseline="0" dirty="0" err="1">
                <a:solidFill>
                  <a:srgbClr val="000000"/>
                </a:solidFill>
                <a:latin typeface="ZztexMono-Regular"/>
              </a:rPr>
              <a:t>reverse_array</a:t>
            </a:r>
            <a:r>
              <a:rPr lang="en-US" sz="1800" b="0" i="0" u="none" strike="noStrike" baseline="0" dirty="0">
                <a:solidFill>
                  <a:srgbClr val="000000"/>
                </a:solidFill>
                <a:latin typeface="ZztexMono-Regular"/>
              </a:rPr>
              <a:t>(int a[], int </a:t>
            </a:r>
            <a:r>
              <a:rPr lang="en-US" sz="1800" b="0" i="0" u="none" strike="noStrike" baseline="0" dirty="0" err="1">
                <a:solidFill>
                  <a:srgbClr val="000000"/>
                </a:solidFill>
                <a:latin typeface="ZztexMono-Regular"/>
              </a:rPr>
              <a:t>cnt</a:t>
            </a:r>
            <a:r>
              <a:rPr lang="en-US" sz="1800" b="0" i="0" u="none" strike="noStrike" baseline="0" dirty="0">
                <a:solidFill>
                  <a:srgbClr val="000000"/>
                </a:solidFill>
                <a:latin typeface="ZztexMono-Regular"/>
              </a:rPr>
              <a:t>) </a:t>
            </a:r>
          </a:p>
          <a:p>
            <a:pPr algn="l"/>
            <a:r>
              <a:rPr lang="en-US" sz="1800" b="0" i="0" u="none" strike="noStrike" baseline="0" dirty="0">
                <a:solidFill>
                  <a:srgbClr val="000000"/>
                </a:solidFill>
                <a:latin typeface="ZztexMono-Regular"/>
              </a:rPr>
              <a:t>{</a:t>
            </a:r>
          </a:p>
          <a:p>
            <a:pPr algn="l"/>
            <a:r>
              <a:rPr lang="en-US" sz="1800" b="0" i="0" u="none" strike="noStrike" baseline="0" dirty="0">
                <a:solidFill>
                  <a:srgbClr val="000000"/>
                </a:solidFill>
                <a:latin typeface="ZztexMono-Regular"/>
              </a:rPr>
              <a:t>int first, last;</a:t>
            </a:r>
          </a:p>
          <a:p>
            <a:pPr algn="l"/>
            <a:r>
              <a:rPr lang="en-US" sz="1800" b="0" i="0" u="none" strike="noStrike" baseline="0" dirty="0">
                <a:solidFill>
                  <a:srgbClr val="000000"/>
                </a:solidFill>
                <a:latin typeface="ZztexMono-Regular"/>
              </a:rPr>
              <a:t>for (first = 0, last = cnt-1;</a:t>
            </a:r>
          </a:p>
          <a:p>
            <a:pPr algn="l"/>
            <a:r>
              <a:rPr lang="en-US" sz="1800" b="0" i="0" u="none" strike="noStrike" baseline="0" dirty="0">
                <a:solidFill>
                  <a:srgbClr val="000000"/>
                </a:solidFill>
                <a:latin typeface="ZztexMono-Regular"/>
              </a:rPr>
              <a:t>first &lt;= last;</a:t>
            </a:r>
          </a:p>
          <a:p>
            <a:pPr algn="l"/>
            <a:r>
              <a:rPr lang="en-US" sz="1800" b="0" i="0" u="none" strike="noStrike" baseline="0" dirty="0">
                <a:solidFill>
                  <a:srgbClr val="000000"/>
                </a:solidFill>
                <a:latin typeface="ZztexMono-Regular"/>
              </a:rPr>
              <a:t>first++,last--)</a:t>
            </a:r>
          </a:p>
          <a:p>
            <a:pPr algn="l"/>
            <a:r>
              <a:rPr lang="en-US" sz="1800" b="0" i="0" u="none" strike="noStrike" baseline="0" dirty="0" err="1">
                <a:solidFill>
                  <a:srgbClr val="000000"/>
                </a:solidFill>
                <a:latin typeface="ZztexMono-Regular"/>
              </a:rPr>
              <a:t>inplace_swap</a:t>
            </a:r>
            <a:r>
              <a:rPr lang="en-US" sz="1800" b="0" i="0" u="none" strike="noStrike" baseline="0" dirty="0">
                <a:solidFill>
                  <a:srgbClr val="000000"/>
                </a:solidFill>
                <a:latin typeface="ZztexMono-Regular"/>
              </a:rPr>
              <a:t>(&amp;a[first], &amp;a[last]);</a:t>
            </a:r>
          </a:p>
          <a:p>
            <a:pPr algn="l"/>
            <a:r>
              <a:rPr lang="en-US" sz="1800" b="0" i="0" u="none" strike="noStrike" baseline="0" dirty="0">
                <a:solidFill>
                  <a:srgbClr val="000000"/>
                </a:solidFill>
                <a:latin typeface="ZztexMono-Regular"/>
              </a:rPr>
              <a:t>}</a:t>
            </a:r>
            <a:endParaRPr lang="en-US" sz="1800" b="0" i="0" u="none" strike="noStrike" baseline="0" dirty="0">
              <a:latin typeface="TimesTen-Roman"/>
            </a:endParaRPr>
          </a:p>
          <a:p>
            <a:pPr marL="342900" indent="-342900" algn="l">
              <a:buAutoNum type="alphaUcPeriod"/>
            </a:pPr>
            <a:r>
              <a:rPr lang="en-US" sz="1800" b="0" i="0" u="none" strike="noStrike" baseline="0" dirty="0">
                <a:latin typeface="TimesTen-Roman"/>
              </a:rPr>
              <a:t>For an array of odd length </a:t>
            </a:r>
            <a:r>
              <a:rPr lang="en-US" sz="1800" b="0" i="0" u="none" strike="noStrike" baseline="0" dirty="0" err="1">
                <a:latin typeface="ZztexMono-Regular"/>
              </a:rPr>
              <a:t>cnt</a:t>
            </a:r>
            <a:r>
              <a:rPr lang="en-US" sz="1800" b="0" i="0" u="none" strike="noStrike" baseline="0" dirty="0">
                <a:latin typeface="MTSYN"/>
              </a:rPr>
              <a:t>= </a:t>
            </a:r>
            <a:r>
              <a:rPr lang="en-US" sz="1800" b="0" i="0" u="none" strike="noStrike" baseline="0" dirty="0">
                <a:latin typeface="TimesTen-Roman"/>
              </a:rPr>
              <a:t>2</a:t>
            </a:r>
            <a:r>
              <a:rPr lang="en-US" sz="1800" b="0" i="1" u="none" strike="noStrike" baseline="0" dirty="0">
                <a:latin typeface="MTMIZ"/>
              </a:rPr>
              <a:t>k </a:t>
            </a:r>
            <a:r>
              <a:rPr lang="en-US" sz="1800" b="0" i="0" u="none" strike="noStrike" baseline="0" dirty="0">
                <a:latin typeface="MTSYN"/>
              </a:rPr>
              <a:t>+ </a:t>
            </a:r>
            <a:r>
              <a:rPr lang="en-US" sz="1800" b="0" i="0" u="none" strike="noStrike" baseline="0" dirty="0">
                <a:latin typeface="TimesTen-Roman"/>
              </a:rPr>
              <a:t>1, what are the values of variables </a:t>
            </a:r>
            <a:r>
              <a:rPr lang="en-US" sz="1800" b="0" i="0" u="none" strike="noStrike" baseline="0" dirty="0">
                <a:latin typeface="ZztexMono-Regular"/>
              </a:rPr>
              <a:t>first </a:t>
            </a:r>
            <a:r>
              <a:rPr lang="en-US" sz="1800" b="0" i="0" u="none" strike="noStrike" baseline="0" dirty="0">
                <a:latin typeface="TimesTen-Roman"/>
              </a:rPr>
              <a:t>and </a:t>
            </a:r>
            <a:r>
              <a:rPr lang="en-US" sz="1800" b="0" i="0" u="none" strike="noStrike" baseline="0" dirty="0">
                <a:latin typeface="ZztexMono-Regular"/>
              </a:rPr>
              <a:t>last </a:t>
            </a:r>
            <a:r>
              <a:rPr lang="en-US" sz="1800" b="0" i="0" u="none" strike="noStrike" baseline="0" dirty="0">
                <a:latin typeface="TimesTen-Roman"/>
              </a:rPr>
              <a:t>in the final iteration of function </a:t>
            </a:r>
            <a:r>
              <a:rPr lang="en-US" sz="1800" b="0" i="0" u="none" strike="noStrike" baseline="0" dirty="0" err="1">
                <a:latin typeface="ZztexMono-Regular"/>
              </a:rPr>
              <a:t>reverse_array</a:t>
            </a:r>
            <a:r>
              <a:rPr lang="en-US" sz="1800" b="0" i="0" u="none" strike="noStrike" baseline="0" dirty="0">
                <a:latin typeface="TimesTen-Roman"/>
              </a:rPr>
              <a:t>?</a:t>
            </a:r>
          </a:p>
          <a:p>
            <a:pPr marL="342900" indent="-342900" algn="l">
              <a:buAutoNum type="alphaUcPeriod"/>
            </a:pPr>
            <a:endParaRPr lang="en-US" dirty="0">
              <a:latin typeface="TimesTen-Roman"/>
            </a:endParaRPr>
          </a:p>
          <a:p>
            <a:pPr marL="342900" indent="-342900" algn="l">
              <a:buAutoNum type="alphaUcPeriod"/>
            </a:pPr>
            <a:endParaRPr lang="en-US" sz="1800" b="0" i="0" u="none" strike="noStrike" baseline="0" dirty="0">
              <a:latin typeface="TimesTen-Roman"/>
            </a:endParaRPr>
          </a:p>
          <a:p>
            <a:pPr algn="l"/>
            <a:r>
              <a:rPr lang="en-US" sz="1800" b="0" i="0" u="none" strike="noStrike" baseline="0" dirty="0">
                <a:latin typeface="TimesTen-Roman"/>
              </a:rPr>
              <a:t>B. Why does this call to function </a:t>
            </a:r>
            <a:r>
              <a:rPr lang="en-US" sz="1800" b="0" i="0" u="none" strike="noStrike" baseline="0" dirty="0" err="1">
                <a:latin typeface="ZztexMono-Regular"/>
              </a:rPr>
              <a:t>inplace_swap</a:t>
            </a:r>
            <a:r>
              <a:rPr lang="en-US" sz="1800" b="0" i="0" u="none" strike="noStrike" baseline="0" dirty="0">
                <a:latin typeface="ZztexMono-Regular"/>
              </a:rPr>
              <a:t> </a:t>
            </a:r>
            <a:r>
              <a:rPr lang="en-US" sz="1800" b="0" i="0" u="none" strike="noStrike" baseline="0" dirty="0">
                <a:latin typeface="TimesTen-Roman"/>
              </a:rPr>
              <a:t>set the array element to 0?</a:t>
            </a:r>
          </a:p>
          <a:p>
            <a:pPr algn="l"/>
            <a:endParaRPr lang="en-US" dirty="0">
              <a:latin typeface="TimesTen-Roman"/>
            </a:endParaRPr>
          </a:p>
          <a:p>
            <a:pPr algn="l"/>
            <a:endParaRPr lang="en-US" sz="1800" b="0" i="0" u="none" strike="noStrike" baseline="0" dirty="0">
              <a:latin typeface="TimesTen-Roman"/>
            </a:endParaRPr>
          </a:p>
          <a:p>
            <a:pPr algn="l"/>
            <a:r>
              <a:rPr lang="en-US" sz="1800" b="0" i="0" u="none" strike="noStrike" baseline="0" dirty="0">
                <a:latin typeface="TimesTen-Roman"/>
              </a:rPr>
              <a:t>C. What simple modification to the code for </a:t>
            </a:r>
            <a:r>
              <a:rPr lang="en-US" sz="1800" b="0" i="0" u="none" strike="noStrike" baseline="0" dirty="0" err="1">
                <a:latin typeface="ZztexMono-Regular"/>
              </a:rPr>
              <a:t>reverse_array</a:t>
            </a:r>
            <a:r>
              <a:rPr lang="en-US" sz="1800" b="0" i="0" u="none" strike="noStrike" baseline="0" dirty="0">
                <a:latin typeface="ZztexMono-Regular"/>
              </a:rPr>
              <a:t> </a:t>
            </a:r>
            <a:r>
              <a:rPr lang="en-US" sz="1800" b="0" i="0" u="none" strike="noStrike" baseline="0" dirty="0">
                <a:latin typeface="TimesTen-Roman"/>
              </a:rPr>
              <a:t>would eliminate this problem?</a:t>
            </a:r>
            <a:endParaRPr lang="en-US" dirty="0"/>
          </a:p>
        </p:txBody>
      </p:sp>
      <p:sp>
        <p:nvSpPr>
          <p:cNvPr id="4" name="Title 3">
            <a:extLst>
              <a:ext uri="{FF2B5EF4-FFF2-40B4-BE49-F238E27FC236}">
                <a16:creationId xmlns:a16="http://schemas.microsoft.com/office/drawing/2014/main" id="{6B8060BC-2914-DD5A-0410-62C01C83E630}"/>
              </a:ext>
            </a:extLst>
          </p:cNvPr>
          <p:cNvSpPr>
            <a:spLocks noGrp="1"/>
          </p:cNvSpPr>
          <p:nvPr>
            <p:ph type="title"/>
          </p:nvPr>
        </p:nvSpPr>
        <p:spPr/>
        <p:txBody>
          <a:bodyPr/>
          <a:lstStyle/>
          <a:p>
            <a:r>
              <a:rPr lang="en-US" dirty="0"/>
              <a:t>Problem</a:t>
            </a:r>
          </a:p>
        </p:txBody>
      </p:sp>
    </p:spTree>
    <p:extLst>
      <p:ext uri="{BB962C8B-B14F-4D97-AF65-F5344CB8AC3E}">
        <p14:creationId xmlns:p14="http://schemas.microsoft.com/office/powerpoint/2010/main" val="3610084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46050-FC8D-D3F8-0D1C-5A6040F1CAA4}"/>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C807BCE1-1A49-D174-99BF-14FA1F447A8E}"/>
              </a:ext>
            </a:extLst>
          </p:cNvPr>
          <p:cNvSpPr>
            <a:spLocks noGrp="1"/>
          </p:cNvSpPr>
          <p:nvPr>
            <p:ph idx="1"/>
          </p:nvPr>
        </p:nvSpPr>
        <p:spPr/>
        <p:txBody>
          <a:bodyPr>
            <a:normAutofit lnSpcReduction="10000"/>
          </a:bodyPr>
          <a:lstStyle/>
          <a:p>
            <a:pPr marL="342900" indent="-342900" algn="l">
              <a:buAutoNum type="alphaUcPeriod"/>
            </a:pPr>
            <a:r>
              <a:rPr lang="en-US" sz="2400" b="0" i="0" u="none" strike="noStrike" baseline="0" dirty="0">
                <a:latin typeface="TimesTen-Roman"/>
              </a:rPr>
              <a:t>Both </a:t>
            </a:r>
            <a:r>
              <a:rPr lang="en-US" sz="2400" b="0" i="0" u="none" strike="noStrike" baseline="0" dirty="0">
                <a:latin typeface="ZztexMono-Regular"/>
              </a:rPr>
              <a:t>first </a:t>
            </a:r>
            <a:r>
              <a:rPr lang="en-US" sz="2400" b="0" i="0" u="none" strike="noStrike" baseline="0" dirty="0">
                <a:latin typeface="TimesTen-Roman"/>
              </a:rPr>
              <a:t>and </a:t>
            </a:r>
            <a:r>
              <a:rPr lang="en-US" sz="2400" b="0" i="0" u="none" strike="noStrike" baseline="0" dirty="0">
                <a:latin typeface="ZztexMono-Regular"/>
              </a:rPr>
              <a:t>last </a:t>
            </a:r>
            <a:r>
              <a:rPr lang="en-US" sz="2400" b="0" i="0" u="none" strike="noStrike" baseline="0" dirty="0">
                <a:latin typeface="TimesTen-Roman"/>
              </a:rPr>
              <a:t>have value </a:t>
            </a:r>
            <a:r>
              <a:rPr lang="en-US" sz="2400" b="0" i="1" u="none" strike="noStrike" baseline="0" dirty="0">
                <a:latin typeface="MTMIZ"/>
              </a:rPr>
              <a:t>k</a:t>
            </a:r>
            <a:r>
              <a:rPr lang="en-US" sz="2400" b="0" i="0" u="none" strike="noStrike" baseline="0" dirty="0">
                <a:latin typeface="TimesTen-Roman"/>
              </a:rPr>
              <a:t>, so we are attempting to swap the middle element with itself.</a:t>
            </a:r>
          </a:p>
          <a:p>
            <a:pPr marL="342900" indent="-342900" algn="l">
              <a:buAutoNum type="alphaUcPeriod"/>
            </a:pPr>
            <a:endParaRPr lang="en-US" sz="2400" dirty="0">
              <a:latin typeface="TimesTen-Roman"/>
            </a:endParaRPr>
          </a:p>
          <a:p>
            <a:pPr marL="342900" indent="-342900" algn="l">
              <a:buAutoNum type="alphaUcPeriod"/>
            </a:pPr>
            <a:endParaRPr lang="en-US" sz="2400" b="0" i="0" u="none" strike="noStrike" baseline="0" dirty="0">
              <a:latin typeface="TimesTen-Roman"/>
            </a:endParaRPr>
          </a:p>
          <a:p>
            <a:pPr marL="0" indent="0" algn="l">
              <a:buNone/>
            </a:pPr>
            <a:r>
              <a:rPr lang="en-US" sz="2400" b="0" i="0" u="none" strike="noStrike" baseline="0" dirty="0">
                <a:latin typeface="TimesTen-Roman"/>
              </a:rPr>
              <a:t>B. In this case, arguments </a:t>
            </a:r>
            <a:r>
              <a:rPr lang="en-US" sz="2400" b="0" i="0" u="none" strike="noStrike" baseline="0" dirty="0">
                <a:latin typeface="ZztexMono-Regular"/>
              </a:rPr>
              <a:t>x </a:t>
            </a:r>
            <a:r>
              <a:rPr lang="en-US" sz="2400" b="0" i="0" u="none" strike="noStrike" baseline="0" dirty="0">
                <a:latin typeface="TimesTen-Roman"/>
              </a:rPr>
              <a:t>and </a:t>
            </a:r>
            <a:r>
              <a:rPr lang="en-US" sz="2400" b="0" i="0" u="none" strike="noStrike" baseline="0" dirty="0">
                <a:latin typeface="ZztexMono-Regular"/>
              </a:rPr>
              <a:t>y </a:t>
            </a:r>
            <a:r>
              <a:rPr lang="en-US" sz="2400" b="0" i="0" u="none" strike="noStrike" baseline="0" dirty="0">
                <a:latin typeface="TimesTen-Roman"/>
              </a:rPr>
              <a:t>to </a:t>
            </a:r>
            <a:r>
              <a:rPr lang="en-US" sz="2400" b="0" i="0" u="none" strike="noStrike" baseline="0" dirty="0" err="1">
                <a:latin typeface="ZztexMono-Regular"/>
              </a:rPr>
              <a:t>inplace_swap</a:t>
            </a:r>
            <a:r>
              <a:rPr lang="en-US" sz="2400" b="0" i="0" u="none" strike="noStrike" baseline="0" dirty="0">
                <a:latin typeface="ZztexMono-Regular"/>
              </a:rPr>
              <a:t> </a:t>
            </a:r>
            <a:r>
              <a:rPr lang="en-US" sz="2400" b="0" i="0" u="none" strike="noStrike" baseline="0" dirty="0">
                <a:latin typeface="TimesTen-Roman"/>
              </a:rPr>
              <a:t>both point to the same location. When we compute </a:t>
            </a:r>
            <a:r>
              <a:rPr lang="en-US" sz="2400" b="0" i="0" u="none" strike="noStrike" baseline="0" dirty="0">
                <a:latin typeface="ZztexMono-Regular"/>
              </a:rPr>
              <a:t>*x ^ *y</a:t>
            </a:r>
            <a:r>
              <a:rPr lang="en-US" sz="2400" b="0" i="0" u="none" strike="noStrike" baseline="0" dirty="0">
                <a:latin typeface="TimesTen-Roman"/>
              </a:rPr>
              <a:t>, we get 0.We then store 0 as the middle element of the array, and the subsequent steps keep setting this element to 0. </a:t>
            </a:r>
          </a:p>
          <a:p>
            <a:pPr marL="0" indent="0" algn="l">
              <a:buNone/>
            </a:pPr>
            <a:endParaRPr lang="en-US" sz="2400" dirty="0">
              <a:latin typeface="TimesTen-Roman"/>
            </a:endParaRPr>
          </a:p>
          <a:p>
            <a:pPr marL="0" indent="0" algn="l">
              <a:buNone/>
            </a:pPr>
            <a:endParaRPr lang="en-US" sz="2400" b="0" i="0" u="none" strike="noStrike" baseline="0" dirty="0">
              <a:latin typeface="TimesTen-Roman"/>
            </a:endParaRPr>
          </a:p>
          <a:p>
            <a:pPr marL="0" indent="0" algn="l">
              <a:buNone/>
            </a:pPr>
            <a:r>
              <a:rPr lang="en-US" sz="2400" b="0" i="0" u="none" strike="noStrike" baseline="0" dirty="0">
                <a:latin typeface="TimesTen-Roman"/>
              </a:rPr>
              <a:t>C. Simply replace the test in line 4 of </a:t>
            </a:r>
            <a:r>
              <a:rPr lang="en-US" sz="2400" b="0" i="0" u="none" strike="noStrike" baseline="0" dirty="0" err="1">
                <a:latin typeface="ZztexMono-Regular"/>
              </a:rPr>
              <a:t>reverse_array</a:t>
            </a:r>
            <a:r>
              <a:rPr lang="en-US" sz="2400" b="0" i="0" u="none" strike="noStrike" baseline="0" dirty="0">
                <a:latin typeface="ZztexMono-Regular"/>
              </a:rPr>
              <a:t> </a:t>
            </a:r>
            <a:r>
              <a:rPr lang="en-US" sz="2400" b="0" i="0" u="none" strike="noStrike" baseline="0" dirty="0">
                <a:latin typeface="TimesTen-Roman"/>
              </a:rPr>
              <a:t>to be </a:t>
            </a:r>
            <a:r>
              <a:rPr lang="en-US" sz="2400" b="0" i="0" u="none" strike="noStrike" baseline="0" dirty="0">
                <a:latin typeface="ZztexMono-Regular"/>
              </a:rPr>
              <a:t>first &lt; last</a:t>
            </a:r>
            <a:r>
              <a:rPr lang="en-US" sz="2400" b="0" i="0" u="none" strike="noStrike" baseline="0" dirty="0">
                <a:latin typeface="TimesTen-Roman"/>
              </a:rPr>
              <a:t>, since there is no need to swap the middle element with itself.</a:t>
            </a:r>
            <a:endParaRPr lang="en-US" sz="3600" dirty="0"/>
          </a:p>
        </p:txBody>
      </p:sp>
    </p:spTree>
    <p:extLst>
      <p:ext uri="{BB962C8B-B14F-4D97-AF65-F5344CB8AC3E}">
        <p14:creationId xmlns:p14="http://schemas.microsoft.com/office/powerpoint/2010/main" val="3322265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DC659-1ED3-B3B3-2D1B-222C7642CB6C}"/>
              </a:ext>
            </a:extLst>
          </p:cNvPr>
          <p:cNvSpPr>
            <a:spLocks noGrp="1"/>
          </p:cNvSpPr>
          <p:nvPr>
            <p:ph type="title"/>
          </p:nvPr>
        </p:nvSpPr>
        <p:spPr/>
        <p:txBody>
          <a:bodyPr/>
          <a:lstStyle/>
          <a:p>
            <a:r>
              <a:rPr lang="en-US" b="1" dirty="0"/>
              <a:t>Masking</a:t>
            </a:r>
          </a:p>
        </p:txBody>
      </p:sp>
      <p:sp>
        <p:nvSpPr>
          <p:cNvPr id="3" name="Content Placeholder 2">
            <a:extLst>
              <a:ext uri="{FF2B5EF4-FFF2-40B4-BE49-F238E27FC236}">
                <a16:creationId xmlns:a16="http://schemas.microsoft.com/office/drawing/2014/main" id="{EF7AA407-79A9-4AE4-15B7-B8F4351BE96F}"/>
              </a:ext>
            </a:extLst>
          </p:cNvPr>
          <p:cNvSpPr>
            <a:spLocks noGrp="1"/>
          </p:cNvSpPr>
          <p:nvPr>
            <p:ph idx="1"/>
          </p:nvPr>
        </p:nvSpPr>
        <p:spPr/>
        <p:txBody>
          <a:bodyPr/>
          <a:lstStyle/>
          <a:p>
            <a:pPr algn="l"/>
            <a:r>
              <a:rPr lang="en-US" sz="1800" b="0" i="0" u="none" strike="noStrike" baseline="0" dirty="0">
                <a:latin typeface="TimesTen-Roman"/>
              </a:rPr>
              <a:t>One common use of bit-level operations is to implement </a:t>
            </a:r>
            <a:r>
              <a:rPr lang="en-US" sz="1800" b="0" i="1" u="none" strike="noStrike" baseline="0" dirty="0">
                <a:latin typeface="TimesTen-Italic"/>
              </a:rPr>
              <a:t>masking </a:t>
            </a:r>
            <a:r>
              <a:rPr lang="en-US" sz="1800" b="0" i="0" u="none" strike="noStrike" baseline="0" dirty="0">
                <a:latin typeface="TimesTen-Roman"/>
              </a:rPr>
              <a:t>operations,</a:t>
            </a:r>
          </a:p>
          <a:p>
            <a:pPr algn="l"/>
            <a:r>
              <a:rPr lang="en-US" sz="1800" b="0" i="0" u="none" strike="noStrike" baseline="0" dirty="0">
                <a:latin typeface="TimesTen-Roman"/>
              </a:rPr>
              <a:t>where a mask is a bit pattern that indicates a selected set of bits within a word.</a:t>
            </a:r>
          </a:p>
          <a:p>
            <a:pPr algn="l"/>
            <a:r>
              <a:rPr lang="en-US" sz="1800" b="0" i="0" u="none" strike="noStrike" baseline="0" dirty="0">
                <a:latin typeface="TimesTen-Roman"/>
              </a:rPr>
              <a:t> As an example, the mask </a:t>
            </a:r>
            <a:r>
              <a:rPr lang="en-US" sz="1800" b="0" i="0" u="none" strike="noStrike" baseline="0" dirty="0">
                <a:latin typeface="ZztexMono-Regular"/>
              </a:rPr>
              <a:t>0xFF </a:t>
            </a:r>
            <a:r>
              <a:rPr lang="en-US" sz="1800" b="0" i="0" u="none" strike="noStrike" baseline="0" dirty="0">
                <a:latin typeface="TimesTen-Roman"/>
              </a:rPr>
              <a:t>(having ones for the least significant 8 bits) indicates the low-order byte of a word.</a:t>
            </a:r>
          </a:p>
          <a:p>
            <a:pPr algn="l"/>
            <a:r>
              <a:rPr lang="en-US" sz="1800" b="0" i="0" u="none" strike="noStrike" baseline="0" dirty="0">
                <a:latin typeface="TimesTen-Roman"/>
              </a:rPr>
              <a:t> The bit-level operation </a:t>
            </a:r>
            <a:r>
              <a:rPr lang="en-US" sz="1800" b="0" i="0" u="none" strike="noStrike" baseline="0" dirty="0">
                <a:latin typeface="ZztexMono-Regular"/>
              </a:rPr>
              <a:t>x &amp; 0xFF </a:t>
            </a:r>
            <a:r>
              <a:rPr lang="en-US" sz="1800" b="0" i="0" u="none" strike="noStrike" baseline="0" dirty="0">
                <a:latin typeface="TimesTen-Roman"/>
              </a:rPr>
              <a:t>yields a value consisting of the least significant byte of </a:t>
            </a:r>
            <a:r>
              <a:rPr lang="en-US" sz="1800" b="0" i="0" u="none" strike="noStrike" baseline="0" dirty="0">
                <a:latin typeface="ZztexMono-Regular"/>
              </a:rPr>
              <a:t>x</a:t>
            </a:r>
            <a:r>
              <a:rPr lang="en-US" sz="1800" b="0" i="0" u="none" strike="noStrike" baseline="0" dirty="0">
                <a:latin typeface="TimesTen-Roman"/>
              </a:rPr>
              <a:t>, but with all other bytes set to 0.</a:t>
            </a:r>
          </a:p>
          <a:p>
            <a:pPr algn="l"/>
            <a:r>
              <a:rPr lang="en-US" sz="1800" b="0" i="0" u="none" strike="noStrike" baseline="0" dirty="0">
                <a:latin typeface="TimesTen-Roman"/>
              </a:rPr>
              <a:t> For example, with </a:t>
            </a:r>
            <a:r>
              <a:rPr lang="en-US" sz="1800" b="0" i="0" u="none" strike="noStrike" baseline="0" dirty="0">
                <a:latin typeface="ZztexMono-Regular"/>
              </a:rPr>
              <a:t>x </a:t>
            </a:r>
            <a:r>
              <a:rPr lang="en-US" sz="1800" b="0" i="0" u="none" strike="noStrike" baseline="0" dirty="0">
                <a:latin typeface="MTSYN"/>
              </a:rPr>
              <a:t>= </a:t>
            </a:r>
            <a:r>
              <a:rPr lang="en-US" sz="1800" b="0" i="0" u="none" strike="noStrike" baseline="0" dirty="0">
                <a:latin typeface="ZztexMono-Regular"/>
              </a:rPr>
              <a:t>0x89ABCDEF</a:t>
            </a:r>
            <a:r>
              <a:rPr lang="en-US" sz="1800" b="0" i="0" u="none" strike="noStrike" baseline="0" dirty="0">
                <a:latin typeface="TimesTen-Roman"/>
              </a:rPr>
              <a:t>, the expression would yield </a:t>
            </a:r>
            <a:r>
              <a:rPr lang="en-US" sz="1800" b="0" i="0" u="none" strike="noStrike" baseline="0" dirty="0">
                <a:latin typeface="ZztexMono-Regular"/>
              </a:rPr>
              <a:t>0x000000EF</a:t>
            </a:r>
            <a:r>
              <a:rPr lang="en-US" sz="1800" b="0" i="0" u="none" strike="noStrike" baseline="0" dirty="0">
                <a:latin typeface="TimesTen-Roman"/>
              </a:rPr>
              <a:t>. </a:t>
            </a:r>
          </a:p>
          <a:p>
            <a:pPr algn="l"/>
            <a:r>
              <a:rPr lang="en-US" sz="1800" b="0" i="0" u="none" strike="noStrike" baseline="0" dirty="0">
                <a:latin typeface="TimesTen-Roman"/>
              </a:rPr>
              <a:t>The</a:t>
            </a:r>
            <a:r>
              <a:rPr lang="en-US" sz="1800" dirty="0">
                <a:latin typeface="TimesTen-Roman"/>
              </a:rPr>
              <a:t> </a:t>
            </a:r>
            <a:r>
              <a:rPr lang="en-US" sz="1800" b="0" i="0" u="none" strike="noStrike" baseline="0" dirty="0">
                <a:latin typeface="TimesTen-Roman"/>
              </a:rPr>
              <a:t>expression </a:t>
            </a:r>
            <a:r>
              <a:rPr lang="en-US" sz="1800" b="0" i="0" u="none" strike="noStrike" baseline="0" dirty="0">
                <a:latin typeface="ZztexMono-Regular"/>
              </a:rPr>
              <a:t>~0 </a:t>
            </a:r>
            <a:r>
              <a:rPr lang="en-US" sz="1800" b="0" i="0" u="none" strike="noStrike" baseline="0" dirty="0">
                <a:latin typeface="TimesTen-Roman"/>
              </a:rPr>
              <a:t>will yield a mask of all ones, regardless of the size of the data representation. The same mask can be written </a:t>
            </a:r>
            <a:r>
              <a:rPr lang="en-US" sz="1800" b="0" i="0" u="none" strike="noStrike" baseline="0" dirty="0">
                <a:latin typeface="ZztexMono-Regular"/>
              </a:rPr>
              <a:t>0xFFFFFFFF </a:t>
            </a:r>
            <a:r>
              <a:rPr lang="en-US" sz="1800" b="0" i="0" u="none" strike="noStrike" baseline="0" dirty="0">
                <a:latin typeface="TimesTen-Roman"/>
              </a:rPr>
              <a:t>when data type </a:t>
            </a:r>
            <a:r>
              <a:rPr lang="en-US" sz="1800" b="0" i="0" u="none" strike="noStrike" baseline="0" dirty="0">
                <a:latin typeface="ZztexMono-Regular"/>
              </a:rPr>
              <a:t>int </a:t>
            </a:r>
            <a:r>
              <a:rPr lang="en-US" sz="1800" b="0" i="0" u="none" strike="noStrike" baseline="0" dirty="0">
                <a:latin typeface="TimesTen-Roman"/>
              </a:rPr>
              <a:t>is 32 bits, but it would not be as portable.</a:t>
            </a:r>
            <a:endParaRPr lang="en-US" dirty="0"/>
          </a:p>
        </p:txBody>
      </p:sp>
    </p:spTree>
    <p:extLst>
      <p:ext uri="{BB962C8B-B14F-4D97-AF65-F5344CB8AC3E}">
        <p14:creationId xmlns:p14="http://schemas.microsoft.com/office/powerpoint/2010/main" val="2761345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BAD2F-E8CA-48C0-4B69-1C6C745D3905}"/>
              </a:ext>
            </a:extLst>
          </p:cNvPr>
          <p:cNvSpPr>
            <a:spLocks noGrp="1"/>
          </p:cNvSpPr>
          <p:nvPr>
            <p:ph type="title"/>
          </p:nvPr>
        </p:nvSpPr>
        <p:spPr/>
        <p:txBody>
          <a:bodyPr/>
          <a:lstStyle/>
          <a:p>
            <a:r>
              <a:rPr lang="en-US" b="1" dirty="0"/>
              <a:t>Practice</a:t>
            </a:r>
          </a:p>
        </p:txBody>
      </p:sp>
      <p:sp>
        <p:nvSpPr>
          <p:cNvPr id="3" name="Content Placeholder 2">
            <a:extLst>
              <a:ext uri="{FF2B5EF4-FFF2-40B4-BE49-F238E27FC236}">
                <a16:creationId xmlns:a16="http://schemas.microsoft.com/office/drawing/2014/main" id="{C08739C9-3AE0-AC88-3792-8CE03891A81F}"/>
              </a:ext>
            </a:extLst>
          </p:cNvPr>
          <p:cNvSpPr>
            <a:spLocks noGrp="1"/>
          </p:cNvSpPr>
          <p:nvPr>
            <p:ph idx="1"/>
          </p:nvPr>
        </p:nvSpPr>
        <p:spPr/>
        <p:txBody>
          <a:bodyPr/>
          <a:lstStyle/>
          <a:p>
            <a:pPr marL="0" indent="0" algn="l">
              <a:buNone/>
            </a:pPr>
            <a:r>
              <a:rPr lang="en-US" sz="1800" b="0" i="0" u="none" strike="noStrike" baseline="0" dirty="0">
                <a:latin typeface="TimesTen-Roman"/>
              </a:rPr>
              <a:t>Write C expressions, in terms of variable </a:t>
            </a:r>
            <a:r>
              <a:rPr lang="en-US" sz="1800" b="0" i="0" u="none" strike="noStrike" baseline="0" dirty="0">
                <a:latin typeface="ZztexMono-Regular"/>
              </a:rPr>
              <a:t>x</a:t>
            </a:r>
            <a:r>
              <a:rPr lang="en-US" sz="1800" b="0" i="0" u="none" strike="noStrike" baseline="0" dirty="0">
                <a:latin typeface="TimesTen-Roman"/>
              </a:rPr>
              <a:t>, for the following values. Your code should work for any word size </a:t>
            </a:r>
            <a:r>
              <a:rPr lang="en-US" sz="1800" b="0" i="1" u="none" strike="noStrike" baseline="0" dirty="0">
                <a:latin typeface="MTMIZ"/>
              </a:rPr>
              <a:t>w </a:t>
            </a:r>
            <a:r>
              <a:rPr lang="en-US" sz="1800" b="0" i="0" u="none" strike="noStrike" baseline="0" dirty="0">
                <a:latin typeface="MTSYN"/>
              </a:rPr>
              <a:t>≥ </a:t>
            </a:r>
            <a:r>
              <a:rPr lang="en-US" sz="1800" b="0" i="0" u="none" strike="noStrike" baseline="0" dirty="0">
                <a:latin typeface="TimesTen-Roman"/>
              </a:rPr>
              <a:t>8. For reference, we show the result of evaluating the expressions for </a:t>
            </a:r>
            <a:r>
              <a:rPr lang="en-US" sz="1800" b="0" i="0" u="none" strike="noStrike" baseline="0" dirty="0">
                <a:latin typeface="ZztexMono-Regular"/>
              </a:rPr>
              <a:t>x </a:t>
            </a:r>
            <a:r>
              <a:rPr lang="en-US" sz="1800" b="0" i="0" u="none" strike="noStrike" baseline="0" dirty="0">
                <a:latin typeface="MTSYN"/>
              </a:rPr>
              <a:t>= </a:t>
            </a:r>
            <a:r>
              <a:rPr lang="en-US" sz="1800" b="0" i="0" u="none" strike="noStrike" baseline="0" dirty="0">
                <a:latin typeface="ZztexMono-Regular"/>
              </a:rPr>
              <a:t>0x87654321</a:t>
            </a:r>
            <a:r>
              <a:rPr lang="en-US" sz="1800" b="0" i="0" u="none" strike="noStrike" baseline="0" dirty="0">
                <a:latin typeface="TimesTen-Roman"/>
              </a:rPr>
              <a:t>, with </a:t>
            </a:r>
            <a:r>
              <a:rPr lang="en-US" sz="1800" b="0" i="1" u="none" strike="noStrike" baseline="0" dirty="0">
                <a:latin typeface="MTMIZ"/>
              </a:rPr>
              <a:t>w </a:t>
            </a:r>
            <a:r>
              <a:rPr lang="en-US" sz="1800" b="0" i="0" u="none" strike="noStrike" baseline="0" dirty="0">
                <a:latin typeface="MTSYN"/>
              </a:rPr>
              <a:t>= </a:t>
            </a:r>
            <a:r>
              <a:rPr lang="en-US" sz="1800" b="0" i="0" u="none" strike="noStrike" baseline="0" dirty="0">
                <a:latin typeface="TimesTen-Roman"/>
              </a:rPr>
              <a:t>32.</a:t>
            </a:r>
          </a:p>
          <a:p>
            <a:pPr marL="0" indent="0" algn="l">
              <a:buNone/>
            </a:pPr>
            <a:endParaRPr lang="en-US" sz="1800" b="0" i="0" u="none" strike="noStrike" baseline="0" dirty="0">
              <a:latin typeface="TimesTen-Roman"/>
            </a:endParaRPr>
          </a:p>
          <a:p>
            <a:pPr marL="342900" indent="-342900" algn="l">
              <a:buAutoNum type="alphaUcPeriod"/>
            </a:pPr>
            <a:r>
              <a:rPr lang="en-US" sz="1800" b="0" i="0" u="none" strike="noStrike" baseline="0" dirty="0">
                <a:latin typeface="TimesTen-Roman"/>
              </a:rPr>
              <a:t>The least significant byte of </a:t>
            </a:r>
            <a:r>
              <a:rPr lang="en-US" sz="1800" b="0" i="0" u="none" strike="noStrike" baseline="0" dirty="0">
                <a:latin typeface="ZztexMono-Regular"/>
              </a:rPr>
              <a:t>x</a:t>
            </a:r>
            <a:r>
              <a:rPr lang="en-US" sz="1800" b="0" i="0" u="none" strike="noStrike" baseline="0" dirty="0">
                <a:latin typeface="TimesTen-Roman"/>
              </a:rPr>
              <a:t>, with all other bits set to 0. [</a:t>
            </a:r>
            <a:r>
              <a:rPr lang="en-US" sz="1800" b="0" i="0" u="none" strike="noStrike" baseline="0" dirty="0">
                <a:latin typeface="ZztexMono-Regular"/>
              </a:rPr>
              <a:t>0x00000021</a:t>
            </a:r>
            <a:r>
              <a:rPr lang="en-US" sz="1800" b="0" i="0" u="none" strike="noStrike" baseline="0" dirty="0">
                <a:latin typeface="TimesTen-Roman"/>
              </a:rPr>
              <a:t>]</a:t>
            </a:r>
          </a:p>
          <a:p>
            <a:pPr marL="342900" indent="-342900" algn="l">
              <a:buAutoNum type="alphaUcPeriod"/>
            </a:pPr>
            <a:endParaRPr lang="en-US" sz="1800" b="0" i="0" u="none" strike="noStrike" baseline="0" dirty="0">
              <a:latin typeface="TimesTen-Roman"/>
            </a:endParaRPr>
          </a:p>
          <a:p>
            <a:pPr marL="0" indent="0" algn="l">
              <a:buNone/>
            </a:pPr>
            <a:r>
              <a:rPr lang="en-US" sz="1800" b="0" i="0" u="none" strike="noStrike" baseline="0" dirty="0">
                <a:latin typeface="TimesTen-Roman"/>
              </a:rPr>
              <a:t>B. All but the least significant byte of </a:t>
            </a:r>
            <a:r>
              <a:rPr lang="en-US" sz="1800" b="0" i="0" u="none" strike="noStrike" baseline="0" dirty="0">
                <a:latin typeface="ZztexMono-Regular"/>
              </a:rPr>
              <a:t>x </a:t>
            </a:r>
            <a:r>
              <a:rPr lang="en-US" sz="1800" b="0" i="0" u="none" strike="noStrike" baseline="0" dirty="0">
                <a:latin typeface="TimesTen-Roman"/>
              </a:rPr>
              <a:t>complemented, with the least significant byte left unchanged. [</a:t>
            </a:r>
            <a:r>
              <a:rPr lang="en-US" sz="1800" b="0" i="0" u="none" strike="noStrike" baseline="0" dirty="0">
                <a:latin typeface="ZztexMono-Regular"/>
              </a:rPr>
              <a:t>0x789ABC21</a:t>
            </a:r>
            <a:r>
              <a:rPr lang="en-US" sz="1800" b="0" i="0" u="none" strike="noStrike" baseline="0" dirty="0">
                <a:latin typeface="TimesTen-Roman"/>
              </a:rPr>
              <a:t>]</a:t>
            </a:r>
          </a:p>
          <a:p>
            <a:pPr marL="0" indent="0" algn="l">
              <a:buNone/>
            </a:pPr>
            <a:endParaRPr lang="en-US" sz="1800" dirty="0">
              <a:latin typeface="TimesTen-Roman"/>
            </a:endParaRPr>
          </a:p>
          <a:p>
            <a:pPr marL="0" indent="0" algn="l">
              <a:buNone/>
            </a:pPr>
            <a:endParaRPr lang="en-US" sz="1800" b="0" i="0" u="none" strike="noStrike" baseline="0" dirty="0">
              <a:latin typeface="TimesTen-Roman"/>
            </a:endParaRPr>
          </a:p>
          <a:p>
            <a:pPr marL="0" indent="0" algn="l">
              <a:buNone/>
            </a:pPr>
            <a:r>
              <a:rPr lang="en-US" sz="1800" b="0" i="0" u="none" strike="noStrike" baseline="0" dirty="0">
                <a:latin typeface="TimesTen-Roman"/>
              </a:rPr>
              <a:t>C. The least significant byte set to all ones, and all other bytes of </a:t>
            </a:r>
            <a:r>
              <a:rPr lang="en-US" sz="1800" b="0" i="0" u="none" strike="noStrike" baseline="0" dirty="0">
                <a:latin typeface="ZztexMono-Regular"/>
              </a:rPr>
              <a:t>x </a:t>
            </a:r>
            <a:r>
              <a:rPr lang="en-US" sz="1800" b="0" i="0" u="none" strike="noStrike" baseline="0" dirty="0">
                <a:latin typeface="TimesTen-Roman"/>
              </a:rPr>
              <a:t>left unchanged. [</a:t>
            </a:r>
            <a:r>
              <a:rPr lang="en-US" sz="1800" b="0" i="0" u="none" strike="noStrike" baseline="0" dirty="0">
                <a:latin typeface="ZztexMono-Regular"/>
              </a:rPr>
              <a:t>0x876543FF</a:t>
            </a:r>
            <a:r>
              <a:rPr lang="en-US" sz="1800" b="0" i="0" u="none" strike="noStrike" baseline="0" dirty="0">
                <a:latin typeface="TimesTen-Roman"/>
              </a:rPr>
              <a:t>]</a:t>
            </a:r>
            <a:endParaRPr lang="en-US" dirty="0"/>
          </a:p>
        </p:txBody>
      </p:sp>
    </p:spTree>
    <p:extLst>
      <p:ext uri="{BB962C8B-B14F-4D97-AF65-F5344CB8AC3E}">
        <p14:creationId xmlns:p14="http://schemas.microsoft.com/office/powerpoint/2010/main" val="1617158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FB77-8BA8-B4A7-BBFE-FA7CE71D1B7A}"/>
              </a:ext>
            </a:extLst>
          </p:cNvPr>
          <p:cNvSpPr>
            <a:spLocks noGrp="1"/>
          </p:cNvSpPr>
          <p:nvPr>
            <p:ph type="title"/>
          </p:nvPr>
        </p:nvSpPr>
        <p:spPr/>
        <p:txBody>
          <a:bodyPr/>
          <a:lstStyle/>
          <a:p>
            <a:r>
              <a:rPr lang="en-US" b="1" dirty="0"/>
              <a:t>Solution</a:t>
            </a:r>
          </a:p>
        </p:txBody>
      </p:sp>
      <p:sp>
        <p:nvSpPr>
          <p:cNvPr id="3" name="Content Placeholder 2">
            <a:extLst>
              <a:ext uri="{FF2B5EF4-FFF2-40B4-BE49-F238E27FC236}">
                <a16:creationId xmlns:a16="http://schemas.microsoft.com/office/drawing/2014/main" id="{90A12238-F93D-A843-8147-3E2C750B5B48}"/>
              </a:ext>
            </a:extLst>
          </p:cNvPr>
          <p:cNvSpPr>
            <a:spLocks noGrp="1"/>
          </p:cNvSpPr>
          <p:nvPr>
            <p:ph idx="1"/>
          </p:nvPr>
        </p:nvSpPr>
        <p:spPr/>
        <p:txBody>
          <a:bodyPr/>
          <a:lstStyle/>
          <a:p>
            <a:pPr algn="l"/>
            <a:r>
              <a:rPr lang="en-US" sz="1800" b="0" i="0" u="none" strike="noStrike" baseline="0" dirty="0">
                <a:latin typeface="TimesTen-Roman"/>
              </a:rPr>
              <a:t>A. </a:t>
            </a:r>
            <a:r>
              <a:rPr lang="en-US" sz="1800" b="0" i="0" u="none" strike="noStrike" baseline="0" dirty="0">
                <a:latin typeface="ZztexMono-Regular"/>
              </a:rPr>
              <a:t>x &amp; 0xFF</a:t>
            </a:r>
          </a:p>
          <a:p>
            <a:pPr algn="l"/>
            <a:r>
              <a:rPr lang="en-US" sz="1800" b="0" i="0" u="none" strike="noStrike" baseline="0" dirty="0">
                <a:latin typeface="TimesTen-Roman"/>
              </a:rPr>
              <a:t>B. </a:t>
            </a:r>
            <a:r>
              <a:rPr lang="en-US" sz="1800" b="0" i="0" u="none" strike="noStrike" baseline="0" dirty="0">
                <a:latin typeface="ZztexMono-Regular"/>
              </a:rPr>
              <a:t>x ^ ~0xFF</a:t>
            </a:r>
          </a:p>
          <a:p>
            <a:pPr algn="l"/>
            <a:r>
              <a:rPr lang="en-US" sz="1800" b="0" i="0" u="none" strike="noStrike" baseline="0" dirty="0">
                <a:latin typeface="TimesTen-Roman"/>
              </a:rPr>
              <a:t>C. </a:t>
            </a:r>
            <a:r>
              <a:rPr lang="en-US" sz="1800" b="0" i="0" u="none" strike="noStrike" baseline="0" dirty="0">
                <a:latin typeface="ZztexMono-Regular"/>
              </a:rPr>
              <a:t>x | 0xFF</a:t>
            </a:r>
            <a:endParaRPr lang="en-US" dirty="0"/>
          </a:p>
        </p:txBody>
      </p:sp>
    </p:spTree>
    <p:extLst>
      <p:ext uri="{BB962C8B-B14F-4D97-AF65-F5344CB8AC3E}">
        <p14:creationId xmlns:p14="http://schemas.microsoft.com/office/powerpoint/2010/main" val="25348763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739</TotalTime>
  <Words>2067</Words>
  <Application>Microsoft Office PowerPoint</Application>
  <PresentationFormat>Widescreen</PresentationFormat>
  <Paragraphs>168</Paragraphs>
  <Slides>29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29</vt:i4>
      </vt:variant>
    </vt:vector>
  </HeadingPairs>
  <TitlesOfParts>
    <vt:vector size="43" baseType="lpstr">
      <vt:lpstr>Arial</vt:lpstr>
      <vt:lpstr>Calibri</vt:lpstr>
      <vt:lpstr>Calibri Light</vt:lpstr>
      <vt:lpstr>ITCStoneSansSC</vt:lpstr>
      <vt:lpstr>MTMIZ</vt:lpstr>
      <vt:lpstr>MTSYN</vt:lpstr>
      <vt:lpstr>StoneSans</vt:lpstr>
      <vt:lpstr>TimesTen-Bold</vt:lpstr>
      <vt:lpstr>TimesTen-Italic</vt:lpstr>
      <vt:lpstr>TimesTen-Roman</vt:lpstr>
      <vt:lpstr>TimesTen-RomanSC</vt:lpstr>
      <vt:lpstr>Wingdings</vt:lpstr>
      <vt:lpstr>ZztexMono-Regular</vt:lpstr>
      <vt:lpstr>Office Theme</vt:lpstr>
      <vt:lpstr>Computer Organization and Assembly Language  </vt:lpstr>
      <vt:lpstr>Data Size</vt:lpstr>
      <vt:lpstr>Cont..</vt:lpstr>
      <vt:lpstr>Addressing and Byte Ordering</vt:lpstr>
      <vt:lpstr>Byte Representation</vt:lpstr>
      <vt:lpstr>Practice</vt:lpstr>
      <vt:lpstr>Solution</vt:lpstr>
      <vt:lpstr>Implementation of little and big endian</vt:lpstr>
      <vt:lpstr>Bi-endian Problem on Network</vt:lpstr>
      <vt:lpstr>Solution</vt:lpstr>
      <vt:lpstr>Representation of code</vt:lpstr>
      <vt:lpstr>Cont…</vt:lpstr>
      <vt:lpstr>Introduction to Boolean Algebra</vt:lpstr>
      <vt:lpstr>Operation of Boolean Algebra</vt:lpstr>
      <vt:lpstr>Practice</vt:lpstr>
      <vt:lpstr>Solution</vt:lpstr>
      <vt:lpstr>Example</vt:lpstr>
      <vt:lpstr>Cont..</vt:lpstr>
      <vt:lpstr>Think</vt:lpstr>
      <vt:lpstr>Solution</vt:lpstr>
      <vt:lpstr>Swapping the value</vt:lpstr>
      <vt:lpstr>Practice</vt:lpstr>
      <vt:lpstr>Solution</vt:lpstr>
      <vt:lpstr>PowerPoint Presentation</vt:lpstr>
      <vt:lpstr>Problem</vt:lpstr>
      <vt:lpstr>Solution</vt:lpstr>
      <vt:lpstr>Masking</vt:lpstr>
      <vt:lpstr>Practice</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Assembly Language</dc:title>
  <dc:creator>Abdul Qaddous</dc:creator>
  <cp:lastModifiedBy>Abdul Qaddous</cp:lastModifiedBy>
  <cp:revision>10</cp:revision>
  <dcterms:created xsi:type="dcterms:W3CDTF">2023-11-14T16:14:31Z</dcterms:created>
  <dcterms:modified xsi:type="dcterms:W3CDTF">2025-07-14T05:01:32Z</dcterms:modified>
</cp:coreProperties>
</file>