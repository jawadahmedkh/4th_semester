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5155"/>
            <a:ext cx="837247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1969"/>
            <a:ext cx="10359390" cy="403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9157" y="1656079"/>
            <a:ext cx="739584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ts val="6840"/>
              </a:lnSpc>
              <a:spcBef>
                <a:spcPts val="100"/>
              </a:spcBef>
            </a:pPr>
            <a:r>
              <a:rPr sz="6000" b="1" spc="90" dirty="0">
                <a:latin typeface="Calibri"/>
                <a:cs typeface="Calibri"/>
              </a:rPr>
              <a:t>Computer</a:t>
            </a:r>
            <a:r>
              <a:rPr sz="6000" b="1" spc="-175" dirty="0">
                <a:latin typeface="Calibri"/>
                <a:cs typeface="Calibri"/>
              </a:rPr>
              <a:t> </a:t>
            </a:r>
            <a:r>
              <a:rPr sz="6000" b="1" spc="40" dirty="0">
                <a:latin typeface="Calibri"/>
                <a:cs typeface="Calibri"/>
              </a:rPr>
              <a:t>Networks</a:t>
            </a:r>
            <a:endParaRPr sz="6000">
              <a:latin typeface="Calibri"/>
              <a:cs typeface="Calibri"/>
            </a:endParaRPr>
          </a:p>
          <a:p>
            <a:pPr algn="ctr">
              <a:lnSpc>
                <a:spcPts val="6840"/>
              </a:lnSpc>
            </a:pPr>
            <a:r>
              <a:rPr sz="6000" dirty="0"/>
              <a:t>[</a:t>
            </a:r>
            <a:r>
              <a:rPr sz="5300" i="1" dirty="0">
                <a:latin typeface="Calibri"/>
                <a:cs typeface="Calibri"/>
              </a:rPr>
              <a:t>Computer</a:t>
            </a:r>
            <a:r>
              <a:rPr sz="5300" i="1" spc="-110" dirty="0">
                <a:latin typeface="Calibri"/>
                <a:cs typeface="Calibri"/>
              </a:rPr>
              <a:t> </a:t>
            </a:r>
            <a:r>
              <a:rPr sz="5300" i="1" spc="-20" dirty="0">
                <a:latin typeface="Calibri"/>
                <a:cs typeface="Calibri"/>
              </a:rPr>
              <a:t>Network</a:t>
            </a:r>
            <a:r>
              <a:rPr sz="5300" i="1" spc="-60" dirty="0">
                <a:latin typeface="Calibri"/>
                <a:cs typeface="Calibri"/>
              </a:rPr>
              <a:t> </a:t>
            </a:r>
            <a:r>
              <a:rPr sz="5300" i="1" spc="-10" dirty="0">
                <a:latin typeface="Calibri"/>
                <a:cs typeface="Calibri"/>
              </a:rPr>
              <a:t>Types</a:t>
            </a:r>
            <a:r>
              <a:rPr sz="6000" spc="-10" dirty="0"/>
              <a:t>]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Computer</a:t>
            </a:r>
            <a:r>
              <a:rPr spc="-185" dirty="0"/>
              <a:t> </a:t>
            </a:r>
            <a:r>
              <a:rPr spc="-45" dirty="0"/>
              <a:t>Network</a:t>
            </a:r>
            <a:r>
              <a:rPr spc="-190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7485" cy="38163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computer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145" dirty="0">
                <a:latin typeface="Calibri"/>
                <a:cs typeface="Calibri"/>
              </a:rPr>
              <a:t> a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90" dirty="0">
                <a:latin typeface="Calibri"/>
                <a:cs typeface="Calibri"/>
              </a:rPr>
              <a:t>computers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linked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130" dirty="0">
                <a:latin typeface="Calibri"/>
                <a:cs typeface="Calibri"/>
              </a:rPr>
              <a:t>each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 	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490" dirty="0">
                <a:latin typeface="Calibri"/>
                <a:cs typeface="Calibri"/>
              </a:rPr>
              <a:t>  </a:t>
            </a:r>
            <a:r>
              <a:rPr sz="2800" spc="110" dirty="0">
                <a:latin typeface="Calibri"/>
                <a:cs typeface="Calibri"/>
              </a:rPr>
              <a:t>enables</a:t>
            </a:r>
            <a:r>
              <a:rPr sz="2800" spc="5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00" dirty="0">
                <a:latin typeface="Calibri"/>
                <a:cs typeface="Calibri"/>
              </a:rPr>
              <a:t>  </a:t>
            </a:r>
            <a:r>
              <a:rPr sz="2800" spc="75" dirty="0">
                <a:latin typeface="Calibri"/>
                <a:cs typeface="Calibri"/>
              </a:rPr>
              <a:t>computer</a:t>
            </a:r>
            <a:r>
              <a:rPr sz="2800" spc="5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05" dirty="0">
                <a:latin typeface="Calibri"/>
                <a:cs typeface="Calibri"/>
              </a:rPr>
              <a:t>  </a:t>
            </a:r>
            <a:r>
              <a:rPr sz="2800" spc="110" dirty="0">
                <a:latin typeface="Calibri"/>
                <a:cs typeface="Calibri"/>
              </a:rPr>
              <a:t>communicate</a:t>
            </a:r>
            <a:r>
              <a:rPr sz="2800" spc="4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49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another 	</a:t>
            </a:r>
            <a:r>
              <a:rPr sz="2800" spc="75" dirty="0">
                <a:latin typeface="Calibri"/>
                <a:cs typeface="Calibri"/>
              </a:rPr>
              <a:t>computer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share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resources,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data,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applications.</a:t>
            </a: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computer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categorized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size.</a:t>
            </a: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computer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mainly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types: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110" dirty="0">
                <a:latin typeface="Calibri"/>
                <a:cs typeface="Calibri"/>
              </a:rPr>
              <a:t>LAN(Local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Area </a:t>
            </a:r>
            <a:r>
              <a:rPr sz="2400" spc="-10" dirty="0">
                <a:latin typeface="Calibri"/>
                <a:cs typeface="Calibri"/>
              </a:rPr>
              <a:t>Network)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50" dirty="0">
                <a:latin typeface="Calibri"/>
                <a:cs typeface="Calibri"/>
              </a:rPr>
              <a:t>PAN(Personal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Area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MAN(Metropolitan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Area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WAN(Wide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Area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0" dirty="0"/>
              <a:t>LAN</a:t>
            </a:r>
            <a:r>
              <a:rPr spc="-155" dirty="0"/>
              <a:t> </a:t>
            </a:r>
            <a:r>
              <a:rPr spc="85" dirty="0"/>
              <a:t>(Local</a:t>
            </a:r>
            <a:r>
              <a:rPr spc="-170" dirty="0"/>
              <a:t> </a:t>
            </a:r>
            <a:r>
              <a:rPr spc="-60" dirty="0"/>
              <a:t>Area</a:t>
            </a:r>
            <a:r>
              <a:rPr spc="-155" dirty="0"/>
              <a:t> </a:t>
            </a:r>
            <a:r>
              <a:rPr spc="-25" dirty="0"/>
              <a:t>Network)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350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pc="150" dirty="0"/>
              <a:t>Local</a:t>
            </a:r>
            <a:r>
              <a:rPr spc="420" dirty="0"/>
              <a:t> </a:t>
            </a:r>
            <a:r>
              <a:rPr dirty="0"/>
              <a:t>Area</a:t>
            </a:r>
            <a:r>
              <a:rPr spc="420" dirty="0"/>
              <a:t> </a:t>
            </a:r>
            <a:r>
              <a:rPr dirty="0"/>
              <a:t>Network</a:t>
            </a:r>
            <a:r>
              <a:rPr spc="415" dirty="0"/>
              <a:t> </a:t>
            </a:r>
            <a:r>
              <a:rPr spc="135" dirty="0"/>
              <a:t>is</a:t>
            </a:r>
            <a:r>
              <a:rPr spc="425" dirty="0"/>
              <a:t> </a:t>
            </a:r>
            <a:r>
              <a:rPr spc="145" dirty="0"/>
              <a:t>a</a:t>
            </a:r>
            <a:r>
              <a:rPr spc="430" dirty="0"/>
              <a:t> </a:t>
            </a:r>
            <a:r>
              <a:rPr dirty="0"/>
              <a:t>group</a:t>
            </a:r>
            <a:r>
              <a:rPr spc="415" dirty="0"/>
              <a:t> </a:t>
            </a:r>
            <a:r>
              <a:rPr dirty="0"/>
              <a:t>of</a:t>
            </a:r>
            <a:r>
              <a:rPr spc="434" dirty="0"/>
              <a:t> </a:t>
            </a:r>
            <a:r>
              <a:rPr spc="90" dirty="0"/>
              <a:t>computers</a:t>
            </a:r>
            <a:r>
              <a:rPr spc="430" dirty="0"/>
              <a:t> </a:t>
            </a:r>
            <a:r>
              <a:rPr spc="100" dirty="0"/>
              <a:t>connected</a:t>
            </a:r>
            <a:r>
              <a:rPr spc="425" dirty="0"/>
              <a:t> </a:t>
            </a:r>
            <a:r>
              <a:rPr dirty="0"/>
              <a:t>to</a:t>
            </a:r>
            <a:r>
              <a:rPr spc="430" dirty="0"/>
              <a:t> </a:t>
            </a:r>
            <a:r>
              <a:rPr spc="114" dirty="0"/>
              <a:t>each 	</a:t>
            </a:r>
            <a:r>
              <a:rPr dirty="0"/>
              <a:t>other</a:t>
            </a:r>
            <a:r>
              <a:rPr spc="-2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145" dirty="0"/>
              <a:t>a</a:t>
            </a:r>
            <a:r>
              <a:rPr spc="-25" dirty="0"/>
              <a:t> </a:t>
            </a:r>
            <a:r>
              <a:rPr spc="140" dirty="0"/>
              <a:t>small</a:t>
            </a:r>
            <a:r>
              <a:rPr spc="-10" dirty="0"/>
              <a:t> </a:t>
            </a:r>
            <a:r>
              <a:rPr spc="65" dirty="0"/>
              <a:t>area</a:t>
            </a:r>
            <a:r>
              <a:rPr spc="-40" dirty="0"/>
              <a:t> </a:t>
            </a:r>
            <a:r>
              <a:rPr spc="160" dirty="0"/>
              <a:t>such</a:t>
            </a:r>
            <a:r>
              <a:rPr spc="-5" dirty="0"/>
              <a:t> </a:t>
            </a:r>
            <a:r>
              <a:rPr spc="195" dirty="0"/>
              <a:t>as</a:t>
            </a:r>
            <a:r>
              <a:rPr spc="-35" dirty="0"/>
              <a:t> </a:t>
            </a:r>
            <a:r>
              <a:rPr spc="60" dirty="0"/>
              <a:t>building,</a:t>
            </a:r>
            <a:r>
              <a:rPr spc="-25" dirty="0"/>
              <a:t> </a:t>
            </a:r>
            <a:r>
              <a:rPr spc="50" dirty="0"/>
              <a:t>office.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pc="130" dirty="0"/>
              <a:t>LAN</a:t>
            </a:r>
            <a:r>
              <a:rPr spc="80" dirty="0"/>
              <a:t>  </a:t>
            </a:r>
            <a:r>
              <a:rPr spc="135" dirty="0"/>
              <a:t>is</a:t>
            </a:r>
            <a:r>
              <a:rPr spc="80" dirty="0"/>
              <a:t>  </a:t>
            </a:r>
            <a:r>
              <a:rPr spc="125" dirty="0"/>
              <a:t>used</a:t>
            </a:r>
            <a:r>
              <a:rPr spc="80" dirty="0"/>
              <a:t>  </a:t>
            </a:r>
            <a:r>
              <a:rPr dirty="0"/>
              <a:t>for</a:t>
            </a:r>
            <a:r>
              <a:rPr spc="90" dirty="0"/>
              <a:t>  </a:t>
            </a:r>
            <a:r>
              <a:rPr spc="85" dirty="0"/>
              <a:t>connecting</a:t>
            </a:r>
            <a:r>
              <a:rPr spc="80" dirty="0"/>
              <a:t>  </a:t>
            </a:r>
            <a:r>
              <a:rPr dirty="0"/>
              <a:t>two</a:t>
            </a:r>
            <a:r>
              <a:rPr spc="80" dirty="0"/>
              <a:t>  </a:t>
            </a:r>
            <a:r>
              <a:rPr dirty="0"/>
              <a:t>or</a:t>
            </a:r>
            <a:r>
              <a:rPr spc="85" dirty="0"/>
              <a:t>  </a:t>
            </a:r>
            <a:r>
              <a:rPr dirty="0"/>
              <a:t>more</a:t>
            </a:r>
            <a:r>
              <a:rPr spc="75" dirty="0"/>
              <a:t>  </a:t>
            </a:r>
            <a:r>
              <a:rPr spc="80" dirty="0"/>
              <a:t>personal</a:t>
            </a:r>
            <a:r>
              <a:rPr spc="85" dirty="0"/>
              <a:t>  </a:t>
            </a:r>
            <a:r>
              <a:rPr spc="80" dirty="0"/>
              <a:t>computers 	</a:t>
            </a:r>
            <a:r>
              <a:rPr dirty="0"/>
              <a:t>through</a:t>
            </a:r>
            <a:r>
              <a:rPr spc="409" dirty="0"/>
              <a:t> </a:t>
            </a:r>
            <a:r>
              <a:rPr spc="145" dirty="0"/>
              <a:t>a</a:t>
            </a:r>
            <a:r>
              <a:rPr spc="409" dirty="0"/>
              <a:t> </a:t>
            </a:r>
            <a:r>
              <a:rPr spc="95" dirty="0"/>
              <a:t>communication</a:t>
            </a:r>
            <a:r>
              <a:rPr spc="405" dirty="0"/>
              <a:t> </a:t>
            </a:r>
            <a:r>
              <a:rPr spc="90" dirty="0"/>
              <a:t>medium</a:t>
            </a:r>
            <a:r>
              <a:rPr spc="400" dirty="0"/>
              <a:t> </a:t>
            </a:r>
            <a:r>
              <a:rPr spc="165" dirty="0"/>
              <a:t>such</a:t>
            </a:r>
            <a:r>
              <a:rPr spc="409" dirty="0"/>
              <a:t> </a:t>
            </a:r>
            <a:r>
              <a:rPr spc="195" dirty="0"/>
              <a:t>as</a:t>
            </a:r>
            <a:r>
              <a:rPr spc="400" dirty="0"/>
              <a:t> </a:t>
            </a:r>
            <a:r>
              <a:rPr spc="50" dirty="0"/>
              <a:t>twisted</a:t>
            </a:r>
            <a:r>
              <a:rPr spc="400" dirty="0"/>
              <a:t> </a:t>
            </a:r>
            <a:r>
              <a:rPr dirty="0"/>
              <a:t>pair,</a:t>
            </a:r>
            <a:r>
              <a:rPr spc="400" dirty="0"/>
              <a:t> </a:t>
            </a:r>
            <a:r>
              <a:rPr spc="95" dirty="0"/>
              <a:t>coaxial 	</a:t>
            </a:r>
            <a:r>
              <a:rPr spc="105" dirty="0"/>
              <a:t>cable,</a:t>
            </a:r>
            <a:r>
              <a:rPr spc="-30" dirty="0"/>
              <a:t> </a:t>
            </a:r>
            <a:r>
              <a:rPr spc="50" dirty="0"/>
              <a:t>etc.</a:t>
            </a:r>
          </a:p>
          <a:p>
            <a:pPr marL="239395" marR="5080" indent="-227329" algn="just">
              <a:lnSpc>
                <a:spcPts val="303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It</a:t>
            </a:r>
            <a:r>
              <a:rPr spc="434" dirty="0"/>
              <a:t> </a:t>
            </a:r>
            <a:r>
              <a:rPr spc="135" dirty="0"/>
              <a:t>is</a:t>
            </a:r>
            <a:r>
              <a:rPr spc="440" dirty="0"/>
              <a:t> </a:t>
            </a:r>
            <a:r>
              <a:rPr spc="165" dirty="0"/>
              <a:t>less</a:t>
            </a:r>
            <a:r>
              <a:rPr spc="470" dirty="0"/>
              <a:t> </a:t>
            </a:r>
            <a:r>
              <a:rPr spc="100" dirty="0"/>
              <a:t>costly</a:t>
            </a:r>
            <a:r>
              <a:rPr spc="450" dirty="0"/>
              <a:t> </a:t>
            </a:r>
            <a:r>
              <a:rPr spc="195" dirty="0"/>
              <a:t>as</a:t>
            </a:r>
            <a:r>
              <a:rPr spc="480" dirty="0"/>
              <a:t> </a:t>
            </a:r>
            <a:r>
              <a:rPr dirty="0"/>
              <a:t>it</a:t>
            </a:r>
            <a:r>
              <a:rPr spc="440" dirty="0"/>
              <a:t> </a:t>
            </a:r>
            <a:r>
              <a:rPr spc="135" dirty="0"/>
              <a:t>is</a:t>
            </a:r>
            <a:r>
              <a:rPr spc="440" dirty="0"/>
              <a:t> </a:t>
            </a:r>
            <a:r>
              <a:rPr dirty="0"/>
              <a:t>built</a:t>
            </a:r>
            <a:r>
              <a:rPr spc="450" dirty="0"/>
              <a:t> </a:t>
            </a:r>
            <a:r>
              <a:rPr dirty="0"/>
              <a:t>with</a:t>
            </a:r>
            <a:r>
              <a:rPr spc="440" dirty="0"/>
              <a:t> </a:t>
            </a:r>
            <a:r>
              <a:rPr spc="55" dirty="0"/>
              <a:t>inexpensive</a:t>
            </a:r>
            <a:r>
              <a:rPr spc="450" dirty="0"/>
              <a:t> </a:t>
            </a:r>
            <a:r>
              <a:rPr dirty="0"/>
              <a:t>hardware</a:t>
            </a:r>
            <a:r>
              <a:rPr spc="450" dirty="0"/>
              <a:t> </a:t>
            </a:r>
            <a:r>
              <a:rPr spc="165" dirty="0"/>
              <a:t>such</a:t>
            </a:r>
            <a:r>
              <a:rPr spc="450" dirty="0"/>
              <a:t> </a:t>
            </a:r>
            <a:r>
              <a:rPr spc="180" dirty="0"/>
              <a:t>as 	</a:t>
            </a:r>
            <a:r>
              <a:rPr spc="110" dirty="0"/>
              <a:t>hubs,</a:t>
            </a:r>
            <a:r>
              <a:rPr spc="25" dirty="0"/>
              <a:t> </a:t>
            </a:r>
            <a:r>
              <a:rPr dirty="0"/>
              <a:t>network</a:t>
            </a:r>
            <a:r>
              <a:rPr spc="30" dirty="0"/>
              <a:t> </a:t>
            </a:r>
            <a:r>
              <a:rPr spc="75" dirty="0"/>
              <a:t>adapters,</a:t>
            </a:r>
            <a:r>
              <a:rPr spc="15" dirty="0"/>
              <a:t> </a:t>
            </a:r>
            <a:r>
              <a:rPr spc="100" dirty="0"/>
              <a:t>and</a:t>
            </a:r>
            <a:r>
              <a:rPr spc="15" dirty="0"/>
              <a:t> </a:t>
            </a:r>
            <a:r>
              <a:rPr dirty="0"/>
              <a:t>ethernet</a:t>
            </a:r>
            <a:r>
              <a:rPr spc="20" dirty="0"/>
              <a:t> </a:t>
            </a:r>
            <a:r>
              <a:rPr spc="120" dirty="0"/>
              <a:t>cables.</a:t>
            </a:r>
          </a:p>
          <a:p>
            <a:pPr marL="240665" indent="-227965" algn="just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The</a:t>
            </a:r>
            <a:r>
              <a:rPr spc="65" dirty="0"/>
              <a:t> </a:t>
            </a:r>
            <a:r>
              <a:rPr spc="70" dirty="0"/>
              <a:t>data</a:t>
            </a:r>
            <a:r>
              <a:rPr spc="85" dirty="0"/>
              <a:t> </a:t>
            </a:r>
            <a:r>
              <a:rPr spc="135" dirty="0"/>
              <a:t>is</a:t>
            </a:r>
            <a:r>
              <a:rPr spc="45" dirty="0"/>
              <a:t> </a:t>
            </a:r>
            <a:r>
              <a:rPr dirty="0"/>
              <a:t>transferred</a:t>
            </a:r>
            <a:r>
              <a:rPr spc="95" dirty="0"/>
              <a:t> </a:t>
            </a:r>
            <a:r>
              <a:rPr dirty="0"/>
              <a:t>at</a:t>
            </a:r>
            <a:r>
              <a:rPr spc="55" dirty="0"/>
              <a:t> </a:t>
            </a:r>
            <a:r>
              <a:rPr spc="95" dirty="0"/>
              <a:t>an</a:t>
            </a:r>
            <a:r>
              <a:rPr spc="60" dirty="0"/>
              <a:t> </a:t>
            </a:r>
            <a:r>
              <a:rPr dirty="0"/>
              <a:t>extremely</a:t>
            </a:r>
            <a:r>
              <a:rPr spc="50" dirty="0"/>
              <a:t> </a:t>
            </a:r>
            <a:r>
              <a:rPr dirty="0"/>
              <a:t>faster</a:t>
            </a:r>
            <a:r>
              <a:rPr spc="70" dirty="0"/>
              <a:t> </a:t>
            </a:r>
            <a:r>
              <a:rPr dirty="0"/>
              <a:t>rate</a:t>
            </a:r>
            <a:r>
              <a:rPr spc="70" dirty="0"/>
              <a:t> </a:t>
            </a:r>
            <a:r>
              <a:rPr dirty="0"/>
              <a:t>in</a:t>
            </a:r>
            <a:r>
              <a:rPr spc="45" dirty="0"/>
              <a:t> </a:t>
            </a:r>
            <a:r>
              <a:rPr spc="100" dirty="0"/>
              <a:t>LAN.</a:t>
            </a:r>
          </a:p>
          <a:p>
            <a:pPr marL="240029" indent="-227329" algn="just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029" algn="l"/>
              </a:tabLst>
            </a:pPr>
            <a:r>
              <a:rPr spc="150" dirty="0"/>
              <a:t>Local</a:t>
            </a:r>
            <a:r>
              <a:rPr spc="75" dirty="0"/>
              <a:t> </a:t>
            </a:r>
            <a:r>
              <a:rPr dirty="0"/>
              <a:t>Area</a:t>
            </a:r>
            <a:r>
              <a:rPr spc="75" dirty="0"/>
              <a:t> </a:t>
            </a:r>
            <a:r>
              <a:rPr dirty="0"/>
              <a:t>Network</a:t>
            </a:r>
            <a:r>
              <a:rPr spc="65" dirty="0"/>
              <a:t> </a:t>
            </a:r>
            <a:r>
              <a:rPr spc="60" dirty="0"/>
              <a:t>provides</a:t>
            </a:r>
            <a:r>
              <a:rPr spc="70" dirty="0"/>
              <a:t> </a:t>
            </a:r>
            <a:r>
              <a:rPr dirty="0"/>
              <a:t>higher</a:t>
            </a:r>
            <a:r>
              <a:rPr spc="70" dirty="0"/>
              <a:t> </a:t>
            </a:r>
            <a:r>
              <a:rPr spc="40" dirty="0"/>
              <a:t>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0" dirty="0"/>
              <a:t>LAN</a:t>
            </a:r>
            <a:r>
              <a:rPr spc="-155" dirty="0"/>
              <a:t> </a:t>
            </a:r>
            <a:r>
              <a:rPr spc="85" dirty="0"/>
              <a:t>(Local</a:t>
            </a:r>
            <a:r>
              <a:rPr spc="-170" dirty="0"/>
              <a:t> </a:t>
            </a:r>
            <a:r>
              <a:rPr spc="-60" dirty="0"/>
              <a:t>Area</a:t>
            </a:r>
            <a:r>
              <a:rPr spc="-155" dirty="0"/>
              <a:t> </a:t>
            </a:r>
            <a:r>
              <a:rPr spc="-25" dirty="0"/>
              <a:t>Network)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901" y="2030536"/>
            <a:ext cx="5605122" cy="45237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6109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PAN</a:t>
            </a:r>
            <a:r>
              <a:rPr spc="-135" dirty="0"/>
              <a:t> </a:t>
            </a:r>
            <a:r>
              <a:rPr spc="-10" dirty="0"/>
              <a:t>(Personal</a:t>
            </a:r>
            <a:r>
              <a:rPr spc="-155" dirty="0"/>
              <a:t> </a:t>
            </a:r>
            <a:r>
              <a:rPr spc="-60" dirty="0"/>
              <a:t>Area</a:t>
            </a:r>
            <a:r>
              <a:rPr spc="-135" dirty="0"/>
              <a:t> </a:t>
            </a:r>
            <a:r>
              <a:rPr spc="-10" dirty="0"/>
              <a:t>Network)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350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pc="75" dirty="0"/>
              <a:t>Personal</a:t>
            </a:r>
            <a:r>
              <a:rPr spc="320" dirty="0"/>
              <a:t> </a:t>
            </a:r>
            <a:r>
              <a:rPr dirty="0"/>
              <a:t>Area</a:t>
            </a:r>
            <a:r>
              <a:rPr spc="300" dirty="0"/>
              <a:t> </a:t>
            </a:r>
            <a:r>
              <a:rPr dirty="0"/>
              <a:t>Network</a:t>
            </a:r>
            <a:r>
              <a:rPr spc="285" dirty="0"/>
              <a:t> </a:t>
            </a:r>
            <a:r>
              <a:rPr spc="135" dirty="0"/>
              <a:t>is</a:t>
            </a:r>
            <a:r>
              <a:rPr spc="290" dirty="0"/>
              <a:t> </a:t>
            </a:r>
            <a:r>
              <a:rPr spc="145" dirty="0"/>
              <a:t>a</a:t>
            </a:r>
            <a:r>
              <a:rPr spc="330" dirty="0"/>
              <a:t> </a:t>
            </a:r>
            <a:r>
              <a:rPr dirty="0"/>
              <a:t>network</a:t>
            </a:r>
            <a:r>
              <a:rPr spc="290" dirty="0"/>
              <a:t> </a:t>
            </a:r>
            <a:r>
              <a:rPr dirty="0"/>
              <a:t>arranged</a:t>
            </a:r>
            <a:r>
              <a:rPr spc="325" dirty="0"/>
              <a:t> </a:t>
            </a:r>
            <a:r>
              <a:rPr dirty="0"/>
              <a:t>within</a:t>
            </a:r>
            <a:r>
              <a:rPr spc="300" dirty="0"/>
              <a:t> </a:t>
            </a:r>
            <a:r>
              <a:rPr spc="95" dirty="0"/>
              <a:t>an</a:t>
            </a:r>
            <a:r>
              <a:rPr spc="290" dirty="0"/>
              <a:t> </a:t>
            </a:r>
            <a:r>
              <a:rPr spc="45" dirty="0"/>
              <a:t>individual 	</a:t>
            </a:r>
            <a:r>
              <a:rPr spc="80" dirty="0"/>
              <a:t>person,</a:t>
            </a:r>
            <a:r>
              <a:rPr spc="-5" dirty="0"/>
              <a:t> </a:t>
            </a:r>
            <a:r>
              <a:rPr spc="65" dirty="0"/>
              <a:t>typically</a:t>
            </a:r>
            <a:r>
              <a:rPr spc="-5" dirty="0"/>
              <a:t> </a:t>
            </a:r>
            <a:r>
              <a:rPr dirty="0"/>
              <a:t>within</a:t>
            </a:r>
            <a:r>
              <a:rPr spc="-35" dirty="0"/>
              <a:t> </a:t>
            </a:r>
            <a:r>
              <a:rPr spc="145" dirty="0"/>
              <a:t>a</a:t>
            </a:r>
            <a:r>
              <a:rPr dirty="0"/>
              <a:t> range</a:t>
            </a:r>
            <a:r>
              <a:rPr spc="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50" dirty="0"/>
              <a:t>10</a:t>
            </a:r>
            <a:r>
              <a:rPr dirty="0"/>
              <a:t> </a:t>
            </a:r>
            <a:r>
              <a:rPr spc="50" dirty="0"/>
              <a:t>meters.</a:t>
            </a:r>
          </a:p>
          <a:p>
            <a:pPr marL="240665" indent="-227965" algn="just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665" algn="l"/>
              </a:tabLst>
            </a:pPr>
            <a:r>
              <a:rPr spc="55" dirty="0"/>
              <a:t>PAN</a:t>
            </a:r>
            <a:r>
              <a:rPr spc="-20" dirty="0"/>
              <a:t> </a:t>
            </a:r>
            <a:r>
              <a:rPr spc="135" dirty="0"/>
              <a:t>is</a:t>
            </a:r>
            <a:r>
              <a:rPr spc="-55" dirty="0"/>
              <a:t> </a:t>
            </a:r>
            <a:r>
              <a:rPr spc="120" dirty="0"/>
              <a:t>used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spc="80" dirty="0"/>
              <a:t>connecting</a:t>
            </a:r>
            <a:r>
              <a:rPr dirty="0"/>
              <a:t> the</a:t>
            </a:r>
            <a:r>
              <a:rPr spc="-45" dirty="0"/>
              <a:t> </a:t>
            </a:r>
            <a:r>
              <a:rPr spc="70" dirty="0"/>
              <a:t>computer</a:t>
            </a:r>
            <a:r>
              <a:rPr spc="5" dirty="0"/>
              <a:t> </a:t>
            </a:r>
            <a:r>
              <a:rPr spc="105" dirty="0"/>
              <a:t>devices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80" dirty="0"/>
              <a:t>personal</a:t>
            </a:r>
            <a:r>
              <a:rPr spc="-25" dirty="0"/>
              <a:t> </a:t>
            </a:r>
            <a:r>
              <a:rPr spc="75" dirty="0"/>
              <a:t>use.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b="1" spc="145" dirty="0">
                <a:latin typeface="Calibri"/>
                <a:cs typeface="Calibri"/>
              </a:rPr>
              <a:t>Thomas</a:t>
            </a:r>
            <a:r>
              <a:rPr b="1" spc="220" dirty="0">
                <a:latin typeface="Calibri"/>
                <a:cs typeface="Calibri"/>
              </a:rPr>
              <a:t> </a:t>
            </a:r>
            <a:r>
              <a:rPr b="1" spc="140" dirty="0">
                <a:latin typeface="Calibri"/>
                <a:cs typeface="Calibri"/>
              </a:rPr>
              <a:t>Zimmerman</a:t>
            </a:r>
            <a:r>
              <a:rPr b="1" spc="225" dirty="0">
                <a:latin typeface="Calibri"/>
                <a:cs typeface="Calibri"/>
              </a:rPr>
              <a:t> </a:t>
            </a:r>
            <a:r>
              <a:rPr spc="125" dirty="0"/>
              <a:t>was</a:t>
            </a:r>
            <a:r>
              <a:rPr spc="225" dirty="0"/>
              <a:t> </a:t>
            </a:r>
            <a:r>
              <a:rPr dirty="0"/>
              <a:t>the</a:t>
            </a:r>
            <a:r>
              <a:rPr spc="195" dirty="0"/>
              <a:t> </a:t>
            </a:r>
            <a:r>
              <a:rPr dirty="0"/>
              <a:t>first</a:t>
            </a:r>
            <a:r>
              <a:rPr spc="190" dirty="0"/>
              <a:t> </a:t>
            </a:r>
            <a:r>
              <a:rPr spc="85" dirty="0"/>
              <a:t>research</a:t>
            </a:r>
            <a:r>
              <a:rPr spc="220" dirty="0"/>
              <a:t> </a:t>
            </a:r>
            <a:r>
              <a:rPr spc="95" dirty="0"/>
              <a:t>scientist</a:t>
            </a:r>
            <a:r>
              <a:rPr spc="195" dirty="0"/>
              <a:t> </a:t>
            </a:r>
            <a:r>
              <a:rPr dirty="0"/>
              <a:t>to</a:t>
            </a:r>
            <a:r>
              <a:rPr spc="215" dirty="0"/>
              <a:t> </a:t>
            </a:r>
            <a:r>
              <a:rPr dirty="0"/>
              <a:t>bring</a:t>
            </a:r>
            <a:r>
              <a:rPr spc="210" dirty="0"/>
              <a:t> </a:t>
            </a:r>
            <a:r>
              <a:rPr spc="-25" dirty="0"/>
              <a:t>the 	</a:t>
            </a:r>
            <a:r>
              <a:rPr spc="80" dirty="0"/>
              <a:t>idea</a:t>
            </a:r>
            <a:r>
              <a:rPr dirty="0"/>
              <a:t> of</a:t>
            </a:r>
            <a:r>
              <a:rPr spc="5" dirty="0"/>
              <a:t> </a:t>
            </a:r>
            <a:r>
              <a:rPr dirty="0"/>
              <a:t>the </a:t>
            </a:r>
            <a:r>
              <a:rPr spc="75" dirty="0"/>
              <a:t>Personal</a:t>
            </a:r>
            <a:r>
              <a:rPr spc="35" dirty="0"/>
              <a:t> </a:t>
            </a:r>
            <a:r>
              <a:rPr dirty="0"/>
              <a:t>Area</a:t>
            </a:r>
            <a:r>
              <a:rPr spc="15" dirty="0"/>
              <a:t> </a:t>
            </a:r>
            <a:r>
              <a:rPr spc="35" dirty="0"/>
              <a:t>Network.</a:t>
            </a:r>
          </a:p>
          <a:p>
            <a:pPr marL="240029" indent="-227329" algn="just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240029" algn="l"/>
              </a:tabLst>
            </a:pPr>
            <a:r>
              <a:rPr spc="75" dirty="0"/>
              <a:t>Personal</a:t>
            </a:r>
            <a:r>
              <a:rPr spc="10" dirty="0"/>
              <a:t> </a:t>
            </a:r>
            <a:r>
              <a:rPr dirty="0"/>
              <a:t>Area</a:t>
            </a:r>
            <a:r>
              <a:rPr spc="20" dirty="0"/>
              <a:t> </a:t>
            </a:r>
            <a:r>
              <a:rPr dirty="0"/>
              <a:t>Network</a:t>
            </a:r>
            <a:r>
              <a:rPr spc="-25" dirty="0"/>
              <a:t> </a:t>
            </a:r>
            <a:r>
              <a:rPr spc="90" dirty="0"/>
              <a:t>covers</a:t>
            </a:r>
            <a:r>
              <a:rPr spc="15" dirty="0"/>
              <a:t> </a:t>
            </a:r>
            <a:r>
              <a:rPr spc="95" dirty="0"/>
              <a:t>an</a:t>
            </a:r>
            <a:r>
              <a:rPr dirty="0"/>
              <a:t> </a:t>
            </a:r>
            <a:r>
              <a:rPr spc="65" dirty="0"/>
              <a:t>area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b="1" spc="50" dirty="0">
                <a:latin typeface="Calibri"/>
                <a:cs typeface="Calibri"/>
              </a:rPr>
              <a:t>30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60" dirty="0">
                <a:latin typeface="Calibri"/>
                <a:cs typeface="Calibri"/>
              </a:rPr>
              <a:t>feet</a:t>
            </a:r>
            <a:r>
              <a:rPr spc="60" dirty="0"/>
              <a:t>.</a:t>
            </a:r>
          </a:p>
          <a:p>
            <a:pPr marL="240029" marR="5715" indent="-227965" algn="just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pc="75" dirty="0"/>
              <a:t>Personal</a:t>
            </a:r>
            <a:r>
              <a:rPr spc="170" dirty="0"/>
              <a:t> </a:t>
            </a:r>
            <a:r>
              <a:rPr spc="70" dirty="0"/>
              <a:t>computer</a:t>
            </a:r>
            <a:r>
              <a:rPr spc="170" dirty="0"/>
              <a:t> </a:t>
            </a:r>
            <a:r>
              <a:rPr spc="105" dirty="0"/>
              <a:t>devices</a:t>
            </a:r>
            <a:r>
              <a:rPr spc="160" dirty="0"/>
              <a:t> </a:t>
            </a:r>
            <a:r>
              <a:rPr dirty="0"/>
              <a:t>that</a:t>
            </a:r>
            <a:r>
              <a:rPr spc="150" dirty="0"/>
              <a:t> </a:t>
            </a:r>
            <a:r>
              <a:rPr dirty="0"/>
              <a:t>are</a:t>
            </a:r>
            <a:r>
              <a:rPr spc="150" dirty="0"/>
              <a:t> </a:t>
            </a:r>
            <a:r>
              <a:rPr spc="125" dirty="0"/>
              <a:t>used</a:t>
            </a:r>
            <a:r>
              <a:rPr spc="160" dirty="0"/>
              <a:t> </a:t>
            </a:r>
            <a:r>
              <a:rPr dirty="0"/>
              <a:t>to</a:t>
            </a:r>
            <a:r>
              <a:rPr spc="160" dirty="0"/>
              <a:t> </a:t>
            </a:r>
            <a:r>
              <a:rPr spc="60" dirty="0"/>
              <a:t>develop</a:t>
            </a:r>
            <a:r>
              <a:rPr spc="160" dirty="0"/>
              <a:t> </a:t>
            </a:r>
            <a:r>
              <a:rPr dirty="0"/>
              <a:t>the</a:t>
            </a:r>
            <a:r>
              <a:rPr spc="150" dirty="0"/>
              <a:t> </a:t>
            </a:r>
            <a:r>
              <a:rPr spc="70" dirty="0"/>
              <a:t>personal 	</a:t>
            </a:r>
            <a:r>
              <a:rPr spc="65" dirty="0"/>
              <a:t>area</a:t>
            </a:r>
            <a:r>
              <a:rPr spc="600" dirty="0"/>
              <a:t> </a:t>
            </a:r>
            <a:r>
              <a:rPr dirty="0"/>
              <a:t>network</a:t>
            </a:r>
            <a:r>
              <a:rPr spc="595" dirty="0"/>
              <a:t> </a:t>
            </a:r>
            <a:r>
              <a:rPr dirty="0"/>
              <a:t>are</a:t>
            </a:r>
            <a:r>
              <a:rPr spc="620" dirty="0"/>
              <a:t> </a:t>
            </a:r>
            <a:r>
              <a:rPr dirty="0"/>
              <a:t>the</a:t>
            </a:r>
            <a:r>
              <a:rPr spc="590" dirty="0"/>
              <a:t> </a:t>
            </a:r>
            <a:r>
              <a:rPr spc="60" dirty="0"/>
              <a:t>laptop,</a:t>
            </a:r>
            <a:r>
              <a:rPr spc="610" dirty="0"/>
              <a:t> </a:t>
            </a:r>
            <a:r>
              <a:rPr spc="70" dirty="0"/>
              <a:t>mobile</a:t>
            </a:r>
            <a:r>
              <a:rPr spc="605" dirty="0"/>
              <a:t> </a:t>
            </a:r>
            <a:r>
              <a:rPr spc="90" dirty="0"/>
              <a:t>phones,</a:t>
            </a:r>
            <a:r>
              <a:rPr spc="630" dirty="0"/>
              <a:t> </a:t>
            </a:r>
            <a:r>
              <a:rPr spc="95" dirty="0"/>
              <a:t>media</a:t>
            </a:r>
            <a:r>
              <a:rPr spc="605" dirty="0"/>
              <a:t> </a:t>
            </a:r>
            <a:r>
              <a:rPr dirty="0"/>
              <a:t>player</a:t>
            </a:r>
            <a:r>
              <a:rPr spc="605" dirty="0"/>
              <a:t> </a:t>
            </a:r>
            <a:r>
              <a:rPr spc="75" dirty="0"/>
              <a:t>and 	play</a:t>
            </a:r>
            <a:r>
              <a:rPr spc="-60" dirty="0"/>
              <a:t> </a:t>
            </a:r>
            <a:r>
              <a:rPr spc="70" dirty="0"/>
              <a:t>stations.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6109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PAN</a:t>
            </a:r>
            <a:r>
              <a:rPr spc="-135" dirty="0"/>
              <a:t> </a:t>
            </a:r>
            <a:r>
              <a:rPr spc="-10" dirty="0"/>
              <a:t>(Personal</a:t>
            </a:r>
            <a:r>
              <a:rPr spc="-155" dirty="0"/>
              <a:t> </a:t>
            </a:r>
            <a:r>
              <a:rPr spc="-60" dirty="0"/>
              <a:t>Area</a:t>
            </a:r>
            <a:r>
              <a:rPr spc="-135" dirty="0"/>
              <a:t> </a:t>
            </a:r>
            <a:r>
              <a:rPr spc="-10" dirty="0"/>
              <a:t>Network)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2206" y="2025033"/>
            <a:ext cx="6399476" cy="4681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225" dirty="0"/>
              <a:t> </a:t>
            </a:r>
            <a:r>
              <a:rPr spc="-90" dirty="0"/>
              <a:t>of</a:t>
            </a:r>
            <a:r>
              <a:rPr spc="-160" dirty="0"/>
              <a:t> </a:t>
            </a:r>
            <a:r>
              <a:rPr dirty="0"/>
              <a:t>Personal</a:t>
            </a:r>
            <a:r>
              <a:rPr spc="-204" dirty="0"/>
              <a:t> </a:t>
            </a:r>
            <a:r>
              <a:rPr spc="-60" dirty="0"/>
              <a:t>Area</a:t>
            </a:r>
            <a:r>
              <a:rPr spc="-190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8696" y="1840992"/>
            <a:ext cx="2052066" cy="23599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85509" y="2255596"/>
            <a:ext cx="1223010" cy="145224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065" marR="5080" indent="-1270" algn="ctr">
              <a:lnSpc>
                <a:spcPct val="91500"/>
              </a:lnSpc>
              <a:spcBef>
                <a:spcPts val="350"/>
              </a:spcBef>
            </a:pPr>
            <a:r>
              <a:rPr sz="2500" spc="60" dirty="0">
                <a:latin typeface="Calibri"/>
                <a:cs typeface="Calibri"/>
              </a:rPr>
              <a:t>Wireless Personal </a:t>
            </a:r>
            <a:r>
              <a:rPr sz="2500" spc="-20" dirty="0">
                <a:latin typeface="Calibri"/>
                <a:cs typeface="Calibri"/>
              </a:rPr>
              <a:t>Area </a:t>
            </a:r>
            <a:r>
              <a:rPr sz="2500" spc="-10" dirty="0">
                <a:latin typeface="Calibri"/>
                <a:cs typeface="Calibri"/>
              </a:rPr>
              <a:t>Network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10931" y="2341626"/>
            <a:ext cx="2883535" cy="13042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just">
              <a:lnSpc>
                <a:spcPct val="91500"/>
              </a:lnSpc>
              <a:spcBef>
                <a:spcPts val="280"/>
              </a:spcBef>
            </a:pPr>
            <a:r>
              <a:rPr sz="1800" spc="50" dirty="0">
                <a:latin typeface="Calibri"/>
                <a:cs typeface="Calibri"/>
              </a:rPr>
              <a:t>Wireless</a:t>
            </a:r>
            <a:r>
              <a:rPr sz="1800" spc="12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PAN</a:t>
            </a:r>
            <a:r>
              <a:rPr sz="1800" spc="120" dirty="0">
                <a:latin typeface="Calibri"/>
                <a:cs typeface="Calibri"/>
              </a:rPr>
              <a:t> 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130" dirty="0">
                <a:latin typeface="Calibri"/>
                <a:cs typeface="Calibri"/>
              </a:rPr>
              <a:t>  </a:t>
            </a:r>
            <a:r>
              <a:rPr sz="1800" spc="-10" dirty="0">
                <a:latin typeface="Calibri"/>
                <a:cs typeface="Calibri"/>
              </a:rPr>
              <a:t>developed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425" dirty="0">
                <a:latin typeface="Calibri"/>
                <a:cs typeface="Calibri"/>
              </a:rPr>
              <a:t>  </a:t>
            </a:r>
            <a:r>
              <a:rPr sz="1800" spc="55" dirty="0">
                <a:latin typeface="Calibri"/>
                <a:cs typeface="Calibri"/>
              </a:rPr>
              <a:t>simply</a:t>
            </a:r>
            <a:r>
              <a:rPr sz="1800" spc="434" dirty="0">
                <a:latin typeface="Calibri"/>
                <a:cs typeface="Calibri"/>
              </a:rPr>
              <a:t>  </a:t>
            </a:r>
            <a:r>
              <a:rPr sz="1800" spc="55" dirty="0">
                <a:latin typeface="Calibri"/>
                <a:cs typeface="Calibri"/>
              </a:rPr>
              <a:t>using</a:t>
            </a:r>
            <a:r>
              <a:rPr sz="1800" spc="434" dirty="0">
                <a:latin typeface="Calibri"/>
                <a:cs typeface="Calibri"/>
              </a:rPr>
              <a:t>  </a:t>
            </a:r>
            <a:r>
              <a:rPr sz="1800" spc="40" dirty="0">
                <a:latin typeface="Calibri"/>
                <a:cs typeface="Calibri"/>
              </a:rPr>
              <a:t>wireless </a:t>
            </a:r>
            <a:r>
              <a:rPr sz="1800" spc="50" dirty="0">
                <a:latin typeface="Calibri"/>
                <a:cs typeface="Calibri"/>
              </a:rPr>
              <a:t>technologies</a:t>
            </a:r>
            <a:r>
              <a:rPr sz="1800" spc="80" dirty="0">
                <a:latin typeface="Calibri"/>
                <a:cs typeface="Calibri"/>
              </a:rPr>
              <a:t>  </a:t>
            </a:r>
            <a:r>
              <a:rPr sz="1800" spc="110" dirty="0">
                <a:latin typeface="Calibri"/>
                <a:cs typeface="Calibri"/>
              </a:rPr>
              <a:t>such</a:t>
            </a:r>
            <a:r>
              <a:rPr sz="1800" spc="75" dirty="0">
                <a:latin typeface="Calibri"/>
                <a:cs typeface="Calibri"/>
              </a:rPr>
              <a:t>  </a:t>
            </a:r>
            <a:r>
              <a:rPr sz="1800" spc="130" dirty="0">
                <a:latin typeface="Calibri"/>
                <a:cs typeface="Calibri"/>
              </a:rPr>
              <a:t>as</a:t>
            </a:r>
            <a:r>
              <a:rPr sz="1800" spc="75" dirty="0">
                <a:latin typeface="Calibri"/>
                <a:cs typeface="Calibri"/>
              </a:rPr>
              <a:t>  </a:t>
            </a:r>
            <a:r>
              <a:rPr sz="1800" spc="-20" dirty="0">
                <a:latin typeface="Calibri"/>
                <a:cs typeface="Calibri"/>
              </a:rPr>
              <a:t>WiFi, </a:t>
            </a:r>
            <a:r>
              <a:rPr sz="1800" dirty="0">
                <a:latin typeface="Calibri"/>
                <a:cs typeface="Calibri"/>
              </a:rPr>
              <a:t>Bluetooth.</a:t>
            </a:r>
            <a:r>
              <a:rPr sz="1800" spc="4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475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484" dirty="0">
                <a:latin typeface="Calibri"/>
                <a:cs typeface="Calibri"/>
              </a:rPr>
              <a:t> </a:t>
            </a:r>
            <a:r>
              <a:rPr sz="1800" spc="85" dirty="0">
                <a:latin typeface="Calibri"/>
                <a:cs typeface="Calibri"/>
              </a:rPr>
              <a:t>a</a:t>
            </a:r>
            <a:r>
              <a:rPr sz="1800" spc="4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</a:t>
            </a:r>
            <a:r>
              <a:rPr sz="1800" spc="48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range </a:t>
            </a:r>
            <a:r>
              <a:rPr sz="1800" spc="-10" dirty="0">
                <a:latin typeface="Calibri"/>
                <a:cs typeface="Calibri"/>
              </a:rPr>
              <a:t>network.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57371" y="1840992"/>
            <a:ext cx="3178810" cy="4337050"/>
            <a:chOff x="3357371" y="1840992"/>
            <a:chExt cx="3178810" cy="43370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7371" y="1840992"/>
              <a:ext cx="2052066" cy="23599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2083" y="3819144"/>
              <a:ext cx="2053589" cy="23583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899152" y="4234129"/>
            <a:ext cx="1223010" cy="145224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065" marR="5080" indent="-635" algn="ctr">
              <a:lnSpc>
                <a:spcPct val="91500"/>
              </a:lnSpc>
              <a:spcBef>
                <a:spcPts val="350"/>
              </a:spcBef>
            </a:pPr>
            <a:r>
              <a:rPr sz="2500" spc="-10" dirty="0">
                <a:latin typeface="Calibri"/>
                <a:cs typeface="Calibri"/>
              </a:rPr>
              <a:t>Wired </a:t>
            </a:r>
            <a:r>
              <a:rPr sz="2500" spc="60" dirty="0">
                <a:latin typeface="Calibri"/>
                <a:cs typeface="Calibri"/>
              </a:rPr>
              <a:t>Personal </a:t>
            </a:r>
            <a:r>
              <a:rPr sz="2500" spc="-20" dirty="0">
                <a:latin typeface="Calibri"/>
                <a:cs typeface="Calibri"/>
              </a:rPr>
              <a:t>Area </a:t>
            </a:r>
            <a:r>
              <a:rPr sz="2500" spc="-10" dirty="0">
                <a:latin typeface="Calibri"/>
                <a:cs typeface="Calibri"/>
              </a:rPr>
              <a:t>Network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5810" y="4409059"/>
            <a:ext cx="2284095" cy="11042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514984" algn="just">
              <a:lnSpc>
                <a:spcPts val="2750"/>
              </a:lnSpc>
              <a:spcBef>
                <a:spcPts val="395"/>
              </a:spcBef>
            </a:pPr>
            <a:r>
              <a:rPr sz="2500" dirty="0">
                <a:latin typeface="Calibri"/>
                <a:cs typeface="Calibri"/>
              </a:rPr>
              <a:t>Wired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55" dirty="0">
                <a:latin typeface="Calibri"/>
                <a:cs typeface="Calibri"/>
              </a:rPr>
              <a:t>PAN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95" dirty="0">
                <a:latin typeface="Calibri"/>
                <a:cs typeface="Calibri"/>
              </a:rPr>
              <a:t>is </a:t>
            </a:r>
            <a:r>
              <a:rPr sz="2500" spc="50" dirty="0">
                <a:latin typeface="Calibri"/>
                <a:cs typeface="Calibri"/>
              </a:rPr>
              <a:t>created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70" dirty="0">
                <a:latin typeface="Calibri"/>
                <a:cs typeface="Calibri"/>
              </a:rPr>
              <a:t>using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110" dirty="0">
                <a:latin typeface="Calibri"/>
                <a:cs typeface="Calibri"/>
              </a:rPr>
              <a:t>Cables/USB.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3407" y="3819144"/>
            <a:ext cx="2053590" cy="2358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0" dirty="0"/>
              <a:t>Examples</a:t>
            </a:r>
            <a:r>
              <a:rPr spc="-185" dirty="0"/>
              <a:t> </a:t>
            </a:r>
            <a:r>
              <a:rPr spc="-90" dirty="0"/>
              <a:t>of</a:t>
            </a:r>
            <a:r>
              <a:rPr spc="-160" dirty="0"/>
              <a:t> </a:t>
            </a:r>
            <a:r>
              <a:rPr dirty="0"/>
              <a:t>Personal</a:t>
            </a:r>
            <a:r>
              <a:rPr spc="-175" dirty="0"/>
              <a:t> </a:t>
            </a:r>
            <a:r>
              <a:rPr spc="-60" dirty="0"/>
              <a:t>Area</a:t>
            </a:r>
            <a:r>
              <a:rPr spc="-17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994916"/>
            <a:ext cx="10520934" cy="5951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3503676"/>
            <a:ext cx="10520934" cy="5951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5012435"/>
            <a:ext cx="10520934" cy="5951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45896" y="1881480"/>
            <a:ext cx="10215880" cy="401701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400" spc="60" dirty="0">
                <a:latin typeface="Calibri"/>
                <a:cs typeface="Calibri"/>
              </a:rPr>
              <a:t>Body</a:t>
            </a:r>
            <a:r>
              <a:rPr sz="2400" dirty="0">
                <a:latin typeface="Calibri"/>
                <a:cs typeface="Calibri"/>
              </a:rPr>
              <a:t> Area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397510" indent="-171450">
              <a:lnSpc>
                <a:spcPct val="100000"/>
              </a:lnSpc>
              <a:spcBef>
                <a:spcPts val="1105"/>
              </a:spcBef>
              <a:buChar char="•"/>
              <a:tabLst>
                <a:tab pos="397510" algn="l"/>
              </a:tabLst>
            </a:pPr>
            <a:r>
              <a:rPr sz="1900" dirty="0">
                <a:latin typeface="Calibri"/>
                <a:cs typeface="Calibri"/>
              </a:rPr>
              <a:t>Body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Area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Network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is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network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60" dirty="0">
                <a:latin typeface="Calibri"/>
                <a:cs typeface="Calibri"/>
              </a:rPr>
              <a:t>moves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40" dirty="0">
                <a:latin typeface="Calibri"/>
                <a:cs typeface="Calibri"/>
              </a:rPr>
              <a:t>person.</a:t>
            </a:r>
            <a:endParaRPr sz="1900">
              <a:latin typeface="Calibri"/>
              <a:cs typeface="Calibri"/>
            </a:endParaRPr>
          </a:p>
          <a:p>
            <a:pPr marL="396875" marR="158750" indent="-171450">
              <a:lnSpc>
                <a:spcPts val="2090"/>
              </a:lnSpc>
              <a:spcBef>
                <a:spcPts val="490"/>
              </a:spcBef>
              <a:buChar char="•"/>
              <a:tabLst>
                <a:tab pos="398145" algn="l"/>
              </a:tabLst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example,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mobile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network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60" dirty="0">
                <a:latin typeface="Calibri"/>
                <a:cs typeface="Calibri"/>
              </a:rPr>
              <a:t>moves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0" dirty="0">
                <a:latin typeface="Calibri"/>
                <a:cs typeface="Calibri"/>
              </a:rPr>
              <a:t>person.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85" dirty="0">
                <a:latin typeface="Calibri"/>
                <a:cs typeface="Calibri"/>
              </a:rPr>
              <a:t>Suppose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0" dirty="0">
                <a:latin typeface="Calibri"/>
                <a:cs typeface="Calibri"/>
              </a:rPr>
              <a:t>person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75" dirty="0">
                <a:latin typeface="Calibri"/>
                <a:cs typeface="Calibri"/>
              </a:rPr>
              <a:t>establishes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network 	</a:t>
            </a:r>
            <a:r>
              <a:rPr sz="1900" spc="60" dirty="0">
                <a:latin typeface="Calibri"/>
                <a:cs typeface="Calibri"/>
              </a:rPr>
              <a:t>connection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55" dirty="0">
                <a:latin typeface="Calibri"/>
                <a:cs typeface="Calibri"/>
              </a:rPr>
              <a:t>and</a:t>
            </a:r>
            <a:r>
              <a:rPr sz="1900" dirty="0">
                <a:latin typeface="Calibri"/>
                <a:cs typeface="Calibri"/>
              </a:rPr>
              <a:t> then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60" dirty="0">
                <a:latin typeface="Calibri"/>
                <a:cs typeface="Calibri"/>
              </a:rPr>
              <a:t>creates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60" dirty="0">
                <a:latin typeface="Calibri"/>
                <a:cs typeface="Calibri"/>
              </a:rPr>
              <a:t>connection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another </a:t>
            </a:r>
            <a:r>
              <a:rPr sz="1900" spc="55" dirty="0">
                <a:latin typeface="Calibri"/>
                <a:cs typeface="Calibri"/>
              </a:rPr>
              <a:t>device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5" dirty="0">
                <a:latin typeface="Calibri"/>
                <a:cs typeface="Calibri"/>
              </a:rPr>
              <a:t>share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information.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400" dirty="0">
                <a:latin typeface="Calibri"/>
                <a:cs typeface="Calibri"/>
              </a:rPr>
              <a:t>Offline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397510" indent="-171450">
              <a:lnSpc>
                <a:spcPct val="100000"/>
              </a:lnSpc>
              <a:spcBef>
                <a:spcPts val="1100"/>
              </a:spcBef>
              <a:buChar char="•"/>
              <a:tabLst>
                <a:tab pos="397510" algn="l"/>
              </a:tabLst>
            </a:pPr>
            <a:r>
              <a:rPr sz="1900" dirty="0">
                <a:latin typeface="Calibri"/>
                <a:cs typeface="Calibri"/>
              </a:rPr>
              <a:t>An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offline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network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spc="100" dirty="0">
                <a:latin typeface="Calibri"/>
                <a:cs typeface="Calibri"/>
              </a:rPr>
              <a:t>can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created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55" dirty="0">
                <a:latin typeface="Calibri"/>
                <a:cs typeface="Calibri"/>
              </a:rPr>
              <a:t>inside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home,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110" dirty="0">
                <a:latin typeface="Calibri"/>
                <a:cs typeface="Calibri"/>
              </a:rPr>
              <a:t>so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is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also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known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130" dirty="0">
                <a:latin typeface="Calibri"/>
                <a:cs typeface="Calibri"/>
              </a:rPr>
              <a:t>as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b="1" i="1" spc="105" dirty="0">
                <a:latin typeface="Calibri"/>
                <a:cs typeface="Calibri"/>
              </a:rPr>
              <a:t>home</a:t>
            </a:r>
            <a:r>
              <a:rPr sz="1900" b="1" i="1" spc="30" dirty="0">
                <a:latin typeface="Calibri"/>
                <a:cs typeface="Calibri"/>
              </a:rPr>
              <a:t> </a:t>
            </a:r>
            <a:r>
              <a:rPr sz="1900" b="1" i="1" spc="45" dirty="0">
                <a:latin typeface="Calibri"/>
                <a:cs typeface="Calibri"/>
              </a:rPr>
              <a:t>network</a:t>
            </a:r>
            <a:r>
              <a:rPr sz="1900" spc="4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396875" marR="111125" indent="-171450">
              <a:lnSpc>
                <a:spcPts val="2090"/>
              </a:lnSpc>
              <a:spcBef>
                <a:spcPts val="495"/>
              </a:spcBef>
              <a:buChar char="•"/>
              <a:tabLst>
                <a:tab pos="398145" algn="l"/>
              </a:tabLst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5" dirty="0">
                <a:latin typeface="Calibri"/>
                <a:cs typeface="Calibri"/>
              </a:rPr>
              <a:t>home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network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is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55" dirty="0">
                <a:latin typeface="Calibri"/>
                <a:cs typeface="Calibri"/>
              </a:rPr>
              <a:t>designed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integrate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70" dirty="0">
                <a:latin typeface="Calibri"/>
                <a:cs typeface="Calibri"/>
              </a:rPr>
              <a:t>devices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110" dirty="0">
                <a:latin typeface="Calibri"/>
                <a:cs typeface="Calibri"/>
              </a:rPr>
              <a:t>such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130" dirty="0">
                <a:latin typeface="Calibri"/>
                <a:cs typeface="Calibri"/>
              </a:rPr>
              <a:t>as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printers,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computer,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television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but 	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65" dirty="0">
                <a:latin typeface="Calibri"/>
                <a:cs typeface="Calibri"/>
              </a:rPr>
              <a:t>connected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internet.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400" spc="120" dirty="0">
                <a:latin typeface="Calibri"/>
                <a:cs typeface="Calibri"/>
              </a:rPr>
              <a:t>Small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Home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Office</a:t>
            </a:r>
            <a:endParaRPr sz="2400">
              <a:latin typeface="Calibri"/>
              <a:cs typeface="Calibri"/>
            </a:endParaRPr>
          </a:p>
          <a:p>
            <a:pPr marL="397510" indent="-171450">
              <a:lnSpc>
                <a:spcPct val="100000"/>
              </a:lnSpc>
              <a:spcBef>
                <a:spcPts val="1105"/>
              </a:spcBef>
              <a:buChar char="•"/>
              <a:tabLst>
                <a:tab pos="397510" algn="l"/>
              </a:tabLst>
            </a:pPr>
            <a:r>
              <a:rPr sz="1900" dirty="0">
                <a:latin typeface="Calibri"/>
                <a:cs typeface="Calibri"/>
              </a:rPr>
              <a:t>It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80" dirty="0">
                <a:latin typeface="Calibri"/>
                <a:cs typeface="Calibri"/>
              </a:rPr>
              <a:t>used</a:t>
            </a:r>
            <a:r>
              <a:rPr sz="1900" dirty="0">
                <a:latin typeface="Calibri"/>
                <a:cs typeface="Calibri"/>
              </a:rPr>
              <a:t> to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70" dirty="0">
                <a:latin typeface="Calibri"/>
                <a:cs typeface="Calibri"/>
              </a:rPr>
              <a:t>connect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variety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70" dirty="0">
                <a:latin typeface="Calibri"/>
                <a:cs typeface="Calibri"/>
              </a:rPr>
              <a:t>devices</a:t>
            </a:r>
            <a:r>
              <a:rPr sz="1900" dirty="0">
                <a:latin typeface="Calibri"/>
                <a:cs typeface="Calibri"/>
              </a:rPr>
              <a:t> to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internet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55" dirty="0">
                <a:latin typeface="Calibri"/>
                <a:cs typeface="Calibri"/>
              </a:rPr>
              <a:t>and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corporate network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0" dirty="0">
                <a:latin typeface="Calibri"/>
                <a:cs typeface="Calibri"/>
              </a:rPr>
              <a:t>using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90" dirty="0">
                <a:latin typeface="Calibri"/>
                <a:cs typeface="Calibri"/>
              </a:rPr>
              <a:t>a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55" dirty="0">
                <a:latin typeface="Calibri"/>
                <a:cs typeface="Calibri"/>
              </a:rPr>
              <a:t>VPN.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MAN</a:t>
            </a:r>
            <a:r>
              <a:rPr spc="-150" dirty="0"/>
              <a:t> </a:t>
            </a:r>
            <a:r>
              <a:rPr spc="-110" dirty="0"/>
              <a:t>(Metropolitan</a:t>
            </a:r>
            <a:r>
              <a:rPr spc="-160" dirty="0"/>
              <a:t> </a:t>
            </a:r>
            <a:r>
              <a:rPr spc="-60" dirty="0"/>
              <a:t>Area</a:t>
            </a:r>
            <a:r>
              <a:rPr spc="-150" dirty="0"/>
              <a:t> </a:t>
            </a:r>
            <a:r>
              <a:rPr spc="-10" dirty="0"/>
              <a:t>Network)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358120" cy="40322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6985" indent="-227965" algn="just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metropolitan</a:t>
            </a:r>
            <a:r>
              <a:rPr sz="2800" spc="65" dirty="0">
                <a:latin typeface="Calibri"/>
                <a:cs typeface="Calibri"/>
              </a:rPr>
              <a:t>  area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spc="90" dirty="0">
                <a:latin typeface="Calibri"/>
                <a:cs typeface="Calibri"/>
              </a:rPr>
              <a:t>covers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larger 	</a:t>
            </a:r>
            <a:r>
              <a:rPr sz="2800" spc="65" dirty="0">
                <a:latin typeface="Calibri"/>
                <a:cs typeface="Calibri"/>
              </a:rPr>
              <a:t>geographic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area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interconnecting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different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130" dirty="0">
                <a:latin typeface="Calibri"/>
                <a:cs typeface="Calibri"/>
              </a:rPr>
              <a:t>LAN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larger 	network.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55" dirty="0">
                <a:latin typeface="Calibri"/>
                <a:cs typeface="Calibri"/>
              </a:rPr>
              <a:t>Government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spc="120" dirty="0">
                <a:latin typeface="Calibri"/>
                <a:cs typeface="Calibri"/>
              </a:rPr>
              <a:t>agencies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125" dirty="0">
                <a:latin typeface="Calibri"/>
                <a:cs typeface="Calibri"/>
              </a:rPr>
              <a:t>use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spc="105" dirty="0">
                <a:latin typeface="Calibri"/>
                <a:cs typeface="Calibri"/>
              </a:rPr>
              <a:t>connect</a:t>
            </a:r>
            <a:r>
              <a:rPr sz="2800" spc="5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spc="90" dirty="0">
                <a:latin typeface="Calibri"/>
                <a:cs typeface="Calibri"/>
              </a:rPr>
              <a:t>citizens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private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industries.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MAN,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spc="70" dirty="0">
                <a:latin typeface="Calibri"/>
                <a:cs typeface="Calibri"/>
              </a:rPr>
              <a:t>various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spc="165" dirty="0">
                <a:latin typeface="Calibri"/>
                <a:cs typeface="Calibri"/>
              </a:rPr>
              <a:t>LANs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spc="100" dirty="0">
                <a:latin typeface="Calibri"/>
                <a:cs typeface="Calibri"/>
              </a:rPr>
              <a:t>connected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spc="140" dirty="0">
                <a:latin typeface="Calibri"/>
                <a:cs typeface="Calibri"/>
              </a:rPr>
              <a:t>each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spc="95" dirty="0">
                <a:latin typeface="Calibri"/>
                <a:cs typeface="Calibri"/>
              </a:rPr>
              <a:t>a 	</a:t>
            </a:r>
            <a:r>
              <a:rPr sz="2800" spc="55" dirty="0">
                <a:latin typeface="Calibri"/>
                <a:cs typeface="Calibri"/>
              </a:rPr>
              <a:t>telephone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exchange</a:t>
            </a:r>
            <a:r>
              <a:rPr sz="2800" spc="-10" dirty="0">
                <a:latin typeface="Calibri"/>
                <a:cs typeface="Calibri"/>
              </a:rPr>
              <a:t> line.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80000"/>
              </a:lnSpc>
              <a:spcBef>
                <a:spcPts val="10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most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widely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120" dirty="0">
                <a:latin typeface="Calibri"/>
                <a:cs typeface="Calibri"/>
              </a:rPr>
              <a:t>used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protocols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175" dirty="0">
                <a:latin typeface="Calibri"/>
                <a:cs typeface="Calibri"/>
              </a:rPr>
              <a:t>RS-</a:t>
            </a:r>
            <a:r>
              <a:rPr sz="2800" spc="65" dirty="0">
                <a:latin typeface="Calibri"/>
                <a:cs typeface="Calibri"/>
              </a:rPr>
              <a:t>232,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Frame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Relay, 	</a:t>
            </a:r>
            <a:r>
              <a:rPr sz="2800" spc="-50" dirty="0">
                <a:latin typeface="Calibri"/>
                <a:cs typeface="Calibri"/>
              </a:rPr>
              <a:t>ATM,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ISDN,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240" dirty="0">
                <a:latin typeface="Calibri"/>
                <a:cs typeface="Calibri"/>
              </a:rPr>
              <a:t>OC-</a:t>
            </a:r>
            <a:r>
              <a:rPr sz="2800" spc="70" dirty="0">
                <a:latin typeface="Calibri"/>
                <a:cs typeface="Calibri"/>
              </a:rPr>
              <a:t>3,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155" dirty="0">
                <a:latin typeface="Calibri"/>
                <a:cs typeface="Calibri"/>
              </a:rPr>
              <a:t>ADSL,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155" dirty="0">
                <a:latin typeface="Calibri"/>
                <a:cs typeface="Calibri"/>
              </a:rPr>
              <a:t>has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higher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range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150" dirty="0">
                <a:latin typeface="Calibri"/>
                <a:cs typeface="Calibri"/>
              </a:rPr>
              <a:t>Local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Area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(LAN).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MAN</a:t>
            </a:r>
            <a:r>
              <a:rPr spc="-150" dirty="0"/>
              <a:t> </a:t>
            </a:r>
            <a:r>
              <a:rPr spc="-110" dirty="0"/>
              <a:t>(Metropolitan</a:t>
            </a:r>
            <a:r>
              <a:rPr spc="-160" dirty="0"/>
              <a:t> </a:t>
            </a:r>
            <a:r>
              <a:rPr spc="-60" dirty="0"/>
              <a:t>Area</a:t>
            </a:r>
            <a:r>
              <a:rPr spc="-150" dirty="0"/>
              <a:t> </a:t>
            </a:r>
            <a:r>
              <a:rPr spc="-10" dirty="0"/>
              <a:t>Network)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5098" y="1697980"/>
            <a:ext cx="7665110" cy="47907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Uses</a:t>
            </a:r>
            <a:r>
              <a:rPr spc="-135" dirty="0"/>
              <a:t> </a:t>
            </a:r>
            <a:r>
              <a:rPr spc="-90" dirty="0"/>
              <a:t>of</a:t>
            </a:r>
            <a:r>
              <a:rPr spc="-140" dirty="0"/>
              <a:t> </a:t>
            </a:r>
            <a:r>
              <a:rPr spc="-114" dirty="0"/>
              <a:t>Metropolitan</a:t>
            </a:r>
            <a:r>
              <a:rPr spc="-130" dirty="0"/>
              <a:t> </a:t>
            </a:r>
            <a:r>
              <a:rPr spc="-60" dirty="0"/>
              <a:t>Area</a:t>
            </a:r>
            <a:r>
              <a:rPr spc="-135" dirty="0"/>
              <a:t> </a:t>
            </a:r>
            <a:r>
              <a:rPr spc="-10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3627" y="1821179"/>
            <a:ext cx="2181860" cy="4358005"/>
            <a:chOff x="833627" y="1821179"/>
            <a:chExt cx="2181860" cy="4358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627" y="1821179"/>
              <a:ext cx="2181606" cy="43578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5127" y="2746247"/>
              <a:ext cx="1610106" cy="32148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6627" y="3671315"/>
              <a:ext cx="1038606" cy="20718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8127" y="4596383"/>
              <a:ext cx="467118" cy="928877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007486" y="1819211"/>
          <a:ext cx="8428990" cy="434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40090"/>
              </a:tblGrid>
              <a:tr h="924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500" dirty="0">
                          <a:latin typeface="Calibri"/>
                          <a:cs typeface="Calibri"/>
                        </a:rPr>
                        <a:t>MAN</a:t>
                      </a:r>
                      <a:r>
                        <a:rPr sz="25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2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05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5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75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25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500" spc="100" dirty="0">
                          <a:latin typeface="Calibri"/>
                          <a:cs typeface="Calibri"/>
                        </a:rPr>
                        <a:t>banks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 in </a:t>
                      </a:r>
                      <a:r>
                        <a:rPr sz="2500" spc="1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 city.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231775" marB="0">
                    <a:lnL w="12700">
                      <a:solidFill>
                        <a:srgbClr val="E97031"/>
                      </a:solidFill>
                      <a:prstDash val="solid"/>
                    </a:lnL>
                    <a:lnR w="12700">
                      <a:solidFill>
                        <a:srgbClr val="E97031"/>
                      </a:solidFill>
                      <a:prstDash val="solid"/>
                    </a:lnR>
                    <a:lnT w="12700">
                      <a:solidFill>
                        <a:srgbClr val="E97031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</a:tr>
              <a:tr h="924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5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3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6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05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85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Airline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45" dirty="0">
                          <a:latin typeface="Calibri"/>
                          <a:cs typeface="Calibri"/>
                        </a:rPr>
                        <a:t>Reservation.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231775" marB="0">
                    <a:lnL w="12700">
                      <a:solidFill>
                        <a:srgbClr val="186B23"/>
                      </a:solidFill>
                      <a:prstDash val="solid"/>
                    </a:lnL>
                    <a:lnR w="12700">
                      <a:solidFill>
                        <a:srgbClr val="186B23"/>
                      </a:solidFill>
                      <a:prstDash val="solid"/>
                    </a:lnR>
                    <a:lnT w="12700">
                      <a:solidFill>
                        <a:srgbClr val="186B23"/>
                      </a:solidFill>
                      <a:prstDash val="solid"/>
                    </a:lnT>
                    <a:lnB w="12700">
                      <a:solidFill>
                        <a:srgbClr val="0E9ED4"/>
                      </a:solidFill>
                      <a:prstDash val="solid"/>
                    </a:lnB>
                  </a:tcPr>
                </a:tc>
              </a:tr>
              <a:tr h="924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5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3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7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05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75" dirty="0">
                          <a:latin typeface="Calibri"/>
                          <a:cs typeface="Calibri"/>
                        </a:rPr>
                        <a:t>college</a:t>
                      </a:r>
                      <a:r>
                        <a:rPr sz="2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within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city.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231775" marB="0">
                    <a:lnL w="12700">
                      <a:solidFill>
                        <a:srgbClr val="0E9ED4"/>
                      </a:solidFill>
                      <a:prstDash val="solid"/>
                    </a:lnL>
                    <a:lnR w="12700">
                      <a:solidFill>
                        <a:srgbClr val="0E9ED4"/>
                      </a:solidFill>
                      <a:prstDash val="solid"/>
                    </a:lnR>
                    <a:lnT w="12700">
                      <a:solidFill>
                        <a:srgbClr val="0E9ED4"/>
                      </a:solidFill>
                      <a:prstDash val="solid"/>
                    </a:lnT>
                    <a:lnB w="12700">
                      <a:solidFill>
                        <a:srgbClr val="9F2B92"/>
                      </a:solidFill>
                      <a:prstDash val="solid"/>
                    </a:lnB>
                  </a:tcPr>
                </a:tc>
              </a:tr>
              <a:tr h="924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5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3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2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2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6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05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8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military.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9F2B92"/>
                      </a:solidFill>
                      <a:prstDash val="solid"/>
                    </a:lnL>
                    <a:lnR w="12700">
                      <a:solidFill>
                        <a:srgbClr val="9F2B92"/>
                      </a:solidFill>
                      <a:prstDash val="solid"/>
                    </a:lnR>
                    <a:lnT w="12700">
                      <a:solidFill>
                        <a:srgbClr val="9F2B92"/>
                      </a:solidFill>
                      <a:prstDash val="solid"/>
                    </a:lnT>
                    <a:lnB w="12700">
                      <a:solidFill>
                        <a:srgbClr val="9F2B92"/>
                      </a:solidFill>
                      <a:prstDash val="soli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E9ED4"/>
                      </a:solidFill>
                      <a:prstDash val="solid"/>
                    </a:lnL>
                    <a:lnR w="12700">
                      <a:solidFill>
                        <a:srgbClr val="0E9ED4"/>
                      </a:solidFill>
                      <a:prstDash val="solid"/>
                    </a:lnR>
                    <a:lnT w="12700">
                      <a:solidFill>
                        <a:srgbClr val="9F2B92"/>
                      </a:solidFill>
                      <a:prstDash val="solid"/>
                    </a:lnT>
                    <a:lnB w="12700">
                      <a:solidFill>
                        <a:srgbClr val="0E9ED4"/>
                      </a:solidFill>
                      <a:prstDash val="soli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86B23"/>
                      </a:solidFill>
                      <a:prstDash val="solid"/>
                    </a:lnL>
                    <a:lnR w="12700">
                      <a:solidFill>
                        <a:srgbClr val="186B23"/>
                      </a:solidFill>
                      <a:prstDash val="solid"/>
                    </a:lnR>
                    <a:lnT w="12700">
                      <a:solidFill>
                        <a:srgbClr val="0E9ED4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97031"/>
                      </a:solidFill>
                      <a:prstDash val="solid"/>
                    </a:lnL>
                    <a:lnR w="12700">
                      <a:solidFill>
                        <a:srgbClr val="E97031"/>
                      </a:solidFill>
                      <a:prstDash val="solid"/>
                    </a:lnR>
                    <a:lnT w="12700">
                      <a:solidFill>
                        <a:srgbClr val="186B23"/>
                      </a:solidFill>
                      <a:prstDash val="solid"/>
                    </a:lnT>
                    <a:lnB w="12700">
                      <a:solidFill>
                        <a:srgbClr val="E9703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WAN</a:t>
            </a:r>
            <a:r>
              <a:rPr spc="-160" dirty="0"/>
              <a:t> </a:t>
            </a:r>
            <a:r>
              <a:rPr spc="-35" dirty="0"/>
              <a:t>(Wide</a:t>
            </a:r>
            <a:r>
              <a:rPr spc="-165" dirty="0"/>
              <a:t> </a:t>
            </a:r>
            <a:r>
              <a:rPr spc="-55" dirty="0"/>
              <a:t>Area</a:t>
            </a:r>
            <a:r>
              <a:rPr spc="-165" dirty="0"/>
              <a:t> </a:t>
            </a:r>
            <a:r>
              <a:rPr spc="-25" dirty="0"/>
              <a:t>Network)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8755" cy="40322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8255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Wide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Area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spc="70" dirty="0">
                <a:latin typeface="Calibri"/>
                <a:cs typeface="Calibri"/>
              </a:rPr>
              <a:t>extends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large 	</a:t>
            </a:r>
            <a:r>
              <a:rPr sz="2800" spc="70" dirty="0">
                <a:latin typeface="Calibri"/>
                <a:cs typeface="Calibri"/>
              </a:rPr>
              <a:t>geographical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area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160" dirty="0">
                <a:latin typeface="Calibri"/>
                <a:cs typeface="Calibri"/>
              </a:rPr>
              <a:t>such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195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states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countries.</a:t>
            </a: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quite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bigger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LAN.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limited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single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location,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155" dirty="0">
                <a:latin typeface="Calibri"/>
                <a:cs typeface="Calibri"/>
              </a:rPr>
              <a:t>spans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large 	</a:t>
            </a:r>
            <a:r>
              <a:rPr sz="2800" spc="70" dirty="0">
                <a:latin typeface="Calibri"/>
                <a:cs typeface="Calibri"/>
              </a:rPr>
              <a:t>geographical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area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telephone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line,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fiber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optic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spc="130" dirty="0">
                <a:latin typeface="Calibri"/>
                <a:cs typeface="Calibri"/>
              </a:rPr>
              <a:t>cable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spc="65" dirty="0">
                <a:latin typeface="Calibri"/>
                <a:cs typeface="Calibri"/>
              </a:rPr>
              <a:t>satellite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links.</a:t>
            </a: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one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biggest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world.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widely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spc="125" dirty="0">
                <a:latin typeface="Calibri"/>
                <a:cs typeface="Calibri"/>
              </a:rPr>
              <a:t>used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field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Business,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government,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and 	</a:t>
            </a:r>
            <a:r>
              <a:rPr sz="2800" spc="65" dirty="0">
                <a:latin typeface="Calibri"/>
                <a:cs typeface="Calibri"/>
              </a:rPr>
              <a:t>education.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WAN</a:t>
            </a:r>
            <a:r>
              <a:rPr spc="-160" dirty="0"/>
              <a:t> </a:t>
            </a:r>
            <a:r>
              <a:rPr spc="-35" dirty="0"/>
              <a:t>(Wide</a:t>
            </a:r>
            <a:r>
              <a:rPr spc="-165" dirty="0"/>
              <a:t> </a:t>
            </a:r>
            <a:r>
              <a:rPr spc="-55" dirty="0"/>
              <a:t>Area</a:t>
            </a:r>
            <a:r>
              <a:rPr spc="-165" dirty="0"/>
              <a:t> </a:t>
            </a:r>
            <a:r>
              <a:rPr spc="-25" dirty="0"/>
              <a:t>Network)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8332" y="1450930"/>
            <a:ext cx="5826887" cy="52611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0" dirty="0"/>
              <a:t>Examples</a:t>
            </a:r>
            <a:r>
              <a:rPr spc="-185" dirty="0"/>
              <a:t> </a:t>
            </a:r>
            <a:r>
              <a:rPr spc="-90" dirty="0"/>
              <a:t>of</a:t>
            </a:r>
            <a:r>
              <a:rPr spc="-160" dirty="0"/>
              <a:t> </a:t>
            </a:r>
            <a:r>
              <a:rPr spc="-35" dirty="0"/>
              <a:t>Wide</a:t>
            </a:r>
            <a:r>
              <a:rPr spc="-165" dirty="0"/>
              <a:t> </a:t>
            </a:r>
            <a:r>
              <a:rPr spc="-55" dirty="0"/>
              <a:t>Area</a:t>
            </a:r>
            <a:r>
              <a:rPr spc="-170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152" y="1821179"/>
            <a:ext cx="3342894" cy="43578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1920" y="2470328"/>
            <a:ext cx="2867025" cy="156146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600" b="1" spc="55" dirty="0">
                <a:latin typeface="Calibri"/>
                <a:cs typeface="Calibri"/>
              </a:rPr>
              <a:t>Mobile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95" dirty="0">
                <a:latin typeface="Calibri"/>
                <a:cs typeface="Calibri"/>
              </a:rPr>
              <a:t>Broadband:</a:t>
            </a:r>
            <a:endParaRPr sz="2600">
              <a:latin typeface="Calibri"/>
              <a:cs typeface="Calibri"/>
            </a:endParaRPr>
          </a:p>
          <a:p>
            <a:pPr marL="240029" marR="94615" indent="-227329">
              <a:lnSpc>
                <a:spcPts val="2200"/>
              </a:lnSpc>
              <a:spcBef>
                <a:spcPts val="118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95" dirty="0">
                <a:latin typeface="Calibri"/>
                <a:cs typeface="Calibri"/>
              </a:rPr>
              <a:t>4G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1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widely 	</a:t>
            </a:r>
            <a:r>
              <a:rPr sz="2000" spc="85" dirty="0">
                <a:latin typeface="Calibri"/>
                <a:cs typeface="Calibri"/>
              </a:rPr>
              <a:t>used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105" dirty="0">
                <a:latin typeface="Calibri"/>
                <a:cs typeface="Calibri"/>
              </a:rPr>
              <a:t>across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95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or 	</a:t>
            </a:r>
            <a:r>
              <a:rPr sz="2000" spc="-10" dirty="0">
                <a:latin typeface="Calibri"/>
                <a:cs typeface="Calibri"/>
              </a:rPr>
              <a:t>country.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4171" y="1821179"/>
            <a:ext cx="3341370" cy="43578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80382" y="2470328"/>
            <a:ext cx="2780030" cy="239966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600" b="1" spc="175" dirty="0">
                <a:latin typeface="Calibri"/>
                <a:cs typeface="Calibri"/>
              </a:rPr>
              <a:t>Last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105" dirty="0">
                <a:latin typeface="Calibri"/>
                <a:cs typeface="Calibri"/>
              </a:rPr>
              <a:t>mile:</a:t>
            </a:r>
            <a:endParaRPr sz="2600">
              <a:latin typeface="Calibri"/>
              <a:cs typeface="Calibri"/>
            </a:endParaRPr>
          </a:p>
          <a:p>
            <a:pPr marL="240029" marR="5080" indent="-227329">
              <a:lnSpc>
                <a:spcPct val="91600"/>
              </a:lnSpc>
              <a:spcBef>
                <a:spcPts val="115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telecom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company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is 	</a:t>
            </a:r>
            <a:r>
              <a:rPr sz="2000" spc="85" dirty="0">
                <a:latin typeface="Calibri"/>
                <a:cs typeface="Calibri"/>
              </a:rPr>
              <a:t>used</a:t>
            </a:r>
            <a:r>
              <a:rPr sz="2000" dirty="0">
                <a:latin typeface="Calibri"/>
                <a:cs typeface="Calibri"/>
              </a:rPr>
              <a:t> to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internet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services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spc="75" dirty="0">
                <a:latin typeface="Calibri"/>
                <a:cs typeface="Calibri"/>
              </a:rPr>
              <a:t>customers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hundreds 	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cities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connecting 	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home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fiber.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1668" y="1821179"/>
            <a:ext cx="3342894" cy="435787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168385" y="2470328"/>
            <a:ext cx="2975610" cy="272415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600" b="1" spc="75" dirty="0">
                <a:latin typeface="Calibri"/>
                <a:cs typeface="Calibri"/>
              </a:rPr>
              <a:t>Private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spc="55" dirty="0">
                <a:latin typeface="Calibri"/>
                <a:cs typeface="Calibri"/>
              </a:rPr>
              <a:t>network:</a:t>
            </a:r>
            <a:endParaRPr sz="2600">
              <a:latin typeface="Calibri"/>
              <a:cs typeface="Calibri"/>
            </a:endParaRPr>
          </a:p>
          <a:p>
            <a:pPr marL="240029" marR="5080" indent="-227329">
              <a:lnSpc>
                <a:spcPts val="2200"/>
              </a:lnSpc>
              <a:spcBef>
                <a:spcPts val="118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bank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95" dirty="0">
                <a:latin typeface="Calibri"/>
                <a:cs typeface="Calibri"/>
              </a:rPr>
              <a:t>a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private 	</a:t>
            </a: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connects 	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44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offices.</a:t>
            </a:r>
            <a:endParaRPr sz="2000">
              <a:latin typeface="Calibri"/>
              <a:cs typeface="Calibri"/>
            </a:endParaRPr>
          </a:p>
          <a:p>
            <a:pPr marL="240029" marR="121920" indent="-227329">
              <a:lnSpc>
                <a:spcPts val="2200"/>
              </a:lnSpc>
              <a:spcBef>
                <a:spcPts val="365"/>
              </a:spcBef>
              <a:buChar char="•"/>
              <a:tabLst>
                <a:tab pos="241300" algn="l"/>
              </a:tabLst>
            </a:pPr>
            <a:r>
              <a:rPr sz="2000" spc="55" dirty="0">
                <a:latin typeface="Calibri"/>
                <a:cs typeface="Calibri"/>
              </a:rPr>
              <a:t>This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1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made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by 	</a:t>
            </a:r>
            <a:r>
              <a:rPr sz="2000" spc="60" dirty="0">
                <a:latin typeface="Calibri"/>
                <a:cs typeface="Calibri"/>
              </a:rPr>
              <a:t>using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telephone 	</a:t>
            </a:r>
            <a:r>
              <a:rPr sz="2000" spc="85" dirty="0">
                <a:latin typeface="Calibri"/>
                <a:cs typeface="Calibri"/>
              </a:rPr>
              <a:t>leased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provided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by 	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telecom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company.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Advantages</a:t>
            </a:r>
            <a:r>
              <a:rPr spc="-215" dirty="0"/>
              <a:t> </a:t>
            </a:r>
            <a:r>
              <a:rPr spc="-90" dirty="0"/>
              <a:t>of</a:t>
            </a:r>
            <a:r>
              <a:rPr spc="-160" dirty="0"/>
              <a:t> </a:t>
            </a:r>
            <a:r>
              <a:rPr spc="-35" dirty="0"/>
              <a:t>Wide</a:t>
            </a:r>
            <a:r>
              <a:rPr spc="-180" dirty="0"/>
              <a:t> </a:t>
            </a:r>
            <a:r>
              <a:rPr spc="-60" dirty="0"/>
              <a:t>Area</a:t>
            </a:r>
            <a:r>
              <a:rPr spc="-18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5652" y="2059051"/>
            <a:ext cx="1579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20" dirty="0">
                <a:latin typeface="Calibri"/>
                <a:cs typeface="Calibri"/>
              </a:rPr>
              <a:t>Geographical</a:t>
            </a:r>
            <a:r>
              <a:rPr sz="1500" spc="2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area: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9640" y="1829561"/>
            <a:ext cx="525780" cy="4344035"/>
          </a:xfrm>
          <a:custGeom>
            <a:avLst/>
            <a:gdLst/>
            <a:ahLst/>
            <a:cxnLst/>
            <a:rect l="l" t="t" r="r" b="b"/>
            <a:pathLst>
              <a:path w="525779" h="4344035">
                <a:moveTo>
                  <a:pt x="525272" y="761111"/>
                </a:moveTo>
                <a:lnTo>
                  <a:pt x="472346" y="757376"/>
                </a:lnTo>
                <a:lnTo>
                  <a:pt x="423048" y="746664"/>
                </a:lnTo>
                <a:lnTo>
                  <a:pt x="378436" y="729714"/>
                </a:lnTo>
                <a:lnTo>
                  <a:pt x="339566" y="707263"/>
                </a:lnTo>
                <a:lnTo>
                  <a:pt x="307494" y="680049"/>
                </a:lnTo>
                <a:lnTo>
                  <a:pt x="283277" y="648811"/>
                </a:lnTo>
                <a:lnTo>
                  <a:pt x="262636" y="577214"/>
                </a:lnTo>
                <a:lnTo>
                  <a:pt x="262636" y="564388"/>
                </a:lnTo>
                <a:lnTo>
                  <a:pt x="257299" y="527357"/>
                </a:lnTo>
                <a:lnTo>
                  <a:pt x="217777" y="461649"/>
                </a:lnTo>
                <a:lnTo>
                  <a:pt x="185705" y="434451"/>
                </a:lnTo>
                <a:lnTo>
                  <a:pt x="146835" y="412009"/>
                </a:lnTo>
                <a:lnTo>
                  <a:pt x="102223" y="395063"/>
                </a:lnTo>
                <a:lnTo>
                  <a:pt x="52925" y="384353"/>
                </a:lnTo>
                <a:lnTo>
                  <a:pt x="0" y="380618"/>
                </a:lnTo>
                <a:lnTo>
                  <a:pt x="52925" y="376884"/>
                </a:lnTo>
                <a:lnTo>
                  <a:pt x="102223" y="366172"/>
                </a:lnTo>
                <a:lnTo>
                  <a:pt x="146835" y="349222"/>
                </a:lnTo>
                <a:lnTo>
                  <a:pt x="185705" y="326771"/>
                </a:lnTo>
                <a:lnTo>
                  <a:pt x="217777" y="299557"/>
                </a:lnTo>
                <a:lnTo>
                  <a:pt x="241994" y="268319"/>
                </a:lnTo>
                <a:lnTo>
                  <a:pt x="262636" y="196723"/>
                </a:lnTo>
                <a:lnTo>
                  <a:pt x="262636" y="183896"/>
                </a:lnTo>
                <a:lnTo>
                  <a:pt x="267972" y="146860"/>
                </a:lnTo>
                <a:lnTo>
                  <a:pt x="307494" y="81117"/>
                </a:lnTo>
                <a:lnTo>
                  <a:pt x="339566" y="53895"/>
                </a:lnTo>
                <a:lnTo>
                  <a:pt x="378436" y="31430"/>
                </a:lnTo>
                <a:lnTo>
                  <a:pt x="423048" y="14464"/>
                </a:lnTo>
                <a:lnTo>
                  <a:pt x="472346" y="3739"/>
                </a:lnTo>
                <a:lnTo>
                  <a:pt x="525272" y="0"/>
                </a:lnTo>
              </a:path>
              <a:path w="525779" h="4344035">
                <a:moveTo>
                  <a:pt x="525272" y="1353439"/>
                </a:moveTo>
                <a:lnTo>
                  <a:pt x="465056" y="1349880"/>
                </a:lnTo>
                <a:lnTo>
                  <a:pt x="409778" y="1339746"/>
                </a:lnTo>
                <a:lnTo>
                  <a:pt x="361013" y="1323847"/>
                </a:lnTo>
                <a:lnTo>
                  <a:pt x="320339" y="1302994"/>
                </a:lnTo>
                <a:lnTo>
                  <a:pt x="289333" y="1277998"/>
                </a:lnTo>
                <a:lnTo>
                  <a:pt x="262636" y="1218818"/>
                </a:lnTo>
                <a:lnTo>
                  <a:pt x="235938" y="1159665"/>
                </a:lnTo>
                <a:lnTo>
                  <a:pt x="204932" y="1134693"/>
                </a:lnTo>
                <a:lnTo>
                  <a:pt x="164258" y="1113867"/>
                </a:lnTo>
                <a:lnTo>
                  <a:pt x="115493" y="1097993"/>
                </a:lnTo>
                <a:lnTo>
                  <a:pt x="60215" y="1087877"/>
                </a:lnTo>
                <a:lnTo>
                  <a:pt x="0" y="1084326"/>
                </a:lnTo>
                <a:lnTo>
                  <a:pt x="60215" y="1080767"/>
                </a:lnTo>
                <a:lnTo>
                  <a:pt x="115493" y="1070633"/>
                </a:lnTo>
                <a:lnTo>
                  <a:pt x="164258" y="1054734"/>
                </a:lnTo>
                <a:lnTo>
                  <a:pt x="204932" y="1033881"/>
                </a:lnTo>
                <a:lnTo>
                  <a:pt x="235938" y="1008885"/>
                </a:lnTo>
                <a:lnTo>
                  <a:pt x="262636" y="949705"/>
                </a:lnTo>
                <a:lnTo>
                  <a:pt x="289333" y="890526"/>
                </a:lnTo>
                <a:lnTo>
                  <a:pt x="320339" y="865530"/>
                </a:lnTo>
                <a:lnTo>
                  <a:pt x="361013" y="844677"/>
                </a:lnTo>
                <a:lnTo>
                  <a:pt x="409778" y="828778"/>
                </a:lnTo>
                <a:lnTo>
                  <a:pt x="465056" y="818644"/>
                </a:lnTo>
                <a:lnTo>
                  <a:pt x="525272" y="815086"/>
                </a:lnTo>
              </a:path>
              <a:path w="525779" h="4344035">
                <a:moveTo>
                  <a:pt x="525272" y="1945767"/>
                </a:moveTo>
                <a:lnTo>
                  <a:pt x="465056" y="1942208"/>
                </a:lnTo>
                <a:lnTo>
                  <a:pt x="409778" y="1932074"/>
                </a:lnTo>
                <a:lnTo>
                  <a:pt x="361013" y="1916175"/>
                </a:lnTo>
                <a:lnTo>
                  <a:pt x="320339" y="1895322"/>
                </a:lnTo>
                <a:lnTo>
                  <a:pt x="289333" y="1870326"/>
                </a:lnTo>
                <a:lnTo>
                  <a:pt x="262636" y="1811146"/>
                </a:lnTo>
                <a:lnTo>
                  <a:pt x="235938" y="1751967"/>
                </a:lnTo>
                <a:lnTo>
                  <a:pt x="204932" y="1726971"/>
                </a:lnTo>
                <a:lnTo>
                  <a:pt x="164258" y="1706118"/>
                </a:lnTo>
                <a:lnTo>
                  <a:pt x="115493" y="1690219"/>
                </a:lnTo>
                <a:lnTo>
                  <a:pt x="60215" y="1680085"/>
                </a:lnTo>
                <a:lnTo>
                  <a:pt x="0" y="1676527"/>
                </a:lnTo>
                <a:lnTo>
                  <a:pt x="60215" y="1672975"/>
                </a:lnTo>
                <a:lnTo>
                  <a:pt x="115493" y="1662859"/>
                </a:lnTo>
                <a:lnTo>
                  <a:pt x="164258" y="1646985"/>
                </a:lnTo>
                <a:lnTo>
                  <a:pt x="204932" y="1626159"/>
                </a:lnTo>
                <a:lnTo>
                  <a:pt x="235938" y="1601187"/>
                </a:lnTo>
                <a:lnTo>
                  <a:pt x="262636" y="1542034"/>
                </a:lnTo>
                <a:lnTo>
                  <a:pt x="289333" y="1482854"/>
                </a:lnTo>
                <a:lnTo>
                  <a:pt x="320339" y="1457858"/>
                </a:lnTo>
                <a:lnTo>
                  <a:pt x="361013" y="1437005"/>
                </a:lnTo>
                <a:lnTo>
                  <a:pt x="409778" y="1421106"/>
                </a:lnTo>
                <a:lnTo>
                  <a:pt x="465056" y="1410972"/>
                </a:lnTo>
                <a:lnTo>
                  <a:pt x="525272" y="1407414"/>
                </a:lnTo>
              </a:path>
              <a:path w="525779" h="4344035">
                <a:moveTo>
                  <a:pt x="525272" y="2538095"/>
                </a:moveTo>
                <a:lnTo>
                  <a:pt x="465056" y="2534536"/>
                </a:lnTo>
                <a:lnTo>
                  <a:pt x="409778" y="2524402"/>
                </a:lnTo>
                <a:lnTo>
                  <a:pt x="361013" y="2508503"/>
                </a:lnTo>
                <a:lnTo>
                  <a:pt x="320339" y="2487650"/>
                </a:lnTo>
                <a:lnTo>
                  <a:pt x="289333" y="2462654"/>
                </a:lnTo>
                <a:lnTo>
                  <a:pt x="262636" y="2403475"/>
                </a:lnTo>
                <a:lnTo>
                  <a:pt x="235938" y="2344295"/>
                </a:lnTo>
                <a:lnTo>
                  <a:pt x="204932" y="2319299"/>
                </a:lnTo>
                <a:lnTo>
                  <a:pt x="164258" y="2298446"/>
                </a:lnTo>
                <a:lnTo>
                  <a:pt x="115493" y="2282547"/>
                </a:lnTo>
                <a:lnTo>
                  <a:pt x="60215" y="2272413"/>
                </a:lnTo>
                <a:lnTo>
                  <a:pt x="0" y="2268855"/>
                </a:lnTo>
                <a:lnTo>
                  <a:pt x="60215" y="2265303"/>
                </a:lnTo>
                <a:lnTo>
                  <a:pt x="115493" y="2255187"/>
                </a:lnTo>
                <a:lnTo>
                  <a:pt x="164258" y="2239313"/>
                </a:lnTo>
                <a:lnTo>
                  <a:pt x="204932" y="2218487"/>
                </a:lnTo>
                <a:lnTo>
                  <a:pt x="235938" y="2193515"/>
                </a:lnTo>
                <a:lnTo>
                  <a:pt x="262636" y="2134362"/>
                </a:lnTo>
                <a:lnTo>
                  <a:pt x="289333" y="2075127"/>
                </a:lnTo>
                <a:lnTo>
                  <a:pt x="320339" y="2050133"/>
                </a:lnTo>
                <a:lnTo>
                  <a:pt x="361013" y="2029293"/>
                </a:lnTo>
                <a:lnTo>
                  <a:pt x="409778" y="2013412"/>
                </a:lnTo>
                <a:lnTo>
                  <a:pt x="465056" y="2003293"/>
                </a:lnTo>
                <a:lnTo>
                  <a:pt x="525272" y="1999742"/>
                </a:lnTo>
              </a:path>
              <a:path w="525779" h="4344035">
                <a:moveTo>
                  <a:pt x="525272" y="3140202"/>
                </a:moveTo>
                <a:lnTo>
                  <a:pt x="465056" y="3136583"/>
                </a:lnTo>
                <a:lnTo>
                  <a:pt x="409778" y="3126275"/>
                </a:lnTo>
                <a:lnTo>
                  <a:pt x="361013" y="3110100"/>
                </a:lnTo>
                <a:lnTo>
                  <a:pt x="320339" y="3088880"/>
                </a:lnTo>
                <a:lnTo>
                  <a:pt x="289333" y="3063437"/>
                </a:lnTo>
                <a:lnTo>
                  <a:pt x="262636" y="3003169"/>
                </a:lnTo>
                <a:lnTo>
                  <a:pt x="235938" y="2942900"/>
                </a:lnTo>
                <a:lnTo>
                  <a:pt x="204932" y="2917457"/>
                </a:lnTo>
                <a:lnTo>
                  <a:pt x="164258" y="2896237"/>
                </a:lnTo>
                <a:lnTo>
                  <a:pt x="115493" y="2880062"/>
                </a:lnTo>
                <a:lnTo>
                  <a:pt x="60215" y="2869754"/>
                </a:lnTo>
                <a:lnTo>
                  <a:pt x="0" y="2866136"/>
                </a:lnTo>
                <a:lnTo>
                  <a:pt x="60215" y="2862517"/>
                </a:lnTo>
                <a:lnTo>
                  <a:pt x="115493" y="2852209"/>
                </a:lnTo>
                <a:lnTo>
                  <a:pt x="164258" y="2836034"/>
                </a:lnTo>
                <a:lnTo>
                  <a:pt x="204932" y="2814814"/>
                </a:lnTo>
                <a:lnTo>
                  <a:pt x="235938" y="2789371"/>
                </a:lnTo>
                <a:lnTo>
                  <a:pt x="262636" y="2729103"/>
                </a:lnTo>
                <a:lnTo>
                  <a:pt x="289333" y="2668834"/>
                </a:lnTo>
                <a:lnTo>
                  <a:pt x="320339" y="2643391"/>
                </a:lnTo>
                <a:lnTo>
                  <a:pt x="361013" y="2622171"/>
                </a:lnTo>
                <a:lnTo>
                  <a:pt x="409778" y="2605996"/>
                </a:lnTo>
                <a:lnTo>
                  <a:pt x="465056" y="2595688"/>
                </a:lnTo>
                <a:lnTo>
                  <a:pt x="525272" y="2592070"/>
                </a:lnTo>
              </a:path>
              <a:path w="525779" h="4344035">
                <a:moveTo>
                  <a:pt x="525272" y="3528314"/>
                </a:moveTo>
                <a:lnTo>
                  <a:pt x="455458" y="3525334"/>
                </a:lnTo>
                <a:lnTo>
                  <a:pt x="392721" y="3516926"/>
                </a:lnTo>
                <a:lnTo>
                  <a:pt x="339566" y="3503882"/>
                </a:lnTo>
                <a:lnTo>
                  <a:pt x="298497" y="3486996"/>
                </a:lnTo>
                <a:lnTo>
                  <a:pt x="262636" y="3444875"/>
                </a:lnTo>
                <a:lnTo>
                  <a:pt x="226774" y="3402663"/>
                </a:lnTo>
                <a:lnTo>
                  <a:pt x="185705" y="3385756"/>
                </a:lnTo>
                <a:lnTo>
                  <a:pt x="132550" y="3372701"/>
                </a:lnTo>
                <a:lnTo>
                  <a:pt x="69813" y="3364288"/>
                </a:lnTo>
                <a:lnTo>
                  <a:pt x="0" y="3361308"/>
                </a:lnTo>
                <a:lnTo>
                  <a:pt x="69813" y="3358320"/>
                </a:lnTo>
                <a:lnTo>
                  <a:pt x="132550" y="3349888"/>
                </a:lnTo>
                <a:lnTo>
                  <a:pt x="185705" y="3336813"/>
                </a:lnTo>
                <a:lnTo>
                  <a:pt x="226774" y="3319897"/>
                </a:lnTo>
                <a:lnTo>
                  <a:pt x="262636" y="3277743"/>
                </a:lnTo>
                <a:lnTo>
                  <a:pt x="298497" y="3235588"/>
                </a:lnTo>
                <a:lnTo>
                  <a:pt x="339566" y="3218672"/>
                </a:lnTo>
                <a:lnTo>
                  <a:pt x="392721" y="3205597"/>
                </a:lnTo>
                <a:lnTo>
                  <a:pt x="455458" y="3197165"/>
                </a:lnTo>
                <a:lnTo>
                  <a:pt x="525272" y="3194177"/>
                </a:lnTo>
              </a:path>
              <a:path w="525779" h="4344035">
                <a:moveTo>
                  <a:pt x="525272" y="4343412"/>
                </a:moveTo>
                <a:lnTo>
                  <a:pt x="472346" y="4339677"/>
                </a:lnTo>
                <a:lnTo>
                  <a:pt x="423048" y="4328965"/>
                </a:lnTo>
                <a:lnTo>
                  <a:pt x="378436" y="4312015"/>
                </a:lnTo>
                <a:lnTo>
                  <a:pt x="339566" y="4289566"/>
                </a:lnTo>
                <a:lnTo>
                  <a:pt x="307494" y="4262357"/>
                </a:lnTo>
                <a:lnTo>
                  <a:pt x="283277" y="4231129"/>
                </a:lnTo>
                <a:lnTo>
                  <a:pt x="262636" y="4159567"/>
                </a:lnTo>
                <a:lnTo>
                  <a:pt x="262636" y="4146727"/>
                </a:lnTo>
                <a:lnTo>
                  <a:pt x="257299" y="4109676"/>
                </a:lnTo>
                <a:lnTo>
                  <a:pt x="217777" y="4043937"/>
                </a:lnTo>
                <a:lnTo>
                  <a:pt x="185705" y="4016729"/>
                </a:lnTo>
                <a:lnTo>
                  <a:pt x="146835" y="3994280"/>
                </a:lnTo>
                <a:lnTo>
                  <a:pt x="102223" y="3977329"/>
                </a:lnTo>
                <a:lnTo>
                  <a:pt x="52925" y="3966617"/>
                </a:lnTo>
                <a:lnTo>
                  <a:pt x="0" y="3962882"/>
                </a:lnTo>
                <a:lnTo>
                  <a:pt x="52925" y="3959147"/>
                </a:lnTo>
                <a:lnTo>
                  <a:pt x="102223" y="3948435"/>
                </a:lnTo>
                <a:lnTo>
                  <a:pt x="146835" y="3931485"/>
                </a:lnTo>
                <a:lnTo>
                  <a:pt x="185705" y="3909036"/>
                </a:lnTo>
                <a:lnTo>
                  <a:pt x="217777" y="3881827"/>
                </a:lnTo>
                <a:lnTo>
                  <a:pt x="241994" y="3850598"/>
                </a:lnTo>
                <a:lnTo>
                  <a:pt x="262636" y="3779037"/>
                </a:lnTo>
                <a:lnTo>
                  <a:pt x="262636" y="3766197"/>
                </a:lnTo>
                <a:lnTo>
                  <a:pt x="267972" y="3729157"/>
                </a:lnTo>
                <a:lnTo>
                  <a:pt x="307494" y="3663409"/>
                </a:lnTo>
                <a:lnTo>
                  <a:pt x="339566" y="3636186"/>
                </a:lnTo>
                <a:lnTo>
                  <a:pt x="378436" y="3613719"/>
                </a:lnTo>
                <a:lnTo>
                  <a:pt x="423048" y="3596753"/>
                </a:lnTo>
                <a:lnTo>
                  <a:pt x="472346" y="3586028"/>
                </a:lnTo>
                <a:lnTo>
                  <a:pt x="525272" y="3582289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667" y="1825739"/>
            <a:ext cx="7148322" cy="7658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49928" y="1849628"/>
            <a:ext cx="67710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Char char="•"/>
              <a:tabLst>
                <a:tab pos="126364" algn="l"/>
              </a:tabLst>
            </a:pPr>
            <a:r>
              <a:rPr sz="1500" spc="20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Wide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Area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Network provides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75" dirty="0">
                <a:latin typeface="Calibri"/>
                <a:cs typeface="Calibri"/>
              </a:rPr>
              <a:t>a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large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geographical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area.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70" dirty="0">
                <a:latin typeface="Calibri"/>
                <a:cs typeface="Calibri"/>
              </a:rPr>
              <a:t>Suppose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if </a:t>
            </a:r>
            <a:r>
              <a:rPr sz="1500" spc="20" dirty="0">
                <a:latin typeface="Calibri"/>
                <a:cs typeface="Calibri"/>
              </a:rPr>
              <a:t>the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branch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35" dirty="0">
                <a:latin typeface="Calibri"/>
                <a:cs typeface="Calibri"/>
              </a:rPr>
              <a:t>of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8052" y="2762758"/>
            <a:ext cx="14268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20" dirty="0">
                <a:latin typeface="Calibri"/>
                <a:cs typeface="Calibri"/>
              </a:rPr>
              <a:t>Centralized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data: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1667" y="2641079"/>
            <a:ext cx="7148322" cy="5433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85569" y="3355340"/>
            <a:ext cx="14884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Get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updated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files: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1667" y="3233915"/>
            <a:ext cx="7148322" cy="5433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31060" y="3947921"/>
            <a:ext cx="1743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latin typeface="Calibri"/>
                <a:cs typeface="Calibri"/>
              </a:rPr>
              <a:t>Exchange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65" dirty="0">
                <a:latin typeface="Calibri"/>
                <a:cs typeface="Calibri"/>
              </a:rPr>
              <a:t>messages: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1667" y="3825227"/>
            <a:ext cx="7148322" cy="5433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20494" y="4440428"/>
            <a:ext cx="1958339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72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Sharing</a:t>
            </a:r>
            <a:r>
              <a:rPr sz="1500" spc="1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software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spc="25" dirty="0">
                <a:latin typeface="Calibri"/>
                <a:cs typeface="Calibri"/>
              </a:rPr>
              <a:t>and</a:t>
            </a:r>
            <a:endParaRPr sz="1500">
              <a:latin typeface="Calibri"/>
              <a:cs typeface="Calibri"/>
            </a:endParaRPr>
          </a:p>
          <a:p>
            <a:pPr marR="8890" algn="r">
              <a:lnSpc>
                <a:spcPts val="1720"/>
              </a:lnSpc>
            </a:pPr>
            <a:r>
              <a:rPr sz="1500" spc="35" dirty="0">
                <a:latin typeface="Calibri"/>
                <a:cs typeface="Calibri"/>
              </a:rPr>
              <a:t>resources:</a:t>
            </a:r>
            <a:endParaRPr sz="1500">
              <a:latin typeface="Calibri"/>
              <a:cs typeface="Calibri"/>
            </a:endParaRPr>
          </a:p>
          <a:p>
            <a:pPr marL="558165">
              <a:lnSpc>
                <a:spcPct val="100000"/>
              </a:lnSpc>
              <a:spcBef>
                <a:spcPts val="1280"/>
              </a:spcBef>
            </a:pPr>
            <a:r>
              <a:rPr sz="1500" spc="50" dirty="0">
                <a:latin typeface="Calibri"/>
                <a:cs typeface="Calibri"/>
              </a:rPr>
              <a:t>Global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60" dirty="0">
                <a:latin typeface="Calibri"/>
                <a:cs typeface="Calibri"/>
              </a:rPr>
              <a:t>business: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1667" y="4418076"/>
            <a:ext cx="7148322" cy="5539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01667" y="5020043"/>
            <a:ext cx="7148322" cy="33910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004441" y="5641949"/>
            <a:ext cx="13703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High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bandwidth: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01667" y="5408676"/>
            <a:ext cx="7148322" cy="76581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49928" y="2058111"/>
            <a:ext cx="6881495" cy="4048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ts val="173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our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office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75" dirty="0">
                <a:latin typeface="Calibri"/>
                <a:cs typeface="Calibri"/>
              </a:rPr>
              <a:t>is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85" dirty="0">
                <a:latin typeface="Calibri"/>
                <a:cs typeface="Calibri"/>
              </a:rPr>
              <a:t>a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different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city,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then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80" dirty="0">
                <a:latin typeface="Calibri"/>
                <a:cs typeface="Calibri"/>
              </a:rPr>
              <a:t>can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60" dirty="0">
                <a:latin typeface="Calibri"/>
                <a:cs typeface="Calibri"/>
              </a:rPr>
              <a:t>connect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them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through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WAN.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</a:t>
            </a:r>
            <a:endParaRPr sz="1500">
              <a:latin typeface="Calibri"/>
              <a:cs typeface="Calibri"/>
            </a:endParaRPr>
          </a:p>
          <a:p>
            <a:pPr marL="127000">
              <a:lnSpc>
                <a:spcPts val="1730"/>
              </a:lnSpc>
            </a:pPr>
            <a:r>
              <a:rPr sz="1500" dirty="0">
                <a:latin typeface="Calibri"/>
                <a:cs typeface="Calibri"/>
              </a:rPr>
              <a:t>internet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provides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75" dirty="0">
                <a:latin typeface="Calibri"/>
                <a:cs typeface="Calibri"/>
              </a:rPr>
              <a:t>a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60" dirty="0">
                <a:latin typeface="Calibri"/>
                <a:cs typeface="Calibri"/>
              </a:rPr>
              <a:t>leased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line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through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spc="80" dirty="0">
                <a:latin typeface="Calibri"/>
                <a:cs typeface="Calibri"/>
              </a:rPr>
              <a:t>can</a:t>
            </a:r>
            <a:r>
              <a:rPr sz="1500" spc="60" dirty="0">
                <a:latin typeface="Calibri"/>
                <a:cs typeface="Calibri"/>
              </a:rPr>
              <a:t> connect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another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branch.</a:t>
            </a:r>
            <a:endParaRPr sz="1500">
              <a:latin typeface="Calibri"/>
              <a:cs typeface="Calibri"/>
            </a:endParaRPr>
          </a:p>
          <a:p>
            <a:pPr marL="127000" marR="150495" indent="-114300">
              <a:lnSpc>
                <a:spcPts val="1639"/>
              </a:lnSpc>
              <a:spcBef>
                <a:spcPts val="145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In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95" dirty="0">
                <a:latin typeface="Calibri"/>
                <a:cs typeface="Calibri"/>
              </a:rPr>
              <a:t>case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WAN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network,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70" dirty="0">
                <a:latin typeface="Calibri"/>
                <a:cs typeface="Calibri"/>
              </a:rPr>
              <a:t>is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centralized.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Therefore,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not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buy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spc="55" dirty="0">
                <a:latin typeface="Calibri"/>
                <a:cs typeface="Calibri"/>
              </a:rPr>
              <a:t>emails,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files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75" dirty="0">
                <a:latin typeface="Calibri"/>
                <a:cs typeface="Calibri"/>
              </a:rPr>
              <a:t>back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up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servers.</a:t>
            </a:r>
            <a:endParaRPr sz="1500">
              <a:latin typeface="Calibri"/>
              <a:cs typeface="Calibri"/>
            </a:endParaRPr>
          </a:p>
          <a:p>
            <a:pPr marL="126364" indent="-113664">
              <a:lnSpc>
                <a:spcPts val="1725"/>
              </a:lnSpc>
              <a:spcBef>
                <a:spcPts val="1195"/>
              </a:spcBef>
              <a:buChar char="•"/>
              <a:tabLst>
                <a:tab pos="126364" algn="l"/>
              </a:tabLst>
            </a:pPr>
            <a:r>
              <a:rPr sz="1500" spc="10" dirty="0">
                <a:latin typeface="Calibri"/>
                <a:cs typeface="Calibri"/>
              </a:rPr>
              <a:t>Software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65" dirty="0">
                <a:latin typeface="Calibri"/>
                <a:cs typeface="Calibri"/>
              </a:rPr>
              <a:t>companies</a:t>
            </a:r>
            <a:r>
              <a:rPr sz="1500" spc="10" dirty="0">
                <a:latin typeface="Calibri"/>
                <a:cs typeface="Calibri"/>
              </a:rPr>
              <a:t> work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on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the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live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server.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Therefore,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the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programmers get </a:t>
            </a:r>
            <a:r>
              <a:rPr sz="1500" spc="-25" dirty="0">
                <a:latin typeface="Calibri"/>
                <a:cs typeface="Calibri"/>
              </a:rPr>
              <a:t>the</a:t>
            </a:r>
            <a:endParaRPr sz="1500">
              <a:latin typeface="Calibri"/>
              <a:cs typeface="Calibri"/>
            </a:endParaRPr>
          </a:p>
          <a:p>
            <a:pPr marL="127000">
              <a:lnSpc>
                <a:spcPts val="1725"/>
              </a:lnSpc>
            </a:pPr>
            <a:r>
              <a:rPr sz="1500" dirty="0">
                <a:latin typeface="Calibri"/>
                <a:cs typeface="Calibri"/>
              </a:rPr>
              <a:t>updated</a:t>
            </a:r>
            <a:r>
              <a:rPr sz="1500" spc="1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files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within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spc="65" dirty="0">
                <a:latin typeface="Calibri"/>
                <a:cs typeface="Calibri"/>
              </a:rPr>
              <a:t>seconds.</a:t>
            </a:r>
            <a:endParaRPr sz="1500">
              <a:latin typeface="Calibri"/>
              <a:cs typeface="Calibri"/>
            </a:endParaRPr>
          </a:p>
          <a:p>
            <a:pPr marL="127000" marR="659765" indent="-114300">
              <a:lnSpc>
                <a:spcPts val="1639"/>
              </a:lnSpc>
              <a:spcBef>
                <a:spcPts val="1405"/>
              </a:spcBef>
              <a:buChar char="•"/>
              <a:tabLst>
                <a:tab pos="127000" algn="l"/>
              </a:tabLst>
            </a:pPr>
            <a:r>
              <a:rPr sz="1500" spc="20" dirty="0">
                <a:latin typeface="Calibri"/>
                <a:cs typeface="Calibri"/>
              </a:rPr>
              <a:t>In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75" dirty="0">
                <a:latin typeface="Calibri"/>
                <a:cs typeface="Calibri"/>
              </a:rPr>
              <a:t>a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WAN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network,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80" dirty="0">
                <a:latin typeface="Calibri"/>
                <a:cs typeface="Calibri"/>
              </a:rPr>
              <a:t>messages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are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transmitted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fast.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The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web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20" dirty="0">
                <a:latin typeface="Calibri"/>
                <a:cs typeface="Calibri"/>
              </a:rPr>
              <a:t>application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like </a:t>
            </a:r>
            <a:r>
              <a:rPr sz="1500" spc="60" dirty="0">
                <a:latin typeface="Calibri"/>
                <a:cs typeface="Calibri"/>
              </a:rPr>
              <a:t>Facebook,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Whatsapp,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55" dirty="0">
                <a:latin typeface="Calibri"/>
                <a:cs typeface="Calibri"/>
              </a:rPr>
              <a:t>Skype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allows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you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to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spc="55" dirty="0">
                <a:latin typeface="Calibri"/>
                <a:cs typeface="Calibri"/>
              </a:rPr>
              <a:t>communicate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with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friends.</a:t>
            </a:r>
            <a:endParaRPr sz="1500">
              <a:latin typeface="Calibri"/>
              <a:cs typeface="Calibri"/>
            </a:endParaRPr>
          </a:p>
          <a:p>
            <a:pPr marL="127000" marR="142240" indent="-114300">
              <a:lnSpc>
                <a:spcPts val="1639"/>
              </a:lnSpc>
              <a:spcBef>
                <a:spcPts val="142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In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WAN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network,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80" dirty="0">
                <a:latin typeface="Calibri"/>
                <a:cs typeface="Calibri"/>
              </a:rPr>
              <a:t>can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share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software</a:t>
            </a:r>
            <a:r>
              <a:rPr sz="1500" spc="50" dirty="0">
                <a:latin typeface="Calibri"/>
                <a:cs typeface="Calibri"/>
              </a:rPr>
              <a:t> and </a:t>
            </a:r>
            <a:r>
              <a:rPr sz="1500" dirty="0">
                <a:latin typeface="Calibri"/>
                <a:cs typeface="Calibri"/>
              </a:rPr>
              <a:t>other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spc="50" dirty="0">
                <a:latin typeface="Calibri"/>
                <a:cs typeface="Calibri"/>
              </a:rPr>
              <a:t>resources </a:t>
            </a:r>
            <a:r>
              <a:rPr sz="1500" dirty="0">
                <a:latin typeface="Calibri"/>
                <a:cs typeface="Calibri"/>
              </a:rPr>
              <a:t>like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75" dirty="0">
                <a:latin typeface="Calibri"/>
                <a:cs typeface="Calibri"/>
              </a:rPr>
              <a:t>a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hard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drive, </a:t>
            </a:r>
            <a:r>
              <a:rPr sz="1500" spc="-20" dirty="0">
                <a:latin typeface="Calibri"/>
                <a:cs typeface="Calibri"/>
              </a:rPr>
              <a:t>RAM.</a:t>
            </a:r>
            <a:endParaRPr sz="15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255"/>
              </a:spcBef>
              <a:buChar char="•"/>
              <a:tabLst>
                <a:tab pos="126364" algn="l"/>
              </a:tabLst>
            </a:pPr>
            <a:r>
              <a:rPr sz="1500" dirty="0">
                <a:latin typeface="Calibri"/>
                <a:cs typeface="Calibri"/>
              </a:rPr>
              <a:t>We </a:t>
            </a:r>
            <a:r>
              <a:rPr sz="1500" spc="80" dirty="0">
                <a:latin typeface="Calibri"/>
                <a:cs typeface="Calibri"/>
              </a:rPr>
              <a:t>can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75" dirty="0">
                <a:latin typeface="Calibri"/>
                <a:cs typeface="Calibri"/>
              </a:rPr>
              <a:t>business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over the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internet </a:t>
            </a:r>
            <a:r>
              <a:rPr sz="1500" spc="-10" dirty="0">
                <a:latin typeface="Calibri"/>
                <a:cs typeface="Calibri"/>
              </a:rPr>
              <a:t>globally.</a:t>
            </a:r>
            <a:endParaRPr sz="1500">
              <a:latin typeface="Calibri"/>
              <a:cs typeface="Calibri"/>
            </a:endParaRPr>
          </a:p>
          <a:p>
            <a:pPr marL="127000" marR="102870" indent="-114300">
              <a:lnSpc>
                <a:spcPct val="91700"/>
              </a:lnSpc>
              <a:spcBef>
                <a:spcPts val="1440"/>
              </a:spcBef>
              <a:buChar char="•"/>
              <a:tabLst>
                <a:tab pos="127000" algn="l"/>
              </a:tabLst>
            </a:pPr>
            <a:r>
              <a:rPr sz="1500" spc="10" dirty="0">
                <a:latin typeface="Calibri"/>
                <a:cs typeface="Calibri"/>
              </a:rPr>
              <a:t>If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we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70" dirty="0">
                <a:latin typeface="Calibri"/>
                <a:cs typeface="Calibri"/>
              </a:rPr>
              <a:t>use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the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60" dirty="0">
                <a:latin typeface="Calibri"/>
                <a:cs typeface="Calibri"/>
              </a:rPr>
              <a:t>leased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lines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for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our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55" dirty="0">
                <a:latin typeface="Calibri"/>
                <a:cs typeface="Calibri"/>
              </a:rPr>
              <a:t>company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then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this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gives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the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high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bandwidth.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high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bandwidth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spc="60" dirty="0">
                <a:latin typeface="Calibri"/>
                <a:cs typeface="Calibri"/>
              </a:rPr>
              <a:t>increases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transfer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rate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turn</a:t>
            </a:r>
            <a:r>
              <a:rPr sz="1500" spc="60" dirty="0">
                <a:latin typeface="Calibri"/>
                <a:cs typeface="Calibri"/>
              </a:rPr>
              <a:t> increases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productivity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our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company.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Disadvantages</a:t>
            </a:r>
            <a:r>
              <a:rPr spc="-150" dirty="0"/>
              <a:t> </a:t>
            </a:r>
            <a:r>
              <a:rPr spc="-90" dirty="0"/>
              <a:t>of</a:t>
            </a:r>
            <a:r>
              <a:rPr spc="-130" dirty="0"/>
              <a:t> </a:t>
            </a:r>
            <a:r>
              <a:rPr spc="-35" dirty="0"/>
              <a:t>Wide</a:t>
            </a:r>
            <a:r>
              <a:rPr spc="-135" dirty="0"/>
              <a:t> </a:t>
            </a:r>
            <a:r>
              <a:rPr spc="-60" dirty="0"/>
              <a:t>Area</a:t>
            </a:r>
            <a:r>
              <a:rPr spc="-130" dirty="0"/>
              <a:t> </a:t>
            </a:r>
            <a:r>
              <a:rPr spc="-10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6267" y="1612557"/>
            <a:ext cx="2612390" cy="748665"/>
            <a:chOff x="416267" y="1612557"/>
            <a:chExt cx="2612390" cy="7486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617" y="1618907"/>
              <a:ext cx="2599436" cy="73541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2617" y="1618907"/>
              <a:ext cx="2599690" cy="735965"/>
            </a:xfrm>
            <a:custGeom>
              <a:avLst/>
              <a:gdLst/>
              <a:ahLst/>
              <a:cxnLst/>
              <a:rect l="l" t="t" r="r" b="b"/>
              <a:pathLst>
                <a:path w="2599690" h="735964">
                  <a:moveTo>
                    <a:pt x="0" y="735418"/>
                  </a:moveTo>
                  <a:lnTo>
                    <a:pt x="2599436" y="735418"/>
                  </a:lnTo>
                  <a:lnTo>
                    <a:pt x="2599436" y="0"/>
                  </a:lnTo>
                  <a:lnTo>
                    <a:pt x="0" y="0"/>
                  </a:lnTo>
                  <a:lnTo>
                    <a:pt x="0" y="73541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8967" y="1788032"/>
            <a:ext cx="25869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05"/>
              </a:spcBef>
            </a:pPr>
            <a:r>
              <a:rPr sz="2000" b="1" spc="95" dirty="0">
                <a:latin typeface="Calibri"/>
                <a:cs typeface="Calibri"/>
              </a:rPr>
              <a:t>Security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114" dirty="0">
                <a:latin typeface="Calibri"/>
                <a:cs typeface="Calibri"/>
              </a:rPr>
              <a:t>issue: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2617" y="2354249"/>
            <a:ext cx="2599690" cy="4227830"/>
          </a:xfrm>
          <a:custGeom>
            <a:avLst/>
            <a:gdLst/>
            <a:ahLst/>
            <a:cxnLst/>
            <a:rect l="l" t="t" r="r" b="b"/>
            <a:pathLst>
              <a:path w="2599690" h="4227830">
                <a:moveTo>
                  <a:pt x="0" y="4227322"/>
                </a:moveTo>
                <a:lnTo>
                  <a:pt x="2599436" y="4227322"/>
                </a:lnTo>
                <a:lnTo>
                  <a:pt x="2599436" y="0"/>
                </a:lnTo>
                <a:lnTo>
                  <a:pt x="0" y="0"/>
                </a:lnTo>
                <a:lnTo>
                  <a:pt x="0" y="4227322"/>
                </a:lnTo>
                <a:close/>
              </a:path>
            </a:pathLst>
          </a:custGeom>
          <a:ln w="12700">
            <a:solidFill>
              <a:srgbClr val="F7D4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6267" y="2347899"/>
            <a:ext cx="2612390" cy="4240530"/>
          </a:xfrm>
          <a:prstGeom prst="rect">
            <a:avLst/>
          </a:prstGeom>
          <a:solidFill>
            <a:srgbClr val="F7D4CD">
              <a:alpha val="90194"/>
            </a:srgbClr>
          </a:solidFill>
        </p:spPr>
        <p:txBody>
          <a:bodyPr vert="horz" wrap="square" lIns="0" tIns="93980" rIns="0" bIns="0" rtlCol="0">
            <a:spAutoFit/>
          </a:bodyPr>
          <a:lstStyle/>
          <a:p>
            <a:pPr marL="340360" marR="313055" indent="-227329">
              <a:lnSpc>
                <a:spcPct val="91600"/>
              </a:lnSpc>
              <a:spcBef>
                <a:spcPts val="740"/>
              </a:spcBef>
              <a:buChar char="•"/>
              <a:tabLst>
                <a:tab pos="341630" algn="l"/>
              </a:tabLst>
            </a:pPr>
            <a:r>
              <a:rPr sz="2000" dirty="0">
                <a:latin typeface="Calibri"/>
                <a:cs typeface="Calibri"/>
              </a:rPr>
              <a:t>A WAN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network 	</a:t>
            </a:r>
            <a:r>
              <a:rPr sz="2000" spc="110" dirty="0">
                <a:latin typeface="Calibri"/>
                <a:cs typeface="Calibri"/>
              </a:rPr>
              <a:t>has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security 	</a:t>
            </a:r>
            <a:r>
              <a:rPr sz="2000" spc="105" dirty="0">
                <a:latin typeface="Calibri"/>
                <a:cs typeface="Calibri"/>
              </a:rPr>
              <a:t>issues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114" dirty="0">
                <a:latin typeface="Calibri"/>
                <a:cs typeface="Calibri"/>
              </a:rPr>
              <a:t>as 	</a:t>
            </a:r>
            <a:r>
              <a:rPr sz="2000" spc="70" dirty="0">
                <a:latin typeface="Calibri"/>
                <a:cs typeface="Calibri"/>
              </a:rPr>
              <a:t>compared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LAN 	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network 	</a:t>
            </a:r>
            <a:r>
              <a:rPr sz="2000" spc="140" dirty="0">
                <a:latin typeface="Calibri"/>
                <a:cs typeface="Calibri"/>
              </a:rPr>
              <a:t>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all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spc="60" dirty="0">
                <a:latin typeface="Calibri"/>
                <a:cs typeface="Calibri"/>
              </a:rPr>
              <a:t>technologies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are 	</a:t>
            </a:r>
            <a:r>
              <a:rPr sz="2000" spc="70" dirty="0">
                <a:latin typeface="Calibri"/>
                <a:cs typeface="Calibri"/>
              </a:rPr>
              <a:t>combined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 	</a:t>
            </a:r>
            <a:r>
              <a:rPr sz="2000" spc="65" dirty="0">
                <a:latin typeface="Calibri"/>
                <a:cs typeface="Calibri"/>
              </a:rPr>
              <a:t>creates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spc="50" dirty="0">
                <a:latin typeface="Calibri"/>
                <a:cs typeface="Calibri"/>
              </a:rPr>
              <a:t>security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problem.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79596" y="1612557"/>
            <a:ext cx="2612390" cy="748665"/>
            <a:chOff x="3379596" y="1612557"/>
            <a:chExt cx="2612390" cy="74866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5946" y="1618907"/>
              <a:ext cx="2599436" cy="73541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85946" y="1618907"/>
              <a:ext cx="2599690" cy="735965"/>
            </a:xfrm>
            <a:custGeom>
              <a:avLst/>
              <a:gdLst/>
              <a:ahLst/>
              <a:cxnLst/>
              <a:rect l="l" t="t" r="r" b="b"/>
              <a:pathLst>
                <a:path w="2599690" h="735964">
                  <a:moveTo>
                    <a:pt x="0" y="735418"/>
                  </a:moveTo>
                  <a:lnTo>
                    <a:pt x="2599436" y="735418"/>
                  </a:lnTo>
                  <a:lnTo>
                    <a:pt x="2599436" y="0"/>
                  </a:lnTo>
                  <a:lnTo>
                    <a:pt x="0" y="0"/>
                  </a:lnTo>
                  <a:lnTo>
                    <a:pt x="0" y="73541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92296" y="1648460"/>
            <a:ext cx="2586990" cy="611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5120">
              <a:lnSpc>
                <a:spcPts val="2305"/>
              </a:lnSpc>
              <a:spcBef>
                <a:spcPts val="105"/>
              </a:spcBef>
            </a:pPr>
            <a:r>
              <a:rPr sz="2000" b="1" spc="125" dirty="0">
                <a:latin typeface="Calibri"/>
                <a:cs typeface="Calibri"/>
              </a:rPr>
              <a:t>Needs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70" dirty="0">
                <a:latin typeface="Calibri"/>
                <a:cs typeface="Calibri"/>
              </a:rPr>
              <a:t>Firewall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500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 marL="213995">
              <a:lnSpc>
                <a:spcPts val="2305"/>
              </a:lnSpc>
            </a:pPr>
            <a:r>
              <a:rPr sz="2000" b="1" spc="75" dirty="0">
                <a:latin typeface="Calibri"/>
                <a:cs typeface="Calibri"/>
              </a:rPr>
              <a:t>antivirus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55" dirty="0">
                <a:latin typeface="Calibri"/>
                <a:cs typeface="Calibri"/>
              </a:rPr>
              <a:t>software: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85946" y="2354249"/>
            <a:ext cx="2599690" cy="4227830"/>
          </a:xfrm>
          <a:custGeom>
            <a:avLst/>
            <a:gdLst/>
            <a:ahLst/>
            <a:cxnLst/>
            <a:rect l="l" t="t" r="r" b="b"/>
            <a:pathLst>
              <a:path w="2599690" h="4227830">
                <a:moveTo>
                  <a:pt x="0" y="4227322"/>
                </a:moveTo>
                <a:lnTo>
                  <a:pt x="2599436" y="4227322"/>
                </a:lnTo>
                <a:lnTo>
                  <a:pt x="2599436" y="0"/>
                </a:lnTo>
                <a:lnTo>
                  <a:pt x="0" y="0"/>
                </a:lnTo>
                <a:lnTo>
                  <a:pt x="0" y="4227322"/>
                </a:lnTo>
                <a:close/>
              </a:path>
            </a:pathLst>
          </a:custGeom>
          <a:ln w="12700">
            <a:solidFill>
              <a:srgbClr val="CCD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79596" y="2347899"/>
            <a:ext cx="2612390" cy="4240530"/>
          </a:xfrm>
          <a:prstGeom prst="rect">
            <a:avLst/>
          </a:prstGeom>
          <a:solidFill>
            <a:srgbClr val="CCD3CC">
              <a:alpha val="90194"/>
            </a:srgbClr>
          </a:solidFill>
        </p:spPr>
        <p:txBody>
          <a:bodyPr vert="horz" wrap="square" lIns="0" tIns="93980" rIns="0" bIns="0" rtlCol="0">
            <a:spAutoFit/>
          </a:bodyPr>
          <a:lstStyle/>
          <a:p>
            <a:pPr marL="340360" marR="238125" indent="-227329">
              <a:lnSpc>
                <a:spcPct val="91600"/>
              </a:lnSpc>
              <a:spcBef>
                <a:spcPts val="740"/>
              </a:spcBef>
              <a:buChar char="•"/>
              <a:tabLst>
                <a:tab pos="34163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data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is 	</a:t>
            </a:r>
            <a:r>
              <a:rPr sz="2000" dirty="0">
                <a:latin typeface="Calibri"/>
                <a:cs typeface="Calibri"/>
              </a:rPr>
              <a:t>transferred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on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internet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which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can 	</a:t>
            </a:r>
            <a:r>
              <a:rPr sz="2000" spc="6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changed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or 	</a:t>
            </a:r>
            <a:r>
              <a:rPr sz="2000" spc="80" dirty="0">
                <a:latin typeface="Calibri"/>
                <a:cs typeface="Calibri"/>
              </a:rPr>
              <a:t>hacked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5" dirty="0">
                <a:latin typeface="Calibri"/>
                <a:cs typeface="Calibri"/>
              </a:rPr>
              <a:t> the 	</a:t>
            </a:r>
            <a:r>
              <a:rPr sz="2000" spc="65" dirty="0">
                <a:latin typeface="Calibri"/>
                <a:cs typeface="Calibri"/>
              </a:rPr>
              <a:t>hackers,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114" dirty="0">
                <a:latin typeface="Calibri"/>
                <a:cs typeface="Calibri"/>
              </a:rPr>
              <a:t>so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firewall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needs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	</a:t>
            </a:r>
            <a:r>
              <a:rPr sz="2000" spc="6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used.</a:t>
            </a:r>
            <a:endParaRPr sz="2000">
              <a:latin typeface="Calibri"/>
              <a:cs typeface="Calibri"/>
            </a:endParaRPr>
          </a:p>
          <a:p>
            <a:pPr marL="340360" marR="202565" indent="-227329">
              <a:lnSpc>
                <a:spcPct val="91600"/>
              </a:lnSpc>
              <a:spcBef>
                <a:spcPts val="370"/>
              </a:spcBef>
              <a:buChar char="•"/>
              <a:tabLst>
                <a:tab pos="341630" algn="l"/>
              </a:tabLst>
            </a:pPr>
            <a:r>
              <a:rPr sz="2000" spc="100" dirty="0">
                <a:latin typeface="Calibri"/>
                <a:cs typeface="Calibri"/>
              </a:rPr>
              <a:t>Some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people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can 	</a:t>
            </a:r>
            <a:r>
              <a:rPr sz="2000" dirty="0">
                <a:latin typeface="Calibri"/>
                <a:cs typeface="Calibri"/>
              </a:rPr>
              <a:t>inject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virus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	</a:t>
            </a:r>
            <a:r>
              <a:rPr sz="2000" dirty="0">
                <a:latin typeface="Calibri"/>
                <a:cs typeface="Calibri"/>
              </a:rPr>
              <a:t>our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system,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90" dirty="0">
                <a:latin typeface="Calibri"/>
                <a:cs typeface="Calibri"/>
              </a:rPr>
              <a:t>so 	</a:t>
            </a:r>
            <a:r>
              <a:rPr sz="2000" dirty="0">
                <a:latin typeface="Calibri"/>
                <a:cs typeface="Calibri"/>
              </a:rPr>
              <a:t>antivirus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100" dirty="0">
                <a:latin typeface="Calibri"/>
                <a:cs typeface="Calibri"/>
              </a:rPr>
              <a:t>is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needed 	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protect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 	</a:t>
            </a:r>
            <a:r>
              <a:rPr sz="2000" spc="114" dirty="0">
                <a:latin typeface="Calibri"/>
                <a:cs typeface="Calibri"/>
              </a:rPr>
              <a:t>such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95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virus.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42888" y="1612557"/>
            <a:ext cx="2612390" cy="748665"/>
            <a:chOff x="6342888" y="1612557"/>
            <a:chExt cx="2612390" cy="74866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9238" y="1618907"/>
              <a:ext cx="2599436" cy="73541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349238" y="1618907"/>
              <a:ext cx="2599690" cy="735965"/>
            </a:xfrm>
            <a:custGeom>
              <a:avLst/>
              <a:gdLst/>
              <a:ahLst/>
              <a:cxnLst/>
              <a:rect l="l" t="t" r="r" b="b"/>
              <a:pathLst>
                <a:path w="2599690" h="735964">
                  <a:moveTo>
                    <a:pt x="0" y="735418"/>
                  </a:moveTo>
                  <a:lnTo>
                    <a:pt x="2599436" y="735418"/>
                  </a:lnTo>
                  <a:lnTo>
                    <a:pt x="2599436" y="0"/>
                  </a:lnTo>
                  <a:lnTo>
                    <a:pt x="0" y="0"/>
                  </a:lnTo>
                  <a:lnTo>
                    <a:pt x="0" y="73541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55588" y="1788032"/>
            <a:ext cx="25869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105"/>
              </a:spcBef>
            </a:pPr>
            <a:r>
              <a:rPr sz="2000" b="1" spc="90" dirty="0">
                <a:latin typeface="Calibri"/>
                <a:cs typeface="Calibri"/>
              </a:rPr>
              <a:t>High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100" dirty="0">
                <a:latin typeface="Calibri"/>
                <a:cs typeface="Calibri"/>
              </a:rPr>
              <a:t>Setup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110" dirty="0">
                <a:latin typeface="Calibri"/>
                <a:cs typeface="Calibri"/>
              </a:rPr>
              <a:t>cost: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49238" y="2354249"/>
            <a:ext cx="2599690" cy="4227830"/>
          </a:xfrm>
          <a:custGeom>
            <a:avLst/>
            <a:gdLst/>
            <a:ahLst/>
            <a:cxnLst/>
            <a:rect l="l" t="t" r="r" b="b"/>
            <a:pathLst>
              <a:path w="2599690" h="4227830">
                <a:moveTo>
                  <a:pt x="0" y="4227322"/>
                </a:moveTo>
                <a:lnTo>
                  <a:pt x="2599436" y="4227322"/>
                </a:lnTo>
                <a:lnTo>
                  <a:pt x="2599436" y="0"/>
                </a:lnTo>
                <a:lnTo>
                  <a:pt x="0" y="0"/>
                </a:lnTo>
                <a:lnTo>
                  <a:pt x="0" y="4227322"/>
                </a:lnTo>
                <a:close/>
              </a:path>
            </a:pathLst>
          </a:custGeom>
          <a:ln w="12700">
            <a:solidFill>
              <a:srgbClr val="CCDF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42888" y="2347899"/>
            <a:ext cx="2612390" cy="4240530"/>
          </a:xfrm>
          <a:prstGeom prst="rect">
            <a:avLst/>
          </a:prstGeom>
          <a:solidFill>
            <a:srgbClr val="CCDFEE">
              <a:alpha val="90194"/>
            </a:srgbClr>
          </a:solidFill>
        </p:spPr>
        <p:txBody>
          <a:bodyPr vert="horz" wrap="square" lIns="0" tIns="93980" rIns="0" bIns="0" rtlCol="0">
            <a:spAutoFit/>
          </a:bodyPr>
          <a:lstStyle/>
          <a:p>
            <a:pPr marL="340995" marR="163195" indent="-227329">
              <a:lnSpc>
                <a:spcPct val="91600"/>
              </a:lnSpc>
              <a:spcBef>
                <a:spcPts val="740"/>
              </a:spcBef>
              <a:buChar char="•"/>
              <a:tabLst>
                <a:tab pos="342265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installation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cost 	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WAN</a:t>
            </a:r>
            <a:r>
              <a:rPr sz="2000" spc="500" dirty="0">
                <a:latin typeface="Calibri"/>
                <a:cs typeface="Calibri"/>
              </a:rPr>
              <a:t> 	</a:t>
            </a: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100" dirty="0">
                <a:latin typeface="Calibri"/>
                <a:cs typeface="Calibri"/>
              </a:rPr>
              <a:t>is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114" dirty="0">
                <a:latin typeface="Calibri"/>
                <a:cs typeface="Calibri"/>
              </a:rPr>
              <a:t>as 	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involves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spc="65" dirty="0">
                <a:latin typeface="Calibri"/>
                <a:cs typeface="Calibri"/>
              </a:rPr>
              <a:t>purchasing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	</a:t>
            </a:r>
            <a:r>
              <a:rPr sz="2000" dirty="0">
                <a:latin typeface="Calibri"/>
                <a:cs typeface="Calibri"/>
              </a:rPr>
              <a:t>routers,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switches.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06306" y="1612557"/>
            <a:ext cx="2612390" cy="748665"/>
            <a:chOff x="9306306" y="1612557"/>
            <a:chExt cx="2612390" cy="74866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12656" y="1618907"/>
              <a:ext cx="2599436" cy="73541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312656" y="1618907"/>
              <a:ext cx="2599690" cy="735965"/>
            </a:xfrm>
            <a:custGeom>
              <a:avLst/>
              <a:gdLst/>
              <a:ahLst/>
              <a:cxnLst/>
              <a:rect l="l" t="t" r="r" b="b"/>
              <a:pathLst>
                <a:path w="2599690" h="735964">
                  <a:moveTo>
                    <a:pt x="0" y="735418"/>
                  </a:moveTo>
                  <a:lnTo>
                    <a:pt x="2599436" y="735418"/>
                  </a:lnTo>
                  <a:lnTo>
                    <a:pt x="2599436" y="0"/>
                  </a:lnTo>
                  <a:lnTo>
                    <a:pt x="0" y="0"/>
                  </a:lnTo>
                  <a:lnTo>
                    <a:pt x="0" y="735418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319006" y="1648460"/>
            <a:ext cx="2586990" cy="611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ts val="2305"/>
              </a:lnSpc>
              <a:spcBef>
                <a:spcPts val="105"/>
              </a:spcBef>
            </a:pPr>
            <a:r>
              <a:rPr sz="2000" b="1" spc="50" dirty="0">
                <a:latin typeface="Calibri"/>
                <a:cs typeface="Calibri"/>
              </a:rPr>
              <a:t>Troubleshooting</a:t>
            </a:r>
            <a:endParaRPr sz="2000">
              <a:latin typeface="Calibri"/>
              <a:cs typeface="Calibri"/>
            </a:endParaRPr>
          </a:p>
          <a:p>
            <a:pPr marL="1270" algn="ctr">
              <a:lnSpc>
                <a:spcPts val="2305"/>
              </a:lnSpc>
            </a:pPr>
            <a:r>
              <a:rPr sz="2000" b="1" spc="85" dirty="0">
                <a:latin typeface="Calibri"/>
                <a:cs typeface="Calibri"/>
              </a:rPr>
              <a:t>problems: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312656" y="2354249"/>
            <a:ext cx="2599690" cy="4227830"/>
          </a:xfrm>
          <a:custGeom>
            <a:avLst/>
            <a:gdLst/>
            <a:ahLst/>
            <a:cxnLst/>
            <a:rect l="l" t="t" r="r" b="b"/>
            <a:pathLst>
              <a:path w="2599690" h="4227830">
                <a:moveTo>
                  <a:pt x="0" y="4227322"/>
                </a:moveTo>
                <a:lnTo>
                  <a:pt x="2599436" y="4227322"/>
                </a:lnTo>
                <a:lnTo>
                  <a:pt x="2599436" y="0"/>
                </a:lnTo>
                <a:lnTo>
                  <a:pt x="0" y="0"/>
                </a:lnTo>
                <a:lnTo>
                  <a:pt x="0" y="4227322"/>
                </a:lnTo>
                <a:close/>
              </a:path>
            </a:pathLst>
          </a:custGeom>
          <a:ln w="12700">
            <a:solidFill>
              <a:srgbClr val="DFCD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306306" y="2347899"/>
            <a:ext cx="2612390" cy="4240530"/>
          </a:xfrm>
          <a:prstGeom prst="rect">
            <a:avLst/>
          </a:prstGeom>
          <a:solidFill>
            <a:srgbClr val="DFCDDC">
              <a:alpha val="90194"/>
            </a:srgbClr>
          </a:solidFill>
        </p:spPr>
        <p:txBody>
          <a:bodyPr vert="horz" wrap="square" lIns="0" tIns="93345" rIns="0" bIns="0" rtlCol="0">
            <a:spAutoFit/>
          </a:bodyPr>
          <a:lstStyle/>
          <a:p>
            <a:pPr marL="340995" marR="428625" indent="-227329">
              <a:lnSpc>
                <a:spcPct val="91700"/>
              </a:lnSpc>
              <a:spcBef>
                <a:spcPts val="735"/>
              </a:spcBef>
              <a:buChar char="•"/>
              <a:tabLst>
                <a:tab pos="34226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covers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95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large 	</a:t>
            </a:r>
            <a:r>
              <a:rPr sz="2000" dirty="0">
                <a:latin typeface="Calibri"/>
                <a:cs typeface="Calibri"/>
              </a:rPr>
              <a:t>area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114" dirty="0">
                <a:latin typeface="Calibri"/>
                <a:cs typeface="Calibri"/>
              </a:rPr>
              <a:t>so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fixing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is 	</a:t>
            </a:r>
            <a:r>
              <a:rPr sz="2000" spc="-10" dirty="0">
                <a:latin typeface="Calibri"/>
                <a:cs typeface="Calibri"/>
              </a:rPr>
              <a:t>difficult.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Internetwork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8120" cy="4290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internetwork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defined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195" dirty="0">
                <a:latin typeface="Calibri"/>
                <a:cs typeface="Calibri"/>
              </a:rPr>
              <a:t>as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computer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LANs 	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WAN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spc="75" dirty="0">
                <a:latin typeface="Calibri"/>
                <a:cs typeface="Calibri"/>
              </a:rPr>
              <a:t>computer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spc="105" dirty="0">
                <a:latin typeface="Calibri"/>
                <a:cs typeface="Calibri"/>
              </a:rPr>
              <a:t>segments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spc="100" dirty="0">
                <a:latin typeface="Calibri"/>
                <a:cs typeface="Calibri"/>
              </a:rPr>
              <a:t>connected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spc="70" dirty="0">
                <a:latin typeface="Calibri"/>
                <a:cs typeface="Calibri"/>
              </a:rPr>
              <a:t>using 	</a:t>
            </a:r>
            <a:r>
              <a:rPr sz="2800" spc="100" dirty="0">
                <a:latin typeface="Calibri"/>
                <a:cs typeface="Calibri"/>
              </a:rPr>
              <a:t>devices,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and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configured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spc="130" dirty="0">
                <a:latin typeface="Calibri"/>
                <a:cs typeface="Calibri"/>
              </a:rPr>
              <a:t>local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spc="90" dirty="0">
                <a:latin typeface="Calibri"/>
                <a:cs typeface="Calibri"/>
              </a:rPr>
              <a:t>addressing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spc="114" dirty="0">
                <a:latin typeface="Calibri"/>
                <a:cs typeface="Calibri"/>
              </a:rPr>
              <a:t>scheme. 	</a:t>
            </a:r>
            <a:r>
              <a:rPr sz="2800" spc="70" dirty="0">
                <a:latin typeface="Calibri"/>
                <a:cs typeface="Calibri"/>
              </a:rPr>
              <a:t>This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process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19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60" dirty="0">
                <a:latin typeface="Calibri"/>
                <a:cs typeface="Calibri"/>
              </a:rPr>
              <a:t>internetworking</a:t>
            </a:r>
            <a:r>
              <a:rPr sz="2800" spc="6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350" dirty="0">
                <a:latin typeface="Calibri"/>
                <a:cs typeface="Calibri"/>
              </a:rPr>
              <a:t>   </a:t>
            </a:r>
            <a:r>
              <a:rPr sz="2800" spc="60" dirty="0">
                <a:latin typeface="Calibri"/>
                <a:cs typeface="Calibri"/>
              </a:rPr>
              <a:t>interconnection</a:t>
            </a:r>
            <a:r>
              <a:rPr sz="2800" spc="35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350" dirty="0">
                <a:latin typeface="Calibri"/>
                <a:cs typeface="Calibri"/>
              </a:rPr>
              <a:t>   </a:t>
            </a:r>
            <a:r>
              <a:rPr sz="2800" spc="90" dirty="0">
                <a:latin typeface="Calibri"/>
                <a:cs typeface="Calibri"/>
              </a:rPr>
              <a:t>public,</a:t>
            </a:r>
            <a:r>
              <a:rPr sz="2800" spc="36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private,</a:t>
            </a:r>
            <a:r>
              <a:rPr sz="2800" spc="355" dirty="0">
                <a:latin typeface="Calibri"/>
                <a:cs typeface="Calibri"/>
              </a:rPr>
              <a:t>   </a:t>
            </a:r>
            <a:r>
              <a:rPr sz="2800" spc="100" dirty="0">
                <a:latin typeface="Calibri"/>
                <a:cs typeface="Calibri"/>
              </a:rPr>
              <a:t>commercial, 	</a:t>
            </a:r>
            <a:r>
              <a:rPr sz="2800" spc="65" dirty="0">
                <a:latin typeface="Calibri"/>
                <a:cs typeface="Calibri"/>
              </a:rPr>
              <a:t>industrial,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government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computer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networks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155" dirty="0">
                <a:latin typeface="Calibri"/>
                <a:cs typeface="Calibri"/>
              </a:rPr>
              <a:t>can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140" dirty="0">
                <a:latin typeface="Calibri"/>
                <a:cs typeface="Calibri"/>
              </a:rPr>
              <a:t>also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90" dirty="0">
                <a:latin typeface="Calibri"/>
                <a:cs typeface="Calibri"/>
              </a:rPr>
              <a:t>be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defined 	</a:t>
            </a:r>
            <a:r>
              <a:rPr sz="2800" spc="195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spc="60" dirty="0">
                <a:latin typeface="Calibri"/>
                <a:cs typeface="Calibri"/>
              </a:rPr>
              <a:t>internetworking</a:t>
            </a:r>
            <a:r>
              <a:rPr sz="2800" spc="6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internetworking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160" dirty="0">
                <a:latin typeface="Calibri"/>
                <a:cs typeface="Calibri"/>
              </a:rPr>
              <a:t>uses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b="1" spc="70" dirty="0">
                <a:latin typeface="Calibri"/>
                <a:cs typeface="Calibri"/>
              </a:rPr>
              <a:t>internet</a:t>
            </a:r>
            <a:r>
              <a:rPr sz="2800" b="1" spc="110" dirty="0">
                <a:latin typeface="Calibri"/>
                <a:cs typeface="Calibri"/>
              </a:rPr>
              <a:t> </a:t>
            </a:r>
            <a:r>
              <a:rPr sz="2800" b="1" spc="95" dirty="0">
                <a:latin typeface="Calibri"/>
                <a:cs typeface="Calibri"/>
              </a:rPr>
              <a:t>protocol</a:t>
            </a:r>
            <a:r>
              <a:rPr sz="2800" spc="9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8255" indent="-227965" algn="just">
              <a:lnSpc>
                <a:spcPts val="302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reference</a:t>
            </a:r>
            <a:r>
              <a:rPr sz="2800" spc="665" dirty="0">
                <a:latin typeface="Calibri"/>
                <a:cs typeface="Calibri"/>
              </a:rPr>
              <a:t> </a:t>
            </a:r>
            <a:r>
              <a:rPr sz="2800" spc="90" dirty="0">
                <a:latin typeface="Calibri"/>
                <a:cs typeface="Calibri"/>
              </a:rPr>
              <a:t>model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spc="120" dirty="0">
                <a:latin typeface="Calibri"/>
                <a:cs typeface="Calibri"/>
              </a:rPr>
              <a:t>used</a:t>
            </a:r>
            <a:r>
              <a:rPr sz="2800" spc="6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internetworking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650" dirty="0">
                <a:latin typeface="Calibri"/>
                <a:cs typeface="Calibri"/>
              </a:rPr>
              <a:t> </a:t>
            </a:r>
            <a:r>
              <a:rPr sz="2800" b="1" spc="130" dirty="0">
                <a:latin typeface="Calibri"/>
                <a:cs typeface="Calibri"/>
              </a:rPr>
              <a:t>Open</a:t>
            </a:r>
            <a:r>
              <a:rPr sz="2800" b="1" spc="675" dirty="0">
                <a:latin typeface="Calibri"/>
                <a:cs typeface="Calibri"/>
              </a:rPr>
              <a:t> </a:t>
            </a:r>
            <a:r>
              <a:rPr sz="2800" b="1" spc="155" dirty="0">
                <a:latin typeface="Calibri"/>
                <a:cs typeface="Calibri"/>
              </a:rPr>
              <a:t>System 	</a:t>
            </a:r>
            <a:r>
              <a:rPr sz="2800" b="1" spc="110" dirty="0">
                <a:latin typeface="Calibri"/>
                <a:cs typeface="Calibri"/>
              </a:rPr>
              <a:t>Interconnection</a:t>
            </a:r>
            <a:r>
              <a:rPr sz="2800" b="1" spc="65" dirty="0">
                <a:latin typeface="Calibri"/>
                <a:cs typeface="Calibri"/>
              </a:rPr>
              <a:t> </a:t>
            </a:r>
            <a:r>
              <a:rPr sz="2800" b="1" spc="75" dirty="0">
                <a:latin typeface="Calibri"/>
                <a:cs typeface="Calibri"/>
              </a:rPr>
              <a:t>(OSI)</a:t>
            </a:r>
            <a:r>
              <a:rPr sz="2800" spc="7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215" dirty="0"/>
              <a:t> </a:t>
            </a:r>
            <a:r>
              <a:rPr spc="-90" dirty="0"/>
              <a:t>of</a:t>
            </a:r>
            <a:r>
              <a:rPr spc="-160" dirty="0"/>
              <a:t> </a:t>
            </a:r>
            <a:r>
              <a:rPr spc="-85" dirty="0"/>
              <a:t>Internetwork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8383" y="1824215"/>
            <a:ext cx="10935335" cy="2296160"/>
            <a:chOff x="628383" y="1824215"/>
            <a:chExt cx="10935335" cy="2296160"/>
          </a:xfrm>
        </p:grpSpPr>
        <p:sp>
          <p:nvSpPr>
            <p:cNvPr id="4" name="object 4"/>
            <p:cNvSpPr/>
            <p:nvPr/>
          </p:nvSpPr>
          <p:spPr>
            <a:xfrm>
              <a:off x="634733" y="2078482"/>
              <a:ext cx="10922635" cy="2035175"/>
            </a:xfrm>
            <a:custGeom>
              <a:avLst/>
              <a:gdLst/>
              <a:ahLst/>
              <a:cxnLst/>
              <a:rect l="l" t="t" r="r" b="b"/>
              <a:pathLst>
                <a:path w="10922635" h="2035175">
                  <a:moveTo>
                    <a:pt x="0" y="2034921"/>
                  </a:moveTo>
                  <a:lnTo>
                    <a:pt x="10922508" y="2034921"/>
                  </a:lnTo>
                  <a:lnTo>
                    <a:pt x="10922508" y="0"/>
                  </a:lnTo>
                  <a:lnTo>
                    <a:pt x="0" y="0"/>
                  </a:lnTo>
                  <a:lnTo>
                    <a:pt x="0" y="2034921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6527" y="1824215"/>
              <a:ext cx="7651242" cy="50674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28383" y="4201655"/>
            <a:ext cx="10935335" cy="2296160"/>
            <a:chOff x="628383" y="4201655"/>
            <a:chExt cx="10935335" cy="2296160"/>
          </a:xfrm>
        </p:grpSpPr>
        <p:sp>
          <p:nvSpPr>
            <p:cNvPr id="7" name="object 7"/>
            <p:cNvSpPr/>
            <p:nvPr/>
          </p:nvSpPr>
          <p:spPr>
            <a:xfrm>
              <a:off x="634733" y="4456048"/>
              <a:ext cx="10922635" cy="2035175"/>
            </a:xfrm>
            <a:custGeom>
              <a:avLst/>
              <a:gdLst/>
              <a:ahLst/>
              <a:cxnLst/>
              <a:rect l="l" t="t" r="r" b="b"/>
              <a:pathLst>
                <a:path w="10922635" h="2035175">
                  <a:moveTo>
                    <a:pt x="0" y="2034920"/>
                  </a:moveTo>
                  <a:lnTo>
                    <a:pt x="10922508" y="2034920"/>
                  </a:lnTo>
                  <a:lnTo>
                    <a:pt x="10922508" y="0"/>
                  </a:lnTo>
                  <a:lnTo>
                    <a:pt x="0" y="0"/>
                  </a:lnTo>
                  <a:lnTo>
                    <a:pt x="0" y="203492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6527" y="4201655"/>
              <a:ext cx="7651242" cy="50674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69897" y="1900173"/>
            <a:ext cx="9256395" cy="4455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latin typeface="Calibri"/>
                <a:cs typeface="Calibri"/>
              </a:rPr>
              <a:t>Extranet</a:t>
            </a:r>
            <a:r>
              <a:rPr sz="1800" spc="4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84785" marR="5080" indent="-172720" algn="just">
              <a:lnSpc>
                <a:spcPct val="91400"/>
              </a:lnSpc>
              <a:spcBef>
                <a:spcPts val="180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229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extranet</a:t>
            </a:r>
            <a:r>
              <a:rPr sz="1800" spc="229" dirty="0">
                <a:latin typeface="Calibri"/>
                <a:cs typeface="Calibri"/>
              </a:rPr>
              <a:t> 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235" dirty="0">
                <a:latin typeface="Calibri"/>
                <a:cs typeface="Calibri"/>
              </a:rPr>
              <a:t>  </a:t>
            </a:r>
            <a:r>
              <a:rPr sz="1800" spc="90" dirty="0">
                <a:latin typeface="Calibri"/>
                <a:cs typeface="Calibri"/>
              </a:rPr>
              <a:t>a</a:t>
            </a:r>
            <a:r>
              <a:rPr sz="1800" spc="229" dirty="0">
                <a:latin typeface="Calibri"/>
                <a:cs typeface="Calibri"/>
              </a:rPr>
              <a:t>  </a:t>
            </a:r>
            <a:r>
              <a:rPr sz="1800" spc="60" dirty="0">
                <a:latin typeface="Calibri"/>
                <a:cs typeface="Calibri"/>
              </a:rPr>
              <a:t>communication</a:t>
            </a:r>
            <a:r>
              <a:rPr sz="1800" spc="2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225" dirty="0">
                <a:latin typeface="Calibri"/>
                <a:cs typeface="Calibri"/>
              </a:rPr>
              <a:t>  </a:t>
            </a:r>
            <a:r>
              <a:rPr sz="1800" spc="85" dirty="0">
                <a:latin typeface="Calibri"/>
                <a:cs typeface="Calibri"/>
              </a:rPr>
              <a:t>based</a:t>
            </a:r>
            <a:r>
              <a:rPr sz="1800" spc="22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2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29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internet</a:t>
            </a:r>
            <a:r>
              <a:rPr sz="1800" spc="229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protocol</a:t>
            </a:r>
            <a:r>
              <a:rPr sz="1800" spc="235" dirty="0">
                <a:latin typeface="Calibri"/>
                <a:cs typeface="Calibri"/>
              </a:rPr>
              <a:t>  </a:t>
            </a:r>
            <a:r>
              <a:rPr sz="1800" spc="105" dirty="0">
                <a:latin typeface="Calibri"/>
                <a:cs typeface="Calibri"/>
              </a:rPr>
              <a:t>such</a:t>
            </a:r>
            <a:r>
              <a:rPr sz="1800" spc="229" dirty="0">
                <a:latin typeface="Calibri"/>
                <a:cs typeface="Calibri"/>
              </a:rPr>
              <a:t>  </a:t>
            </a:r>
            <a:r>
              <a:rPr sz="1800" spc="65" dirty="0">
                <a:latin typeface="Calibri"/>
                <a:cs typeface="Calibri"/>
              </a:rPr>
              <a:t>as </a:t>
            </a:r>
            <a:r>
              <a:rPr sz="1800" b="1" spc="85" dirty="0">
                <a:latin typeface="Calibri"/>
                <a:cs typeface="Calibri"/>
              </a:rPr>
              <a:t>Transmission</a:t>
            </a:r>
            <a:r>
              <a:rPr sz="1800" b="1" spc="250" dirty="0">
                <a:latin typeface="Calibri"/>
                <a:cs typeface="Calibri"/>
              </a:rPr>
              <a:t> </a:t>
            </a:r>
            <a:r>
              <a:rPr sz="1800" b="1" spc="85" dirty="0">
                <a:latin typeface="Calibri"/>
                <a:cs typeface="Calibri"/>
              </a:rPr>
              <a:t>Control</a:t>
            </a:r>
            <a:r>
              <a:rPr sz="1800" b="1" spc="235" dirty="0">
                <a:latin typeface="Calibri"/>
                <a:cs typeface="Calibri"/>
              </a:rPr>
              <a:t> </a:t>
            </a:r>
            <a:r>
              <a:rPr sz="1800" b="1" spc="70" dirty="0">
                <a:latin typeface="Calibri"/>
                <a:cs typeface="Calibri"/>
              </a:rPr>
              <a:t>protocol</a:t>
            </a:r>
            <a:r>
              <a:rPr sz="1800" b="1" spc="225" dirty="0">
                <a:latin typeface="Calibri"/>
                <a:cs typeface="Calibri"/>
              </a:rPr>
              <a:t> </a:t>
            </a:r>
            <a:r>
              <a:rPr sz="1800" b="1" spc="80" dirty="0">
                <a:latin typeface="Calibri"/>
                <a:cs typeface="Calibri"/>
              </a:rPr>
              <a:t>and</a:t>
            </a:r>
            <a:r>
              <a:rPr sz="1800" b="1" spc="225" dirty="0">
                <a:latin typeface="Calibri"/>
                <a:cs typeface="Calibri"/>
              </a:rPr>
              <a:t> </a:t>
            </a:r>
            <a:r>
              <a:rPr sz="1800" b="1" spc="50" dirty="0">
                <a:latin typeface="Calibri"/>
                <a:cs typeface="Calibri"/>
              </a:rPr>
              <a:t>internet</a:t>
            </a:r>
            <a:r>
              <a:rPr sz="1800" b="1" spc="225" dirty="0">
                <a:latin typeface="Calibri"/>
                <a:cs typeface="Calibri"/>
              </a:rPr>
              <a:t> </a:t>
            </a:r>
            <a:r>
              <a:rPr sz="1800" b="1" spc="70" dirty="0">
                <a:latin typeface="Calibri"/>
                <a:cs typeface="Calibri"/>
              </a:rPr>
              <a:t>protocol</a:t>
            </a:r>
            <a:r>
              <a:rPr sz="1800" spc="70" dirty="0">
                <a:latin typeface="Calibri"/>
                <a:cs typeface="Calibri"/>
              </a:rPr>
              <a:t>.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235" dirty="0">
                <a:latin typeface="Calibri"/>
                <a:cs typeface="Calibri"/>
              </a:rPr>
              <a:t> </a:t>
            </a:r>
            <a:r>
              <a:rPr sz="1800" spc="75" dirty="0">
                <a:latin typeface="Calibri"/>
                <a:cs typeface="Calibri"/>
              </a:rPr>
              <a:t>used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24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sharing.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135" dirty="0">
                <a:latin typeface="Calibri"/>
                <a:cs typeface="Calibri"/>
              </a:rPr>
              <a:t>access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extranet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restricted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those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75" dirty="0">
                <a:latin typeface="Calibri"/>
                <a:cs typeface="Calibri"/>
              </a:rPr>
              <a:t>users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40" dirty="0">
                <a:latin typeface="Calibri"/>
                <a:cs typeface="Calibri"/>
              </a:rPr>
              <a:t>credentials.</a:t>
            </a:r>
            <a:endParaRPr sz="1800">
              <a:latin typeface="Calibri"/>
              <a:cs typeface="Calibri"/>
            </a:endParaRPr>
          </a:p>
          <a:p>
            <a:pPr marL="184785" marR="6350" indent="-172720" algn="just">
              <a:lnSpc>
                <a:spcPts val="1980"/>
              </a:lnSpc>
              <a:spcBef>
                <a:spcPts val="36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3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extranet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3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lowest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internetworking.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spc="95" dirty="0">
                <a:latin typeface="Calibri"/>
                <a:cs typeface="Calibri"/>
              </a:rPr>
              <a:t>can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categorized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spc="135" dirty="0">
                <a:latin typeface="Calibri"/>
                <a:cs typeface="Calibri"/>
              </a:rPr>
              <a:t>as</a:t>
            </a:r>
            <a:r>
              <a:rPr sz="1800" spc="3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MAN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3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WAN</a:t>
            </a:r>
            <a:r>
              <a:rPr sz="1800" b="1" spc="3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computer</a:t>
            </a:r>
            <a:r>
              <a:rPr sz="1800" spc="2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networks.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extranet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cannot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spc="85" dirty="0">
                <a:latin typeface="Calibri"/>
                <a:cs typeface="Calibri"/>
              </a:rPr>
              <a:t>a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single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b="1" spc="90" dirty="0">
                <a:latin typeface="Calibri"/>
                <a:cs typeface="Calibri"/>
              </a:rPr>
              <a:t>LAN</a:t>
            </a:r>
            <a:r>
              <a:rPr sz="1800" spc="90" dirty="0">
                <a:latin typeface="Calibri"/>
                <a:cs typeface="Calibri"/>
              </a:rPr>
              <a:t>,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least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spc="65" dirty="0">
                <a:latin typeface="Calibri"/>
                <a:cs typeface="Calibri"/>
              </a:rPr>
              <a:t>must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one </a:t>
            </a:r>
            <a:r>
              <a:rPr sz="1800" spc="50" dirty="0">
                <a:latin typeface="Calibri"/>
                <a:cs typeface="Calibri"/>
              </a:rPr>
              <a:t>connection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external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2413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Intranet</a:t>
            </a:r>
            <a:r>
              <a:rPr sz="1800" spc="-1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84785" marR="5080" indent="-172720" algn="just">
              <a:lnSpc>
                <a:spcPct val="91400"/>
              </a:lnSpc>
              <a:spcBef>
                <a:spcPts val="181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4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intranet</a:t>
            </a:r>
            <a:r>
              <a:rPr sz="1800" spc="495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55" dirty="0">
                <a:latin typeface="Calibri"/>
                <a:cs typeface="Calibri"/>
              </a:rPr>
              <a:t>  </a:t>
            </a:r>
            <a:r>
              <a:rPr sz="1800" spc="85" dirty="0">
                <a:latin typeface="Calibri"/>
                <a:cs typeface="Calibri"/>
              </a:rPr>
              <a:t>a</a:t>
            </a:r>
            <a:r>
              <a:rPr sz="1800" spc="4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private</a:t>
            </a:r>
            <a:r>
              <a:rPr sz="1800" spc="4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495" dirty="0">
                <a:latin typeface="Calibri"/>
                <a:cs typeface="Calibri"/>
              </a:rPr>
              <a:t> </a:t>
            </a:r>
            <a:r>
              <a:rPr sz="1800" spc="75" dirty="0">
                <a:latin typeface="Calibri"/>
                <a:cs typeface="Calibri"/>
              </a:rPr>
              <a:t>based</a:t>
            </a:r>
            <a:r>
              <a:rPr sz="1800" spc="4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5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internet</a:t>
            </a:r>
            <a:r>
              <a:rPr sz="1800" spc="4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protocol</a:t>
            </a:r>
            <a:r>
              <a:rPr sz="1800" spc="40" dirty="0">
                <a:latin typeface="Calibri"/>
                <a:cs typeface="Calibri"/>
              </a:rPr>
              <a:t>  </a:t>
            </a:r>
            <a:r>
              <a:rPr sz="1800" spc="110" dirty="0">
                <a:latin typeface="Calibri"/>
                <a:cs typeface="Calibri"/>
              </a:rPr>
              <a:t>such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1800" spc="135" dirty="0">
                <a:latin typeface="Calibri"/>
                <a:cs typeface="Calibri"/>
              </a:rPr>
              <a:t>as</a:t>
            </a:r>
            <a:r>
              <a:rPr sz="1800" spc="495" dirty="0">
                <a:latin typeface="Calibri"/>
                <a:cs typeface="Calibri"/>
              </a:rPr>
              <a:t> </a:t>
            </a:r>
            <a:r>
              <a:rPr sz="1800" b="1" spc="75" dirty="0">
                <a:latin typeface="Calibri"/>
                <a:cs typeface="Calibri"/>
              </a:rPr>
              <a:t>Transmission </a:t>
            </a:r>
            <a:r>
              <a:rPr sz="1800" b="1" spc="85" dirty="0">
                <a:latin typeface="Calibri"/>
                <a:cs typeface="Calibri"/>
              </a:rPr>
              <a:t>Control</a:t>
            </a:r>
            <a:r>
              <a:rPr sz="1800" b="1" spc="295" dirty="0">
                <a:latin typeface="Calibri"/>
                <a:cs typeface="Calibri"/>
              </a:rPr>
              <a:t> </a:t>
            </a:r>
            <a:r>
              <a:rPr sz="1800" b="1" spc="70" dirty="0">
                <a:latin typeface="Calibri"/>
                <a:cs typeface="Calibri"/>
              </a:rPr>
              <a:t>protocol</a:t>
            </a:r>
            <a:r>
              <a:rPr sz="1800" b="1" spc="290" dirty="0">
                <a:latin typeface="Calibri"/>
                <a:cs typeface="Calibri"/>
              </a:rPr>
              <a:t> </a:t>
            </a:r>
            <a:r>
              <a:rPr sz="1800" b="1" spc="80" dirty="0">
                <a:latin typeface="Calibri"/>
                <a:cs typeface="Calibri"/>
              </a:rPr>
              <a:t>and</a:t>
            </a:r>
            <a:r>
              <a:rPr sz="1800" b="1" spc="290" dirty="0">
                <a:latin typeface="Calibri"/>
                <a:cs typeface="Calibri"/>
              </a:rPr>
              <a:t> </a:t>
            </a:r>
            <a:r>
              <a:rPr sz="1800" b="1" spc="50" dirty="0">
                <a:latin typeface="Calibri"/>
                <a:cs typeface="Calibri"/>
              </a:rPr>
              <a:t>internet</a:t>
            </a:r>
            <a:r>
              <a:rPr sz="1800" b="1" spc="295" dirty="0">
                <a:latin typeface="Calibri"/>
                <a:cs typeface="Calibri"/>
              </a:rPr>
              <a:t> </a:t>
            </a:r>
            <a:r>
              <a:rPr sz="1800" b="1" spc="70" dirty="0">
                <a:latin typeface="Calibri"/>
                <a:cs typeface="Calibri"/>
              </a:rPr>
              <a:t>protocol</a:t>
            </a:r>
            <a:r>
              <a:rPr sz="1800" spc="70" dirty="0">
                <a:latin typeface="Calibri"/>
                <a:cs typeface="Calibri"/>
              </a:rPr>
              <a:t>.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intranet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belongs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an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organization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which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6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100" dirty="0">
                <a:latin typeface="Calibri"/>
                <a:cs typeface="Calibri"/>
              </a:rPr>
              <a:t>accessible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b="1" spc="60" dirty="0">
                <a:latin typeface="Calibri"/>
                <a:cs typeface="Calibri"/>
              </a:rPr>
              <a:t>organization's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80" dirty="0">
                <a:latin typeface="Calibri"/>
                <a:cs typeface="Calibri"/>
              </a:rPr>
              <a:t>employee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45" dirty="0">
                <a:latin typeface="Calibri"/>
                <a:cs typeface="Calibri"/>
              </a:rPr>
              <a:t>members.</a:t>
            </a:r>
            <a:endParaRPr sz="1800">
              <a:latin typeface="Calibri"/>
              <a:cs typeface="Calibri"/>
            </a:endParaRPr>
          </a:p>
          <a:p>
            <a:pPr marL="184785" marR="6985" indent="-172720" algn="just">
              <a:lnSpc>
                <a:spcPts val="1980"/>
              </a:lnSpc>
              <a:spcBef>
                <a:spcPts val="359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114" dirty="0">
                <a:latin typeface="Calibri"/>
                <a:cs typeface="Calibri"/>
              </a:rPr>
              <a:t>  </a:t>
            </a:r>
            <a:r>
              <a:rPr sz="1800" spc="55" dirty="0">
                <a:latin typeface="Calibri"/>
                <a:cs typeface="Calibri"/>
              </a:rPr>
              <a:t>main</a:t>
            </a:r>
            <a:r>
              <a:rPr sz="1800" spc="114" dirty="0">
                <a:latin typeface="Calibri"/>
                <a:cs typeface="Calibri"/>
              </a:rPr>
              <a:t>  </a:t>
            </a:r>
            <a:r>
              <a:rPr sz="1800" spc="60" dirty="0">
                <a:latin typeface="Calibri"/>
                <a:cs typeface="Calibri"/>
              </a:rPr>
              <a:t>aim</a:t>
            </a:r>
            <a:r>
              <a:rPr sz="1800" spc="114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2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3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intranet</a:t>
            </a:r>
            <a:r>
              <a:rPr sz="1800" spc="110" dirty="0">
                <a:latin typeface="Calibri"/>
                <a:cs typeface="Calibri"/>
              </a:rPr>
              <a:t> 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13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14" dirty="0">
                <a:latin typeface="Calibri"/>
                <a:cs typeface="Calibri"/>
              </a:rPr>
              <a:t>  </a:t>
            </a:r>
            <a:r>
              <a:rPr sz="1800" spc="55" dirty="0">
                <a:latin typeface="Calibri"/>
                <a:cs typeface="Calibri"/>
              </a:rPr>
              <a:t>share</a:t>
            </a:r>
            <a:r>
              <a:rPr sz="1800" spc="13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2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125" dirty="0">
                <a:latin typeface="Calibri"/>
                <a:cs typeface="Calibri"/>
              </a:rPr>
              <a:t>  </a:t>
            </a:r>
            <a:r>
              <a:rPr sz="1800" spc="65" dirty="0">
                <a:latin typeface="Calibri"/>
                <a:cs typeface="Calibri"/>
              </a:rPr>
              <a:t>and</a:t>
            </a:r>
            <a:r>
              <a:rPr sz="1800" spc="110" dirty="0">
                <a:latin typeface="Calibri"/>
                <a:cs typeface="Calibri"/>
              </a:rPr>
              <a:t>  </a:t>
            </a:r>
            <a:r>
              <a:rPr sz="1800" spc="65" dirty="0">
                <a:latin typeface="Calibri"/>
                <a:cs typeface="Calibri"/>
              </a:rPr>
              <a:t>resources</a:t>
            </a:r>
            <a:r>
              <a:rPr sz="1800" spc="125" dirty="0">
                <a:latin typeface="Calibri"/>
                <a:cs typeface="Calibri"/>
              </a:rPr>
              <a:t>  </a:t>
            </a:r>
            <a:r>
              <a:rPr sz="1800" spc="55" dirty="0">
                <a:latin typeface="Calibri"/>
                <a:cs typeface="Calibri"/>
              </a:rPr>
              <a:t>among</a:t>
            </a:r>
            <a:r>
              <a:rPr sz="1800" spc="120" dirty="0">
                <a:latin typeface="Calibri"/>
                <a:cs typeface="Calibri"/>
              </a:rPr>
              <a:t> 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organization</a:t>
            </a:r>
            <a:r>
              <a:rPr sz="1800" spc="215" dirty="0">
                <a:latin typeface="Calibri"/>
                <a:cs typeface="Calibri"/>
              </a:rPr>
              <a:t>  </a:t>
            </a:r>
            <a:r>
              <a:rPr sz="1800" spc="50" dirty="0">
                <a:latin typeface="Calibri"/>
                <a:cs typeface="Calibri"/>
              </a:rPr>
              <a:t>employees.</a:t>
            </a:r>
            <a:r>
              <a:rPr sz="1800" spc="204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204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intranet</a:t>
            </a:r>
            <a:r>
              <a:rPr sz="1800" spc="204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provides</a:t>
            </a:r>
            <a:r>
              <a:rPr sz="1800" spc="204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1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facility</a:t>
            </a:r>
            <a:r>
              <a:rPr sz="1800" spc="204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21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work</a:t>
            </a:r>
            <a:r>
              <a:rPr sz="1800" spc="21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21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groups</a:t>
            </a:r>
            <a:r>
              <a:rPr sz="1800" spc="204" dirty="0">
                <a:latin typeface="Calibri"/>
                <a:cs typeface="Calibri"/>
              </a:rPr>
              <a:t>  </a:t>
            </a:r>
            <a:r>
              <a:rPr sz="1800" spc="65" dirty="0">
                <a:latin typeface="Calibri"/>
                <a:cs typeface="Calibri"/>
              </a:rPr>
              <a:t>and</a:t>
            </a:r>
            <a:r>
              <a:rPr sz="1800" spc="204" dirty="0">
                <a:latin typeface="Calibri"/>
                <a:cs typeface="Calibri"/>
              </a:rPr>
              <a:t>  </a:t>
            </a:r>
            <a:r>
              <a:rPr sz="1800" spc="-25" dirty="0">
                <a:latin typeface="Calibri"/>
                <a:cs typeface="Calibri"/>
              </a:rPr>
              <a:t>for </a:t>
            </a:r>
            <a:r>
              <a:rPr sz="1800" spc="35" dirty="0">
                <a:latin typeface="Calibri"/>
                <a:cs typeface="Calibri"/>
              </a:rPr>
              <a:t>teleconferences.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Intranet</a:t>
            </a:r>
            <a:r>
              <a:rPr spc="-114" dirty="0"/>
              <a:t> </a:t>
            </a:r>
            <a:r>
              <a:rPr spc="-10" dirty="0"/>
              <a:t>Advantages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664332"/>
            <a:ext cx="10515600" cy="3509645"/>
          </a:xfrm>
          <a:custGeom>
            <a:avLst/>
            <a:gdLst/>
            <a:ahLst/>
            <a:cxnLst/>
            <a:rect l="l" t="t" r="r" b="b"/>
            <a:pathLst>
              <a:path w="10515600" h="3509645">
                <a:moveTo>
                  <a:pt x="0" y="3509581"/>
                </a:moveTo>
                <a:lnTo>
                  <a:pt x="10515600" y="3509581"/>
                </a:lnTo>
              </a:path>
              <a:path w="10515600" h="3509645">
                <a:moveTo>
                  <a:pt x="0" y="2632202"/>
                </a:moveTo>
                <a:lnTo>
                  <a:pt x="10515600" y="2632202"/>
                </a:lnTo>
              </a:path>
              <a:path w="10515600" h="3509645">
                <a:moveTo>
                  <a:pt x="0" y="1754758"/>
                </a:moveTo>
                <a:lnTo>
                  <a:pt x="10515600" y="1754758"/>
                </a:lnTo>
              </a:path>
              <a:path w="10515600" h="3509645">
                <a:moveTo>
                  <a:pt x="0" y="877315"/>
                </a:moveTo>
                <a:lnTo>
                  <a:pt x="10515600" y="877315"/>
                </a:lnTo>
              </a:path>
              <a:path w="10515600" h="3509645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4353" y="2074290"/>
            <a:ext cx="766254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5"/>
              </a:spcBef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85" dirty="0">
                <a:latin typeface="Calibri"/>
                <a:cs typeface="Calibri"/>
              </a:rPr>
              <a:t>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75" dirty="0">
                <a:latin typeface="Calibri"/>
                <a:cs typeface="Calibri"/>
              </a:rPr>
              <a:t>cheap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65" dirty="0">
                <a:latin typeface="Calibri"/>
                <a:cs typeface="Calibri"/>
              </a:rPr>
              <a:t>easy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communication.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employee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organization </a:t>
            </a:r>
            <a:r>
              <a:rPr sz="1800" spc="95" dirty="0">
                <a:latin typeface="Calibri"/>
                <a:cs typeface="Calibri"/>
              </a:rPr>
              <a:t>can</a:t>
            </a:r>
            <a:r>
              <a:rPr sz="1800" spc="65" dirty="0">
                <a:latin typeface="Calibri"/>
                <a:cs typeface="Calibri"/>
              </a:rPr>
              <a:t> communicate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another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employee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email,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chat.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1850" y="1822323"/>
            <a:ext cx="2747010" cy="848360"/>
            <a:chOff x="831850" y="1822323"/>
            <a:chExt cx="2747010" cy="8483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828673"/>
              <a:ext cx="2734055" cy="8356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8200" y="1828673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8"/>
                  </a:lnTo>
                  <a:lnTo>
                    <a:pt x="2734055" y="835660"/>
                  </a:lnTo>
                  <a:lnTo>
                    <a:pt x="0" y="835660"/>
                  </a:lnTo>
                  <a:lnTo>
                    <a:pt x="0" y="139318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70559" y="2032761"/>
            <a:ext cx="2269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20" dirty="0">
                <a:latin typeface="Calibri"/>
                <a:cs typeface="Calibri"/>
              </a:rPr>
              <a:t>Communication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1850" y="2699766"/>
            <a:ext cx="2747010" cy="848360"/>
            <a:chOff x="831850" y="2699766"/>
            <a:chExt cx="2747010" cy="8483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2706116"/>
              <a:ext cx="2734055" cy="83553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8200" y="2706116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9"/>
                  </a:lnTo>
                  <a:lnTo>
                    <a:pt x="2734055" y="835533"/>
                  </a:lnTo>
                  <a:lnTo>
                    <a:pt x="0" y="835533"/>
                  </a:lnTo>
                  <a:lnTo>
                    <a:pt x="0" y="139319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2699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57122" y="2910332"/>
            <a:ext cx="8959215" cy="59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90"/>
              </a:lnSpc>
              <a:spcBef>
                <a:spcPts val="100"/>
              </a:spcBef>
            </a:pPr>
            <a:r>
              <a:rPr sz="2400" b="1" spc="80" dirty="0">
                <a:latin typeface="Calibri"/>
                <a:cs typeface="Calibri"/>
              </a:rPr>
              <a:t>Time-</a:t>
            </a:r>
            <a:r>
              <a:rPr sz="2400" b="1" spc="90" dirty="0">
                <a:latin typeface="Calibri"/>
                <a:cs typeface="Calibri"/>
              </a:rPr>
              <a:t>saving</a:t>
            </a:r>
            <a:endParaRPr sz="2400">
              <a:latin typeface="Calibri"/>
              <a:cs typeface="Calibri"/>
            </a:endParaRPr>
          </a:p>
          <a:p>
            <a:pPr marL="2249805">
              <a:lnSpc>
                <a:spcPts val="1870"/>
              </a:lnSpc>
            </a:pP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intranet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shared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time,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105" dirty="0">
                <a:latin typeface="Calibri"/>
                <a:cs typeface="Calibri"/>
              </a:rPr>
              <a:t>so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time-</a:t>
            </a:r>
            <a:r>
              <a:rPr sz="1800" spc="40" dirty="0">
                <a:latin typeface="Calibri"/>
                <a:cs typeface="Calibri"/>
              </a:rPr>
              <a:t>saving.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4353" y="3578097"/>
            <a:ext cx="7418070" cy="80137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ct val="91400"/>
              </a:lnSpc>
              <a:spcBef>
                <a:spcPts val="285"/>
              </a:spcBef>
            </a:pPr>
            <a:r>
              <a:rPr sz="1800" spc="45" dirty="0">
                <a:latin typeface="Calibri"/>
                <a:cs typeface="Calibri"/>
              </a:rPr>
              <a:t>Collaboration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one of 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65" dirty="0">
                <a:latin typeface="Calibri"/>
                <a:cs typeface="Calibri"/>
              </a:rPr>
              <a:t>most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important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advantage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intranet.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distributed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among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employees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organization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and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65" dirty="0">
                <a:latin typeface="Calibri"/>
                <a:cs typeface="Calibri"/>
              </a:rPr>
              <a:t>can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114" dirty="0">
                <a:latin typeface="Calibri"/>
                <a:cs typeface="Calibri"/>
              </a:rPr>
              <a:t>accessed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authorized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31850" y="3577082"/>
            <a:ext cx="2747010" cy="848360"/>
            <a:chOff x="831850" y="3577082"/>
            <a:chExt cx="2747010" cy="84836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3583432"/>
              <a:ext cx="2734055" cy="8356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8200" y="3583432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8"/>
                  </a:lnTo>
                  <a:lnTo>
                    <a:pt x="2734055" y="835659"/>
                  </a:lnTo>
                  <a:lnTo>
                    <a:pt x="0" y="835659"/>
                  </a:lnTo>
                  <a:lnTo>
                    <a:pt x="0" y="139318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40027" y="3787597"/>
            <a:ext cx="19278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90" dirty="0">
                <a:latin typeface="Calibri"/>
                <a:cs typeface="Calibri"/>
              </a:rPr>
              <a:t>Collaboration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94353" y="4706873"/>
            <a:ext cx="706691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5"/>
              </a:spcBef>
            </a:pPr>
            <a:r>
              <a:rPr sz="1800" spc="10" dirty="0">
                <a:latin typeface="Calibri"/>
                <a:cs typeface="Calibri"/>
              </a:rPr>
              <a:t>It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90" dirty="0">
                <a:latin typeface="Calibri"/>
                <a:cs typeface="Calibri"/>
              </a:rPr>
              <a:t>is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85" dirty="0">
                <a:latin typeface="Calibri"/>
                <a:cs typeface="Calibri"/>
              </a:rPr>
              <a:t>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neutral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architecture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130" dirty="0">
                <a:latin typeface="Calibri"/>
                <a:cs typeface="Calibri"/>
              </a:rPr>
              <a:t>as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computer </a:t>
            </a:r>
            <a:r>
              <a:rPr sz="1800" spc="95" dirty="0">
                <a:latin typeface="Calibri"/>
                <a:cs typeface="Calibri"/>
              </a:rPr>
              <a:t>can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connected</a:t>
            </a:r>
            <a:r>
              <a:rPr sz="1800" spc="10" dirty="0">
                <a:latin typeface="Calibri"/>
                <a:cs typeface="Calibri"/>
              </a:rPr>
              <a:t> to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another </a:t>
            </a:r>
            <a:r>
              <a:rPr sz="1800" spc="55" dirty="0">
                <a:latin typeface="Calibri"/>
                <a:cs typeface="Calibri"/>
              </a:rPr>
              <a:t>device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different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architecture.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1850" y="4454525"/>
            <a:ext cx="2747010" cy="848360"/>
            <a:chOff x="831850" y="4454525"/>
            <a:chExt cx="2747010" cy="84836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00" y="4460875"/>
              <a:ext cx="2734055" cy="83566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38200" y="4460875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9"/>
                  </a:lnTo>
                  <a:lnTo>
                    <a:pt x="2734055" y="835660"/>
                  </a:lnTo>
                  <a:lnTo>
                    <a:pt x="0" y="835660"/>
                  </a:lnTo>
                  <a:lnTo>
                    <a:pt x="0" y="139319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06195" y="4498085"/>
            <a:ext cx="1997710" cy="7270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382270">
              <a:lnSpc>
                <a:spcPts val="2640"/>
              </a:lnSpc>
              <a:spcBef>
                <a:spcPts val="385"/>
              </a:spcBef>
            </a:pPr>
            <a:r>
              <a:rPr sz="2400" b="1" spc="75" dirty="0">
                <a:latin typeface="Calibri"/>
                <a:cs typeface="Calibri"/>
              </a:rPr>
              <a:t>Platform </a:t>
            </a:r>
            <a:r>
              <a:rPr sz="2400" b="1" spc="100" dirty="0">
                <a:latin typeface="Calibri"/>
                <a:cs typeface="Calibri"/>
              </a:rPr>
              <a:t>independency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94353" y="5584647"/>
            <a:ext cx="7552055" cy="5499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0"/>
              </a:spcBef>
            </a:pPr>
            <a:r>
              <a:rPr sz="1800" dirty="0">
                <a:latin typeface="Calibri"/>
                <a:cs typeface="Calibri"/>
              </a:rPr>
              <a:t>People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95" dirty="0">
                <a:latin typeface="Calibri"/>
                <a:cs typeface="Calibri"/>
              </a:rPr>
              <a:t>can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80" dirty="0">
                <a:latin typeface="Calibri"/>
                <a:cs typeface="Calibri"/>
              </a:rPr>
              <a:t>see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65" dirty="0">
                <a:latin typeface="Calibri"/>
                <a:cs typeface="Calibri"/>
              </a:rPr>
              <a:t>documents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using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browser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distributes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duplicate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85" dirty="0">
                <a:latin typeface="Calibri"/>
                <a:cs typeface="Calibri"/>
              </a:rPr>
              <a:t>copies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intranet.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This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80" dirty="0">
                <a:latin typeface="Calibri"/>
                <a:cs typeface="Calibri"/>
              </a:rPr>
              <a:t>leads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85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cost.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31850" y="5331967"/>
            <a:ext cx="2747010" cy="848360"/>
            <a:chOff x="831850" y="5331967"/>
            <a:chExt cx="2747010" cy="84836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200" y="5338317"/>
              <a:ext cx="2734055" cy="83559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38200" y="5338317"/>
              <a:ext cx="2734310" cy="835660"/>
            </a:xfrm>
            <a:custGeom>
              <a:avLst/>
              <a:gdLst/>
              <a:ahLst/>
              <a:cxnLst/>
              <a:rect l="l" t="t" r="r" b="b"/>
              <a:pathLst>
                <a:path w="2734310" h="835660">
                  <a:moveTo>
                    <a:pt x="139293" y="0"/>
                  </a:moveTo>
                  <a:lnTo>
                    <a:pt x="2594737" y="0"/>
                  </a:lnTo>
                  <a:lnTo>
                    <a:pt x="2638779" y="7100"/>
                  </a:lnTo>
                  <a:lnTo>
                    <a:pt x="2677024" y="26875"/>
                  </a:lnTo>
                  <a:lnTo>
                    <a:pt x="2707180" y="57031"/>
                  </a:lnTo>
                  <a:lnTo>
                    <a:pt x="2726955" y="95276"/>
                  </a:lnTo>
                  <a:lnTo>
                    <a:pt x="2734055" y="139318"/>
                  </a:lnTo>
                  <a:lnTo>
                    <a:pt x="2734055" y="835596"/>
                  </a:lnTo>
                  <a:lnTo>
                    <a:pt x="0" y="835596"/>
                  </a:lnTo>
                  <a:lnTo>
                    <a:pt x="0" y="139318"/>
                  </a:lnTo>
                  <a:lnTo>
                    <a:pt x="7101" y="95276"/>
                  </a:lnTo>
                  <a:lnTo>
                    <a:pt x="26877" y="57031"/>
                  </a:lnTo>
                  <a:lnTo>
                    <a:pt x="57031" y="26875"/>
                  </a:lnTo>
                  <a:lnTo>
                    <a:pt x="95268" y="7100"/>
                  </a:lnTo>
                  <a:lnTo>
                    <a:pt x="139293" y="0"/>
                  </a:lnTo>
                  <a:close/>
                </a:path>
              </a:pathLst>
            </a:custGeom>
            <a:ln w="12700">
              <a:solidFill>
                <a:srgbClr val="4EA7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27531" y="5543194"/>
            <a:ext cx="195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85" dirty="0">
                <a:latin typeface="Calibri"/>
                <a:cs typeface="Calibri"/>
              </a:rPr>
              <a:t>Cost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75" dirty="0">
                <a:latin typeface="Calibri"/>
                <a:cs typeface="Calibri"/>
              </a:rPr>
              <a:t>effective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815</Words>
  <Application>Microsoft Office PowerPoint</Application>
  <PresentationFormat>Widescreen</PresentationFormat>
  <Paragraphs>120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Computer Networks [Computer Network Types]</vt:lpstr>
      <vt:lpstr>Computer Network Types</vt:lpstr>
      <vt:lpstr>LAN (Local Area Network)</vt:lpstr>
      <vt:lpstr>LAN (Local Area Network)</vt:lpstr>
      <vt:lpstr>PAN (Personal Area Network)</vt:lpstr>
      <vt:lpstr>PAN (Personal Area Network)</vt:lpstr>
      <vt:lpstr>Types of Personal Area Network</vt:lpstr>
      <vt:lpstr>Examples of Personal Area Network</vt:lpstr>
      <vt:lpstr>MAN (Metropolitan Area Network)</vt:lpstr>
      <vt:lpstr>MAN (Metropolitan Area Network)</vt:lpstr>
      <vt:lpstr>Uses of Metropolitan Area Network</vt:lpstr>
      <vt:lpstr>WAN (Wide Area Network)</vt:lpstr>
      <vt:lpstr>WAN (Wide Area Network)</vt:lpstr>
      <vt:lpstr>Examples of Wide Area Network</vt:lpstr>
      <vt:lpstr>Advantages of Wide Area Network</vt:lpstr>
      <vt:lpstr>Disadvantages of Wide Area Network</vt:lpstr>
      <vt:lpstr>Internetwork</vt:lpstr>
      <vt:lpstr>Types of Internetwork</vt:lpstr>
      <vt:lpstr>Intranet Advantages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[Computer Network Types]</dc:title>
  <dc:creator>Muhammad Hammad Waseem</dc:creator>
  <cp:lastModifiedBy>Windows User</cp:lastModifiedBy>
  <cp:revision>1</cp:revision>
  <dcterms:created xsi:type="dcterms:W3CDTF">2025-06-30T07:07:37Z</dcterms:created>
  <dcterms:modified xsi:type="dcterms:W3CDTF">2025-06-30T07:14:49Z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3-Heights(TM) PDF Security Shell 4.8.25.2 (http://www.pdf-tools.com)</vt:lpwstr>
  </property>
</Properties>
</file>