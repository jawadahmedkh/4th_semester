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2779852"/>
            <a:ext cx="3228975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4517390" cy="11105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ts val="3875"/>
              </a:lnSpc>
              <a:spcBef>
                <a:spcPts val="22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Systems</a:t>
            </a:r>
            <a:endParaRPr sz="3400" dirty="0">
              <a:latin typeface="Calibri Light"/>
              <a:cs typeface="Calibri Light"/>
            </a:endParaRPr>
          </a:p>
          <a:p>
            <a:pPr marL="12700">
              <a:lnSpc>
                <a:spcPts val="3875"/>
              </a:lnSpc>
            </a:pP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ACID</a:t>
            </a:r>
            <a:r>
              <a:rPr sz="3400" i="1" spc="-105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Properties</a:t>
            </a:r>
            <a:r>
              <a:rPr sz="3400" i="1" spc="-9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in</a:t>
            </a:r>
            <a:r>
              <a:rPr sz="3400" i="1" spc="-105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DBMS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/>
              <a:t>ACID</a:t>
            </a:r>
            <a:r>
              <a:rPr spc="-25" dirty="0"/>
              <a:t> </a:t>
            </a:r>
            <a:r>
              <a:rPr spc="-20" dirty="0"/>
              <a:t>Properties </a:t>
            </a:r>
            <a:r>
              <a:rPr dirty="0"/>
              <a:t>in</a:t>
            </a:r>
            <a:r>
              <a:rPr spc="-30" dirty="0"/>
              <a:t> </a:t>
            </a:r>
            <a:r>
              <a:rPr spc="-20" dirty="0"/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2204" y="371602"/>
            <a:ext cx="5076190" cy="51295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DBMS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 	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integrity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affected, 	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disturbed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corrupted.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Therefore,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maintain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integrity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four 	</a:t>
            </a:r>
            <a:r>
              <a:rPr sz="2400" spc="-10" dirty="0">
                <a:latin typeface="Calibri"/>
                <a:cs typeface="Calibri"/>
              </a:rPr>
              <a:t>properties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known 	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ACID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properties.</a:t>
            </a:r>
            <a:endParaRPr sz="2400">
              <a:latin typeface="Calibri"/>
              <a:cs typeface="Calibri"/>
            </a:endParaRPr>
          </a:p>
          <a:p>
            <a:pPr marL="240029" marR="10096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ACID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	</a:t>
            </a:r>
            <a:r>
              <a:rPr sz="2400" dirty="0">
                <a:latin typeface="Calibri"/>
                <a:cs typeface="Calibri"/>
              </a:rPr>
              <a:t>come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ACID 	</a:t>
            </a:r>
            <a:r>
              <a:rPr sz="2400" spc="-10" dirty="0">
                <a:latin typeface="Calibri"/>
                <a:cs typeface="Calibri"/>
              </a:rPr>
              <a:t>properties.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228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ACID</a:t>
            </a:r>
            <a:r>
              <a:rPr sz="4000" spc="-2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Properties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650872"/>
            <a:ext cx="418274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expansion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ACID 	</a:t>
            </a:r>
            <a:r>
              <a:rPr sz="2400" dirty="0">
                <a:latin typeface="Calibri"/>
                <a:cs typeface="Calibri"/>
              </a:rPr>
              <a:t>defines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24146" y="3152901"/>
            <a:ext cx="6246495" cy="1588135"/>
            <a:chOff x="4724146" y="3152901"/>
            <a:chExt cx="6246495" cy="1588135"/>
          </a:xfrm>
        </p:grpSpPr>
        <p:sp>
          <p:nvSpPr>
            <p:cNvPr id="5" name="object 5"/>
            <p:cNvSpPr/>
            <p:nvPr/>
          </p:nvSpPr>
          <p:spPr>
            <a:xfrm>
              <a:off x="4730496" y="4239767"/>
              <a:ext cx="6233795" cy="494665"/>
            </a:xfrm>
            <a:custGeom>
              <a:avLst/>
              <a:gdLst/>
              <a:ahLst/>
              <a:cxnLst/>
              <a:rect l="l" t="t" r="r" b="b"/>
              <a:pathLst>
                <a:path w="6233795" h="494664">
                  <a:moveTo>
                    <a:pt x="3116579" y="0"/>
                  </a:moveTo>
                  <a:lnTo>
                    <a:pt x="3116579" y="336930"/>
                  </a:lnTo>
                  <a:lnTo>
                    <a:pt x="6233668" y="336930"/>
                  </a:lnTo>
                  <a:lnTo>
                    <a:pt x="6233668" y="494537"/>
                  </a:lnTo>
                </a:path>
                <a:path w="6233795" h="494664">
                  <a:moveTo>
                    <a:pt x="3116579" y="0"/>
                  </a:moveTo>
                  <a:lnTo>
                    <a:pt x="3116579" y="336930"/>
                  </a:lnTo>
                  <a:lnTo>
                    <a:pt x="4155567" y="336930"/>
                  </a:lnTo>
                  <a:lnTo>
                    <a:pt x="4155567" y="494537"/>
                  </a:lnTo>
                </a:path>
                <a:path w="6233795" h="494664">
                  <a:moveTo>
                    <a:pt x="3117723" y="0"/>
                  </a:moveTo>
                  <a:lnTo>
                    <a:pt x="3117723" y="336930"/>
                  </a:lnTo>
                  <a:lnTo>
                    <a:pt x="2078735" y="336930"/>
                  </a:lnTo>
                  <a:lnTo>
                    <a:pt x="2078735" y="494537"/>
                  </a:lnTo>
                </a:path>
                <a:path w="6233795" h="494664">
                  <a:moveTo>
                    <a:pt x="3117087" y="0"/>
                  </a:moveTo>
                  <a:lnTo>
                    <a:pt x="3117087" y="336930"/>
                  </a:lnTo>
                  <a:lnTo>
                    <a:pt x="0" y="336930"/>
                  </a:lnTo>
                  <a:lnTo>
                    <a:pt x="0" y="494537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98208" y="3159251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3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39"/>
                  </a:lnTo>
                  <a:lnTo>
                    <a:pt x="8493" y="1014507"/>
                  </a:lnTo>
                  <a:lnTo>
                    <a:pt x="31654" y="1048861"/>
                  </a:lnTo>
                  <a:lnTo>
                    <a:pt x="66008" y="1072022"/>
                  </a:lnTo>
                  <a:lnTo>
                    <a:pt x="108076" y="1080516"/>
                  </a:lnTo>
                  <a:lnTo>
                    <a:pt x="1591183" y="1080516"/>
                  </a:lnTo>
                  <a:lnTo>
                    <a:pt x="1633251" y="1072022"/>
                  </a:lnTo>
                  <a:lnTo>
                    <a:pt x="1667605" y="1048861"/>
                  </a:lnTo>
                  <a:lnTo>
                    <a:pt x="1690766" y="1014507"/>
                  </a:lnTo>
                  <a:lnTo>
                    <a:pt x="1699260" y="972439"/>
                  </a:lnTo>
                  <a:lnTo>
                    <a:pt x="1699260" y="108076"/>
                  </a:lnTo>
                  <a:lnTo>
                    <a:pt x="1690766" y="66008"/>
                  </a:lnTo>
                  <a:lnTo>
                    <a:pt x="1667605" y="31654"/>
                  </a:lnTo>
                  <a:lnTo>
                    <a:pt x="1633251" y="8493"/>
                  </a:lnTo>
                  <a:lnTo>
                    <a:pt x="15911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98208" y="3159251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1183" y="0"/>
                  </a:lnTo>
                  <a:lnTo>
                    <a:pt x="1633251" y="8493"/>
                  </a:lnTo>
                  <a:lnTo>
                    <a:pt x="1667605" y="31654"/>
                  </a:lnTo>
                  <a:lnTo>
                    <a:pt x="1690766" y="66008"/>
                  </a:lnTo>
                  <a:lnTo>
                    <a:pt x="1699260" y="108076"/>
                  </a:lnTo>
                  <a:lnTo>
                    <a:pt x="1699260" y="972439"/>
                  </a:lnTo>
                  <a:lnTo>
                    <a:pt x="1690766" y="1014507"/>
                  </a:lnTo>
                  <a:lnTo>
                    <a:pt x="1667605" y="1048861"/>
                  </a:lnTo>
                  <a:lnTo>
                    <a:pt x="1633251" y="1072022"/>
                  </a:lnTo>
                  <a:lnTo>
                    <a:pt x="1591183" y="1080516"/>
                  </a:lnTo>
                  <a:lnTo>
                    <a:pt x="108076" y="1080516"/>
                  </a:lnTo>
                  <a:lnTo>
                    <a:pt x="66008" y="1072022"/>
                  </a:lnTo>
                  <a:lnTo>
                    <a:pt x="31654" y="1048861"/>
                  </a:lnTo>
                  <a:lnTo>
                    <a:pt x="8493" y="1014507"/>
                  </a:lnTo>
                  <a:lnTo>
                    <a:pt x="0" y="972439"/>
                  </a:lnTo>
                  <a:lnTo>
                    <a:pt x="0" y="10807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87184" y="3339083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3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38"/>
                  </a:lnTo>
                  <a:lnTo>
                    <a:pt x="8493" y="1014507"/>
                  </a:lnTo>
                  <a:lnTo>
                    <a:pt x="31654" y="1048861"/>
                  </a:lnTo>
                  <a:lnTo>
                    <a:pt x="66008" y="1072022"/>
                  </a:lnTo>
                  <a:lnTo>
                    <a:pt x="108076" y="1080515"/>
                  </a:lnTo>
                  <a:lnTo>
                    <a:pt x="1591183" y="1080515"/>
                  </a:lnTo>
                  <a:lnTo>
                    <a:pt x="1633251" y="1072022"/>
                  </a:lnTo>
                  <a:lnTo>
                    <a:pt x="1667605" y="1048861"/>
                  </a:lnTo>
                  <a:lnTo>
                    <a:pt x="1690766" y="1014507"/>
                  </a:lnTo>
                  <a:lnTo>
                    <a:pt x="1699260" y="972438"/>
                  </a:lnTo>
                  <a:lnTo>
                    <a:pt x="1699260" y="108076"/>
                  </a:lnTo>
                  <a:lnTo>
                    <a:pt x="1690766" y="66008"/>
                  </a:lnTo>
                  <a:lnTo>
                    <a:pt x="1667605" y="31654"/>
                  </a:lnTo>
                  <a:lnTo>
                    <a:pt x="1633251" y="8493"/>
                  </a:lnTo>
                  <a:lnTo>
                    <a:pt x="159118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87184" y="3339083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1183" y="0"/>
                  </a:lnTo>
                  <a:lnTo>
                    <a:pt x="1633251" y="8493"/>
                  </a:lnTo>
                  <a:lnTo>
                    <a:pt x="1667605" y="31654"/>
                  </a:lnTo>
                  <a:lnTo>
                    <a:pt x="1690766" y="66008"/>
                  </a:lnTo>
                  <a:lnTo>
                    <a:pt x="1699260" y="108076"/>
                  </a:lnTo>
                  <a:lnTo>
                    <a:pt x="1699260" y="972438"/>
                  </a:lnTo>
                  <a:lnTo>
                    <a:pt x="1690766" y="1014507"/>
                  </a:lnTo>
                  <a:lnTo>
                    <a:pt x="1667605" y="1048861"/>
                  </a:lnTo>
                  <a:lnTo>
                    <a:pt x="1633251" y="1072022"/>
                  </a:lnTo>
                  <a:lnTo>
                    <a:pt x="1591183" y="1080515"/>
                  </a:lnTo>
                  <a:lnTo>
                    <a:pt x="108076" y="1080515"/>
                  </a:lnTo>
                  <a:lnTo>
                    <a:pt x="66008" y="1072022"/>
                  </a:lnTo>
                  <a:lnTo>
                    <a:pt x="31654" y="1048861"/>
                  </a:lnTo>
                  <a:lnTo>
                    <a:pt x="8493" y="1014507"/>
                  </a:lnTo>
                  <a:lnTo>
                    <a:pt x="0" y="972438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09815" y="3495878"/>
            <a:ext cx="1254760" cy="699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645"/>
              </a:lnSpc>
              <a:spcBef>
                <a:spcPts val="105"/>
              </a:spcBef>
            </a:pPr>
            <a:r>
              <a:rPr sz="2300" spc="-20" dirty="0">
                <a:latin typeface="Calibri"/>
                <a:cs typeface="Calibri"/>
              </a:rPr>
              <a:t>ACID</a:t>
            </a:r>
            <a:endParaRPr sz="2300">
              <a:latin typeface="Calibri"/>
              <a:cs typeface="Calibri"/>
            </a:endParaRPr>
          </a:p>
          <a:p>
            <a:pPr algn="ctr">
              <a:lnSpc>
                <a:spcPts val="2645"/>
              </a:lnSpc>
            </a:pPr>
            <a:r>
              <a:rPr sz="2300" spc="-10" dirty="0">
                <a:latin typeface="Calibri"/>
                <a:cs typeface="Calibri"/>
              </a:rPr>
              <a:t>Properties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73753" y="4727194"/>
            <a:ext cx="1902460" cy="1273175"/>
            <a:chOff x="3873753" y="4727194"/>
            <a:chExt cx="1902460" cy="1273175"/>
          </a:xfrm>
        </p:grpSpPr>
        <p:sp>
          <p:nvSpPr>
            <p:cNvPr id="12" name="object 12"/>
            <p:cNvSpPr/>
            <p:nvPr/>
          </p:nvSpPr>
          <p:spPr>
            <a:xfrm>
              <a:off x="3880103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1592707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2707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76"/>
                  </a:lnTo>
                  <a:lnTo>
                    <a:pt x="1692290" y="66008"/>
                  </a:lnTo>
                  <a:lnTo>
                    <a:pt x="1669129" y="31654"/>
                  </a:lnTo>
                  <a:lnTo>
                    <a:pt x="1634775" y="8493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0103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2707" y="0"/>
                  </a:lnTo>
                  <a:lnTo>
                    <a:pt x="1634775" y="8493"/>
                  </a:lnTo>
                  <a:lnTo>
                    <a:pt x="1669129" y="31654"/>
                  </a:lnTo>
                  <a:lnTo>
                    <a:pt x="1692290" y="66008"/>
                  </a:lnTo>
                  <a:lnTo>
                    <a:pt x="1700784" y="108076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69079" y="4913376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1592707" y="0"/>
                  </a:moveTo>
                  <a:lnTo>
                    <a:pt x="108077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7" y="1080516"/>
                  </a:lnTo>
                  <a:lnTo>
                    <a:pt x="1592707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76"/>
                  </a:lnTo>
                  <a:lnTo>
                    <a:pt x="1692290" y="66008"/>
                  </a:lnTo>
                  <a:lnTo>
                    <a:pt x="1669129" y="31654"/>
                  </a:lnTo>
                  <a:lnTo>
                    <a:pt x="1634775" y="8493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69079" y="4913376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7" y="0"/>
                  </a:lnTo>
                  <a:lnTo>
                    <a:pt x="1592707" y="0"/>
                  </a:lnTo>
                  <a:lnTo>
                    <a:pt x="1634775" y="8493"/>
                  </a:lnTo>
                  <a:lnTo>
                    <a:pt x="1669129" y="31654"/>
                  </a:lnTo>
                  <a:lnTo>
                    <a:pt x="1692290" y="66008"/>
                  </a:lnTo>
                  <a:lnTo>
                    <a:pt x="1700784" y="108076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6"/>
                  </a:lnTo>
                  <a:lnTo>
                    <a:pt x="108077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41367" y="5231384"/>
            <a:ext cx="11563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Calibri"/>
                <a:cs typeface="Calibri"/>
              </a:rPr>
              <a:t>Atomicity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52490" y="4727194"/>
            <a:ext cx="1901189" cy="1273175"/>
            <a:chOff x="5952490" y="4727194"/>
            <a:chExt cx="1901189" cy="1273175"/>
          </a:xfrm>
        </p:grpSpPr>
        <p:sp>
          <p:nvSpPr>
            <p:cNvPr id="18" name="object 18"/>
            <p:cNvSpPr/>
            <p:nvPr/>
          </p:nvSpPr>
          <p:spPr>
            <a:xfrm>
              <a:off x="5958840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7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2707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76"/>
                  </a:lnTo>
                  <a:lnTo>
                    <a:pt x="1692290" y="66008"/>
                  </a:lnTo>
                  <a:lnTo>
                    <a:pt x="1669129" y="31654"/>
                  </a:lnTo>
                  <a:lnTo>
                    <a:pt x="1634775" y="8493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58840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2707" y="0"/>
                  </a:lnTo>
                  <a:lnTo>
                    <a:pt x="1634775" y="8493"/>
                  </a:lnTo>
                  <a:lnTo>
                    <a:pt x="1669129" y="31654"/>
                  </a:lnTo>
                  <a:lnTo>
                    <a:pt x="1692290" y="66008"/>
                  </a:lnTo>
                  <a:lnTo>
                    <a:pt x="1700784" y="108076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47816" y="4913376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3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1183" y="1080516"/>
                  </a:lnTo>
                  <a:lnTo>
                    <a:pt x="1633251" y="1072025"/>
                  </a:lnTo>
                  <a:lnTo>
                    <a:pt x="1667605" y="1048869"/>
                  </a:lnTo>
                  <a:lnTo>
                    <a:pt x="1690766" y="1014523"/>
                  </a:lnTo>
                  <a:lnTo>
                    <a:pt x="1699260" y="972464"/>
                  </a:lnTo>
                  <a:lnTo>
                    <a:pt x="1699260" y="108076"/>
                  </a:lnTo>
                  <a:lnTo>
                    <a:pt x="1690766" y="66008"/>
                  </a:lnTo>
                  <a:lnTo>
                    <a:pt x="1667605" y="31654"/>
                  </a:lnTo>
                  <a:lnTo>
                    <a:pt x="1633251" y="8493"/>
                  </a:lnTo>
                  <a:lnTo>
                    <a:pt x="159118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47816" y="4913376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1183" y="0"/>
                  </a:lnTo>
                  <a:lnTo>
                    <a:pt x="1633251" y="8493"/>
                  </a:lnTo>
                  <a:lnTo>
                    <a:pt x="1667605" y="31654"/>
                  </a:lnTo>
                  <a:lnTo>
                    <a:pt x="1690766" y="66008"/>
                  </a:lnTo>
                  <a:lnTo>
                    <a:pt x="1699260" y="108076"/>
                  </a:lnTo>
                  <a:lnTo>
                    <a:pt x="1699260" y="972464"/>
                  </a:lnTo>
                  <a:lnTo>
                    <a:pt x="1690766" y="1014523"/>
                  </a:lnTo>
                  <a:lnTo>
                    <a:pt x="1667605" y="1048869"/>
                  </a:lnTo>
                  <a:lnTo>
                    <a:pt x="1633251" y="1072025"/>
                  </a:lnTo>
                  <a:lnTo>
                    <a:pt x="1591183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82309" y="5231384"/>
            <a:ext cx="143192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Calibri"/>
                <a:cs typeface="Calibri"/>
              </a:rPr>
              <a:t>Consistency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29702" y="4727194"/>
            <a:ext cx="1902460" cy="1273175"/>
            <a:chOff x="8029702" y="4727194"/>
            <a:chExt cx="1902460" cy="1273175"/>
          </a:xfrm>
        </p:grpSpPr>
        <p:sp>
          <p:nvSpPr>
            <p:cNvPr id="24" name="object 24"/>
            <p:cNvSpPr/>
            <p:nvPr/>
          </p:nvSpPr>
          <p:spPr>
            <a:xfrm>
              <a:off x="8036052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2706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76"/>
                  </a:lnTo>
                  <a:lnTo>
                    <a:pt x="1692290" y="66008"/>
                  </a:lnTo>
                  <a:lnTo>
                    <a:pt x="1669129" y="31654"/>
                  </a:lnTo>
                  <a:lnTo>
                    <a:pt x="1634775" y="8493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36052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3"/>
                  </a:lnTo>
                  <a:lnTo>
                    <a:pt x="1669129" y="31654"/>
                  </a:lnTo>
                  <a:lnTo>
                    <a:pt x="1692290" y="66008"/>
                  </a:lnTo>
                  <a:lnTo>
                    <a:pt x="1700783" y="108076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25028" y="4913376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2706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76"/>
                  </a:lnTo>
                  <a:lnTo>
                    <a:pt x="1692290" y="66008"/>
                  </a:lnTo>
                  <a:lnTo>
                    <a:pt x="1669129" y="31654"/>
                  </a:lnTo>
                  <a:lnTo>
                    <a:pt x="1634775" y="8493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25028" y="4913376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3"/>
                  </a:lnTo>
                  <a:lnTo>
                    <a:pt x="1669129" y="31654"/>
                  </a:lnTo>
                  <a:lnTo>
                    <a:pt x="1692290" y="66008"/>
                  </a:lnTo>
                  <a:lnTo>
                    <a:pt x="1700783" y="108076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554339" y="5231384"/>
            <a:ext cx="104330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Calibri"/>
                <a:cs typeface="Calibri"/>
              </a:rPr>
              <a:t>Isolation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108438" y="4727194"/>
            <a:ext cx="1902460" cy="1273175"/>
            <a:chOff x="10108438" y="4727194"/>
            <a:chExt cx="1902460" cy="1273175"/>
          </a:xfrm>
        </p:grpSpPr>
        <p:sp>
          <p:nvSpPr>
            <p:cNvPr id="30" name="object 30"/>
            <p:cNvSpPr/>
            <p:nvPr/>
          </p:nvSpPr>
          <p:spPr>
            <a:xfrm>
              <a:off x="10114788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2706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76"/>
                  </a:lnTo>
                  <a:lnTo>
                    <a:pt x="1692290" y="66008"/>
                  </a:lnTo>
                  <a:lnTo>
                    <a:pt x="1669129" y="31654"/>
                  </a:lnTo>
                  <a:lnTo>
                    <a:pt x="1634775" y="8493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114788" y="4733544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3"/>
                  </a:lnTo>
                  <a:lnTo>
                    <a:pt x="1669129" y="31654"/>
                  </a:lnTo>
                  <a:lnTo>
                    <a:pt x="1692290" y="66008"/>
                  </a:lnTo>
                  <a:lnTo>
                    <a:pt x="1700783" y="108076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303764" y="4913376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2706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76"/>
                  </a:lnTo>
                  <a:lnTo>
                    <a:pt x="1692290" y="66008"/>
                  </a:lnTo>
                  <a:lnTo>
                    <a:pt x="1669129" y="31654"/>
                  </a:lnTo>
                  <a:lnTo>
                    <a:pt x="1634775" y="8493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03764" y="4913376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3"/>
                  </a:lnTo>
                  <a:lnTo>
                    <a:pt x="1669129" y="31654"/>
                  </a:lnTo>
                  <a:lnTo>
                    <a:pt x="1692290" y="66008"/>
                  </a:lnTo>
                  <a:lnTo>
                    <a:pt x="1700783" y="108076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563859" y="5231384"/>
            <a:ext cx="118237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Calibri"/>
                <a:cs typeface="Calibri"/>
              </a:rPr>
              <a:t>Durability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1963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Atomicity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17854"/>
            <a:ext cx="4988560" cy="472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atomicity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atomic.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performed 	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spc="-10" dirty="0">
                <a:latin typeface="Calibri"/>
                <a:cs typeface="Calibri"/>
              </a:rPr>
              <a:t>performed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all.</a:t>
            </a:r>
            <a:endParaRPr sz="2400">
              <a:latin typeface="Calibri"/>
              <a:cs typeface="Calibri"/>
            </a:endParaRPr>
          </a:p>
          <a:p>
            <a:pPr marL="240029" marR="386715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further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 	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break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partially.</a:t>
            </a:r>
            <a:endParaRPr sz="2400">
              <a:latin typeface="Calibri"/>
              <a:cs typeface="Calibri"/>
            </a:endParaRPr>
          </a:p>
          <a:p>
            <a:pPr marL="240029" marR="45085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should 	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 	</a:t>
            </a:r>
            <a:r>
              <a:rPr sz="2400" spc="-10" dirty="0">
                <a:latin typeface="Calibri"/>
                <a:cs typeface="Calibri"/>
              </a:rPr>
              <a:t>partially.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196342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5" dirty="0">
                <a:latin typeface="Calibri Light"/>
                <a:cs typeface="Calibri Light"/>
              </a:rPr>
              <a:t>Atomicity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43787"/>
            <a:ext cx="5109210" cy="502983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40640" indent="-228600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Kamil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$30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his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wishes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$10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Saqib's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B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41300" marR="260350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$100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already </a:t>
            </a:r>
            <a:r>
              <a:rPr sz="2200" dirty="0">
                <a:latin typeface="Calibri"/>
                <a:cs typeface="Calibri"/>
              </a:rPr>
              <a:t>present.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$10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transferred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become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$110.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45" dirty="0">
                <a:latin typeface="Calibri"/>
                <a:cs typeface="Calibri"/>
              </a:rPr>
              <a:t>Now,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operations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will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155"/>
              </a:lnSpc>
            </a:pPr>
            <a:r>
              <a:rPr sz="2200" dirty="0">
                <a:latin typeface="Calibri"/>
                <a:cs typeface="Calibri"/>
              </a:rPr>
              <a:t>take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place.</a:t>
            </a:r>
            <a:endParaRPr sz="2200">
              <a:latin typeface="Calibri"/>
              <a:cs typeface="Calibri"/>
            </a:endParaRPr>
          </a:p>
          <a:p>
            <a:pPr marL="698500" marR="109220" lvl="1" indent="-228600">
              <a:lnSpc>
                <a:spcPct val="70000"/>
              </a:lnSpc>
              <a:spcBef>
                <a:spcPts val="595"/>
              </a:spcBef>
              <a:buFont typeface="Arial MT"/>
              <a:buChar char="•"/>
              <a:tabLst>
                <a:tab pos="698500" algn="l"/>
              </a:tabLst>
            </a:pPr>
            <a:r>
              <a:rPr sz="1900" dirty="0">
                <a:latin typeface="Calibri"/>
                <a:cs typeface="Calibri"/>
              </a:rPr>
              <a:t>One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amount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$10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Kamil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wants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transfer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debited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account </a:t>
            </a:r>
            <a:r>
              <a:rPr sz="1900" b="1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amount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credited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account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B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i.e.,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Saqib's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account.</a:t>
            </a:r>
            <a:endParaRPr sz="19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latin typeface="Calibri"/>
                <a:cs typeface="Calibri"/>
              </a:rPr>
              <a:t>Now,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happens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debit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executes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successfully,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credit operation,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however,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fails.</a:t>
            </a:r>
            <a:endParaRPr sz="2200">
              <a:latin typeface="Calibri"/>
              <a:cs typeface="Calibri"/>
            </a:endParaRPr>
          </a:p>
          <a:p>
            <a:pPr marL="241300" marR="753110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Thus,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Kamil’s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value </a:t>
            </a:r>
            <a:r>
              <a:rPr sz="2200" dirty="0">
                <a:latin typeface="Calibri"/>
                <a:cs typeface="Calibri"/>
              </a:rPr>
              <a:t>becomes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$20,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Saqib's </a:t>
            </a:r>
            <a:r>
              <a:rPr sz="2200" dirty="0">
                <a:latin typeface="Calibri"/>
                <a:cs typeface="Calibri"/>
              </a:rPr>
              <a:t>account,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remains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$100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was </a:t>
            </a:r>
            <a:r>
              <a:rPr sz="2200" dirty="0">
                <a:latin typeface="Calibri"/>
                <a:cs typeface="Calibri"/>
              </a:rPr>
              <a:t>previously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present.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25" dirty="0"/>
              <a:t>Atomicity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0167" y="3768344"/>
            <a:ext cx="4963795" cy="15055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seen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crediting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$10,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still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$100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atomic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transaction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3977" y="949798"/>
            <a:ext cx="5839946" cy="2523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196342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5" dirty="0">
                <a:latin typeface="Calibri Light"/>
                <a:cs typeface="Calibri Light"/>
              </a:rPr>
              <a:t>Atomicity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175765"/>
            <a:ext cx="5142865" cy="15074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debit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credit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done 	</a:t>
            </a:r>
            <a:r>
              <a:rPr sz="2400" spc="-10" dirty="0">
                <a:latin typeface="Calibri"/>
                <a:cs typeface="Calibri"/>
              </a:rPr>
              <a:t>successfully.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Thus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transaction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atomic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3382" y="2938685"/>
            <a:ext cx="5125924" cy="27439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4616" y="6163157"/>
            <a:ext cx="7575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Thus,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atomicity,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bank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becomes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huge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issue,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atomicity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focus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bank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443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Consistency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347596"/>
            <a:ext cx="5073015" cy="4065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3873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consistency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always.</a:t>
            </a:r>
            <a:endParaRPr sz="2400">
              <a:latin typeface="Calibri"/>
              <a:cs typeface="Calibri"/>
            </a:endParaRPr>
          </a:p>
          <a:p>
            <a:pPr marL="240029" marR="139700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integrity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maintained,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if 	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made,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always.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integrity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essential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so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consistent 	before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transaction.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always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correct.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20" dirty="0"/>
              <a:t>Consistency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375" y="3524250"/>
            <a:ext cx="4984115" cy="31559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41300" marR="87630" indent="-2286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three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A,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C</a:t>
            </a:r>
            <a:r>
              <a:rPr sz="2200" spc="-25" dirty="0">
                <a:latin typeface="Calibri"/>
                <a:cs typeface="Calibri"/>
              </a:rPr>
              <a:t>,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&amp;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C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375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operations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take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place,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i.e.,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Debit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Credit.</a:t>
            </a:r>
            <a:endParaRPr sz="22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firstly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debits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$50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B</a:t>
            </a:r>
            <a:r>
              <a:rPr sz="2200" spc="-25" dirty="0">
                <a:latin typeface="Calibri"/>
                <a:cs typeface="Calibri"/>
              </a:rPr>
              <a:t>,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amount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account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$300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before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transaction.</a:t>
            </a:r>
            <a:endParaRPr sz="2200">
              <a:latin typeface="Calibri"/>
              <a:cs typeface="Calibri"/>
            </a:endParaRPr>
          </a:p>
          <a:p>
            <a:pPr marL="241300" marR="457834" indent="-228600" algn="just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After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successful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available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amount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becomes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$150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8103" y="76216"/>
            <a:ext cx="5411309" cy="33535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20" dirty="0"/>
              <a:t>Consistency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2204" y="3626358"/>
            <a:ext cx="5052695" cy="305943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39395" marR="5080" indent="-226695" algn="just">
              <a:lnSpc>
                <a:spcPct val="70000"/>
              </a:lnSpc>
              <a:spcBef>
                <a:spcPts val="819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35" dirty="0">
                <a:latin typeface="Calibri"/>
                <a:cs typeface="Calibri"/>
              </a:rPr>
              <a:t>Now,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debits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$20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account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time,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$250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correct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	</a:t>
            </a:r>
            <a:r>
              <a:rPr sz="2000" dirty="0">
                <a:latin typeface="Calibri"/>
                <a:cs typeface="Calibri"/>
              </a:rPr>
              <a:t>debit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$50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successfully</a:t>
            </a:r>
            <a:r>
              <a:rPr sz="2000" dirty="0">
                <a:latin typeface="Calibri"/>
                <a:cs typeface="Calibri"/>
              </a:rPr>
              <a:t> done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B</a:t>
            </a:r>
            <a:r>
              <a:rPr sz="2000" spc="-25" dirty="0">
                <a:latin typeface="Calibri"/>
                <a:cs typeface="Calibri"/>
              </a:rPr>
              <a:t>).</a:t>
            </a:r>
            <a:endParaRPr sz="2000">
              <a:latin typeface="Calibri"/>
              <a:cs typeface="Calibri"/>
            </a:endParaRPr>
          </a:p>
          <a:p>
            <a:pPr marL="241300" marR="12065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debit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credit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account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successfully.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see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transaction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successfully,</a:t>
            </a:r>
            <a:r>
              <a:rPr sz="2000" spc="-25" dirty="0">
                <a:latin typeface="Calibri"/>
                <a:cs typeface="Calibri"/>
              </a:rPr>
              <a:t> and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correctly.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Thus,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consistent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marR="15240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$300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inconsistent</a:t>
            </a:r>
            <a:r>
              <a:rPr sz="2000" b="1" i="1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because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debit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executes,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consistent.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6182" y="76216"/>
            <a:ext cx="5409830" cy="3353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17678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Isolation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84240" y="395706"/>
            <a:ext cx="5711190" cy="615315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term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'isolation'</a:t>
            </a:r>
            <a:r>
              <a:rPr sz="2300" b="1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separation</a:t>
            </a:r>
            <a:r>
              <a:rPr sz="2300" spc="-1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241300" marR="527685" indent="-228600">
              <a:lnSpc>
                <a:spcPts val="248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DBMS,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Isolation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property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a </a:t>
            </a:r>
            <a:r>
              <a:rPr sz="2300" dirty="0">
                <a:latin typeface="Calibri"/>
                <a:cs typeface="Calibri"/>
              </a:rPr>
              <a:t>database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should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affect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 </a:t>
            </a:r>
            <a:r>
              <a:rPr sz="2300" dirty="0">
                <a:latin typeface="Calibri"/>
                <a:cs typeface="Calibri"/>
              </a:rPr>
              <a:t>other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may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occur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concurrently.</a:t>
            </a:r>
            <a:endParaRPr sz="2300">
              <a:latin typeface="Calibri"/>
              <a:cs typeface="Calibri"/>
            </a:endParaRPr>
          </a:p>
          <a:p>
            <a:pPr marL="241300" marR="148590" indent="-228600">
              <a:lnSpc>
                <a:spcPts val="248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short,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operation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database </a:t>
            </a:r>
            <a:r>
              <a:rPr sz="2300" dirty="0">
                <a:latin typeface="Calibri"/>
                <a:cs typeface="Calibri"/>
              </a:rPr>
              <a:t>should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begin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operation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first </a:t>
            </a:r>
            <a:r>
              <a:rPr sz="2300" dirty="0">
                <a:latin typeface="Calibri"/>
                <a:cs typeface="Calibri"/>
              </a:rPr>
              <a:t>database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gets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complete.</a:t>
            </a:r>
            <a:endParaRPr sz="2300">
              <a:latin typeface="Calibri"/>
              <a:cs typeface="Calibri"/>
            </a:endParaRPr>
          </a:p>
          <a:p>
            <a:pPr marL="241300" marR="264795" indent="-228600">
              <a:lnSpc>
                <a:spcPts val="248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dirty="0">
                <a:latin typeface="Calibri"/>
                <a:cs typeface="Calibri"/>
              </a:rPr>
              <a:t>It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two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operations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being </a:t>
            </a:r>
            <a:r>
              <a:rPr sz="2300" dirty="0">
                <a:latin typeface="Calibri"/>
                <a:cs typeface="Calibri"/>
              </a:rPr>
              <a:t>performed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two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different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databases,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they </a:t>
            </a:r>
            <a:r>
              <a:rPr sz="2300" dirty="0">
                <a:latin typeface="Calibri"/>
                <a:cs typeface="Calibri"/>
              </a:rPr>
              <a:t>may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affect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another.</a:t>
            </a:r>
            <a:endParaRPr sz="2300">
              <a:latin typeface="Calibri"/>
              <a:cs typeface="Calibri"/>
            </a:endParaRPr>
          </a:p>
          <a:p>
            <a:pPr marL="241300" marR="5080" indent="-228600">
              <a:lnSpc>
                <a:spcPts val="248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case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transactions,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two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more </a:t>
            </a:r>
            <a:r>
              <a:rPr sz="2300" dirty="0">
                <a:latin typeface="Calibri"/>
                <a:cs typeface="Calibri"/>
              </a:rPr>
              <a:t>transactions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occur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simultaneously,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 </a:t>
            </a:r>
            <a:r>
              <a:rPr sz="2300" spc="-10" dirty="0">
                <a:latin typeface="Calibri"/>
                <a:cs typeface="Calibri"/>
              </a:rPr>
              <a:t>consistency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should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remain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maintained.</a:t>
            </a:r>
            <a:endParaRPr sz="2300">
              <a:latin typeface="Calibri"/>
              <a:cs typeface="Calibri"/>
            </a:endParaRPr>
          </a:p>
          <a:p>
            <a:pPr marL="240029" marR="709930" indent="-227329">
              <a:lnSpc>
                <a:spcPct val="900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dirty="0">
                <a:latin typeface="Calibri"/>
                <a:cs typeface="Calibri"/>
              </a:rPr>
              <a:t>Any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changes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occur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particular 	</a:t>
            </a:r>
            <a:r>
              <a:rPr sz="2300" dirty="0">
                <a:latin typeface="Calibri"/>
                <a:cs typeface="Calibri"/>
              </a:rPr>
              <a:t>transaction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will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seen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other 	</a:t>
            </a:r>
            <a:r>
              <a:rPr sz="2300" dirty="0">
                <a:latin typeface="Calibri"/>
                <a:cs typeface="Calibri"/>
              </a:rPr>
              <a:t>transactions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until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change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not 	</a:t>
            </a:r>
            <a:r>
              <a:rPr sz="2300" spc="-10" dirty="0">
                <a:latin typeface="Calibri"/>
                <a:cs typeface="Calibri"/>
              </a:rPr>
              <a:t>committed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memory.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1767839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Isolation 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5603" y="107696"/>
            <a:ext cx="5563870" cy="31534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65430" marR="47625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concurrently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running 	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affected.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persistent.</a:t>
            </a:r>
            <a:endParaRPr sz="2400">
              <a:latin typeface="Calibri"/>
              <a:cs typeface="Calibri"/>
            </a:endParaRPr>
          </a:p>
          <a:p>
            <a:pPr marL="265430" marR="304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diagram, 	</a:t>
            </a:r>
            <a:r>
              <a:rPr sz="2400" dirty="0">
                <a:latin typeface="Calibri"/>
                <a:cs typeface="Calibri"/>
              </a:rPr>
              <a:t>account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baseline="-20833" dirty="0">
                <a:latin typeface="Calibri"/>
                <a:cs typeface="Calibri"/>
              </a:rPr>
              <a:t>1</a:t>
            </a:r>
            <a:r>
              <a:rPr sz="2400" b="1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baseline="-20833" dirty="0">
                <a:latin typeface="Calibri"/>
                <a:cs typeface="Calibri"/>
              </a:rPr>
              <a:t>2</a:t>
            </a:r>
            <a:r>
              <a:rPr sz="2400" b="1" spc="240" baseline="-20833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transactions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executing 	independently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affecting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 	</a:t>
            </a:r>
            <a:r>
              <a:rPr sz="2400" spc="-30" dirty="0">
                <a:latin typeface="Calibri"/>
                <a:cs typeface="Calibri"/>
              </a:rPr>
              <a:t>other.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Isolation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5941" y="3444238"/>
            <a:ext cx="4953373" cy="33527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19964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Durability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784352"/>
            <a:ext cx="5018405" cy="51625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97155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Durability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permanency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something.</a:t>
            </a:r>
            <a:endParaRPr sz="2400">
              <a:latin typeface="Calibri"/>
              <a:cs typeface="Calibri"/>
            </a:endParaRPr>
          </a:p>
          <a:p>
            <a:pPr marL="240029" marR="205740" indent="-227329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durability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ensures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after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successful 	execution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of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operation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becomes 	</a:t>
            </a:r>
            <a:r>
              <a:rPr sz="2400" b="1" i="1" dirty="0">
                <a:latin typeface="Calibri"/>
                <a:cs typeface="Calibri"/>
              </a:rPr>
              <a:t>permanent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13335" indent="-227329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durability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so 	</a:t>
            </a:r>
            <a:r>
              <a:rPr sz="2400" dirty="0">
                <a:latin typeface="Calibri"/>
                <a:cs typeface="Calibri"/>
              </a:rPr>
              <a:t>perfect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crash,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still 	survives.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responsibility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recovery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manager 	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durability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database.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committing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values,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used 	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258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Conclusion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968500"/>
            <a:ext cx="4991100" cy="28244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Therefore,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ACID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DBMS 	</a:t>
            </a:r>
            <a:r>
              <a:rPr sz="2400" dirty="0">
                <a:latin typeface="Calibri"/>
                <a:cs typeface="Calibri"/>
              </a:rPr>
              <a:t>plays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maintaining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consistency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availability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20066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Thus,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precise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introduction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ACID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properties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	</a:t>
            </a:r>
            <a:r>
              <a:rPr sz="2400" dirty="0">
                <a:latin typeface="Calibri"/>
                <a:cs typeface="Calibri"/>
              </a:rPr>
              <a:t>discussed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also.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495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 MT</vt:lpstr>
      <vt:lpstr>Calibri</vt:lpstr>
      <vt:lpstr>Calibri Light</vt:lpstr>
      <vt:lpstr>Office Theme</vt:lpstr>
      <vt:lpstr>PowerPoint Presentation</vt:lpstr>
      <vt:lpstr>ACID Properties in DBMS</vt:lpstr>
      <vt:lpstr>PowerPoint Presentation</vt:lpstr>
      <vt:lpstr>PowerPoint Presentation</vt:lpstr>
      <vt:lpstr>PowerPoint Presentation</vt:lpstr>
      <vt:lpstr>Atomicity Example</vt:lpstr>
      <vt:lpstr>PowerPoint Presentation</vt:lpstr>
      <vt:lpstr>PowerPoint Presentation</vt:lpstr>
      <vt:lpstr>Consistency Example</vt:lpstr>
      <vt:lpstr>Consistency Example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2025-06-30T07:19:24Z</dcterms:created>
  <dcterms:modified xsi:type="dcterms:W3CDTF">2025-06-30T07:28:23Z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