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8061" y="2186127"/>
            <a:ext cx="492760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7003" y="1420114"/>
            <a:ext cx="4901565" cy="222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589020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 [</a:t>
            </a:r>
            <a:r>
              <a:rPr sz="3400" i="1" spc="-10" dirty="0">
                <a:latin typeface="Calibri Light"/>
                <a:cs typeface="Calibri Light"/>
              </a:rPr>
              <a:t>Types</a:t>
            </a:r>
            <a:r>
              <a:rPr sz="3400" i="1" spc="-10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of</a:t>
            </a:r>
            <a:r>
              <a:rPr sz="3400" i="1" spc="-10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Databases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3054172"/>
            <a:ext cx="2852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What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is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Data?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0167" y="2180971"/>
            <a:ext cx="446659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storing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different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varieties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38800" y="3227832"/>
            <a:ext cx="6378422" cy="2298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2779852"/>
            <a:ext cx="230886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30" dirty="0">
                <a:latin typeface="Calibri Light"/>
                <a:cs typeface="Calibri Light"/>
              </a:rPr>
              <a:t>Centralized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0167" y="1182446"/>
            <a:ext cx="4946015" cy="439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centralized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304165" indent="-227329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comforts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locations 	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applications.</a:t>
            </a:r>
            <a:endParaRPr sz="2400">
              <a:latin typeface="Calibri"/>
              <a:cs typeface="Calibri"/>
            </a:endParaRPr>
          </a:p>
          <a:p>
            <a:pPr marL="240029" marR="438784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spc="-10" dirty="0">
                <a:latin typeface="Calibri"/>
                <a:cs typeface="Calibri"/>
              </a:rPr>
              <a:t>authentication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users 	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securely.</a:t>
            </a:r>
            <a:endParaRPr sz="2400">
              <a:latin typeface="Calibri"/>
              <a:cs typeface="Calibri"/>
            </a:endParaRPr>
          </a:p>
          <a:p>
            <a:pPr marL="240029" marR="61594" indent="-227329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Centralized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Central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central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college/university.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2779852"/>
            <a:ext cx="230886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30" dirty="0">
                <a:latin typeface="Calibri Light"/>
                <a:cs typeface="Calibri Light"/>
              </a:rPr>
              <a:t>Centralized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89903" y="890016"/>
            <a:ext cx="5306695" cy="551815"/>
          </a:xfrm>
          <a:custGeom>
            <a:avLst/>
            <a:gdLst/>
            <a:ahLst/>
            <a:cxnLst/>
            <a:rect l="l" t="t" r="r" b="b"/>
            <a:pathLst>
              <a:path w="5306695" h="551815">
                <a:moveTo>
                  <a:pt x="5214620" y="0"/>
                </a:moveTo>
                <a:lnTo>
                  <a:pt x="91948" y="0"/>
                </a:lnTo>
                <a:lnTo>
                  <a:pt x="56149" y="7223"/>
                </a:lnTo>
                <a:lnTo>
                  <a:pt x="26924" y="26924"/>
                </a:lnTo>
                <a:lnTo>
                  <a:pt x="7223" y="56149"/>
                </a:lnTo>
                <a:lnTo>
                  <a:pt x="0" y="91948"/>
                </a:lnTo>
                <a:lnTo>
                  <a:pt x="0" y="459739"/>
                </a:lnTo>
                <a:lnTo>
                  <a:pt x="7223" y="495538"/>
                </a:lnTo>
                <a:lnTo>
                  <a:pt x="26924" y="524763"/>
                </a:lnTo>
                <a:lnTo>
                  <a:pt x="56149" y="544464"/>
                </a:lnTo>
                <a:lnTo>
                  <a:pt x="91948" y="551688"/>
                </a:lnTo>
                <a:lnTo>
                  <a:pt x="5214620" y="551688"/>
                </a:lnTo>
                <a:lnTo>
                  <a:pt x="5250418" y="544464"/>
                </a:lnTo>
                <a:lnTo>
                  <a:pt x="5279644" y="524763"/>
                </a:lnTo>
                <a:lnTo>
                  <a:pt x="5299344" y="495538"/>
                </a:lnTo>
                <a:lnTo>
                  <a:pt x="5306568" y="459739"/>
                </a:lnTo>
                <a:lnTo>
                  <a:pt x="5306568" y="91948"/>
                </a:lnTo>
                <a:lnTo>
                  <a:pt x="5299344" y="56149"/>
                </a:lnTo>
                <a:lnTo>
                  <a:pt x="5279644" y="26924"/>
                </a:lnTo>
                <a:lnTo>
                  <a:pt x="5250418" y="7223"/>
                </a:lnTo>
                <a:lnTo>
                  <a:pt x="521462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89903" y="890016"/>
            <a:ext cx="5306695" cy="551815"/>
          </a:xfrm>
          <a:custGeom>
            <a:avLst/>
            <a:gdLst/>
            <a:ahLst/>
            <a:cxnLst/>
            <a:rect l="l" t="t" r="r" b="b"/>
            <a:pathLst>
              <a:path w="5306695" h="551815">
                <a:moveTo>
                  <a:pt x="0" y="91948"/>
                </a:moveTo>
                <a:lnTo>
                  <a:pt x="7223" y="56149"/>
                </a:lnTo>
                <a:lnTo>
                  <a:pt x="26924" y="26924"/>
                </a:lnTo>
                <a:lnTo>
                  <a:pt x="56149" y="7223"/>
                </a:lnTo>
                <a:lnTo>
                  <a:pt x="91948" y="0"/>
                </a:lnTo>
                <a:lnTo>
                  <a:pt x="5214620" y="0"/>
                </a:lnTo>
                <a:lnTo>
                  <a:pt x="5250418" y="7223"/>
                </a:lnTo>
                <a:lnTo>
                  <a:pt x="5279644" y="26924"/>
                </a:lnTo>
                <a:lnTo>
                  <a:pt x="5299344" y="56149"/>
                </a:lnTo>
                <a:lnTo>
                  <a:pt x="5306568" y="91948"/>
                </a:lnTo>
                <a:lnTo>
                  <a:pt x="5306568" y="459739"/>
                </a:lnTo>
                <a:lnTo>
                  <a:pt x="5299344" y="495538"/>
                </a:lnTo>
                <a:lnTo>
                  <a:pt x="5279644" y="524763"/>
                </a:lnTo>
                <a:lnTo>
                  <a:pt x="5250418" y="544464"/>
                </a:lnTo>
                <a:lnTo>
                  <a:pt x="5214620" y="551688"/>
                </a:lnTo>
                <a:lnTo>
                  <a:pt x="91948" y="551688"/>
                </a:lnTo>
                <a:lnTo>
                  <a:pt x="56149" y="544464"/>
                </a:lnTo>
                <a:lnTo>
                  <a:pt x="26924" y="524763"/>
                </a:lnTo>
                <a:lnTo>
                  <a:pt x="7223" y="495538"/>
                </a:lnTo>
                <a:lnTo>
                  <a:pt x="0" y="459739"/>
                </a:lnTo>
                <a:lnTo>
                  <a:pt x="0" y="9194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93282" y="942594"/>
            <a:ext cx="13970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Advantages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4785" marR="17780" indent="-172720">
              <a:lnSpc>
                <a:spcPts val="1970"/>
              </a:lnSpc>
              <a:spcBef>
                <a:spcPts val="325"/>
              </a:spcBef>
              <a:buChar char="•"/>
              <a:tabLst>
                <a:tab pos="184785" algn="l"/>
              </a:tabLst>
            </a:pPr>
            <a:r>
              <a:rPr dirty="0"/>
              <a:t>It</a:t>
            </a:r>
            <a:r>
              <a:rPr spc="-30" dirty="0"/>
              <a:t> </a:t>
            </a:r>
            <a:r>
              <a:rPr dirty="0"/>
              <a:t>has</a:t>
            </a:r>
            <a:r>
              <a:rPr spc="-25" dirty="0"/>
              <a:t> </a:t>
            </a:r>
            <a:r>
              <a:rPr dirty="0"/>
              <a:t>decreased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risk</a:t>
            </a:r>
            <a:r>
              <a:rPr spc="-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management,</a:t>
            </a:r>
            <a:r>
              <a:rPr spc="-55" dirty="0"/>
              <a:t> </a:t>
            </a:r>
            <a:r>
              <a:rPr spc="-10" dirty="0"/>
              <a:t>i.e., </a:t>
            </a:r>
            <a:r>
              <a:rPr dirty="0"/>
              <a:t>manipulation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will</a:t>
            </a:r>
            <a:r>
              <a:rPr spc="-35" dirty="0"/>
              <a:t> </a:t>
            </a:r>
            <a:r>
              <a:rPr dirty="0"/>
              <a:t>not</a:t>
            </a:r>
            <a:r>
              <a:rPr spc="-50" dirty="0"/>
              <a:t> </a:t>
            </a:r>
            <a:r>
              <a:rPr spc="-10" dirty="0"/>
              <a:t>affect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core</a:t>
            </a:r>
            <a:r>
              <a:rPr spc="-40" dirty="0"/>
              <a:t> </a:t>
            </a:r>
            <a:r>
              <a:rPr spc="-10" dirty="0"/>
              <a:t>data.</a:t>
            </a:r>
          </a:p>
          <a:p>
            <a:pPr marL="184785" marR="74295" indent="-172720">
              <a:lnSpc>
                <a:spcPts val="1980"/>
              </a:lnSpc>
              <a:spcBef>
                <a:spcPts val="445"/>
              </a:spcBef>
              <a:buChar char="•"/>
              <a:tabLst>
                <a:tab pos="184785" algn="l"/>
              </a:tabLst>
            </a:pP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consistency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maintained</a:t>
            </a:r>
            <a:r>
              <a:rPr spc="-3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manages</a:t>
            </a:r>
            <a:r>
              <a:rPr spc="-65" dirty="0"/>
              <a:t> </a:t>
            </a:r>
            <a:r>
              <a:rPr spc="-20" dirty="0"/>
              <a:t>data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central</a:t>
            </a:r>
            <a:r>
              <a:rPr spc="-35" dirty="0"/>
              <a:t> </a:t>
            </a:r>
            <a:r>
              <a:rPr spc="-10" dirty="0"/>
              <a:t>repository.</a:t>
            </a:r>
          </a:p>
          <a:p>
            <a:pPr marL="184785" marR="532765" indent="-172720">
              <a:lnSpc>
                <a:spcPts val="1980"/>
              </a:lnSpc>
              <a:spcBef>
                <a:spcPts val="430"/>
              </a:spcBef>
              <a:buChar char="•"/>
              <a:tabLst>
                <a:tab pos="184785" algn="l"/>
              </a:tabLst>
            </a:pPr>
            <a:r>
              <a:rPr dirty="0"/>
              <a:t>It</a:t>
            </a:r>
            <a:r>
              <a:rPr spc="-75" dirty="0"/>
              <a:t> </a:t>
            </a:r>
            <a:r>
              <a:rPr dirty="0"/>
              <a:t>provides</a:t>
            </a:r>
            <a:r>
              <a:rPr spc="-75" dirty="0"/>
              <a:t> </a:t>
            </a:r>
            <a:r>
              <a:rPr dirty="0"/>
              <a:t>better</a:t>
            </a:r>
            <a:r>
              <a:rPr spc="-6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spc="-10" dirty="0"/>
              <a:t>quality,</a:t>
            </a:r>
            <a:r>
              <a:rPr spc="-65" dirty="0"/>
              <a:t> </a:t>
            </a:r>
            <a:r>
              <a:rPr dirty="0"/>
              <a:t>which</a:t>
            </a:r>
            <a:r>
              <a:rPr spc="-70" dirty="0"/>
              <a:t> </a:t>
            </a:r>
            <a:r>
              <a:rPr spc="-10" dirty="0"/>
              <a:t>enables organizations</a:t>
            </a:r>
            <a:r>
              <a:rPr spc="-5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establish</a:t>
            </a:r>
            <a:r>
              <a:rPr spc="-6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standards.</a:t>
            </a:r>
          </a:p>
          <a:p>
            <a:pPr marL="185420" indent="-172720">
              <a:lnSpc>
                <a:spcPts val="2070"/>
              </a:lnSpc>
              <a:spcBef>
                <a:spcPts val="215"/>
              </a:spcBef>
              <a:buChar char="•"/>
              <a:tabLst>
                <a:tab pos="185420" algn="l"/>
              </a:tabLst>
            </a:pPr>
            <a:r>
              <a:rPr dirty="0"/>
              <a:t>It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less</a:t>
            </a:r>
            <a:r>
              <a:rPr spc="-50" dirty="0"/>
              <a:t> </a:t>
            </a:r>
            <a:r>
              <a:rPr dirty="0"/>
              <a:t>costly</a:t>
            </a:r>
            <a:r>
              <a:rPr spc="-35" dirty="0"/>
              <a:t> </a:t>
            </a:r>
            <a:r>
              <a:rPr dirty="0"/>
              <a:t>because</a:t>
            </a:r>
            <a:r>
              <a:rPr spc="-60" dirty="0"/>
              <a:t> </a:t>
            </a:r>
            <a:r>
              <a:rPr dirty="0"/>
              <a:t>fewer</a:t>
            </a:r>
            <a:r>
              <a:rPr spc="-40" dirty="0"/>
              <a:t> </a:t>
            </a:r>
            <a:r>
              <a:rPr dirty="0"/>
              <a:t>vendors</a:t>
            </a:r>
            <a:r>
              <a:rPr spc="-5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spc="-10" dirty="0"/>
              <a:t>required</a:t>
            </a:r>
          </a:p>
          <a:p>
            <a:pPr marL="184785">
              <a:lnSpc>
                <a:spcPts val="2070"/>
              </a:lnSpc>
            </a:pPr>
            <a:r>
              <a:rPr dirty="0"/>
              <a:t>to</a:t>
            </a:r>
            <a:r>
              <a:rPr spc="-50" dirty="0"/>
              <a:t> </a:t>
            </a:r>
            <a:r>
              <a:rPr dirty="0"/>
              <a:t>handle</a:t>
            </a:r>
            <a:r>
              <a:rPr spc="-5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sets.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083553" y="3672585"/>
            <a:ext cx="5319395" cy="564515"/>
            <a:chOff x="6083553" y="3672585"/>
            <a:chExt cx="5319395" cy="564515"/>
          </a:xfrm>
        </p:grpSpPr>
        <p:sp>
          <p:nvSpPr>
            <p:cNvPr id="13" name="object 13"/>
            <p:cNvSpPr/>
            <p:nvPr/>
          </p:nvSpPr>
          <p:spPr>
            <a:xfrm>
              <a:off x="6089903" y="3678935"/>
              <a:ext cx="5306695" cy="551815"/>
            </a:xfrm>
            <a:custGeom>
              <a:avLst/>
              <a:gdLst/>
              <a:ahLst/>
              <a:cxnLst/>
              <a:rect l="l" t="t" r="r" b="b"/>
              <a:pathLst>
                <a:path w="5306695" h="551814">
                  <a:moveTo>
                    <a:pt x="5214620" y="0"/>
                  </a:moveTo>
                  <a:lnTo>
                    <a:pt x="91948" y="0"/>
                  </a:lnTo>
                  <a:lnTo>
                    <a:pt x="56149" y="7223"/>
                  </a:lnTo>
                  <a:lnTo>
                    <a:pt x="26924" y="26924"/>
                  </a:lnTo>
                  <a:lnTo>
                    <a:pt x="7223" y="56149"/>
                  </a:lnTo>
                  <a:lnTo>
                    <a:pt x="0" y="91947"/>
                  </a:lnTo>
                  <a:lnTo>
                    <a:pt x="0" y="459739"/>
                  </a:lnTo>
                  <a:lnTo>
                    <a:pt x="7223" y="495538"/>
                  </a:lnTo>
                  <a:lnTo>
                    <a:pt x="26924" y="524763"/>
                  </a:lnTo>
                  <a:lnTo>
                    <a:pt x="56149" y="544464"/>
                  </a:lnTo>
                  <a:lnTo>
                    <a:pt x="91948" y="551688"/>
                  </a:lnTo>
                  <a:lnTo>
                    <a:pt x="5214620" y="551688"/>
                  </a:lnTo>
                  <a:lnTo>
                    <a:pt x="5250418" y="544464"/>
                  </a:lnTo>
                  <a:lnTo>
                    <a:pt x="5279644" y="524763"/>
                  </a:lnTo>
                  <a:lnTo>
                    <a:pt x="5299344" y="495538"/>
                  </a:lnTo>
                  <a:lnTo>
                    <a:pt x="5306568" y="459739"/>
                  </a:lnTo>
                  <a:lnTo>
                    <a:pt x="5306568" y="91947"/>
                  </a:lnTo>
                  <a:lnTo>
                    <a:pt x="5299344" y="56149"/>
                  </a:lnTo>
                  <a:lnTo>
                    <a:pt x="5279644" y="26923"/>
                  </a:lnTo>
                  <a:lnTo>
                    <a:pt x="5250418" y="7223"/>
                  </a:lnTo>
                  <a:lnTo>
                    <a:pt x="521462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89903" y="3678935"/>
              <a:ext cx="5306695" cy="551815"/>
            </a:xfrm>
            <a:custGeom>
              <a:avLst/>
              <a:gdLst/>
              <a:ahLst/>
              <a:cxnLst/>
              <a:rect l="l" t="t" r="r" b="b"/>
              <a:pathLst>
                <a:path w="5306695" h="551814">
                  <a:moveTo>
                    <a:pt x="0" y="91947"/>
                  </a:moveTo>
                  <a:lnTo>
                    <a:pt x="7223" y="56149"/>
                  </a:lnTo>
                  <a:lnTo>
                    <a:pt x="26924" y="26924"/>
                  </a:lnTo>
                  <a:lnTo>
                    <a:pt x="56149" y="7223"/>
                  </a:lnTo>
                  <a:lnTo>
                    <a:pt x="91948" y="0"/>
                  </a:lnTo>
                  <a:lnTo>
                    <a:pt x="5214620" y="0"/>
                  </a:lnTo>
                  <a:lnTo>
                    <a:pt x="5250418" y="7223"/>
                  </a:lnTo>
                  <a:lnTo>
                    <a:pt x="5279644" y="26923"/>
                  </a:lnTo>
                  <a:lnTo>
                    <a:pt x="5299344" y="56149"/>
                  </a:lnTo>
                  <a:lnTo>
                    <a:pt x="5306568" y="91947"/>
                  </a:lnTo>
                  <a:lnTo>
                    <a:pt x="5306568" y="459739"/>
                  </a:lnTo>
                  <a:lnTo>
                    <a:pt x="5299344" y="495538"/>
                  </a:lnTo>
                  <a:lnTo>
                    <a:pt x="5279644" y="524763"/>
                  </a:lnTo>
                  <a:lnTo>
                    <a:pt x="5250418" y="544464"/>
                  </a:lnTo>
                  <a:lnTo>
                    <a:pt x="5214620" y="551688"/>
                  </a:lnTo>
                  <a:lnTo>
                    <a:pt x="91948" y="551688"/>
                  </a:lnTo>
                  <a:lnTo>
                    <a:pt x="56149" y="544464"/>
                  </a:lnTo>
                  <a:lnTo>
                    <a:pt x="26924" y="524763"/>
                  </a:lnTo>
                  <a:lnTo>
                    <a:pt x="7223" y="495538"/>
                  </a:lnTo>
                  <a:lnTo>
                    <a:pt x="0" y="459739"/>
                  </a:lnTo>
                  <a:lnTo>
                    <a:pt x="0" y="9194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93282" y="3732402"/>
            <a:ext cx="1729739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Disadvantages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47003" y="4210304"/>
            <a:ext cx="4900295" cy="16675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4785" marR="34925" indent="-172720">
              <a:lnSpc>
                <a:spcPts val="1970"/>
              </a:lnSpc>
              <a:spcBef>
                <a:spcPts val="32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size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centralized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which </a:t>
            </a:r>
            <a:r>
              <a:rPr sz="1800" dirty="0">
                <a:latin typeface="Calibri"/>
                <a:cs typeface="Calibri"/>
              </a:rPr>
              <a:t>increases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response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fetching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84785" indent="-172085">
              <a:lnSpc>
                <a:spcPts val="2070"/>
              </a:lnSpc>
              <a:spcBef>
                <a:spcPts val="22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extensive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ts val="2070"/>
              </a:lnSpc>
            </a:pPr>
            <a:r>
              <a:rPr sz="1800" spc="-10" dirty="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  <a:p>
            <a:pPr marL="184785" marR="44450" indent="-172720">
              <a:lnSpc>
                <a:spcPts val="1980"/>
              </a:lnSpc>
              <a:spcBef>
                <a:spcPts val="47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failure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occurs,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lost,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2779852"/>
            <a:ext cx="2296160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Distributed 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0167" y="1410970"/>
            <a:ext cx="5064125" cy="393890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20383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Unlike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centralized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system,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connected 	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communication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links.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links 	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end-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spc="-10" dirty="0">
                <a:latin typeface="Calibri"/>
                <a:cs typeface="Calibri"/>
              </a:rPr>
              <a:t>easily.</a:t>
            </a:r>
            <a:endParaRPr sz="2400">
              <a:latin typeface="Calibri"/>
              <a:cs typeface="Calibri"/>
            </a:endParaRPr>
          </a:p>
          <a:p>
            <a:pPr marL="240029" marR="198120" indent="-227329" algn="just">
              <a:lnSpc>
                <a:spcPct val="901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Examples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 	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Apache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Cassandra,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HBase,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Ignite, 	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2505836"/>
            <a:ext cx="229616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25" dirty="0">
                <a:latin typeface="Calibri Light"/>
                <a:cs typeface="Calibri Light"/>
              </a:rPr>
              <a:t>Types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Distributed 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01000" y="1057655"/>
            <a:ext cx="3395979" cy="2040889"/>
          </a:xfrm>
          <a:custGeom>
            <a:avLst/>
            <a:gdLst/>
            <a:ahLst/>
            <a:cxnLst/>
            <a:rect l="l" t="t" r="r" b="b"/>
            <a:pathLst>
              <a:path w="3395979" h="2040889">
                <a:moveTo>
                  <a:pt x="3055366" y="0"/>
                </a:moveTo>
                <a:lnTo>
                  <a:pt x="0" y="0"/>
                </a:lnTo>
                <a:lnTo>
                  <a:pt x="0" y="2040636"/>
                </a:lnTo>
                <a:lnTo>
                  <a:pt x="3055366" y="2040636"/>
                </a:lnTo>
                <a:lnTo>
                  <a:pt x="3101515" y="2037531"/>
                </a:lnTo>
                <a:lnTo>
                  <a:pt x="3145778" y="2028486"/>
                </a:lnTo>
                <a:lnTo>
                  <a:pt x="3187749" y="2013908"/>
                </a:lnTo>
                <a:lnTo>
                  <a:pt x="3227022" y="1994201"/>
                </a:lnTo>
                <a:lnTo>
                  <a:pt x="3263193" y="1969769"/>
                </a:lnTo>
                <a:lnTo>
                  <a:pt x="3295856" y="1941020"/>
                </a:lnTo>
                <a:lnTo>
                  <a:pt x="3324605" y="1908357"/>
                </a:lnTo>
                <a:lnTo>
                  <a:pt x="3349037" y="1872186"/>
                </a:lnTo>
                <a:lnTo>
                  <a:pt x="3368744" y="1832913"/>
                </a:lnTo>
                <a:lnTo>
                  <a:pt x="3383322" y="1790942"/>
                </a:lnTo>
                <a:lnTo>
                  <a:pt x="3392367" y="1746679"/>
                </a:lnTo>
                <a:lnTo>
                  <a:pt x="3395472" y="1700530"/>
                </a:lnTo>
                <a:lnTo>
                  <a:pt x="3395472" y="340106"/>
                </a:lnTo>
                <a:lnTo>
                  <a:pt x="3392367" y="293956"/>
                </a:lnTo>
                <a:lnTo>
                  <a:pt x="3383322" y="249693"/>
                </a:lnTo>
                <a:lnTo>
                  <a:pt x="3368744" y="207722"/>
                </a:lnTo>
                <a:lnTo>
                  <a:pt x="3349037" y="168449"/>
                </a:lnTo>
                <a:lnTo>
                  <a:pt x="3324605" y="132278"/>
                </a:lnTo>
                <a:lnTo>
                  <a:pt x="3295856" y="99615"/>
                </a:lnTo>
                <a:lnTo>
                  <a:pt x="3263193" y="70866"/>
                </a:lnTo>
                <a:lnTo>
                  <a:pt x="3227022" y="46434"/>
                </a:lnTo>
                <a:lnTo>
                  <a:pt x="3187749" y="26727"/>
                </a:lnTo>
                <a:lnTo>
                  <a:pt x="3145778" y="12149"/>
                </a:lnTo>
                <a:lnTo>
                  <a:pt x="3101515" y="3104"/>
                </a:lnTo>
                <a:lnTo>
                  <a:pt x="3055366" y="0"/>
                </a:lnTo>
                <a:close/>
              </a:path>
            </a:pathLst>
          </a:custGeom>
          <a:solidFill>
            <a:srgbClr val="D2DEEE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01000" y="1057655"/>
            <a:ext cx="3395979" cy="2040889"/>
          </a:xfrm>
          <a:custGeom>
            <a:avLst/>
            <a:gdLst/>
            <a:ahLst/>
            <a:cxnLst/>
            <a:rect l="l" t="t" r="r" b="b"/>
            <a:pathLst>
              <a:path w="3395979" h="2040889">
                <a:moveTo>
                  <a:pt x="3395472" y="340106"/>
                </a:moveTo>
                <a:lnTo>
                  <a:pt x="3395472" y="1700530"/>
                </a:lnTo>
                <a:lnTo>
                  <a:pt x="3392367" y="1746679"/>
                </a:lnTo>
                <a:lnTo>
                  <a:pt x="3383322" y="1790942"/>
                </a:lnTo>
                <a:lnTo>
                  <a:pt x="3368744" y="1832913"/>
                </a:lnTo>
                <a:lnTo>
                  <a:pt x="3349037" y="1872186"/>
                </a:lnTo>
                <a:lnTo>
                  <a:pt x="3324605" y="1908357"/>
                </a:lnTo>
                <a:lnTo>
                  <a:pt x="3295856" y="1941020"/>
                </a:lnTo>
                <a:lnTo>
                  <a:pt x="3263193" y="1969769"/>
                </a:lnTo>
                <a:lnTo>
                  <a:pt x="3227022" y="1994201"/>
                </a:lnTo>
                <a:lnTo>
                  <a:pt x="3187749" y="2013908"/>
                </a:lnTo>
                <a:lnTo>
                  <a:pt x="3145778" y="2028486"/>
                </a:lnTo>
                <a:lnTo>
                  <a:pt x="3101515" y="2037531"/>
                </a:lnTo>
                <a:lnTo>
                  <a:pt x="3055366" y="2040636"/>
                </a:lnTo>
                <a:lnTo>
                  <a:pt x="0" y="2040636"/>
                </a:lnTo>
                <a:lnTo>
                  <a:pt x="0" y="0"/>
                </a:lnTo>
                <a:lnTo>
                  <a:pt x="3055366" y="0"/>
                </a:lnTo>
                <a:lnTo>
                  <a:pt x="3101515" y="3104"/>
                </a:lnTo>
                <a:lnTo>
                  <a:pt x="3145778" y="12149"/>
                </a:lnTo>
                <a:lnTo>
                  <a:pt x="3187749" y="26727"/>
                </a:lnTo>
                <a:lnTo>
                  <a:pt x="3227022" y="46434"/>
                </a:lnTo>
                <a:lnTo>
                  <a:pt x="3263193" y="70866"/>
                </a:lnTo>
                <a:lnTo>
                  <a:pt x="3295856" y="99615"/>
                </a:lnTo>
                <a:lnTo>
                  <a:pt x="3324605" y="132278"/>
                </a:lnTo>
                <a:lnTo>
                  <a:pt x="3349037" y="168449"/>
                </a:lnTo>
                <a:lnTo>
                  <a:pt x="3368744" y="207722"/>
                </a:lnTo>
                <a:lnTo>
                  <a:pt x="3383322" y="249693"/>
                </a:lnTo>
                <a:lnTo>
                  <a:pt x="3392367" y="293956"/>
                </a:lnTo>
                <a:lnTo>
                  <a:pt x="3395472" y="340106"/>
                </a:lnTo>
                <a:close/>
              </a:path>
            </a:pathLst>
          </a:custGeom>
          <a:ln w="12700">
            <a:solidFill>
              <a:srgbClr val="D2DE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65134" y="1183894"/>
            <a:ext cx="3072765" cy="17272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39395" marR="5080" indent="-227329">
              <a:lnSpc>
                <a:spcPct val="91600"/>
              </a:lnSpc>
              <a:spcBef>
                <a:spcPts val="3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Those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database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 	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execute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same 	</a:t>
            </a:r>
            <a:r>
              <a:rPr sz="2000" dirty="0">
                <a:latin typeface="Calibri"/>
                <a:cs typeface="Calibri"/>
              </a:rPr>
              <a:t>operating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use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 	process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same 	</a:t>
            </a:r>
            <a:r>
              <a:rPr sz="2000" spc="-10" dirty="0">
                <a:latin typeface="Calibri"/>
                <a:cs typeface="Calibri"/>
              </a:rPr>
              <a:t>hardware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83553" y="795273"/>
            <a:ext cx="1924050" cy="2564130"/>
            <a:chOff x="6083553" y="795273"/>
            <a:chExt cx="1924050" cy="2564130"/>
          </a:xfrm>
        </p:grpSpPr>
        <p:sp>
          <p:nvSpPr>
            <p:cNvPr id="12" name="object 12"/>
            <p:cNvSpPr/>
            <p:nvPr/>
          </p:nvSpPr>
          <p:spPr>
            <a:xfrm>
              <a:off x="6089903" y="801623"/>
              <a:ext cx="1911350" cy="2551430"/>
            </a:xfrm>
            <a:custGeom>
              <a:avLst/>
              <a:gdLst/>
              <a:ahLst/>
              <a:cxnLst/>
              <a:rect l="l" t="t" r="r" b="b"/>
              <a:pathLst>
                <a:path w="1911350" h="2551429">
                  <a:moveTo>
                    <a:pt x="1592579" y="0"/>
                  </a:moveTo>
                  <a:lnTo>
                    <a:pt x="318516" y="0"/>
                  </a:lnTo>
                  <a:lnTo>
                    <a:pt x="271451" y="3453"/>
                  </a:lnTo>
                  <a:lnTo>
                    <a:pt x="226530" y="13486"/>
                  </a:lnTo>
                  <a:lnTo>
                    <a:pt x="184244" y="29606"/>
                  </a:lnTo>
                  <a:lnTo>
                    <a:pt x="145088" y="51319"/>
                  </a:lnTo>
                  <a:lnTo>
                    <a:pt x="109552" y="78132"/>
                  </a:lnTo>
                  <a:lnTo>
                    <a:pt x="78132" y="109552"/>
                  </a:lnTo>
                  <a:lnTo>
                    <a:pt x="51319" y="145088"/>
                  </a:lnTo>
                  <a:lnTo>
                    <a:pt x="29606" y="184244"/>
                  </a:lnTo>
                  <a:lnTo>
                    <a:pt x="13486" y="226530"/>
                  </a:lnTo>
                  <a:lnTo>
                    <a:pt x="3453" y="271451"/>
                  </a:lnTo>
                  <a:lnTo>
                    <a:pt x="0" y="318515"/>
                  </a:lnTo>
                  <a:lnTo>
                    <a:pt x="0" y="2232660"/>
                  </a:lnTo>
                  <a:lnTo>
                    <a:pt x="3453" y="2279724"/>
                  </a:lnTo>
                  <a:lnTo>
                    <a:pt x="13486" y="2324645"/>
                  </a:lnTo>
                  <a:lnTo>
                    <a:pt x="29606" y="2366931"/>
                  </a:lnTo>
                  <a:lnTo>
                    <a:pt x="51319" y="2406087"/>
                  </a:lnTo>
                  <a:lnTo>
                    <a:pt x="78132" y="2441623"/>
                  </a:lnTo>
                  <a:lnTo>
                    <a:pt x="109552" y="2473043"/>
                  </a:lnTo>
                  <a:lnTo>
                    <a:pt x="145088" y="2499856"/>
                  </a:lnTo>
                  <a:lnTo>
                    <a:pt x="184244" y="2521569"/>
                  </a:lnTo>
                  <a:lnTo>
                    <a:pt x="226530" y="2537689"/>
                  </a:lnTo>
                  <a:lnTo>
                    <a:pt x="271451" y="2547722"/>
                  </a:lnTo>
                  <a:lnTo>
                    <a:pt x="318516" y="2551176"/>
                  </a:lnTo>
                  <a:lnTo>
                    <a:pt x="1592579" y="2551176"/>
                  </a:lnTo>
                  <a:lnTo>
                    <a:pt x="1639644" y="2547722"/>
                  </a:lnTo>
                  <a:lnTo>
                    <a:pt x="1684565" y="2537689"/>
                  </a:lnTo>
                  <a:lnTo>
                    <a:pt x="1726851" y="2521569"/>
                  </a:lnTo>
                  <a:lnTo>
                    <a:pt x="1766007" y="2499856"/>
                  </a:lnTo>
                  <a:lnTo>
                    <a:pt x="1801543" y="2473043"/>
                  </a:lnTo>
                  <a:lnTo>
                    <a:pt x="1832963" y="2441623"/>
                  </a:lnTo>
                  <a:lnTo>
                    <a:pt x="1859776" y="2406087"/>
                  </a:lnTo>
                  <a:lnTo>
                    <a:pt x="1881489" y="2366931"/>
                  </a:lnTo>
                  <a:lnTo>
                    <a:pt x="1897609" y="2324645"/>
                  </a:lnTo>
                  <a:lnTo>
                    <a:pt x="1907642" y="2279724"/>
                  </a:lnTo>
                  <a:lnTo>
                    <a:pt x="1911096" y="2232660"/>
                  </a:lnTo>
                  <a:lnTo>
                    <a:pt x="1911096" y="318515"/>
                  </a:lnTo>
                  <a:lnTo>
                    <a:pt x="1907642" y="271451"/>
                  </a:lnTo>
                  <a:lnTo>
                    <a:pt x="1897609" y="226530"/>
                  </a:lnTo>
                  <a:lnTo>
                    <a:pt x="1881489" y="184244"/>
                  </a:lnTo>
                  <a:lnTo>
                    <a:pt x="1859776" y="145088"/>
                  </a:lnTo>
                  <a:lnTo>
                    <a:pt x="1832963" y="109552"/>
                  </a:lnTo>
                  <a:lnTo>
                    <a:pt x="1801543" y="78132"/>
                  </a:lnTo>
                  <a:lnTo>
                    <a:pt x="1766007" y="51319"/>
                  </a:lnTo>
                  <a:lnTo>
                    <a:pt x="1726851" y="29606"/>
                  </a:lnTo>
                  <a:lnTo>
                    <a:pt x="1684565" y="13486"/>
                  </a:lnTo>
                  <a:lnTo>
                    <a:pt x="1639644" y="3453"/>
                  </a:lnTo>
                  <a:lnTo>
                    <a:pt x="15925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89903" y="801623"/>
              <a:ext cx="1911350" cy="2551430"/>
            </a:xfrm>
            <a:custGeom>
              <a:avLst/>
              <a:gdLst/>
              <a:ahLst/>
              <a:cxnLst/>
              <a:rect l="l" t="t" r="r" b="b"/>
              <a:pathLst>
                <a:path w="1911350" h="2551429">
                  <a:moveTo>
                    <a:pt x="0" y="318515"/>
                  </a:moveTo>
                  <a:lnTo>
                    <a:pt x="3453" y="271451"/>
                  </a:lnTo>
                  <a:lnTo>
                    <a:pt x="13486" y="226530"/>
                  </a:lnTo>
                  <a:lnTo>
                    <a:pt x="29606" y="184244"/>
                  </a:lnTo>
                  <a:lnTo>
                    <a:pt x="51319" y="145088"/>
                  </a:lnTo>
                  <a:lnTo>
                    <a:pt x="78132" y="109552"/>
                  </a:lnTo>
                  <a:lnTo>
                    <a:pt x="109552" y="78132"/>
                  </a:lnTo>
                  <a:lnTo>
                    <a:pt x="145088" y="51319"/>
                  </a:lnTo>
                  <a:lnTo>
                    <a:pt x="184244" y="29606"/>
                  </a:lnTo>
                  <a:lnTo>
                    <a:pt x="226530" y="13486"/>
                  </a:lnTo>
                  <a:lnTo>
                    <a:pt x="271451" y="3453"/>
                  </a:lnTo>
                  <a:lnTo>
                    <a:pt x="318516" y="0"/>
                  </a:lnTo>
                  <a:lnTo>
                    <a:pt x="1592579" y="0"/>
                  </a:lnTo>
                  <a:lnTo>
                    <a:pt x="1639644" y="3453"/>
                  </a:lnTo>
                  <a:lnTo>
                    <a:pt x="1684565" y="13486"/>
                  </a:lnTo>
                  <a:lnTo>
                    <a:pt x="1726851" y="29606"/>
                  </a:lnTo>
                  <a:lnTo>
                    <a:pt x="1766007" y="51319"/>
                  </a:lnTo>
                  <a:lnTo>
                    <a:pt x="1801543" y="78132"/>
                  </a:lnTo>
                  <a:lnTo>
                    <a:pt x="1832963" y="109552"/>
                  </a:lnTo>
                  <a:lnTo>
                    <a:pt x="1859776" y="145088"/>
                  </a:lnTo>
                  <a:lnTo>
                    <a:pt x="1881489" y="184244"/>
                  </a:lnTo>
                  <a:lnTo>
                    <a:pt x="1897609" y="226530"/>
                  </a:lnTo>
                  <a:lnTo>
                    <a:pt x="1907642" y="271451"/>
                  </a:lnTo>
                  <a:lnTo>
                    <a:pt x="1911096" y="318515"/>
                  </a:lnTo>
                  <a:lnTo>
                    <a:pt x="1911096" y="2232660"/>
                  </a:lnTo>
                  <a:lnTo>
                    <a:pt x="1907642" y="2279724"/>
                  </a:lnTo>
                  <a:lnTo>
                    <a:pt x="1897609" y="2324645"/>
                  </a:lnTo>
                  <a:lnTo>
                    <a:pt x="1881489" y="2366931"/>
                  </a:lnTo>
                  <a:lnTo>
                    <a:pt x="1859776" y="2406087"/>
                  </a:lnTo>
                  <a:lnTo>
                    <a:pt x="1832963" y="2441623"/>
                  </a:lnTo>
                  <a:lnTo>
                    <a:pt x="1801543" y="2473043"/>
                  </a:lnTo>
                  <a:lnTo>
                    <a:pt x="1766007" y="2499856"/>
                  </a:lnTo>
                  <a:lnTo>
                    <a:pt x="1726851" y="2521569"/>
                  </a:lnTo>
                  <a:lnTo>
                    <a:pt x="1684565" y="2537689"/>
                  </a:lnTo>
                  <a:lnTo>
                    <a:pt x="1639644" y="2547722"/>
                  </a:lnTo>
                  <a:lnTo>
                    <a:pt x="1592579" y="2551176"/>
                  </a:lnTo>
                  <a:lnTo>
                    <a:pt x="318516" y="2551176"/>
                  </a:lnTo>
                  <a:lnTo>
                    <a:pt x="271451" y="2547722"/>
                  </a:lnTo>
                  <a:lnTo>
                    <a:pt x="226530" y="2537689"/>
                  </a:lnTo>
                  <a:lnTo>
                    <a:pt x="184244" y="2521569"/>
                  </a:lnTo>
                  <a:lnTo>
                    <a:pt x="145088" y="2499856"/>
                  </a:lnTo>
                  <a:lnTo>
                    <a:pt x="109552" y="2473043"/>
                  </a:lnTo>
                  <a:lnTo>
                    <a:pt x="78132" y="2441623"/>
                  </a:lnTo>
                  <a:lnTo>
                    <a:pt x="51319" y="2406087"/>
                  </a:lnTo>
                  <a:lnTo>
                    <a:pt x="29606" y="2366931"/>
                  </a:lnTo>
                  <a:lnTo>
                    <a:pt x="13486" y="2324645"/>
                  </a:lnTo>
                  <a:lnTo>
                    <a:pt x="3453" y="2279724"/>
                  </a:lnTo>
                  <a:lnTo>
                    <a:pt x="0" y="2232660"/>
                  </a:lnTo>
                  <a:lnTo>
                    <a:pt x="0" y="3185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09740" y="1758772"/>
            <a:ext cx="1473200" cy="580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85"/>
              </a:lnSpc>
              <a:spcBef>
                <a:spcPts val="95"/>
              </a:spcBef>
            </a:pPr>
            <a:r>
              <a:rPr sz="1900" b="1" spc="-10" dirty="0">
                <a:solidFill>
                  <a:srgbClr val="FFFFFF"/>
                </a:solidFill>
                <a:latin typeface="Calibri"/>
                <a:cs typeface="Calibri"/>
              </a:rPr>
              <a:t>Homogeneous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ts val="2185"/>
              </a:lnSpc>
            </a:pPr>
            <a:r>
              <a:rPr sz="1900" b="1" spc="-20" dirty="0">
                <a:solidFill>
                  <a:srgbClr val="FFFFFF"/>
                </a:solidFill>
                <a:latin typeface="Calibri"/>
                <a:cs typeface="Calibri"/>
              </a:rPr>
              <a:t>DDB: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994650" y="3730497"/>
            <a:ext cx="3408679" cy="2053589"/>
            <a:chOff x="7994650" y="3730497"/>
            <a:chExt cx="3408679" cy="2053589"/>
          </a:xfrm>
        </p:grpSpPr>
        <p:sp>
          <p:nvSpPr>
            <p:cNvPr id="16" name="object 16"/>
            <p:cNvSpPr/>
            <p:nvPr/>
          </p:nvSpPr>
          <p:spPr>
            <a:xfrm>
              <a:off x="8001000" y="3736847"/>
              <a:ext cx="3395979" cy="2040889"/>
            </a:xfrm>
            <a:custGeom>
              <a:avLst/>
              <a:gdLst/>
              <a:ahLst/>
              <a:cxnLst/>
              <a:rect l="l" t="t" r="r" b="b"/>
              <a:pathLst>
                <a:path w="3395979" h="2040889">
                  <a:moveTo>
                    <a:pt x="3055366" y="0"/>
                  </a:moveTo>
                  <a:lnTo>
                    <a:pt x="0" y="0"/>
                  </a:lnTo>
                  <a:lnTo>
                    <a:pt x="0" y="2040636"/>
                  </a:lnTo>
                  <a:lnTo>
                    <a:pt x="3055366" y="2040636"/>
                  </a:lnTo>
                  <a:lnTo>
                    <a:pt x="3101515" y="2037531"/>
                  </a:lnTo>
                  <a:lnTo>
                    <a:pt x="3145778" y="2028486"/>
                  </a:lnTo>
                  <a:lnTo>
                    <a:pt x="3187749" y="2013908"/>
                  </a:lnTo>
                  <a:lnTo>
                    <a:pt x="3227022" y="1994201"/>
                  </a:lnTo>
                  <a:lnTo>
                    <a:pt x="3263193" y="1969769"/>
                  </a:lnTo>
                  <a:lnTo>
                    <a:pt x="3295856" y="1941020"/>
                  </a:lnTo>
                  <a:lnTo>
                    <a:pt x="3324605" y="1908357"/>
                  </a:lnTo>
                  <a:lnTo>
                    <a:pt x="3349037" y="1872186"/>
                  </a:lnTo>
                  <a:lnTo>
                    <a:pt x="3368744" y="1832913"/>
                  </a:lnTo>
                  <a:lnTo>
                    <a:pt x="3383322" y="1790942"/>
                  </a:lnTo>
                  <a:lnTo>
                    <a:pt x="3392367" y="1746679"/>
                  </a:lnTo>
                  <a:lnTo>
                    <a:pt x="3395472" y="1700529"/>
                  </a:lnTo>
                  <a:lnTo>
                    <a:pt x="3395472" y="340106"/>
                  </a:lnTo>
                  <a:lnTo>
                    <a:pt x="3392367" y="293956"/>
                  </a:lnTo>
                  <a:lnTo>
                    <a:pt x="3383322" y="249693"/>
                  </a:lnTo>
                  <a:lnTo>
                    <a:pt x="3368744" y="207722"/>
                  </a:lnTo>
                  <a:lnTo>
                    <a:pt x="3349037" y="168449"/>
                  </a:lnTo>
                  <a:lnTo>
                    <a:pt x="3324605" y="132278"/>
                  </a:lnTo>
                  <a:lnTo>
                    <a:pt x="3295856" y="99615"/>
                  </a:lnTo>
                  <a:lnTo>
                    <a:pt x="3263193" y="70866"/>
                  </a:lnTo>
                  <a:lnTo>
                    <a:pt x="3227022" y="46434"/>
                  </a:lnTo>
                  <a:lnTo>
                    <a:pt x="3187749" y="26727"/>
                  </a:lnTo>
                  <a:lnTo>
                    <a:pt x="3145778" y="12149"/>
                  </a:lnTo>
                  <a:lnTo>
                    <a:pt x="3101515" y="3104"/>
                  </a:lnTo>
                  <a:lnTo>
                    <a:pt x="3055366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01000" y="3736847"/>
              <a:ext cx="3395979" cy="2040889"/>
            </a:xfrm>
            <a:custGeom>
              <a:avLst/>
              <a:gdLst/>
              <a:ahLst/>
              <a:cxnLst/>
              <a:rect l="l" t="t" r="r" b="b"/>
              <a:pathLst>
                <a:path w="3395979" h="2040889">
                  <a:moveTo>
                    <a:pt x="3395472" y="340106"/>
                  </a:moveTo>
                  <a:lnTo>
                    <a:pt x="3395472" y="1700529"/>
                  </a:lnTo>
                  <a:lnTo>
                    <a:pt x="3392367" y="1746679"/>
                  </a:lnTo>
                  <a:lnTo>
                    <a:pt x="3383322" y="1790942"/>
                  </a:lnTo>
                  <a:lnTo>
                    <a:pt x="3368744" y="1832913"/>
                  </a:lnTo>
                  <a:lnTo>
                    <a:pt x="3349037" y="1872186"/>
                  </a:lnTo>
                  <a:lnTo>
                    <a:pt x="3324605" y="1908357"/>
                  </a:lnTo>
                  <a:lnTo>
                    <a:pt x="3295856" y="1941020"/>
                  </a:lnTo>
                  <a:lnTo>
                    <a:pt x="3263193" y="1969769"/>
                  </a:lnTo>
                  <a:lnTo>
                    <a:pt x="3227022" y="1994201"/>
                  </a:lnTo>
                  <a:lnTo>
                    <a:pt x="3187749" y="2013908"/>
                  </a:lnTo>
                  <a:lnTo>
                    <a:pt x="3145778" y="2028486"/>
                  </a:lnTo>
                  <a:lnTo>
                    <a:pt x="3101515" y="2037531"/>
                  </a:lnTo>
                  <a:lnTo>
                    <a:pt x="3055366" y="2040636"/>
                  </a:lnTo>
                  <a:lnTo>
                    <a:pt x="0" y="2040636"/>
                  </a:lnTo>
                  <a:lnTo>
                    <a:pt x="0" y="0"/>
                  </a:lnTo>
                  <a:lnTo>
                    <a:pt x="3055366" y="0"/>
                  </a:lnTo>
                  <a:lnTo>
                    <a:pt x="3101515" y="3104"/>
                  </a:lnTo>
                  <a:lnTo>
                    <a:pt x="3145778" y="12149"/>
                  </a:lnTo>
                  <a:lnTo>
                    <a:pt x="3187749" y="26727"/>
                  </a:lnTo>
                  <a:lnTo>
                    <a:pt x="3227022" y="46434"/>
                  </a:lnTo>
                  <a:lnTo>
                    <a:pt x="3263193" y="70866"/>
                  </a:lnTo>
                  <a:lnTo>
                    <a:pt x="3295856" y="99615"/>
                  </a:lnTo>
                  <a:lnTo>
                    <a:pt x="3324605" y="132278"/>
                  </a:lnTo>
                  <a:lnTo>
                    <a:pt x="3349037" y="168449"/>
                  </a:lnTo>
                  <a:lnTo>
                    <a:pt x="3368744" y="207722"/>
                  </a:lnTo>
                  <a:lnTo>
                    <a:pt x="3383322" y="249693"/>
                  </a:lnTo>
                  <a:lnTo>
                    <a:pt x="3392367" y="293956"/>
                  </a:lnTo>
                  <a:lnTo>
                    <a:pt x="3395472" y="340106"/>
                  </a:lnTo>
                  <a:close/>
                </a:path>
              </a:pathLst>
            </a:custGeom>
            <a:ln w="12700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065134" y="3863162"/>
            <a:ext cx="3077210" cy="17278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39395" marR="5080" indent="-227329">
              <a:lnSpc>
                <a:spcPct val="91600"/>
              </a:lnSpc>
              <a:spcBef>
                <a:spcPts val="30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systems 	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execute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 	</a:t>
            </a:r>
            <a:r>
              <a:rPr sz="2000" dirty="0">
                <a:latin typeface="Calibri"/>
                <a:cs typeface="Calibri"/>
              </a:rPr>
              <a:t>operating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 	</a:t>
            </a:r>
            <a:r>
              <a:rPr sz="2000" spc="-20" dirty="0">
                <a:latin typeface="Calibri"/>
                <a:cs typeface="Calibri"/>
              </a:rPr>
              <a:t>different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 	procedures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carries 	</a:t>
            </a:r>
            <a:r>
              <a:rPr sz="2000" spc="-20" dirty="0">
                <a:latin typeface="Calibri"/>
                <a:cs typeface="Calibri"/>
              </a:rPr>
              <a:t>different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hardware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devices.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83553" y="3474465"/>
            <a:ext cx="1924050" cy="2564130"/>
            <a:chOff x="6083553" y="3474465"/>
            <a:chExt cx="1924050" cy="2564130"/>
          </a:xfrm>
        </p:grpSpPr>
        <p:sp>
          <p:nvSpPr>
            <p:cNvPr id="20" name="object 20"/>
            <p:cNvSpPr/>
            <p:nvPr/>
          </p:nvSpPr>
          <p:spPr>
            <a:xfrm>
              <a:off x="6089903" y="3480815"/>
              <a:ext cx="1911350" cy="2551430"/>
            </a:xfrm>
            <a:custGeom>
              <a:avLst/>
              <a:gdLst/>
              <a:ahLst/>
              <a:cxnLst/>
              <a:rect l="l" t="t" r="r" b="b"/>
              <a:pathLst>
                <a:path w="1911350" h="2551429">
                  <a:moveTo>
                    <a:pt x="1592579" y="0"/>
                  </a:moveTo>
                  <a:lnTo>
                    <a:pt x="318516" y="0"/>
                  </a:lnTo>
                  <a:lnTo>
                    <a:pt x="271451" y="3453"/>
                  </a:lnTo>
                  <a:lnTo>
                    <a:pt x="226530" y="13486"/>
                  </a:lnTo>
                  <a:lnTo>
                    <a:pt x="184244" y="29606"/>
                  </a:lnTo>
                  <a:lnTo>
                    <a:pt x="145088" y="51319"/>
                  </a:lnTo>
                  <a:lnTo>
                    <a:pt x="109552" y="78132"/>
                  </a:lnTo>
                  <a:lnTo>
                    <a:pt x="78132" y="109552"/>
                  </a:lnTo>
                  <a:lnTo>
                    <a:pt x="51319" y="145088"/>
                  </a:lnTo>
                  <a:lnTo>
                    <a:pt x="29606" y="184244"/>
                  </a:lnTo>
                  <a:lnTo>
                    <a:pt x="13486" y="226530"/>
                  </a:lnTo>
                  <a:lnTo>
                    <a:pt x="3453" y="271451"/>
                  </a:lnTo>
                  <a:lnTo>
                    <a:pt x="0" y="318516"/>
                  </a:lnTo>
                  <a:lnTo>
                    <a:pt x="0" y="2232647"/>
                  </a:lnTo>
                  <a:lnTo>
                    <a:pt x="3453" y="2279717"/>
                  </a:lnTo>
                  <a:lnTo>
                    <a:pt x="13486" y="2324643"/>
                  </a:lnTo>
                  <a:lnTo>
                    <a:pt x="29606" y="2366931"/>
                  </a:lnTo>
                  <a:lnTo>
                    <a:pt x="51319" y="2406090"/>
                  </a:lnTo>
                  <a:lnTo>
                    <a:pt x="78132" y="2441626"/>
                  </a:lnTo>
                  <a:lnTo>
                    <a:pt x="109552" y="2473046"/>
                  </a:lnTo>
                  <a:lnTo>
                    <a:pt x="145088" y="2499859"/>
                  </a:lnTo>
                  <a:lnTo>
                    <a:pt x="184244" y="2521571"/>
                  </a:lnTo>
                  <a:lnTo>
                    <a:pt x="226530" y="2537689"/>
                  </a:lnTo>
                  <a:lnTo>
                    <a:pt x="271451" y="2547722"/>
                  </a:lnTo>
                  <a:lnTo>
                    <a:pt x="318516" y="2551176"/>
                  </a:lnTo>
                  <a:lnTo>
                    <a:pt x="1592579" y="2551176"/>
                  </a:lnTo>
                  <a:lnTo>
                    <a:pt x="1639644" y="2547722"/>
                  </a:lnTo>
                  <a:lnTo>
                    <a:pt x="1684565" y="2537689"/>
                  </a:lnTo>
                  <a:lnTo>
                    <a:pt x="1726851" y="2521571"/>
                  </a:lnTo>
                  <a:lnTo>
                    <a:pt x="1766007" y="2499859"/>
                  </a:lnTo>
                  <a:lnTo>
                    <a:pt x="1801543" y="2473046"/>
                  </a:lnTo>
                  <a:lnTo>
                    <a:pt x="1832963" y="2441626"/>
                  </a:lnTo>
                  <a:lnTo>
                    <a:pt x="1859776" y="2406090"/>
                  </a:lnTo>
                  <a:lnTo>
                    <a:pt x="1881489" y="2366931"/>
                  </a:lnTo>
                  <a:lnTo>
                    <a:pt x="1897609" y="2324643"/>
                  </a:lnTo>
                  <a:lnTo>
                    <a:pt x="1907642" y="2279717"/>
                  </a:lnTo>
                  <a:lnTo>
                    <a:pt x="1911096" y="2232647"/>
                  </a:lnTo>
                  <a:lnTo>
                    <a:pt x="1911096" y="318516"/>
                  </a:lnTo>
                  <a:lnTo>
                    <a:pt x="1907642" y="271451"/>
                  </a:lnTo>
                  <a:lnTo>
                    <a:pt x="1897609" y="226530"/>
                  </a:lnTo>
                  <a:lnTo>
                    <a:pt x="1881489" y="184244"/>
                  </a:lnTo>
                  <a:lnTo>
                    <a:pt x="1859776" y="145088"/>
                  </a:lnTo>
                  <a:lnTo>
                    <a:pt x="1832963" y="109552"/>
                  </a:lnTo>
                  <a:lnTo>
                    <a:pt x="1801543" y="78132"/>
                  </a:lnTo>
                  <a:lnTo>
                    <a:pt x="1766007" y="51319"/>
                  </a:lnTo>
                  <a:lnTo>
                    <a:pt x="1726851" y="29606"/>
                  </a:lnTo>
                  <a:lnTo>
                    <a:pt x="1684565" y="13486"/>
                  </a:lnTo>
                  <a:lnTo>
                    <a:pt x="1639644" y="3453"/>
                  </a:lnTo>
                  <a:lnTo>
                    <a:pt x="159257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89903" y="3480815"/>
              <a:ext cx="1911350" cy="2551430"/>
            </a:xfrm>
            <a:custGeom>
              <a:avLst/>
              <a:gdLst/>
              <a:ahLst/>
              <a:cxnLst/>
              <a:rect l="l" t="t" r="r" b="b"/>
              <a:pathLst>
                <a:path w="1911350" h="2551429">
                  <a:moveTo>
                    <a:pt x="0" y="318516"/>
                  </a:moveTo>
                  <a:lnTo>
                    <a:pt x="3453" y="271451"/>
                  </a:lnTo>
                  <a:lnTo>
                    <a:pt x="13486" y="226530"/>
                  </a:lnTo>
                  <a:lnTo>
                    <a:pt x="29606" y="184244"/>
                  </a:lnTo>
                  <a:lnTo>
                    <a:pt x="51319" y="145088"/>
                  </a:lnTo>
                  <a:lnTo>
                    <a:pt x="78132" y="109552"/>
                  </a:lnTo>
                  <a:lnTo>
                    <a:pt x="109552" y="78132"/>
                  </a:lnTo>
                  <a:lnTo>
                    <a:pt x="145088" y="51319"/>
                  </a:lnTo>
                  <a:lnTo>
                    <a:pt x="184244" y="29606"/>
                  </a:lnTo>
                  <a:lnTo>
                    <a:pt x="226530" y="13486"/>
                  </a:lnTo>
                  <a:lnTo>
                    <a:pt x="271451" y="3453"/>
                  </a:lnTo>
                  <a:lnTo>
                    <a:pt x="318516" y="0"/>
                  </a:lnTo>
                  <a:lnTo>
                    <a:pt x="1592579" y="0"/>
                  </a:lnTo>
                  <a:lnTo>
                    <a:pt x="1639644" y="3453"/>
                  </a:lnTo>
                  <a:lnTo>
                    <a:pt x="1684565" y="13486"/>
                  </a:lnTo>
                  <a:lnTo>
                    <a:pt x="1726851" y="29606"/>
                  </a:lnTo>
                  <a:lnTo>
                    <a:pt x="1766007" y="51319"/>
                  </a:lnTo>
                  <a:lnTo>
                    <a:pt x="1801543" y="78132"/>
                  </a:lnTo>
                  <a:lnTo>
                    <a:pt x="1832963" y="109552"/>
                  </a:lnTo>
                  <a:lnTo>
                    <a:pt x="1859776" y="145088"/>
                  </a:lnTo>
                  <a:lnTo>
                    <a:pt x="1881489" y="184244"/>
                  </a:lnTo>
                  <a:lnTo>
                    <a:pt x="1897609" y="226530"/>
                  </a:lnTo>
                  <a:lnTo>
                    <a:pt x="1907642" y="271451"/>
                  </a:lnTo>
                  <a:lnTo>
                    <a:pt x="1911096" y="318516"/>
                  </a:lnTo>
                  <a:lnTo>
                    <a:pt x="1911096" y="2232647"/>
                  </a:lnTo>
                  <a:lnTo>
                    <a:pt x="1907642" y="2279717"/>
                  </a:lnTo>
                  <a:lnTo>
                    <a:pt x="1897609" y="2324643"/>
                  </a:lnTo>
                  <a:lnTo>
                    <a:pt x="1881489" y="2366931"/>
                  </a:lnTo>
                  <a:lnTo>
                    <a:pt x="1859776" y="2406090"/>
                  </a:lnTo>
                  <a:lnTo>
                    <a:pt x="1832963" y="2441626"/>
                  </a:lnTo>
                  <a:lnTo>
                    <a:pt x="1801543" y="2473046"/>
                  </a:lnTo>
                  <a:lnTo>
                    <a:pt x="1766007" y="2499859"/>
                  </a:lnTo>
                  <a:lnTo>
                    <a:pt x="1726851" y="2521571"/>
                  </a:lnTo>
                  <a:lnTo>
                    <a:pt x="1684565" y="2537689"/>
                  </a:lnTo>
                  <a:lnTo>
                    <a:pt x="1639644" y="2547722"/>
                  </a:lnTo>
                  <a:lnTo>
                    <a:pt x="1592579" y="2551176"/>
                  </a:lnTo>
                  <a:lnTo>
                    <a:pt x="318516" y="2551176"/>
                  </a:lnTo>
                  <a:lnTo>
                    <a:pt x="271451" y="2547722"/>
                  </a:lnTo>
                  <a:lnTo>
                    <a:pt x="226530" y="2537689"/>
                  </a:lnTo>
                  <a:lnTo>
                    <a:pt x="184244" y="2521571"/>
                  </a:lnTo>
                  <a:lnTo>
                    <a:pt x="145088" y="2499859"/>
                  </a:lnTo>
                  <a:lnTo>
                    <a:pt x="109552" y="2473046"/>
                  </a:lnTo>
                  <a:lnTo>
                    <a:pt x="78132" y="2441626"/>
                  </a:lnTo>
                  <a:lnTo>
                    <a:pt x="51319" y="2406090"/>
                  </a:lnTo>
                  <a:lnTo>
                    <a:pt x="29606" y="2366931"/>
                  </a:lnTo>
                  <a:lnTo>
                    <a:pt x="13486" y="2324643"/>
                  </a:lnTo>
                  <a:lnTo>
                    <a:pt x="3453" y="2279717"/>
                  </a:lnTo>
                  <a:lnTo>
                    <a:pt x="0" y="2232647"/>
                  </a:lnTo>
                  <a:lnTo>
                    <a:pt x="0" y="31851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270116" y="4438903"/>
            <a:ext cx="1551305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521334" marR="5080" indent="-509270">
              <a:lnSpc>
                <a:spcPts val="2090"/>
              </a:lnSpc>
              <a:spcBef>
                <a:spcPts val="325"/>
              </a:spcBef>
            </a:pPr>
            <a:r>
              <a:rPr sz="1900" b="1" spc="-20" dirty="0">
                <a:solidFill>
                  <a:srgbClr val="FFFFFF"/>
                </a:solidFill>
                <a:latin typeface="Calibri"/>
                <a:cs typeface="Calibri"/>
              </a:rPr>
              <a:t>Heterogeneous DDB: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505836"/>
            <a:ext cx="2904490" cy="173228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sz="4000" spc="-20" dirty="0">
                <a:latin typeface="Calibri Light"/>
                <a:cs typeface="Calibri Light"/>
              </a:rPr>
              <a:t>Advantages</a:t>
            </a:r>
            <a:r>
              <a:rPr sz="4000" spc="-14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spc="-10" dirty="0">
                <a:latin typeface="Calibri Light"/>
                <a:cs typeface="Calibri Light"/>
              </a:rPr>
              <a:t>Distributed 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03264" y="1563624"/>
            <a:ext cx="5093335" cy="1592580"/>
          </a:xfrm>
          <a:custGeom>
            <a:avLst/>
            <a:gdLst/>
            <a:ahLst/>
            <a:cxnLst/>
            <a:rect l="l" t="t" r="r" b="b"/>
            <a:pathLst>
              <a:path w="5093334" h="1592580">
                <a:moveTo>
                  <a:pt x="0" y="1592579"/>
                </a:moveTo>
                <a:lnTo>
                  <a:pt x="5093208" y="1592579"/>
                </a:lnTo>
                <a:lnTo>
                  <a:pt x="5093208" y="0"/>
                </a:lnTo>
                <a:lnTo>
                  <a:pt x="0" y="0"/>
                </a:lnTo>
                <a:lnTo>
                  <a:pt x="0" y="1592579"/>
                </a:lnTo>
                <a:close/>
              </a:path>
            </a:pathLst>
          </a:custGeom>
          <a:ln w="634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369302" y="1605229"/>
            <a:ext cx="3883660" cy="14490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305"/>
              </a:spcBef>
            </a:pPr>
            <a:r>
              <a:rPr sz="2000" dirty="0">
                <a:latin typeface="Calibri"/>
                <a:cs typeface="Calibri"/>
              </a:rPr>
              <a:t>Modular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new </a:t>
            </a:r>
            <a:r>
              <a:rPr sz="2000" spc="-10" dirty="0">
                <a:latin typeface="Calibri"/>
                <a:cs typeface="Calibri"/>
              </a:rPr>
              <a:t>computers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connecting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25" dirty="0">
                <a:latin typeface="Calibri"/>
                <a:cs typeface="Calibri"/>
              </a:rPr>
              <a:t> to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distributed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83553" y="1327150"/>
            <a:ext cx="1128395" cy="1684655"/>
            <a:chOff x="6083553" y="1327150"/>
            <a:chExt cx="1128395" cy="1684655"/>
          </a:xfrm>
        </p:grpSpPr>
        <p:sp>
          <p:nvSpPr>
            <p:cNvPr id="10" name="object 10"/>
            <p:cNvSpPr/>
            <p:nvPr/>
          </p:nvSpPr>
          <p:spPr>
            <a:xfrm>
              <a:off x="6089903" y="1333500"/>
              <a:ext cx="1115695" cy="1671955"/>
            </a:xfrm>
            <a:custGeom>
              <a:avLst/>
              <a:gdLst/>
              <a:ahLst/>
              <a:cxnLst/>
              <a:rect l="l" t="t" r="r" b="b"/>
              <a:pathLst>
                <a:path w="1115695" h="1671955">
                  <a:moveTo>
                    <a:pt x="1115568" y="0"/>
                  </a:moveTo>
                  <a:lnTo>
                    <a:pt x="0" y="0"/>
                  </a:lnTo>
                  <a:lnTo>
                    <a:pt x="0" y="1671827"/>
                  </a:lnTo>
                  <a:lnTo>
                    <a:pt x="1115568" y="1671827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9903" y="1333500"/>
              <a:ext cx="1115695" cy="1671955"/>
            </a:xfrm>
            <a:custGeom>
              <a:avLst/>
              <a:gdLst/>
              <a:ahLst/>
              <a:cxnLst/>
              <a:rect l="l" t="t" r="r" b="b"/>
              <a:pathLst>
                <a:path w="1115695" h="1671955">
                  <a:moveTo>
                    <a:pt x="0" y="1671827"/>
                  </a:moveTo>
                  <a:lnTo>
                    <a:pt x="1115568" y="1671827"/>
                  </a:lnTo>
                  <a:lnTo>
                    <a:pt x="1115568" y="0"/>
                  </a:lnTo>
                  <a:lnTo>
                    <a:pt x="0" y="0"/>
                  </a:lnTo>
                  <a:lnTo>
                    <a:pt x="0" y="16718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6303264" y="3909059"/>
            <a:ext cx="5093335" cy="1591310"/>
          </a:xfrm>
          <a:custGeom>
            <a:avLst/>
            <a:gdLst/>
            <a:ahLst/>
            <a:cxnLst/>
            <a:rect l="l" t="t" r="r" b="b"/>
            <a:pathLst>
              <a:path w="5093334" h="1591310">
                <a:moveTo>
                  <a:pt x="0" y="1591055"/>
                </a:moveTo>
                <a:lnTo>
                  <a:pt x="5093208" y="1591055"/>
                </a:lnTo>
                <a:lnTo>
                  <a:pt x="5093208" y="0"/>
                </a:lnTo>
                <a:lnTo>
                  <a:pt x="0" y="0"/>
                </a:lnTo>
                <a:lnTo>
                  <a:pt x="0" y="1591055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69302" y="4369689"/>
            <a:ext cx="3738245" cy="6115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latin typeface="Calibri"/>
                <a:cs typeface="Calibri"/>
              </a:rPr>
              <a:t>One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server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failure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affect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entire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83553" y="3672585"/>
            <a:ext cx="1128395" cy="1684655"/>
            <a:chOff x="6083553" y="3672585"/>
            <a:chExt cx="1128395" cy="1684655"/>
          </a:xfrm>
        </p:grpSpPr>
        <p:sp>
          <p:nvSpPr>
            <p:cNvPr id="15" name="object 15"/>
            <p:cNvSpPr/>
            <p:nvPr/>
          </p:nvSpPr>
          <p:spPr>
            <a:xfrm>
              <a:off x="6089903" y="3678935"/>
              <a:ext cx="1115695" cy="1671955"/>
            </a:xfrm>
            <a:custGeom>
              <a:avLst/>
              <a:gdLst/>
              <a:ahLst/>
              <a:cxnLst/>
              <a:rect l="l" t="t" r="r" b="b"/>
              <a:pathLst>
                <a:path w="1115695" h="1671954">
                  <a:moveTo>
                    <a:pt x="1115568" y="0"/>
                  </a:moveTo>
                  <a:lnTo>
                    <a:pt x="0" y="0"/>
                  </a:lnTo>
                  <a:lnTo>
                    <a:pt x="0" y="1671827"/>
                  </a:lnTo>
                  <a:lnTo>
                    <a:pt x="1115568" y="1671827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C8D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89903" y="3678935"/>
              <a:ext cx="1115695" cy="1671955"/>
            </a:xfrm>
            <a:custGeom>
              <a:avLst/>
              <a:gdLst/>
              <a:ahLst/>
              <a:cxnLst/>
              <a:rect l="l" t="t" r="r" b="b"/>
              <a:pathLst>
                <a:path w="1115695" h="1671954">
                  <a:moveTo>
                    <a:pt x="0" y="1671827"/>
                  </a:moveTo>
                  <a:lnTo>
                    <a:pt x="1115568" y="1671827"/>
                  </a:lnTo>
                  <a:lnTo>
                    <a:pt x="1115568" y="0"/>
                  </a:lnTo>
                  <a:lnTo>
                    <a:pt x="0" y="0"/>
                  </a:lnTo>
                  <a:lnTo>
                    <a:pt x="0" y="16718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3086480"/>
            <a:ext cx="3650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 Light"/>
                <a:cs typeface="Calibri Light"/>
              </a:rPr>
              <a:t>Relational</a:t>
            </a:r>
            <a:r>
              <a:rPr sz="3600" spc="-12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Database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933450"/>
            <a:ext cx="4867275" cy="48704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0029" marR="273685" indent="-227965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stores 	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rows(tuple)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spc="-10" dirty="0">
                <a:latin typeface="Calibri"/>
                <a:cs typeface="Calibri"/>
              </a:rPr>
              <a:t>columns(attributes),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together 	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table(relation).</a:t>
            </a:r>
            <a:endParaRPr sz="2400">
              <a:latin typeface="Calibri"/>
              <a:cs typeface="Calibri"/>
            </a:endParaRPr>
          </a:p>
          <a:p>
            <a:pPr marL="239395" marR="420370" indent="-227329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storing,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manipulating,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25" dirty="0">
                <a:latin typeface="Calibri"/>
                <a:cs typeface="Calibri"/>
              </a:rPr>
              <a:t> as 	</a:t>
            </a:r>
            <a:r>
              <a:rPr sz="2400" dirty="0">
                <a:latin typeface="Calibri"/>
                <a:cs typeface="Calibri"/>
              </a:rPr>
              <a:t>maintaining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E.F.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Codd 	invented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1970.</a:t>
            </a:r>
            <a:endParaRPr sz="2400">
              <a:latin typeface="Calibri"/>
              <a:cs typeface="Calibri"/>
            </a:endParaRPr>
          </a:p>
          <a:p>
            <a:pPr marL="239395" marR="69215" indent="-227329">
              <a:lnSpc>
                <a:spcPct val="8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 	</a:t>
            </a:r>
            <a:r>
              <a:rPr sz="2400" spc="-10" dirty="0">
                <a:latin typeface="Calibri"/>
                <a:cs typeface="Calibri"/>
              </a:rPr>
              <a:t>others.</a:t>
            </a:r>
            <a:endParaRPr sz="24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Examples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dirty="0">
                <a:latin typeface="Calibri"/>
                <a:cs typeface="Calibri"/>
              </a:rPr>
              <a:t>MySQL,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Microsoft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Server,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Oracle, 	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592704"/>
            <a:ext cx="3650615" cy="15621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 Light"/>
                <a:cs typeface="Calibri Light"/>
              </a:rPr>
              <a:t>Properties</a:t>
            </a:r>
            <a:r>
              <a:rPr sz="3600" spc="-180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of </a:t>
            </a:r>
            <a:r>
              <a:rPr sz="3600" spc="-10" dirty="0">
                <a:latin typeface="Calibri Light"/>
                <a:cs typeface="Calibri Light"/>
              </a:rPr>
              <a:t>Relational</a:t>
            </a:r>
            <a:r>
              <a:rPr sz="3600" spc="-12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Database </a:t>
            </a:r>
            <a:r>
              <a:rPr sz="3600" dirty="0">
                <a:latin typeface="Calibri Light"/>
                <a:cs typeface="Calibri Light"/>
              </a:rPr>
              <a:t>(ACID</a:t>
            </a:r>
            <a:r>
              <a:rPr sz="3600" spc="-3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Properties)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27547" y="829055"/>
            <a:ext cx="6024880" cy="1059180"/>
          </a:xfrm>
          <a:custGeom>
            <a:avLst/>
            <a:gdLst/>
            <a:ahLst/>
            <a:cxnLst/>
            <a:rect l="l" t="t" r="r" b="b"/>
            <a:pathLst>
              <a:path w="6024880" h="1059180">
                <a:moveTo>
                  <a:pt x="0" y="1059180"/>
                </a:moveTo>
                <a:lnTo>
                  <a:pt x="6024372" y="1059180"/>
                </a:lnTo>
                <a:lnTo>
                  <a:pt x="6024372" y="0"/>
                </a:lnTo>
                <a:lnTo>
                  <a:pt x="0" y="0"/>
                </a:lnTo>
                <a:lnTo>
                  <a:pt x="0" y="1059180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83604" y="1119632"/>
            <a:ext cx="5038090" cy="66357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5080" indent="-113030">
              <a:lnSpc>
                <a:spcPts val="154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This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ensures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operation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either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success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or 	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failure.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follows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'all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nothing'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strategy.</a:t>
            </a:r>
            <a:endParaRPr sz="1400">
              <a:latin typeface="Calibri"/>
              <a:cs typeface="Calibri"/>
            </a:endParaRPr>
          </a:p>
          <a:p>
            <a:pPr marL="125730" indent="-113030">
              <a:lnSpc>
                <a:spcPct val="100000"/>
              </a:lnSpc>
              <a:spcBef>
                <a:spcPts val="90"/>
              </a:spcBef>
              <a:buChar char="•"/>
              <a:tabLst>
                <a:tab pos="125730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transaction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either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committed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abort.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22950" y="586486"/>
            <a:ext cx="4229735" cy="485140"/>
            <a:chOff x="5822950" y="586486"/>
            <a:chExt cx="4229735" cy="485140"/>
          </a:xfrm>
        </p:grpSpPr>
        <p:sp>
          <p:nvSpPr>
            <p:cNvPr id="9" name="object 9"/>
            <p:cNvSpPr/>
            <p:nvPr/>
          </p:nvSpPr>
          <p:spPr>
            <a:xfrm>
              <a:off x="5829300" y="592836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40">
                  <a:moveTo>
                    <a:pt x="4138168" y="0"/>
                  </a:moveTo>
                  <a:lnTo>
                    <a:pt x="78739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39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39" y="472439"/>
                  </a:lnTo>
                  <a:lnTo>
                    <a:pt x="4138168" y="472439"/>
                  </a:lnTo>
                  <a:lnTo>
                    <a:pt x="4168794" y="466244"/>
                  </a:lnTo>
                  <a:lnTo>
                    <a:pt x="4193825" y="449357"/>
                  </a:lnTo>
                  <a:lnTo>
                    <a:pt x="4210712" y="424326"/>
                  </a:lnTo>
                  <a:lnTo>
                    <a:pt x="4216908" y="393700"/>
                  </a:lnTo>
                  <a:lnTo>
                    <a:pt x="4216908" y="78739"/>
                  </a:lnTo>
                  <a:lnTo>
                    <a:pt x="4210712" y="48113"/>
                  </a:lnTo>
                  <a:lnTo>
                    <a:pt x="4193825" y="23082"/>
                  </a:lnTo>
                  <a:lnTo>
                    <a:pt x="4168794" y="6195"/>
                  </a:lnTo>
                  <a:lnTo>
                    <a:pt x="413816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29300" y="592836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40">
                  <a:moveTo>
                    <a:pt x="0" y="78739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39" y="0"/>
                  </a:lnTo>
                  <a:lnTo>
                    <a:pt x="4138168" y="0"/>
                  </a:lnTo>
                  <a:lnTo>
                    <a:pt x="4168794" y="6195"/>
                  </a:lnTo>
                  <a:lnTo>
                    <a:pt x="4193825" y="23082"/>
                  </a:lnTo>
                  <a:lnTo>
                    <a:pt x="4210712" y="48113"/>
                  </a:lnTo>
                  <a:lnTo>
                    <a:pt x="4216908" y="78739"/>
                  </a:lnTo>
                  <a:lnTo>
                    <a:pt x="4216908" y="393700"/>
                  </a:lnTo>
                  <a:lnTo>
                    <a:pt x="4210712" y="424326"/>
                  </a:lnTo>
                  <a:lnTo>
                    <a:pt x="4193825" y="449357"/>
                  </a:lnTo>
                  <a:lnTo>
                    <a:pt x="4168794" y="466244"/>
                  </a:lnTo>
                  <a:lnTo>
                    <a:pt x="4138168" y="472439"/>
                  </a:lnTo>
                  <a:lnTo>
                    <a:pt x="78739" y="472439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999734" y="653034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Atomicity: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27547" y="2209800"/>
            <a:ext cx="6024880" cy="1260475"/>
          </a:xfrm>
          <a:custGeom>
            <a:avLst/>
            <a:gdLst/>
            <a:ahLst/>
            <a:cxnLst/>
            <a:rect l="l" t="t" r="r" b="b"/>
            <a:pathLst>
              <a:path w="6024880" h="1260475">
                <a:moveTo>
                  <a:pt x="0" y="1260348"/>
                </a:moveTo>
                <a:lnTo>
                  <a:pt x="6024372" y="1260348"/>
                </a:lnTo>
                <a:lnTo>
                  <a:pt x="6024372" y="0"/>
                </a:lnTo>
                <a:lnTo>
                  <a:pt x="0" y="0"/>
                </a:lnTo>
                <a:lnTo>
                  <a:pt x="0" y="1260348"/>
                </a:lnTo>
                <a:close/>
              </a:path>
            </a:pathLst>
          </a:custGeom>
          <a:ln w="12700">
            <a:solidFill>
              <a:srgbClr val="52C9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83604" y="2501011"/>
            <a:ext cx="5062220" cy="858519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5080" indent="-113030">
              <a:lnSpc>
                <a:spcPts val="154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perform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operation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value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after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operation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preserved.</a:t>
            </a:r>
            <a:endParaRPr sz="1400">
              <a:latin typeface="Calibri"/>
              <a:cs typeface="Calibri"/>
            </a:endParaRPr>
          </a:p>
          <a:p>
            <a:pPr marL="125730" marR="152400" indent="-113030">
              <a:lnSpc>
                <a:spcPts val="1540"/>
              </a:lnSpc>
              <a:spcBef>
                <a:spcPts val="254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account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balance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transaction 	should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correct,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i.e.,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remain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conserved.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22950" y="1967229"/>
            <a:ext cx="4229735" cy="485140"/>
            <a:chOff x="5822950" y="1967229"/>
            <a:chExt cx="4229735" cy="485140"/>
          </a:xfrm>
        </p:grpSpPr>
        <p:sp>
          <p:nvSpPr>
            <p:cNvPr id="15" name="object 15"/>
            <p:cNvSpPr/>
            <p:nvPr/>
          </p:nvSpPr>
          <p:spPr>
            <a:xfrm>
              <a:off x="5829300" y="1973579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4138168" y="0"/>
                  </a:moveTo>
                  <a:lnTo>
                    <a:pt x="78739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40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39" y="472440"/>
                  </a:lnTo>
                  <a:lnTo>
                    <a:pt x="4138168" y="472440"/>
                  </a:lnTo>
                  <a:lnTo>
                    <a:pt x="4168794" y="466244"/>
                  </a:lnTo>
                  <a:lnTo>
                    <a:pt x="4193825" y="449357"/>
                  </a:lnTo>
                  <a:lnTo>
                    <a:pt x="4210712" y="424326"/>
                  </a:lnTo>
                  <a:lnTo>
                    <a:pt x="4216908" y="393700"/>
                  </a:lnTo>
                  <a:lnTo>
                    <a:pt x="4216908" y="78740"/>
                  </a:lnTo>
                  <a:lnTo>
                    <a:pt x="4210712" y="48113"/>
                  </a:lnTo>
                  <a:lnTo>
                    <a:pt x="4193825" y="23082"/>
                  </a:lnTo>
                  <a:lnTo>
                    <a:pt x="4168794" y="6195"/>
                  </a:lnTo>
                  <a:lnTo>
                    <a:pt x="4138168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29300" y="1973579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0" y="78740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39" y="0"/>
                  </a:lnTo>
                  <a:lnTo>
                    <a:pt x="4138168" y="0"/>
                  </a:lnTo>
                  <a:lnTo>
                    <a:pt x="4168794" y="6195"/>
                  </a:lnTo>
                  <a:lnTo>
                    <a:pt x="4193825" y="23082"/>
                  </a:lnTo>
                  <a:lnTo>
                    <a:pt x="4210712" y="48113"/>
                  </a:lnTo>
                  <a:lnTo>
                    <a:pt x="4216908" y="78740"/>
                  </a:lnTo>
                  <a:lnTo>
                    <a:pt x="4216908" y="393700"/>
                  </a:lnTo>
                  <a:lnTo>
                    <a:pt x="4210712" y="424326"/>
                  </a:lnTo>
                  <a:lnTo>
                    <a:pt x="4193825" y="449357"/>
                  </a:lnTo>
                  <a:lnTo>
                    <a:pt x="4168794" y="466244"/>
                  </a:lnTo>
                  <a:lnTo>
                    <a:pt x="4138168" y="472440"/>
                  </a:lnTo>
                  <a:lnTo>
                    <a:pt x="78739" y="472440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99734" y="2034285"/>
            <a:ext cx="2026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Consistency: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27547" y="3793235"/>
            <a:ext cx="6024880" cy="1461770"/>
          </a:xfrm>
          <a:custGeom>
            <a:avLst/>
            <a:gdLst/>
            <a:ahLst/>
            <a:cxnLst/>
            <a:rect l="l" t="t" r="r" b="b"/>
            <a:pathLst>
              <a:path w="6024880" h="1461770">
                <a:moveTo>
                  <a:pt x="0" y="1461516"/>
                </a:moveTo>
                <a:lnTo>
                  <a:pt x="6024372" y="1461516"/>
                </a:lnTo>
                <a:lnTo>
                  <a:pt x="6024372" y="0"/>
                </a:lnTo>
                <a:lnTo>
                  <a:pt x="0" y="0"/>
                </a:lnTo>
                <a:lnTo>
                  <a:pt x="0" y="1461516"/>
                </a:lnTo>
                <a:close/>
              </a:path>
            </a:pathLst>
          </a:custGeom>
          <a:ln w="12700">
            <a:solidFill>
              <a:srgbClr val="48BE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83604" y="4083811"/>
            <a:ext cx="4986655" cy="10534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5730" marR="5080" indent="-113030">
              <a:lnSpc>
                <a:spcPts val="154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concurrent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accessing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time 	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database.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Thus,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isolation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between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remain 	isolated.</a:t>
            </a:r>
            <a:endParaRPr sz="1400">
              <a:latin typeface="Calibri"/>
              <a:cs typeface="Calibri"/>
            </a:endParaRPr>
          </a:p>
          <a:p>
            <a:pPr marL="125730" marR="172085" indent="-113030">
              <a:lnSpc>
                <a:spcPts val="1540"/>
              </a:lnSpc>
              <a:spcBef>
                <a:spcPts val="254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example,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multiple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transactions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occur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time, 	</a:t>
            </a:r>
            <a:r>
              <a:rPr sz="1400" dirty="0">
                <a:latin typeface="Calibri"/>
                <a:cs typeface="Calibri"/>
              </a:rPr>
              <a:t>one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transaction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effects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visible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other.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22950" y="3550665"/>
            <a:ext cx="4229735" cy="485140"/>
            <a:chOff x="5822950" y="3550665"/>
            <a:chExt cx="4229735" cy="485140"/>
          </a:xfrm>
        </p:grpSpPr>
        <p:sp>
          <p:nvSpPr>
            <p:cNvPr id="21" name="object 21"/>
            <p:cNvSpPr/>
            <p:nvPr/>
          </p:nvSpPr>
          <p:spPr>
            <a:xfrm>
              <a:off x="5829300" y="3557015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4138168" y="0"/>
                  </a:moveTo>
                  <a:lnTo>
                    <a:pt x="78739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40"/>
                  </a:lnTo>
                  <a:lnTo>
                    <a:pt x="0" y="393700"/>
                  </a:lnTo>
                  <a:lnTo>
                    <a:pt x="6195" y="424326"/>
                  </a:lnTo>
                  <a:lnTo>
                    <a:pt x="23082" y="449357"/>
                  </a:lnTo>
                  <a:lnTo>
                    <a:pt x="48113" y="466244"/>
                  </a:lnTo>
                  <a:lnTo>
                    <a:pt x="78739" y="472440"/>
                  </a:lnTo>
                  <a:lnTo>
                    <a:pt x="4138168" y="472440"/>
                  </a:lnTo>
                  <a:lnTo>
                    <a:pt x="4168794" y="466244"/>
                  </a:lnTo>
                  <a:lnTo>
                    <a:pt x="4193825" y="449357"/>
                  </a:lnTo>
                  <a:lnTo>
                    <a:pt x="4210712" y="424326"/>
                  </a:lnTo>
                  <a:lnTo>
                    <a:pt x="4216908" y="393700"/>
                  </a:lnTo>
                  <a:lnTo>
                    <a:pt x="4216908" y="78740"/>
                  </a:lnTo>
                  <a:lnTo>
                    <a:pt x="4210712" y="48113"/>
                  </a:lnTo>
                  <a:lnTo>
                    <a:pt x="4193825" y="23082"/>
                  </a:lnTo>
                  <a:lnTo>
                    <a:pt x="4168794" y="6195"/>
                  </a:lnTo>
                  <a:lnTo>
                    <a:pt x="4138168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29300" y="3557015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0" y="78740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39" y="0"/>
                  </a:lnTo>
                  <a:lnTo>
                    <a:pt x="4138168" y="0"/>
                  </a:lnTo>
                  <a:lnTo>
                    <a:pt x="4168794" y="6195"/>
                  </a:lnTo>
                  <a:lnTo>
                    <a:pt x="4193825" y="23082"/>
                  </a:lnTo>
                  <a:lnTo>
                    <a:pt x="4210712" y="48113"/>
                  </a:lnTo>
                  <a:lnTo>
                    <a:pt x="4216908" y="78740"/>
                  </a:lnTo>
                  <a:lnTo>
                    <a:pt x="4216908" y="393700"/>
                  </a:lnTo>
                  <a:lnTo>
                    <a:pt x="4210712" y="424326"/>
                  </a:lnTo>
                  <a:lnTo>
                    <a:pt x="4193825" y="449357"/>
                  </a:lnTo>
                  <a:lnTo>
                    <a:pt x="4168794" y="466244"/>
                  </a:lnTo>
                  <a:lnTo>
                    <a:pt x="4138168" y="472440"/>
                  </a:lnTo>
                  <a:lnTo>
                    <a:pt x="78739" y="472440"/>
                  </a:lnTo>
                  <a:lnTo>
                    <a:pt x="48113" y="466244"/>
                  </a:lnTo>
                  <a:lnTo>
                    <a:pt x="23082" y="449357"/>
                  </a:lnTo>
                  <a:lnTo>
                    <a:pt x="6195" y="424326"/>
                  </a:lnTo>
                  <a:lnTo>
                    <a:pt x="0" y="393700"/>
                  </a:lnTo>
                  <a:lnTo>
                    <a:pt x="0" y="7874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99734" y="3617214"/>
            <a:ext cx="1659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Isolation: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21197" y="5333746"/>
            <a:ext cx="6037580" cy="1081405"/>
            <a:chOff x="5521197" y="5333746"/>
            <a:chExt cx="6037580" cy="1081405"/>
          </a:xfrm>
        </p:grpSpPr>
        <p:sp>
          <p:nvSpPr>
            <p:cNvPr id="25" name="object 25"/>
            <p:cNvSpPr/>
            <p:nvPr/>
          </p:nvSpPr>
          <p:spPr>
            <a:xfrm>
              <a:off x="5527547" y="5576316"/>
              <a:ext cx="6024880" cy="832485"/>
            </a:xfrm>
            <a:custGeom>
              <a:avLst/>
              <a:gdLst/>
              <a:ahLst/>
              <a:cxnLst/>
              <a:rect l="l" t="t" r="r" b="b"/>
              <a:pathLst>
                <a:path w="6024880" h="832485">
                  <a:moveTo>
                    <a:pt x="0" y="832103"/>
                  </a:moveTo>
                  <a:lnTo>
                    <a:pt x="6024372" y="832103"/>
                  </a:lnTo>
                  <a:lnTo>
                    <a:pt x="6024372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29299" y="5340096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4138168" y="0"/>
                  </a:moveTo>
                  <a:lnTo>
                    <a:pt x="78739" y="0"/>
                  </a:lnTo>
                  <a:lnTo>
                    <a:pt x="48113" y="6195"/>
                  </a:lnTo>
                  <a:lnTo>
                    <a:pt x="23082" y="23082"/>
                  </a:lnTo>
                  <a:lnTo>
                    <a:pt x="6195" y="48113"/>
                  </a:lnTo>
                  <a:lnTo>
                    <a:pt x="0" y="78739"/>
                  </a:lnTo>
                  <a:lnTo>
                    <a:pt x="0" y="393699"/>
                  </a:lnTo>
                  <a:lnTo>
                    <a:pt x="6195" y="424348"/>
                  </a:lnTo>
                  <a:lnTo>
                    <a:pt x="23082" y="449376"/>
                  </a:lnTo>
                  <a:lnTo>
                    <a:pt x="48113" y="466251"/>
                  </a:lnTo>
                  <a:lnTo>
                    <a:pt x="78739" y="472439"/>
                  </a:lnTo>
                  <a:lnTo>
                    <a:pt x="4138168" y="472439"/>
                  </a:lnTo>
                  <a:lnTo>
                    <a:pt x="4168794" y="466251"/>
                  </a:lnTo>
                  <a:lnTo>
                    <a:pt x="4193825" y="449376"/>
                  </a:lnTo>
                  <a:lnTo>
                    <a:pt x="4210712" y="424348"/>
                  </a:lnTo>
                  <a:lnTo>
                    <a:pt x="4216908" y="393699"/>
                  </a:lnTo>
                  <a:lnTo>
                    <a:pt x="4216908" y="78739"/>
                  </a:lnTo>
                  <a:lnTo>
                    <a:pt x="4210712" y="48113"/>
                  </a:lnTo>
                  <a:lnTo>
                    <a:pt x="4193825" y="23082"/>
                  </a:lnTo>
                  <a:lnTo>
                    <a:pt x="4168794" y="6195"/>
                  </a:lnTo>
                  <a:lnTo>
                    <a:pt x="413816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29299" y="5340096"/>
              <a:ext cx="4217035" cy="472440"/>
            </a:xfrm>
            <a:custGeom>
              <a:avLst/>
              <a:gdLst/>
              <a:ahLst/>
              <a:cxnLst/>
              <a:rect l="l" t="t" r="r" b="b"/>
              <a:pathLst>
                <a:path w="4217034" h="472439">
                  <a:moveTo>
                    <a:pt x="0" y="78739"/>
                  </a:moveTo>
                  <a:lnTo>
                    <a:pt x="6195" y="48113"/>
                  </a:lnTo>
                  <a:lnTo>
                    <a:pt x="23082" y="23082"/>
                  </a:lnTo>
                  <a:lnTo>
                    <a:pt x="48113" y="6195"/>
                  </a:lnTo>
                  <a:lnTo>
                    <a:pt x="78739" y="0"/>
                  </a:lnTo>
                  <a:lnTo>
                    <a:pt x="4138168" y="0"/>
                  </a:lnTo>
                  <a:lnTo>
                    <a:pt x="4168794" y="6195"/>
                  </a:lnTo>
                  <a:lnTo>
                    <a:pt x="4193825" y="23082"/>
                  </a:lnTo>
                  <a:lnTo>
                    <a:pt x="4210712" y="48113"/>
                  </a:lnTo>
                  <a:lnTo>
                    <a:pt x="4216908" y="78739"/>
                  </a:lnTo>
                  <a:lnTo>
                    <a:pt x="4216908" y="393699"/>
                  </a:lnTo>
                  <a:lnTo>
                    <a:pt x="4210712" y="424348"/>
                  </a:lnTo>
                  <a:lnTo>
                    <a:pt x="4193825" y="449376"/>
                  </a:lnTo>
                  <a:lnTo>
                    <a:pt x="4168794" y="466251"/>
                  </a:lnTo>
                  <a:lnTo>
                    <a:pt x="4138168" y="472439"/>
                  </a:lnTo>
                  <a:lnTo>
                    <a:pt x="78739" y="472439"/>
                  </a:lnTo>
                  <a:lnTo>
                    <a:pt x="48113" y="466251"/>
                  </a:lnTo>
                  <a:lnTo>
                    <a:pt x="23082" y="449376"/>
                  </a:lnTo>
                  <a:lnTo>
                    <a:pt x="6195" y="424348"/>
                  </a:lnTo>
                  <a:lnTo>
                    <a:pt x="0" y="393699"/>
                  </a:lnTo>
                  <a:lnTo>
                    <a:pt x="0" y="787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83604" y="5401767"/>
            <a:ext cx="478218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means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Durability:</a:t>
            </a:r>
            <a:endParaRPr sz="1800">
              <a:latin typeface="Calibri"/>
              <a:cs typeface="Calibri"/>
            </a:endParaRPr>
          </a:p>
          <a:p>
            <a:pPr marL="125730" marR="5080" indent="-113030">
              <a:lnSpc>
                <a:spcPts val="1540"/>
              </a:lnSpc>
              <a:spcBef>
                <a:spcPts val="168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ensures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once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operation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commits</a:t>
            </a:r>
            <a:r>
              <a:rPr sz="1400" spc="-25" dirty="0">
                <a:latin typeface="Calibri"/>
                <a:cs typeface="Calibri"/>
              </a:rPr>
              <a:t> the 	</a:t>
            </a:r>
            <a:r>
              <a:rPr sz="1400" dirty="0">
                <a:latin typeface="Calibri"/>
                <a:cs typeface="Calibri"/>
              </a:rPr>
              <a:t>data,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changes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should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remain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permanent.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3054172"/>
            <a:ext cx="3400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NoSQL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0167" y="790194"/>
            <a:ext cx="5115560" cy="51809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095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SQL/Not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wide 	</a:t>
            </a:r>
            <a:r>
              <a:rPr sz="2400" dirty="0">
                <a:latin typeface="Calibri"/>
                <a:cs typeface="Calibri"/>
              </a:rPr>
              <a:t>range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tabular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but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ways.</a:t>
            </a:r>
            <a:endParaRPr sz="2400">
              <a:latin typeface="Calibri"/>
              <a:cs typeface="Calibri"/>
            </a:endParaRPr>
          </a:p>
          <a:p>
            <a:pPr marL="240029" marR="932815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existence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demand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modern 	</a:t>
            </a:r>
            <a:r>
              <a:rPr sz="2400" dirty="0">
                <a:latin typeface="Calibri"/>
                <a:cs typeface="Calibri"/>
              </a:rPr>
              <a:t>applications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increased.</a:t>
            </a:r>
            <a:endParaRPr sz="2400">
              <a:latin typeface="Calibri"/>
              <a:cs typeface="Calibri"/>
            </a:endParaRPr>
          </a:p>
          <a:p>
            <a:pPr marL="240029" marR="182245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Thus,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NoSQL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variety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technologies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response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demands.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9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further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NoSQL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527421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638829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3411" y="3054172"/>
            <a:ext cx="3400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 Light"/>
                <a:cs typeface="Calibri Light"/>
              </a:rPr>
              <a:t>NoSQL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8276" y="879347"/>
            <a:ext cx="5646420" cy="502920"/>
          </a:xfrm>
          <a:custGeom>
            <a:avLst/>
            <a:gdLst/>
            <a:ahLst/>
            <a:cxnLst/>
            <a:rect l="l" t="t" r="r" b="b"/>
            <a:pathLst>
              <a:path w="5646420" h="502919">
                <a:moveTo>
                  <a:pt x="5562600" y="0"/>
                </a:moveTo>
                <a:lnTo>
                  <a:pt x="83820" y="0"/>
                </a:lnTo>
                <a:lnTo>
                  <a:pt x="51167" y="6578"/>
                </a:lnTo>
                <a:lnTo>
                  <a:pt x="24526" y="24526"/>
                </a:lnTo>
                <a:lnTo>
                  <a:pt x="6578" y="51167"/>
                </a:lnTo>
                <a:lnTo>
                  <a:pt x="0" y="83819"/>
                </a:lnTo>
                <a:lnTo>
                  <a:pt x="0" y="419100"/>
                </a:lnTo>
                <a:lnTo>
                  <a:pt x="6578" y="451752"/>
                </a:lnTo>
                <a:lnTo>
                  <a:pt x="24526" y="478393"/>
                </a:lnTo>
                <a:lnTo>
                  <a:pt x="51167" y="496341"/>
                </a:lnTo>
                <a:lnTo>
                  <a:pt x="83820" y="502919"/>
                </a:lnTo>
                <a:lnTo>
                  <a:pt x="5562600" y="502919"/>
                </a:lnTo>
                <a:lnTo>
                  <a:pt x="5595252" y="496341"/>
                </a:lnTo>
                <a:lnTo>
                  <a:pt x="5621893" y="478393"/>
                </a:lnTo>
                <a:lnTo>
                  <a:pt x="5639841" y="451752"/>
                </a:lnTo>
                <a:lnTo>
                  <a:pt x="5646420" y="419100"/>
                </a:lnTo>
                <a:lnTo>
                  <a:pt x="5646420" y="83819"/>
                </a:lnTo>
                <a:lnTo>
                  <a:pt x="5639841" y="51167"/>
                </a:lnTo>
                <a:lnTo>
                  <a:pt x="5621893" y="24526"/>
                </a:lnTo>
                <a:lnTo>
                  <a:pt x="5595252" y="6578"/>
                </a:lnTo>
                <a:lnTo>
                  <a:pt x="55626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8276" y="879347"/>
            <a:ext cx="5646420" cy="502920"/>
          </a:xfrm>
          <a:custGeom>
            <a:avLst/>
            <a:gdLst/>
            <a:ahLst/>
            <a:cxnLst/>
            <a:rect l="l" t="t" r="r" b="b"/>
            <a:pathLst>
              <a:path w="5646420" h="502919">
                <a:moveTo>
                  <a:pt x="0" y="83819"/>
                </a:moveTo>
                <a:lnTo>
                  <a:pt x="6578" y="51167"/>
                </a:lnTo>
                <a:lnTo>
                  <a:pt x="24526" y="24526"/>
                </a:lnTo>
                <a:lnTo>
                  <a:pt x="51167" y="6578"/>
                </a:lnTo>
                <a:lnTo>
                  <a:pt x="83820" y="0"/>
                </a:lnTo>
                <a:lnTo>
                  <a:pt x="5562600" y="0"/>
                </a:lnTo>
                <a:lnTo>
                  <a:pt x="5595252" y="6578"/>
                </a:lnTo>
                <a:lnTo>
                  <a:pt x="5621893" y="24526"/>
                </a:lnTo>
                <a:lnTo>
                  <a:pt x="5639841" y="51167"/>
                </a:lnTo>
                <a:lnTo>
                  <a:pt x="5646420" y="83819"/>
                </a:lnTo>
                <a:lnTo>
                  <a:pt x="5646420" y="419100"/>
                </a:lnTo>
                <a:lnTo>
                  <a:pt x="5639841" y="451752"/>
                </a:lnTo>
                <a:lnTo>
                  <a:pt x="5621893" y="478393"/>
                </a:lnTo>
                <a:lnTo>
                  <a:pt x="5595252" y="496341"/>
                </a:lnTo>
                <a:lnTo>
                  <a:pt x="5562600" y="502919"/>
                </a:lnTo>
                <a:lnTo>
                  <a:pt x="83820" y="502919"/>
                </a:lnTo>
                <a:lnTo>
                  <a:pt x="51167" y="496341"/>
                </a:lnTo>
                <a:lnTo>
                  <a:pt x="24526" y="478393"/>
                </a:lnTo>
                <a:lnTo>
                  <a:pt x="6578" y="451752"/>
                </a:lnTo>
                <a:lnTo>
                  <a:pt x="0" y="419100"/>
                </a:lnTo>
                <a:lnTo>
                  <a:pt x="0" y="8381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110985" y="926033"/>
            <a:ext cx="200278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Key-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storage: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11926" y="2115057"/>
            <a:ext cx="5659120" cy="517525"/>
            <a:chOff x="6011926" y="2115057"/>
            <a:chExt cx="5659120" cy="517525"/>
          </a:xfrm>
        </p:grpSpPr>
        <p:sp>
          <p:nvSpPr>
            <p:cNvPr id="12" name="object 12"/>
            <p:cNvSpPr/>
            <p:nvPr/>
          </p:nvSpPr>
          <p:spPr>
            <a:xfrm>
              <a:off x="6018276" y="2121407"/>
              <a:ext cx="5646420" cy="504825"/>
            </a:xfrm>
            <a:custGeom>
              <a:avLst/>
              <a:gdLst/>
              <a:ahLst/>
              <a:cxnLst/>
              <a:rect l="l" t="t" r="r" b="b"/>
              <a:pathLst>
                <a:path w="5646420" h="504825">
                  <a:moveTo>
                    <a:pt x="5562346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4"/>
                  </a:lnTo>
                  <a:lnTo>
                    <a:pt x="0" y="420369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3"/>
                  </a:lnTo>
                  <a:lnTo>
                    <a:pt x="5562346" y="504443"/>
                  </a:lnTo>
                  <a:lnTo>
                    <a:pt x="5595092" y="497843"/>
                  </a:lnTo>
                  <a:lnTo>
                    <a:pt x="5621813" y="479837"/>
                  </a:lnTo>
                  <a:lnTo>
                    <a:pt x="5639819" y="453116"/>
                  </a:lnTo>
                  <a:lnTo>
                    <a:pt x="5646420" y="420369"/>
                  </a:lnTo>
                  <a:lnTo>
                    <a:pt x="5646420" y="84074"/>
                  </a:lnTo>
                  <a:lnTo>
                    <a:pt x="5639819" y="51327"/>
                  </a:lnTo>
                  <a:lnTo>
                    <a:pt x="5621813" y="24606"/>
                  </a:lnTo>
                  <a:lnTo>
                    <a:pt x="5595092" y="6600"/>
                  </a:lnTo>
                  <a:lnTo>
                    <a:pt x="5562346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18276" y="2121407"/>
              <a:ext cx="5646420" cy="504825"/>
            </a:xfrm>
            <a:custGeom>
              <a:avLst/>
              <a:gdLst/>
              <a:ahLst/>
              <a:cxnLst/>
              <a:rect l="l" t="t" r="r" b="b"/>
              <a:pathLst>
                <a:path w="5646420" h="504825">
                  <a:moveTo>
                    <a:pt x="0" y="84074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5562346" y="0"/>
                  </a:lnTo>
                  <a:lnTo>
                    <a:pt x="5595092" y="6600"/>
                  </a:lnTo>
                  <a:lnTo>
                    <a:pt x="5621813" y="24606"/>
                  </a:lnTo>
                  <a:lnTo>
                    <a:pt x="5639819" y="51327"/>
                  </a:lnTo>
                  <a:lnTo>
                    <a:pt x="5646420" y="84074"/>
                  </a:lnTo>
                  <a:lnTo>
                    <a:pt x="5646420" y="420369"/>
                  </a:lnTo>
                  <a:lnTo>
                    <a:pt x="5639819" y="453116"/>
                  </a:lnTo>
                  <a:lnTo>
                    <a:pt x="5621813" y="479837"/>
                  </a:lnTo>
                  <a:lnTo>
                    <a:pt x="5595092" y="497843"/>
                  </a:lnTo>
                  <a:lnTo>
                    <a:pt x="5562346" y="504443"/>
                  </a:lnTo>
                  <a:lnTo>
                    <a:pt x="84074" y="504443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10985" y="1363725"/>
            <a:ext cx="4971415" cy="11512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257810" marR="5080" indent="-171450">
              <a:lnSpc>
                <a:spcPct val="91600"/>
              </a:lnSpc>
              <a:spcBef>
                <a:spcPts val="254"/>
              </a:spcBef>
              <a:buChar char="•"/>
              <a:tabLst>
                <a:tab pos="259079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stores 	</a:t>
            </a: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single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key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(or</a:t>
            </a:r>
            <a:r>
              <a:rPr sz="1600" spc="-10" dirty="0">
                <a:latin typeface="Calibri"/>
                <a:cs typeface="Calibri"/>
              </a:rPr>
              <a:t> attribute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holding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its 	</a:t>
            </a:r>
            <a:r>
              <a:rPr sz="1600" dirty="0">
                <a:latin typeface="Calibri"/>
                <a:cs typeface="Calibri"/>
              </a:rPr>
              <a:t>value,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together.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Document-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oriented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Database: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5661" y="2577584"/>
            <a:ext cx="5249545" cy="7937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325"/>
              </a:spcBef>
              <a:buChar char="•"/>
              <a:tabLst>
                <a:tab pos="18415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JSON-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document.</a:t>
            </a:r>
            <a:endParaRPr sz="1600">
              <a:latin typeface="Calibri"/>
              <a:cs typeface="Calibri"/>
            </a:endParaRPr>
          </a:p>
          <a:p>
            <a:pPr marL="184785" indent="-172085">
              <a:lnSpc>
                <a:spcPts val="1835"/>
              </a:lnSpc>
              <a:spcBef>
                <a:spcPts val="229"/>
              </a:spcBef>
              <a:buChar char="•"/>
              <a:tabLst>
                <a:tab pos="18478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developers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same</a:t>
            </a:r>
            <a:endParaRPr sz="1600">
              <a:latin typeface="Calibri"/>
              <a:cs typeface="Calibri"/>
            </a:endParaRPr>
          </a:p>
          <a:p>
            <a:pPr marL="184785">
              <a:lnSpc>
                <a:spcPts val="1835"/>
              </a:lnSpc>
            </a:pPr>
            <a:r>
              <a:rPr sz="1600" spc="-10" dirty="0">
                <a:latin typeface="Calibri"/>
                <a:cs typeface="Calibri"/>
              </a:rPr>
              <a:t>document-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application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code.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11926" y="3401314"/>
            <a:ext cx="5659120" cy="517525"/>
            <a:chOff x="6011926" y="3401314"/>
            <a:chExt cx="5659120" cy="517525"/>
          </a:xfrm>
        </p:grpSpPr>
        <p:sp>
          <p:nvSpPr>
            <p:cNvPr id="17" name="object 17"/>
            <p:cNvSpPr/>
            <p:nvPr/>
          </p:nvSpPr>
          <p:spPr>
            <a:xfrm>
              <a:off x="6018276" y="3407664"/>
              <a:ext cx="5646420" cy="504825"/>
            </a:xfrm>
            <a:custGeom>
              <a:avLst/>
              <a:gdLst/>
              <a:ahLst/>
              <a:cxnLst/>
              <a:rect l="l" t="t" r="r" b="b"/>
              <a:pathLst>
                <a:path w="5646420" h="504825">
                  <a:moveTo>
                    <a:pt x="5562346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4"/>
                  </a:lnTo>
                  <a:lnTo>
                    <a:pt x="0" y="420369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4"/>
                  </a:lnTo>
                  <a:lnTo>
                    <a:pt x="5562346" y="504444"/>
                  </a:lnTo>
                  <a:lnTo>
                    <a:pt x="5595092" y="497843"/>
                  </a:lnTo>
                  <a:lnTo>
                    <a:pt x="5621813" y="479837"/>
                  </a:lnTo>
                  <a:lnTo>
                    <a:pt x="5639819" y="453116"/>
                  </a:lnTo>
                  <a:lnTo>
                    <a:pt x="5646420" y="420369"/>
                  </a:lnTo>
                  <a:lnTo>
                    <a:pt x="5646420" y="84074"/>
                  </a:lnTo>
                  <a:lnTo>
                    <a:pt x="5639819" y="51327"/>
                  </a:lnTo>
                  <a:lnTo>
                    <a:pt x="5621813" y="24606"/>
                  </a:lnTo>
                  <a:lnTo>
                    <a:pt x="5595092" y="6600"/>
                  </a:lnTo>
                  <a:lnTo>
                    <a:pt x="5562346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8276" y="3407664"/>
              <a:ext cx="5646420" cy="504825"/>
            </a:xfrm>
            <a:custGeom>
              <a:avLst/>
              <a:gdLst/>
              <a:ahLst/>
              <a:cxnLst/>
              <a:rect l="l" t="t" r="r" b="b"/>
              <a:pathLst>
                <a:path w="5646420" h="504825">
                  <a:moveTo>
                    <a:pt x="0" y="84074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5562346" y="0"/>
                  </a:lnTo>
                  <a:lnTo>
                    <a:pt x="5595092" y="6600"/>
                  </a:lnTo>
                  <a:lnTo>
                    <a:pt x="5621813" y="24606"/>
                  </a:lnTo>
                  <a:lnTo>
                    <a:pt x="5639819" y="51327"/>
                  </a:lnTo>
                  <a:lnTo>
                    <a:pt x="5646420" y="84074"/>
                  </a:lnTo>
                  <a:lnTo>
                    <a:pt x="5646420" y="420369"/>
                  </a:lnTo>
                  <a:lnTo>
                    <a:pt x="5639819" y="453116"/>
                  </a:lnTo>
                  <a:lnTo>
                    <a:pt x="5621813" y="479837"/>
                  </a:lnTo>
                  <a:lnTo>
                    <a:pt x="5595092" y="497843"/>
                  </a:lnTo>
                  <a:lnTo>
                    <a:pt x="5562346" y="504444"/>
                  </a:lnTo>
                  <a:lnTo>
                    <a:pt x="84074" y="504444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69"/>
                  </a:lnTo>
                  <a:lnTo>
                    <a:pt x="0" y="840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110985" y="3455923"/>
            <a:ext cx="19329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21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Databases: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11926" y="4905502"/>
            <a:ext cx="5659120" cy="515620"/>
            <a:chOff x="6011926" y="4905502"/>
            <a:chExt cx="5659120" cy="515620"/>
          </a:xfrm>
        </p:grpSpPr>
        <p:sp>
          <p:nvSpPr>
            <p:cNvPr id="21" name="object 21"/>
            <p:cNvSpPr/>
            <p:nvPr/>
          </p:nvSpPr>
          <p:spPr>
            <a:xfrm>
              <a:off x="6018276" y="4911852"/>
              <a:ext cx="5646420" cy="502920"/>
            </a:xfrm>
            <a:custGeom>
              <a:avLst/>
              <a:gdLst/>
              <a:ahLst/>
              <a:cxnLst/>
              <a:rect l="l" t="t" r="r" b="b"/>
              <a:pathLst>
                <a:path w="5646420" h="502920">
                  <a:moveTo>
                    <a:pt x="5562600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752"/>
                  </a:lnTo>
                  <a:lnTo>
                    <a:pt x="24526" y="478393"/>
                  </a:lnTo>
                  <a:lnTo>
                    <a:pt x="51167" y="496341"/>
                  </a:lnTo>
                  <a:lnTo>
                    <a:pt x="83820" y="502920"/>
                  </a:lnTo>
                  <a:lnTo>
                    <a:pt x="5562600" y="502920"/>
                  </a:lnTo>
                  <a:lnTo>
                    <a:pt x="5595252" y="496341"/>
                  </a:lnTo>
                  <a:lnTo>
                    <a:pt x="5621893" y="478393"/>
                  </a:lnTo>
                  <a:lnTo>
                    <a:pt x="5639841" y="451752"/>
                  </a:lnTo>
                  <a:lnTo>
                    <a:pt x="5646420" y="419100"/>
                  </a:lnTo>
                  <a:lnTo>
                    <a:pt x="5646420" y="83820"/>
                  </a:lnTo>
                  <a:lnTo>
                    <a:pt x="5639841" y="51167"/>
                  </a:lnTo>
                  <a:lnTo>
                    <a:pt x="5621893" y="24526"/>
                  </a:lnTo>
                  <a:lnTo>
                    <a:pt x="5595252" y="6578"/>
                  </a:lnTo>
                  <a:lnTo>
                    <a:pt x="55626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18276" y="4911852"/>
              <a:ext cx="5646420" cy="502920"/>
            </a:xfrm>
            <a:custGeom>
              <a:avLst/>
              <a:gdLst/>
              <a:ahLst/>
              <a:cxnLst/>
              <a:rect l="l" t="t" r="r" b="b"/>
              <a:pathLst>
                <a:path w="5646420" h="502920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5562600" y="0"/>
                  </a:lnTo>
                  <a:lnTo>
                    <a:pt x="5595252" y="6578"/>
                  </a:lnTo>
                  <a:lnTo>
                    <a:pt x="5621893" y="24526"/>
                  </a:lnTo>
                  <a:lnTo>
                    <a:pt x="5639841" y="51167"/>
                  </a:lnTo>
                  <a:lnTo>
                    <a:pt x="5646420" y="83820"/>
                  </a:lnTo>
                  <a:lnTo>
                    <a:pt x="5646420" y="419100"/>
                  </a:lnTo>
                  <a:lnTo>
                    <a:pt x="5639841" y="451752"/>
                  </a:lnTo>
                  <a:lnTo>
                    <a:pt x="5621893" y="478393"/>
                  </a:lnTo>
                  <a:lnTo>
                    <a:pt x="5595252" y="496341"/>
                  </a:lnTo>
                  <a:lnTo>
                    <a:pt x="5562600" y="502920"/>
                  </a:lnTo>
                  <a:lnTo>
                    <a:pt x="83820" y="502920"/>
                  </a:lnTo>
                  <a:lnTo>
                    <a:pt x="51167" y="496341"/>
                  </a:lnTo>
                  <a:lnTo>
                    <a:pt x="24526" y="478393"/>
                  </a:lnTo>
                  <a:lnTo>
                    <a:pt x="6578" y="451752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110985" y="3893311"/>
            <a:ext cx="5114290" cy="226822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57810" marR="237490" indent="-171450">
              <a:lnSpc>
                <a:spcPts val="1750"/>
              </a:lnSpc>
              <a:spcBef>
                <a:spcPts val="295"/>
              </a:spcBef>
              <a:buChar char="•"/>
              <a:tabLst>
                <a:tab pos="259079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amounts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graph-</a:t>
            </a:r>
            <a:r>
              <a:rPr sz="1600" spc="-20" dirty="0">
                <a:latin typeface="Calibri"/>
                <a:cs typeface="Calibri"/>
              </a:rPr>
              <a:t>like 	</a:t>
            </a:r>
            <a:r>
              <a:rPr sz="1600" spc="-10" dirty="0">
                <a:latin typeface="Calibri"/>
                <a:cs typeface="Calibri"/>
              </a:rPr>
              <a:t>structure.</a:t>
            </a:r>
            <a:endParaRPr sz="1600">
              <a:latin typeface="Calibri"/>
              <a:cs typeface="Calibri"/>
            </a:endParaRPr>
          </a:p>
          <a:p>
            <a:pPr marL="258445" indent="-171450">
              <a:lnSpc>
                <a:spcPts val="1839"/>
              </a:lnSpc>
              <a:spcBef>
                <a:spcPts val="200"/>
              </a:spcBef>
              <a:buChar char="•"/>
              <a:tabLst>
                <a:tab pos="258445" algn="l"/>
              </a:tabLst>
            </a:pPr>
            <a:r>
              <a:rPr sz="1600" dirty="0">
                <a:latin typeface="Calibri"/>
                <a:cs typeface="Calibri"/>
              </a:rPr>
              <a:t>Most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commonly,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social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websites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graph</a:t>
            </a:r>
            <a:endParaRPr sz="1600">
              <a:latin typeface="Calibri"/>
              <a:cs typeface="Calibri"/>
            </a:endParaRPr>
          </a:p>
          <a:p>
            <a:pPr marL="259079">
              <a:lnSpc>
                <a:spcPts val="1839"/>
              </a:lnSpc>
            </a:pPr>
            <a:r>
              <a:rPr sz="1600" spc="-10" dirty="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Wide-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stores:</a:t>
            </a:r>
            <a:endParaRPr sz="2100">
              <a:latin typeface="Calibri"/>
              <a:cs typeface="Calibri"/>
            </a:endParaRPr>
          </a:p>
          <a:p>
            <a:pPr marL="258445" indent="-171450">
              <a:lnSpc>
                <a:spcPct val="100000"/>
              </a:lnSpc>
              <a:spcBef>
                <a:spcPts val="919"/>
              </a:spcBef>
              <a:buChar char="•"/>
              <a:tabLst>
                <a:tab pos="25844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databases.</a:t>
            </a:r>
            <a:endParaRPr sz="1600">
              <a:latin typeface="Calibri"/>
              <a:cs typeface="Calibri"/>
            </a:endParaRPr>
          </a:p>
          <a:p>
            <a:pPr marL="257810" marR="199390" indent="-171450">
              <a:lnSpc>
                <a:spcPts val="1750"/>
              </a:lnSpc>
              <a:spcBef>
                <a:spcPts val="430"/>
              </a:spcBef>
              <a:buChar char="•"/>
              <a:tabLst>
                <a:tab pos="259079" algn="l"/>
              </a:tabLst>
            </a:pPr>
            <a:r>
              <a:rPr sz="1600" dirty="0">
                <a:latin typeface="Calibri"/>
                <a:cs typeface="Calibri"/>
              </a:rPr>
              <a:t>Here,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columns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together,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instead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 	</a:t>
            </a:r>
            <a:r>
              <a:rPr sz="1600" dirty="0">
                <a:latin typeface="Calibri"/>
                <a:cs typeface="Calibri"/>
              </a:rPr>
              <a:t>storing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rows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3399154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Advantages</a:t>
            </a:r>
            <a:r>
              <a:rPr sz="4000" spc="-195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dirty="0">
                <a:latin typeface="Calibri Light"/>
                <a:cs typeface="Calibri Light"/>
              </a:rPr>
              <a:t>NoSQL</a:t>
            </a:r>
            <a:r>
              <a:rPr sz="4000" spc="-114" dirty="0">
                <a:latin typeface="Calibri Light"/>
                <a:cs typeface="Calibri Light"/>
              </a:rPr>
              <a:t> </a:t>
            </a:r>
            <a:r>
              <a:rPr sz="4000" spc="-10" dirty="0">
                <a:latin typeface="Calibri Light"/>
                <a:cs typeface="Calibri Light"/>
              </a:rPr>
              <a:t>Database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676780"/>
            <a:ext cx="5003165" cy="34067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179705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productivity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	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structured 	format.</a:t>
            </a:r>
            <a:endParaRPr sz="2400">
              <a:latin typeface="Calibri"/>
              <a:cs typeface="Calibri"/>
            </a:endParaRPr>
          </a:p>
          <a:p>
            <a:pPr marL="240029" marR="15494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better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sets.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scalability.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quickly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key-</a:t>
            </a:r>
            <a:r>
              <a:rPr sz="2400" spc="-10" dirty="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spc="-8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8061" y="3065475"/>
            <a:ext cx="9098280" cy="284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194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where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virtual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environment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platform.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computing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services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(SaaS,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PaaS,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IaaS,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etc.)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database.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numerous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cloud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platforms,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options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are:</a:t>
            </a:r>
            <a:endParaRPr sz="1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dirty="0">
                <a:latin typeface="Calibri"/>
                <a:cs typeface="Calibri"/>
              </a:rPr>
              <a:t>Amazon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Web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Services(AWS)</a:t>
            </a:r>
            <a:endParaRPr sz="1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dirty="0">
                <a:latin typeface="Calibri"/>
                <a:cs typeface="Calibri"/>
              </a:rPr>
              <a:t>Microsoft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Azure</a:t>
            </a:r>
            <a:endParaRPr sz="1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spc="-10" dirty="0">
                <a:latin typeface="Calibri"/>
                <a:cs typeface="Calibri"/>
              </a:rPr>
              <a:t>Kamatera</a:t>
            </a:r>
            <a:endParaRPr sz="1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spc="-10" dirty="0">
                <a:latin typeface="Calibri"/>
                <a:cs typeface="Calibri"/>
              </a:rPr>
              <a:t>PhonixNAP</a:t>
            </a:r>
            <a:endParaRPr sz="1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spc="-10" dirty="0">
                <a:latin typeface="Calibri"/>
                <a:cs typeface="Calibri"/>
              </a:rPr>
              <a:t>ScienceSoft</a:t>
            </a:r>
            <a:endParaRPr sz="1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8500" algn="l"/>
              </a:tabLst>
            </a:pPr>
            <a:r>
              <a:rPr sz="1400" dirty="0">
                <a:latin typeface="Calibri"/>
                <a:cs typeface="Calibri"/>
              </a:rPr>
              <a:t>Google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Cloud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SQL,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etc.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Object-</a:t>
            </a:r>
            <a:r>
              <a:rPr dirty="0"/>
              <a:t>oriented</a:t>
            </a:r>
            <a:r>
              <a:rPr spc="-90" dirty="0"/>
              <a:t> </a:t>
            </a:r>
            <a:r>
              <a:rPr spc="-10" dirty="0"/>
              <a:t>Databases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8061" y="3572636"/>
            <a:ext cx="9331960" cy="15074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object-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objects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object-</a:t>
            </a:r>
            <a:r>
              <a:rPr sz="2400" spc="-10" dirty="0">
                <a:latin typeface="Calibri"/>
                <a:cs typeface="Calibri"/>
              </a:rPr>
              <a:t>oriented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programming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language.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839592"/>
            <a:ext cx="218884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25" dirty="0">
                <a:latin typeface="Calibri Light"/>
                <a:cs typeface="Calibri Light"/>
              </a:rPr>
              <a:t>Hierarchical </a:t>
            </a:r>
            <a:r>
              <a:rPr sz="3600" spc="-10" dirty="0">
                <a:latin typeface="Calibri Light"/>
                <a:cs typeface="Calibri Light"/>
              </a:rPr>
              <a:t>Databases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1039748"/>
            <a:ext cx="4908550" cy="38493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12090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stores 	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parent-</a:t>
            </a:r>
            <a:r>
              <a:rPr sz="2400" spc="-10" dirty="0">
                <a:latin typeface="Calibri"/>
                <a:cs typeface="Calibri"/>
              </a:rPr>
              <a:t>children 	</a:t>
            </a: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nodes.</a:t>
            </a:r>
            <a:endParaRPr sz="2400">
              <a:latin typeface="Calibri"/>
              <a:cs typeface="Calibri"/>
            </a:endParaRPr>
          </a:p>
          <a:p>
            <a:pPr marL="240029" marR="295910" indent="-227965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Here,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tree-like 	</a:t>
            </a:r>
            <a:r>
              <a:rPr sz="2400" spc="-10" dirty="0"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links.</a:t>
            </a:r>
            <a:endParaRPr sz="2400">
              <a:latin typeface="Calibri"/>
              <a:cs typeface="Calibri"/>
            </a:endParaRPr>
          </a:p>
          <a:p>
            <a:pPr marL="698500" marR="68580" lvl="1" indent="-228600">
              <a:lnSpc>
                <a:spcPts val="216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10" dirty="0">
                <a:latin typeface="Calibri"/>
                <a:cs typeface="Calibri"/>
              </a:rPr>
              <a:t> parent.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ts val="228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</a:t>
            </a:r>
            <a:endParaRPr sz="2000">
              <a:latin typeface="Calibri"/>
              <a:cs typeface="Calibri"/>
            </a:endParaRPr>
          </a:p>
          <a:p>
            <a:pPr marL="6985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multiple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child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records.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6114" y="4988643"/>
            <a:ext cx="2791832" cy="17425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3086480"/>
            <a:ext cx="3587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 Light"/>
                <a:cs typeface="Calibri Light"/>
              </a:rPr>
              <a:t>Network</a:t>
            </a:r>
            <a:r>
              <a:rPr sz="3600" spc="-110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Databases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1742947"/>
            <a:ext cx="4976495" cy="32804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typically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model.</a:t>
            </a:r>
            <a:endParaRPr sz="2400">
              <a:latin typeface="Calibri"/>
              <a:cs typeface="Calibri"/>
            </a:endParaRPr>
          </a:p>
          <a:p>
            <a:pPr marL="240029" marR="91440" indent="-227965" algn="just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Here,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connected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links 	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240029" marR="271780" indent="-227965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Unlike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hierarchical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	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multiple 	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generalized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Personal</a:t>
            </a:r>
            <a:r>
              <a:rPr spc="-18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258061" y="3330397"/>
            <a:ext cx="8468995" cy="231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73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Collecting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user's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Personal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alibri"/>
                <a:cs typeface="Calibri"/>
              </a:rPr>
              <a:t>Advantage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Personal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Database</a:t>
            </a:r>
            <a:endParaRPr sz="24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handle.</a:t>
            </a:r>
            <a:endParaRPr sz="20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occupies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size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839592"/>
            <a:ext cx="219011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25" dirty="0">
                <a:latin typeface="Calibri Light"/>
                <a:cs typeface="Calibri Light"/>
              </a:rPr>
              <a:t>Operational </a:t>
            </a:r>
            <a:r>
              <a:rPr sz="3600" spc="-10" dirty="0">
                <a:latin typeface="Calibri Light"/>
                <a:cs typeface="Calibri Light"/>
              </a:rPr>
              <a:t>Database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1907540"/>
            <a:ext cx="50349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updates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1575" y="2694178"/>
            <a:ext cx="5008880" cy="2164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965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executing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daily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several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businesses.</a:t>
            </a:r>
            <a:endParaRPr sz="2400">
              <a:latin typeface="Calibri"/>
              <a:cs typeface="Calibri"/>
            </a:endParaRPr>
          </a:p>
          <a:p>
            <a:pPr marL="240029" marR="315595" indent="-227965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uses 	</a:t>
            </a:r>
            <a:r>
              <a:rPr sz="2400" spc="-10" dirty="0">
                <a:latin typeface="Calibri"/>
                <a:cs typeface="Calibri"/>
              </a:rPr>
              <a:t>operational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managing 	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transactions.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12552"/>
            <a:ext cx="5196840" cy="6235700"/>
            <a:chOff x="0" y="512552"/>
            <a:chExt cx="5196840" cy="6235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12552"/>
              <a:ext cx="5164827" cy="62357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66925"/>
              <a:ext cx="5196765" cy="610957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18819" y="2839592"/>
            <a:ext cx="191008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20" dirty="0">
                <a:latin typeface="Calibri Light"/>
                <a:cs typeface="Calibri Light"/>
              </a:rPr>
              <a:t>Enterprise </a:t>
            </a:r>
            <a:r>
              <a:rPr sz="3600" spc="-10" dirty="0">
                <a:latin typeface="Calibri Light"/>
                <a:cs typeface="Calibri Light"/>
              </a:rPr>
              <a:t>Database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1575" y="1231772"/>
            <a:ext cx="4990465" cy="43053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0960" indent="-227965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enterprises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 	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massive 	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240029" marR="159385" indent="-227965" algn="just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organizations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efficiency.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Such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simultaneous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users.</a:t>
            </a:r>
            <a:endParaRPr sz="24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spc="-10" dirty="0">
                <a:latin typeface="Calibri"/>
                <a:cs typeface="Calibri"/>
              </a:rPr>
              <a:t>Advantages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Enterprise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Database:</a:t>
            </a:r>
            <a:endParaRPr sz="2400">
              <a:latin typeface="Calibri"/>
              <a:cs typeface="Calibri"/>
            </a:endParaRPr>
          </a:p>
          <a:p>
            <a:pPr marL="696595" lvl="1" indent="-226695" algn="just">
              <a:lnSpc>
                <a:spcPts val="2280"/>
              </a:lnSpc>
              <a:spcBef>
                <a:spcPts val="290"/>
              </a:spcBef>
              <a:buFont typeface="Arial MT"/>
              <a:buChar char="•"/>
              <a:tabLst>
                <a:tab pos="696595" algn="l"/>
              </a:tabLst>
            </a:pPr>
            <a:r>
              <a:rPr sz="2000" dirty="0">
                <a:latin typeface="Calibri"/>
                <a:cs typeface="Calibri"/>
              </a:rPr>
              <a:t>Multi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supportable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698500" algn="just">
              <a:lnSpc>
                <a:spcPts val="2280"/>
              </a:lnSpc>
            </a:pPr>
            <a:r>
              <a:rPr sz="2000" spc="-10" dirty="0">
                <a:latin typeface="Calibri"/>
                <a:cs typeface="Calibri"/>
              </a:rPr>
              <a:t>Enterprise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 marL="696595" marR="5080" lvl="1" indent="-226695" algn="just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executing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parallel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queries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-10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566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 MT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Advantages</vt:lpstr>
      <vt:lpstr>PowerPoint Presentation</vt:lpstr>
      <vt:lpstr>PowerPoint Presentation</vt:lpstr>
      <vt:lpstr>Modular development is possible in a distributed database, i.e., the system can be expanded by including new computers and connecting them to the distributed system.</vt:lpstr>
      <vt:lpstr>PowerPoint Presentation</vt:lpstr>
      <vt:lpstr>A means Atomicity:</vt:lpstr>
      <vt:lpstr>PowerPoint Presentation</vt:lpstr>
      <vt:lpstr>Key-value storage:</vt:lpstr>
      <vt:lpstr>PowerPoint Presentation</vt:lpstr>
      <vt:lpstr>Cloud Database</vt:lpstr>
      <vt:lpstr>Object-oriented Databases</vt:lpstr>
      <vt:lpstr>PowerPoint Presentation</vt:lpstr>
      <vt:lpstr>PowerPoint Presentation</vt:lpstr>
      <vt:lpstr>Personal Database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2025-06-30T07:17:08Z</dcterms:created>
  <dcterms:modified xsi:type="dcterms:W3CDTF">2025-06-30T07:26:25Z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