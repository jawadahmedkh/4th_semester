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411" y="3054172"/>
            <a:ext cx="275780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3307715" cy="105926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354965">
              <a:lnSpc>
                <a:spcPts val="3670"/>
              </a:lnSpc>
              <a:spcBef>
                <a:spcPts val="68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 </a:t>
            </a: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Keys</a:t>
            </a:r>
            <a:r>
              <a:rPr sz="3400" i="1" spc="-80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in</a:t>
            </a:r>
            <a:r>
              <a:rPr sz="3400" i="1" spc="-75" dirty="0">
                <a:latin typeface="Calibri Light"/>
                <a:cs typeface="Calibri Light"/>
              </a:rPr>
              <a:t> </a:t>
            </a:r>
            <a:r>
              <a:rPr sz="3400" i="1" spc="-20" dirty="0">
                <a:latin typeface="Calibri Light"/>
                <a:cs typeface="Calibri Light"/>
              </a:rPr>
              <a:t>DBMS</a:t>
            </a:r>
            <a:r>
              <a:rPr sz="3400" spc="-2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935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Calibri Light"/>
                <a:cs typeface="Calibri Light"/>
              </a:rPr>
              <a:t>Keys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842517"/>
            <a:ext cx="5045710" cy="47237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64198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Keys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uniquely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any 	</a:t>
            </a:r>
            <a:r>
              <a:rPr sz="2400" spc="-10" dirty="0">
                <a:latin typeface="Calibri"/>
                <a:cs typeface="Calibri"/>
              </a:rPr>
              <a:t>record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establish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identify 	relationships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tables.</a:t>
            </a:r>
            <a:endParaRPr sz="2400">
              <a:latin typeface="Calibri"/>
              <a:cs typeface="Calibri"/>
            </a:endParaRPr>
          </a:p>
          <a:p>
            <a:pPr marL="240029" marR="38735" indent="-227329">
              <a:lnSpc>
                <a:spcPct val="904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ID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STUDENT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unique 	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student.</a:t>
            </a:r>
            <a:endParaRPr sz="2400">
              <a:latin typeface="Calibri"/>
              <a:cs typeface="Calibri"/>
            </a:endParaRPr>
          </a:p>
          <a:p>
            <a:pPr marL="240029" marR="69215" indent="-227329">
              <a:lnSpc>
                <a:spcPct val="903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PERSON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alibri"/>
                <a:cs typeface="Calibri"/>
              </a:rPr>
              <a:t>table, 	</a:t>
            </a:r>
            <a:r>
              <a:rPr sz="2400" spc="-10" dirty="0">
                <a:latin typeface="Courier New"/>
                <a:cs typeface="Courier New"/>
              </a:rPr>
              <a:t>passport_number</a:t>
            </a:r>
            <a:r>
              <a:rPr sz="2400" spc="-10" dirty="0">
                <a:latin typeface="Calibri"/>
                <a:cs typeface="Calibri"/>
              </a:rPr>
              <a:t>, 	</a:t>
            </a:r>
            <a:r>
              <a:rPr sz="2400" dirty="0">
                <a:latin typeface="Courier New"/>
                <a:cs typeface="Courier New"/>
              </a:rPr>
              <a:t>license_number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SSN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keys 	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unique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person.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736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Calibri Light"/>
                <a:cs typeface="Calibri Light"/>
              </a:rPr>
              <a:t>Types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of</a:t>
            </a:r>
            <a:r>
              <a:rPr sz="4000" spc="-10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Keys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43702" y="382270"/>
            <a:ext cx="5989955" cy="612140"/>
            <a:chOff x="5743702" y="382270"/>
            <a:chExt cx="5989955" cy="612140"/>
          </a:xfrm>
        </p:grpSpPr>
        <p:sp>
          <p:nvSpPr>
            <p:cNvPr id="4" name="object 4"/>
            <p:cNvSpPr/>
            <p:nvPr/>
          </p:nvSpPr>
          <p:spPr>
            <a:xfrm>
              <a:off x="5750052" y="609600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59">
                  <a:moveTo>
                    <a:pt x="0" y="377951"/>
                  </a:moveTo>
                  <a:lnTo>
                    <a:pt x="5977128" y="377951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756" y="388620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5">
                  <a:moveTo>
                    <a:pt x="4109466" y="0"/>
                  </a:moveTo>
                  <a:lnTo>
                    <a:pt x="73914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4" y="443483"/>
                  </a:lnTo>
                  <a:lnTo>
                    <a:pt x="4109466" y="443483"/>
                  </a:lnTo>
                  <a:lnTo>
                    <a:pt x="4138213" y="437667"/>
                  </a:lnTo>
                  <a:lnTo>
                    <a:pt x="4161710" y="421814"/>
                  </a:lnTo>
                  <a:lnTo>
                    <a:pt x="4177563" y="398317"/>
                  </a:lnTo>
                  <a:lnTo>
                    <a:pt x="4183379" y="369569"/>
                  </a:lnTo>
                  <a:lnTo>
                    <a:pt x="4183379" y="73913"/>
                  </a:lnTo>
                  <a:lnTo>
                    <a:pt x="4177563" y="45166"/>
                  </a:lnTo>
                  <a:lnTo>
                    <a:pt x="4161710" y="21669"/>
                  </a:lnTo>
                  <a:lnTo>
                    <a:pt x="4138213" y="5816"/>
                  </a:lnTo>
                  <a:lnTo>
                    <a:pt x="410946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756" y="388620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5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4" y="0"/>
                  </a:lnTo>
                  <a:lnTo>
                    <a:pt x="4109466" y="0"/>
                  </a:lnTo>
                  <a:lnTo>
                    <a:pt x="4138213" y="5816"/>
                  </a:lnTo>
                  <a:lnTo>
                    <a:pt x="4161710" y="21669"/>
                  </a:lnTo>
                  <a:lnTo>
                    <a:pt x="4177563" y="45166"/>
                  </a:lnTo>
                  <a:lnTo>
                    <a:pt x="4183379" y="73913"/>
                  </a:lnTo>
                  <a:lnTo>
                    <a:pt x="4183379" y="369569"/>
                  </a:lnTo>
                  <a:lnTo>
                    <a:pt x="4177563" y="398317"/>
                  </a:lnTo>
                  <a:lnTo>
                    <a:pt x="4161710" y="421814"/>
                  </a:lnTo>
                  <a:lnTo>
                    <a:pt x="4138213" y="437667"/>
                  </a:lnTo>
                  <a:lnTo>
                    <a:pt x="4109466" y="443483"/>
                  </a:lnTo>
                  <a:lnTo>
                    <a:pt x="73914" y="443483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69"/>
                  </a:lnTo>
                  <a:lnTo>
                    <a:pt x="0" y="7391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743702" y="1061974"/>
            <a:ext cx="5989955" cy="613410"/>
            <a:chOff x="5743702" y="1061974"/>
            <a:chExt cx="5989955" cy="613410"/>
          </a:xfrm>
        </p:grpSpPr>
        <p:sp>
          <p:nvSpPr>
            <p:cNvPr id="8" name="object 8"/>
            <p:cNvSpPr/>
            <p:nvPr/>
          </p:nvSpPr>
          <p:spPr>
            <a:xfrm>
              <a:off x="5750052" y="1290828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60">
                  <a:moveTo>
                    <a:pt x="0" y="377951"/>
                  </a:moveTo>
                  <a:lnTo>
                    <a:pt x="5977128" y="377951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56B4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8756" y="1068324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5">
                  <a:moveTo>
                    <a:pt x="4109466" y="0"/>
                  </a:moveTo>
                  <a:lnTo>
                    <a:pt x="73914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4" y="443484"/>
                  </a:lnTo>
                  <a:lnTo>
                    <a:pt x="4109466" y="443484"/>
                  </a:lnTo>
                  <a:lnTo>
                    <a:pt x="4138213" y="437667"/>
                  </a:lnTo>
                  <a:lnTo>
                    <a:pt x="4161710" y="421814"/>
                  </a:lnTo>
                  <a:lnTo>
                    <a:pt x="4177563" y="398317"/>
                  </a:lnTo>
                  <a:lnTo>
                    <a:pt x="4183379" y="369570"/>
                  </a:lnTo>
                  <a:lnTo>
                    <a:pt x="4183379" y="73913"/>
                  </a:lnTo>
                  <a:lnTo>
                    <a:pt x="4177563" y="45166"/>
                  </a:lnTo>
                  <a:lnTo>
                    <a:pt x="4161710" y="21669"/>
                  </a:lnTo>
                  <a:lnTo>
                    <a:pt x="4138213" y="5816"/>
                  </a:lnTo>
                  <a:lnTo>
                    <a:pt x="4109466" y="0"/>
                  </a:lnTo>
                  <a:close/>
                </a:path>
              </a:pathLst>
            </a:custGeom>
            <a:solidFill>
              <a:srgbClr val="56B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48756" y="1068324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5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4" y="0"/>
                  </a:lnTo>
                  <a:lnTo>
                    <a:pt x="4109466" y="0"/>
                  </a:lnTo>
                  <a:lnTo>
                    <a:pt x="4138213" y="5816"/>
                  </a:lnTo>
                  <a:lnTo>
                    <a:pt x="4161710" y="21669"/>
                  </a:lnTo>
                  <a:lnTo>
                    <a:pt x="4177563" y="45166"/>
                  </a:lnTo>
                  <a:lnTo>
                    <a:pt x="4183379" y="73913"/>
                  </a:lnTo>
                  <a:lnTo>
                    <a:pt x="4183379" y="369570"/>
                  </a:lnTo>
                  <a:lnTo>
                    <a:pt x="4177563" y="398317"/>
                  </a:lnTo>
                  <a:lnTo>
                    <a:pt x="4161710" y="421814"/>
                  </a:lnTo>
                  <a:lnTo>
                    <a:pt x="4138213" y="437667"/>
                  </a:lnTo>
                  <a:lnTo>
                    <a:pt x="4109466" y="443484"/>
                  </a:lnTo>
                  <a:lnTo>
                    <a:pt x="73914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743702" y="1743201"/>
            <a:ext cx="5989955" cy="612140"/>
            <a:chOff x="5743702" y="1743201"/>
            <a:chExt cx="5989955" cy="612140"/>
          </a:xfrm>
        </p:grpSpPr>
        <p:sp>
          <p:nvSpPr>
            <p:cNvPr id="12" name="object 12"/>
            <p:cNvSpPr/>
            <p:nvPr/>
          </p:nvSpPr>
          <p:spPr>
            <a:xfrm>
              <a:off x="5750052" y="1970531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60">
                  <a:moveTo>
                    <a:pt x="0" y="377951"/>
                  </a:moveTo>
                  <a:lnTo>
                    <a:pt x="5977128" y="377951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53CC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48756" y="1749551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4">
                  <a:moveTo>
                    <a:pt x="4109466" y="0"/>
                  </a:moveTo>
                  <a:lnTo>
                    <a:pt x="73914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4" y="443484"/>
                  </a:lnTo>
                  <a:lnTo>
                    <a:pt x="4109466" y="443484"/>
                  </a:lnTo>
                  <a:lnTo>
                    <a:pt x="4138213" y="437667"/>
                  </a:lnTo>
                  <a:lnTo>
                    <a:pt x="4161710" y="421814"/>
                  </a:lnTo>
                  <a:lnTo>
                    <a:pt x="4177563" y="398317"/>
                  </a:lnTo>
                  <a:lnTo>
                    <a:pt x="4183379" y="369570"/>
                  </a:lnTo>
                  <a:lnTo>
                    <a:pt x="4183379" y="73913"/>
                  </a:lnTo>
                  <a:lnTo>
                    <a:pt x="4177563" y="45166"/>
                  </a:lnTo>
                  <a:lnTo>
                    <a:pt x="4161710" y="21669"/>
                  </a:lnTo>
                  <a:lnTo>
                    <a:pt x="4138213" y="5816"/>
                  </a:lnTo>
                  <a:lnTo>
                    <a:pt x="4109466" y="0"/>
                  </a:lnTo>
                  <a:close/>
                </a:path>
              </a:pathLst>
            </a:custGeom>
            <a:solidFill>
              <a:srgbClr val="53CC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48756" y="1749551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4" y="0"/>
                  </a:lnTo>
                  <a:lnTo>
                    <a:pt x="4109466" y="0"/>
                  </a:lnTo>
                  <a:lnTo>
                    <a:pt x="4138213" y="5816"/>
                  </a:lnTo>
                  <a:lnTo>
                    <a:pt x="4161710" y="21669"/>
                  </a:lnTo>
                  <a:lnTo>
                    <a:pt x="4177563" y="45166"/>
                  </a:lnTo>
                  <a:lnTo>
                    <a:pt x="4183379" y="73913"/>
                  </a:lnTo>
                  <a:lnTo>
                    <a:pt x="4183379" y="369570"/>
                  </a:lnTo>
                  <a:lnTo>
                    <a:pt x="4177563" y="398317"/>
                  </a:lnTo>
                  <a:lnTo>
                    <a:pt x="4161710" y="421814"/>
                  </a:lnTo>
                  <a:lnTo>
                    <a:pt x="4138213" y="437667"/>
                  </a:lnTo>
                  <a:lnTo>
                    <a:pt x="4109466" y="443484"/>
                  </a:lnTo>
                  <a:lnTo>
                    <a:pt x="73914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743702" y="2422905"/>
            <a:ext cx="5989955" cy="613410"/>
            <a:chOff x="5743702" y="2422905"/>
            <a:chExt cx="5989955" cy="613410"/>
          </a:xfrm>
        </p:grpSpPr>
        <p:sp>
          <p:nvSpPr>
            <p:cNvPr id="16" name="object 16"/>
            <p:cNvSpPr/>
            <p:nvPr/>
          </p:nvSpPr>
          <p:spPr>
            <a:xfrm>
              <a:off x="5750052" y="2651759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60">
                  <a:moveTo>
                    <a:pt x="0" y="377951"/>
                  </a:moveTo>
                  <a:lnTo>
                    <a:pt x="5977128" y="377951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51C8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756" y="2429255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4">
                  <a:moveTo>
                    <a:pt x="4109466" y="0"/>
                  </a:moveTo>
                  <a:lnTo>
                    <a:pt x="73914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4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4" y="443484"/>
                  </a:lnTo>
                  <a:lnTo>
                    <a:pt x="4109466" y="443484"/>
                  </a:lnTo>
                  <a:lnTo>
                    <a:pt x="4138213" y="437667"/>
                  </a:lnTo>
                  <a:lnTo>
                    <a:pt x="4161710" y="421814"/>
                  </a:lnTo>
                  <a:lnTo>
                    <a:pt x="4177563" y="398317"/>
                  </a:lnTo>
                  <a:lnTo>
                    <a:pt x="4183379" y="369570"/>
                  </a:lnTo>
                  <a:lnTo>
                    <a:pt x="4183379" y="73914"/>
                  </a:lnTo>
                  <a:lnTo>
                    <a:pt x="4177563" y="45166"/>
                  </a:lnTo>
                  <a:lnTo>
                    <a:pt x="4161710" y="21669"/>
                  </a:lnTo>
                  <a:lnTo>
                    <a:pt x="4138213" y="5816"/>
                  </a:lnTo>
                  <a:lnTo>
                    <a:pt x="4109466" y="0"/>
                  </a:lnTo>
                  <a:close/>
                </a:path>
              </a:pathLst>
            </a:custGeom>
            <a:solidFill>
              <a:srgbClr val="51C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48756" y="2429255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4">
                  <a:moveTo>
                    <a:pt x="0" y="73914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4" y="0"/>
                  </a:lnTo>
                  <a:lnTo>
                    <a:pt x="4109466" y="0"/>
                  </a:lnTo>
                  <a:lnTo>
                    <a:pt x="4138213" y="5816"/>
                  </a:lnTo>
                  <a:lnTo>
                    <a:pt x="4161710" y="21669"/>
                  </a:lnTo>
                  <a:lnTo>
                    <a:pt x="4177563" y="45166"/>
                  </a:lnTo>
                  <a:lnTo>
                    <a:pt x="4183379" y="73914"/>
                  </a:lnTo>
                  <a:lnTo>
                    <a:pt x="4183379" y="369570"/>
                  </a:lnTo>
                  <a:lnTo>
                    <a:pt x="4177563" y="398317"/>
                  </a:lnTo>
                  <a:lnTo>
                    <a:pt x="4161710" y="421814"/>
                  </a:lnTo>
                  <a:lnTo>
                    <a:pt x="4138213" y="437667"/>
                  </a:lnTo>
                  <a:lnTo>
                    <a:pt x="4109466" y="443484"/>
                  </a:lnTo>
                  <a:lnTo>
                    <a:pt x="73914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16522" y="461009"/>
            <a:ext cx="1125855" cy="229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Key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297700"/>
              </a:lnSpc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r>
              <a:rPr sz="15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Key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Super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Key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Foreign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Key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43702" y="3104133"/>
            <a:ext cx="5989955" cy="612140"/>
            <a:chOff x="5743702" y="3104133"/>
            <a:chExt cx="5989955" cy="612140"/>
          </a:xfrm>
        </p:grpSpPr>
        <p:sp>
          <p:nvSpPr>
            <p:cNvPr id="21" name="object 21"/>
            <p:cNvSpPr/>
            <p:nvPr/>
          </p:nvSpPr>
          <p:spPr>
            <a:xfrm>
              <a:off x="5750052" y="3331463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60">
                  <a:moveTo>
                    <a:pt x="0" y="377952"/>
                  </a:moveTo>
                  <a:lnTo>
                    <a:pt x="5977128" y="377952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2"/>
                  </a:lnTo>
                  <a:close/>
                </a:path>
              </a:pathLst>
            </a:custGeom>
            <a:ln w="12700">
              <a:solidFill>
                <a:srgbClr val="4DC5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48756" y="3110483"/>
              <a:ext cx="4183379" cy="441959"/>
            </a:xfrm>
            <a:custGeom>
              <a:avLst/>
              <a:gdLst/>
              <a:ahLst/>
              <a:cxnLst/>
              <a:rect l="l" t="t" r="r" b="b"/>
              <a:pathLst>
                <a:path w="4183379" h="441960">
                  <a:moveTo>
                    <a:pt x="4109720" y="0"/>
                  </a:moveTo>
                  <a:lnTo>
                    <a:pt x="73660" y="0"/>
                  </a:lnTo>
                  <a:lnTo>
                    <a:pt x="45005" y="5794"/>
                  </a:lnTo>
                  <a:lnTo>
                    <a:pt x="21590" y="21589"/>
                  </a:lnTo>
                  <a:lnTo>
                    <a:pt x="5794" y="45005"/>
                  </a:lnTo>
                  <a:lnTo>
                    <a:pt x="0" y="73660"/>
                  </a:lnTo>
                  <a:lnTo>
                    <a:pt x="0" y="368300"/>
                  </a:lnTo>
                  <a:lnTo>
                    <a:pt x="5794" y="396954"/>
                  </a:lnTo>
                  <a:lnTo>
                    <a:pt x="21589" y="420369"/>
                  </a:lnTo>
                  <a:lnTo>
                    <a:pt x="45005" y="436165"/>
                  </a:lnTo>
                  <a:lnTo>
                    <a:pt x="73660" y="441960"/>
                  </a:lnTo>
                  <a:lnTo>
                    <a:pt x="4109720" y="441960"/>
                  </a:lnTo>
                  <a:lnTo>
                    <a:pt x="4138374" y="436165"/>
                  </a:lnTo>
                  <a:lnTo>
                    <a:pt x="4161790" y="420370"/>
                  </a:lnTo>
                  <a:lnTo>
                    <a:pt x="4177585" y="396954"/>
                  </a:lnTo>
                  <a:lnTo>
                    <a:pt x="4183379" y="368300"/>
                  </a:lnTo>
                  <a:lnTo>
                    <a:pt x="4183379" y="73660"/>
                  </a:lnTo>
                  <a:lnTo>
                    <a:pt x="4177585" y="45005"/>
                  </a:lnTo>
                  <a:lnTo>
                    <a:pt x="4161790" y="21589"/>
                  </a:lnTo>
                  <a:lnTo>
                    <a:pt x="4138374" y="5794"/>
                  </a:lnTo>
                  <a:lnTo>
                    <a:pt x="4109720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48756" y="3110483"/>
              <a:ext cx="4183379" cy="441959"/>
            </a:xfrm>
            <a:custGeom>
              <a:avLst/>
              <a:gdLst/>
              <a:ahLst/>
              <a:cxnLst/>
              <a:rect l="l" t="t" r="r" b="b"/>
              <a:pathLst>
                <a:path w="4183379" h="441960">
                  <a:moveTo>
                    <a:pt x="0" y="73660"/>
                  </a:moveTo>
                  <a:lnTo>
                    <a:pt x="5794" y="45005"/>
                  </a:lnTo>
                  <a:lnTo>
                    <a:pt x="21590" y="21589"/>
                  </a:lnTo>
                  <a:lnTo>
                    <a:pt x="45005" y="5794"/>
                  </a:lnTo>
                  <a:lnTo>
                    <a:pt x="73660" y="0"/>
                  </a:lnTo>
                  <a:lnTo>
                    <a:pt x="4109720" y="0"/>
                  </a:lnTo>
                  <a:lnTo>
                    <a:pt x="4138374" y="5794"/>
                  </a:lnTo>
                  <a:lnTo>
                    <a:pt x="4161790" y="21589"/>
                  </a:lnTo>
                  <a:lnTo>
                    <a:pt x="4177585" y="45005"/>
                  </a:lnTo>
                  <a:lnTo>
                    <a:pt x="4183379" y="73660"/>
                  </a:lnTo>
                  <a:lnTo>
                    <a:pt x="4183379" y="368300"/>
                  </a:lnTo>
                  <a:lnTo>
                    <a:pt x="4177585" y="396954"/>
                  </a:lnTo>
                  <a:lnTo>
                    <a:pt x="4161790" y="420370"/>
                  </a:lnTo>
                  <a:lnTo>
                    <a:pt x="4138374" y="436165"/>
                  </a:lnTo>
                  <a:lnTo>
                    <a:pt x="4109720" y="441960"/>
                  </a:lnTo>
                  <a:lnTo>
                    <a:pt x="73660" y="441960"/>
                  </a:lnTo>
                  <a:lnTo>
                    <a:pt x="45005" y="436165"/>
                  </a:lnTo>
                  <a:lnTo>
                    <a:pt x="21589" y="420369"/>
                  </a:lnTo>
                  <a:lnTo>
                    <a:pt x="5794" y="396954"/>
                  </a:lnTo>
                  <a:lnTo>
                    <a:pt x="0" y="368300"/>
                  </a:lnTo>
                  <a:lnTo>
                    <a:pt x="0" y="73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216522" y="3183128"/>
            <a:ext cx="10668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Alternate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Key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43702" y="3783838"/>
            <a:ext cx="5989955" cy="613410"/>
            <a:chOff x="5743702" y="3783838"/>
            <a:chExt cx="5989955" cy="613410"/>
          </a:xfrm>
        </p:grpSpPr>
        <p:sp>
          <p:nvSpPr>
            <p:cNvPr id="26" name="object 26"/>
            <p:cNvSpPr/>
            <p:nvPr/>
          </p:nvSpPr>
          <p:spPr>
            <a:xfrm>
              <a:off x="5750052" y="4012692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60">
                  <a:moveTo>
                    <a:pt x="0" y="377951"/>
                  </a:moveTo>
                  <a:lnTo>
                    <a:pt x="5977128" y="377951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49C0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48756" y="3790188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4">
                  <a:moveTo>
                    <a:pt x="4109466" y="0"/>
                  </a:moveTo>
                  <a:lnTo>
                    <a:pt x="73914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4" y="443484"/>
                  </a:lnTo>
                  <a:lnTo>
                    <a:pt x="4109466" y="443484"/>
                  </a:lnTo>
                  <a:lnTo>
                    <a:pt x="4138213" y="437667"/>
                  </a:lnTo>
                  <a:lnTo>
                    <a:pt x="4161710" y="421814"/>
                  </a:lnTo>
                  <a:lnTo>
                    <a:pt x="4177563" y="398317"/>
                  </a:lnTo>
                  <a:lnTo>
                    <a:pt x="4183379" y="369569"/>
                  </a:lnTo>
                  <a:lnTo>
                    <a:pt x="4183379" y="73913"/>
                  </a:lnTo>
                  <a:lnTo>
                    <a:pt x="4177563" y="45166"/>
                  </a:lnTo>
                  <a:lnTo>
                    <a:pt x="4161710" y="21669"/>
                  </a:lnTo>
                  <a:lnTo>
                    <a:pt x="4138213" y="5816"/>
                  </a:lnTo>
                  <a:lnTo>
                    <a:pt x="4109466" y="0"/>
                  </a:lnTo>
                  <a:close/>
                </a:path>
              </a:pathLst>
            </a:custGeom>
            <a:solidFill>
              <a:srgbClr val="49C0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48756" y="3790188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4" y="0"/>
                  </a:lnTo>
                  <a:lnTo>
                    <a:pt x="4109466" y="0"/>
                  </a:lnTo>
                  <a:lnTo>
                    <a:pt x="4138213" y="5816"/>
                  </a:lnTo>
                  <a:lnTo>
                    <a:pt x="4161710" y="21669"/>
                  </a:lnTo>
                  <a:lnTo>
                    <a:pt x="4177563" y="45166"/>
                  </a:lnTo>
                  <a:lnTo>
                    <a:pt x="4183379" y="73913"/>
                  </a:lnTo>
                  <a:lnTo>
                    <a:pt x="4183379" y="369569"/>
                  </a:lnTo>
                  <a:lnTo>
                    <a:pt x="4177563" y="398317"/>
                  </a:lnTo>
                  <a:lnTo>
                    <a:pt x="4161710" y="421814"/>
                  </a:lnTo>
                  <a:lnTo>
                    <a:pt x="4138213" y="437667"/>
                  </a:lnTo>
                  <a:lnTo>
                    <a:pt x="4109466" y="443484"/>
                  </a:lnTo>
                  <a:lnTo>
                    <a:pt x="73914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69"/>
                  </a:lnTo>
                  <a:lnTo>
                    <a:pt x="0" y="7391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5743702" y="4465065"/>
            <a:ext cx="5989955" cy="612140"/>
            <a:chOff x="5743702" y="4465065"/>
            <a:chExt cx="5989955" cy="612140"/>
          </a:xfrm>
        </p:grpSpPr>
        <p:sp>
          <p:nvSpPr>
            <p:cNvPr id="30" name="object 30"/>
            <p:cNvSpPr/>
            <p:nvPr/>
          </p:nvSpPr>
          <p:spPr>
            <a:xfrm>
              <a:off x="5750052" y="4692395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60">
                  <a:moveTo>
                    <a:pt x="0" y="377951"/>
                  </a:moveTo>
                  <a:lnTo>
                    <a:pt x="5977128" y="377951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47B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48756" y="4471415"/>
              <a:ext cx="4183379" cy="441959"/>
            </a:xfrm>
            <a:custGeom>
              <a:avLst/>
              <a:gdLst/>
              <a:ahLst/>
              <a:cxnLst/>
              <a:rect l="l" t="t" r="r" b="b"/>
              <a:pathLst>
                <a:path w="4183379" h="441960">
                  <a:moveTo>
                    <a:pt x="4109720" y="0"/>
                  </a:moveTo>
                  <a:lnTo>
                    <a:pt x="73660" y="0"/>
                  </a:lnTo>
                  <a:lnTo>
                    <a:pt x="45005" y="5794"/>
                  </a:lnTo>
                  <a:lnTo>
                    <a:pt x="21590" y="21589"/>
                  </a:lnTo>
                  <a:lnTo>
                    <a:pt x="5794" y="45005"/>
                  </a:lnTo>
                  <a:lnTo>
                    <a:pt x="0" y="73659"/>
                  </a:lnTo>
                  <a:lnTo>
                    <a:pt x="0" y="368299"/>
                  </a:lnTo>
                  <a:lnTo>
                    <a:pt x="5794" y="396954"/>
                  </a:lnTo>
                  <a:lnTo>
                    <a:pt x="21589" y="420369"/>
                  </a:lnTo>
                  <a:lnTo>
                    <a:pt x="45005" y="436165"/>
                  </a:lnTo>
                  <a:lnTo>
                    <a:pt x="73660" y="441959"/>
                  </a:lnTo>
                  <a:lnTo>
                    <a:pt x="4109720" y="441959"/>
                  </a:lnTo>
                  <a:lnTo>
                    <a:pt x="4138374" y="436165"/>
                  </a:lnTo>
                  <a:lnTo>
                    <a:pt x="4161790" y="420369"/>
                  </a:lnTo>
                  <a:lnTo>
                    <a:pt x="4177585" y="396954"/>
                  </a:lnTo>
                  <a:lnTo>
                    <a:pt x="4183379" y="368299"/>
                  </a:lnTo>
                  <a:lnTo>
                    <a:pt x="4183379" y="73659"/>
                  </a:lnTo>
                  <a:lnTo>
                    <a:pt x="4177585" y="45005"/>
                  </a:lnTo>
                  <a:lnTo>
                    <a:pt x="4161790" y="21589"/>
                  </a:lnTo>
                  <a:lnTo>
                    <a:pt x="4138374" y="5794"/>
                  </a:lnTo>
                  <a:lnTo>
                    <a:pt x="4109720" y="0"/>
                  </a:lnTo>
                  <a:close/>
                </a:path>
              </a:pathLst>
            </a:custGeom>
            <a:solidFill>
              <a:srgbClr val="47B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48756" y="4471415"/>
              <a:ext cx="4183379" cy="441959"/>
            </a:xfrm>
            <a:custGeom>
              <a:avLst/>
              <a:gdLst/>
              <a:ahLst/>
              <a:cxnLst/>
              <a:rect l="l" t="t" r="r" b="b"/>
              <a:pathLst>
                <a:path w="4183379" h="441960">
                  <a:moveTo>
                    <a:pt x="0" y="73659"/>
                  </a:moveTo>
                  <a:lnTo>
                    <a:pt x="5794" y="45005"/>
                  </a:lnTo>
                  <a:lnTo>
                    <a:pt x="21590" y="21589"/>
                  </a:lnTo>
                  <a:lnTo>
                    <a:pt x="45005" y="5794"/>
                  </a:lnTo>
                  <a:lnTo>
                    <a:pt x="73660" y="0"/>
                  </a:lnTo>
                  <a:lnTo>
                    <a:pt x="4109720" y="0"/>
                  </a:lnTo>
                  <a:lnTo>
                    <a:pt x="4138374" y="5794"/>
                  </a:lnTo>
                  <a:lnTo>
                    <a:pt x="4161790" y="21589"/>
                  </a:lnTo>
                  <a:lnTo>
                    <a:pt x="4177585" y="45005"/>
                  </a:lnTo>
                  <a:lnTo>
                    <a:pt x="4183379" y="73659"/>
                  </a:lnTo>
                  <a:lnTo>
                    <a:pt x="4183379" y="368299"/>
                  </a:lnTo>
                  <a:lnTo>
                    <a:pt x="4177585" y="396954"/>
                  </a:lnTo>
                  <a:lnTo>
                    <a:pt x="4161790" y="420369"/>
                  </a:lnTo>
                  <a:lnTo>
                    <a:pt x="4138374" y="436165"/>
                  </a:lnTo>
                  <a:lnTo>
                    <a:pt x="4109720" y="441959"/>
                  </a:lnTo>
                  <a:lnTo>
                    <a:pt x="73660" y="441959"/>
                  </a:lnTo>
                  <a:lnTo>
                    <a:pt x="45005" y="436165"/>
                  </a:lnTo>
                  <a:lnTo>
                    <a:pt x="21589" y="420369"/>
                  </a:lnTo>
                  <a:lnTo>
                    <a:pt x="5794" y="396954"/>
                  </a:lnTo>
                  <a:lnTo>
                    <a:pt x="0" y="368299"/>
                  </a:lnTo>
                  <a:lnTo>
                    <a:pt x="0" y="7365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5743702" y="5144770"/>
            <a:ext cx="5989955" cy="613410"/>
            <a:chOff x="5743702" y="5144770"/>
            <a:chExt cx="5989955" cy="613410"/>
          </a:xfrm>
        </p:grpSpPr>
        <p:sp>
          <p:nvSpPr>
            <p:cNvPr id="34" name="object 34"/>
            <p:cNvSpPr/>
            <p:nvPr/>
          </p:nvSpPr>
          <p:spPr>
            <a:xfrm>
              <a:off x="5750052" y="5373624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60">
                  <a:moveTo>
                    <a:pt x="0" y="377951"/>
                  </a:moveTo>
                  <a:lnTo>
                    <a:pt x="5977128" y="377951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58B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48756" y="5151120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4">
                  <a:moveTo>
                    <a:pt x="4109466" y="0"/>
                  </a:moveTo>
                  <a:lnTo>
                    <a:pt x="73914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4" y="443483"/>
                  </a:lnTo>
                  <a:lnTo>
                    <a:pt x="4109466" y="443483"/>
                  </a:lnTo>
                  <a:lnTo>
                    <a:pt x="4138213" y="437667"/>
                  </a:lnTo>
                  <a:lnTo>
                    <a:pt x="4161710" y="421814"/>
                  </a:lnTo>
                  <a:lnTo>
                    <a:pt x="4177563" y="398317"/>
                  </a:lnTo>
                  <a:lnTo>
                    <a:pt x="4183379" y="369569"/>
                  </a:lnTo>
                  <a:lnTo>
                    <a:pt x="4183379" y="73913"/>
                  </a:lnTo>
                  <a:lnTo>
                    <a:pt x="4177563" y="45166"/>
                  </a:lnTo>
                  <a:lnTo>
                    <a:pt x="4161710" y="21669"/>
                  </a:lnTo>
                  <a:lnTo>
                    <a:pt x="4138213" y="5816"/>
                  </a:lnTo>
                  <a:lnTo>
                    <a:pt x="4109466" y="0"/>
                  </a:lnTo>
                  <a:close/>
                </a:path>
              </a:pathLst>
            </a:custGeom>
            <a:solidFill>
              <a:srgbClr val="58B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48756" y="5151120"/>
              <a:ext cx="4183379" cy="443865"/>
            </a:xfrm>
            <a:custGeom>
              <a:avLst/>
              <a:gdLst/>
              <a:ahLst/>
              <a:cxnLst/>
              <a:rect l="l" t="t" r="r" b="b"/>
              <a:pathLst>
                <a:path w="4183379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4" y="0"/>
                  </a:lnTo>
                  <a:lnTo>
                    <a:pt x="4109466" y="0"/>
                  </a:lnTo>
                  <a:lnTo>
                    <a:pt x="4138213" y="5816"/>
                  </a:lnTo>
                  <a:lnTo>
                    <a:pt x="4161710" y="21669"/>
                  </a:lnTo>
                  <a:lnTo>
                    <a:pt x="4177563" y="45166"/>
                  </a:lnTo>
                  <a:lnTo>
                    <a:pt x="4183379" y="73913"/>
                  </a:lnTo>
                  <a:lnTo>
                    <a:pt x="4183379" y="369569"/>
                  </a:lnTo>
                  <a:lnTo>
                    <a:pt x="4177563" y="398317"/>
                  </a:lnTo>
                  <a:lnTo>
                    <a:pt x="4161710" y="421814"/>
                  </a:lnTo>
                  <a:lnTo>
                    <a:pt x="4138213" y="437667"/>
                  </a:lnTo>
                  <a:lnTo>
                    <a:pt x="4109466" y="443483"/>
                  </a:lnTo>
                  <a:lnTo>
                    <a:pt x="73914" y="443483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69"/>
                  </a:lnTo>
                  <a:lnTo>
                    <a:pt x="0" y="7391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743702" y="5825997"/>
            <a:ext cx="5989955" cy="612140"/>
            <a:chOff x="5743702" y="5825997"/>
            <a:chExt cx="5989955" cy="612140"/>
          </a:xfrm>
        </p:grpSpPr>
        <p:sp>
          <p:nvSpPr>
            <p:cNvPr id="38" name="object 38"/>
            <p:cNvSpPr/>
            <p:nvPr/>
          </p:nvSpPr>
          <p:spPr>
            <a:xfrm>
              <a:off x="5750052" y="6053327"/>
              <a:ext cx="5977255" cy="378460"/>
            </a:xfrm>
            <a:custGeom>
              <a:avLst/>
              <a:gdLst/>
              <a:ahLst/>
              <a:cxnLst/>
              <a:rect l="l" t="t" r="r" b="b"/>
              <a:pathLst>
                <a:path w="5977255" h="378460">
                  <a:moveTo>
                    <a:pt x="0" y="377952"/>
                  </a:moveTo>
                  <a:lnTo>
                    <a:pt x="5977128" y="377952"/>
                  </a:lnTo>
                  <a:lnTo>
                    <a:pt x="5977128" y="0"/>
                  </a:lnTo>
                  <a:lnTo>
                    <a:pt x="0" y="0"/>
                  </a:lnTo>
                  <a:lnTo>
                    <a:pt x="0" y="377952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48756" y="5832347"/>
              <a:ext cx="4183379" cy="441959"/>
            </a:xfrm>
            <a:custGeom>
              <a:avLst/>
              <a:gdLst/>
              <a:ahLst/>
              <a:cxnLst/>
              <a:rect l="l" t="t" r="r" b="b"/>
              <a:pathLst>
                <a:path w="4183379" h="441960">
                  <a:moveTo>
                    <a:pt x="4109720" y="0"/>
                  </a:moveTo>
                  <a:lnTo>
                    <a:pt x="73660" y="0"/>
                  </a:lnTo>
                  <a:lnTo>
                    <a:pt x="45005" y="5789"/>
                  </a:lnTo>
                  <a:lnTo>
                    <a:pt x="21590" y="21575"/>
                  </a:lnTo>
                  <a:lnTo>
                    <a:pt x="5794" y="44989"/>
                  </a:lnTo>
                  <a:lnTo>
                    <a:pt x="0" y="73659"/>
                  </a:lnTo>
                  <a:lnTo>
                    <a:pt x="0" y="368299"/>
                  </a:lnTo>
                  <a:lnTo>
                    <a:pt x="5794" y="396970"/>
                  </a:lnTo>
                  <a:lnTo>
                    <a:pt x="21589" y="420384"/>
                  </a:lnTo>
                  <a:lnTo>
                    <a:pt x="45005" y="436170"/>
                  </a:lnTo>
                  <a:lnTo>
                    <a:pt x="73660" y="441959"/>
                  </a:lnTo>
                  <a:lnTo>
                    <a:pt x="4109720" y="441959"/>
                  </a:lnTo>
                  <a:lnTo>
                    <a:pt x="4138374" y="436170"/>
                  </a:lnTo>
                  <a:lnTo>
                    <a:pt x="4161790" y="420384"/>
                  </a:lnTo>
                  <a:lnTo>
                    <a:pt x="4177585" y="396970"/>
                  </a:lnTo>
                  <a:lnTo>
                    <a:pt x="4183379" y="368299"/>
                  </a:lnTo>
                  <a:lnTo>
                    <a:pt x="4183379" y="73659"/>
                  </a:lnTo>
                  <a:lnTo>
                    <a:pt x="4177585" y="44989"/>
                  </a:lnTo>
                  <a:lnTo>
                    <a:pt x="4161790" y="21575"/>
                  </a:lnTo>
                  <a:lnTo>
                    <a:pt x="4138374" y="5789"/>
                  </a:lnTo>
                  <a:lnTo>
                    <a:pt x="410972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48756" y="5832347"/>
              <a:ext cx="4183379" cy="441959"/>
            </a:xfrm>
            <a:custGeom>
              <a:avLst/>
              <a:gdLst/>
              <a:ahLst/>
              <a:cxnLst/>
              <a:rect l="l" t="t" r="r" b="b"/>
              <a:pathLst>
                <a:path w="4183379" h="441960">
                  <a:moveTo>
                    <a:pt x="0" y="73659"/>
                  </a:moveTo>
                  <a:lnTo>
                    <a:pt x="5794" y="44989"/>
                  </a:lnTo>
                  <a:lnTo>
                    <a:pt x="21590" y="21575"/>
                  </a:lnTo>
                  <a:lnTo>
                    <a:pt x="45005" y="5789"/>
                  </a:lnTo>
                  <a:lnTo>
                    <a:pt x="73660" y="0"/>
                  </a:lnTo>
                  <a:lnTo>
                    <a:pt x="4109720" y="0"/>
                  </a:lnTo>
                  <a:lnTo>
                    <a:pt x="4138374" y="5789"/>
                  </a:lnTo>
                  <a:lnTo>
                    <a:pt x="4161790" y="21575"/>
                  </a:lnTo>
                  <a:lnTo>
                    <a:pt x="4177585" y="44989"/>
                  </a:lnTo>
                  <a:lnTo>
                    <a:pt x="4183379" y="73659"/>
                  </a:lnTo>
                  <a:lnTo>
                    <a:pt x="4183379" y="368299"/>
                  </a:lnTo>
                  <a:lnTo>
                    <a:pt x="4177585" y="396970"/>
                  </a:lnTo>
                  <a:lnTo>
                    <a:pt x="4161790" y="420384"/>
                  </a:lnTo>
                  <a:lnTo>
                    <a:pt x="4138374" y="436170"/>
                  </a:lnTo>
                  <a:lnTo>
                    <a:pt x="4109720" y="441959"/>
                  </a:lnTo>
                  <a:lnTo>
                    <a:pt x="73660" y="441959"/>
                  </a:lnTo>
                  <a:lnTo>
                    <a:pt x="45005" y="436170"/>
                  </a:lnTo>
                  <a:lnTo>
                    <a:pt x="21589" y="420384"/>
                  </a:lnTo>
                  <a:lnTo>
                    <a:pt x="5794" y="396970"/>
                  </a:lnTo>
                  <a:lnTo>
                    <a:pt x="0" y="368299"/>
                  </a:lnTo>
                  <a:lnTo>
                    <a:pt x="0" y="7365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216522" y="3863720"/>
            <a:ext cx="2263140" cy="2296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Composite/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Concatenate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endParaRPr sz="1500">
              <a:latin typeface="Calibri"/>
              <a:cs typeface="Calibri"/>
            </a:endParaRPr>
          </a:p>
          <a:p>
            <a:pPr marL="12700" marR="916940">
              <a:lnSpc>
                <a:spcPct val="297700"/>
              </a:lnSpc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1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Key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Secondary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Key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Sort/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444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Primary</a:t>
            </a:r>
            <a:r>
              <a:rPr sz="4000" spc="-13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844118"/>
            <a:ext cx="4900930" cy="50590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key</a:t>
            </a:r>
            <a:r>
              <a:rPr sz="2800" b="1" i="1" spc="-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used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identify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one 	</a:t>
            </a:r>
            <a:r>
              <a:rPr sz="2800" b="1" i="1" dirty="0">
                <a:latin typeface="Calibri"/>
                <a:cs typeface="Calibri"/>
              </a:rPr>
              <a:t>and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only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one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instance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of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an 	</a:t>
            </a:r>
            <a:r>
              <a:rPr sz="2800" b="1" i="1" dirty="0">
                <a:latin typeface="Calibri"/>
                <a:cs typeface="Calibri"/>
              </a:rPr>
              <a:t>entity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uniquely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233679" indent="-227329" algn="just">
              <a:lnSpc>
                <a:spcPct val="900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multiple 	</a:t>
            </a:r>
            <a:r>
              <a:rPr sz="2800" dirty="0">
                <a:latin typeface="Calibri"/>
                <a:cs typeface="Calibri"/>
              </a:rPr>
              <a:t>keys,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PERSON 	table.</a:t>
            </a:r>
            <a:endParaRPr sz="2800">
              <a:latin typeface="Calibri"/>
              <a:cs typeface="Calibri"/>
            </a:endParaRPr>
          </a:p>
          <a:p>
            <a:pPr marL="240029" marR="282575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suitable 	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those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becomes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  <a:p>
            <a:pPr marL="240029" marR="22225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cannot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contain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null 	</a:t>
            </a:r>
            <a:r>
              <a:rPr sz="2800" dirty="0">
                <a:latin typeface="Calibri"/>
                <a:cs typeface="Calibri"/>
              </a:rPr>
              <a:t>values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have 	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one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primary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key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444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Primary</a:t>
            </a:r>
            <a:r>
              <a:rPr sz="4000" spc="-13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905002"/>
            <a:ext cx="4987290" cy="49352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0029" marR="5080" indent="-227329">
              <a:lnSpc>
                <a:spcPct val="903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ourier New"/>
                <a:cs typeface="Courier New"/>
              </a:rPr>
              <a:t>EMPLOYEE</a:t>
            </a:r>
            <a:r>
              <a:rPr sz="2800" b="1" spc="-108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table, 	</a:t>
            </a:r>
            <a:r>
              <a:rPr sz="2800" b="1" spc="-10" dirty="0">
                <a:solidFill>
                  <a:srgbClr val="FF0000"/>
                </a:solidFill>
                <a:latin typeface="Courier New"/>
                <a:cs typeface="Courier New"/>
              </a:rPr>
              <a:t>Employee_ID</a:t>
            </a:r>
            <a:r>
              <a:rPr sz="2800" b="1" spc="-10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b="1" i="1" dirty="0">
                <a:latin typeface="Calibri"/>
                <a:cs typeface="Calibri"/>
              </a:rPr>
              <a:t>primary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key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	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employee.</a:t>
            </a:r>
            <a:endParaRPr sz="2800">
              <a:latin typeface="Calibri"/>
              <a:cs typeface="Calibri"/>
            </a:endParaRPr>
          </a:p>
          <a:p>
            <a:pPr marL="240029" marR="54610" indent="-227329">
              <a:lnSpc>
                <a:spcPct val="903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ourier New"/>
                <a:cs typeface="Courier New"/>
              </a:rPr>
              <a:t>EMPLOYEE</a:t>
            </a:r>
            <a:r>
              <a:rPr sz="2800" b="1" spc="-1080" dirty="0">
                <a:latin typeface="Courier New"/>
                <a:cs typeface="Courier New"/>
              </a:rPr>
              <a:t> </a:t>
            </a:r>
            <a:r>
              <a:rPr sz="2800" dirty="0">
                <a:latin typeface="Calibri"/>
                <a:cs typeface="Calibri"/>
              </a:rPr>
              <a:t>table,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can 	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License_Number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Passport_Number</a:t>
            </a:r>
            <a:r>
              <a:rPr sz="2800" spc="-1055" dirty="0">
                <a:latin typeface="Courier New"/>
                <a:cs typeface="Courier New"/>
              </a:rPr>
              <a:t> </a:t>
            </a:r>
            <a:r>
              <a:rPr sz="2800" spc="-25" dirty="0">
                <a:latin typeface="Calibri"/>
                <a:cs typeface="Calibri"/>
              </a:rPr>
              <a:t>as 	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also 	</a:t>
            </a:r>
            <a:r>
              <a:rPr sz="2800" spc="-10" dirty="0">
                <a:latin typeface="Calibri"/>
                <a:cs typeface="Calibri"/>
              </a:rPr>
              <a:t>unique.</a:t>
            </a:r>
            <a:endParaRPr sz="2800">
              <a:latin typeface="Calibri"/>
              <a:cs typeface="Calibri"/>
            </a:endParaRPr>
          </a:p>
          <a:p>
            <a:pPr marL="240029" marR="174625" indent="-227329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entity,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 	</a:t>
            </a:r>
            <a:r>
              <a:rPr sz="2800" dirty="0">
                <a:latin typeface="Calibri"/>
                <a:cs typeface="Calibri"/>
              </a:rPr>
              <a:t>selection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 	</a:t>
            </a:r>
            <a:r>
              <a:rPr sz="2800" spc="-10" dirty="0">
                <a:latin typeface="Calibri"/>
                <a:cs typeface="Calibri"/>
              </a:rPr>
              <a:t>requirements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developers.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28287"/>
            <a:ext cx="5410199" cy="30297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923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Candidate</a:t>
            </a:r>
            <a:r>
              <a:rPr sz="4000" spc="-22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292098"/>
            <a:ext cx="5056505" cy="4163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candidate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attribute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or 	</a:t>
            </a:r>
            <a:r>
              <a:rPr sz="2800" b="1" i="1" dirty="0">
                <a:latin typeface="Calibri"/>
                <a:cs typeface="Calibri"/>
              </a:rPr>
              <a:t>set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of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attributes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that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can 	</a:t>
            </a:r>
            <a:r>
              <a:rPr sz="2800" b="1" i="1" dirty="0">
                <a:latin typeface="Calibri"/>
                <a:cs typeface="Calibri"/>
              </a:rPr>
              <a:t>uniquely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identify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tuple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OR 	</a:t>
            </a:r>
            <a:r>
              <a:rPr sz="2800" b="1" i="1" spc="-10" dirty="0">
                <a:latin typeface="Calibri"/>
                <a:cs typeface="Calibri"/>
              </a:rPr>
              <a:t>attribute(set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of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attributes)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that 	</a:t>
            </a:r>
            <a:r>
              <a:rPr sz="2800" b="1" i="1" dirty="0">
                <a:latin typeface="Calibri"/>
                <a:cs typeface="Calibri"/>
              </a:rPr>
              <a:t>can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be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used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as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primary</a:t>
            </a:r>
            <a:r>
              <a:rPr sz="2800" b="1" i="1" spc="-1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key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39370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Except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key,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remaining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dirty="0">
                <a:latin typeface="Calibri"/>
                <a:cs typeface="Calibri"/>
              </a:rPr>
              <a:t>considered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candidate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  <a:p>
            <a:pPr marL="240029" marR="13716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candidate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strong 	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9235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Candidate</a:t>
            </a:r>
            <a:r>
              <a:rPr sz="4000" spc="-22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650874"/>
            <a:ext cx="4692650" cy="288798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0029" marR="5080" indent="-227329">
              <a:lnSpc>
                <a:spcPct val="904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ourier New"/>
                <a:cs typeface="Courier New"/>
              </a:rPr>
              <a:t>EMPLOYEE</a:t>
            </a:r>
            <a:r>
              <a:rPr sz="2800" b="1" spc="-108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table, 	</a:t>
            </a:r>
            <a:r>
              <a:rPr sz="2800" dirty="0">
                <a:latin typeface="Courier New"/>
                <a:cs typeface="Courier New"/>
              </a:rPr>
              <a:t>Employee_ID</a:t>
            </a:r>
            <a:r>
              <a:rPr sz="2800" spc="-135" dirty="0">
                <a:latin typeface="Courier New"/>
                <a:cs typeface="Courier New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suited 	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  <a:p>
            <a:pPr marL="240029" marR="129539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like 	</a:t>
            </a:r>
            <a:r>
              <a:rPr sz="2800" dirty="0">
                <a:latin typeface="Courier New"/>
                <a:cs typeface="Courier New"/>
              </a:rPr>
              <a:t>SSN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Passport_Number</a:t>
            </a:r>
            <a:r>
              <a:rPr sz="2800" spc="-10" dirty="0">
                <a:latin typeface="Calibri"/>
                <a:cs typeface="Calibri"/>
              </a:rPr>
              <a:t>, 	</a:t>
            </a:r>
            <a:r>
              <a:rPr sz="2800" dirty="0">
                <a:latin typeface="Courier New"/>
                <a:cs typeface="Courier New"/>
              </a:rPr>
              <a:t>License_Number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etc.,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spc="-10" dirty="0">
                <a:latin typeface="Calibri"/>
                <a:cs typeface="Calibri"/>
              </a:rPr>
              <a:t>considered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candidate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3303" y="3850740"/>
            <a:ext cx="4401292" cy="2837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043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Super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507691"/>
            <a:ext cx="5013325" cy="173291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Super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attribute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set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that 	</a:t>
            </a:r>
            <a:r>
              <a:rPr sz="2800" b="1" i="1" dirty="0">
                <a:latin typeface="Calibri"/>
                <a:cs typeface="Calibri"/>
              </a:rPr>
              <a:t>can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uniquely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identify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tuple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6515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superset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of</a:t>
            </a:r>
            <a:r>
              <a:rPr sz="2800" b="1" i="1" spc="-50" dirty="0">
                <a:latin typeface="Calibri"/>
                <a:cs typeface="Calibri"/>
              </a:rPr>
              <a:t> a 	</a:t>
            </a:r>
            <a:r>
              <a:rPr sz="2800" b="1" i="1" dirty="0">
                <a:latin typeface="Calibri"/>
                <a:cs typeface="Calibri"/>
              </a:rPr>
              <a:t>candidate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key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3411" y="2779852"/>
            <a:ext cx="204343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/>
              <a:t>Super </a:t>
            </a:r>
            <a:r>
              <a:rPr spc="-45" dirty="0"/>
              <a:t>Key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0167" y="723087"/>
            <a:ext cx="4918075" cy="3481704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0029" marR="5080" indent="-227329">
              <a:lnSpc>
                <a:spcPct val="90200"/>
              </a:lnSpc>
              <a:spcBef>
                <a:spcPts val="38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EMPLOYEE</a:t>
            </a:r>
            <a:r>
              <a:rPr sz="2400" b="1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table,</a:t>
            </a:r>
            <a:r>
              <a:rPr sz="2400" spc="-25" dirty="0">
                <a:latin typeface="Calibri"/>
                <a:cs typeface="Calibri"/>
              </a:rPr>
              <a:t> for 	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-10" dirty="0">
                <a:latin typeface="Courier New"/>
                <a:cs typeface="Courier New"/>
              </a:rPr>
              <a:t>Employee_ID, 	</a:t>
            </a:r>
            <a:r>
              <a:rPr sz="2400" dirty="0">
                <a:latin typeface="Courier New"/>
                <a:cs typeface="Courier New"/>
              </a:rPr>
              <a:t>Employee_Name</a:t>
            </a:r>
            <a:r>
              <a:rPr sz="2400" dirty="0">
                <a:latin typeface="Calibri"/>
                <a:cs typeface="Calibri"/>
              </a:rPr>
              <a:t>),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two 	</a:t>
            </a:r>
            <a:r>
              <a:rPr sz="2400" dirty="0">
                <a:latin typeface="Calibri"/>
                <a:cs typeface="Calibri"/>
              </a:rPr>
              <a:t>employees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their 	</a:t>
            </a:r>
            <a:r>
              <a:rPr sz="2400" dirty="0">
                <a:latin typeface="Courier New"/>
                <a:cs typeface="Courier New"/>
              </a:rPr>
              <a:t>Employee_ID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can't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same. 	</a:t>
            </a:r>
            <a:r>
              <a:rPr sz="2400" dirty="0">
                <a:latin typeface="Calibri"/>
                <a:cs typeface="Calibri"/>
              </a:rPr>
              <a:t>Hence,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20" dirty="0">
                <a:latin typeface="Calibri"/>
                <a:cs typeface="Calibri"/>
              </a:rPr>
              <a:t>key.</a:t>
            </a:r>
            <a:endParaRPr sz="2400">
              <a:latin typeface="Calibri"/>
              <a:cs typeface="Calibri"/>
            </a:endParaRPr>
          </a:p>
          <a:p>
            <a:pPr marL="240029" marR="189230" indent="-227329">
              <a:lnSpc>
                <a:spcPct val="894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ourier New"/>
                <a:cs typeface="Courier New"/>
              </a:rPr>
              <a:t>Employee_ID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-10" dirty="0">
                <a:latin typeface="Courier New"/>
                <a:cs typeface="Courier New"/>
              </a:rPr>
              <a:t>Employee_ID, 	</a:t>
            </a:r>
            <a:r>
              <a:rPr sz="2400" dirty="0">
                <a:latin typeface="Courier New"/>
                <a:cs typeface="Courier New"/>
              </a:rPr>
              <a:t>Employee_Name</a:t>
            </a:r>
            <a:r>
              <a:rPr sz="2400" dirty="0">
                <a:latin typeface="Calibri"/>
                <a:cs typeface="Calibri"/>
              </a:rPr>
              <a:t>),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172" y="4430300"/>
            <a:ext cx="3817554" cy="22478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385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Foreign</a:t>
            </a:r>
            <a:r>
              <a:rPr sz="4000" spc="-19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955674"/>
            <a:ext cx="5029200" cy="48037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029" marR="349885" indent="-227329">
              <a:lnSpc>
                <a:spcPts val="269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Foreign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the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column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of 	</a:t>
            </a:r>
            <a:r>
              <a:rPr sz="2800" b="1" i="1" dirty="0">
                <a:latin typeface="Calibri"/>
                <a:cs typeface="Calibri"/>
              </a:rPr>
              <a:t>the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table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used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point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the 	</a:t>
            </a:r>
            <a:r>
              <a:rPr sz="2800" b="1" i="1" dirty="0">
                <a:latin typeface="Calibri"/>
                <a:cs typeface="Calibri"/>
              </a:rPr>
              <a:t>primary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key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of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another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table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44195" indent="-227329">
              <a:lnSpc>
                <a:spcPct val="8000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employee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specific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department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spc="-35" dirty="0">
                <a:latin typeface="Calibri"/>
                <a:cs typeface="Calibri"/>
              </a:rPr>
              <a:t>company,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employee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department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different 	</a:t>
            </a:r>
            <a:r>
              <a:rPr sz="2800" spc="-10" dirty="0">
                <a:latin typeface="Calibri"/>
                <a:cs typeface="Calibri"/>
              </a:rPr>
              <a:t>entities.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can't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department's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employee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table.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That's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 	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38569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Foreign</a:t>
            </a:r>
            <a:r>
              <a:rPr sz="4000" spc="-19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716991"/>
            <a:ext cx="5123815" cy="326961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0029" marR="5080" indent="-227329">
              <a:lnSpc>
                <a:spcPct val="898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b="1" spc="-10" dirty="0">
                <a:latin typeface="Courier New"/>
                <a:cs typeface="Courier New"/>
              </a:rPr>
              <a:t>DEPARTMENT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table, 	</a:t>
            </a:r>
            <a:r>
              <a:rPr sz="2800" dirty="0">
                <a:latin typeface="Courier New"/>
                <a:cs typeface="Courier New"/>
              </a:rPr>
              <a:t>Department_ID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new 	</a:t>
            </a:r>
            <a:r>
              <a:rPr sz="2800" spc="-10" dirty="0">
                <a:latin typeface="Calibri"/>
                <a:cs typeface="Calibri"/>
              </a:rPr>
              <a:t>attribute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ourier New"/>
                <a:cs typeface="Courier New"/>
              </a:rPr>
              <a:t>EMPLOYEE</a:t>
            </a:r>
            <a:r>
              <a:rPr sz="2800" b="1" spc="-106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240029" marR="12065" indent="-227329">
              <a:lnSpc>
                <a:spcPct val="904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ourier New"/>
                <a:cs typeface="Courier New"/>
              </a:rPr>
              <a:t>EMPLOYEE</a:t>
            </a:r>
            <a:r>
              <a:rPr sz="2800" b="1" spc="-108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table, 	</a:t>
            </a:r>
            <a:r>
              <a:rPr sz="2800" dirty="0">
                <a:latin typeface="Courier New"/>
                <a:cs typeface="Courier New"/>
              </a:rPr>
              <a:t>Department_ID</a:t>
            </a:r>
            <a:r>
              <a:rPr sz="2800" spc="-95" dirty="0">
                <a:latin typeface="Courier New"/>
                <a:cs typeface="Courier New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foreign 	</a:t>
            </a:r>
            <a:r>
              <a:rPr sz="2800" spc="-60" dirty="0">
                <a:latin typeface="Calibri"/>
                <a:cs typeface="Calibri"/>
              </a:rPr>
              <a:t>key,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spc="-10" dirty="0">
                <a:latin typeface="Calibri"/>
                <a:cs typeface="Calibri"/>
              </a:rPr>
              <a:t>related.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4728" y="3957826"/>
            <a:ext cx="5838444" cy="28757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385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Foreign</a:t>
            </a:r>
            <a:r>
              <a:rPr sz="4000" spc="-19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123948"/>
            <a:ext cx="5086350" cy="25006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foreign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 	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dependent 	</a:t>
            </a:r>
            <a:r>
              <a:rPr sz="2800" b="1" dirty="0">
                <a:latin typeface="Calibri"/>
                <a:cs typeface="Calibri"/>
              </a:rPr>
              <a:t>relation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child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relation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114935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foreign 	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parent 	relation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Alternate</a:t>
            </a:r>
            <a:r>
              <a:rPr spc="-180" dirty="0"/>
              <a:t> </a:t>
            </a:r>
            <a:r>
              <a:rPr spc="-25" dirty="0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0167" y="852678"/>
            <a:ext cx="5114925" cy="499935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0029" marR="86995" indent="-227329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 	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uniquely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relation.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dirty="0">
                <a:latin typeface="Calibri"/>
                <a:cs typeface="Calibri"/>
              </a:rPr>
              <a:t>combinations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candidate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keys.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chosen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these 	candidate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remaining 	candidate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key,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b="1" i="1" dirty="0">
                <a:latin typeface="Calibri"/>
                <a:cs typeface="Calibri"/>
              </a:rPr>
              <a:t>alternate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Calibri"/>
                <a:cs typeface="Calibri"/>
              </a:rPr>
              <a:t>key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127000" indent="-227329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total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number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of 	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alternate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keys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is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total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number 	</a:t>
            </a:r>
            <a:r>
              <a:rPr sz="2400" b="1" i="1" dirty="0">
                <a:latin typeface="Calibri"/>
                <a:cs typeface="Calibri"/>
              </a:rPr>
              <a:t>of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candidate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keys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minus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primary 	</a:t>
            </a:r>
            <a:r>
              <a:rPr sz="2400" b="1" i="1" spc="-20" dirty="0">
                <a:latin typeface="Calibri"/>
                <a:cs typeface="Calibri"/>
              </a:rPr>
              <a:t>key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exist. 	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candidate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a 	</a:t>
            </a:r>
            <a:r>
              <a:rPr sz="2400" dirty="0">
                <a:latin typeface="Calibri"/>
                <a:cs typeface="Calibri"/>
              </a:rPr>
              <a:t>relation,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alternate 	</a:t>
            </a:r>
            <a:r>
              <a:rPr sz="2400" spc="-20" dirty="0">
                <a:latin typeface="Calibri"/>
                <a:cs typeface="Calibri"/>
              </a:rPr>
              <a:t>key.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75780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Alternate</a:t>
            </a:r>
            <a:r>
              <a:rPr sz="4000" spc="-18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217421"/>
            <a:ext cx="5135245" cy="24980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029" marR="5080" indent="-227329">
              <a:lnSpc>
                <a:spcPct val="904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latin typeface="Courier New"/>
                <a:cs typeface="Courier New"/>
              </a:rPr>
              <a:t>EMPLOYEE</a:t>
            </a:r>
            <a:r>
              <a:rPr sz="2400" b="1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attributes, 	</a:t>
            </a:r>
            <a:r>
              <a:rPr sz="2400" dirty="0">
                <a:latin typeface="Courier New"/>
                <a:cs typeface="Courier New"/>
              </a:rPr>
              <a:t>Employee_ID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PAN_No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</a:t>
            </a:r>
            <a:r>
              <a:rPr sz="2400" spc="600" dirty="0">
                <a:latin typeface="Calibri"/>
                <a:cs typeface="Calibri"/>
              </a:rPr>
              <a:t> 	</a:t>
            </a:r>
            <a:r>
              <a:rPr sz="2400" dirty="0">
                <a:latin typeface="Calibri"/>
                <a:cs typeface="Calibri"/>
              </a:rPr>
              <a:t>act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candidate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keys.</a:t>
            </a:r>
            <a:endParaRPr sz="2400">
              <a:latin typeface="Calibri"/>
              <a:cs typeface="Calibri"/>
            </a:endParaRPr>
          </a:p>
          <a:p>
            <a:pPr marL="240029" marR="30480" indent="-227329">
              <a:lnSpc>
                <a:spcPct val="904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Employee_ID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chosen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key,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 	</a:t>
            </a:r>
            <a:r>
              <a:rPr sz="2400" dirty="0">
                <a:latin typeface="Calibri"/>
                <a:cs typeface="Calibri"/>
              </a:rPr>
              <a:t>candidate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key,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PAN_No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Alternate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1388" y="4381500"/>
            <a:ext cx="5943600" cy="22006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43027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Composite/ </a:t>
            </a:r>
            <a:r>
              <a:rPr sz="4000" spc="-20" dirty="0">
                <a:latin typeface="Calibri Light"/>
                <a:cs typeface="Calibri Light"/>
              </a:rPr>
              <a:t>Concatenate</a:t>
            </a:r>
            <a:r>
              <a:rPr sz="4000" spc="-15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2315972"/>
            <a:ext cx="5072380" cy="21164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Whenever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primary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key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consists 	</a:t>
            </a:r>
            <a:r>
              <a:rPr sz="2800" b="1" i="1" dirty="0">
                <a:latin typeface="Calibri"/>
                <a:cs typeface="Calibri"/>
              </a:rPr>
              <a:t>of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more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than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one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attribute,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it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is 	</a:t>
            </a:r>
            <a:r>
              <a:rPr sz="2800" b="1" i="1" dirty="0">
                <a:latin typeface="Calibri"/>
                <a:cs typeface="Calibri"/>
              </a:rPr>
              <a:t>known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composite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key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spc="-10" dirty="0">
                <a:latin typeface="Calibri"/>
                <a:cs typeface="Calibri"/>
              </a:rPr>
              <a:t>Concatenated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Key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0505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Composite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787146"/>
            <a:ext cx="5109845" cy="42710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029" marR="294005" indent="-227329">
              <a:lnSpc>
                <a:spcPct val="90200"/>
              </a:lnSpc>
              <a:spcBef>
                <a:spcPts val="3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EMPLOYEE</a:t>
            </a:r>
            <a:r>
              <a:rPr sz="2400" b="1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relations,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assume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assigned 	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may 	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projects 	simultaneously.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Emp_Id</a:t>
            </a:r>
            <a:r>
              <a:rPr sz="2400" spc="-10" dirty="0">
                <a:latin typeface="Calibri"/>
                <a:cs typeface="Calibri"/>
              </a:rPr>
              <a:t>, 	</a:t>
            </a:r>
            <a:r>
              <a:rPr sz="2400" dirty="0">
                <a:latin typeface="Courier New"/>
                <a:cs typeface="Courier New"/>
              </a:rPr>
              <a:t>Emp_Role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Proj_Id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spc="-10" dirty="0">
                <a:latin typeface="Calibri"/>
                <a:cs typeface="Calibri"/>
              </a:rPr>
              <a:t>combination.</a:t>
            </a:r>
            <a:endParaRPr sz="2400">
              <a:latin typeface="Calibri"/>
              <a:cs typeface="Calibri"/>
            </a:endParaRPr>
          </a:p>
          <a:p>
            <a:pPr marL="240029" marR="178435" indent="-227329">
              <a:lnSpc>
                <a:spcPct val="901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composite 	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comprises 	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7016" y="5001767"/>
            <a:ext cx="2752344" cy="18318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545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Artificial</a:t>
            </a:r>
            <a:r>
              <a:rPr sz="4000" spc="-12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292098"/>
            <a:ext cx="5007610" cy="4163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key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created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using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arbitrarily 	</a:t>
            </a:r>
            <a:r>
              <a:rPr sz="2800" b="1" i="1" dirty="0">
                <a:latin typeface="Calibri"/>
                <a:cs typeface="Calibri"/>
              </a:rPr>
              <a:t>assigned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data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are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known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as 	</a:t>
            </a:r>
            <a:r>
              <a:rPr sz="2800" b="1" i="1" dirty="0">
                <a:latin typeface="Calibri"/>
                <a:cs typeface="Calibri"/>
              </a:rPr>
              <a:t>artificial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keys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334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relationship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	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relations.</a:t>
            </a:r>
            <a:endParaRPr sz="2800">
              <a:latin typeface="Calibri"/>
              <a:cs typeface="Calibri"/>
            </a:endParaRPr>
          </a:p>
          <a:p>
            <a:pPr marL="240029" marR="317500" indent="-227329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artificial 	</a:t>
            </a:r>
            <a:r>
              <a:rPr sz="2800" dirty="0">
                <a:latin typeface="Calibri"/>
                <a:cs typeface="Calibri"/>
              </a:rPr>
              <a:t>keys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usually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serial</a:t>
            </a:r>
            <a:r>
              <a:rPr sz="2800" spc="-10" dirty="0">
                <a:latin typeface="Calibri"/>
                <a:cs typeface="Calibri"/>
              </a:rPr>
              <a:t> order.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54571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Artificial</a:t>
            </a:r>
            <a:r>
              <a:rPr sz="4000" spc="-12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156538"/>
            <a:ext cx="5027930" cy="21666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0029" marR="5080" indent="-227329" algn="just">
              <a:lnSpc>
                <a:spcPct val="89600"/>
              </a:lnSpc>
              <a:spcBef>
                <a:spcPts val="4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key,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ourier New"/>
                <a:cs typeface="Courier New"/>
              </a:rPr>
              <a:t>Emp_Id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ourier New"/>
                <a:cs typeface="Courier New"/>
              </a:rPr>
              <a:t>Emp_Role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Proj_Id</a:t>
            </a:r>
            <a:r>
              <a:rPr sz="2400" spc="-10" dirty="0">
                <a:latin typeface="Calibri"/>
                <a:cs typeface="Calibri"/>
              </a:rPr>
              <a:t>,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EMPLOYEE</a:t>
            </a:r>
            <a:r>
              <a:rPr sz="2400" b="1" spc="-9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relations.</a:t>
            </a:r>
            <a:endParaRPr sz="2400">
              <a:latin typeface="Calibri"/>
              <a:cs typeface="Calibri"/>
            </a:endParaRPr>
          </a:p>
          <a:p>
            <a:pPr marL="240029" marR="120650" indent="-227329">
              <a:lnSpc>
                <a:spcPct val="9010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new 	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tuple 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uniquely.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676" y="3806571"/>
            <a:ext cx="452512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985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Secondary</a:t>
            </a:r>
            <a:r>
              <a:rPr sz="4000" spc="-10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820877"/>
            <a:ext cx="5125085" cy="51098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secondary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key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spc="-10" dirty="0">
                <a:latin typeface="Calibri"/>
                <a:cs typeface="Calibri"/>
              </a:rPr>
              <a:t>combination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	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retrieve 	records.</a:t>
            </a:r>
            <a:endParaRPr sz="2800">
              <a:latin typeface="Calibri"/>
              <a:cs typeface="Calibri"/>
            </a:endParaRPr>
          </a:p>
          <a:p>
            <a:pPr marL="240029" marR="10541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Secondary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 	</a:t>
            </a:r>
            <a:r>
              <a:rPr sz="2800" spc="-10" dirty="0">
                <a:latin typeface="Calibri"/>
                <a:cs typeface="Calibri"/>
              </a:rPr>
              <a:t>unique.</a:t>
            </a:r>
            <a:endParaRPr sz="2800">
              <a:latin typeface="Calibri"/>
              <a:cs typeface="Calibri"/>
            </a:endParaRPr>
          </a:p>
          <a:p>
            <a:pPr marL="240029" marR="61023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secondary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may 	</a:t>
            </a:r>
            <a:r>
              <a:rPr sz="2800" dirty="0">
                <a:latin typeface="Calibri"/>
                <a:cs typeface="Calibri"/>
              </a:rPr>
              <a:t>refer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records.</a:t>
            </a:r>
            <a:endParaRPr sz="2800">
              <a:latin typeface="Calibri"/>
              <a:cs typeface="Calibri"/>
            </a:endParaRPr>
          </a:p>
          <a:p>
            <a:pPr marL="697230" marR="438784" lvl="1" indent="-227329">
              <a:lnSpc>
                <a:spcPct val="90000"/>
              </a:lnSpc>
              <a:spcBef>
                <a:spcPts val="484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City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b="1" dirty="0">
                <a:latin typeface="Calibri"/>
                <a:cs typeface="Calibri"/>
              </a:rPr>
              <a:t>Student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display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a 	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city.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City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3501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Sort/</a:t>
            </a:r>
            <a:r>
              <a:rPr sz="4000" spc="-125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Control</a:t>
            </a:r>
            <a:r>
              <a:rPr sz="4000" spc="-12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Key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675841"/>
            <a:ext cx="5146040" cy="33959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 	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physically 	</a:t>
            </a:r>
            <a:r>
              <a:rPr sz="2800" dirty="0">
                <a:latin typeface="Calibri"/>
                <a:cs typeface="Calibri"/>
              </a:rPr>
              <a:t>sequence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 	</a:t>
            </a:r>
            <a:r>
              <a:rPr sz="2800" b="1" dirty="0">
                <a:latin typeface="Calibri"/>
                <a:cs typeface="Calibri"/>
              </a:rPr>
              <a:t>sort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key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control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key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256540" indent="-227329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according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requirement.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191</Words>
  <Application>Microsoft Office PowerPoint</Application>
  <PresentationFormat>Widescreen</PresentationFormat>
  <Paragraphs>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 MT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Super Key Example</vt:lpstr>
      <vt:lpstr>PowerPoint Presentation</vt:lpstr>
      <vt:lpstr>PowerPoint Presentation</vt:lpstr>
      <vt:lpstr>PowerPoint Presentation</vt:lpstr>
      <vt:lpstr>Alternate Key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2025-06-30T07:20:43Z</dcterms:created>
  <dcterms:modified xsi:type="dcterms:W3CDTF">2025-07-04T05:26:44Z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