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91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5155"/>
            <a:ext cx="540385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1969"/>
            <a:ext cx="10359390" cy="3905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6920" y="1656079"/>
            <a:ext cx="6598284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6840"/>
              </a:lnSpc>
              <a:spcBef>
                <a:spcPts val="100"/>
              </a:spcBef>
            </a:pPr>
            <a:r>
              <a:rPr sz="6000" b="1" spc="-254" dirty="0">
                <a:latin typeface="Trebuchet MS"/>
                <a:cs typeface="Trebuchet MS"/>
              </a:rPr>
              <a:t>Computer</a:t>
            </a:r>
            <a:r>
              <a:rPr sz="6000" b="1" spc="-650" dirty="0">
                <a:latin typeface="Trebuchet MS"/>
                <a:cs typeface="Trebuchet MS"/>
              </a:rPr>
              <a:t> </a:t>
            </a:r>
            <a:r>
              <a:rPr sz="6000" b="1" spc="-165" dirty="0">
                <a:latin typeface="Trebuchet MS"/>
                <a:cs typeface="Trebuchet MS"/>
              </a:rPr>
              <a:t>Networks</a:t>
            </a:r>
            <a:endParaRPr sz="6000">
              <a:latin typeface="Trebuchet MS"/>
              <a:cs typeface="Trebuchet MS"/>
            </a:endParaRPr>
          </a:p>
          <a:p>
            <a:pPr marL="1270" algn="ctr">
              <a:lnSpc>
                <a:spcPts val="6840"/>
              </a:lnSpc>
            </a:pPr>
            <a:r>
              <a:rPr sz="6000" spc="-350" dirty="0"/>
              <a:t>[</a:t>
            </a:r>
            <a:r>
              <a:rPr sz="5300" i="1" spc="-350" dirty="0">
                <a:latin typeface="Trebuchet MS"/>
                <a:cs typeface="Trebuchet MS"/>
              </a:rPr>
              <a:t>Framing</a:t>
            </a:r>
            <a:r>
              <a:rPr sz="5300" i="1" spc="-600" dirty="0">
                <a:latin typeface="Trebuchet MS"/>
                <a:cs typeface="Trebuchet MS"/>
              </a:rPr>
              <a:t> </a:t>
            </a:r>
            <a:r>
              <a:rPr sz="5300" i="1" spc="-125" dirty="0">
                <a:latin typeface="Trebuchet MS"/>
                <a:cs typeface="Trebuchet MS"/>
              </a:rPr>
              <a:t>-</a:t>
            </a:r>
            <a:r>
              <a:rPr sz="5300" i="1" spc="-555" dirty="0">
                <a:latin typeface="Trebuchet MS"/>
                <a:cs typeface="Trebuchet MS"/>
              </a:rPr>
              <a:t> </a:t>
            </a:r>
            <a:r>
              <a:rPr sz="5300" i="1" spc="-20" dirty="0">
                <a:latin typeface="Trebuchet MS"/>
                <a:cs typeface="Trebuchet MS"/>
              </a:rPr>
              <a:t>DLL</a:t>
            </a:r>
            <a:r>
              <a:rPr sz="6000" spc="-20" dirty="0"/>
              <a:t>]</a:t>
            </a:r>
            <a:endParaRPr sz="6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Framing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5080" indent="-229235" algn="just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/>
              <a:t>Frames</a:t>
            </a:r>
            <a:r>
              <a:rPr sz="2600" spc="-45" dirty="0"/>
              <a:t> </a:t>
            </a:r>
            <a:r>
              <a:rPr sz="2600" dirty="0"/>
              <a:t>are</a:t>
            </a:r>
            <a:r>
              <a:rPr sz="2600" spc="-40" dirty="0"/>
              <a:t> </a:t>
            </a:r>
            <a:r>
              <a:rPr sz="2600" dirty="0"/>
              <a:t>the</a:t>
            </a:r>
            <a:r>
              <a:rPr sz="2600" spc="-35" dirty="0"/>
              <a:t> </a:t>
            </a:r>
            <a:r>
              <a:rPr sz="2600" dirty="0"/>
              <a:t>units</a:t>
            </a:r>
            <a:r>
              <a:rPr sz="2600" spc="-40" dirty="0"/>
              <a:t> </a:t>
            </a:r>
            <a:r>
              <a:rPr sz="2600" dirty="0"/>
              <a:t>of</a:t>
            </a:r>
            <a:r>
              <a:rPr sz="2600" spc="-40" dirty="0"/>
              <a:t> </a:t>
            </a:r>
            <a:r>
              <a:rPr sz="2600" spc="-55" dirty="0"/>
              <a:t>digital</a:t>
            </a:r>
            <a:r>
              <a:rPr sz="2600" spc="-30" dirty="0"/>
              <a:t> </a:t>
            </a:r>
            <a:r>
              <a:rPr sz="2600" dirty="0"/>
              <a:t>transmission,</a:t>
            </a:r>
            <a:r>
              <a:rPr sz="2600" spc="-35" dirty="0"/>
              <a:t> </a:t>
            </a:r>
            <a:r>
              <a:rPr sz="2600" spc="-55" dirty="0"/>
              <a:t>particularly</a:t>
            </a:r>
            <a:r>
              <a:rPr sz="2600" spc="-35" dirty="0"/>
              <a:t> </a:t>
            </a:r>
            <a:r>
              <a:rPr sz="2600" dirty="0"/>
              <a:t>in</a:t>
            </a:r>
            <a:r>
              <a:rPr sz="2600" spc="-30" dirty="0"/>
              <a:t> </a:t>
            </a:r>
            <a:r>
              <a:rPr sz="2600" spc="-10" dirty="0"/>
              <a:t>computer </a:t>
            </a:r>
            <a:r>
              <a:rPr sz="2600" spc="-55" dirty="0"/>
              <a:t>networks</a:t>
            </a:r>
            <a:r>
              <a:rPr sz="2600" spc="-145" dirty="0"/>
              <a:t> </a:t>
            </a:r>
            <a:r>
              <a:rPr sz="2600" spc="-25" dirty="0"/>
              <a:t>and</a:t>
            </a:r>
            <a:r>
              <a:rPr sz="2600" spc="-150" dirty="0"/>
              <a:t> </a:t>
            </a:r>
            <a:r>
              <a:rPr sz="2600" spc="-40" dirty="0"/>
              <a:t>telecommunications.</a:t>
            </a:r>
            <a:r>
              <a:rPr sz="2600" spc="-110" dirty="0"/>
              <a:t> </a:t>
            </a:r>
            <a:r>
              <a:rPr sz="2600" spc="-80" dirty="0"/>
              <a:t>Frame</a:t>
            </a:r>
            <a:r>
              <a:rPr sz="2600" spc="-114" dirty="0"/>
              <a:t> </a:t>
            </a:r>
            <a:r>
              <a:rPr sz="2600" dirty="0"/>
              <a:t>is</a:t>
            </a:r>
            <a:r>
              <a:rPr sz="2600" spc="-120" dirty="0"/>
              <a:t> </a:t>
            </a:r>
            <a:r>
              <a:rPr sz="2600" spc="-20" dirty="0"/>
              <a:t>continuously</a:t>
            </a:r>
            <a:r>
              <a:rPr sz="2600" spc="-100" dirty="0"/>
              <a:t> </a:t>
            </a:r>
            <a:r>
              <a:rPr sz="2600" dirty="0"/>
              <a:t>used</a:t>
            </a:r>
            <a:r>
              <a:rPr sz="2600" spc="-110" dirty="0"/>
              <a:t> </a:t>
            </a:r>
            <a:r>
              <a:rPr sz="2600" spc="-160" dirty="0"/>
              <a:t>in</a:t>
            </a:r>
            <a:r>
              <a:rPr sz="2600" spc="-40" dirty="0"/>
              <a:t> </a:t>
            </a:r>
            <a:r>
              <a:rPr sz="2600" spc="-20" dirty="0"/>
              <a:t>Time </a:t>
            </a:r>
            <a:r>
              <a:rPr sz="2600" spc="-10" dirty="0"/>
              <a:t>Division</a:t>
            </a:r>
            <a:r>
              <a:rPr sz="2600" spc="-175" dirty="0"/>
              <a:t> </a:t>
            </a:r>
            <a:r>
              <a:rPr sz="2600" spc="-70" dirty="0"/>
              <a:t>Multiplexing</a:t>
            </a:r>
            <a:r>
              <a:rPr sz="2600" spc="-175" dirty="0"/>
              <a:t> </a:t>
            </a:r>
            <a:r>
              <a:rPr sz="2600" spc="-10" dirty="0"/>
              <a:t>process.</a:t>
            </a:r>
            <a:endParaRPr sz="2600"/>
          </a:p>
          <a:p>
            <a:pPr marL="241300" marR="5080" indent="-229235" algn="just">
              <a:lnSpc>
                <a:spcPts val="281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/>
              <a:t>Framing</a:t>
            </a:r>
            <a:r>
              <a:rPr sz="2600" spc="350" dirty="0"/>
              <a:t> </a:t>
            </a:r>
            <a:r>
              <a:rPr sz="2600" dirty="0"/>
              <a:t>is</a:t>
            </a:r>
            <a:r>
              <a:rPr sz="2600" spc="330" dirty="0"/>
              <a:t> </a:t>
            </a:r>
            <a:r>
              <a:rPr sz="2600" dirty="0"/>
              <a:t>a</a:t>
            </a:r>
            <a:r>
              <a:rPr sz="2600" spc="345" dirty="0"/>
              <a:t> </a:t>
            </a:r>
            <a:r>
              <a:rPr sz="2600" spc="-70" dirty="0"/>
              <a:t>point-</a:t>
            </a:r>
            <a:r>
              <a:rPr sz="2600" spc="-90" dirty="0"/>
              <a:t>to-</a:t>
            </a:r>
            <a:r>
              <a:rPr sz="2600" dirty="0"/>
              <a:t>point</a:t>
            </a:r>
            <a:r>
              <a:rPr sz="2600" spc="350" dirty="0"/>
              <a:t> </a:t>
            </a:r>
            <a:r>
              <a:rPr sz="2600" dirty="0"/>
              <a:t>connection</a:t>
            </a:r>
            <a:r>
              <a:rPr sz="2600" spc="345" dirty="0"/>
              <a:t> </a:t>
            </a:r>
            <a:r>
              <a:rPr sz="2600" dirty="0"/>
              <a:t>between</a:t>
            </a:r>
            <a:r>
              <a:rPr sz="2600" spc="360" dirty="0"/>
              <a:t> </a:t>
            </a:r>
            <a:r>
              <a:rPr sz="2600" dirty="0"/>
              <a:t>two</a:t>
            </a:r>
            <a:r>
              <a:rPr sz="2600" spc="345" dirty="0"/>
              <a:t> </a:t>
            </a:r>
            <a:r>
              <a:rPr sz="2600" dirty="0"/>
              <a:t>computers</a:t>
            </a:r>
            <a:r>
              <a:rPr sz="2600" spc="345" dirty="0"/>
              <a:t> </a:t>
            </a:r>
            <a:r>
              <a:rPr sz="2600" spc="-25" dirty="0"/>
              <a:t>or </a:t>
            </a:r>
            <a:r>
              <a:rPr sz="2600" dirty="0"/>
              <a:t>devices</a:t>
            </a:r>
            <a:r>
              <a:rPr sz="2600" spc="-200" dirty="0"/>
              <a:t> </a:t>
            </a:r>
            <a:r>
              <a:rPr sz="2600" dirty="0"/>
              <a:t>consisting</a:t>
            </a:r>
            <a:r>
              <a:rPr sz="2600" spc="-150" dirty="0"/>
              <a:t> </a:t>
            </a:r>
            <a:r>
              <a:rPr sz="2600" spc="-110" dirty="0"/>
              <a:t>of</a:t>
            </a:r>
            <a:r>
              <a:rPr sz="2600" spc="-90" dirty="0"/>
              <a:t> </a:t>
            </a:r>
            <a:r>
              <a:rPr sz="2600" dirty="0"/>
              <a:t>a</a:t>
            </a:r>
            <a:r>
              <a:rPr sz="2600" spc="-130" dirty="0"/>
              <a:t> wire</a:t>
            </a:r>
            <a:r>
              <a:rPr sz="2600" spc="-65" dirty="0"/>
              <a:t> </a:t>
            </a:r>
            <a:r>
              <a:rPr sz="2600" spc="-75" dirty="0"/>
              <a:t>in</a:t>
            </a:r>
            <a:r>
              <a:rPr sz="2600" spc="-120" dirty="0"/>
              <a:t> </a:t>
            </a:r>
            <a:r>
              <a:rPr sz="2600" spc="-20" dirty="0"/>
              <a:t>which</a:t>
            </a:r>
            <a:r>
              <a:rPr sz="2600" spc="-110" dirty="0"/>
              <a:t> </a:t>
            </a:r>
            <a:r>
              <a:rPr sz="2600" spc="-55" dirty="0"/>
              <a:t>data</a:t>
            </a:r>
            <a:r>
              <a:rPr sz="2600" spc="-130" dirty="0"/>
              <a:t> </a:t>
            </a:r>
            <a:r>
              <a:rPr sz="2600" dirty="0"/>
              <a:t>is</a:t>
            </a:r>
            <a:r>
              <a:rPr sz="2600" spc="-130" dirty="0"/>
              <a:t> </a:t>
            </a:r>
            <a:r>
              <a:rPr sz="2600" spc="-75" dirty="0"/>
              <a:t>transmitted</a:t>
            </a:r>
            <a:r>
              <a:rPr sz="2600" spc="-120" dirty="0"/>
              <a:t> </a:t>
            </a:r>
            <a:r>
              <a:rPr sz="2600" spc="105" dirty="0"/>
              <a:t>as</a:t>
            </a:r>
            <a:r>
              <a:rPr sz="2600" spc="-120" dirty="0"/>
              <a:t> </a:t>
            </a:r>
            <a:r>
              <a:rPr sz="2600" dirty="0"/>
              <a:t>a</a:t>
            </a:r>
            <a:r>
              <a:rPr sz="2600" spc="-135" dirty="0"/>
              <a:t> </a:t>
            </a:r>
            <a:r>
              <a:rPr sz="2600" spc="-35" dirty="0"/>
              <a:t>stream</a:t>
            </a:r>
            <a:r>
              <a:rPr sz="2600" spc="-130" dirty="0"/>
              <a:t> </a:t>
            </a:r>
            <a:r>
              <a:rPr sz="2600" spc="-25" dirty="0"/>
              <a:t>of </a:t>
            </a:r>
            <a:r>
              <a:rPr sz="2600" dirty="0"/>
              <a:t>bits.</a:t>
            </a:r>
            <a:r>
              <a:rPr sz="2600" spc="465" dirty="0"/>
              <a:t> </a:t>
            </a:r>
            <a:r>
              <a:rPr sz="2600" dirty="0"/>
              <a:t>However,</a:t>
            </a:r>
            <a:r>
              <a:rPr sz="2600" spc="465" dirty="0"/>
              <a:t> </a:t>
            </a:r>
            <a:r>
              <a:rPr sz="2600" dirty="0"/>
              <a:t>these</a:t>
            </a:r>
            <a:r>
              <a:rPr sz="2600" spc="459" dirty="0"/>
              <a:t> </a:t>
            </a:r>
            <a:r>
              <a:rPr sz="2600" dirty="0"/>
              <a:t>bits</a:t>
            </a:r>
            <a:r>
              <a:rPr sz="2600" spc="465" dirty="0"/>
              <a:t> </a:t>
            </a:r>
            <a:r>
              <a:rPr sz="2600" dirty="0"/>
              <a:t>must</a:t>
            </a:r>
            <a:r>
              <a:rPr sz="2600" spc="470" dirty="0"/>
              <a:t> </a:t>
            </a:r>
            <a:r>
              <a:rPr sz="2600" dirty="0"/>
              <a:t>be</a:t>
            </a:r>
            <a:r>
              <a:rPr sz="2600" spc="465" dirty="0"/>
              <a:t> </a:t>
            </a:r>
            <a:r>
              <a:rPr sz="2600" dirty="0"/>
              <a:t>framed</a:t>
            </a:r>
            <a:r>
              <a:rPr sz="2600" spc="465" dirty="0"/>
              <a:t> </a:t>
            </a:r>
            <a:r>
              <a:rPr sz="2600" dirty="0"/>
              <a:t>into</a:t>
            </a:r>
            <a:r>
              <a:rPr sz="2600" spc="450" dirty="0"/>
              <a:t> </a:t>
            </a:r>
            <a:r>
              <a:rPr sz="2600" dirty="0"/>
              <a:t>distinct</a:t>
            </a:r>
            <a:r>
              <a:rPr sz="2600" spc="470" dirty="0"/>
              <a:t> </a:t>
            </a:r>
            <a:r>
              <a:rPr sz="2600" dirty="0"/>
              <a:t>blocks</a:t>
            </a:r>
            <a:r>
              <a:rPr sz="2600" spc="465" dirty="0"/>
              <a:t> </a:t>
            </a:r>
            <a:r>
              <a:rPr sz="2600" spc="-25" dirty="0"/>
              <a:t>of </a:t>
            </a:r>
            <a:r>
              <a:rPr sz="2600" spc="-10" dirty="0"/>
              <a:t>information.</a:t>
            </a:r>
            <a:endParaRPr sz="2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Framing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6542"/>
            <a:ext cx="5023485" cy="26892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9235" algn="just">
              <a:lnSpc>
                <a:spcPct val="90000"/>
              </a:lnSpc>
              <a:spcBef>
                <a:spcPts val="41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5" dirty="0">
                <a:latin typeface="Trebuchet MS"/>
                <a:cs typeface="Trebuchet MS"/>
              </a:rPr>
              <a:t>Framing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7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function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of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the</a:t>
            </a:r>
            <a:r>
              <a:rPr sz="2600" spc="-7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DLL. </a:t>
            </a:r>
            <a:r>
              <a:rPr sz="2600" dirty="0">
                <a:latin typeface="Trebuchet MS"/>
                <a:cs typeface="Trebuchet MS"/>
              </a:rPr>
              <a:t>It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provides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way</a:t>
            </a:r>
            <a:r>
              <a:rPr sz="2600" spc="-45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for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sender</a:t>
            </a:r>
            <a:r>
              <a:rPr sz="2600" spc="-3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to </a:t>
            </a:r>
            <a:r>
              <a:rPr sz="2600" dirty="0">
                <a:latin typeface="Trebuchet MS"/>
                <a:cs typeface="Trebuchet MS"/>
              </a:rPr>
              <a:t>transmit</a:t>
            </a:r>
            <a:r>
              <a:rPr sz="2600" spc="5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50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set</a:t>
            </a:r>
            <a:r>
              <a:rPr sz="2600" spc="5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of</a:t>
            </a:r>
            <a:r>
              <a:rPr sz="2600" spc="509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bits</a:t>
            </a:r>
            <a:r>
              <a:rPr sz="2600" spc="50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that</a:t>
            </a:r>
            <a:r>
              <a:rPr sz="2600" spc="509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are </a:t>
            </a:r>
            <a:r>
              <a:rPr sz="2600" spc="-55" dirty="0">
                <a:latin typeface="Trebuchet MS"/>
                <a:cs typeface="Trebuchet MS"/>
              </a:rPr>
              <a:t>meaningful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to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receiver.</a:t>
            </a:r>
            <a:endParaRPr sz="2600">
              <a:latin typeface="Trebuchet MS"/>
              <a:cs typeface="Trebuchet MS"/>
            </a:endParaRPr>
          </a:p>
          <a:p>
            <a:pPr marL="241300" marR="5080" indent="-229235" algn="just">
              <a:lnSpc>
                <a:spcPts val="281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65" dirty="0">
                <a:latin typeface="Trebuchet MS"/>
                <a:cs typeface="Trebuchet MS"/>
              </a:rPr>
              <a:t>Ethernet,</a:t>
            </a:r>
            <a:r>
              <a:rPr sz="2600" spc="-13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token</a:t>
            </a:r>
            <a:r>
              <a:rPr sz="2600" spc="-15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ring,</a:t>
            </a:r>
            <a:r>
              <a:rPr sz="2600" spc="-125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frame</a:t>
            </a:r>
            <a:r>
              <a:rPr sz="2600" spc="-14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relay,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other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DLL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technologies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have </a:t>
            </a:r>
            <a:r>
              <a:rPr sz="2600" spc="-114" dirty="0">
                <a:latin typeface="Trebuchet MS"/>
                <a:cs typeface="Trebuchet MS"/>
              </a:rPr>
              <a:t>their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own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frame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structures.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844" y="4903089"/>
            <a:ext cx="412750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26845" algn="l"/>
                <a:tab pos="3414395" algn="l"/>
              </a:tabLst>
            </a:pPr>
            <a:r>
              <a:rPr sz="2600" spc="-10" dirty="0">
                <a:latin typeface="Trebuchet MS"/>
                <a:cs typeface="Trebuchet MS"/>
              </a:rPr>
              <a:t>contain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information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50" dirty="0">
                <a:latin typeface="Trebuchet MS"/>
                <a:cs typeface="Trebuchet MS"/>
              </a:rPr>
              <a:t>such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4546472"/>
            <a:ext cx="5022215" cy="779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marR="5080" indent="-228600" algn="r">
              <a:lnSpc>
                <a:spcPts val="2965"/>
              </a:lnSpc>
              <a:spcBef>
                <a:spcPts val="100"/>
              </a:spcBef>
              <a:buFont typeface="Arial MT"/>
              <a:buChar char="•"/>
              <a:tabLst>
                <a:tab pos="228600" algn="l"/>
                <a:tab pos="1723389" algn="l"/>
                <a:tab pos="2834640" algn="l"/>
                <a:tab pos="4427220" algn="l"/>
              </a:tabLst>
            </a:pPr>
            <a:r>
              <a:rPr sz="2600" spc="-10" dirty="0">
                <a:latin typeface="Trebuchet MS"/>
                <a:cs typeface="Trebuchet MS"/>
              </a:rPr>
              <a:t>Frames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0" dirty="0">
                <a:latin typeface="Trebuchet MS"/>
                <a:cs typeface="Trebuchet MS"/>
              </a:rPr>
              <a:t>have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headers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80" dirty="0">
                <a:latin typeface="Trebuchet MS"/>
                <a:cs typeface="Trebuchet MS"/>
              </a:rPr>
              <a:t>that</a:t>
            </a:r>
            <a:endParaRPr sz="2600">
              <a:latin typeface="Trebuchet MS"/>
              <a:cs typeface="Trebuchet MS"/>
            </a:endParaRPr>
          </a:p>
          <a:p>
            <a:pPr marR="5080" algn="r">
              <a:lnSpc>
                <a:spcPts val="2965"/>
              </a:lnSpc>
            </a:pPr>
            <a:r>
              <a:rPr sz="2600" spc="75" dirty="0">
                <a:latin typeface="Trebuchet MS"/>
                <a:cs typeface="Trebuchet MS"/>
              </a:rPr>
              <a:t>as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5844" y="5259730"/>
            <a:ext cx="313055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20" dirty="0">
                <a:latin typeface="Trebuchet MS"/>
                <a:cs typeface="Trebuchet MS"/>
              </a:rPr>
              <a:t>error-</a:t>
            </a:r>
            <a:r>
              <a:rPr sz="2600" spc="-25" dirty="0">
                <a:latin typeface="Trebuchet MS"/>
                <a:cs typeface="Trebuchet MS"/>
              </a:rPr>
              <a:t>checking</a:t>
            </a:r>
            <a:r>
              <a:rPr sz="2600" spc="-16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codes.</a:t>
            </a:r>
            <a:endParaRPr sz="26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245" y="2140076"/>
            <a:ext cx="4518659" cy="3471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Framing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pc="-290" dirty="0"/>
              <a:t>At</a:t>
            </a:r>
            <a:r>
              <a:rPr spc="80" dirty="0"/>
              <a:t> </a:t>
            </a:r>
            <a:r>
              <a:rPr spc="-155" dirty="0"/>
              <a:t>the</a:t>
            </a:r>
            <a:r>
              <a:rPr spc="-55" dirty="0"/>
              <a:t> </a:t>
            </a:r>
            <a:r>
              <a:rPr spc="-40" dirty="0"/>
              <a:t>DLL,</a:t>
            </a:r>
            <a:r>
              <a:rPr spc="-170" dirty="0"/>
              <a:t> </a:t>
            </a:r>
            <a:r>
              <a:rPr spc="-395" dirty="0"/>
              <a:t>it</a:t>
            </a:r>
            <a:r>
              <a:rPr spc="185" dirty="0"/>
              <a:t> </a:t>
            </a:r>
            <a:r>
              <a:rPr spc="-105" dirty="0"/>
              <a:t>extracts </a:t>
            </a:r>
            <a:r>
              <a:rPr spc="-155" dirty="0"/>
              <a:t>the</a:t>
            </a:r>
            <a:r>
              <a:rPr spc="-55" dirty="0"/>
              <a:t> </a:t>
            </a:r>
            <a:r>
              <a:rPr dirty="0"/>
              <a:t>message</a:t>
            </a:r>
            <a:r>
              <a:rPr spc="-210" dirty="0"/>
              <a:t> </a:t>
            </a:r>
            <a:r>
              <a:rPr spc="-130" dirty="0"/>
              <a:t>from</a:t>
            </a:r>
            <a:r>
              <a:rPr spc="-75" dirty="0"/>
              <a:t> </a:t>
            </a:r>
            <a:r>
              <a:rPr spc="-150" dirty="0"/>
              <a:t>the</a:t>
            </a:r>
            <a:r>
              <a:rPr spc="-55" dirty="0"/>
              <a:t> </a:t>
            </a:r>
            <a:r>
              <a:rPr spc="-30" dirty="0"/>
              <a:t>sender</a:t>
            </a:r>
            <a:r>
              <a:rPr spc="-35" dirty="0"/>
              <a:t> </a:t>
            </a:r>
            <a:r>
              <a:rPr spc="-20" dirty="0"/>
              <a:t>and</a:t>
            </a:r>
            <a:r>
              <a:rPr spc="-25" dirty="0"/>
              <a:t> </a:t>
            </a:r>
            <a:r>
              <a:rPr spc="-60" dirty="0"/>
              <a:t>provides</a:t>
            </a:r>
            <a:r>
              <a:rPr spc="-40" dirty="0"/>
              <a:t> </a:t>
            </a:r>
            <a:r>
              <a:rPr spc="-25" dirty="0"/>
              <a:t>it 	</a:t>
            </a:r>
            <a:r>
              <a:rPr spc="-105" dirty="0"/>
              <a:t>to</a:t>
            </a:r>
            <a:r>
              <a:rPr spc="-235" dirty="0"/>
              <a:t> </a:t>
            </a:r>
            <a:r>
              <a:rPr spc="-90" dirty="0"/>
              <a:t>the</a:t>
            </a:r>
            <a:r>
              <a:rPr spc="-240" dirty="0"/>
              <a:t> </a:t>
            </a:r>
            <a:r>
              <a:rPr spc="-105" dirty="0"/>
              <a:t>receiver</a:t>
            </a:r>
            <a:r>
              <a:rPr spc="-229" dirty="0"/>
              <a:t> </a:t>
            </a:r>
            <a:r>
              <a:rPr spc="-75" dirty="0"/>
              <a:t>by</a:t>
            </a:r>
            <a:r>
              <a:rPr spc="-240" dirty="0"/>
              <a:t> </a:t>
            </a:r>
            <a:r>
              <a:rPr spc="-80" dirty="0"/>
              <a:t>providing</a:t>
            </a:r>
            <a:r>
              <a:rPr spc="-235" dirty="0"/>
              <a:t> </a:t>
            </a:r>
            <a:r>
              <a:rPr spc="-90" dirty="0"/>
              <a:t>the</a:t>
            </a:r>
            <a:r>
              <a:rPr spc="-245" dirty="0"/>
              <a:t> </a:t>
            </a:r>
            <a:r>
              <a:rPr spc="-45" dirty="0"/>
              <a:t>sender’s</a:t>
            </a:r>
            <a:r>
              <a:rPr spc="-215" dirty="0"/>
              <a:t> </a:t>
            </a:r>
            <a:r>
              <a:rPr dirty="0"/>
              <a:t>and</a:t>
            </a:r>
            <a:r>
              <a:rPr spc="-240" dirty="0"/>
              <a:t> </a:t>
            </a:r>
            <a:r>
              <a:rPr spc="-105" dirty="0"/>
              <a:t>receiver’s</a:t>
            </a:r>
            <a:r>
              <a:rPr spc="-229" dirty="0"/>
              <a:t> </a:t>
            </a:r>
            <a:r>
              <a:rPr spc="-10" dirty="0"/>
              <a:t>addresses.</a:t>
            </a:r>
          </a:p>
          <a:p>
            <a:pPr marL="240029" marR="6350" indent="-227965" algn="just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310" dirty="0"/>
              <a:t> </a:t>
            </a:r>
            <a:r>
              <a:rPr dirty="0"/>
              <a:t>advantage</a:t>
            </a:r>
            <a:r>
              <a:rPr spc="330" dirty="0"/>
              <a:t> </a:t>
            </a:r>
            <a:r>
              <a:rPr dirty="0"/>
              <a:t>of</a:t>
            </a:r>
            <a:r>
              <a:rPr spc="320" dirty="0"/>
              <a:t> </a:t>
            </a:r>
            <a:r>
              <a:rPr dirty="0"/>
              <a:t>using</a:t>
            </a:r>
            <a:r>
              <a:rPr spc="305" dirty="0"/>
              <a:t> </a:t>
            </a:r>
            <a:r>
              <a:rPr dirty="0"/>
              <a:t>frames</a:t>
            </a:r>
            <a:r>
              <a:rPr spc="315" dirty="0"/>
              <a:t> </a:t>
            </a:r>
            <a:r>
              <a:rPr dirty="0"/>
              <a:t>is</a:t>
            </a:r>
            <a:r>
              <a:rPr spc="315" dirty="0"/>
              <a:t> </a:t>
            </a:r>
            <a:r>
              <a:rPr dirty="0"/>
              <a:t>that</a:t>
            </a:r>
            <a:r>
              <a:rPr spc="310" dirty="0"/>
              <a:t> </a:t>
            </a:r>
            <a:r>
              <a:rPr dirty="0"/>
              <a:t>data</a:t>
            </a:r>
            <a:r>
              <a:rPr spc="335" dirty="0"/>
              <a:t> </a:t>
            </a:r>
            <a:r>
              <a:rPr dirty="0"/>
              <a:t>is</a:t>
            </a:r>
            <a:r>
              <a:rPr spc="305" dirty="0"/>
              <a:t> </a:t>
            </a:r>
            <a:r>
              <a:rPr dirty="0"/>
              <a:t>broken</a:t>
            </a:r>
            <a:r>
              <a:rPr spc="320" dirty="0"/>
              <a:t> </a:t>
            </a:r>
            <a:r>
              <a:rPr dirty="0"/>
              <a:t>up</a:t>
            </a:r>
            <a:r>
              <a:rPr spc="325" dirty="0"/>
              <a:t> </a:t>
            </a:r>
            <a:r>
              <a:rPr spc="-20" dirty="0"/>
              <a:t>into 	</a:t>
            </a:r>
            <a:r>
              <a:rPr spc="-80" dirty="0"/>
              <a:t>recoverable</a:t>
            </a:r>
            <a:r>
              <a:rPr spc="-200" dirty="0"/>
              <a:t> </a:t>
            </a:r>
            <a:r>
              <a:rPr dirty="0"/>
              <a:t>chunks</a:t>
            </a:r>
            <a:r>
              <a:rPr spc="-180" dirty="0"/>
              <a:t> </a:t>
            </a:r>
            <a:r>
              <a:rPr spc="-120" dirty="0"/>
              <a:t>that</a:t>
            </a:r>
            <a:r>
              <a:rPr spc="-210" dirty="0"/>
              <a:t> </a:t>
            </a:r>
            <a:r>
              <a:rPr dirty="0"/>
              <a:t>can</a:t>
            </a:r>
            <a:r>
              <a:rPr spc="-195" dirty="0"/>
              <a:t> </a:t>
            </a:r>
            <a:r>
              <a:rPr spc="-40" dirty="0"/>
              <a:t>easily</a:t>
            </a:r>
            <a:r>
              <a:rPr spc="-210" dirty="0"/>
              <a:t> </a:t>
            </a:r>
            <a:r>
              <a:rPr spc="-40" dirty="0"/>
              <a:t>be</a:t>
            </a:r>
            <a:r>
              <a:rPr spc="-204" dirty="0"/>
              <a:t> </a:t>
            </a:r>
            <a:r>
              <a:rPr spc="-25" dirty="0"/>
              <a:t>checked</a:t>
            </a:r>
            <a:r>
              <a:rPr spc="-160" dirty="0"/>
              <a:t> </a:t>
            </a:r>
            <a:r>
              <a:rPr spc="-130" dirty="0"/>
              <a:t>for</a:t>
            </a:r>
            <a:r>
              <a:rPr spc="-195" dirty="0"/>
              <a:t> </a:t>
            </a:r>
            <a:r>
              <a:rPr spc="-10" dirty="0"/>
              <a:t>corruption.</a:t>
            </a:r>
          </a:p>
          <a:p>
            <a:pPr marL="240029" marR="6350" indent="-227965" algn="just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pc="-190" dirty="0"/>
              <a:t>The</a:t>
            </a:r>
            <a:r>
              <a:rPr spc="-20" dirty="0"/>
              <a:t> </a:t>
            </a:r>
            <a:r>
              <a:rPr dirty="0"/>
              <a:t>process</a:t>
            </a:r>
            <a:r>
              <a:rPr spc="-210" dirty="0"/>
              <a:t> </a:t>
            </a:r>
            <a:r>
              <a:rPr spc="-180" dirty="0"/>
              <a:t>of</a:t>
            </a:r>
            <a:r>
              <a:rPr spc="-30" dirty="0"/>
              <a:t> </a:t>
            </a:r>
            <a:r>
              <a:rPr spc="-95" dirty="0"/>
              <a:t>dividing</a:t>
            </a:r>
            <a:r>
              <a:rPr spc="-114" dirty="0"/>
              <a:t> </a:t>
            </a:r>
            <a:r>
              <a:rPr spc="-140" dirty="0"/>
              <a:t>the</a:t>
            </a:r>
            <a:r>
              <a:rPr spc="-70" dirty="0"/>
              <a:t> </a:t>
            </a:r>
            <a:r>
              <a:rPr spc="-85" dirty="0"/>
              <a:t>data</a:t>
            </a:r>
            <a:r>
              <a:rPr spc="-55" dirty="0"/>
              <a:t> </a:t>
            </a:r>
            <a:r>
              <a:rPr spc="-125" dirty="0"/>
              <a:t>into</a:t>
            </a:r>
            <a:r>
              <a:rPr spc="-45" dirty="0"/>
              <a:t> </a:t>
            </a:r>
            <a:r>
              <a:rPr spc="-60" dirty="0"/>
              <a:t>frames</a:t>
            </a:r>
            <a:r>
              <a:rPr spc="-45" dirty="0"/>
              <a:t> </a:t>
            </a:r>
            <a:r>
              <a:rPr spc="-10" dirty="0"/>
              <a:t>and</a:t>
            </a:r>
            <a:r>
              <a:rPr spc="-40" dirty="0"/>
              <a:t> </a:t>
            </a:r>
            <a:r>
              <a:rPr spc="-25" dirty="0"/>
              <a:t>reassembling</a:t>
            </a:r>
            <a:r>
              <a:rPr spc="-50" dirty="0"/>
              <a:t> </a:t>
            </a:r>
            <a:r>
              <a:rPr spc="-360" dirty="0"/>
              <a:t>it</a:t>
            </a:r>
            <a:r>
              <a:rPr spc="150" dirty="0"/>
              <a:t> </a:t>
            </a:r>
            <a:r>
              <a:rPr spc="-25" dirty="0"/>
              <a:t>is 	</a:t>
            </a:r>
            <a:r>
              <a:rPr spc="-75" dirty="0"/>
              <a:t>transparent</a:t>
            </a:r>
            <a:r>
              <a:rPr spc="-225" dirty="0"/>
              <a:t> </a:t>
            </a:r>
            <a:r>
              <a:rPr spc="-110" dirty="0"/>
              <a:t>to</a:t>
            </a:r>
            <a:r>
              <a:rPr spc="-225" dirty="0"/>
              <a:t> </a:t>
            </a:r>
            <a:r>
              <a:rPr spc="-90" dirty="0"/>
              <a:t>the</a:t>
            </a:r>
            <a:r>
              <a:rPr spc="-240" dirty="0"/>
              <a:t> </a:t>
            </a:r>
            <a:r>
              <a:rPr dirty="0"/>
              <a:t>user</a:t>
            </a:r>
            <a:r>
              <a:rPr spc="-220" dirty="0"/>
              <a:t> </a:t>
            </a:r>
            <a:r>
              <a:rPr dirty="0"/>
              <a:t>and</a:t>
            </a:r>
            <a:r>
              <a:rPr spc="-240" dirty="0"/>
              <a:t> </a:t>
            </a:r>
            <a:r>
              <a:rPr dirty="0"/>
              <a:t>is</a:t>
            </a:r>
            <a:r>
              <a:rPr spc="-250" dirty="0"/>
              <a:t> </a:t>
            </a:r>
            <a:r>
              <a:rPr spc="-25" dirty="0"/>
              <a:t>handled</a:t>
            </a:r>
            <a:r>
              <a:rPr spc="-220" dirty="0"/>
              <a:t> </a:t>
            </a:r>
            <a:r>
              <a:rPr spc="-80" dirty="0"/>
              <a:t>by</a:t>
            </a:r>
            <a:r>
              <a:rPr spc="-235" dirty="0"/>
              <a:t> </a:t>
            </a:r>
            <a:r>
              <a:rPr spc="-105" dirty="0"/>
              <a:t>the</a:t>
            </a:r>
            <a:r>
              <a:rPr spc="-229" dirty="0"/>
              <a:t> </a:t>
            </a:r>
            <a:r>
              <a:rPr spc="-20" dirty="0"/>
              <a:t>DLL.</a:t>
            </a:r>
          </a:p>
          <a:p>
            <a:pPr marL="240029" marR="5080" indent="-227965" algn="just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pc="-70" dirty="0"/>
              <a:t>Framing</a:t>
            </a:r>
            <a:r>
              <a:rPr spc="-105" dirty="0"/>
              <a:t> </a:t>
            </a:r>
            <a:r>
              <a:rPr dirty="0"/>
              <a:t>is</a:t>
            </a:r>
            <a:r>
              <a:rPr spc="-105" dirty="0"/>
              <a:t> </a:t>
            </a:r>
            <a:r>
              <a:rPr dirty="0"/>
              <a:t>an</a:t>
            </a:r>
            <a:r>
              <a:rPr spc="-105" dirty="0"/>
              <a:t> </a:t>
            </a:r>
            <a:r>
              <a:rPr spc="-80" dirty="0"/>
              <a:t>important</a:t>
            </a:r>
            <a:r>
              <a:rPr spc="-95" dirty="0"/>
              <a:t> </a:t>
            </a:r>
            <a:r>
              <a:rPr dirty="0"/>
              <a:t>aspect</a:t>
            </a:r>
            <a:r>
              <a:rPr spc="-85" dirty="0"/>
              <a:t> </a:t>
            </a:r>
            <a:r>
              <a:rPr spc="-90" dirty="0"/>
              <a:t>of </a:t>
            </a:r>
            <a:r>
              <a:rPr spc="50" dirty="0"/>
              <a:t>DLL</a:t>
            </a:r>
            <a:r>
              <a:rPr spc="-80" dirty="0"/>
              <a:t> </a:t>
            </a:r>
            <a:r>
              <a:rPr spc="-35" dirty="0"/>
              <a:t>protocol</a:t>
            </a:r>
            <a:r>
              <a:rPr spc="-85" dirty="0"/>
              <a:t> </a:t>
            </a:r>
            <a:r>
              <a:rPr dirty="0"/>
              <a:t>design</a:t>
            </a:r>
            <a:r>
              <a:rPr spc="-80" dirty="0"/>
              <a:t> </a:t>
            </a:r>
            <a:r>
              <a:rPr dirty="0"/>
              <a:t>because</a:t>
            </a:r>
            <a:r>
              <a:rPr spc="-85" dirty="0"/>
              <a:t> </a:t>
            </a:r>
            <a:r>
              <a:rPr spc="-25" dirty="0"/>
              <a:t>it 	</a:t>
            </a:r>
            <a:r>
              <a:rPr dirty="0"/>
              <a:t>allows</a:t>
            </a:r>
            <a:r>
              <a:rPr spc="35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dirty="0"/>
              <a:t>transmission</a:t>
            </a:r>
            <a:r>
              <a:rPr spc="45" dirty="0"/>
              <a:t> </a:t>
            </a:r>
            <a:r>
              <a:rPr dirty="0"/>
              <a:t>of</a:t>
            </a:r>
            <a:r>
              <a:rPr spc="60" dirty="0"/>
              <a:t> </a:t>
            </a:r>
            <a:r>
              <a:rPr dirty="0"/>
              <a:t>data</a:t>
            </a:r>
            <a:r>
              <a:rPr spc="45" dirty="0"/>
              <a:t> </a:t>
            </a:r>
            <a:r>
              <a:rPr dirty="0"/>
              <a:t>to</a:t>
            </a:r>
            <a:r>
              <a:rPr spc="55" dirty="0"/>
              <a:t> </a:t>
            </a:r>
            <a:r>
              <a:rPr dirty="0"/>
              <a:t>be</a:t>
            </a:r>
            <a:r>
              <a:rPr spc="45" dirty="0"/>
              <a:t> </a:t>
            </a:r>
            <a:r>
              <a:rPr spc="-30" dirty="0"/>
              <a:t>organized</a:t>
            </a:r>
            <a:r>
              <a:rPr spc="50" dirty="0"/>
              <a:t> </a:t>
            </a:r>
            <a:r>
              <a:rPr dirty="0"/>
              <a:t>and</a:t>
            </a:r>
            <a:r>
              <a:rPr spc="60" dirty="0"/>
              <a:t> </a:t>
            </a:r>
            <a:r>
              <a:rPr spc="-30" dirty="0"/>
              <a:t>controlled, 	</a:t>
            </a:r>
            <a:r>
              <a:rPr spc="-25" dirty="0"/>
              <a:t>ensuring</a:t>
            </a:r>
            <a:r>
              <a:rPr spc="-210" dirty="0"/>
              <a:t> </a:t>
            </a:r>
            <a:r>
              <a:rPr spc="-120" dirty="0"/>
              <a:t>that</a:t>
            </a:r>
            <a:r>
              <a:rPr spc="-235" dirty="0"/>
              <a:t> </a:t>
            </a:r>
            <a:r>
              <a:rPr spc="-90" dirty="0"/>
              <a:t>the</a:t>
            </a:r>
            <a:r>
              <a:rPr spc="-229" dirty="0"/>
              <a:t> </a:t>
            </a:r>
            <a:r>
              <a:rPr spc="-70" dirty="0"/>
              <a:t>data</a:t>
            </a:r>
            <a:r>
              <a:rPr spc="-220" dirty="0"/>
              <a:t> </a:t>
            </a:r>
            <a:r>
              <a:rPr dirty="0"/>
              <a:t>is</a:t>
            </a:r>
            <a:r>
              <a:rPr spc="-240" dirty="0"/>
              <a:t> </a:t>
            </a:r>
            <a:r>
              <a:rPr spc="-95" dirty="0"/>
              <a:t>delivered</a:t>
            </a:r>
            <a:r>
              <a:rPr spc="-220" dirty="0"/>
              <a:t> </a:t>
            </a:r>
            <a:r>
              <a:rPr spc="-70" dirty="0"/>
              <a:t>accurately</a:t>
            </a:r>
            <a:r>
              <a:rPr spc="-204" dirty="0"/>
              <a:t> </a:t>
            </a:r>
            <a:r>
              <a:rPr dirty="0"/>
              <a:t>and</a:t>
            </a:r>
            <a:r>
              <a:rPr spc="-210" dirty="0"/>
              <a:t> </a:t>
            </a:r>
            <a:r>
              <a:rPr spc="-40" dirty="0"/>
              <a:t>efficiently.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Problems</a:t>
            </a:r>
            <a:r>
              <a:rPr spc="-450" dirty="0"/>
              <a:t> </a:t>
            </a:r>
            <a:r>
              <a:rPr spc="-260" dirty="0"/>
              <a:t>in</a:t>
            </a:r>
            <a:r>
              <a:rPr spc="-434" dirty="0"/>
              <a:t> </a:t>
            </a:r>
            <a:r>
              <a:rPr spc="-204" dirty="0"/>
              <a:t>Framing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2874645"/>
            <a:ext cx="10515600" cy="3302000"/>
          </a:xfrm>
          <a:custGeom>
            <a:avLst/>
            <a:gdLst/>
            <a:ahLst/>
            <a:cxnLst/>
            <a:rect l="l" t="t" r="r" b="b"/>
            <a:pathLst>
              <a:path w="10515600" h="3302000">
                <a:moveTo>
                  <a:pt x="0" y="3301390"/>
                </a:moveTo>
                <a:lnTo>
                  <a:pt x="10515600" y="3301390"/>
                </a:lnTo>
              </a:path>
              <a:path w="10515600" h="3302000">
                <a:moveTo>
                  <a:pt x="0" y="2200910"/>
                </a:moveTo>
                <a:lnTo>
                  <a:pt x="10515600" y="2200910"/>
                </a:lnTo>
              </a:path>
              <a:path w="10515600" h="3302000">
                <a:moveTo>
                  <a:pt x="0" y="1100454"/>
                </a:moveTo>
                <a:lnTo>
                  <a:pt x="10515600" y="1100454"/>
                </a:lnTo>
              </a:path>
              <a:path w="10515600" h="33020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9050">
            <a:solidFill>
              <a:srgbClr val="186B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92448" y="2552826"/>
            <a:ext cx="381000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60" dirty="0">
                <a:latin typeface="Trebuchet MS"/>
                <a:cs typeface="Trebuchet MS"/>
              </a:rPr>
              <a:t>frame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130" dirty="0">
                <a:latin typeface="Trebuchet MS"/>
                <a:cs typeface="Trebuchet MS"/>
              </a:rPr>
              <a:t>i.e.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85" dirty="0">
                <a:latin typeface="Trebuchet MS"/>
                <a:cs typeface="Trebuchet MS"/>
              </a:rPr>
              <a:t>SFD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(Starting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Frame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Delimiter).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28675" y="1816989"/>
            <a:ext cx="2753360" cy="1067435"/>
            <a:chOff x="828675" y="1816989"/>
            <a:chExt cx="2753360" cy="1067435"/>
          </a:xfrm>
        </p:grpSpPr>
        <p:sp>
          <p:nvSpPr>
            <p:cNvPr id="6" name="object 6"/>
            <p:cNvSpPr/>
            <p:nvPr/>
          </p:nvSpPr>
          <p:spPr>
            <a:xfrm>
              <a:off x="838200" y="1826514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2559304" y="0"/>
                  </a:moveTo>
                  <a:lnTo>
                    <a:pt x="174713" y="0"/>
                  </a:lnTo>
                  <a:lnTo>
                    <a:pt x="128267" y="6241"/>
                  </a:lnTo>
                  <a:lnTo>
                    <a:pt x="86531" y="23857"/>
                  </a:lnTo>
                  <a:lnTo>
                    <a:pt x="51171" y="51181"/>
                  </a:lnTo>
                  <a:lnTo>
                    <a:pt x="23852" y="86548"/>
                  </a:lnTo>
                  <a:lnTo>
                    <a:pt x="6240" y="128293"/>
                  </a:lnTo>
                  <a:lnTo>
                    <a:pt x="0" y="174751"/>
                  </a:lnTo>
                  <a:lnTo>
                    <a:pt x="0" y="1048131"/>
                  </a:lnTo>
                  <a:lnTo>
                    <a:pt x="2734055" y="1048131"/>
                  </a:lnTo>
                  <a:lnTo>
                    <a:pt x="2734055" y="174751"/>
                  </a:lnTo>
                  <a:lnTo>
                    <a:pt x="2727814" y="128293"/>
                  </a:lnTo>
                  <a:lnTo>
                    <a:pt x="2710198" y="86548"/>
                  </a:lnTo>
                  <a:lnTo>
                    <a:pt x="2682874" y="51180"/>
                  </a:lnTo>
                  <a:lnTo>
                    <a:pt x="2647507" y="23857"/>
                  </a:lnTo>
                  <a:lnTo>
                    <a:pt x="2605762" y="6241"/>
                  </a:lnTo>
                  <a:lnTo>
                    <a:pt x="2559304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8200" y="1826514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174713" y="0"/>
                  </a:moveTo>
                  <a:lnTo>
                    <a:pt x="2559304" y="0"/>
                  </a:lnTo>
                  <a:lnTo>
                    <a:pt x="2605762" y="6241"/>
                  </a:lnTo>
                  <a:lnTo>
                    <a:pt x="2647507" y="23857"/>
                  </a:lnTo>
                  <a:lnTo>
                    <a:pt x="2682874" y="51180"/>
                  </a:lnTo>
                  <a:lnTo>
                    <a:pt x="2710198" y="86548"/>
                  </a:lnTo>
                  <a:lnTo>
                    <a:pt x="2727814" y="128293"/>
                  </a:lnTo>
                  <a:lnTo>
                    <a:pt x="2734055" y="174751"/>
                  </a:lnTo>
                  <a:lnTo>
                    <a:pt x="2734055" y="1048131"/>
                  </a:lnTo>
                  <a:lnTo>
                    <a:pt x="0" y="1048131"/>
                  </a:lnTo>
                  <a:lnTo>
                    <a:pt x="0" y="174751"/>
                  </a:lnTo>
                  <a:lnTo>
                    <a:pt x="6240" y="128293"/>
                  </a:lnTo>
                  <a:lnTo>
                    <a:pt x="23852" y="86548"/>
                  </a:lnTo>
                  <a:lnTo>
                    <a:pt x="51171" y="51181"/>
                  </a:lnTo>
                  <a:lnTo>
                    <a:pt x="86531" y="23857"/>
                  </a:lnTo>
                  <a:lnTo>
                    <a:pt x="128267" y="6241"/>
                  </a:lnTo>
                  <a:lnTo>
                    <a:pt x="174713" y="0"/>
                  </a:lnTo>
                  <a:close/>
                </a:path>
              </a:pathLst>
            </a:custGeom>
            <a:ln w="1905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30960" y="2016379"/>
            <a:ext cx="10401935" cy="58420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673985" marR="5080" indent="-2661920">
              <a:lnSpc>
                <a:spcPct val="86900"/>
              </a:lnSpc>
              <a:spcBef>
                <a:spcPts val="440"/>
              </a:spcBef>
              <a:tabLst>
                <a:tab pos="2673985" algn="l"/>
              </a:tabLst>
            </a:pPr>
            <a:r>
              <a:rPr sz="3300" spc="-82" baseline="1262" dirty="0">
                <a:solidFill>
                  <a:srgbClr val="FFFFFF"/>
                </a:solidFill>
                <a:latin typeface="Trebuchet MS"/>
                <a:cs typeface="Trebuchet MS"/>
              </a:rPr>
              <a:t>Detecting</a:t>
            </a:r>
            <a:r>
              <a:rPr sz="3300" spc="-225" baseline="1262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-104" baseline="1262" dirty="0">
                <a:solidFill>
                  <a:srgbClr val="FFFFFF"/>
                </a:solidFill>
                <a:latin typeface="Trebuchet MS"/>
                <a:cs typeface="Trebuchet MS"/>
              </a:rPr>
              <a:t>start</a:t>
            </a:r>
            <a:r>
              <a:rPr sz="3300" spc="-254" baseline="1262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-104" baseline="1262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3300" spc="-270" baseline="1262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-37" baseline="1262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300" baseline="1262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1700" dirty="0">
                <a:latin typeface="Trebuchet MS"/>
                <a:cs typeface="Trebuchet MS"/>
              </a:rPr>
              <a:t>When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frame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transmitted,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every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station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must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be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able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detect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125" dirty="0">
                <a:latin typeface="Trebuchet MS"/>
                <a:cs typeface="Trebuchet MS"/>
              </a:rPr>
              <a:t>it.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Station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detects </a:t>
            </a:r>
            <a:r>
              <a:rPr sz="1700" spc="-25" dirty="0">
                <a:latin typeface="Trebuchet MS"/>
                <a:cs typeface="Trebuchet MS"/>
              </a:rPr>
              <a:t>frames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by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looking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out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for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special</a:t>
            </a:r>
            <a:r>
              <a:rPr sz="1700" spc="-16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sequence</a:t>
            </a:r>
            <a:r>
              <a:rPr sz="1700" spc="-17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bits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that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marks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beginning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the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2638" y="2315082"/>
            <a:ext cx="8064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75" dirty="0">
                <a:solidFill>
                  <a:srgbClr val="FFFFFF"/>
                </a:solidFill>
                <a:latin typeface="Trebuchet MS"/>
                <a:cs typeface="Trebuchet MS"/>
              </a:rPr>
              <a:t>frame: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92448" y="3415665"/>
            <a:ext cx="7442200" cy="5232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870"/>
              </a:lnSpc>
              <a:spcBef>
                <a:spcPts val="305"/>
              </a:spcBef>
            </a:pPr>
            <a:r>
              <a:rPr sz="1700" spc="-60" dirty="0">
                <a:latin typeface="Trebuchet MS"/>
                <a:cs typeface="Trebuchet MS"/>
              </a:rPr>
              <a:t>detected,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sequential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circuit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alerts</a:t>
            </a:r>
            <a:r>
              <a:rPr sz="1700" spc="-8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station.</a:t>
            </a:r>
            <a:r>
              <a:rPr sz="1700" spc="-80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Station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checks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destination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address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to </a:t>
            </a:r>
            <a:r>
              <a:rPr sz="1700" spc="-10" dirty="0">
                <a:latin typeface="Trebuchet MS"/>
                <a:cs typeface="Trebuchet MS"/>
              </a:rPr>
              <a:t>accept</a:t>
            </a:r>
            <a:r>
              <a:rPr sz="1700" spc="-17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or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reject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frame.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28675" y="2917444"/>
            <a:ext cx="2753360" cy="1067435"/>
            <a:chOff x="828675" y="2917444"/>
            <a:chExt cx="2753360" cy="1067435"/>
          </a:xfrm>
        </p:grpSpPr>
        <p:sp>
          <p:nvSpPr>
            <p:cNvPr id="12" name="object 12"/>
            <p:cNvSpPr/>
            <p:nvPr/>
          </p:nvSpPr>
          <p:spPr>
            <a:xfrm>
              <a:off x="838200" y="2926969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2559304" y="0"/>
                  </a:moveTo>
                  <a:lnTo>
                    <a:pt x="174713" y="0"/>
                  </a:lnTo>
                  <a:lnTo>
                    <a:pt x="128267" y="6241"/>
                  </a:lnTo>
                  <a:lnTo>
                    <a:pt x="86531" y="23857"/>
                  </a:lnTo>
                  <a:lnTo>
                    <a:pt x="51171" y="51181"/>
                  </a:lnTo>
                  <a:lnTo>
                    <a:pt x="23852" y="86548"/>
                  </a:lnTo>
                  <a:lnTo>
                    <a:pt x="6240" y="128293"/>
                  </a:lnTo>
                  <a:lnTo>
                    <a:pt x="0" y="174751"/>
                  </a:lnTo>
                  <a:lnTo>
                    <a:pt x="0" y="1048130"/>
                  </a:lnTo>
                  <a:lnTo>
                    <a:pt x="2734055" y="1048130"/>
                  </a:lnTo>
                  <a:lnTo>
                    <a:pt x="2734055" y="174751"/>
                  </a:lnTo>
                  <a:lnTo>
                    <a:pt x="2727814" y="128293"/>
                  </a:lnTo>
                  <a:lnTo>
                    <a:pt x="2710198" y="86548"/>
                  </a:lnTo>
                  <a:lnTo>
                    <a:pt x="2682874" y="51180"/>
                  </a:lnTo>
                  <a:lnTo>
                    <a:pt x="2647507" y="23857"/>
                  </a:lnTo>
                  <a:lnTo>
                    <a:pt x="2605762" y="6241"/>
                  </a:lnTo>
                  <a:lnTo>
                    <a:pt x="2559304" y="0"/>
                  </a:lnTo>
                  <a:close/>
                </a:path>
              </a:pathLst>
            </a:custGeom>
            <a:solidFill>
              <a:srgbClr val="178B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8200" y="2926969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174713" y="0"/>
                  </a:moveTo>
                  <a:lnTo>
                    <a:pt x="2559304" y="0"/>
                  </a:lnTo>
                  <a:lnTo>
                    <a:pt x="2605762" y="6241"/>
                  </a:lnTo>
                  <a:lnTo>
                    <a:pt x="2647507" y="23857"/>
                  </a:lnTo>
                  <a:lnTo>
                    <a:pt x="2682874" y="51180"/>
                  </a:lnTo>
                  <a:lnTo>
                    <a:pt x="2710198" y="86548"/>
                  </a:lnTo>
                  <a:lnTo>
                    <a:pt x="2727814" y="128293"/>
                  </a:lnTo>
                  <a:lnTo>
                    <a:pt x="2734055" y="174751"/>
                  </a:lnTo>
                  <a:lnTo>
                    <a:pt x="2734055" y="1048130"/>
                  </a:lnTo>
                  <a:lnTo>
                    <a:pt x="0" y="1048130"/>
                  </a:lnTo>
                  <a:lnTo>
                    <a:pt x="0" y="174751"/>
                  </a:lnTo>
                  <a:lnTo>
                    <a:pt x="6240" y="128293"/>
                  </a:lnTo>
                  <a:lnTo>
                    <a:pt x="23852" y="86548"/>
                  </a:lnTo>
                  <a:lnTo>
                    <a:pt x="51171" y="51181"/>
                  </a:lnTo>
                  <a:lnTo>
                    <a:pt x="86531" y="23857"/>
                  </a:lnTo>
                  <a:lnTo>
                    <a:pt x="128267" y="6241"/>
                  </a:lnTo>
                  <a:lnTo>
                    <a:pt x="174713" y="0"/>
                  </a:lnTo>
                  <a:close/>
                </a:path>
              </a:pathLst>
            </a:custGeom>
            <a:ln w="19050">
              <a:solidFill>
                <a:srgbClr val="178B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23340" y="3116961"/>
            <a:ext cx="100412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81605" algn="l"/>
              </a:tabLst>
            </a:pPr>
            <a:r>
              <a:rPr sz="3300" baseline="1262" dirty="0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sz="3300" spc="-217" baseline="1262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baseline="1262" dirty="0">
                <a:solidFill>
                  <a:srgbClr val="FFFFFF"/>
                </a:solidFill>
                <a:latin typeface="Trebuchet MS"/>
                <a:cs typeface="Trebuchet MS"/>
              </a:rPr>
              <a:t>does</a:t>
            </a:r>
            <a:r>
              <a:rPr sz="3300" spc="-225" baseline="1262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-127" baseline="1262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300" spc="-232" baseline="1262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-15" baseline="1262" dirty="0">
                <a:solidFill>
                  <a:srgbClr val="FFFFFF"/>
                </a:solidFill>
                <a:latin typeface="Trebuchet MS"/>
                <a:cs typeface="Trebuchet MS"/>
              </a:rPr>
              <a:t>station</a:t>
            </a:r>
            <a:r>
              <a:rPr sz="3300" baseline="1262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1700" spc="-55" dirty="0">
                <a:latin typeface="Trebuchet MS"/>
                <a:cs typeface="Trebuchet MS"/>
              </a:rPr>
              <a:t>Every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station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listens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link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for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85" dirty="0">
                <a:latin typeface="Trebuchet MS"/>
                <a:cs typeface="Trebuchet MS"/>
              </a:rPr>
              <a:t>SFD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pattern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through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sequential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circuit.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If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85" dirty="0">
                <a:latin typeface="Trebuchet MS"/>
                <a:cs typeface="Trebuchet MS"/>
              </a:rPr>
              <a:t>SFD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is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82953" y="3415665"/>
            <a:ext cx="1844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80" dirty="0">
                <a:solidFill>
                  <a:srgbClr val="FFFFFF"/>
                </a:solidFill>
                <a:latin typeface="Trebuchet MS"/>
                <a:cs typeface="Trebuchet MS"/>
              </a:rPr>
              <a:t>detect</a:t>
            </a:r>
            <a:r>
              <a:rPr sz="22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2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Trebuchet MS"/>
                <a:cs typeface="Trebuchet MS"/>
              </a:rPr>
              <a:t>frame: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92448" y="4754626"/>
            <a:ext cx="29857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rebuchet MS"/>
                <a:cs typeface="Trebuchet MS"/>
              </a:rPr>
              <a:t>When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stop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reading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frame.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28675" y="4018026"/>
            <a:ext cx="2753360" cy="1067435"/>
            <a:chOff x="828675" y="4018026"/>
            <a:chExt cx="2753360" cy="1067435"/>
          </a:xfrm>
        </p:grpSpPr>
        <p:sp>
          <p:nvSpPr>
            <p:cNvPr id="18" name="object 18"/>
            <p:cNvSpPr/>
            <p:nvPr/>
          </p:nvSpPr>
          <p:spPr>
            <a:xfrm>
              <a:off x="838200" y="4027551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2559304" y="0"/>
                  </a:moveTo>
                  <a:lnTo>
                    <a:pt x="174713" y="0"/>
                  </a:lnTo>
                  <a:lnTo>
                    <a:pt x="128267" y="6232"/>
                  </a:lnTo>
                  <a:lnTo>
                    <a:pt x="86531" y="23824"/>
                  </a:lnTo>
                  <a:lnTo>
                    <a:pt x="51171" y="51117"/>
                  </a:lnTo>
                  <a:lnTo>
                    <a:pt x="23852" y="86454"/>
                  </a:lnTo>
                  <a:lnTo>
                    <a:pt x="6240" y="128175"/>
                  </a:lnTo>
                  <a:lnTo>
                    <a:pt x="0" y="174625"/>
                  </a:lnTo>
                  <a:lnTo>
                    <a:pt x="0" y="1048004"/>
                  </a:lnTo>
                  <a:lnTo>
                    <a:pt x="2734055" y="1048004"/>
                  </a:lnTo>
                  <a:lnTo>
                    <a:pt x="2734055" y="174625"/>
                  </a:lnTo>
                  <a:lnTo>
                    <a:pt x="2727814" y="128175"/>
                  </a:lnTo>
                  <a:lnTo>
                    <a:pt x="2710198" y="86454"/>
                  </a:lnTo>
                  <a:lnTo>
                    <a:pt x="2682874" y="51117"/>
                  </a:lnTo>
                  <a:lnTo>
                    <a:pt x="2647507" y="23824"/>
                  </a:lnTo>
                  <a:lnTo>
                    <a:pt x="2605762" y="6232"/>
                  </a:lnTo>
                  <a:lnTo>
                    <a:pt x="2559304" y="0"/>
                  </a:lnTo>
                  <a:close/>
                </a:path>
              </a:pathLst>
            </a:custGeom>
            <a:solidFill>
              <a:srgbClr val="15A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38200" y="4027551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174713" y="0"/>
                  </a:moveTo>
                  <a:lnTo>
                    <a:pt x="2559304" y="0"/>
                  </a:lnTo>
                  <a:lnTo>
                    <a:pt x="2605762" y="6232"/>
                  </a:lnTo>
                  <a:lnTo>
                    <a:pt x="2647507" y="23824"/>
                  </a:lnTo>
                  <a:lnTo>
                    <a:pt x="2682874" y="51117"/>
                  </a:lnTo>
                  <a:lnTo>
                    <a:pt x="2710198" y="86454"/>
                  </a:lnTo>
                  <a:lnTo>
                    <a:pt x="2727814" y="128175"/>
                  </a:lnTo>
                  <a:lnTo>
                    <a:pt x="2734055" y="174625"/>
                  </a:lnTo>
                  <a:lnTo>
                    <a:pt x="2734055" y="1048004"/>
                  </a:lnTo>
                  <a:lnTo>
                    <a:pt x="0" y="1048004"/>
                  </a:lnTo>
                  <a:lnTo>
                    <a:pt x="0" y="174625"/>
                  </a:lnTo>
                  <a:lnTo>
                    <a:pt x="6240" y="128175"/>
                  </a:lnTo>
                  <a:lnTo>
                    <a:pt x="23852" y="86454"/>
                  </a:lnTo>
                  <a:lnTo>
                    <a:pt x="51171" y="51117"/>
                  </a:lnTo>
                  <a:lnTo>
                    <a:pt x="86531" y="23824"/>
                  </a:lnTo>
                  <a:lnTo>
                    <a:pt x="128267" y="6232"/>
                  </a:lnTo>
                  <a:lnTo>
                    <a:pt x="174713" y="0"/>
                  </a:lnTo>
                  <a:close/>
                </a:path>
              </a:pathLst>
            </a:custGeom>
            <a:ln w="19050">
              <a:solidFill>
                <a:srgbClr val="15AE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203756" y="4208526"/>
            <a:ext cx="2001520" cy="668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30"/>
              </a:lnSpc>
              <a:spcBef>
                <a:spcPts val="95"/>
              </a:spcBef>
            </a:pPr>
            <a:r>
              <a:rPr sz="2200" spc="-55" dirty="0">
                <a:solidFill>
                  <a:srgbClr val="FFFFFF"/>
                </a:solidFill>
                <a:latin typeface="Trebuchet MS"/>
                <a:cs typeface="Trebuchet MS"/>
              </a:rPr>
              <a:t>Detecting</a:t>
            </a:r>
            <a:r>
              <a:rPr sz="22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rebuchet MS"/>
                <a:cs typeface="Trebuchet MS"/>
              </a:rPr>
              <a:t>end</a:t>
            </a:r>
            <a:r>
              <a:rPr sz="22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endParaRPr sz="2200">
              <a:latin typeface="Trebuchet MS"/>
              <a:cs typeface="Trebuchet MS"/>
            </a:endParaRPr>
          </a:p>
          <a:p>
            <a:pPr marL="2540" algn="ctr">
              <a:lnSpc>
                <a:spcPts val="2530"/>
              </a:lnSpc>
            </a:pPr>
            <a:r>
              <a:rPr sz="2200" spc="-10" dirty="0">
                <a:solidFill>
                  <a:srgbClr val="FFFFFF"/>
                </a:solidFill>
                <a:latin typeface="Trebuchet MS"/>
                <a:cs typeface="Trebuchet MS"/>
              </a:rPr>
              <a:t>frame: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92448" y="5143627"/>
            <a:ext cx="7650480" cy="9975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275"/>
              </a:spcBef>
            </a:pPr>
            <a:r>
              <a:rPr sz="1700" spc="-45" dirty="0">
                <a:latin typeface="Trebuchet MS"/>
                <a:cs typeface="Trebuchet MS"/>
              </a:rPr>
              <a:t>Framing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errors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may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occur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due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noise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or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other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transmission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errors,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which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can </a:t>
            </a:r>
            <a:r>
              <a:rPr sz="1700" dirty="0">
                <a:latin typeface="Trebuchet MS"/>
                <a:cs typeface="Trebuchet MS"/>
              </a:rPr>
              <a:t>cause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station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misinterpret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frame.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Therefore,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error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detection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correction </a:t>
            </a:r>
            <a:r>
              <a:rPr sz="1700" dirty="0">
                <a:latin typeface="Trebuchet MS"/>
                <a:cs typeface="Trebuchet MS"/>
              </a:rPr>
              <a:t>mechanisms,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50" dirty="0">
                <a:latin typeface="Trebuchet MS"/>
                <a:cs typeface="Trebuchet MS"/>
              </a:rPr>
              <a:t>such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70" dirty="0">
                <a:latin typeface="Trebuchet MS"/>
                <a:cs typeface="Trebuchet MS"/>
              </a:rPr>
              <a:t>as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cyclic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redundancy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check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(CRC),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are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used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ensure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the </a:t>
            </a:r>
            <a:r>
              <a:rPr sz="1700" spc="-85" dirty="0">
                <a:latin typeface="Trebuchet MS"/>
                <a:cs typeface="Trebuchet MS"/>
              </a:rPr>
              <a:t>integrity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frame.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28675" y="5118480"/>
            <a:ext cx="2753360" cy="1067435"/>
            <a:chOff x="828675" y="5118480"/>
            <a:chExt cx="2753360" cy="1067435"/>
          </a:xfrm>
        </p:grpSpPr>
        <p:sp>
          <p:nvSpPr>
            <p:cNvPr id="23" name="object 23"/>
            <p:cNvSpPr/>
            <p:nvPr/>
          </p:nvSpPr>
          <p:spPr>
            <a:xfrm>
              <a:off x="838200" y="5128005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2559304" y="0"/>
                  </a:moveTo>
                  <a:lnTo>
                    <a:pt x="174713" y="0"/>
                  </a:lnTo>
                  <a:lnTo>
                    <a:pt x="128267" y="6241"/>
                  </a:lnTo>
                  <a:lnTo>
                    <a:pt x="86531" y="23852"/>
                  </a:lnTo>
                  <a:lnTo>
                    <a:pt x="51171" y="51165"/>
                  </a:lnTo>
                  <a:lnTo>
                    <a:pt x="23852" y="86510"/>
                  </a:lnTo>
                  <a:lnTo>
                    <a:pt x="6240" y="128220"/>
                  </a:lnTo>
                  <a:lnTo>
                    <a:pt x="0" y="174625"/>
                  </a:lnTo>
                  <a:lnTo>
                    <a:pt x="0" y="1048029"/>
                  </a:lnTo>
                  <a:lnTo>
                    <a:pt x="2734055" y="1048029"/>
                  </a:lnTo>
                  <a:lnTo>
                    <a:pt x="2734055" y="174625"/>
                  </a:lnTo>
                  <a:lnTo>
                    <a:pt x="2727814" y="128220"/>
                  </a:lnTo>
                  <a:lnTo>
                    <a:pt x="2710198" y="86510"/>
                  </a:lnTo>
                  <a:lnTo>
                    <a:pt x="2682874" y="51165"/>
                  </a:lnTo>
                  <a:lnTo>
                    <a:pt x="2647507" y="23852"/>
                  </a:lnTo>
                  <a:lnTo>
                    <a:pt x="2605762" y="6241"/>
                  </a:lnTo>
                  <a:lnTo>
                    <a:pt x="2559304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38200" y="5128005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174713" y="0"/>
                  </a:moveTo>
                  <a:lnTo>
                    <a:pt x="2559304" y="0"/>
                  </a:lnTo>
                  <a:lnTo>
                    <a:pt x="2605762" y="6241"/>
                  </a:lnTo>
                  <a:lnTo>
                    <a:pt x="2647507" y="23852"/>
                  </a:lnTo>
                  <a:lnTo>
                    <a:pt x="2682874" y="51165"/>
                  </a:lnTo>
                  <a:lnTo>
                    <a:pt x="2710198" y="86510"/>
                  </a:lnTo>
                  <a:lnTo>
                    <a:pt x="2727814" y="128220"/>
                  </a:lnTo>
                  <a:lnTo>
                    <a:pt x="2734055" y="174625"/>
                  </a:lnTo>
                  <a:lnTo>
                    <a:pt x="2734055" y="1048029"/>
                  </a:lnTo>
                  <a:lnTo>
                    <a:pt x="0" y="1048029"/>
                  </a:lnTo>
                  <a:lnTo>
                    <a:pt x="0" y="174625"/>
                  </a:lnTo>
                  <a:lnTo>
                    <a:pt x="6240" y="128220"/>
                  </a:lnTo>
                  <a:lnTo>
                    <a:pt x="23852" y="86510"/>
                  </a:lnTo>
                  <a:lnTo>
                    <a:pt x="51171" y="51165"/>
                  </a:lnTo>
                  <a:lnTo>
                    <a:pt x="86531" y="23852"/>
                  </a:lnTo>
                  <a:lnTo>
                    <a:pt x="128267" y="6241"/>
                  </a:lnTo>
                  <a:lnTo>
                    <a:pt x="174713" y="0"/>
                  </a:lnTo>
                  <a:close/>
                </a:path>
              </a:pathLst>
            </a:custGeom>
            <a:ln w="1905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28140" y="5462727"/>
            <a:ext cx="19545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FFFFFF"/>
                </a:solidFill>
                <a:latin typeface="Trebuchet MS"/>
                <a:cs typeface="Trebuchet MS"/>
              </a:rPr>
              <a:t>Handling</a:t>
            </a:r>
            <a:r>
              <a:rPr sz="22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Trebuchet MS"/>
                <a:cs typeface="Trebuchet MS"/>
              </a:rPr>
              <a:t>errors: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Problems</a:t>
            </a:r>
            <a:r>
              <a:rPr spc="-450" dirty="0"/>
              <a:t> </a:t>
            </a:r>
            <a:r>
              <a:rPr spc="-260" dirty="0"/>
              <a:t>in</a:t>
            </a:r>
            <a:r>
              <a:rPr spc="-434" dirty="0"/>
              <a:t> </a:t>
            </a:r>
            <a:r>
              <a:rPr spc="-204" dirty="0"/>
              <a:t>Framing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2874645"/>
            <a:ext cx="10515600" cy="3302000"/>
          </a:xfrm>
          <a:custGeom>
            <a:avLst/>
            <a:gdLst/>
            <a:ahLst/>
            <a:cxnLst/>
            <a:rect l="l" t="t" r="r" b="b"/>
            <a:pathLst>
              <a:path w="10515600" h="3302000">
                <a:moveTo>
                  <a:pt x="0" y="3301390"/>
                </a:moveTo>
                <a:lnTo>
                  <a:pt x="10515600" y="3301390"/>
                </a:lnTo>
              </a:path>
              <a:path w="10515600" h="3302000">
                <a:moveTo>
                  <a:pt x="0" y="2200910"/>
                </a:moveTo>
                <a:lnTo>
                  <a:pt x="10515600" y="2200910"/>
                </a:lnTo>
              </a:path>
              <a:path w="10515600" h="3302000">
                <a:moveTo>
                  <a:pt x="0" y="1100454"/>
                </a:moveTo>
                <a:lnTo>
                  <a:pt x="10515600" y="1100454"/>
                </a:lnTo>
              </a:path>
              <a:path w="10515600" h="33020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9050">
            <a:solidFill>
              <a:srgbClr val="186B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92448" y="1841754"/>
            <a:ext cx="7640955" cy="9969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275"/>
              </a:spcBef>
            </a:pPr>
            <a:r>
              <a:rPr sz="1700" spc="-55" dirty="0">
                <a:latin typeface="Trebuchet MS"/>
                <a:cs typeface="Trebuchet MS"/>
              </a:rPr>
              <a:t>Every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frame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has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header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trailer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that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contains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control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information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55" dirty="0">
                <a:latin typeface="Trebuchet MS"/>
                <a:cs typeface="Trebuchet MS"/>
              </a:rPr>
              <a:t>such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50" dirty="0">
                <a:latin typeface="Trebuchet MS"/>
                <a:cs typeface="Trebuchet MS"/>
              </a:rPr>
              <a:t>as </a:t>
            </a:r>
            <a:r>
              <a:rPr sz="1700" dirty="0">
                <a:latin typeface="Trebuchet MS"/>
                <a:cs typeface="Trebuchet MS"/>
              </a:rPr>
              <a:t>source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destination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address,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error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detection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code,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other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protocol-</a:t>
            </a:r>
            <a:r>
              <a:rPr sz="1700" spc="-10" dirty="0">
                <a:latin typeface="Trebuchet MS"/>
                <a:cs typeface="Trebuchet MS"/>
              </a:rPr>
              <a:t>related </a:t>
            </a:r>
            <a:r>
              <a:rPr sz="1700" spc="-60" dirty="0">
                <a:latin typeface="Trebuchet MS"/>
                <a:cs typeface="Trebuchet MS"/>
              </a:rPr>
              <a:t>information.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This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overhead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reduces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available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bandwidth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for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data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transmission, </a:t>
            </a:r>
            <a:r>
              <a:rPr sz="1700" spc="-25" dirty="0">
                <a:latin typeface="Trebuchet MS"/>
                <a:cs typeface="Trebuchet MS"/>
              </a:rPr>
              <a:t>especially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for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small-</a:t>
            </a:r>
            <a:r>
              <a:rPr sz="1700" spc="-25" dirty="0">
                <a:latin typeface="Trebuchet MS"/>
                <a:cs typeface="Trebuchet MS"/>
              </a:rPr>
              <a:t>sized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frames.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28675" y="1816989"/>
            <a:ext cx="2753360" cy="1067435"/>
            <a:chOff x="828675" y="1816989"/>
            <a:chExt cx="2753360" cy="1067435"/>
          </a:xfrm>
        </p:grpSpPr>
        <p:sp>
          <p:nvSpPr>
            <p:cNvPr id="6" name="object 6"/>
            <p:cNvSpPr/>
            <p:nvPr/>
          </p:nvSpPr>
          <p:spPr>
            <a:xfrm>
              <a:off x="838200" y="1826514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2559304" y="0"/>
                  </a:moveTo>
                  <a:lnTo>
                    <a:pt x="174713" y="0"/>
                  </a:lnTo>
                  <a:lnTo>
                    <a:pt x="128267" y="6241"/>
                  </a:lnTo>
                  <a:lnTo>
                    <a:pt x="86531" y="23857"/>
                  </a:lnTo>
                  <a:lnTo>
                    <a:pt x="51171" y="51181"/>
                  </a:lnTo>
                  <a:lnTo>
                    <a:pt x="23852" y="86548"/>
                  </a:lnTo>
                  <a:lnTo>
                    <a:pt x="6240" y="128293"/>
                  </a:lnTo>
                  <a:lnTo>
                    <a:pt x="0" y="174751"/>
                  </a:lnTo>
                  <a:lnTo>
                    <a:pt x="0" y="1048131"/>
                  </a:lnTo>
                  <a:lnTo>
                    <a:pt x="2734055" y="1048131"/>
                  </a:lnTo>
                  <a:lnTo>
                    <a:pt x="2734055" y="174751"/>
                  </a:lnTo>
                  <a:lnTo>
                    <a:pt x="2727814" y="128293"/>
                  </a:lnTo>
                  <a:lnTo>
                    <a:pt x="2710198" y="86548"/>
                  </a:lnTo>
                  <a:lnTo>
                    <a:pt x="2682874" y="51180"/>
                  </a:lnTo>
                  <a:lnTo>
                    <a:pt x="2647507" y="23857"/>
                  </a:lnTo>
                  <a:lnTo>
                    <a:pt x="2605762" y="6241"/>
                  </a:lnTo>
                  <a:lnTo>
                    <a:pt x="2559304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8200" y="1826514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174713" y="0"/>
                  </a:moveTo>
                  <a:lnTo>
                    <a:pt x="2559304" y="0"/>
                  </a:lnTo>
                  <a:lnTo>
                    <a:pt x="2605762" y="6241"/>
                  </a:lnTo>
                  <a:lnTo>
                    <a:pt x="2647507" y="23857"/>
                  </a:lnTo>
                  <a:lnTo>
                    <a:pt x="2682874" y="51180"/>
                  </a:lnTo>
                  <a:lnTo>
                    <a:pt x="2710198" y="86548"/>
                  </a:lnTo>
                  <a:lnTo>
                    <a:pt x="2727814" y="128293"/>
                  </a:lnTo>
                  <a:lnTo>
                    <a:pt x="2734055" y="174751"/>
                  </a:lnTo>
                  <a:lnTo>
                    <a:pt x="2734055" y="1048131"/>
                  </a:lnTo>
                  <a:lnTo>
                    <a:pt x="0" y="1048131"/>
                  </a:lnTo>
                  <a:lnTo>
                    <a:pt x="0" y="174751"/>
                  </a:lnTo>
                  <a:lnTo>
                    <a:pt x="6240" y="128293"/>
                  </a:lnTo>
                  <a:lnTo>
                    <a:pt x="23852" y="86548"/>
                  </a:lnTo>
                  <a:lnTo>
                    <a:pt x="51171" y="51181"/>
                  </a:lnTo>
                  <a:lnTo>
                    <a:pt x="86531" y="23857"/>
                  </a:lnTo>
                  <a:lnTo>
                    <a:pt x="128267" y="6241"/>
                  </a:lnTo>
                  <a:lnTo>
                    <a:pt x="174713" y="0"/>
                  </a:lnTo>
                  <a:close/>
                </a:path>
              </a:pathLst>
            </a:custGeom>
            <a:ln w="1905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54022" y="1925192"/>
            <a:ext cx="1502410" cy="8153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indent="141605">
              <a:lnSpc>
                <a:spcPts val="2980"/>
              </a:lnSpc>
              <a:spcBef>
                <a:spcPts val="415"/>
              </a:spcBef>
            </a:pPr>
            <a:r>
              <a:rPr sz="2700" spc="-10" dirty="0">
                <a:solidFill>
                  <a:srgbClr val="FFFFFF"/>
                </a:solidFill>
                <a:latin typeface="Trebuchet MS"/>
                <a:cs typeface="Trebuchet MS"/>
              </a:rPr>
              <a:t>Framing </a:t>
            </a:r>
            <a:r>
              <a:rPr sz="2700" spc="-70" dirty="0">
                <a:solidFill>
                  <a:srgbClr val="FFFFFF"/>
                </a:solidFill>
                <a:latin typeface="Trebuchet MS"/>
                <a:cs typeface="Trebuchet MS"/>
              </a:rPr>
              <a:t>overhead: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2448" y="2942336"/>
            <a:ext cx="7693659" cy="9969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275"/>
              </a:spcBef>
            </a:pPr>
            <a:r>
              <a:rPr sz="1700" spc="-70" dirty="0">
                <a:latin typeface="Trebuchet MS"/>
                <a:cs typeface="Trebuchet MS"/>
              </a:rPr>
              <a:t>Different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networking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devices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protocols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may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use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different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framing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methods, which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can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lead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framing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incompatibility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issues.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For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example,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110" dirty="0">
                <a:latin typeface="Trebuchet MS"/>
                <a:cs typeface="Trebuchet MS"/>
              </a:rPr>
              <a:t>if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device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using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one </a:t>
            </a:r>
            <a:r>
              <a:rPr sz="1700" spc="-60" dirty="0">
                <a:latin typeface="Trebuchet MS"/>
                <a:cs typeface="Trebuchet MS"/>
              </a:rPr>
              <a:t>framing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method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50" dirty="0">
                <a:latin typeface="Trebuchet MS"/>
                <a:cs typeface="Trebuchet MS"/>
              </a:rPr>
              <a:t>sends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data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device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using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different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framing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method,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the </a:t>
            </a:r>
            <a:r>
              <a:rPr sz="1700" spc="-50" dirty="0">
                <a:latin typeface="Trebuchet MS"/>
                <a:cs typeface="Trebuchet MS"/>
              </a:rPr>
              <a:t>receiving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device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may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not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be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able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correctly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interpret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frame.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28675" y="2917444"/>
            <a:ext cx="2753360" cy="1067435"/>
            <a:chOff x="828675" y="2917444"/>
            <a:chExt cx="2753360" cy="1067435"/>
          </a:xfrm>
        </p:grpSpPr>
        <p:sp>
          <p:nvSpPr>
            <p:cNvPr id="11" name="object 11"/>
            <p:cNvSpPr/>
            <p:nvPr/>
          </p:nvSpPr>
          <p:spPr>
            <a:xfrm>
              <a:off x="838200" y="2926969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2559304" y="0"/>
                  </a:moveTo>
                  <a:lnTo>
                    <a:pt x="174713" y="0"/>
                  </a:lnTo>
                  <a:lnTo>
                    <a:pt x="128267" y="6241"/>
                  </a:lnTo>
                  <a:lnTo>
                    <a:pt x="86531" y="23857"/>
                  </a:lnTo>
                  <a:lnTo>
                    <a:pt x="51171" y="51181"/>
                  </a:lnTo>
                  <a:lnTo>
                    <a:pt x="23852" y="86548"/>
                  </a:lnTo>
                  <a:lnTo>
                    <a:pt x="6240" y="128293"/>
                  </a:lnTo>
                  <a:lnTo>
                    <a:pt x="0" y="174751"/>
                  </a:lnTo>
                  <a:lnTo>
                    <a:pt x="0" y="1048130"/>
                  </a:lnTo>
                  <a:lnTo>
                    <a:pt x="2734055" y="1048130"/>
                  </a:lnTo>
                  <a:lnTo>
                    <a:pt x="2734055" y="174751"/>
                  </a:lnTo>
                  <a:lnTo>
                    <a:pt x="2727814" y="128293"/>
                  </a:lnTo>
                  <a:lnTo>
                    <a:pt x="2710198" y="86548"/>
                  </a:lnTo>
                  <a:lnTo>
                    <a:pt x="2682874" y="51180"/>
                  </a:lnTo>
                  <a:lnTo>
                    <a:pt x="2647507" y="23857"/>
                  </a:lnTo>
                  <a:lnTo>
                    <a:pt x="2605762" y="6241"/>
                  </a:lnTo>
                  <a:lnTo>
                    <a:pt x="2559304" y="0"/>
                  </a:lnTo>
                  <a:close/>
                </a:path>
              </a:pathLst>
            </a:custGeom>
            <a:solidFill>
              <a:srgbClr val="178B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8200" y="2926969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174713" y="0"/>
                  </a:moveTo>
                  <a:lnTo>
                    <a:pt x="2559304" y="0"/>
                  </a:lnTo>
                  <a:lnTo>
                    <a:pt x="2605762" y="6241"/>
                  </a:lnTo>
                  <a:lnTo>
                    <a:pt x="2647507" y="23857"/>
                  </a:lnTo>
                  <a:lnTo>
                    <a:pt x="2682874" y="51180"/>
                  </a:lnTo>
                  <a:lnTo>
                    <a:pt x="2710198" y="86548"/>
                  </a:lnTo>
                  <a:lnTo>
                    <a:pt x="2727814" y="128293"/>
                  </a:lnTo>
                  <a:lnTo>
                    <a:pt x="2734055" y="174751"/>
                  </a:lnTo>
                  <a:lnTo>
                    <a:pt x="2734055" y="1048130"/>
                  </a:lnTo>
                  <a:lnTo>
                    <a:pt x="0" y="1048130"/>
                  </a:lnTo>
                  <a:lnTo>
                    <a:pt x="0" y="174751"/>
                  </a:lnTo>
                  <a:lnTo>
                    <a:pt x="6240" y="128293"/>
                  </a:lnTo>
                  <a:lnTo>
                    <a:pt x="23852" y="86548"/>
                  </a:lnTo>
                  <a:lnTo>
                    <a:pt x="51171" y="51181"/>
                  </a:lnTo>
                  <a:lnTo>
                    <a:pt x="86531" y="23857"/>
                  </a:lnTo>
                  <a:lnTo>
                    <a:pt x="128267" y="6241"/>
                  </a:lnTo>
                  <a:lnTo>
                    <a:pt x="174713" y="0"/>
                  </a:lnTo>
                  <a:close/>
                </a:path>
              </a:pathLst>
            </a:custGeom>
            <a:ln w="19050">
              <a:solidFill>
                <a:srgbClr val="178B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37945" y="3025902"/>
            <a:ext cx="2332990" cy="8153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indent="557530">
              <a:lnSpc>
                <a:spcPts val="2980"/>
              </a:lnSpc>
              <a:spcBef>
                <a:spcPts val="415"/>
              </a:spcBef>
            </a:pPr>
            <a:r>
              <a:rPr sz="2700" spc="-10" dirty="0">
                <a:solidFill>
                  <a:srgbClr val="FFFFFF"/>
                </a:solidFill>
                <a:latin typeface="Trebuchet MS"/>
                <a:cs typeface="Trebuchet MS"/>
              </a:rPr>
              <a:t>Framing </a:t>
            </a:r>
            <a:r>
              <a:rPr sz="2700" spc="-80" dirty="0">
                <a:solidFill>
                  <a:srgbClr val="FFFFFF"/>
                </a:solidFill>
                <a:latin typeface="Trebuchet MS"/>
                <a:cs typeface="Trebuchet MS"/>
              </a:rPr>
              <a:t>incompatibility: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92448" y="4042917"/>
            <a:ext cx="7537450" cy="9969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275"/>
              </a:spcBef>
            </a:pPr>
            <a:r>
              <a:rPr sz="1700" spc="-10" dirty="0">
                <a:latin typeface="Trebuchet MS"/>
                <a:cs typeface="Trebuchet MS"/>
              </a:rPr>
              <a:t>Stations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must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be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synchronized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with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each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other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avoid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collisions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ensure </a:t>
            </a:r>
            <a:r>
              <a:rPr sz="1700" spc="-55" dirty="0">
                <a:latin typeface="Trebuchet MS"/>
                <a:cs typeface="Trebuchet MS"/>
              </a:rPr>
              <a:t>reliable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communication.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Synchronization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requires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that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all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stations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agree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on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the </a:t>
            </a:r>
            <a:r>
              <a:rPr sz="1700" spc="-60" dirty="0">
                <a:latin typeface="Trebuchet MS"/>
                <a:cs typeface="Trebuchet MS"/>
              </a:rPr>
              <a:t>frame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boundaries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timing,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which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can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be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challenging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in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complex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networks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with many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devices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varying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traffic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loads.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28675" y="4018026"/>
            <a:ext cx="2753360" cy="1067435"/>
            <a:chOff x="828675" y="4018026"/>
            <a:chExt cx="2753360" cy="1067435"/>
          </a:xfrm>
        </p:grpSpPr>
        <p:sp>
          <p:nvSpPr>
            <p:cNvPr id="16" name="object 16"/>
            <p:cNvSpPr/>
            <p:nvPr/>
          </p:nvSpPr>
          <p:spPr>
            <a:xfrm>
              <a:off x="838200" y="4027551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2559304" y="0"/>
                  </a:moveTo>
                  <a:lnTo>
                    <a:pt x="174713" y="0"/>
                  </a:lnTo>
                  <a:lnTo>
                    <a:pt x="128267" y="6232"/>
                  </a:lnTo>
                  <a:lnTo>
                    <a:pt x="86531" y="23824"/>
                  </a:lnTo>
                  <a:lnTo>
                    <a:pt x="51171" y="51117"/>
                  </a:lnTo>
                  <a:lnTo>
                    <a:pt x="23852" y="86454"/>
                  </a:lnTo>
                  <a:lnTo>
                    <a:pt x="6240" y="128175"/>
                  </a:lnTo>
                  <a:lnTo>
                    <a:pt x="0" y="174625"/>
                  </a:lnTo>
                  <a:lnTo>
                    <a:pt x="0" y="1048004"/>
                  </a:lnTo>
                  <a:lnTo>
                    <a:pt x="2734055" y="1048004"/>
                  </a:lnTo>
                  <a:lnTo>
                    <a:pt x="2734055" y="174625"/>
                  </a:lnTo>
                  <a:lnTo>
                    <a:pt x="2727814" y="128175"/>
                  </a:lnTo>
                  <a:lnTo>
                    <a:pt x="2710198" y="86454"/>
                  </a:lnTo>
                  <a:lnTo>
                    <a:pt x="2682874" y="51117"/>
                  </a:lnTo>
                  <a:lnTo>
                    <a:pt x="2647507" y="23824"/>
                  </a:lnTo>
                  <a:lnTo>
                    <a:pt x="2605762" y="6232"/>
                  </a:lnTo>
                  <a:lnTo>
                    <a:pt x="2559304" y="0"/>
                  </a:lnTo>
                  <a:close/>
                </a:path>
              </a:pathLst>
            </a:custGeom>
            <a:solidFill>
              <a:srgbClr val="15A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38200" y="4027551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174713" y="0"/>
                  </a:moveTo>
                  <a:lnTo>
                    <a:pt x="2559304" y="0"/>
                  </a:lnTo>
                  <a:lnTo>
                    <a:pt x="2605762" y="6232"/>
                  </a:lnTo>
                  <a:lnTo>
                    <a:pt x="2647507" y="23824"/>
                  </a:lnTo>
                  <a:lnTo>
                    <a:pt x="2682874" y="51117"/>
                  </a:lnTo>
                  <a:lnTo>
                    <a:pt x="2710198" y="86454"/>
                  </a:lnTo>
                  <a:lnTo>
                    <a:pt x="2727814" y="128175"/>
                  </a:lnTo>
                  <a:lnTo>
                    <a:pt x="2734055" y="174625"/>
                  </a:lnTo>
                  <a:lnTo>
                    <a:pt x="2734055" y="1048004"/>
                  </a:lnTo>
                  <a:lnTo>
                    <a:pt x="0" y="1048004"/>
                  </a:lnTo>
                  <a:lnTo>
                    <a:pt x="0" y="174625"/>
                  </a:lnTo>
                  <a:lnTo>
                    <a:pt x="6240" y="128175"/>
                  </a:lnTo>
                  <a:lnTo>
                    <a:pt x="23852" y="86454"/>
                  </a:lnTo>
                  <a:lnTo>
                    <a:pt x="51171" y="51117"/>
                  </a:lnTo>
                  <a:lnTo>
                    <a:pt x="86531" y="23824"/>
                  </a:lnTo>
                  <a:lnTo>
                    <a:pt x="128267" y="6232"/>
                  </a:lnTo>
                  <a:lnTo>
                    <a:pt x="174713" y="0"/>
                  </a:lnTo>
                  <a:close/>
                </a:path>
              </a:pathLst>
            </a:custGeom>
            <a:ln w="19050">
              <a:solidFill>
                <a:srgbClr val="15AE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70889" y="4126483"/>
            <a:ext cx="2468245" cy="8153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indent="624840">
              <a:lnSpc>
                <a:spcPts val="2980"/>
              </a:lnSpc>
              <a:spcBef>
                <a:spcPts val="415"/>
              </a:spcBef>
            </a:pPr>
            <a:r>
              <a:rPr sz="2700" spc="-10" dirty="0">
                <a:solidFill>
                  <a:srgbClr val="FFFFFF"/>
                </a:solidFill>
                <a:latin typeface="Trebuchet MS"/>
                <a:cs typeface="Trebuchet MS"/>
              </a:rPr>
              <a:t>Framing </a:t>
            </a:r>
            <a:r>
              <a:rPr sz="2700" spc="-55" dirty="0">
                <a:solidFill>
                  <a:srgbClr val="FFFFFF"/>
                </a:solidFill>
                <a:latin typeface="Trebuchet MS"/>
                <a:cs typeface="Trebuchet MS"/>
              </a:rPr>
              <a:t>synchronization: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92448" y="5380431"/>
            <a:ext cx="7145655" cy="7600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ct val="91500"/>
              </a:lnSpc>
              <a:spcBef>
                <a:spcPts val="280"/>
              </a:spcBef>
            </a:pPr>
            <a:r>
              <a:rPr sz="1700" spc="-40" dirty="0">
                <a:latin typeface="Trebuchet MS"/>
                <a:cs typeface="Trebuchet MS"/>
              </a:rPr>
              <a:t>Framing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should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be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designed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minimize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amount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data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overhead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while </a:t>
            </a:r>
            <a:r>
              <a:rPr sz="1700" spc="-45" dirty="0">
                <a:latin typeface="Trebuchet MS"/>
                <a:cs typeface="Trebuchet MS"/>
              </a:rPr>
              <a:t>maximizing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available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bandwidth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for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data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transmission.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Inefficient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framing </a:t>
            </a:r>
            <a:r>
              <a:rPr sz="1700" dirty="0">
                <a:latin typeface="Trebuchet MS"/>
                <a:cs typeface="Trebuchet MS"/>
              </a:rPr>
              <a:t>methods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can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lead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lower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network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performance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higher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latency.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28675" y="5118480"/>
            <a:ext cx="2753360" cy="1067435"/>
            <a:chOff x="828675" y="5118480"/>
            <a:chExt cx="2753360" cy="1067435"/>
          </a:xfrm>
        </p:grpSpPr>
        <p:sp>
          <p:nvSpPr>
            <p:cNvPr id="21" name="object 21"/>
            <p:cNvSpPr/>
            <p:nvPr/>
          </p:nvSpPr>
          <p:spPr>
            <a:xfrm>
              <a:off x="838200" y="5128005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2559304" y="0"/>
                  </a:moveTo>
                  <a:lnTo>
                    <a:pt x="174713" y="0"/>
                  </a:lnTo>
                  <a:lnTo>
                    <a:pt x="128267" y="6241"/>
                  </a:lnTo>
                  <a:lnTo>
                    <a:pt x="86531" y="23852"/>
                  </a:lnTo>
                  <a:lnTo>
                    <a:pt x="51171" y="51165"/>
                  </a:lnTo>
                  <a:lnTo>
                    <a:pt x="23852" y="86510"/>
                  </a:lnTo>
                  <a:lnTo>
                    <a:pt x="6240" y="128220"/>
                  </a:lnTo>
                  <a:lnTo>
                    <a:pt x="0" y="174625"/>
                  </a:lnTo>
                  <a:lnTo>
                    <a:pt x="0" y="1048029"/>
                  </a:lnTo>
                  <a:lnTo>
                    <a:pt x="2734055" y="1048029"/>
                  </a:lnTo>
                  <a:lnTo>
                    <a:pt x="2734055" y="174625"/>
                  </a:lnTo>
                  <a:lnTo>
                    <a:pt x="2727814" y="128220"/>
                  </a:lnTo>
                  <a:lnTo>
                    <a:pt x="2710198" y="86510"/>
                  </a:lnTo>
                  <a:lnTo>
                    <a:pt x="2682874" y="51165"/>
                  </a:lnTo>
                  <a:lnTo>
                    <a:pt x="2647507" y="23852"/>
                  </a:lnTo>
                  <a:lnTo>
                    <a:pt x="2605762" y="6241"/>
                  </a:lnTo>
                  <a:lnTo>
                    <a:pt x="2559304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8200" y="5128005"/>
              <a:ext cx="2734310" cy="1048385"/>
            </a:xfrm>
            <a:custGeom>
              <a:avLst/>
              <a:gdLst/>
              <a:ahLst/>
              <a:cxnLst/>
              <a:rect l="l" t="t" r="r" b="b"/>
              <a:pathLst>
                <a:path w="2734310" h="1048385">
                  <a:moveTo>
                    <a:pt x="174713" y="0"/>
                  </a:moveTo>
                  <a:lnTo>
                    <a:pt x="2559304" y="0"/>
                  </a:lnTo>
                  <a:lnTo>
                    <a:pt x="2605762" y="6241"/>
                  </a:lnTo>
                  <a:lnTo>
                    <a:pt x="2647507" y="23852"/>
                  </a:lnTo>
                  <a:lnTo>
                    <a:pt x="2682874" y="51165"/>
                  </a:lnTo>
                  <a:lnTo>
                    <a:pt x="2710198" y="86510"/>
                  </a:lnTo>
                  <a:lnTo>
                    <a:pt x="2727814" y="128220"/>
                  </a:lnTo>
                  <a:lnTo>
                    <a:pt x="2734055" y="174625"/>
                  </a:lnTo>
                  <a:lnTo>
                    <a:pt x="2734055" y="1048029"/>
                  </a:lnTo>
                  <a:lnTo>
                    <a:pt x="0" y="1048029"/>
                  </a:lnTo>
                  <a:lnTo>
                    <a:pt x="0" y="174625"/>
                  </a:lnTo>
                  <a:lnTo>
                    <a:pt x="6240" y="128220"/>
                  </a:lnTo>
                  <a:lnTo>
                    <a:pt x="23852" y="86510"/>
                  </a:lnTo>
                  <a:lnTo>
                    <a:pt x="51171" y="51165"/>
                  </a:lnTo>
                  <a:lnTo>
                    <a:pt x="86531" y="23852"/>
                  </a:lnTo>
                  <a:lnTo>
                    <a:pt x="128267" y="6241"/>
                  </a:lnTo>
                  <a:lnTo>
                    <a:pt x="174713" y="0"/>
                  </a:lnTo>
                  <a:close/>
                </a:path>
              </a:pathLst>
            </a:custGeom>
            <a:ln w="1905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425066" y="5227066"/>
            <a:ext cx="1560195" cy="8153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indent="170180">
              <a:lnSpc>
                <a:spcPts val="2980"/>
              </a:lnSpc>
              <a:spcBef>
                <a:spcPts val="415"/>
              </a:spcBef>
            </a:pPr>
            <a:r>
              <a:rPr sz="2700" spc="-10" dirty="0">
                <a:solidFill>
                  <a:srgbClr val="FFFFFF"/>
                </a:solidFill>
                <a:latin typeface="Trebuchet MS"/>
                <a:cs typeface="Trebuchet MS"/>
              </a:rPr>
              <a:t>Framing </a:t>
            </a:r>
            <a:r>
              <a:rPr sz="2700" spc="-90" dirty="0">
                <a:solidFill>
                  <a:srgbClr val="FFFFFF"/>
                </a:solidFill>
                <a:latin typeface="Trebuchet MS"/>
                <a:cs typeface="Trebuchet MS"/>
              </a:rPr>
              <a:t>efficiency: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Types</a:t>
            </a:r>
            <a:r>
              <a:rPr spc="-455" dirty="0"/>
              <a:t> </a:t>
            </a:r>
            <a:r>
              <a:rPr spc="-265" dirty="0"/>
              <a:t>of</a:t>
            </a:r>
            <a:r>
              <a:rPr spc="-455" dirty="0"/>
              <a:t> </a:t>
            </a:r>
            <a:r>
              <a:rPr spc="-300" dirty="0"/>
              <a:t>framing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825625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70280" y="1872742"/>
            <a:ext cx="1357630" cy="113601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ts val="4180"/>
              </a:lnSpc>
              <a:spcBef>
                <a:spcPts val="560"/>
              </a:spcBef>
            </a:pPr>
            <a:r>
              <a:rPr sz="3800" b="1" spc="-140" dirty="0">
                <a:latin typeface="Trebuchet MS"/>
                <a:cs typeface="Trebuchet MS"/>
              </a:rPr>
              <a:t>Fixed- </a:t>
            </a:r>
            <a:r>
              <a:rPr sz="3800" b="1" spc="-10" dirty="0">
                <a:latin typeface="Trebuchet MS"/>
                <a:cs typeface="Trebuchet MS"/>
              </a:rPr>
              <a:t>size: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4238" y="1948052"/>
            <a:ext cx="3671570" cy="166052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ct val="91500"/>
              </a:lnSpc>
              <a:spcBef>
                <a:spcPts val="335"/>
              </a:spcBef>
            </a:pPr>
            <a:r>
              <a:rPr sz="2300" spc="-95" dirty="0">
                <a:latin typeface="Trebuchet MS"/>
                <a:cs typeface="Trebuchet MS"/>
              </a:rPr>
              <a:t>The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85" dirty="0">
                <a:latin typeface="Trebuchet MS"/>
                <a:cs typeface="Trebuchet MS"/>
              </a:rPr>
              <a:t>frame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of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105" dirty="0">
                <a:latin typeface="Trebuchet MS"/>
                <a:cs typeface="Trebuchet MS"/>
              </a:rPr>
              <a:t>fixed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size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and </a:t>
            </a:r>
            <a:r>
              <a:rPr sz="2300" spc="-95" dirty="0">
                <a:latin typeface="Trebuchet MS"/>
                <a:cs typeface="Trebuchet MS"/>
              </a:rPr>
              <a:t>there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no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35" dirty="0">
                <a:latin typeface="Trebuchet MS"/>
                <a:cs typeface="Trebuchet MS"/>
              </a:rPr>
              <a:t>need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90" dirty="0">
                <a:latin typeface="Trebuchet MS"/>
                <a:cs typeface="Trebuchet MS"/>
              </a:rPr>
              <a:t>to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provide </a:t>
            </a:r>
            <a:r>
              <a:rPr sz="2300" dirty="0">
                <a:latin typeface="Trebuchet MS"/>
                <a:cs typeface="Trebuchet MS"/>
              </a:rPr>
              <a:t>boundaries</a:t>
            </a:r>
            <a:r>
              <a:rPr sz="2300" spc="-229" dirty="0">
                <a:latin typeface="Trebuchet MS"/>
                <a:cs typeface="Trebuchet MS"/>
              </a:rPr>
              <a:t> </a:t>
            </a:r>
            <a:r>
              <a:rPr sz="2300" spc="-90" dirty="0">
                <a:latin typeface="Trebuchet MS"/>
                <a:cs typeface="Trebuchet MS"/>
              </a:rPr>
              <a:t>to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114" dirty="0">
                <a:latin typeface="Trebuchet MS"/>
                <a:cs typeface="Trebuchet MS"/>
              </a:rPr>
              <a:t>frame,</a:t>
            </a:r>
            <a:r>
              <a:rPr sz="2300" spc="-220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the </a:t>
            </a:r>
            <a:r>
              <a:rPr sz="2300" spc="-65" dirty="0">
                <a:latin typeface="Trebuchet MS"/>
                <a:cs typeface="Trebuchet MS"/>
              </a:rPr>
              <a:t>length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of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spc="-85" dirty="0">
                <a:latin typeface="Trebuchet MS"/>
                <a:cs typeface="Trebuchet MS"/>
              </a:rPr>
              <a:t>frame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itself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acts </a:t>
            </a:r>
            <a:r>
              <a:rPr sz="2300" spc="95" dirty="0">
                <a:latin typeface="Trebuchet MS"/>
                <a:cs typeface="Trebuchet MS"/>
              </a:rPr>
              <a:t>as</a:t>
            </a:r>
            <a:r>
              <a:rPr sz="2300" spc="-2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-229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delimiter.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34859" y="1933448"/>
            <a:ext cx="4131310" cy="122809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24790" marR="59690">
              <a:lnSpc>
                <a:spcPts val="1540"/>
              </a:lnSpc>
              <a:spcBef>
                <a:spcPts val="270"/>
              </a:spcBef>
            </a:pPr>
            <a:r>
              <a:rPr sz="1400" b="1" spc="-20" dirty="0">
                <a:latin typeface="Trebuchet MS"/>
                <a:cs typeface="Trebuchet MS"/>
              </a:rPr>
              <a:t>Drawback:</a:t>
            </a:r>
            <a:r>
              <a:rPr sz="1400" b="1" spc="-120" dirty="0">
                <a:latin typeface="Trebuchet MS"/>
                <a:cs typeface="Trebuchet MS"/>
              </a:rPr>
              <a:t> </a:t>
            </a:r>
            <a:r>
              <a:rPr sz="1400" spc="-75" dirty="0">
                <a:latin typeface="Trebuchet MS"/>
                <a:cs typeface="Trebuchet MS"/>
              </a:rPr>
              <a:t>It</a:t>
            </a:r>
            <a:r>
              <a:rPr sz="1400" spc="-9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suffers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45" dirty="0">
                <a:latin typeface="Trebuchet MS"/>
                <a:cs typeface="Trebuchet MS"/>
              </a:rPr>
              <a:t>from</a:t>
            </a:r>
            <a:r>
              <a:rPr sz="1400" spc="-90" dirty="0">
                <a:latin typeface="Trebuchet MS"/>
                <a:cs typeface="Trebuchet MS"/>
              </a:rPr>
              <a:t> </a:t>
            </a:r>
            <a:r>
              <a:rPr sz="1400" spc="-55" dirty="0">
                <a:latin typeface="Trebuchet MS"/>
                <a:cs typeface="Trebuchet MS"/>
              </a:rPr>
              <a:t>internal</a:t>
            </a:r>
            <a:r>
              <a:rPr sz="1400" spc="-90" dirty="0">
                <a:latin typeface="Trebuchet MS"/>
                <a:cs typeface="Trebuchet MS"/>
              </a:rPr>
              <a:t> </a:t>
            </a:r>
            <a:r>
              <a:rPr sz="1400" spc="-45" dirty="0">
                <a:latin typeface="Trebuchet MS"/>
                <a:cs typeface="Trebuchet MS"/>
              </a:rPr>
              <a:t>fragmentation</a:t>
            </a:r>
            <a:r>
              <a:rPr sz="1400" spc="-13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if </a:t>
            </a:r>
            <a:r>
              <a:rPr sz="1400" spc="-50" dirty="0">
                <a:latin typeface="Trebuchet MS"/>
                <a:cs typeface="Trebuchet MS"/>
              </a:rPr>
              <a:t>the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data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size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is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less</a:t>
            </a:r>
            <a:r>
              <a:rPr sz="1400" spc="-95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than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the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frame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size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2685"/>
              </a:lnSpc>
              <a:tabLst>
                <a:tab pos="4117975" algn="l"/>
              </a:tabLst>
            </a:pPr>
            <a:r>
              <a:rPr sz="2300" u="heavy" dirty="0">
                <a:uFill>
                  <a:solidFill>
                    <a:srgbClr val="BBC5CD"/>
                  </a:solidFill>
                </a:uFill>
                <a:latin typeface="Trebuchet MS"/>
                <a:cs typeface="Trebuchet MS"/>
              </a:rPr>
              <a:t>	</a:t>
            </a:r>
            <a:endParaRPr sz="2300">
              <a:latin typeface="Trebuchet MS"/>
              <a:cs typeface="Trebuchet MS"/>
            </a:endParaRPr>
          </a:p>
          <a:p>
            <a:pPr marL="224790">
              <a:lnSpc>
                <a:spcPts val="1605"/>
              </a:lnSpc>
            </a:pPr>
            <a:r>
              <a:rPr sz="1400" b="1" spc="-10" dirty="0">
                <a:latin typeface="Trebuchet MS"/>
                <a:cs typeface="Trebuchet MS"/>
              </a:rPr>
              <a:t>Solution:</a:t>
            </a:r>
            <a:r>
              <a:rPr sz="1400" b="1" spc="-15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Padding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41320" y="3900423"/>
            <a:ext cx="8412480" cy="0"/>
          </a:xfrm>
          <a:custGeom>
            <a:avLst/>
            <a:gdLst/>
            <a:ahLst/>
            <a:cxnLst/>
            <a:rect l="l" t="t" r="r" b="b"/>
            <a:pathLst>
              <a:path w="8412480">
                <a:moveTo>
                  <a:pt x="0" y="0"/>
                </a:moveTo>
                <a:lnTo>
                  <a:pt x="8412480" y="0"/>
                </a:lnTo>
              </a:path>
            </a:pathLst>
          </a:custGeom>
          <a:ln w="19050">
            <a:solidFill>
              <a:srgbClr val="BBC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8200" y="4001261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0280" y="4049014"/>
            <a:ext cx="1833245" cy="113601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ts val="4180"/>
              </a:lnSpc>
              <a:spcBef>
                <a:spcPts val="560"/>
              </a:spcBef>
            </a:pPr>
            <a:r>
              <a:rPr sz="3800" b="1" spc="-70" dirty="0">
                <a:latin typeface="Trebuchet MS"/>
                <a:cs typeface="Trebuchet MS"/>
              </a:rPr>
              <a:t>Variable </a:t>
            </a:r>
            <a:r>
              <a:rPr sz="3800" b="1" spc="-10" dirty="0">
                <a:latin typeface="Trebuchet MS"/>
                <a:cs typeface="Trebuchet MS"/>
              </a:rPr>
              <a:t>size: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74238" y="4124071"/>
            <a:ext cx="3754120" cy="178498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335"/>
              </a:spcBef>
            </a:pPr>
            <a:r>
              <a:rPr sz="2300" spc="-30" dirty="0">
                <a:latin typeface="Trebuchet MS"/>
                <a:cs typeface="Trebuchet MS"/>
              </a:rPr>
              <a:t>In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70" dirty="0">
                <a:latin typeface="Trebuchet MS"/>
                <a:cs typeface="Trebuchet MS"/>
              </a:rPr>
              <a:t>this,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95" dirty="0">
                <a:latin typeface="Trebuchet MS"/>
                <a:cs typeface="Trebuchet MS"/>
              </a:rPr>
              <a:t>there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35" dirty="0">
                <a:latin typeface="Trebuchet MS"/>
                <a:cs typeface="Trebuchet MS"/>
              </a:rPr>
              <a:t>need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to </a:t>
            </a:r>
            <a:r>
              <a:rPr sz="2300" spc="-60" dirty="0">
                <a:latin typeface="Trebuchet MS"/>
                <a:cs typeface="Trebuchet MS"/>
              </a:rPr>
              <a:t>define</a:t>
            </a:r>
            <a:r>
              <a:rPr sz="2300" spc="-215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22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end</a:t>
            </a:r>
            <a:r>
              <a:rPr sz="2300" spc="-215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of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220" dirty="0">
                <a:latin typeface="Trebuchet MS"/>
                <a:cs typeface="Trebuchet MS"/>
              </a:rPr>
              <a:t> </a:t>
            </a:r>
            <a:r>
              <a:rPr sz="2300" spc="-85" dirty="0">
                <a:latin typeface="Trebuchet MS"/>
                <a:cs typeface="Trebuchet MS"/>
              </a:rPr>
              <a:t>frame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as </a:t>
            </a:r>
            <a:r>
              <a:rPr sz="2300" spc="-85" dirty="0">
                <a:latin typeface="Trebuchet MS"/>
                <a:cs typeface="Trebuchet MS"/>
              </a:rPr>
              <a:t>well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95" dirty="0">
                <a:latin typeface="Trebuchet MS"/>
                <a:cs typeface="Trebuchet MS"/>
              </a:rPr>
              <a:t>as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215" dirty="0">
                <a:latin typeface="Trebuchet MS"/>
                <a:cs typeface="Trebuchet MS"/>
              </a:rPr>
              <a:t> </a:t>
            </a:r>
            <a:r>
              <a:rPr sz="2300" spc="-50" dirty="0">
                <a:latin typeface="Trebuchet MS"/>
                <a:cs typeface="Trebuchet MS"/>
              </a:rPr>
              <a:t>beginning</a:t>
            </a:r>
            <a:r>
              <a:rPr sz="2300" spc="-22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of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the </a:t>
            </a:r>
            <a:r>
              <a:rPr sz="2300" spc="-110" dirty="0">
                <a:latin typeface="Trebuchet MS"/>
                <a:cs typeface="Trebuchet MS"/>
              </a:rPr>
              <a:t>next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85" dirty="0">
                <a:latin typeface="Trebuchet MS"/>
                <a:cs typeface="Trebuchet MS"/>
              </a:rPr>
              <a:t>frame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85" dirty="0">
                <a:latin typeface="Trebuchet MS"/>
                <a:cs typeface="Trebuchet MS"/>
              </a:rPr>
              <a:t>to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distinguish.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300" spc="-50" dirty="0">
                <a:latin typeface="Trebuchet MS"/>
                <a:cs typeface="Trebuchet MS"/>
              </a:rPr>
              <a:t>This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can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35" dirty="0">
                <a:latin typeface="Trebuchet MS"/>
                <a:cs typeface="Trebuchet MS"/>
              </a:rPr>
              <a:t>be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done</a:t>
            </a:r>
            <a:r>
              <a:rPr sz="2300" spc="-225" dirty="0">
                <a:latin typeface="Trebuchet MS"/>
                <a:cs typeface="Trebuchet MS"/>
              </a:rPr>
              <a:t> </a:t>
            </a:r>
            <a:r>
              <a:rPr sz="2300" spc="-60" dirty="0">
                <a:latin typeface="Trebuchet MS"/>
                <a:cs typeface="Trebuchet MS"/>
              </a:rPr>
              <a:t>in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85" dirty="0">
                <a:latin typeface="Trebuchet MS"/>
                <a:cs typeface="Trebuchet MS"/>
              </a:rPr>
              <a:t>two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ways: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47559" y="5088128"/>
            <a:ext cx="4048760" cy="0"/>
          </a:xfrm>
          <a:custGeom>
            <a:avLst/>
            <a:gdLst/>
            <a:ahLst/>
            <a:cxnLst/>
            <a:rect l="l" t="t" r="r" b="b"/>
            <a:pathLst>
              <a:path w="4048759">
                <a:moveTo>
                  <a:pt x="0" y="0"/>
                </a:moveTo>
                <a:lnTo>
                  <a:pt x="4048506" y="0"/>
                </a:lnTo>
              </a:path>
            </a:pathLst>
          </a:custGeom>
          <a:ln w="19050">
            <a:solidFill>
              <a:srgbClr val="BBC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346950" y="4109720"/>
            <a:ext cx="3952875" cy="181483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240"/>
              </a:spcBef>
            </a:pPr>
            <a:r>
              <a:rPr sz="1400" b="1" spc="-35" dirty="0">
                <a:latin typeface="Trebuchet MS"/>
                <a:cs typeface="Trebuchet MS"/>
              </a:rPr>
              <a:t>Length</a:t>
            </a:r>
            <a:r>
              <a:rPr sz="1400" b="1" spc="-140" dirty="0">
                <a:latin typeface="Trebuchet MS"/>
                <a:cs typeface="Trebuchet MS"/>
              </a:rPr>
              <a:t> </a:t>
            </a:r>
            <a:r>
              <a:rPr sz="1400" b="1" spc="-30" dirty="0">
                <a:latin typeface="Trebuchet MS"/>
                <a:cs typeface="Trebuchet MS"/>
              </a:rPr>
              <a:t>field</a:t>
            </a:r>
            <a:r>
              <a:rPr sz="1400" b="1" spc="-100" dirty="0">
                <a:latin typeface="Trebuchet MS"/>
                <a:cs typeface="Trebuchet MS"/>
              </a:rPr>
              <a:t> </a:t>
            </a:r>
            <a:r>
              <a:rPr sz="1400" spc="130" dirty="0">
                <a:latin typeface="Trebuchet MS"/>
                <a:cs typeface="Trebuchet MS"/>
              </a:rPr>
              <a:t>–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We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can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introduce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-45" dirty="0">
                <a:latin typeface="Trebuchet MS"/>
                <a:cs typeface="Trebuchet MS"/>
              </a:rPr>
              <a:t>length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55" dirty="0">
                <a:latin typeface="Trebuchet MS"/>
                <a:cs typeface="Trebuchet MS"/>
              </a:rPr>
              <a:t>field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40" dirty="0">
                <a:latin typeface="Trebuchet MS"/>
                <a:cs typeface="Trebuchet MS"/>
              </a:rPr>
              <a:t>in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the </a:t>
            </a:r>
            <a:r>
              <a:rPr sz="1400" spc="-50" dirty="0">
                <a:latin typeface="Trebuchet MS"/>
                <a:cs typeface="Trebuchet MS"/>
              </a:rPr>
              <a:t>frame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55" dirty="0">
                <a:latin typeface="Trebuchet MS"/>
                <a:cs typeface="Trebuchet MS"/>
              </a:rPr>
              <a:t>to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indicate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the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40" dirty="0">
                <a:latin typeface="Trebuchet MS"/>
                <a:cs typeface="Trebuchet MS"/>
              </a:rPr>
              <a:t>length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40" dirty="0">
                <a:latin typeface="Trebuchet MS"/>
                <a:cs typeface="Trebuchet MS"/>
              </a:rPr>
              <a:t>of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the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70" dirty="0">
                <a:latin typeface="Trebuchet MS"/>
                <a:cs typeface="Trebuchet MS"/>
              </a:rPr>
              <a:t>frame.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Used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in </a:t>
            </a:r>
            <a:r>
              <a:rPr sz="1400" spc="-55" dirty="0">
                <a:latin typeface="Trebuchet MS"/>
                <a:cs typeface="Trebuchet MS"/>
              </a:rPr>
              <a:t>Ethernet(802.3).</a:t>
            </a:r>
            <a:r>
              <a:rPr sz="1400" spc="-90" dirty="0">
                <a:latin typeface="Trebuchet MS"/>
                <a:cs typeface="Trebuchet MS"/>
              </a:rPr>
              <a:t> </a:t>
            </a:r>
            <a:r>
              <a:rPr sz="1400" spc="-65" dirty="0">
                <a:latin typeface="Trebuchet MS"/>
                <a:cs typeface="Trebuchet MS"/>
              </a:rPr>
              <a:t>The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problem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60" dirty="0">
                <a:latin typeface="Trebuchet MS"/>
                <a:cs typeface="Trebuchet MS"/>
              </a:rPr>
              <a:t>with</a:t>
            </a:r>
            <a:r>
              <a:rPr sz="1400" spc="-9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this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is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that </a:t>
            </a:r>
            <a:r>
              <a:rPr sz="1400" dirty="0">
                <a:latin typeface="Trebuchet MS"/>
                <a:cs typeface="Trebuchet MS"/>
              </a:rPr>
              <a:t>sometimes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the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40" dirty="0">
                <a:latin typeface="Trebuchet MS"/>
                <a:cs typeface="Trebuchet MS"/>
              </a:rPr>
              <a:t>length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55" dirty="0">
                <a:latin typeface="Trebuchet MS"/>
                <a:cs typeface="Trebuchet MS"/>
              </a:rPr>
              <a:t>field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40" dirty="0">
                <a:latin typeface="Trebuchet MS"/>
                <a:cs typeface="Trebuchet MS"/>
              </a:rPr>
              <a:t>might</a:t>
            </a:r>
            <a:r>
              <a:rPr sz="1400" spc="-120" dirty="0">
                <a:latin typeface="Trebuchet MS"/>
                <a:cs typeface="Trebuchet MS"/>
              </a:rPr>
              <a:t> </a:t>
            </a:r>
            <a:r>
              <a:rPr sz="1400" spc="-65" dirty="0">
                <a:latin typeface="Trebuchet MS"/>
                <a:cs typeface="Trebuchet MS"/>
              </a:rPr>
              <a:t>get</a:t>
            </a:r>
            <a:r>
              <a:rPr sz="1400" spc="-9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corrupted.</a:t>
            </a:r>
            <a:endParaRPr sz="1400">
              <a:latin typeface="Trebuchet MS"/>
              <a:cs typeface="Trebuchet MS"/>
            </a:endParaRPr>
          </a:p>
          <a:p>
            <a:pPr marL="12700" marR="129539">
              <a:lnSpc>
                <a:spcPct val="91700"/>
              </a:lnSpc>
              <a:spcBef>
                <a:spcPts val="1620"/>
              </a:spcBef>
            </a:pPr>
            <a:r>
              <a:rPr sz="1400" b="1" dirty="0">
                <a:latin typeface="Trebuchet MS"/>
                <a:cs typeface="Trebuchet MS"/>
              </a:rPr>
              <a:t>End</a:t>
            </a:r>
            <a:r>
              <a:rPr sz="1400" b="1" spc="-125" dirty="0">
                <a:latin typeface="Trebuchet MS"/>
                <a:cs typeface="Trebuchet MS"/>
              </a:rPr>
              <a:t> </a:t>
            </a:r>
            <a:r>
              <a:rPr sz="1400" b="1" spc="-25" dirty="0">
                <a:latin typeface="Trebuchet MS"/>
                <a:cs typeface="Trebuchet MS"/>
              </a:rPr>
              <a:t>Delimiter</a:t>
            </a:r>
            <a:r>
              <a:rPr sz="1400" b="1" spc="-120" dirty="0">
                <a:latin typeface="Trebuchet MS"/>
                <a:cs typeface="Trebuchet MS"/>
              </a:rPr>
              <a:t> </a:t>
            </a:r>
            <a:r>
              <a:rPr sz="1400" b="1" spc="-35" dirty="0">
                <a:latin typeface="Trebuchet MS"/>
                <a:cs typeface="Trebuchet MS"/>
              </a:rPr>
              <a:t>(ED)</a:t>
            </a:r>
            <a:r>
              <a:rPr sz="1400" b="1" spc="-110" dirty="0">
                <a:latin typeface="Trebuchet MS"/>
                <a:cs typeface="Trebuchet MS"/>
              </a:rPr>
              <a:t> </a:t>
            </a:r>
            <a:r>
              <a:rPr sz="1400" spc="130" dirty="0">
                <a:latin typeface="Trebuchet MS"/>
                <a:cs typeface="Trebuchet MS"/>
              </a:rPr>
              <a:t>–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We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can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introduce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an </a:t>
            </a:r>
            <a:r>
              <a:rPr sz="1400" spc="-45" dirty="0">
                <a:latin typeface="Trebuchet MS"/>
                <a:cs typeface="Trebuchet MS"/>
              </a:rPr>
              <a:t>ED(pattern)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-55" dirty="0">
                <a:latin typeface="Trebuchet MS"/>
                <a:cs typeface="Trebuchet MS"/>
              </a:rPr>
              <a:t>to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40" dirty="0">
                <a:latin typeface="Trebuchet MS"/>
                <a:cs typeface="Trebuchet MS"/>
              </a:rPr>
              <a:t>indicate</a:t>
            </a:r>
            <a:r>
              <a:rPr sz="1400" spc="-95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the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end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40" dirty="0">
                <a:latin typeface="Trebuchet MS"/>
                <a:cs typeface="Trebuchet MS"/>
              </a:rPr>
              <a:t>of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the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70" dirty="0">
                <a:latin typeface="Trebuchet MS"/>
                <a:cs typeface="Trebuchet MS"/>
              </a:rPr>
              <a:t>frame.</a:t>
            </a:r>
            <a:r>
              <a:rPr sz="1400" spc="-12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Used </a:t>
            </a:r>
            <a:r>
              <a:rPr sz="1400" spc="-40" dirty="0">
                <a:latin typeface="Trebuchet MS"/>
                <a:cs typeface="Trebuchet MS"/>
              </a:rPr>
              <a:t>in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70" dirty="0">
                <a:latin typeface="Trebuchet MS"/>
                <a:cs typeface="Trebuchet MS"/>
              </a:rPr>
              <a:t>Token</a:t>
            </a:r>
            <a:r>
              <a:rPr sz="1400" spc="-130" dirty="0">
                <a:latin typeface="Trebuchet MS"/>
                <a:cs typeface="Trebuchet MS"/>
              </a:rPr>
              <a:t> </a:t>
            </a:r>
            <a:r>
              <a:rPr sz="1400" spc="-40" dirty="0">
                <a:latin typeface="Trebuchet MS"/>
                <a:cs typeface="Trebuchet MS"/>
              </a:rPr>
              <a:t>Ring.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60" dirty="0">
                <a:latin typeface="Trebuchet MS"/>
                <a:cs typeface="Trebuchet MS"/>
              </a:rPr>
              <a:t>The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problem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-60" dirty="0">
                <a:latin typeface="Trebuchet MS"/>
                <a:cs typeface="Trebuchet MS"/>
              </a:rPr>
              <a:t>with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this</a:t>
            </a:r>
            <a:r>
              <a:rPr sz="1400" spc="-1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is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60" dirty="0">
                <a:latin typeface="Trebuchet MS"/>
                <a:cs typeface="Trebuchet MS"/>
              </a:rPr>
              <a:t>that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60" dirty="0">
                <a:latin typeface="Trebuchet MS"/>
                <a:cs typeface="Trebuchet MS"/>
              </a:rPr>
              <a:t>ED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can </a:t>
            </a:r>
            <a:r>
              <a:rPr sz="1400" dirty="0">
                <a:latin typeface="Trebuchet MS"/>
                <a:cs typeface="Trebuchet MS"/>
              </a:rPr>
              <a:t>occur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40" dirty="0">
                <a:latin typeface="Trebuchet MS"/>
                <a:cs typeface="Trebuchet MS"/>
              </a:rPr>
              <a:t>in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the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data.</a:t>
            </a:r>
            <a:r>
              <a:rPr sz="1400" spc="-12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This</a:t>
            </a:r>
            <a:r>
              <a:rPr sz="1400" spc="-1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can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be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solved</a:t>
            </a:r>
            <a:r>
              <a:rPr sz="1400" spc="-13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by: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41320" y="6076035"/>
            <a:ext cx="8412480" cy="0"/>
          </a:xfrm>
          <a:custGeom>
            <a:avLst/>
            <a:gdLst/>
            <a:ahLst/>
            <a:cxnLst/>
            <a:rect l="l" t="t" r="r" b="b"/>
            <a:pathLst>
              <a:path w="8412480">
                <a:moveTo>
                  <a:pt x="0" y="0"/>
                </a:moveTo>
                <a:lnTo>
                  <a:pt x="8412480" y="0"/>
                </a:lnTo>
              </a:path>
            </a:pathLst>
          </a:custGeom>
          <a:ln w="19050">
            <a:solidFill>
              <a:srgbClr val="BBC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5" dirty="0"/>
              <a:t>Solution</a:t>
            </a:r>
            <a:r>
              <a:rPr spc="-480" dirty="0"/>
              <a:t> </a:t>
            </a:r>
            <a:r>
              <a:rPr spc="-315" dirty="0"/>
              <a:t>for</a:t>
            </a:r>
            <a:r>
              <a:rPr spc="-465" dirty="0"/>
              <a:t> </a:t>
            </a:r>
            <a:r>
              <a:rPr spc="75" dirty="0"/>
              <a:t>ED</a:t>
            </a:r>
            <a:r>
              <a:rPr spc="-475" dirty="0"/>
              <a:t> </a:t>
            </a:r>
            <a:r>
              <a:rPr spc="-160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5750"/>
            <a:ext cx="10253980" cy="25571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50" dirty="0">
                <a:latin typeface="Trebuchet MS"/>
                <a:cs typeface="Trebuchet MS"/>
              </a:rPr>
              <a:t>Character/Byte</a:t>
            </a:r>
            <a:r>
              <a:rPr sz="2800" b="1" spc="-125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Stuffing:</a:t>
            </a:r>
            <a:endParaRPr sz="2800">
              <a:latin typeface="Trebuchet MS"/>
              <a:cs typeface="Trebuchet MS"/>
            </a:endParaRPr>
          </a:p>
          <a:p>
            <a:pPr marL="697230" lvl="1" indent="-227329">
              <a:lnSpc>
                <a:spcPts val="2735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rebuchet MS"/>
                <a:cs typeface="Trebuchet MS"/>
              </a:rPr>
              <a:t>Used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when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frames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consist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of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characters.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If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data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contains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ED,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then,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byte</a:t>
            </a:r>
            <a:endParaRPr sz="2400">
              <a:latin typeface="Trebuchet MS"/>
              <a:cs typeface="Trebuchet MS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stuffed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into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data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differentiate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it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from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ED.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Let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105" dirty="0">
                <a:latin typeface="Trebuchet MS"/>
                <a:cs typeface="Trebuchet MS"/>
              </a:rPr>
              <a:t>ED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=</a:t>
            </a:r>
            <a:r>
              <a:rPr sz="2400" spc="-30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“$”</a:t>
            </a:r>
            <a:endParaRPr sz="2400">
              <a:latin typeface="Trebuchet MS"/>
              <a:cs typeface="Trebuchet MS"/>
            </a:endParaRPr>
          </a:p>
          <a:p>
            <a:pPr marL="1155700" lvl="2" indent="-2286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spc="-130" dirty="0">
                <a:latin typeface="Trebuchet MS"/>
                <a:cs typeface="Trebuchet MS"/>
              </a:rPr>
              <a:t>if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contains</a:t>
            </a:r>
            <a:r>
              <a:rPr sz="2000" spc="-26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‘$’</a:t>
            </a:r>
            <a:r>
              <a:rPr sz="2000" spc="-254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anywhere,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it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be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escaped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using</a:t>
            </a:r>
            <a:r>
              <a:rPr sz="2000" spc="-25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‘\O’</a:t>
            </a:r>
            <a:r>
              <a:rPr sz="2000" spc="-2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character.</a:t>
            </a:r>
            <a:endParaRPr sz="2000">
              <a:latin typeface="Trebuchet MS"/>
              <a:cs typeface="Trebuchet MS"/>
            </a:endParaRPr>
          </a:p>
          <a:p>
            <a:pPr marL="1155700" marR="283845" lvl="2" indent="-228600">
              <a:lnSpc>
                <a:spcPts val="2160"/>
              </a:lnSpc>
              <a:spcBef>
                <a:spcPts val="540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spc="-130" dirty="0">
                <a:latin typeface="Trebuchet MS"/>
                <a:cs typeface="Trebuchet MS"/>
              </a:rPr>
              <a:t>if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contains</a:t>
            </a:r>
            <a:r>
              <a:rPr sz="2000" spc="-254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‘\O$’</a:t>
            </a:r>
            <a:r>
              <a:rPr sz="2000" spc="-254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then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2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‘\O\O\O$'($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escaped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using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\O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\O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escaped </a:t>
            </a:r>
            <a:r>
              <a:rPr sz="2000" dirty="0">
                <a:latin typeface="Trebuchet MS"/>
                <a:cs typeface="Trebuchet MS"/>
              </a:rPr>
              <a:t>using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\O\O).</a:t>
            </a:r>
            <a:endParaRPr sz="20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i="1" spc="-60" dirty="0">
                <a:latin typeface="Trebuchet MS"/>
                <a:cs typeface="Trebuchet MS"/>
              </a:rPr>
              <a:t>Disadvantage</a:t>
            </a:r>
            <a:r>
              <a:rPr sz="2400" b="1" i="1" spc="-170" dirty="0">
                <a:latin typeface="Trebuchet MS"/>
                <a:cs typeface="Trebuchet MS"/>
              </a:rPr>
              <a:t> </a:t>
            </a:r>
            <a:r>
              <a:rPr sz="2400" spc="210" dirty="0">
                <a:latin typeface="Trebuchet MS"/>
                <a:cs typeface="Trebuchet MS"/>
              </a:rPr>
              <a:t>–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It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very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costly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obsolete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method.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6058" y="4369053"/>
            <a:ext cx="3845941" cy="24889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5" dirty="0"/>
              <a:t>Solution</a:t>
            </a:r>
            <a:r>
              <a:rPr spc="-480" dirty="0"/>
              <a:t> </a:t>
            </a:r>
            <a:r>
              <a:rPr spc="-315" dirty="0"/>
              <a:t>for</a:t>
            </a:r>
            <a:r>
              <a:rPr spc="-465" dirty="0"/>
              <a:t> </a:t>
            </a:r>
            <a:r>
              <a:rPr spc="75" dirty="0"/>
              <a:t>ED</a:t>
            </a:r>
            <a:r>
              <a:rPr spc="-475" dirty="0"/>
              <a:t> </a:t>
            </a:r>
            <a:r>
              <a:rPr spc="-160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5750"/>
            <a:ext cx="5739130" cy="371729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60" dirty="0">
                <a:latin typeface="Trebuchet MS"/>
                <a:cs typeface="Trebuchet MS"/>
              </a:rPr>
              <a:t>Bit</a:t>
            </a:r>
            <a:r>
              <a:rPr sz="2800" b="1" spc="-225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Stuffing:</a:t>
            </a:r>
            <a:endParaRPr sz="2800">
              <a:latin typeface="Trebuchet MS"/>
              <a:cs typeface="Trebuchet MS"/>
            </a:endParaRPr>
          </a:p>
          <a:p>
            <a:pPr marL="697230" lvl="1" indent="-227329" algn="just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90" dirty="0">
                <a:latin typeface="Trebuchet MS"/>
                <a:cs typeface="Trebuchet MS"/>
              </a:rPr>
              <a:t>Let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90" dirty="0">
                <a:latin typeface="Trebuchet MS"/>
                <a:cs typeface="Trebuchet MS"/>
              </a:rPr>
              <a:t>ED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=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011111</a:t>
            </a:r>
            <a:endParaRPr sz="2400">
              <a:latin typeface="Trebuchet MS"/>
              <a:cs typeface="Trebuchet MS"/>
            </a:endParaRPr>
          </a:p>
          <a:p>
            <a:pPr marL="697230" lvl="1" indent="-227329" algn="just">
              <a:lnSpc>
                <a:spcPts val="2735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20" dirty="0">
                <a:latin typeface="Trebuchet MS"/>
                <a:cs typeface="Trebuchet MS"/>
              </a:rPr>
              <a:t>Sender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stuffs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bit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to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break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pattern</a:t>
            </a:r>
            <a:endParaRPr sz="2400">
              <a:latin typeface="Trebuchet MS"/>
              <a:cs typeface="Trebuchet MS"/>
            </a:endParaRPr>
          </a:p>
          <a:p>
            <a:pPr marL="698500" marR="6350" algn="just">
              <a:lnSpc>
                <a:spcPts val="2590"/>
              </a:lnSpc>
              <a:spcBef>
                <a:spcPts val="185"/>
              </a:spcBef>
            </a:pPr>
            <a:r>
              <a:rPr sz="2400" spc="-120" dirty="0">
                <a:latin typeface="Trebuchet MS"/>
                <a:cs typeface="Trebuchet MS"/>
              </a:rPr>
              <a:t>i.e.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here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appends</a:t>
            </a:r>
            <a:r>
              <a:rPr sz="2400" spc="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0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(Bit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Stuffed)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in </a:t>
            </a:r>
            <a:r>
              <a:rPr sz="2400" spc="-95" dirty="0">
                <a:latin typeface="Trebuchet MS"/>
                <a:cs typeface="Trebuchet MS"/>
              </a:rPr>
              <a:t>data,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i.e.</a:t>
            </a:r>
            <a:endParaRPr sz="2400">
              <a:latin typeface="Trebuchet MS"/>
              <a:cs typeface="Trebuchet MS"/>
            </a:endParaRPr>
          </a:p>
          <a:p>
            <a:pPr marL="1153795" indent="-226695" algn="just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1153795" algn="l"/>
              </a:tabLst>
            </a:pPr>
            <a:r>
              <a:rPr sz="2000" spc="-65" dirty="0">
                <a:latin typeface="Trebuchet MS"/>
                <a:cs typeface="Trebuchet MS"/>
              </a:rPr>
              <a:t>--</a:t>
            </a:r>
            <a:r>
              <a:rPr sz="2000" spc="-25" dirty="0">
                <a:latin typeface="Trebuchet MS"/>
                <a:cs typeface="Trebuchet MS"/>
              </a:rPr>
              <a:t>011111</a:t>
            </a:r>
            <a:r>
              <a:rPr sz="2000" b="1" spc="-25" dirty="0">
                <a:latin typeface="Trebuchet MS"/>
                <a:cs typeface="Trebuchet MS"/>
              </a:rPr>
              <a:t>0</a:t>
            </a:r>
            <a:r>
              <a:rPr sz="2000" spc="-25" dirty="0">
                <a:latin typeface="Trebuchet MS"/>
                <a:cs typeface="Trebuchet MS"/>
              </a:rPr>
              <a:t>-</a:t>
            </a:r>
            <a:r>
              <a:rPr sz="2000" spc="-75" dirty="0">
                <a:latin typeface="Trebuchet MS"/>
                <a:cs typeface="Trebuchet MS"/>
              </a:rPr>
              <a:t>--</a:t>
            </a:r>
            <a:r>
              <a:rPr sz="2000" spc="-50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697230" indent="-227329" algn="just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65" dirty="0">
                <a:latin typeface="Trebuchet MS"/>
                <a:cs typeface="Trebuchet MS"/>
              </a:rPr>
              <a:t>Receiver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receives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frame.</a:t>
            </a:r>
            <a:endParaRPr sz="2400">
              <a:latin typeface="Trebuchet MS"/>
              <a:cs typeface="Trebuchet MS"/>
            </a:endParaRPr>
          </a:p>
          <a:p>
            <a:pPr marL="697230" marR="5080" indent="-227329" algn="just">
              <a:lnSpc>
                <a:spcPts val="259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rebuchet MS"/>
                <a:cs typeface="Trebuchet MS"/>
              </a:rPr>
              <a:t>If</a:t>
            </a:r>
            <a:r>
              <a:rPr sz="2400" spc="200" dirty="0">
                <a:latin typeface="Trebuchet MS"/>
                <a:cs typeface="Trebuchet MS"/>
              </a:rPr>
              <a:t>  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200" dirty="0">
                <a:latin typeface="Trebuchet MS"/>
                <a:cs typeface="Trebuchet MS"/>
              </a:rPr>
              <a:t>   </a:t>
            </a:r>
            <a:r>
              <a:rPr sz="2400" dirty="0">
                <a:latin typeface="Trebuchet MS"/>
                <a:cs typeface="Trebuchet MS"/>
              </a:rPr>
              <a:t>contains</a:t>
            </a:r>
            <a:r>
              <a:rPr sz="2400" spc="204" dirty="0">
                <a:latin typeface="Trebuchet MS"/>
                <a:cs typeface="Trebuchet MS"/>
              </a:rPr>
              <a:t>   </a:t>
            </a:r>
            <a:r>
              <a:rPr sz="2400" spc="-85" dirty="0">
                <a:latin typeface="Trebuchet MS"/>
                <a:cs typeface="Trebuchet MS"/>
              </a:rPr>
              <a:t>---</a:t>
            </a:r>
            <a:r>
              <a:rPr sz="2400" spc="-20" dirty="0">
                <a:latin typeface="Trebuchet MS"/>
                <a:cs typeface="Trebuchet MS"/>
              </a:rPr>
              <a:t>011111</a:t>
            </a:r>
            <a:r>
              <a:rPr sz="2400" b="1" spc="-20" dirty="0">
                <a:latin typeface="Trebuchet MS"/>
                <a:cs typeface="Trebuchet MS"/>
              </a:rPr>
              <a:t>0</a:t>
            </a:r>
            <a:r>
              <a:rPr sz="2400" spc="-20" dirty="0">
                <a:latin typeface="Trebuchet MS"/>
                <a:cs typeface="Trebuchet MS"/>
              </a:rPr>
              <a:t>1-</a:t>
            </a:r>
            <a:r>
              <a:rPr sz="2400" spc="-85" dirty="0">
                <a:latin typeface="Trebuchet MS"/>
                <a:cs typeface="Trebuchet MS"/>
              </a:rPr>
              <a:t>--</a:t>
            </a:r>
            <a:r>
              <a:rPr sz="2400" spc="-50" dirty="0">
                <a:latin typeface="Trebuchet MS"/>
                <a:cs typeface="Trebuchet MS"/>
              </a:rPr>
              <a:t>, 	</a:t>
            </a:r>
            <a:r>
              <a:rPr sz="2400" spc="-70" dirty="0">
                <a:latin typeface="Trebuchet MS"/>
                <a:cs typeface="Trebuchet MS"/>
              </a:rPr>
              <a:t>receiver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removes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0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reads</a:t>
            </a:r>
            <a:r>
              <a:rPr sz="2400" spc="-30" dirty="0">
                <a:latin typeface="Trebuchet MS"/>
                <a:cs typeface="Trebuchet MS"/>
              </a:rPr>
              <a:t> the 	</a:t>
            </a:r>
            <a:r>
              <a:rPr sz="2400" spc="-10" dirty="0">
                <a:latin typeface="Trebuchet MS"/>
                <a:cs typeface="Trebuchet MS"/>
              </a:rPr>
              <a:t>data.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3447" y="2042845"/>
            <a:ext cx="4751197" cy="37688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0" dirty="0"/>
              <a:t>Examples: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9834880" cy="27476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35" dirty="0">
                <a:latin typeface="Trebuchet MS"/>
                <a:cs typeface="Trebuchet MS"/>
              </a:rPr>
              <a:t>If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Data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140" dirty="0">
                <a:latin typeface="Trebuchet MS"/>
                <a:cs typeface="Trebuchet MS"/>
              </a:rPr>
              <a:t>–&gt;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011100011110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125" dirty="0">
                <a:latin typeface="Trebuchet MS"/>
                <a:cs typeface="Trebuchet MS"/>
              </a:rPr>
              <a:t>ED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140" dirty="0">
                <a:latin typeface="Trebuchet MS"/>
                <a:cs typeface="Trebuchet MS"/>
              </a:rPr>
              <a:t>–&gt;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011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then,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find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after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bit 	</a:t>
            </a:r>
            <a:r>
              <a:rPr sz="2800" spc="-10" dirty="0">
                <a:latin typeface="Trebuchet MS"/>
                <a:cs typeface="Trebuchet MS"/>
              </a:rPr>
              <a:t>stuffing.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0" dirty="0">
                <a:latin typeface="Courier New"/>
                <a:cs typeface="Courier New"/>
              </a:rPr>
              <a:t>011</a:t>
            </a:r>
            <a:r>
              <a:rPr sz="2800" b="1" spc="-10" dirty="0">
                <a:latin typeface="Courier New"/>
                <a:cs typeface="Courier New"/>
              </a:rPr>
              <a:t>0</a:t>
            </a:r>
            <a:r>
              <a:rPr sz="2800" spc="-10" dirty="0">
                <a:latin typeface="Courier New"/>
                <a:cs typeface="Courier New"/>
              </a:rPr>
              <a:t>100011</a:t>
            </a:r>
            <a:r>
              <a:rPr sz="2800" b="1" spc="-10" dirty="0">
                <a:latin typeface="Courier New"/>
                <a:cs typeface="Courier New"/>
              </a:rPr>
              <a:t>0</a:t>
            </a:r>
            <a:r>
              <a:rPr sz="2800" spc="-10" dirty="0">
                <a:latin typeface="Courier New"/>
                <a:cs typeface="Courier New"/>
              </a:rPr>
              <a:t>1100</a:t>
            </a:r>
            <a:endParaRPr sz="2800">
              <a:latin typeface="Courier New"/>
              <a:cs typeface="Courier New"/>
            </a:endParaRPr>
          </a:p>
          <a:p>
            <a:pPr marL="240029" marR="576580" indent="-227965">
              <a:lnSpc>
                <a:spcPts val="3020"/>
              </a:lnSpc>
              <a:spcBef>
                <a:spcPts val="11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35" dirty="0">
                <a:latin typeface="Trebuchet MS"/>
                <a:cs typeface="Trebuchet MS"/>
              </a:rPr>
              <a:t>If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Data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140" dirty="0">
                <a:latin typeface="Trebuchet MS"/>
                <a:cs typeface="Trebuchet MS"/>
              </a:rPr>
              <a:t>–&gt;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110001001</a:t>
            </a:r>
            <a:r>
              <a:rPr sz="2800" spc="-1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125" dirty="0">
                <a:latin typeface="Trebuchet MS"/>
                <a:cs typeface="Trebuchet MS"/>
              </a:rPr>
              <a:t>ED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140" dirty="0">
                <a:latin typeface="Trebuchet MS"/>
                <a:cs typeface="Trebuchet MS"/>
              </a:rPr>
              <a:t>–&gt;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100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then,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find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after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bit 	</a:t>
            </a:r>
            <a:r>
              <a:rPr sz="2800" spc="-10" dirty="0">
                <a:latin typeface="Trebuchet MS"/>
                <a:cs typeface="Trebuchet MS"/>
              </a:rPr>
              <a:t>stuffing.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Courier New"/>
                <a:cs typeface="Courier New"/>
              </a:rPr>
              <a:t>1100</a:t>
            </a:r>
            <a:r>
              <a:rPr sz="2800" b="1" spc="-10" dirty="0">
                <a:latin typeface="Courier New"/>
                <a:cs typeface="Courier New"/>
              </a:rPr>
              <a:t>1</a:t>
            </a:r>
            <a:r>
              <a:rPr sz="2800" spc="-10" dirty="0">
                <a:latin typeface="Courier New"/>
                <a:cs typeface="Courier New"/>
              </a:rPr>
              <a:t>0100</a:t>
            </a:r>
            <a:r>
              <a:rPr sz="2800" b="1" spc="-10" dirty="0">
                <a:latin typeface="Courier New"/>
                <a:cs typeface="Courier New"/>
              </a:rPr>
              <a:t>1</a:t>
            </a:r>
            <a:r>
              <a:rPr sz="2800" spc="-10" dirty="0">
                <a:latin typeface="Courier New"/>
                <a:cs typeface="Courier New"/>
              </a:rPr>
              <a:t>1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4" dirty="0"/>
              <a:t>Framing</a:t>
            </a:r>
            <a:r>
              <a:rPr spc="-445" dirty="0"/>
              <a:t> </a:t>
            </a:r>
            <a:r>
              <a:rPr spc="-110" dirty="0"/>
              <a:t>Challenges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2664332"/>
            <a:ext cx="10515600" cy="3509645"/>
          </a:xfrm>
          <a:custGeom>
            <a:avLst/>
            <a:gdLst/>
            <a:ahLst/>
            <a:cxnLst/>
            <a:rect l="l" t="t" r="r" b="b"/>
            <a:pathLst>
              <a:path w="10515600" h="3509645">
                <a:moveTo>
                  <a:pt x="0" y="3509581"/>
                </a:moveTo>
                <a:lnTo>
                  <a:pt x="10515600" y="3509581"/>
                </a:lnTo>
              </a:path>
              <a:path w="10515600" h="3509645">
                <a:moveTo>
                  <a:pt x="0" y="2632202"/>
                </a:moveTo>
                <a:lnTo>
                  <a:pt x="10515600" y="2632202"/>
                </a:lnTo>
              </a:path>
              <a:path w="10515600" h="3509645">
                <a:moveTo>
                  <a:pt x="0" y="1754758"/>
                </a:moveTo>
                <a:lnTo>
                  <a:pt x="10515600" y="1754758"/>
                </a:lnTo>
              </a:path>
              <a:path w="10515600" h="3509645">
                <a:moveTo>
                  <a:pt x="0" y="877315"/>
                </a:moveTo>
                <a:lnTo>
                  <a:pt x="10515600" y="877315"/>
                </a:lnTo>
              </a:path>
              <a:path w="10515600" h="3509645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9050">
            <a:solidFill>
              <a:srgbClr val="186B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92448" y="1868551"/>
            <a:ext cx="7576820" cy="7594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ct val="91500"/>
              </a:lnSpc>
              <a:spcBef>
                <a:spcPts val="275"/>
              </a:spcBef>
            </a:pPr>
            <a:r>
              <a:rPr sz="1700" spc="-75" dirty="0">
                <a:latin typeface="Trebuchet MS"/>
                <a:cs typeface="Trebuchet MS"/>
              </a:rPr>
              <a:t>The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length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frames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can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vary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depending</a:t>
            </a:r>
            <a:r>
              <a:rPr sz="1700" spc="-17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on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data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being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transmitted,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which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can lead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inefficiencies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in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transmission.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150" dirty="0">
                <a:latin typeface="Trebuchet MS"/>
                <a:cs typeface="Trebuchet MS"/>
              </a:rPr>
              <a:t>To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address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this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issue,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protocols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50" dirty="0">
                <a:latin typeface="Trebuchet MS"/>
                <a:cs typeface="Trebuchet MS"/>
              </a:rPr>
              <a:t>such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50" dirty="0">
                <a:latin typeface="Trebuchet MS"/>
                <a:cs typeface="Trebuchet MS"/>
              </a:rPr>
              <a:t>as </a:t>
            </a:r>
            <a:r>
              <a:rPr sz="1700" spc="70" dirty="0">
                <a:latin typeface="Trebuchet MS"/>
                <a:cs typeface="Trebuchet MS"/>
              </a:rPr>
              <a:t>HDLC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PPP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use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flag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sequence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mark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start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end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each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frame.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28675" y="1819148"/>
            <a:ext cx="2753360" cy="854710"/>
            <a:chOff x="828675" y="1819148"/>
            <a:chExt cx="2753360" cy="854710"/>
          </a:xfrm>
        </p:grpSpPr>
        <p:sp>
          <p:nvSpPr>
            <p:cNvPr id="6" name="object 6"/>
            <p:cNvSpPr/>
            <p:nvPr/>
          </p:nvSpPr>
          <p:spPr>
            <a:xfrm>
              <a:off x="838200" y="1828673"/>
              <a:ext cx="2734310" cy="835660"/>
            </a:xfrm>
            <a:custGeom>
              <a:avLst/>
              <a:gdLst/>
              <a:ahLst/>
              <a:cxnLst/>
              <a:rect l="l" t="t" r="r" b="b"/>
              <a:pathLst>
                <a:path w="2734310" h="835660">
                  <a:moveTo>
                    <a:pt x="2594737" y="0"/>
                  </a:moveTo>
                  <a:lnTo>
                    <a:pt x="139293" y="0"/>
                  </a:lnTo>
                  <a:lnTo>
                    <a:pt x="95268" y="7100"/>
                  </a:lnTo>
                  <a:lnTo>
                    <a:pt x="57031" y="26875"/>
                  </a:lnTo>
                  <a:lnTo>
                    <a:pt x="26877" y="57031"/>
                  </a:lnTo>
                  <a:lnTo>
                    <a:pt x="7101" y="95276"/>
                  </a:lnTo>
                  <a:lnTo>
                    <a:pt x="0" y="139318"/>
                  </a:lnTo>
                  <a:lnTo>
                    <a:pt x="0" y="835660"/>
                  </a:lnTo>
                  <a:lnTo>
                    <a:pt x="2734055" y="835660"/>
                  </a:lnTo>
                  <a:lnTo>
                    <a:pt x="2734055" y="139318"/>
                  </a:lnTo>
                  <a:lnTo>
                    <a:pt x="2726955" y="95276"/>
                  </a:lnTo>
                  <a:lnTo>
                    <a:pt x="2707180" y="57031"/>
                  </a:lnTo>
                  <a:lnTo>
                    <a:pt x="2677024" y="26875"/>
                  </a:lnTo>
                  <a:lnTo>
                    <a:pt x="2638779" y="7100"/>
                  </a:lnTo>
                  <a:lnTo>
                    <a:pt x="2594737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8200" y="1828673"/>
              <a:ext cx="2734310" cy="835660"/>
            </a:xfrm>
            <a:custGeom>
              <a:avLst/>
              <a:gdLst/>
              <a:ahLst/>
              <a:cxnLst/>
              <a:rect l="l" t="t" r="r" b="b"/>
              <a:pathLst>
                <a:path w="2734310" h="835660">
                  <a:moveTo>
                    <a:pt x="139293" y="0"/>
                  </a:moveTo>
                  <a:lnTo>
                    <a:pt x="2594737" y="0"/>
                  </a:lnTo>
                  <a:lnTo>
                    <a:pt x="2638779" y="7100"/>
                  </a:lnTo>
                  <a:lnTo>
                    <a:pt x="2677024" y="26875"/>
                  </a:lnTo>
                  <a:lnTo>
                    <a:pt x="2707180" y="57031"/>
                  </a:lnTo>
                  <a:lnTo>
                    <a:pt x="2726955" y="95276"/>
                  </a:lnTo>
                  <a:lnTo>
                    <a:pt x="2734055" y="139318"/>
                  </a:lnTo>
                  <a:lnTo>
                    <a:pt x="2734055" y="835660"/>
                  </a:lnTo>
                  <a:lnTo>
                    <a:pt x="0" y="835660"/>
                  </a:lnTo>
                  <a:lnTo>
                    <a:pt x="0" y="139318"/>
                  </a:lnTo>
                  <a:lnTo>
                    <a:pt x="7101" y="95276"/>
                  </a:lnTo>
                  <a:lnTo>
                    <a:pt x="26877" y="57031"/>
                  </a:lnTo>
                  <a:lnTo>
                    <a:pt x="57031" y="26875"/>
                  </a:lnTo>
                  <a:lnTo>
                    <a:pt x="95268" y="7100"/>
                  </a:lnTo>
                  <a:lnTo>
                    <a:pt x="139293" y="0"/>
                  </a:lnTo>
                  <a:close/>
                </a:path>
              </a:pathLst>
            </a:custGeom>
            <a:ln w="1905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41247" y="1865503"/>
            <a:ext cx="1927225" cy="7264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509270" marR="5080" indent="-497205">
              <a:lnSpc>
                <a:spcPts val="2640"/>
              </a:lnSpc>
              <a:spcBef>
                <a:spcPts val="385"/>
              </a:spcBef>
            </a:pPr>
            <a:r>
              <a:rPr sz="2400" spc="-7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24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Trebuchet MS"/>
                <a:cs typeface="Trebuchet MS"/>
              </a:rPr>
              <a:t>frame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length: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2448" y="2745994"/>
            <a:ext cx="7656195" cy="7594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ct val="91500"/>
              </a:lnSpc>
              <a:spcBef>
                <a:spcPts val="275"/>
              </a:spcBef>
            </a:pPr>
            <a:r>
              <a:rPr sz="1700" spc="-60" dirty="0">
                <a:latin typeface="Trebuchet MS"/>
                <a:cs typeface="Trebuchet MS"/>
              </a:rPr>
              <a:t>Bit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stuffing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technique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used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prevent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data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from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being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interpreted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75" dirty="0">
                <a:latin typeface="Trebuchet MS"/>
                <a:cs typeface="Trebuchet MS"/>
              </a:rPr>
              <a:t>as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control </a:t>
            </a:r>
            <a:r>
              <a:rPr sz="1700" spc="-30" dirty="0">
                <a:latin typeface="Trebuchet MS"/>
                <a:cs typeface="Trebuchet MS"/>
              </a:rPr>
              <a:t>characters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by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inserting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95" dirty="0">
                <a:latin typeface="Trebuchet MS"/>
                <a:cs typeface="Trebuchet MS"/>
              </a:rPr>
              <a:t>extra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bits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into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data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stream.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However,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bit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stuffing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can lead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50" dirty="0">
                <a:latin typeface="Trebuchet MS"/>
                <a:cs typeface="Trebuchet MS"/>
              </a:rPr>
              <a:t>issues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with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synchronization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increase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overhead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transmission.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28675" y="2696591"/>
            <a:ext cx="2753360" cy="854710"/>
            <a:chOff x="828675" y="2696591"/>
            <a:chExt cx="2753360" cy="854710"/>
          </a:xfrm>
        </p:grpSpPr>
        <p:sp>
          <p:nvSpPr>
            <p:cNvPr id="11" name="object 11"/>
            <p:cNvSpPr/>
            <p:nvPr/>
          </p:nvSpPr>
          <p:spPr>
            <a:xfrm>
              <a:off x="838200" y="2706116"/>
              <a:ext cx="2734310" cy="835660"/>
            </a:xfrm>
            <a:custGeom>
              <a:avLst/>
              <a:gdLst/>
              <a:ahLst/>
              <a:cxnLst/>
              <a:rect l="l" t="t" r="r" b="b"/>
              <a:pathLst>
                <a:path w="2734310" h="835660">
                  <a:moveTo>
                    <a:pt x="2594737" y="0"/>
                  </a:moveTo>
                  <a:lnTo>
                    <a:pt x="139293" y="0"/>
                  </a:lnTo>
                  <a:lnTo>
                    <a:pt x="95268" y="7100"/>
                  </a:lnTo>
                  <a:lnTo>
                    <a:pt x="57031" y="26875"/>
                  </a:lnTo>
                  <a:lnTo>
                    <a:pt x="26877" y="57031"/>
                  </a:lnTo>
                  <a:lnTo>
                    <a:pt x="7101" y="95276"/>
                  </a:lnTo>
                  <a:lnTo>
                    <a:pt x="0" y="139319"/>
                  </a:lnTo>
                  <a:lnTo>
                    <a:pt x="0" y="835533"/>
                  </a:lnTo>
                  <a:lnTo>
                    <a:pt x="2734055" y="835533"/>
                  </a:lnTo>
                  <a:lnTo>
                    <a:pt x="2734055" y="139319"/>
                  </a:lnTo>
                  <a:lnTo>
                    <a:pt x="2726955" y="95276"/>
                  </a:lnTo>
                  <a:lnTo>
                    <a:pt x="2707180" y="57031"/>
                  </a:lnTo>
                  <a:lnTo>
                    <a:pt x="2677024" y="26875"/>
                  </a:lnTo>
                  <a:lnTo>
                    <a:pt x="2638779" y="7100"/>
                  </a:lnTo>
                  <a:lnTo>
                    <a:pt x="2594737" y="0"/>
                  </a:lnTo>
                  <a:close/>
                </a:path>
              </a:pathLst>
            </a:custGeom>
            <a:solidFill>
              <a:srgbClr val="1883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8200" y="2706116"/>
              <a:ext cx="2734310" cy="835660"/>
            </a:xfrm>
            <a:custGeom>
              <a:avLst/>
              <a:gdLst/>
              <a:ahLst/>
              <a:cxnLst/>
              <a:rect l="l" t="t" r="r" b="b"/>
              <a:pathLst>
                <a:path w="2734310" h="835660">
                  <a:moveTo>
                    <a:pt x="139293" y="0"/>
                  </a:moveTo>
                  <a:lnTo>
                    <a:pt x="2594737" y="0"/>
                  </a:lnTo>
                  <a:lnTo>
                    <a:pt x="2638779" y="7100"/>
                  </a:lnTo>
                  <a:lnTo>
                    <a:pt x="2677024" y="26875"/>
                  </a:lnTo>
                  <a:lnTo>
                    <a:pt x="2707180" y="57031"/>
                  </a:lnTo>
                  <a:lnTo>
                    <a:pt x="2726955" y="95276"/>
                  </a:lnTo>
                  <a:lnTo>
                    <a:pt x="2734055" y="139319"/>
                  </a:lnTo>
                  <a:lnTo>
                    <a:pt x="2734055" y="835533"/>
                  </a:lnTo>
                  <a:lnTo>
                    <a:pt x="0" y="835533"/>
                  </a:lnTo>
                  <a:lnTo>
                    <a:pt x="0" y="139319"/>
                  </a:lnTo>
                  <a:lnTo>
                    <a:pt x="7101" y="95276"/>
                  </a:lnTo>
                  <a:lnTo>
                    <a:pt x="26877" y="57031"/>
                  </a:lnTo>
                  <a:lnTo>
                    <a:pt x="57031" y="26875"/>
                  </a:lnTo>
                  <a:lnTo>
                    <a:pt x="95268" y="7100"/>
                  </a:lnTo>
                  <a:lnTo>
                    <a:pt x="139293" y="0"/>
                  </a:lnTo>
                  <a:close/>
                </a:path>
              </a:pathLst>
            </a:custGeom>
            <a:ln w="19049">
              <a:solidFill>
                <a:srgbClr val="1883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445513" y="2910332"/>
            <a:ext cx="1519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Bit</a:t>
            </a:r>
            <a:r>
              <a:rPr sz="2400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Trebuchet MS"/>
                <a:cs typeface="Trebuchet MS"/>
              </a:rPr>
              <a:t>stuffing: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92448" y="3623564"/>
            <a:ext cx="7319009" cy="7594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ct val="91500"/>
              </a:lnSpc>
              <a:spcBef>
                <a:spcPts val="275"/>
              </a:spcBef>
            </a:pPr>
            <a:r>
              <a:rPr sz="1700" spc="-30" dirty="0">
                <a:latin typeface="Trebuchet MS"/>
                <a:cs typeface="Trebuchet MS"/>
              </a:rPr>
              <a:t>Synchronization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critical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for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ensuring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that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data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frames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are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transmitted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and </a:t>
            </a:r>
            <a:r>
              <a:rPr sz="1700" spc="-50" dirty="0">
                <a:latin typeface="Trebuchet MS"/>
                <a:cs typeface="Trebuchet MS"/>
              </a:rPr>
              <a:t>received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correctly.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However,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synchronization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can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be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challenging,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particularly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in </a:t>
            </a:r>
            <a:r>
              <a:rPr sz="1700" spc="-40" dirty="0">
                <a:latin typeface="Trebuchet MS"/>
                <a:cs typeface="Trebuchet MS"/>
              </a:rPr>
              <a:t>high-</a:t>
            </a:r>
            <a:r>
              <a:rPr sz="1700" dirty="0">
                <a:latin typeface="Trebuchet MS"/>
                <a:cs typeface="Trebuchet MS"/>
              </a:rPr>
              <a:t>speed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networks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where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frames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are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transmitted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rapidly.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28675" y="3573907"/>
            <a:ext cx="2753360" cy="854710"/>
            <a:chOff x="828675" y="3573907"/>
            <a:chExt cx="2753360" cy="854710"/>
          </a:xfrm>
        </p:grpSpPr>
        <p:sp>
          <p:nvSpPr>
            <p:cNvPr id="16" name="object 16"/>
            <p:cNvSpPr/>
            <p:nvPr/>
          </p:nvSpPr>
          <p:spPr>
            <a:xfrm>
              <a:off x="838200" y="3583432"/>
              <a:ext cx="2734310" cy="835660"/>
            </a:xfrm>
            <a:custGeom>
              <a:avLst/>
              <a:gdLst/>
              <a:ahLst/>
              <a:cxnLst/>
              <a:rect l="l" t="t" r="r" b="b"/>
              <a:pathLst>
                <a:path w="2734310" h="835660">
                  <a:moveTo>
                    <a:pt x="2594737" y="0"/>
                  </a:moveTo>
                  <a:lnTo>
                    <a:pt x="139293" y="0"/>
                  </a:lnTo>
                  <a:lnTo>
                    <a:pt x="95268" y="7100"/>
                  </a:lnTo>
                  <a:lnTo>
                    <a:pt x="57031" y="26875"/>
                  </a:lnTo>
                  <a:lnTo>
                    <a:pt x="26877" y="57031"/>
                  </a:lnTo>
                  <a:lnTo>
                    <a:pt x="7101" y="95276"/>
                  </a:lnTo>
                  <a:lnTo>
                    <a:pt x="0" y="139318"/>
                  </a:lnTo>
                  <a:lnTo>
                    <a:pt x="0" y="835659"/>
                  </a:lnTo>
                  <a:lnTo>
                    <a:pt x="2734055" y="835659"/>
                  </a:lnTo>
                  <a:lnTo>
                    <a:pt x="2734055" y="139318"/>
                  </a:lnTo>
                  <a:lnTo>
                    <a:pt x="2726955" y="95276"/>
                  </a:lnTo>
                  <a:lnTo>
                    <a:pt x="2707180" y="57031"/>
                  </a:lnTo>
                  <a:lnTo>
                    <a:pt x="2677024" y="26875"/>
                  </a:lnTo>
                  <a:lnTo>
                    <a:pt x="2638779" y="7100"/>
                  </a:lnTo>
                  <a:lnTo>
                    <a:pt x="2594737" y="0"/>
                  </a:lnTo>
                  <a:close/>
                </a:path>
              </a:pathLst>
            </a:custGeom>
            <a:solidFill>
              <a:srgbClr val="179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38200" y="3583432"/>
              <a:ext cx="2734310" cy="835660"/>
            </a:xfrm>
            <a:custGeom>
              <a:avLst/>
              <a:gdLst/>
              <a:ahLst/>
              <a:cxnLst/>
              <a:rect l="l" t="t" r="r" b="b"/>
              <a:pathLst>
                <a:path w="2734310" h="835660">
                  <a:moveTo>
                    <a:pt x="139293" y="0"/>
                  </a:moveTo>
                  <a:lnTo>
                    <a:pt x="2594737" y="0"/>
                  </a:lnTo>
                  <a:lnTo>
                    <a:pt x="2638779" y="7100"/>
                  </a:lnTo>
                  <a:lnTo>
                    <a:pt x="2677024" y="26875"/>
                  </a:lnTo>
                  <a:lnTo>
                    <a:pt x="2707180" y="57031"/>
                  </a:lnTo>
                  <a:lnTo>
                    <a:pt x="2726955" y="95276"/>
                  </a:lnTo>
                  <a:lnTo>
                    <a:pt x="2734055" y="139318"/>
                  </a:lnTo>
                  <a:lnTo>
                    <a:pt x="2734055" y="835659"/>
                  </a:lnTo>
                  <a:lnTo>
                    <a:pt x="0" y="835659"/>
                  </a:lnTo>
                  <a:lnTo>
                    <a:pt x="0" y="139318"/>
                  </a:lnTo>
                  <a:lnTo>
                    <a:pt x="7101" y="95276"/>
                  </a:lnTo>
                  <a:lnTo>
                    <a:pt x="26877" y="57031"/>
                  </a:lnTo>
                  <a:lnTo>
                    <a:pt x="57031" y="26875"/>
                  </a:lnTo>
                  <a:lnTo>
                    <a:pt x="95268" y="7100"/>
                  </a:lnTo>
                  <a:lnTo>
                    <a:pt x="139293" y="0"/>
                  </a:lnTo>
                  <a:close/>
                </a:path>
              </a:pathLst>
            </a:custGeom>
            <a:ln w="19050">
              <a:solidFill>
                <a:srgbClr val="179D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93419" y="3787597"/>
            <a:ext cx="22225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Synchronization: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92448" y="4501134"/>
            <a:ext cx="7734300" cy="7594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ct val="91500"/>
              </a:lnSpc>
              <a:spcBef>
                <a:spcPts val="275"/>
              </a:spcBef>
            </a:pPr>
            <a:r>
              <a:rPr sz="1700" spc="-10" dirty="0">
                <a:latin typeface="Trebuchet MS"/>
                <a:cs typeface="Trebuchet MS"/>
              </a:rPr>
              <a:t>Data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Link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Layer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protocols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use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various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techniques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detect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errors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in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transmitted </a:t>
            </a:r>
            <a:r>
              <a:rPr sz="1700" spc="-65" dirty="0">
                <a:latin typeface="Trebuchet MS"/>
                <a:cs typeface="Trebuchet MS"/>
              </a:rPr>
              <a:t>data,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50" dirty="0">
                <a:latin typeface="Trebuchet MS"/>
                <a:cs typeface="Trebuchet MS"/>
              </a:rPr>
              <a:t>such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70" dirty="0">
                <a:latin typeface="Trebuchet MS"/>
                <a:cs typeface="Trebuchet MS"/>
              </a:rPr>
              <a:t>as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checksums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55" dirty="0">
                <a:latin typeface="Trebuchet MS"/>
                <a:cs typeface="Trebuchet MS"/>
              </a:rPr>
              <a:t>CRCs.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However,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these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techniques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are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not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foolproof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can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55" dirty="0">
                <a:latin typeface="Trebuchet MS"/>
                <a:cs typeface="Trebuchet MS"/>
              </a:rPr>
              <a:t>miss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some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types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errors.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28675" y="4451350"/>
            <a:ext cx="2753360" cy="854710"/>
            <a:chOff x="828675" y="4451350"/>
            <a:chExt cx="2753360" cy="854710"/>
          </a:xfrm>
        </p:grpSpPr>
        <p:sp>
          <p:nvSpPr>
            <p:cNvPr id="21" name="object 21"/>
            <p:cNvSpPr/>
            <p:nvPr/>
          </p:nvSpPr>
          <p:spPr>
            <a:xfrm>
              <a:off x="838200" y="4460875"/>
              <a:ext cx="2734310" cy="835660"/>
            </a:xfrm>
            <a:custGeom>
              <a:avLst/>
              <a:gdLst/>
              <a:ahLst/>
              <a:cxnLst/>
              <a:rect l="l" t="t" r="r" b="b"/>
              <a:pathLst>
                <a:path w="2734310" h="835660">
                  <a:moveTo>
                    <a:pt x="2594737" y="0"/>
                  </a:moveTo>
                  <a:lnTo>
                    <a:pt x="139293" y="0"/>
                  </a:lnTo>
                  <a:lnTo>
                    <a:pt x="95268" y="7100"/>
                  </a:lnTo>
                  <a:lnTo>
                    <a:pt x="57031" y="26875"/>
                  </a:lnTo>
                  <a:lnTo>
                    <a:pt x="26877" y="57031"/>
                  </a:lnTo>
                  <a:lnTo>
                    <a:pt x="7101" y="95276"/>
                  </a:lnTo>
                  <a:lnTo>
                    <a:pt x="0" y="139319"/>
                  </a:lnTo>
                  <a:lnTo>
                    <a:pt x="0" y="835660"/>
                  </a:lnTo>
                  <a:lnTo>
                    <a:pt x="2734055" y="835660"/>
                  </a:lnTo>
                  <a:lnTo>
                    <a:pt x="2734055" y="139319"/>
                  </a:lnTo>
                  <a:lnTo>
                    <a:pt x="2726955" y="95276"/>
                  </a:lnTo>
                  <a:lnTo>
                    <a:pt x="2707180" y="57031"/>
                  </a:lnTo>
                  <a:lnTo>
                    <a:pt x="2677024" y="26875"/>
                  </a:lnTo>
                  <a:lnTo>
                    <a:pt x="2638779" y="7100"/>
                  </a:lnTo>
                  <a:lnTo>
                    <a:pt x="2594737" y="0"/>
                  </a:lnTo>
                  <a:close/>
                </a:path>
              </a:pathLst>
            </a:custGeom>
            <a:solidFill>
              <a:srgbClr val="13B8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8200" y="4460875"/>
              <a:ext cx="2734310" cy="835660"/>
            </a:xfrm>
            <a:custGeom>
              <a:avLst/>
              <a:gdLst/>
              <a:ahLst/>
              <a:cxnLst/>
              <a:rect l="l" t="t" r="r" b="b"/>
              <a:pathLst>
                <a:path w="2734310" h="835660">
                  <a:moveTo>
                    <a:pt x="139293" y="0"/>
                  </a:moveTo>
                  <a:lnTo>
                    <a:pt x="2594737" y="0"/>
                  </a:lnTo>
                  <a:lnTo>
                    <a:pt x="2638779" y="7100"/>
                  </a:lnTo>
                  <a:lnTo>
                    <a:pt x="2677024" y="26875"/>
                  </a:lnTo>
                  <a:lnTo>
                    <a:pt x="2707180" y="57031"/>
                  </a:lnTo>
                  <a:lnTo>
                    <a:pt x="2726955" y="95276"/>
                  </a:lnTo>
                  <a:lnTo>
                    <a:pt x="2734055" y="139319"/>
                  </a:lnTo>
                  <a:lnTo>
                    <a:pt x="2734055" y="835660"/>
                  </a:lnTo>
                  <a:lnTo>
                    <a:pt x="0" y="835660"/>
                  </a:lnTo>
                  <a:lnTo>
                    <a:pt x="0" y="139319"/>
                  </a:lnTo>
                  <a:lnTo>
                    <a:pt x="7101" y="95276"/>
                  </a:lnTo>
                  <a:lnTo>
                    <a:pt x="26877" y="57031"/>
                  </a:lnTo>
                  <a:lnTo>
                    <a:pt x="57031" y="26875"/>
                  </a:lnTo>
                  <a:lnTo>
                    <a:pt x="95268" y="7100"/>
                  </a:lnTo>
                  <a:lnTo>
                    <a:pt x="139293" y="0"/>
                  </a:lnTo>
                  <a:close/>
                </a:path>
              </a:pathLst>
            </a:custGeom>
            <a:ln w="19050">
              <a:solidFill>
                <a:srgbClr val="13B8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69619" y="4665726"/>
            <a:ext cx="2070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0" dirty="0">
                <a:solidFill>
                  <a:srgbClr val="FFFFFF"/>
                </a:solidFill>
                <a:latin typeface="Trebuchet MS"/>
                <a:cs typeface="Trebuchet MS"/>
              </a:rPr>
              <a:t>Error</a:t>
            </a:r>
            <a:r>
              <a:rPr sz="240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Trebuchet MS"/>
                <a:cs typeface="Trebuchet MS"/>
              </a:rPr>
              <a:t>detection: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92448" y="5378297"/>
            <a:ext cx="7562850" cy="7600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ct val="91500"/>
              </a:lnSpc>
              <a:spcBef>
                <a:spcPts val="280"/>
              </a:spcBef>
            </a:pPr>
            <a:r>
              <a:rPr sz="1700" spc="-60" dirty="0">
                <a:latin typeface="Trebuchet MS"/>
                <a:cs typeface="Trebuchet MS"/>
              </a:rPr>
              <a:t>Efficient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use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available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bandwidth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critical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for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ensuring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that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data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transmitted </a:t>
            </a:r>
            <a:r>
              <a:rPr sz="1700" spc="-35" dirty="0">
                <a:latin typeface="Trebuchet MS"/>
                <a:cs typeface="Trebuchet MS"/>
              </a:rPr>
              <a:t>quickly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reliably.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However,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overhead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associated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with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framing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error </a:t>
            </a:r>
            <a:r>
              <a:rPr sz="1700" spc="-45" dirty="0">
                <a:latin typeface="Trebuchet MS"/>
                <a:cs typeface="Trebuchet MS"/>
              </a:rPr>
              <a:t>detection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can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reduce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overall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efficiency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transmission.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28675" y="5328792"/>
            <a:ext cx="2753360" cy="854710"/>
            <a:chOff x="828675" y="5328792"/>
            <a:chExt cx="2753360" cy="854710"/>
          </a:xfrm>
        </p:grpSpPr>
        <p:sp>
          <p:nvSpPr>
            <p:cNvPr id="26" name="object 26"/>
            <p:cNvSpPr/>
            <p:nvPr/>
          </p:nvSpPr>
          <p:spPr>
            <a:xfrm>
              <a:off x="838200" y="5338317"/>
              <a:ext cx="2734310" cy="835660"/>
            </a:xfrm>
            <a:custGeom>
              <a:avLst/>
              <a:gdLst/>
              <a:ahLst/>
              <a:cxnLst/>
              <a:rect l="l" t="t" r="r" b="b"/>
              <a:pathLst>
                <a:path w="2734310" h="835660">
                  <a:moveTo>
                    <a:pt x="2594737" y="0"/>
                  </a:moveTo>
                  <a:lnTo>
                    <a:pt x="139293" y="0"/>
                  </a:lnTo>
                  <a:lnTo>
                    <a:pt x="95268" y="7100"/>
                  </a:lnTo>
                  <a:lnTo>
                    <a:pt x="57031" y="26875"/>
                  </a:lnTo>
                  <a:lnTo>
                    <a:pt x="26877" y="57031"/>
                  </a:lnTo>
                  <a:lnTo>
                    <a:pt x="7101" y="95276"/>
                  </a:lnTo>
                  <a:lnTo>
                    <a:pt x="0" y="139318"/>
                  </a:lnTo>
                  <a:lnTo>
                    <a:pt x="0" y="835596"/>
                  </a:lnTo>
                  <a:lnTo>
                    <a:pt x="2734055" y="835596"/>
                  </a:lnTo>
                  <a:lnTo>
                    <a:pt x="2734055" y="139318"/>
                  </a:lnTo>
                  <a:lnTo>
                    <a:pt x="2726955" y="95276"/>
                  </a:lnTo>
                  <a:lnTo>
                    <a:pt x="2707180" y="57031"/>
                  </a:lnTo>
                  <a:lnTo>
                    <a:pt x="2677024" y="26875"/>
                  </a:lnTo>
                  <a:lnTo>
                    <a:pt x="2638779" y="7100"/>
                  </a:lnTo>
                  <a:lnTo>
                    <a:pt x="2594737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8200" y="5338317"/>
              <a:ext cx="2734310" cy="835660"/>
            </a:xfrm>
            <a:custGeom>
              <a:avLst/>
              <a:gdLst/>
              <a:ahLst/>
              <a:cxnLst/>
              <a:rect l="l" t="t" r="r" b="b"/>
              <a:pathLst>
                <a:path w="2734310" h="835660">
                  <a:moveTo>
                    <a:pt x="139293" y="0"/>
                  </a:moveTo>
                  <a:lnTo>
                    <a:pt x="2594737" y="0"/>
                  </a:lnTo>
                  <a:lnTo>
                    <a:pt x="2638779" y="7100"/>
                  </a:lnTo>
                  <a:lnTo>
                    <a:pt x="2677024" y="26875"/>
                  </a:lnTo>
                  <a:lnTo>
                    <a:pt x="2707180" y="57031"/>
                  </a:lnTo>
                  <a:lnTo>
                    <a:pt x="2726955" y="95276"/>
                  </a:lnTo>
                  <a:lnTo>
                    <a:pt x="2734055" y="139318"/>
                  </a:lnTo>
                  <a:lnTo>
                    <a:pt x="2734055" y="835596"/>
                  </a:lnTo>
                  <a:lnTo>
                    <a:pt x="0" y="835596"/>
                  </a:lnTo>
                  <a:lnTo>
                    <a:pt x="0" y="139318"/>
                  </a:lnTo>
                  <a:lnTo>
                    <a:pt x="7101" y="95276"/>
                  </a:lnTo>
                  <a:lnTo>
                    <a:pt x="26877" y="57031"/>
                  </a:lnTo>
                  <a:lnTo>
                    <a:pt x="57031" y="26875"/>
                  </a:lnTo>
                  <a:lnTo>
                    <a:pt x="95268" y="7100"/>
                  </a:lnTo>
                  <a:lnTo>
                    <a:pt x="139293" y="0"/>
                  </a:lnTo>
                  <a:close/>
                </a:path>
              </a:pathLst>
            </a:custGeom>
            <a:ln w="1905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506727" y="5543194"/>
            <a:ext cx="1397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5" dirty="0">
                <a:solidFill>
                  <a:srgbClr val="FFFFFF"/>
                </a:solidFill>
                <a:latin typeface="Trebuchet MS"/>
                <a:cs typeface="Trebuchet MS"/>
              </a:rPr>
              <a:t>Efficiency: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961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 MT</vt:lpstr>
      <vt:lpstr>Courier New</vt:lpstr>
      <vt:lpstr>Trebuchet MS</vt:lpstr>
      <vt:lpstr>Office Theme</vt:lpstr>
      <vt:lpstr>Computer Networks [Framing - DLL]</vt:lpstr>
      <vt:lpstr>Framing</vt:lpstr>
      <vt:lpstr>Framing</vt:lpstr>
      <vt:lpstr>Framing</vt:lpstr>
      <vt:lpstr>Problems in Framing</vt:lpstr>
      <vt:lpstr>Problems in Framing</vt:lpstr>
      <vt:lpstr>Types of framing</vt:lpstr>
      <vt:lpstr>Solution for ED Problem</vt:lpstr>
      <vt:lpstr>Solution for ED Problem</vt:lpstr>
      <vt:lpstr>Examples:</vt:lpstr>
      <vt:lpstr>Framing Challenges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[Framing - DLL]</dc:title>
  <dc:creator>Muhammad Hammad Waseem</dc:creator>
  <cp:lastModifiedBy>Windows User</cp:lastModifiedBy>
  <cp:revision>1</cp:revision>
  <dcterms:created xsi:type="dcterms:W3CDTF">2025-06-30T07:11:47Z</dcterms:created>
  <dcterms:modified xsi:type="dcterms:W3CDTF">2025-06-30T07:21:43Z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