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89179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7"/>
            <a:ext cx="10359390" cy="4377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6920" y="1656079"/>
            <a:ext cx="6598284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254" dirty="0">
                <a:latin typeface="Trebuchet MS"/>
                <a:cs typeface="Trebuchet MS"/>
              </a:rPr>
              <a:t>Computer</a:t>
            </a:r>
            <a:r>
              <a:rPr sz="6000" b="1" spc="-650" dirty="0">
                <a:latin typeface="Trebuchet MS"/>
                <a:cs typeface="Trebuchet MS"/>
              </a:rPr>
              <a:t> </a:t>
            </a:r>
            <a:r>
              <a:rPr sz="6000" b="1" spc="-16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marL="1270" algn="ctr">
              <a:lnSpc>
                <a:spcPts val="6840"/>
              </a:lnSpc>
            </a:pPr>
            <a:r>
              <a:rPr sz="6000" spc="-330" dirty="0"/>
              <a:t>[</a:t>
            </a:r>
            <a:r>
              <a:rPr sz="5300" i="1" spc="-330" dirty="0">
                <a:latin typeface="Trebuchet MS"/>
                <a:cs typeface="Trebuchet MS"/>
              </a:rPr>
              <a:t>TCP/IP</a:t>
            </a:r>
            <a:r>
              <a:rPr sz="5300" i="1" spc="-560" dirty="0">
                <a:latin typeface="Trebuchet MS"/>
                <a:cs typeface="Trebuchet MS"/>
              </a:rPr>
              <a:t> </a:t>
            </a:r>
            <a:r>
              <a:rPr sz="5300" i="1" spc="-70" dirty="0">
                <a:latin typeface="Trebuchet MS"/>
                <a:cs typeface="Trebuchet MS"/>
              </a:rPr>
              <a:t>Model</a:t>
            </a:r>
            <a:r>
              <a:rPr sz="6000" spc="-7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072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TCP/IP</a:t>
            </a:r>
            <a:r>
              <a:rPr spc="-455" dirty="0"/>
              <a:t> </a:t>
            </a:r>
            <a:r>
              <a:rPr spc="-7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8848725" cy="35255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TCP/IP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model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developed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prior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OSI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TCP/IP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model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exactly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similar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OSI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TCP/IP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model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consists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five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layers: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0" dirty="0">
                <a:latin typeface="Trebuchet MS"/>
                <a:cs typeface="Trebuchet MS"/>
              </a:rPr>
              <a:t>Application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80" dirty="0">
                <a:latin typeface="Trebuchet MS"/>
                <a:cs typeface="Trebuchet MS"/>
              </a:rPr>
              <a:t>Transport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60" dirty="0">
                <a:latin typeface="Trebuchet MS"/>
                <a:cs typeface="Trebuchet MS"/>
              </a:rPr>
              <a:t>Network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0" dirty="0">
                <a:latin typeface="Trebuchet MS"/>
                <a:cs typeface="Trebuchet MS"/>
              </a:rPr>
              <a:t>Data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Link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Physical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Layer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072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TCP/IP</a:t>
            </a:r>
            <a:r>
              <a:rPr spc="-455" dirty="0"/>
              <a:t> </a:t>
            </a:r>
            <a:r>
              <a:rPr spc="-7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662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pc="-170" dirty="0"/>
              <a:t>The</a:t>
            </a:r>
            <a:r>
              <a:rPr spc="-40" dirty="0"/>
              <a:t> </a:t>
            </a:r>
            <a:r>
              <a:rPr spc="-140" dirty="0"/>
              <a:t>first</a:t>
            </a:r>
            <a:r>
              <a:rPr spc="-70" dirty="0"/>
              <a:t> </a:t>
            </a:r>
            <a:r>
              <a:rPr spc="-100" dirty="0"/>
              <a:t>four</a:t>
            </a:r>
            <a:r>
              <a:rPr spc="-110" dirty="0"/>
              <a:t> </a:t>
            </a:r>
            <a:r>
              <a:rPr spc="-55" dirty="0"/>
              <a:t>layers</a:t>
            </a:r>
            <a:r>
              <a:rPr spc="-155" dirty="0"/>
              <a:t> </a:t>
            </a:r>
            <a:r>
              <a:rPr spc="-85" dirty="0"/>
              <a:t>provide</a:t>
            </a:r>
            <a:r>
              <a:rPr spc="-100" dirty="0"/>
              <a:t> </a:t>
            </a:r>
            <a:r>
              <a:rPr spc="-10" dirty="0"/>
              <a:t>physical</a:t>
            </a:r>
            <a:r>
              <a:rPr spc="-95" dirty="0"/>
              <a:t> </a:t>
            </a:r>
            <a:r>
              <a:rPr spc="-25" dirty="0"/>
              <a:t>standards,</a:t>
            </a:r>
            <a:r>
              <a:rPr spc="-70" dirty="0"/>
              <a:t> </a:t>
            </a:r>
            <a:r>
              <a:rPr spc="-105" dirty="0"/>
              <a:t>network </a:t>
            </a:r>
            <a:r>
              <a:rPr spc="-65" dirty="0"/>
              <a:t>interface, 	</a:t>
            </a:r>
            <a:r>
              <a:rPr spc="-75" dirty="0"/>
              <a:t>internetworking,</a:t>
            </a:r>
            <a:r>
              <a:rPr spc="1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25" dirty="0"/>
              <a:t>transport</a:t>
            </a:r>
            <a:r>
              <a:rPr spc="15" dirty="0"/>
              <a:t> </a:t>
            </a:r>
            <a:r>
              <a:rPr dirty="0"/>
              <a:t>functions</a:t>
            </a:r>
            <a:r>
              <a:rPr spc="15" dirty="0"/>
              <a:t> </a:t>
            </a:r>
            <a:r>
              <a:rPr dirty="0"/>
              <a:t>that</a:t>
            </a:r>
            <a:r>
              <a:rPr spc="30" dirty="0"/>
              <a:t> </a:t>
            </a:r>
            <a:r>
              <a:rPr dirty="0"/>
              <a:t>correspond</a:t>
            </a:r>
            <a:r>
              <a:rPr spc="2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25" dirty="0"/>
              <a:t>the 	</a:t>
            </a:r>
            <a:r>
              <a:rPr dirty="0"/>
              <a:t>first</a:t>
            </a:r>
            <a:r>
              <a:rPr spc="484" dirty="0"/>
              <a:t> </a:t>
            </a:r>
            <a:r>
              <a:rPr dirty="0"/>
              <a:t>four</a:t>
            </a:r>
            <a:r>
              <a:rPr spc="490" dirty="0"/>
              <a:t> </a:t>
            </a:r>
            <a:r>
              <a:rPr dirty="0"/>
              <a:t>layers</a:t>
            </a:r>
            <a:r>
              <a:rPr spc="484" dirty="0"/>
              <a:t> </a:t>
            </a:r>
            <a:r>
              <a:rPr dirty="0"/>
              <a:t>of</a:t>
            </a:r>
            <a:r>
              <a:rPr spc="484" dirty="0"/>
              <a:t> </a:t>
            </a:r>
            <a:r>
              <a:rPr dirty="0"/>
              <a:t>the</a:t>
            </a:r>
            <a:r>
              <a:rPr spc="490" dirty="0"/>
              <a:t> </a:t>
            </a:r>
            <a:r>
              <a:rPr spc="100" dirty="0"/>
              <a:t>OSI</a:t>
            </a:r>
            <a:r>
              <a:rPr spc="495" dirty="0"/>
              <a:t> </a:t>
            </a:r>
            <a:r>
              <a:rPr dirty="0"/>
              <a:t>model</a:t>
            </a:r>
            <a:r>
              <a:rPr spc="505" dirty="0"/>
              <a:t> </a:t>
            </a:r>
            <a:r>
              <a:rPr dirty="0"/>
              <a:t>and</a:t>
            </a:r>
            <a:r>
              <a:rPr spc="484" dirty="0"/>
              <a:t> </a:t>
            </a:r>
            <a:r>
              <a:rPr dirty="0"/>
              <a:t>these</a:t>
            </a:r>
            <a:r>
              <a:rPr spc="484" dirty="0"/>
              <a:t> </a:t>
            </a:r>
            <a:r>
              <a:rPr dirty="0"/>
              <a:t>four</a:t>
            </a:r>
            <a:r>
              <a:rPr spc="490" dirty="0"/>
              <a:t> </a:t>
            </a:r>
            <a:r>
              <a:rPr dirty="0"/>
              <a:t>layers</a:t>
            </a:r>
            <a:r>
              <a:rPr spc="484" dirty="0"/>
              <a:t> </a:t>
            </a:r>
            <a:r>
              <a:rPr spc="-25" dirty="0"/>
              <a:t>are 	</a:t>
            </a:r>
            <a:r>
              <a:rPr dirty="0"/>
              <a:t>represented</a:t>
            </a:r>
            <a:r>
              <a:rPr spc="30" dirty="0"/>
              <a:t>  </a:t>
            </a:r>
            <a:r>
              <a:rPr dirty="0"/>
              <a:t>in</a:t>
            </a:r>
            <a:r>
              <a:rPr spc="30" dirty="0"/>
              <a:t>  </a:t>
            </a:r>
            <a:r>
              <a:rPr dirty="0"/>
              <a:t>TCP/IP</a:t>
            </a:r>
            <a:r>
              <a:rPr spc="30" dirty="0"/>
              <a:t>  </a:t>
            </a:r>
            <a:r>
              <a:rPr dirty="0"/>
              <a:t>model</a:t>
            </a:r>
            <a:r>
              <a:rPr spc="30" dirty="0"/>
              <a:t>  </a:t>
            </a:r>
            <a:r>
              <a:rPr dirty="0"/>
              <a:t>by</a:t>
            </a:r>
            <a:r>
              <a:rPr spc="35" dirty="0"/>
              <a:t>  </a:t>
            </a:r>
            <a:r>
              <a:rPr dirty="0"/>
              <a:t>a</a:t>
            </a:r>
            <a:r>
              <a:rPr spc="30" dirty="0"/>
              <a:t>  </a:t>
            </a:r>
            <a:r>
              <a:rPr dirty="0"/>
              <a:t>single</a:t>
            </a:r>
            <a:r>
              <a:rPr spc="30" dirty="0"/>
              <a:t>  </a:t>
            </a:r>
            <a:r>
              <a:rPr dirty="0"/>
              <a:t>layer</a:t>
            </a:r>
            <a:r>
              <a:rPr spc="30" dirty="0"/>
              <a:t>  </a:t>
            </a:r>
            <a:r>
              <a:rPr dirty="0"/>
              <a:t>called</a:t>
            </a:r>
            <a:r>
              <a:rPr spc="35" dirty="0"/>
              <a:t>  </a:t>
            </a:r>
            <a:r>
              <a:rPr spc="-25" dirty="0"/>
              <a:t>the 	</a:t>
            </a:r>
            <a:r>
              <a:rPr b="1" i="1" spc="-90" dirty="0">
                <a:latin typeface="Trebuchet MS"/>
                <a:cs typeface="Trebuchet MS"/>
              </a:rPr>
              <a:t>application</a:t>
            </a:r>
            <a:r>
              <a:rPr b="1" i="1" spc="-170" dirty="0">
                <a:latin typeface="Trebuchet MS"/>
                <a:cs typeface="Trebuchet MS"/>
              </a:rPr>
              <a:t> </a:t>
            </a:r>
            <a:r>
              <a:rPr b="1" i="1" spc="-10" dirty="0">
                <a:latin typeface="Trebuchet MS"/>
                <a:cs typeface="Trebuchet MS"/>
              </a:rPr>
              <a:t>layer</a:t>
            </a:r>
            <a:r>
              <a:rPr spc="-10" dirty="0"/>
              <a:t>.</a:t>
            </a:r>
          </a:p>
          <a:p>
            <a:pPr marL="239395" marR="5080" indent="-227329" algn="just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pc="-145" dirty="0"/>
              <a:t>TCP/IP</a:t>
            </a:r>
            <a:r>
              <a:rPr spc="-6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-55" dirty="0"/>
              <a:t>hierarchical</a:t>
            </a:r>
            <a:r>
              <a:rPr spc="-65" dirty="0"/>
              <a:t> </a:t>
            </a:r>
            <a:r>
              <a:rPr spc="-30" dirty="0"/>
              <a:t>protocol</a:t>
            </a:r>
            <a:r>
              <a:rPr spc="-65" dirty="0"/>
              <a:t> </a:t>
            </a:r>
            <a:r>
              <a:rPr dirty="0"/>
              <a:t>made</a:t>
            </a:r>
            <a:r>
              <a:rPr spc="-50" dirty="0"/>
              <a:t> </a:t>
            </a:r>
            <a:r>
              <a:rPr dirty="0"/>
              <a:t>up</a:t>
            </a:r>
            <a:r>
              <a:rPr spc="-7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5" dirty="0"/>
              <a:t>interactive</a:t>
            </a:r>
            <a:r>
              <a:rPr spc="-95" dirty="0"/>
              <a:t> </a:t>
            </a:r>
            <a:r>
              <a:rPr spc="-10" dirty="0"/>
              <a:t>modules, 	</a:t>
            </a:r>
            <a:r>
              <a:rPr dirty="0"/>
              <a:t>and</a:t>
            </a:r>
            <a:r>
              <a:rPr spc="-245" dirty="0"/>
              <a:t> </a:t>
            </a:r>
            <a:r>
              <a:rPr spc="-10" dirty="0"/>
              <a:t>each</a:t>
            </a:r>
            <a:r>
              <a:rPr spc="-235" dirty="0"/>
              <a:t> </a:t>
            </a:r>
            <a:r>
              <a:rPr spc="-95" dirty="0"/>
              <a:t>of</a:t>
            </a:r>
            <a:r>
              <a:rPr spc="-245" dirty="0"/>
              <a:t> </a:t>
            </a:r>
            <a:r>
              <a:rPr spc="-60" dirty="0"/>
              <a:t>them</a:t>
            </a:r>
            <a:r>
              <a:rPr spc="-245" dirty="0"/>
              <a:t> </a:t>
            </a:r>
            <a:r>
              <a:rPr spc="-45" dirty="0"/>
              <a:t>provides</a:t>
            </a:r>
            <a:r>
              <a:rPr spc="-235" dirty="0"/>
              <a:t> </a:t>
            </a:r>
            <a:r>
              <a:rPr spc="-30" dirty="0"/>
              <a:t>specific</a:t>
            </a:r>
            <a:r>
              <a:rPr spc="-229" dirty="0"/>
              <a:t> </a:t>
            </a:r>
            <a:r>
              <a:rPr spc="-10" dirty="0"/>
              <a:t>functionality.</a:t>
            </a:r>
          </a:p>
          <a:p>
            <a:pPr marL="240029" marR="635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Here,</a:t>
            </a:r>
            <a:r>
              <a:rPr spc="-35" dirty="0"/>
              <a:t>  </a:t>
            </a:r>
            <a:r>
              <a:rPr dirty="0"/>
              <a:t>hierarchical</a:t>
            </a:r>
            <a:r>
              <a:rPr spc="-35" dirty="0"/>
              <a:t>  </a:t>
            </a:r>
            <a:r>
              <a:rPr dirty="0"/>
              <a:t>means</a:t>
            </a:r>
            <a:r>
              <a:rPr spc="-25" dirty="0"/>
              <a:t>  </a:t>
            </a:r>
            <a:r>
              <a:rPr dirty="0"/>
              <a:t>that</a:t>
            </a:r>
            <a:r>
              <a:rPr spc="-40" dirty="0"/>
              <a:t>  </a:t>
            </a:r>
            <a:r>
              <a:rPr dirty="0"/>
              <a:t>each</a:t>
            </a:r>
            <a:r>
              <a:rPr spc="-30" dirty="0"/>
              <a:t>  </a:t>
            </a:r>
            <a:r>
              <a:rPr spc="-75" dirty="0"/>
              <a:t>upper-</a:t>
            </a:r>
            <a:r>
              <a:rPr dirty="0"/>
              <a:t>layer</a:t>
            </a:r>
            <a:r>
              <a:rPr spc="-35" dirty="0"/>
              <a:t>  </a:t>
            </a:r>
            <a:r>
              <a:rPr dirty="0"/>
              <a:t>protocol</a:t>
            </a:r>
            <a:r>
              <a:rPr spc="-30" dirty="0"/>
              <a:t>  </a:t>
            </a:r>
            <a:r>
              <a:rPr spc="-25" dirty="0"/>
              <a:t>is 	</a:t>
            </a:r>
            <a:r>
              <a:rPr spc="-20" dirty="0"/>
              <a:t>supported</a:t>
            </a:r>
            <a:r>
              <a:rPr spc="-225" dirty="0"/>
              <a:t> </a:t>
            </a:r>
            <a:r>
              <a:rPr spc="-80" dirty="0"/>
              <a:t>by</a:t>
            </a:r>
            <a:r>
              <a:rPr spc="-240" dirty="0"/>
              <a:t> </a:t>
            </a:r>
            <a:r>
              <a:rPr spc="-100" dirty="0"/>
              <a:t>two</a:t>
            </a:r>
            <a:r>
              <a:rPr spc="-245" dirty="0"/>
              <a:t> </a:t>
            </a:r>
            <a:r>
              <a:rPr spc="-70" dirty="0"/>
              <a:t>or</a:t>
            </a:r>
            <a:r>
              <a:rPr spc="-229" dirty="0"/>
              <a:t> </a:t>
            </a:r>
            <a:r>
              <a:rPr spc="-55" dirty="0"/>
              <a:t>more</a:t>
            </a:r>
            <a:r>
              <a:rPr spc="-235" dirty="0"/>
              <a:t> </a:t>
            </a:r>
            <a:r>
              <a:rPr spc="-110" dirty="0"/>
              <a:t>lower-</a:t>
            </a:r>
            <a:r>
              <a:rPr spc="-100" dirty="0"/>
              <a:t>level</a:t>
            </a:r>
            <a:r>
              <a:rPr spc="-250" dirty="0"/>
              <a:t> </a:t>
            </a:r>
            <a:r>
              <a:rPr spc="-10" dirty="0"/>
              <a:t>protocols.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90" dirty="0"/>
              <a:t> </a:t>
            </a:r>
            <a:r>
              <a:rPr spc="-265" dirty="0"/>
              <a:t>of</a:t>
            </a:r>
            <a:r>
              <a:rPr spc="-450" dirty="0"/>
              <a:t> </a:t>
            </a:r>
            <a:r>
              <a:rPr spc="-295" dirty="0"/>
              <a:t>TCP/IP</a:t>
            </a:r>
            <a:r>
              <a:rPr spc="-450" dirty="0"/>
              <a:t> </a:t>
            </a:r>
            <a:r>
              <a:rPr spc="-100" dirty="0"/>
              <a:t>Layers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3" y="1690674"/>
            <a:ext cx="7983346" cy="4964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Network</a:t>
            </a:r>
            <a:r>
              <a:rPr spc="-400" dirty="0"/>
              <a:t> </a:t>
            </a:r>
            <a:r>
              <a:rPr dirty="0"/>
              <a:t>Access</a:t>
            </a:r>
            <a:r>
              <a:rPr spc="-395" dirty="0"/>
              <a:t> </a:t>
            </a:r>
            <a:r>
              <a:rPr spc="-17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427"/>
            <a:ext cx="10361295" cy="42754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lowest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TCP/IP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model.</a:t>
            </a:r>
            <a:endParaRPr sz="2600">
              <a:latin typeface="Trebuchet MS"/>
              <a:cs typeface="Trebuchet MS"/>
            </a:endParaRPr>
          </a:p>
          <a:p>
            <a:pPr marL="241300" indent="-228600" algn="just">
              <a:lnSpc>
                <a:spcPts val="281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14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network</a:t>
            </a:r>
            <a:r>
              <a:rPr sz="2600" spc="-13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layer</a:t>
            </a:r>
            <a:r>
              <a:rPr sz="2600" spc="-1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combination</a:t>
            </a:r>
            <a:r>
              <a:rPr sz="2600" spc="-13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140" dirty="0">
                <a:latin typeface="Trebuchet MS"/>
                <a:cs typeface="Trebuchet MS"/>
              </a:rPr>
              <a:t> </a:t>
            </a:r>
            <a:r>
              <a:rPr sz="2600" b="1" i="1" spc="-20" dirty="0">
                <a:latin typeface="Trebuchet MS"/>
                <a:cs typeface="Trebuchet MS"/>
              </a:rPr>
              <a:t>Physical</a:t>
            </a:r>
            <a:r>
              <a:rPr sz="2600" b="1" i="1" spc="-14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layer</a:t>
            </a:r>
            <a:r>
              <a:rPr sz="2600" spc="-1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b="1" i="1" spc="-80" dirty="0">
                <a:latin typeface="Trebuchet MS"/>
                <a:cs typeface="Trebuchet MS"/>
              </a:rPr>
              <a:t>Data</a:t>
            </a:r>
            <a:r>
              <a:rPr sz="2600" b="1" i="1" spc="-135" dirty="0">
                <a:latin typeface="Trebuchet MS"/>
                <a:cs typeface="Trebuchet MS"/>
              </a:rPr>
              <a:t> </a:t>
            </a:r>
            <a:r>
              <a:rPr sz="2600" b="1" i="1" spc="-20" dirty="0">
                <a:latin typeface="Trebuchet MS"/>
                <a:cs typeface="Trebuchet MS"/>
              </a:rPr>
              <a:t>Link</a:t>
            </a:r>
            <a:endParaRPr sz="2600">
              <a:latin typeface="Trebuchet MS"/>
              <a:cs typeface="Trebuchet MS"/>
            </a:endParaRPr>
          </a:p>
          <a:p>
            <a:pPr marL="241300" algn="just">
              <a:lnSpc>
                <a:spcPts val="2810"/>
              </a:lnSpc>
            </a:pP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defined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in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OSI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reference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model.</a:t>
            </a:r>
            <a:endParaRPr sz="2600">
              <a:latin typeface="Trebuchet MS"/>
              <a:cs typeface="Trebuchet MS"/>
            </a:endParaRPr>
          </a:p>
          <a:p>
            <a:pPr marL="241300" indent="-228600" algn="just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35" dirty="0">
                <a:latin typeface="Trebuchet MS"/>
                <a:cs typeface="Trebuchet MS"/>
              </a:rPr>
              <a:t>It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defines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how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should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b="1" i="1" spc="-25" dirty="0">
                <a:latin typeface="Trebuchet MS"/>
                <a:cs typeface="Trebuchet MS"/>
              </a:rPr>
              <a:t>sent</a:t>
            </a:r>
            <a:r>
              <a:rPr sz="2600" b="1" i="1" spc="-225" dirty="0">
                <a:latin typeface="Trebuchet MS"/>
                <a:cs typeface="Trebuchet MS"/>
              </a:rPr>
              <a:t> </a:t>
            </a:r>
            <a:r>
              <a:rPr sz="2600" b="1" i="1" spc="-55" dirty="0">
                <a:latin typeface="Trebuchet MS"/>
                <a:cs typeface="Trebuchet MS"/>
              </a:rPr>
              <a:t>physically</a:t>
            </a:r>
            <a:r>
              <a:rPr sz="2600" b="1" i="1" spc="-21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through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network.</a:t>
            </a:r>
            <a:endParaRPr sz="2600">
              <a:latin typeface="Trebuchet MS"/>
              <a:cs typeface="Trebuchet MS"/>
            </a:endParaRPr>
          </a:p>
          <a:p>
            <a:pPr marL="241300" indent="-228600" algn="just">
              <a:lnSpc>
                <a:spcPts val="281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This</a:t>
            </a:r>
            <a:r>
              <a:rPr sz="2600" spc="3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layer</a:t>
            </a:r>
            <a:r>
              <a:rPr sz="2600" spc="3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3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mainly</a:t>
            </a:r>
            <a:r>
              <a:rPr sz="2600" spc="3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responsible</a:t>
            </a:r>
            <a:r>
              <a:rPr sz="2600" spc="3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for</a:t>
            </a:r>
            <a:r>
              <a:rPr sz="2600" spc="3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32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transmission</a:t>
            </a:r>
            <a:r>
              <a:rPr sz="2600" b="1" i="1" spc="320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of</a:t>
            </a:r>
            <a:r>
              <a:rPr sz="2600" b="1" i="1" spc="32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the</a:t>
            </a:r>
            <a:r>
              <a:rPr sz="2600" b="1" i="1" spc="325" dirty="0">
                <a:latin typeface="Trebuchet MS"/>
                <a:cs typeface="Trebuchet MS"/>
              </a:rPr>
              <a:t> </a:t>
            </a:r>
            <a:r>
              <a:rPr sz="2600" b="1" i="1" spc="-2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  <a:p>
            <a:pPr marL="241300" algn="just">
              <a:lnSpc>
                <a:spcPts val="2810"/>
              </a:lnSpc>
            </a:pPr>
            <a:r>
              <a:rPr sz="2600" spc="-70" dirty="0">
                <a:latin typeface="Trebuchet MS"/>
                <a:cs typeface="Trebuchet MS"/>
              </a:rPr>
              <a:t>between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two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same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network.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functions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carried</a:t>
            </a:r>
            <a:r>
              <a:rPr sz="2600" spc="3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out</a:t>
            </a:r>
            <a:r>
              <a:rPr sz="2600" spc="3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3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this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layer</a:t>
            </a:r>
            <a:r>
              <a:rPr sz="2600" spc="4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390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encapsulating</a:t>
            </a:r>
            <a:r>
              <a:rPr sz="2600" b="1" i="1" spc="400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the</a:t>
            </a:r>
            <a:r>
              <a:rPr sz="2600" b="1" i="1" spc="405" dirty="0">
                <a:latin typeface="Trebuchet MS"/>
                <a:cs typeface="Trebuchet MS"/>
              </a:rPr>
              <a:t> </a:t>
            </a:r>
            <a:r>
              <a:rPr sz="2600" b="1" i="1" spc="40" dirty="0">
                <a:latin typeface="Trebuchet MS"/>
                <a:cs typeface="Trebuchet MS"/>
              </a:rPr>
              <a:t>IP </a:t>
            </a:r>
            <a:r>
              <a:rPr sz="2600" b="1" i="1" spc="-95" dirty="0">
                <a:latin typeface="Trebuchet MS"/>
                <a:cs typeface="Trebuchet MS"/>
              </a:rPr>
              <a:t>datagram</a:t>
            </a:r>
            <a:r>
              <a:rPr sz="2600" b="1" i="1" spc="-105" dirty="0">
                <a:latin typeface="Trebuchet MS"/>
                <a:cs typeface="Trebuchet MS"/>
              </a:rPr>
              <a:t> </a:t>
            </a:r>
            <a:r>
              <a:rPr sz="2600" b="1" i="1" spc="-75" dirty="0">
                <a:latin typeface="Trebuchet MS"/>
                <a:cs typeface="Trebuchet MS"/>
              </a:rPr>
              <a:t>into</a:t>
            </a:r>
            <a:r>
              <a:rPr sz="2600" b="1" i="1" spc="-120" dirty="0">
                <a:latin typeface="Trebuchet MS"/>
                <a:cs typeface="Trebuchet MS"/>
              </a:rPr>
              <a:t> </a:t>
            </a:r>
            <a:r>
              <a:rPr sz="2600" b="1" i="1" spc="-30" dirty="0">
                <a:latin typeface="Trebuchet MS"/>
                <a:cs typeface="Trebuchet MS"/>
              </a:rPr>
              <a:t>frames</a:t>
            </a:r>
            <a:r>
              <a:rPr sz="2600" b="1" i="1" spc="-10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transmitted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the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network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b="1" i="1" spc="-25" dirty="0">
                <a:latin typeface="Trebuchet MS"/>
                <a:cs typeface="Trebuchet MS"/>
              </a:rPr>
              <a:t>mapping</a:t>
            </a:r>
            <a:r>
              <a:rPr sz="2600" b="1" i="1" spc="-95" dirty="0">
                <a:latin typeface="Trebuchet MS"/>
                <a:cs typeface="Trebuchet MS"/>
              </a:rPr>
              <a:t> </a:t>
            </a:r>
            <a:r>
              <a:rPr sz="2600" b="1" i="1" spc="-65" dirty="0">
                <a:latin typeface="Trebuchet MS"/>
                <a:cs typeface="Trebuchet MS"/>
              </a:rPr>
              <a:t>of</a:t>
            </a:r>
            <a:r>
              <a:rPr sz="2600" b="1" i="1" spc="-105" dirty="0">
                <a:latin typeface="Trebuchet MS"/>
                <a:cs typeface="Trebuchet MS"/>
              </a:rPr>
              <a:t> </a:t>
            </a:r>
            <a:r>
              <a:rPr sz="2600" b="1" i="1" spc="30" dirty="0">
                <a:latin typeface="Trebuchet MS"/>
                <a:cs typeface="Trebuchet MS"/>
              </a:rPr>
              <a:t>IP </a:t>
            </a:r>
            <a:r>
              <a:rPr sz="2600" b="1" i="1" dirty="0">
                <a:latin typeface="Trebuchet MS"/>
                <a:cs typeface="Trebuchet MS"/>
              </a:rPr>
              <a:t>addresses</a:t>
            </a:r>
            <a:r>
              <a:rPr sz="2600" b="1" i="1" spc="-225" dirty="0">
                <a:latin typeface="Trebuchet MS"/>
                <a:cs typeface="Trebuchet MS"/>
              </a:rPr>
              <a:t> </a:t>
            </a:r>
            <a:r>
              <a:rPr sz="2600" b="1" i="1" spc="-100" dirty="0">
                <a:latin typeface="Trebuchet MS"/>
                <a:cs typeface="Trebuchet MS"/>
              </a:rPr>
              <a:t>into</a:t>
            </a:r>
            <a:r>
              <a:rPr sz="2600" b="1" i="1" spc="-235" dirty="0">
                <a:latin typeface="Trebuchet MS"/>
                <a:cs typeface="Trebuchet MS"/>
              </a:rPr>
              <a:t> </a:t>
            </a:r>
            <a:r>
              <a:rPr sz="2600" b="1" i="1" spc="-40" dirty="0">
                <a:latin typeface="Trebuchet MS"/>
                <a:cs typeface="Trebuchet MS"/>
              </a:rPr>
              <a:t>physical</a:t>
            </a:r>
            <a:r>
              <a:rPr sz="2600" b="1" i="1" spc="-225" dirty="0">
                <a:latin typeface="Trebuchet MS"/>
                <a:cs typeface="Trebuchet MS"/>
              </a:rPr>
              <a:t> </a:t>
            </a:r>
            <a:r>
              <a:rPr sz="2600" b="1" i="1" spc="-10" dirty="0">
                <a:latin typeface="Trebuchet MS"/>
                <a:cs typeface="Trebuchet MS"/>
              </a:rPr>
              <a:t>addresses</a:t>
            </a:r>
            <a:r>
              <a:rPr sz="2600" spc="-1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41300" marR="5715" indent="-229235" algn="just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protocols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this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layer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ethernet,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token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ring,</a:t>
            </a:r>
            <a:r>
              <a:rPr sz="2600" spc="-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FDDI,</a:t>
            </a:r>
            <a:r>
              <a:rPr sz="2600" spc="-3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X.25, </a:t>
            </a:r>
            <a:r>
              <a:rPr sz="2600" spc="-90" dirty="0">
                <a:latin typeface="Trebuchet MS"/>
                <a:cs typeface="Trebuchet MS"/>
              </a:rPr>
              <a:t>frame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relay.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133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Internet</a:t>
            </a:r>
            <a:r>
              <a:rPr spc="-459" dirty="0"/>
              <a:t> </a:t>
            </a:r>
            <a:r>
              <a:rPr spc="-20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358120" cy="401955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internet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second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TCP/IP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internet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known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b="1" i="1" spc="-85" dirty="0">
                <a:latin typeface="Trebuchet MS"/>
                <a:cs typeface="Trebuchet MS"/>
              </a:rPr>
              <a:t>network</a:t>
            </a:r>
            <a:r>
              <a:rPr sz="2800" b="1" i="1" spc="-190" dirty="0">
                <a:latin typeface="Trebuchet MS"/>
                <a:cs typeface="Trebuchet MS"/>
              </a:rPr>
              <a:t> </a:t>
            </a:r>
            <a:r>
              <a:rPr sz="2800" b="1" i="1" spc="-10" dirty="0">
                <a:latin typeface="Trebuchet MS"/>
                <a:cs typeface="Trebuchet MS"/>
              </a:rPr>
              <a:t>layer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5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main</a:t>
            </a:r>
            <a:r>
              <a:rPr sz="2800" spc="5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responsibility</a:t>
            </a:r>
            <a:r>
              <a:rPr sz="2800" spc="5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of</a:t>
            </a:r>
            <a:r>
              <a:rPr sz="2800" spc="50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4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internet</a:t>
            </a:r>
            <a:r>
              <a:rPr sz="2800" spc="5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layer</a:t>
            </a:r>
            <a:r>
              <a:rPr sz="2800" spc="50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5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515" dirty="0">
                <a:latin typeface="Trebuchet MS"/>
                <a:cs typeface="Trebuchet MS"/>
              </a:rPr>
              <a:t> </a:t>
            </a:r>
            <a:r>
              <a:rPr sz="2800" b="1" i="1" dirty="0">
                <a:latin typeface="Trebuchet MS"/>
                <a:cs typeface="Trebuchet MS"/>
              </a:rPr>
              <a:t>send</a:t>
            </a:r>
            <a:r>
              <a:rPr sz="2800" b="1" i="1" spc="509" dirty="0">
                <a:latin typeface="Trebuchet MS"/>
                <a:cs typeface="Trebuchet MS"/>
              </a:rPr>
              <a:t> </a:t>
            </a:r>
            <a:r>
              <a:rPr sz="2800" b="1" i="1" spc="-25" dirty="0">
                <a:latin typeface="Trebuchet MS"/>
                <a:cs typeface="Trebuchet MS"/>
              </a:rPr>
              <a:t>the 	</a:t>
            </a:r>
            <a:r>
              <a:rPr sz="2800" b="1" i="1" dirty="0">
                <a:latin typeface="Trebuchet MS"/>
                <a:cs typeface="Trebuchet MS"/>
              </a:rPr>
              <a:t>packets</a:t>
            </a:r>
            <a:r>
              <a:rPr sz="2800" b="1" i="1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any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network,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they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arrive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at</a:t>
            </a:r>
            <a:r>
              <a:rPr sz="2800" spc="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destination 	</a:t>
            </a:r>
            <a:r>
              <a:rPr sz="2800" spc="-85" dirty="0">
                <a:latin typeface="Trebuchet MS"/>
                <a:cs typeface="Trebuchet MS"/>
              </a:rPr>
              <a:t>irrespective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route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they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take.</a:t>
            </a:r>
            <a:endParaRPr sz="2800">
              <a:latin typeface="Trebuchet MS"/>
              <a:cs typeface="Trebuchet MS"/>
            </a:endParaRPr>
          </a:p>
          <a:p>
            <a:pPr marL="240029" indent="-227329" algn="just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latin typeface="Trebuchet MS"/>
                <a:cs typeface="Trebuchet MS"/>
              </a:rPr>
              <a:t>Protocols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this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layers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are:</a:t>
            </a:r>
            <a:endParaRPr sz="28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IP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Protocol</a:t>
            </a:r>
            <a:endParaRPr sz="24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rebuchet MS"/>
                <a:cs typeface="Trebuchet MS"/>
              </a:rPr>
              <a:t>ARP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Protocol</a:t>
            </a:r>
            <a:endParaRPr sz="2400">
              <a:latin typeface="Trebuchet MS"/>
              <a:cs typeface="Trebuchet MS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95" dirty="0">
                <a:latin typeface="Trebuchet MS"/>
                <a:cs typeface="Trebuchet MS"/>
              </a:rPr>
              <a:t>ICMP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Protocol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75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923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rebuchet MS"/>
                <a:cs typeface="Trebuchet MS"/>
              </a:rPr>
              <a:t>IP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protocol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significant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part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entire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TCP/IP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suite.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4753" y="2774695"/>
            <a:ext cx="416560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160" dirty="0">
                <a:latin typeface="Trebuchet MS"/>
                <a:cs typeface="Trebuchet MS"/>
              </a:rPr>
              <a:t>Responsibilities</a:t>
            </a:r>
            <a:r>
              <a:rPr sz="4400" spc="-350" dirty="0">
                <a:latin typeface="Trebuchet MS"/>
                <a:cs typeface="Trebuchet MS"/>
              </a:rPr>
              <a:t> </a:t>
            </a:r>
            <a:r>
              <a:rPr sz="4400" spc="-290" dirty="0">
                <a:latin typeface="Trebuchet MS"/>
                <a:cs typeface="Trebuchet MS"/>
              </a:rPr>
              <a:t>of </a:t>
            </a:r>
            <a:r>
              <a:rPr sz="4400" spc="-120" dirty="0">
                <a:latin typeface="Trebuchet MS"/>
                <a:cs typeface="Trebuchet MS"/>
              </a:rPr>
              <a:t>IP</a:t>
            </a:r>
            <a:r>
              <a:rPr sz="4400" spc="-459" dirty="0">
                <a:latin typeface="Trebuchet MS"/>
                <a:cs typeface="Trebuchet MS"/>
              </a:rPr>
              <a:t> </a:t>
            </a:r>
            <a:r>
              <a:rPr sz="4400" spc="-65" dirty="0">
                <a:latin typeface="Trebuchet MS"/>
                <a:cs typeface="Trebuchet MS"/>
              </a:rPr>
              <a:t>Protocol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7147" y="210311"/>
            <a:ext cx="1796033" cy="19149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78600" y="987933"/>
            <a:ext cx="916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IP</a:t>
            </a:r>
            <a:r>
              <a:rPr sz="1200" spc="-12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Addressing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8028" y="1406652"/>
            <a:ext cx="1533905" cy="191490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10453" y="2103577"/>
            <a:ext cx="10928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80"/>
              </a:lnSpc>
              <a:spcBef>
                <a:spcPts val="100"/>
              </a:spcBef>
            </a:pPr>
            <a:r>
              <a:rPr sz="1200" dirty="0"/>
              <a:t>Host</a:t>
            </a:r>
            <a:r>
              <a:rPr sz="1200" spc="-90" dirty="0"/>
              <a:t> </a:t>
            </a:r>
            <a:r>
              <a:rPr sz="1200" spc="-50" dirty="0"/>
              <a:t>to</a:t>
            </a:r>
            <a:r>
              <a:rPr sz="1200" spc="-90" dirty="0"/>
              <a:t> </a:t>
            </a:r>
            <a:r>
              <a:rPr sz="1200" spc="-20" dirty="0"/>
              <a:t>Host</a:t>
            </a:r>
            <a:endParaRPr sz="1200"/>
          </a:p>
          <a:p>
            <a:pPr algn="ctr">
              <a:lnSpc>
                <a:spcPts val="1380"/>
              </a:lnSpc>
            </a:pPr>
            <a:r>
              <a:rPr sz="1200" spc="-10" dirty="0"/>
              <a:t>Communication</a:t>
            </a:r>
            <a:endParaRPr sz="1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9276" y="2609088"/>
            <a:ext cx="1533905" cy="19149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26783" y="3219069"/>
            <a:ext cx="1019810" cy="5441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-635" algn="ctr">
              <a:lnSpc>
                <a:spcPts val="1320"/>
              </a:lnSpc>
              <a:spcBef>
                <a:spcPts val="240"/>
              </a:spcBef>
            </a:pPr>
            <a:r>
              <a:rPr sz="1200" spc="-20" dirty="0">
                <a:latin typeface="Trebuchet MS"/>
                <a:cs typeface="Trebuchet MS"/>
              </a:rPr>
              <a:t>Data </a:t>
            </a:r>
            <a:r>
              <a:rPr sz="1200" spc="-10" dirty="0">
                <a:latin typeface="Trebuchet MS"/>
                <a:cs typeface="Trebuchet MS"/>
              </a:rPr>
              <a:t>Encapsulation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100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Formatting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8028" y="3806952"/>
            <a:ext cx="1533905" cy="191490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98260" y="4502657"/>
            <a:ext cx="111823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6858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Trebuchet MS"/>
                <a:cs typeface="Trebuchet MS"/>
              </a:rPr>
              <a:t>Fragmentation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9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Reassembly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38671" y="4995675"/>
            <a:ext cx="1794510" cy="17960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772147" y="5785815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rebuchet MS"/>
                <a:cs typeface="Trebuchet MS"/>
              </a:rPr>
              <a:t>Routing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25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520" y="1524000"/>
            <a:ext cx="1387602" cy="14790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1738" y="2126107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rebuchet MS"/>
                <a:cs typeface="Trebuchet MS"/>
              </a:rPr>
              <a:t>IP</a:t>
            </a:r>
            <a:r>
              <a:rPr sz="900" spc="-9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Addressing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988" y="2447544"/>
            <a:ext cx="1184910" cy="14790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07895" y="2989326"/>
            <a:ext cx="826769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91440">
              <a:lnSpc>
                <a:spcPts val="980"/>
              </a:lnSpc>
              <a:spcBef>
                <a:spcPts val="215"/>
              </a:spcBef>
            </a:pPr>
            <a:r>
              <a:rPr sz="900" dirty="0">
                <a:latin typeface="Trebuchet MS"/>
                <a:cs typeface="Trebuchet MS"/>
              </a:rPr>
              <a:t>Host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to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Host </a:t>
            </a:r>
            <a:r>
              <a:rPr sz="900" spc="-10" dirty="0"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7211" y="3375659"/>
            <a:ext cx="1184910" cy="14790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82495" y="3851909"/>
            <a:ext cx="773430" cy="4140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190"/>
              </a:spcBef>
            </a:pPr>
            <a:r>
              <a:rPr sz="900" spc="-20" dirty="0">
                <a:latin typeface="Trebuchet MS"/>
                <a:cs typeface="Trebuchet MS"/>
              </a:rPr>
              <a:t>Data </a:t>
            </a:r>
            <a:r>
              <a:rPr sz="900" spc="-10" dirty="0">
                <a:latin typeface="Trebuchet MS"/>
                <a:cs typeface="Trebuchet MS"/>
              </a:rPr>
              <a:t>Encapsulation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Formatting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988" y="4300740"/>
            <a:ext cx="1184910" cy="147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00276" y="4840604"/>
            <a:ext cx="840740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6990">
              <a:lnSpc>
                <a:spcPts val="980"/>
              </a:lnSpc>
              <a:spcBef>
                <a:spcPts val="215"/>
              </a:spcBef>
            </a:pPr>
            <a:r>
              <a:rPr sz="900" spc="-10" dirty="0">
                <a:latin typeface="Trebuchet MS"/>
                <a:cs typeface="Trebuchet MS"/>
              </a:rPr>
              <a:t>Fragmentation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Reassembly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76044" y="5218188"/>
            <a:ext cx="1386078" cy="138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68423" y="5829401"/>
            <a:ext cx="4025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rebuchet MS"/>
                <a:cs typeface="Trebuchet MS"/>
              </a:rPr>
              <a:t>Routing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5078" y="2483357"/>
            <a:ext cx="5280025" cy="28206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70485" marR="6350" indent="-69215" algn="just">
              <a:lnSpc>
                <a:spcPts val="3020"/>
              </a:lnSpc>
              <a:spcBef>
                <a:spcPts val="480"/>
              </a:spcBef>
              <a:buSzPct val="87500"/>
              <a:buChar char="•"/>
              <a:tabLst>
                <a:tab pos="70485" algn="l"/>
                <a:tab pos="177165" algn="l"/>
              </a:tabLst>
            </a:pPr>
            <a:r>
              <a:rPr sz="2800" spc="-10" dirty="0">
                <a:latin typeface="Trebuchet MS"/>
                <a:cs typeface="Trebuchet MS"/>
              </a:rPr>
              <a:t>	This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protocol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implements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logical </a:t>
            </a:r>
            <a:r>
              <a:rPr sz="2800" dirty="0">
                <a:latin typeface="Trebuchet MS"/>
                <a:cs typeface="Trebuchet MS"/>
              </a:rPr>
              <a:t>host</a:t>
            </a:r>
            <a:r>
              <a:rPr sz="2800" spc="38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addresses</a:t>
            </a:r>
            <a:r>
              <a:rPr sz="2800" spc="39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known</a:t>
            </a:r>
            <a:r>
              <a:rPr sz="2800" spc="380" dirty="0">
                <a:latin typeface="Trebuchet MS"/>
                <a:cs typeface="Trebuchet MS"/>
              </a:rPr>
              <a:t>  </a:t>
            </a:r>
            <a:r>
              <a:rPr sz="2800" spc="110" dirty="0">
                <a:latin typeface="Trebuchet MS"/>
                <a:cs typeface="Trebuchet MS"/>
              </a:rPr>
              <a:t>as</a:t>
            </a:r>
            <a:r>
              <a:rPr sz="2800" spc="385" dirty="0">
                <a:latin typeface="Trebuchet MS"/>
                <a:cs typeface="Trebuchet MS"/>
              </a:rPr>
              <a:t>  </a:t>
            </a:r>
            <a:r>
              <a:rPr sz="2800" b="1" i="1" spc="30" dirty="0">
                <a:latin typeface="Trebuchet MS"/>
                <a:cs typeface="Trebuchet MS"/>
              </a:rPr>
              <a:t>IP </a:t>
            </a:r>
            <a:r>
              <a:rPr sz="2800" b="1" i="1" spc="-10" dirty="0">
                <a:latin typeface="Trebuchet MS"/>
                <a:cs typeface="Trebuchet MS"/>
              </a:rPr>
              <a:t>addresses</a:t>
            </a:r>
            <a:r>
              <a:rPr sz="2800" spc="-1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70485" marR="5080" indent="-69215" algn="just">
              <a:lnSpc>
                <a:spcPts val="3020"/>
              </a:lnSpc>
              <a:spcBef>
                <a:spcPts val="515"/>
              </a:spcBef>
              <a:buSzPct val="87500"/>
              <a:buChar char="•"/>
              <a:tabLst>
                <a:tab pos="70485" algn="l"/>
                <a:tab pos="177165" algn="l"/>
              </a:tabLst>
            </a:pPr>
            <a:r>
              <a:rPr sz="2800" spc="-140" dirty="0">
                <a:latin typeface="Trebuchet MS"/>
                <a:cs typeface="Trebuchet MS"/>
              </a:rPr>
              <a:t>	The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IP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addresses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are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by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</a:t>
            </a:r>
            <a:r>
              <a:rPr sz="2800" dirty="0">
                <a:latin typeface="Trebuchet MS"/>
                <a:cs typeface="Trebuchet MS"/>
              </a:rPr>
              <a:t>internet</a:t>
            </a:r>
            <a:r>
              <a:rPr sz="2800" spc="18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18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higher</a:t>
            </a:r>
            <a:r>
              <a:rPr sz="2800" spc="18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layers</a:t>
            </a:r>
            <a:r>
              <a:rPr sz="2800" spc="175" dirty="0">
                <a:latin typeface="Trebuchet MS"/>
                <a:cs typeface="Trebuchet MS"/>
              </a:rPr>
              <a:t>  </a:t>
            </a:r>
            <a:r>
              <a:rPr sz="2800" spc="-25" dirty="0">
                <a:latin typeface="Trebuchet MS"/>
                <a:cs typeface="Trebuchet MS"/>
              </a:rPr>
              <a:t>to </a:t>
            </a:r>
            <a:r>
              <a:rPr sz="2800" spc="-100" dirty="0">
                <a:latin typeface="Trebuchet MS"/>
                <a:cs typeface="Trebuchet MS"/>
              </a:rPr>
              <a:t>identify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the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device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to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provide </a:t>
            </a:r>
            <a:r>
              <a:rPr sz="2800" spc="-100" dirty="0">
                <a:latin typeface="Trebuchet MS"/>
                <a:cs typeface="Trebuchet MS"/>
              </a:rPr>
              <a:t>internetwork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routing.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43171" y="2953511"/>
            <a:ext cx="1971294" cy="210083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340478" y="3849115"/>
            <a:ext cx="1285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rebuchet MS"/>
                <a:cs typeface="Trebuchet MS"/>
              </a:rPr>
              <a:t>IP</a:t>
            </a:r>
            <a:r>
              <a:rPr sz="1600" b="1" spc="-11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Addressing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25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3664" y="1562100"/>
            <a:ext cx="1387602" cy="14744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51517" y="2164841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rebuchet MS"/>
                <a:cs typeface="Trebuchet MS"/>
              </a:rPr>
              <a:t>IP</a:t>
            </a:r>
            <a:r>
              <a:rPr sz="900" spc="-9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Addressing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5607" y="2485644"/>
            <a:ext cx="1186446" cy="14805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37675" y="3027934"/>
            <a:ext cx="826769" cy="2882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91440">
              <a:lnSpc>
                <a:spcPts val="990"/>
              </a:lnSpc>
              <a:spcBef>
                <a:spcPts val="204"/>
              </a:spcBef>
            </a:pPr>
            <a:r>
              <a:rPr sz="900" dirty="0">
                <a:latin typeface="Trebuchet MS"/>
                <a:cs typeface="Trebuchet MS"/>
              </a:rPr>
              <a:t>Host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to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Host </a:t>
            </a:r>
            <a:r>
              <a:rPr sz="900" spc="-10" dirty="0"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04831" y="3413759"/>
            <a:ext cx="1186446" cy="14790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811893" y="3890898"/>
            <a:ext cx="773430" cy="4140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1270" algn="ctr">
              <a:lnSpc>
                <a:spcPct val="91700"/>
              </a:lnSpc>
              <a:spcBef>
                <a:spcPts val="190"/>
              </a:spcBef>
            </a:pPr>
            <a:r>
              <a:rPr sz="900" spc="-20" dirty="0">
                <a:latin typeface="Trebuchet MS"/>
                <a:cs typeface="Trebuchet MS"/>
              </a:rPr>
              <a:t>Data </a:t>
            </a:r>
            <a:r>
              <a:rPr sz="900" spc="-10" dirty="0">
                <a:latin typeface="Trebuchet MS"/>
                <a:cs typeface="Trebuchet MS"/>
              </a:rPr>
              <a:t>Encapsulation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Formatting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55607" y="4338828"/>
            <a:ext cx="1186446" cy="14805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30055" y="4879594"/>
            <a:ext cx="840740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6990">
              <a:lnSpc>
                <a:spcPts val="980"/>
              </a:lnSpc>
              <a:spcBef>
                <a:spcPts val="215"/>
              </a:spcBef>
            </a:pPr>
            <a:r>
              <a:rPr sz="900" spc="-10" dirty="0">
                <a:latin typeface="Trebuchet MS"/>
                <a:cs typeface="Trebuchet MS"/>
              </a:rPr>
              <a:t>Fragmentation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Reassembly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05188" y="5257800"/>
            <a:ext cx="1386077" cy="138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97820" y="5868416"/>
            <a:ext cx="4025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rebuchet MS"/>
                <a:cs typeface="Trebuchet MS"/>
              </a:rPr>
              <a:t>Routing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5172" y="2991611"/>
            <a:ext cx="1969769" cy="210235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36189" y="3322447"/>
            <a:ext cx="5277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75895">
              <a:lnSpc>
                <a:spcPct val="100000"/>
              </a:lnSpc>
              <a:spcBef>
                <a:spcPts val="95"/>
              </a:spcBef>
              <a:buSzPct val="87500"/>
              <a:buChar char="•"/>
              <a:tabLst>
                <a:tab pos="177800" algn="l"/>
                <a:tab pos="571500" algn="l"/>
                <a:tab pos="2508885" algn="l"/>
                <a:tab pos="3194685" algn="l"/>
                <a:tab pos="4076065" algn="l"/>
              </a:tabLst>
            </a:pPr>
            <a:r>
              <a:rPr sz="2800" spc="-25" dirty="0">
                <a:latin typeface="Trebuchet MS"/>
                <a:cs typeface="Trebuchet MS"/>
              </a:rPr>
              <a:t>It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determines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path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45" dirty="0">
                <a:latin typeface="Trebuchet MS"/>
                <a:cs typeface="Trebuchet MS"/>
              </a:rPr>
              <a:t>through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4101" y="3706190"/>
            <a:ext cx="522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56995" algn="l"/>
                <a:tab pos="2282190" algn="l"/>
                <a:tab pos="3397885" algn="l"/>
                <a:tab pos="4081779" algn="l"/>
                <a:tab pos="4819650" algn="l"/>
              </a:tabLst>
            </a:pPr>
            <a:r>
              <a:rPr sz="2800" spc="-10" dirty="0">
                <a:latin typeface="Trebuchet MS"/>
                <a:cs typeface="Trebuchet MS"/>
              </a:rPr>
              <a:t>which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data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to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be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94101" y="4090797"/>
            <a:ext cx="1908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5" dirty="0">
                <a:latin typeface="Trebuchet MS"/>
                <a:cs typeface="Trebuchet MS"/>
              </a:rPr>
              <a:t>transmitted.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4191" y="3777818"/>
            <a:ext cx="1513205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ts val="1825"/>
              </a:lnSpc>
              <a:spcBef>
                <a:spcPts val="95"/>
              </a:spcBef>
            </a:pPr>
            <a:r>
              <a:rPr sz="1600" b="1" dirty="0">
                <a:latin typeface="Trebuchet MS"/>
                <a:cs typeface="Trebuchet MS"/>
              </a:rPr>
              <a:t>Host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spc="-50" dirty="0">
                <a:latin typeface="Trebuchet MS"/>
                <a:cs typeface="Trebuchet MS"/>
              </a:rPr>
              <a:t>to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Host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ts val="1825"/>
              </a:lnSpc>
            </a:pPr>
            <a:r>
              <a:rPr sz="1600" b="1" spc="-10" dirty="0">
                <a:latin typeface="Trebuchet MS"/>
                <a:cs typeface="Trebuchet MS"/>
              </a:rPr>
              <a:t>Communication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25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048" y="1524000"/>
            <a:ext cx="1387602" cy="14744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55011" y="2126107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rebuchet MS"/>
                <a:cs typeface="Trebuchet MS"/>
              </a:rPr>
              <a:t>IP</a:t>
            </a:r>
            <a:r>
              <a:rPr sz="900" spc="-9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Addressing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9991" y="2447544"/>
            <a:ext cx="1186446" cy="14790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40789" y="2989326"/>
            <a:ext cx="826769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91440">
              <a:lnSpc>
                <a:spcPts val="980"/>
              </a:lnSpc>
              <a:spcBef>
                <a:spcPts val="215"/>
              </a:spcBef>
            </a:pPr>
            <a:r>
              <a:rPr sz="900" dirty="0">
                <a:latin typeface="Trebuchet MS"/>
                <a:cs typeface="Trebuchet MS"/>
              </a:rPr>
              <a:t>Host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to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Host </a:t>
            </a:r>
            <a:r>
              <a:rPr sz="900" spc="-10" dirty="0"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09216" y="3375659"/>
            <a:ext cx="1186446" cy="14790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15388" y="3851909"/>
            <a:ext cx="773430" cy="4140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190"/>
              </a:spcBef>
            </a:pPr>
            <a:r>
              <a:rPr sz="900" spc="-20" dirty="0">
                <a:latin typeface="Trebuchet MS"/>
                <a:cs typeface="Trebuchet MS"/>
              </a:rPr>
              <a:t>Data </a:t>
            </a:r>
            <a:r>
              <a:rPr sz="900" spc="-10" dirty="0">
                <a:latin typeface="Trebuchet MS"/>
                <a:cs typeface="Trebuchet MS"/>
              </a:rPr>
              <a:t>Encapsulation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Formatting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9991" y="4300740"/>
            <a:ext cx="1186446" cy="147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33550" y="4840604"/>
            <a:ext cx="840740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6990">
              <a:lnSpc>
                <a:spcPts val="980"/>
              </a:lnSpc>
              <a:spcBef>
                <a:spcPts val="215"/>
              </a:spcBef>
            </a:pPr>
            <a:r>
              <a:rPr sz="900" spc="-10" dirty="0">
                <a:latin typeface="Trebuchet MS"/>
                <a:cs typeface="Trebuchet MS"/>
              </a:rPr>
              <a:t>Fragmentation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Reassembly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9572" y="5218188"/>
            <a:ext cx="1386077" cy="138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01316" y="5829401"/>
            <a:ext cx="4025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rebuchet MS"/>
                <a:cs typeface="Trebuchet MS"/>
              </a:rPr>
              <a:t>Routing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5078" y="2483357"/>
            <a:ext cx="5279390" cy="12839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70485" marR="5080" indent="-69215">
              <a:lnSpc>
                <a:spcPts val="3020"/>
              </a:lnSpc>
              <a:spcBef>
                <a:spcPts val="480"/>
              </a:spcBef>
              <a:buSzPct val="87500"/>
              <a:buChar char="•"/>
              <a:tabLst>
                <a:tab pos="70485" algn="l"/>
                <a:tab pos="177165" algn="l"/>
              </a:tabLst>
            </a:pPr>
            <a:r>
              <a:rPr sz="2800" dirty="0">
                <a:latin typeface="Trebuchet MS"/>
                <a:cs typeface="Trebuchet MS"/>
              </a:rPr>
              <a:t>	An</a:t>
            </a:r>
            <a:r>
              <a:rPr sz="2800" spc="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IP</a:t>
            </a:r>
            <a:r>
              <a:rPr sz="2800" spc="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protocol</a:t>
            </a:r>
            <a:r>
              <a:rPr sz="2800" spc="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accepts</a:t>
            </a:r>
            <a:r>
              <a:rPr sz="2800" spc="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data </a:t>
            </a:r>
            <a:r>
              <a:rPr sz="2800" spc="-90" dirty="0">
                <a:latin typeface="Trebuchet MS"/>
                <a:cs typeface="Trebuchet MS"/>
              </a:rPr>
              <a:t>from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transport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protocol.</a:t>
            </a:r>
            <a:endParaRPr sz="2800">
              <a:latin typeface="Trebuchet MS"/>
              <a:cs typeface="Trebuchet MS"/>
            </a:endParaRPr>
          </a:p>
          <a:p>
            <a:pPr marL="177800" indent="-175895">
              <a:lnSpc>
                <a:spcPct val="100000"/>
              </a:lnSpc>
              <a:spcBef>
                <a:spcPts val="125"/>
              </a:spcBef>
              <a:buSzPct val="87500"/>
              <a:buChar char="•"/>
              <a:tabLst>
                <a:tab pos="177800" algn="l"/>
              </a:tabLst>
            </a:pP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IP</a:t>
            </a:r>
            <a:r>
              <a:rPr sz="2800" spc="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protocol</a:t>
            </a:r>
            <a:r>
              <a:rPr sz="2800" spc="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ensures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2990" y="3699764"/>
            <a:ext cx="5221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2045" algn="l"/>
                <a:tab pos="1803400" algn="l"/>
                <a:tab pos="2898140" algn="l"/>
                <a:tab pos="3903979" algn="l"/>
              </a:tabLst>
            </a:pPr>
            <a:r>
              <a:rPr sz="2800" spc="-20" dirty="0">
                <a:latin typeface="Trebuchet MS"/>
                <a:cs typeface="Trebuchet MS"/>
              </a:rPr>
              <a:t>data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is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sent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and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65" dirty="0">
                <a:latin typeface="Trebuchet MS"/>
                <a:cs typeface="Trebuchet MS"/>
              </a:rPr>
              <a:t>received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42990" y="4083811"/>
            <a:ext cx="5220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0" dirty="0">
                <a:latin typeface="Trebuchet MS"/>
                <a:cs typeface="Trebuchet MS"/>
              </a:rPr>
              <a:t>securely,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encapsulates</a:t>
            </a:r>
            <a:r>
              <a:rPr sz="2800" spc="-90" dirty="0">
                <a:latin typeface="Trebuchet MS"/>
                <a:cs typeface="Trebuchet MS"/>
              </a:rPr>
              <a:t> the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data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2990" y="4467859"/>
            <a:ext cx="5222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1710" algn="l"/>
                <a:tab pos="2745740" algn="l"/>
                <a:tab pos="4138295" algn="l"/>
                <a:tab pos="4881880" algn="l"/>
              </a:tabLst>
            </a:pPr>
            <a:r>
              <a:rPr sz="2800" spc="-20" dirty="0">
                <a:latin typeface="Trebuchet MS"/>
                <a:cs typeface="Trebuchet MS"/>
              </a:rPr>
              <a:t>into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message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known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85" dirty="0">
                <a:latin typeface="Trebuchet MS"/>
                <a:cs typeface="Trebuchet MS"/>
              </a:rPr>
              <a:t>as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b="1" i="1" spc="40" dirty="0">
                <a:latin typeface="Trebuchet MS"/>
                <a:cs typeface="Trebuchet MS"/>
              </a:rPr>
              <a:t>IP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42990" y="4851603"/>
            <a:ext cx="1670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114" dirty="0">
                <a:latin typeface="Trebuchet MS"/>
                <a:cs typeface="Trebuchet MS"/>
              </a:rPr>
              <a:t>datagram</a:t>
            </a:r>
            <a:r>
              <a:rPr sz="2800" spc="-114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43171" y="2953511"/>
            <a:ext cx="1971294" cy="210083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263009" y="3629659"/>
            <a:ext cx="142113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905" algn="ctr">
              <a:lnSpc>
                <a:spcPts val="1730"/>
              </a:lnSpc>
              <a:spcBef>
                <a:spcPts val="310"/>
              </a:spcBef>
            </a:pPr>
            <a:r>
              <a:rPr sz="1600" b="1" spc="-20" dirty="0">
                <a:latin typeface="Trebuchet MS"/>
                <a:cs typeface="Trebuchet MS"/>
              </a:rPr>
              <a:t>Data </a:t>
            </a:r>
            <a:r>
              <a:rPr sz="1600" b="1" spc="-10" dirty="0">
                <a:latin typeface="Trebuchet MS"/>
                <a:cs typeface="Trebuchet MS"/>
              </a:rPr>
              <a:t>Encapsulation </a:t>
            </a:r>
            <a:r>
              <a:rPr sz="1600" b="1" dirty="0">
                <a:latin typeface="Trebuchet MS"/>
                <a:cs typeface="Trebuchet MS"/>
              </a:rPr>
              <a:t>and</a:t>
            </a:r>
            <a:r>
              <a:rPr sz="1600" b="1" spc="-150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Formatting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25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8359" y="1434083"/>
            <a:ext cx="1387602" cy="14790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87736" y="2036826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rebuchet MS"/>
                <a:cs typeface="Trebuchet MS"/>
              </a:rPr>
              <a:t>IP</a:t>
            </a:r>
            <a:r>
              <a:rPr sz="900" spc="-9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Addressing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1828" y="2357627"/>
            <a:ext cx="1186446" cy="14805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73514" y="2899917"/>
            <a:ext cx="826769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91440">
              <a:lnSpc>
                <a:spcPts val="980"/>
              </a:lnSpc>
              <a:spcBef>
                <a:spcPts val="215"/>
              </a:spcBef>
            </a:pPr>
            <a:r>
              <a:rPr sz="900" dirty="0">
                <a:latin typeface="Trebuchet MS"/>
                <a:cs typeface="Trebuchet MS"/>
              </a:rPr>
              <a:t>Host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to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Host </a:t>
            </a:r>
            <a:r>
              <a:rPr sz="900" spc="-10" dirty="0"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1052" y="3285744"/>
            <a:ext cx="1184909" cy="14790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8113" y="3762882"/>
            <a:ext cx="773430" cy="4140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190"/>
              </a:spcBef>
            </a:pPr>
            <a:r>
              <a:rPr sz="900" spc="-20" dirty="0">
                <a:latin typeface="Trebuchet MS"/>
                <a:cs typeface="Trebuchet MS"/>
              </a:rPr>
              <a:t>Data </a:t>
            </a:r>
            <a:r>
              <a:rPr sz="900" spc="-10" dirty="0">
                <a:latin typeface="Trebuchet MS"/>
                <a:cs typeface="Trebuchet MS"/>
              </a:rPr>
              <a:t>Encapsulation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Formatting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1828" y="4210811"/>
            <a:ext cx="1186446" cy="14805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565893" y="4751578"/>
            <a:ext cx="840740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6990">
              <a:lnSpc>
                <a:spcPts val="980"/>
              </a:lnSpc>
              <a:spcBef>
                <a:spcPts val="215"/>
              </a:spcBef>
            </a:pPr>
            <a:r>
              <a:rPr sz="900" spc="-10" dirty="0">
                <a:latin typeface="Trebuchet MS"/>
                <a:cs typeface="Trebuchet MS"/>
              </a:rPr>
              <a:t>Fragmentation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Reassembly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9883" y="5129784"/>
            <a:ext cx="1387602" cy="138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234041" y="5739790"/>
            <a:ext cx="4025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rebuchet MS"/>
                <a:cs typeface="Trebuchet MS"/>
              </a:rPr>
              <a:t>Routing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5172" y="2933700"/>
            <a:ext cx="1969769" cy="210083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36189" y="1462532"/>
            <a:ext cx="5281295" cy="20923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0485" marR="5080" indent="-67945" algn="just">
              <a:lnSpc>
                <a:spcPct val="90000"/>
              </a:lnSpc>
              <a:spcBef>
                <a:spcPts val="385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spc="-85" dirty="0">
                <a:latin typeface="Trebuchet MS"/>
                <a:cs typeface="Trebuchet MS"/>
              </a:rPr>
              <a:t>	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limit </a:t>
            </a:r>
            <a:r>
              <a:rPr sz="2400" dirty="0">
                <a:latin typeface="Trebuchet MS"/>
                <a:cs typeface="Trebuchet MS"/>
              </a:rPr>
              <a:t>imposed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size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of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IP </a:t>
            </a:r>
            <a:r>
              <a:rPr sz="2400" spc="-30" dirty="0">
                <a:latin typeface="Trebuchet MS"/>
                <a:cs typeface="Trebuchet MS"/>
              </a:rPr>
              <a:t>datagram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link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layer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protocol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is </a:t>
            </a:r>
            <a:r>
              <a:rPr sz="2400" spc="-45" dirty="0">
                <a:latin typeface="Trebuchet MS"/>
                <a:cs typeface="Trebuchet MS"/>
              </a:rPr>
              <a:t>known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as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b="1" i="1" spc="-20" dirty="0">
                <a:latin typeface="Trebuchet MS"/>
                <a:cs typeface="Trebuchet MS"/>
              </a:rPr>
              <a:t>Maximum</a:t>
            </a:r>
            <a:r>
              <a:rPr sz="2400" b="1" i="1" spc="-135" dirty="0">
                <a:latin typeface="Trebuchet MS"/>
                <a:cs typeface="Trebuchet MS"/>
              </a:rPr>
              <a:t> </a:t>
            </a:r>
            <a:r>
              <a:rPr sz="2400" b="1" i="1" spc="-60" dirty="0">
                <a:latin typeface="Trebuchet MS"/>
                <a:cs typeface="Trebuchet MS"/>
              </a:rPr>
              <a:t>Transmission</a:t>
            </a:r>
            <a:r>
              <a:rPr sz="2400" b="1" i="1" spc="-120" dirty="0">
                <a:latin typeface="Trebuchet MS"/>
                <a:cs typeface="Trebuchet MS"/>
              </a:rPr>
              <a:t> </a:t>
            </a:r>
            <a:r>
              <a:rPr sz="2400" b="1" i="1" spc="-25" dirty="0">
                <a:latin typeface="Trebuchet MS"/>
                <a:cs typeface="Trebuchet MS"/>
              </a:rPr>
              <a:t>unit </a:t>
            </a:r>
            <a:r>
              <a:rPr sz="2400" b="1" i="1" spc="-10" dirty="0">
                <a:latin typeface="Trebuchet MS"/>
                <a:cs typeface="Trebuchet MS"/>
              </a:rPr>
              <a:t>(MTU)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70485" marR="6350" indent="-67945" algn="just">
              <a:lnSpc>
                <a:spcPts val="2590"/>
              </a:lnSpc>
              <a:spcBef>
                <a:spcPts val="475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dirty="0">
                <a:latin typeface="Trebuchet MS"/>
                <a:cs typeface="Trebuchet MS"/>
              </a:rPr>
              <a:t>	If</a:t>
            </a:r>
            <a:r>
              <a:rPr sz="2400" spc="3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size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IP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datagram</a:t>
            </a:r>
            <a:r>
              <a:rPr sz="2400" spc="3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greater </a:t>
            </a:r>
            <a:r>
              <a:rPr sz="2400" spc="-20" dirty="0">
                <a:latin typeface="Trebuchet MS"/>
                <a:cs typeface="Trebuchet MS"/>
              </a:rPr>
              <a:t>than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MTU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unit, </a:t>
            </a:r>
            <a:r>
              <a:rPr sz="2400" spc="-50" dirty="0">
                <a:latin typeface="Trebuchet MS"/>
                <a:cs typeface="Trebuchet MS"/>
              </a:rPr>
              <a:t>then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the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IP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protocol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36189" y="3492754"/>
            <a:ext cx="5281930" cy="28060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0485" marR="5080" algn="just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latin typeface="Trebuchet MS"/>
                <a:cs typeface="Trebuchet MS"/>
              </a:rPr>
              <a:t>splits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datagram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into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smaller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units </a:t>
            </a:r>
            <a:r>
              <a:rPr sz="2400" spc="110" dirty="0">
                <a:latin typeface="Trebuchet MS"/>
                <a:cs typeface="Trebuchet MS"/>
              </a:rPr>
              <a:t>so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that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they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travel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over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local network.</a:t>
            </a:r>
            <a:endParaRPr sz="2400">
              <a:latin typeface="Trebuchet MS"/>
              <a:cs typeface="Trebuchet MS"/>
            </a:endParaRPr>
          </a:p>
          <a:p>
            <a:pPr marL="70485" marR="5080" indent="-67945" algn="just">
              <a:lnSpc>
                <a:spcPts val="2590"/>
              </a:lnSpc>
              <a:spcBef>
                <a:spcPts val="470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dirty="0">
                <a:latin typeface="Trebuchet MS"/>
                <a:cs typeface="Trebuchet MS"/>
              </a:rPr>
              <a:t>	Fragmentation</a:t>
            </a:r>
            <a:r>
              <a:rPr sz="2400" spc="-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4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done</a:t>
            </a:r>
            <a:r>
              <a:rPr sz="2400" spc="-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50" dirty="0">
                <a:latin typeface="Trebuchet MS"/>
                <a:cs typeface="Trebuchet MS"/>
              </a:rPr>
              <a:t> 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spc="-20" dirty="0">
                <a:latin typeface="Trebuchet MS"/>
                <a:cs typeface="Trebuchet MS"/>
              </a:rPr>
              <a:t>sender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intermediate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router.</a:t>
            </a:r>
            <a:endParaRPr sz="2400">
              <a:latin typeface="Trebuchet MS"/>
              <a:cs typeface="Trebuchet MS"/>
            </a:endParaRPr>
          </a:p>
          <a:p>
            <a:pPr marL="70485" marR="6985" indent="-68580" algn="just">
              <a:lnSpc>
                <a:spcPct val="90000"/>
              </a:lnSpc>
              <a:spcBef>
                <a:spcPts val="395"/>
              </a:spcBef>
              <a:buSzPct val="87500"/>
              <a:buChar char="•"/>
              <a:tabLst>
                <a:tab pos="70485" algn="l"/>
                <a:tab pos="154305" algn="l"/>
              </a:tabLst>
            </a:pPr>
            <a:r>
              <a:rPr sz="2400" dirty="0">
                <a:latin typeface="Trebuchet MS"/>
                <a:cs typeface="Trebuchet MS"/>
              </a:rPr>
              <a:t>	At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receiver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side,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all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fragments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5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reassembled</a:t>
            </a:r>
            <a:r>
              <a:rPr sz="2400" spc="5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5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form</a:t>
            </a:r>
            <a:r>
              <a:rPr sz="2400" spc="5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53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original </a:t>
            </a:r>
            <a:r>
              <a:rPr sz="2400" spc="-10" dirty="0">
                <a:latin typeface="Trebuchet MS"/>
                <a:cs typeface="Trebuchet MS"/>
              </a:rPr>
              <a:t>message.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7342" y="3610102"/>
            <a:ext cx="136779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065" marR="5080" algn="ctr">
              <a:lnSpc>
                <a:spcPts val="1730"/>
              </a:lnSpc>
              <a:spcBef>
                <a:spcPts val="310"/>
              </a:spcBef>
            </a:pPr>
            <a:r>
              <a:rPr sz="1600" b="1" spc="-40" dirty="0">
                <a:latin typeface="Trebuchet MS"/>
                <a:cs typeface="Trebuchet MS"/>
              </a:rPr>
              <a:t>Fragmentation </a:t>
            </a:r>
            <a:r>
              <a:rPr sz="1600" b="1" spc="-25" dirty="0">
                <a:latin typeface="Trebuchet MS"/>
                <a:cs typeface="Trebuchet MS"/>
              </a:rPr>
              <a:t>and </a:t>
            </a:r>
            <a:r>
              <a:rPr sz="1600" b="1" spc="-10" dirty="0">
                <a:latin typeface="Trebuchet MS"/>
                <a:cs typeface="Trebuchet MS"/>
              </a:rPr>
              <a:t>Reassembly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IP</a:t>
            </a:r>
            <a:r>
              <a:rPr spc="-459" dirty="0"/>
              <a:t> </a:t>
            </a:r>
            <a:r>
              <a:rPr spc="-125" dirty="0"/>
              <a:t>Addressing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520" y="1524000"/>
            <a:ext cx="1387602" cy="14790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1738" y="2126107"/>
            <a:ext cx="693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rebuchet MS"/>
                <a:cs typeface="Trebuchet MS"/>
              </a:rPr>
              <a:t>IP</a:t>
            </a:r>
            <a:r>
              <a:rPr sz="900" spc="-9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Addressing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988" y="2447544"/>
            <a:ext cx="1184910" cy="14790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07895" y="2989326"/>
            <a:ext cx="826769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91440">
              <a:lnSpc>
                <a:spcPts val="980"/>
              </a:lnSpc>
              <a:spcBef>
                <a:spcPts val="215"/>
              </a:spcBef>
            </a:pPr>
            <a:r>
              <a:rPr sz="900" dirty="0">
                <a:latin typeface="Trebuchet MS"/>
                <a:cs typeface="Trebuchet MS"/>
              </a:rPr>
              <a:t>Host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to</a:t>
            </a:r>
            <a:r>
              <a:rPr sz="900" spc="-6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Host </a:t>
            </a:r>
            <a:r>
              <a:rPr sz="900" spc="-10" dirty="0"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7211" y="3375659"/>
            <a:ext cx="1184910" cy="14790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82495" y="3851909"/>
            <a:ext cx="773430" cy="41402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190"/>
              </a:spcBef>
            </a:pPr>
            <a:r>
              <a:rPr sz="900" spc="-20" dirty="0">
                <a:latin typeface="Trebuchet MS"/>
                <a:cs typeface="Trebuchet MS"/>
              </a:rPr>
              <a:t>Data </a:t>
            </a:r>
            <a:r>
              <a:rPr sz="900" spc="-10" dirty="0">
                <a:latin typeface="Trebuchet MS"/>
                <a:cs typeface="Trebuchet MS"/>
              </a:rPr>
              <a:t>Encapsulation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Formatting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988" y="4300740"/>
            <a:ext cx="1184910" cy="147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00276" y="4840604"/>
            <a:ext cx="840740" cy="28765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46990">
              <a:lnSpc>
                <a:spcPts val="980"/>
              </a:lnSpc>
              <a:spcBef>
                <a:spcPts val="215"/>
              </a:spcBef>
            </a:pPr>
            <a:r>
              <a:rPr sz="900" spc="-10" dirty="0">
                <a:latin typeface="Trebuchet MS"/>
                <a:cs typeface="Trebuchet MS"/>
              </a:rPr>
              <a:t>Fragmentation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Reassembly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76044" y="5218188"/>
            <a:ext cx="1386078" cy="138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68423" y="5829401"/>
            <a:ext cx="4025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rebuchet MS"/>
                <a:cs typeface="Trebuchet MS"/>
              </a:rPr>
              <a:t>Routing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7534" y="2167890"/>
            <a:ext cx="5188585" cy="34645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70485" marR="5080" indent="-67945" algn="just">
              <a:lnSpc>
                <a:spcPct val="90000"/>
              </a:lnSpc>
              <a:spcBef>
                <a:spcPts val="385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dirty="0">
                <a:latin typeface="Trebuchet MS"/>
                <a:cs typeface="Trebuchet MS"/>
              </a:rPr>
              <a:t>	When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IP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datagram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sent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over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</a:t>
            </a:r>
            <a:r>
              <a:rPr sz="2400" dirty="0">
                <a:latin typeface="Trebuchet MS"/>
                <a:cs typeface="Trebuchet MS"/>
              </a:rPr>
              <a:t>same</a:t>
            </a:r>
            <a:r>
              <a:rPr sz="2400" spc="8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local</a:t>
            </a:r>
            <a:r>
              <a:rPr sz="2400" spc="9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network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spc="65" dirty="0">
                <a:latin typeface="Trebuchet MS"/>
                <a:cs typeface="Trebuchet MS"/>
              </a:rPr>
              <a:t>such</a:t>
            </a:r>
            <a:r>
              <a:rPr sz="2400" spc="85" dirty="0">
                <a:latin typeface="Trebuchet MS"/>
                <a:cs typeface="Trebuchet MS"/>
              </a:rPr>
              <a:t> 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80" dirty="0">
                <a:latin typeface="Trebuchet MS"/>
                <a:cs typeface="Trebuchet MS"/>
              </a:rPr>
              <a:t>  </a:t>
            </a:r>
            <a:r>
              <a:rPr sz="2400" spc="-20" dirty="0">
                <a:latin typeface="Trebuchet MS"/>
                <a:cs typeface="Trebuchet MS"/>
              </a:rPr>
              <a:t>LAN, </a:t>
            </a:r>
            <a:r>
              <a:rPr sz="2400" dirty="0">
                <a:latin typeface="Trebuchet MS"/>
                <a:cs typeface="Trebuchet MS"/>
              </a:rPr>
              <a:t>MAN,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WAN,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7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6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known</a:t>
            </a:r>
            <a:r>
              <a:rPr sz="2400" spc="65" dirty="0">
                <a:latin typeface="Trebuchet MS"/>
                <a:cs typeface="Trebuchet MS"/>
              </a:rPr>
              <a:t> 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70" dirty="0">
                <a:latin typeface="Trebuchet MS"/>
                <a:cs typeface="Trebuchet MS"/>
              </a:rPr>
              <a:t>  </a:t>
            </a:r>
            <a:r>
              <a:rPr sz="2400" b="1" i="1" spc="-55" dirty="0">
                <a:latin typeface="Trebuchet MS"/>
                <a:cs typeface="Trebuchet MS"/>
              </a:rPr>
              <a:t>direct </a:t>
            </a:r>
            <a:r>
              <a:rPr sz="2400" b="1" i="1" spc="-10" dirty="0">
                <a:latin typeface="Trebuchet MS"/>
                <a:cs typeface="Trebuchet MS"/>
              </a:rPr>
              <a:t>delivery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70485" marR="6350" indent="-67945" algn="just">
              <a:lnSpc>
                <a:spcPct val="90000"/>
              </a:lnSpc>
              <a:spcBef>
                <a:spcPts val="434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dirty="0">
                <a:latin typeface="Trebuchet MS"/>
                <a:cs typeface="Trebuchet MS"/>
              </a:rPr>
              <a:t>	When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source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destination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distant</a:t>
            </a:r>
            <a:r>
              <a:rPr sz="2400" spc="16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network,</a:t>
            </a:r>
            <a:r>
              <a:rPr sz="2400" spc="14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then</a:t>
            </a:r>
            <a:r>
              <a:rPr sz="2400" spc="1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spc="-25" dirty="0">
                <a:latin typeface="Trebuchet MS"/>
                <a:cs typeface="Trebuchet MS"/>
              </a:rPr>
              <a:t>IP </a:t>
            </a:r>
            <a:r>
              <a:rPr sz="2400" spc="-60" dirty="0">
                <a:latin typeface="Trebuchet MS"/>
                <a:cs typeface="Trebuchet MS"/>
              </a:rPr>
              <a:t>datagram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sent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indirectly.</a:t>
            </a:r>
            <a:endParaRPr sz="2400">
              <a:latin typeface="Trebuchet MS"/>
              <a:cs typeface="Trebuchet MS"/>
            </a:endParaRPr>
          </a:p>
          <a:p>
            <a:pPr marL="70485" marR="5080" indent="-67945" algn="just">
              <a:lnSpc>
                <a:spcPts val="2590"/>
              </a:lnSpc>
              <a:spcBef>
                <a:spcPts val="470"/>
              </a:spcBef>
              <a:buSzPct val="87500"/>
              <a:buChar char="•"/>
              <a:tabLst>
                <a:tab pos="70485" algn="l"/>
                <a:tab pos="154940" algn="l"/>
              </a:tabLst>
            </a:pPr>
            <a:r>
              <a:rPr sz="2400" dirty="0">
                <a:latin typeface="Trebuchet MS"/>
                <a:cs typeface="Trebuchet MS"/>
              </a:rPr>
              <a:t>	This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accomplished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routing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1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IP</a:t>
            </a:r>
            <a:r>
              <a:rPr sz="2400" spc="32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datagram</a:t>
            </a:r>
            <a:r>
              <a:rPr sz="2400" spc="3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through</a:t>
            </a:r>
            <a:r>
              <a:rPr sz="2400" spc="320" dirty="0">
                <a:latin typeface="Trebuchet MS"/>
                <a:cs typeface="Trebuchet MS"/>
              </a:rPr>
              <a:t>  </a:t>
            </a:r>
            <a:r>
              <a:rPr sz="2400" spc="-10" dirty="0">
                <a:latin typeface="Trebuchet MS"/>
                <a:cs typeface="Trebuchet MS"/>
              </a:rPr>
              <a:t>various </a:t>
            </a:r>
            <a:r>
              <a:rPr sz="2400" spc="-25" dirty="0">
                <a:latin typeface="Trebuchet MS"/>
                <a:cs typeface="Trebuchet MS"/>
              </a:rPr>
              <a:t>devices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65" dirty="0">
                <a:latin typeface="Trebuchet MS"/>
                <a:cs typeface="Trebuchet MS"/>
              </a:rPr>
              <a:t>such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as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routers.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5726" y="3849115"/>
            <a:ext cx="734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rebuchet MS"/>
                <a:cs typeface="Trebuchet MS"/>
              </a:rPr>
              <a:t>Routing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49623" y="2862072"/>
            <a:ext cx="2291333" cy="22913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009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ARP</a:t>
            </a:r>
            <a:r>
              <a:rPr spc="-445" dirty="0"/>
              <a:t> </a:t>
            </a:r>
            <a:r>
              <a:rPr spc="-170" dirty="0"/>
              <a:t>Protocol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ARP</a:t>
            </a:r>
            <a:r>
              <a:rPr spc="-185" dirty="0"/>
              <a:t> </a:t>
            </a:r>
            <a:r>
              <a:rPr dirty="0"/>
              <a:t>stands</a:t>
            </a:r>
            <a:r>
              <a:rPr spc="-165" dirty="0"/>
              <a:t> </a:t>
            </a:r>
            <a:r>
              <a:rPr spc="-130" dirty="0"/>
              <a:t>for</a:t>
            </a:r>
            <a:r>
              <a:rPr spc="-185" dirty="0"/>
              <a:t> </a:t>
            </a:r>
            <a:r>
              <a:rPr b="1" i="1" spc="-10" dirty="0">
                <a:latin typeface="Trebuchet MS"/>
                <a:cs typeface="Trebuchet MS"/>
              </a:rPr>
              <a:t>Address</a:t>
            </a:r>
            <a:r>
              <a:rPr b="1" i="1" spc="-185" dirty="0">
                <a:latin typeface="Trebuchet MS"/>
                <a:cs typeface="Trebuchet MS"/>
              </a:rPr>
              <a:t> </a:t>
            </a:r>
            <a:r>
              <a:rPr b="1" i="1" spc="-40" dirty="0">
                <a:latin typeface="Trebuchet MS"/>
                <a:cs typeface="Trebuchet MS"/>
              </a:rPr>
              <a:t>Resolution</a:t>
            </a:r>
            <a:r>
              <a:rPr b="1" i="1" spc="-165" dirty="0">
                <a:latin typeface="Trebuchet MS"/>
                <a:cs typeface="Trebuchet MS"/>
              </a:rPr>
              <a:t> </a:t>
            </a:r>
            <a:r>
              <a:rPr b="1" i="1" spc="-10" dirty="0">
                <a:latin typeface="Trebuchet MS"/>
                <a:cs typeface="Trebuchet MS"/>
              </a:rPr>
              <a:t>Protocol</a:t>
            </a:r>
            <a:r>
              <a:rPr spc="-10" dirty="0"/>
              <a:t>.</a:t>
            </a:r>
          </a:p>
          <a:p>
            <a:pPr marL="239395" marR="762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ARP</a:t>
            </a:r>
            <a:r>
              <a:rPr spc="-9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network</a:t>
            </a:r>
            <a:r>
              <a:rPr spc="-80" dirty="0"/>
              <a:t> </a:t>
            </a:r>
            <a:r>
              <a:rPr spc="-95" dirty="0"/>
              <a:t>layer</a:t>
            </a:r>
            <a:r>
              <a:rPr spc="-75" dirty="0"/>
              <a:t> </a:t>
            </a:r>
            <a:r>
              <a:rPr spc="-40" dirty="0"/>
              <a:t>protocol</a:t>
            </a:r>
            <a:r>
              <a:rPr spc="-60" dirty="0"/>
              <a:t> </a:t>
            </a:r>
            <a:r>
              <a:rPr spc="-10" dirty="0"/>
              <a:t>which</a:t>
            </a:r>
            <a:r>
              <a:rPr spc="-7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used</a:t>
            </a:r>
            <a:r>
              <a:rPr spc="-55" dirty="0"/>
              <a:t> </a:t>
            </a:r>
            <a:r>
              <a:rPr spc="-95" dirty="0"/>
              <a:t>to</a:t>
            </a:r>
            <a:r>
              <a:rPr spc="-75" dirty="0"/>
              <a:t> </a:t>
            </a:r>
            <a:r>
              <a:rPr spc="-85" dirty="0"/>
              <a:t>find </a:t>
            </a:r>
            <a:r>
              <a:rPr spc="-90" dirty="0"/>
              <a:t>the</a:t>
            </a:r>
            <a:r>
              <a:rPr spc="-60" dirty="0"/>
              <a:t> </a:t>
            </a:r>
            <a:r>
              <a:rPr spc="-10" dirty="0"/>
              <a:t>physical 	</a:t>
            </a:r>
            <a:r>
              <a:rPr dirty="0"/>
              <a:t>address</a:t>
            </a:r>
            <a:r>
              <a:rPr spc="-204" dirty="0"/>
              <a:t> </a:t>
            </a:r>
            <a:r>
              <a:rPr spc="-90" dirty="0"/>
              <a:t>from</a:t>
            </a:r>
            <a:r>
              <a:rPr spc="-200" dirty="0"/>
              <a:t> </a:t>
            </a:r>
            <a:r>
              <a:rPr spc="-90" dirty="0"/>
              <a:t>the</a:t>
            </a:r>
            <a:r>
              <a:rPr spc="-215" dirty="0"/>
              <a:t> </a:t>
            </a:r>
            <a:r>
              <a:rPr dirty="0"/>
              <a:t>IP</a:t>
            </a:r>
            <a:r>
              <a:rPr spc="-220" dirty="0"/>
              <a:t> </a:t>
            </a:r>
            <a:r>
              <a:rPr spc="-10" dirty="0"/>
              <a:t>address.</a:t>
            </a: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pc="-130" dirty="0"/>
              <a:t>The</a:t>
            </a:r>
            <a:r>
              <a:rPr spc="-225" dirty="0"/>
              <a:t> </a:t>
            </a:r>
            <a:r>
              <a:rPr spc="-105" dirty="0"/>
              <a:t>two</a:t>
            </a:r>
            <a:r>
              <a:rPr spc="-225" dirty="0"/>
              <a:t> </a:t>
            </a:r>
            <a:r>
              <a:rPr spc="-40" dirty="0"/>
              <a:t>terms</a:t>
            </a:r>
            <a:r>
              <a:rPr spc="-225" dirty="0"/>
              <a:t> </a:t>
            </a:r>
            <a:r>
              <a:rPr spc="-90" dirty="0"/>
              <a:t>are</a:t>
            </a:r>
            <a:r>
              <a:rPr spc="-229" dirty="0"/>
              <a:t> </a:t>
            </a:r>
            <a:r>
              <a:rPr spc="-60" dirty="0"/>
              <a:t>mainly</a:t>
            </a:r>
            <a:r>
              <a:rPr spc="-240" dirty="0"/>
              <a:t> </a:t>
            </a:r>
            <a:r>
              <a:rPr dirty="0"/>
              <a:t>associated</a:t>
            </a:r>
            <a:r>
              <a:rPr spc="-204" dirty="0"/>
              <a:t> </a:t>
            </a:r>
            <a:r>
              <a:rPr spc="-120" dirty="0"/>
              <a:t>with</a:t>
            </a:r>
            <a:r>
              <a:rPr spc="-240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dirty="0"/>
              <a:t>ARP</a:t>
            </a:r>
            <a:r>
              <a:rPr spc="-225" dirty="0"/>
              <a:t> </a:t>
            </a:r>
            <a:r>
              <a:rPr spc="-10" dirty="0"/>
              <a:t>Protocol:</a:t>
            </a:r>
          </a:p>
          <a:p>
            <a:pPr marL="697230" marR="6350" lvl="1" indent="-227329" algn="just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rebuchet MS"/>
                <a:cs typeface="Trebuchet MS"/>
              </a:rPr>
              <a:t>ARP</a:t>
            </a:r>
            <a:r>
              <a:rPr sz="2400" b="1" spc="-120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Request:</a:t>
            </a:r>
            <a:r>
              <a:rPr sz="2400" b="1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When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sender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wants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 </a:t>
            </a:r>
            <a:r>
              <a:rPr sz="2400" spc="-20" dirty="0">
                <a:latin typeface="Trebuchet MS"/>
                <a:cs typeface="Trebuchet MS"/>
              </a:rPr>
              <a:t>know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the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physical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of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90" dirty="0">
                <a:latin typeface="Trebuchet MS"/>
                <a:cs typeface="Trebuchet MS"/>
              </a:rPr>
              <a:t>device,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it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broadcasts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ARP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request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network.</a:t>
            </a:r>
            <a:endParaRPr sz="2400">
              <a:latin typeface="Trebuchet MS"/>
              <a:cs typeface="Trebuchet MS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rebuchet MS"/>
                <a:cs typeface="Trebuchet MS"/>
              </a:rPr>
              <a:t>ARP</a:t>
            </a:r>
            <a:r>
              <a:rPr sz="2400" b="1" spc="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Reply:</a:t>
            </a:r>
            <a:r>
              <a:rPr sz="2400" b="1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Every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device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attached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network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will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accept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ARP 	</a:t>
            </a:r>
            <a:r>
              <a:rPr sz="2400" dirty="0">
                <a:latin typeface="Trebuchet MS"/>
                <a:cs typeface="Trebuchet MS"/>
              </a:rPr>
              <a:t>request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process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request,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but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only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recipient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recognize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IP 	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sends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back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its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physical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in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form </a:t>
            </a:r>
            <a:r>
              <a:rPr sz="2400" spc="-140" dirty="0">
                <a:latin typeface="Trebuchet MS"/>
                <a:cs typeface="Trebuchet MS"/>
              </a:rPr>
              <a:t>of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ARP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reply.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70" dirty="0">
                <a:latin typeface="Trebuchet MS"/>
                <a:cs typeface="Trebuchet MS"/>
              </a:rPr>
              <a:t>recipient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the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physical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address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both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its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cache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memory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 	</a:t>
            </a:r>
            <a:r>
              <a:rPr sz="2400" spc="-60" dirty="0">
                <a:latin typeface="Trebuchet MS"/>
                <a:cs typeface="Trebuchet MS"/>
              </a:rPr>
              <a:t>datagram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header.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816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ICMP</a:t>
            </a:r>
            <a:r>
              <a:rPr spc="-475" dirty="0"/>
              <a:t> </a:t>
            </a:r>
            <a:r>
              <a:rPr spc="-175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427"/>
            <a:ext cx="10360025" cy="43199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105" dirty="0">
                <a:latin typeface="Trebuchet MS"/>
                <a:cs typeface="Trebuchet MS"/>
              </a:rPr>
              <a:t>ICMP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stands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for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b="1" spc="-75" dirty="0">
                <a:latin typeface="Trebuchet MS"/>
                <a:cs typeface="Trebuchet MS"/>
              </a:rPr>
              <a:t>Internet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Control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65" dirty="0">
                <a:latin typeface="Trebuchet MS"/>
                <a:cs typeface="Trebuchet MS"/>
              </a:rPr>
              <a:t>Message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10" dirty="0">
                <a:latin typeface="Trebuchet MS"/>
                <a:cs typeface="Trebuchet MS"/>
              </a:rPr>
              <a:t>Protocol</a:t>
            </a:r>
            <a:r>
              <a:rPr sz="2600" spc="-1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41300" marR="8255" indent="-229235" algn="just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11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mechanism</a:t>
            </a:r>
            <a:r>
              <a:rPr sz="2600" spc="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1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by</a:t>
            </a:r>
            <a:r>
              <a:rPr sz="2600" spc="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1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hosts</a:t>
            </a:r>
            <a:r>
              <a:rPr sz="2600" spc="11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or</a:t>
            </a:r>
            <a:r>
              <a:rPr sz="2600" spc="1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routers</a:t>
            </a:r>
            <a:r>
              <a:rPr sz="2600" spc="1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to</a:t>
            </a:r>
            <a:r>
              <a:rPr sz="2600" spc="1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</a:t>
            </a:r>
            <a:r>
              <a:rPr sz="2600" spc="13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notifications </a:t>
            </a:r>
            <a:r>
              <a:rPr sz="2600" spc="-75" dirty="0">
                <a:latin typeface="Trebuchet MS"/>
                <a:cs typeface="Trebuchet MS"/>
              </a:rPr>
              <a:t>regarding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datagram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problems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back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sender.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" dirty="0">
                <a:latin typeface="Trebuchet MS"/>
                <a:cs typeface="Trebuchet MS"/>
              </a:rPr>
              <a:t>A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datagram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travels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from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router-</a:t>
            </a:r>
            <a:r>
              <a:rPr sz="2600" spc="-85" dirty="0">
                <a:latin typeface="Trebuchet MS"/>
                <a:cs typeface="Trebuchet MS"/>
              </a:rPr>
              <a:t>to-</a:t>
            </a:r>
            <a:r>
              <a:rPr sz="2600" spc="-95" dirty="0">
                <a:latin typeface="Trebuchet MS"/>
                <a:cs typeface="Trebuchet MS"/>
              </a:rPr>
              <a:t>router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until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it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5" dirty="0">
                <a:latin typeface="Trebuchet MS"/>
                <a:cs typeface="Trebuchet MS"/>
              </a:rPr>
              <a:t>reaches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its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destination.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If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a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router</a:t>
            </a:r>
            <a:r>
              <a:rPr sz="2600" spc="565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is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-15" dirty="0">
                <a:latin typeface="Trebuchet MS"/>
                <a:cs typeface="Trebuchet MS"/>
              </a:rPr>
              <a:t>unable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56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route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data</a:t>
            </a:r>
            <a:r>
              <a:rPr sz="2600" spc="560" dirty="0">
                <a:latin typeface="Trebuchet MS"/>
                <a:cs typeface="Trebuchet MS"/>
              </a:rPr>
              <a:t> </a:t>
            </a:r>
            <a:r>
              <a:rPr sz="2600" spc="25" dirty="0">
                <a:latin typeface="Trebuchet MS"/>
                <a:cs typeface="Trebuchet MS"/>
              </a:rPr>
              <a:t>because</a:t>
            </a:r>
            <a:r>
              <a:rPr sz="2600" spc="56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of</a:t>
            </a:r>
            <a:r>
              <a:rPr sz="2600" spc="555" dirty="0">
                <a:latin typeface="Trebuchet MS"/>
                <a:cs typeface="Trebuchet MS"/>
              </a:rPr>
              <a:t> </a:t>
            </a:r>
            <a:r>
              <a:rPr sz="2600" spc="60" dirty="0">
                <a:latin typeface="Trebuchet MS"/>
                <a:cs typeface="Trebuchet MS"/>
              </a:rPr>
              <a:t>some</a:t>
            </a:r>
            <a:r>
              <a:rPr sz="2600" spc="54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unusual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conditions</a:t>
            </a:r>
            <a:r>
              <a:rPr sz="2600" spc="600" dirty="0">
                <a:latin typeface="Trebuchet MS"/>
                <a:cs typeface="Trebuchet MS"/>
              </a:rPr>
              <a:t> </a:t>
            </a:r>
            <a:r>
              <a:rPr sz="2600" spc="70" dirty="0">
                <a:latin typeface="Trebuchet MS"/>
                <a:cs typeface="Trebuchet MS"/>
              </a:rPr>
              <a:t>such</a:t>
            </a:r>
            <a:r>
              <a:rPr sz="2600" spc="620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6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disabl</a:t>
            </a:r>
            <a:r>
              <a:rPr sz="2600" spc="-10" dirty="0">
                <a:latin typeface="Trebuchet MS"/>
                <a:cs typeface="Trebuchet MS"/>
              </a:rPr>
              <a:t>e</a:t>
            </a:r>
            <a:r>
              <a:rPr sz="2600" dirty="0">
                <a:latin typeface="Trebuchet MS"/>
                <a:cs typeface="Trebuchet MS"/>
              </a:rPr>
              <a:t>d</a:t>
            </a:r>
            <a:r>
              <a:rPr sz="2600" spc="62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links,</a:t>
            </a:r>
            <a:r>
              <a:rPr sz="2600" spc="610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a</a:t>
            </a:r>
            <a:r>
              <a:rPr sz="2600" spc="59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device</a:t>
            </a:r>
            <a:r>
              <a:rPr sz="2600" spc="605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is</a:t>
            </a:r>
            <a:r>
              <a:rPr sz="2600" spc="605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on</a:t>
            </a:r>
            <a:r>
              <a:rPr sz="2600" spc="61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fire</a:t>
            </a:r>
            <a:r>
              <a:rPr sz="2600" spc="60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or</a:t>
            </a:r>
            <a:r>
              <a:rPr sz="2600" spc="61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network</a:t>
            </a:r>
            <a:r>
              <a:rPr sz="2600" spc="-35" dirty="0">
                <a:latin typeface="Trebuchet MS"/>
                <a:cs typeface="Trebuchet MS"/>
              </a:rPr>
              <a:t> congestion,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then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100" dirty="0">
                <a:latin typeface="Trebuchet MS"/>
                <a:cs typeface="Trebuchet MS"/>
              </a:rPr>
              <a:t>ICMP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protocol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is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used</a:t>
            </a:r>
            <a:r>
              <a:rPr sz="2600" spc="6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to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inform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sender</a:t>
            </a:r>
            <a:r>
              <a:rPr sz="2600" spc="6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that</a:t>
            </a:r>
            <a:r>
              <a:rPr sz="2600" spc="-14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datagram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is</a:t>
            </a:r>
            <a:r>
              <a:rPr sz="2600" spc="-26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undeliverable.</a:t>
            </a:r>
            <a:endParaRPr sz="2600">
              <a:latin typeface="Trebuchet MS"/>
              <a:cs typeface="Trebuchet MS"/>
            </a:endParaRPr>
          </a:p>
          <a:p>
            <a:pPr marL="241300" indent="-228600" algn="just">
              <a:lnSpc>
                <a:spcPts val="3115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ICMP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protocol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mainly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95" dirty="0">
                <a:latin typeface="Trebuchet MS"/>
                <a:cs typeface="Trebuchet MS"/>
              </a:rPr>
              <a:t>uses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two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terms:</a:t>
            </a:r>
            <a:endParaRPr sz="2600">
              <a:latin typeface="Trebuchet MS"/>
              <a:cs typeface="Trebuchet MS"/>
            </a:endParaRPr>
          </a:p>
          <a:p>
            <a:pPr marL="697865" lvl="1" indent="-227965" algn="just">
              <a:lnSpc>
                <a:spcPts val="262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b="1" spc="105" dirty="0">
                <a:latin typeface="Trebuchet MS"/>
                <a:cs typeface="Trebuchet MS"/>
              </a:rPr>
              <a:t>ICMP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25" dirty="0">
                <a:latin typeface="Trebuchet MS"/>
                <a:cs typeface="Trebuchet MS"/>
              </a:rPr>
              <a:t>Test: </a:t>
            </a:r>
            <a:r>
              <a:rPr sz="2200" spc="90" dirty="0">
                <a:latin typeface="Trebuchet MS"/>
                <a:cs typeface="Trebuchet MS"/>
              </a:rPr>
              <a:t>ICMP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Test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to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test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whether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the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destination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reachable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not.</a:t>
            </a:r>
            <a:endParaRPr sz="2200">
              <a:latin typeface="Trebuchet MS"/>
              <a:cs typeface="Trebuchet MS"/>
            </a:endParaRPr>
          </a:p>
          <a:p>
            <a:pPr marL="697865" lvl="1" indent="-227965" algn="just">
              <a:lnSpc>
                <a:spcPts val="2360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b="1" spc="105" dirty="0">
                <a:latin typeface="Trebuchet MS"/>
                <a:cs typeface="Trebuchet MS"/>
              </a:rPr>
              <a:t>ICMP</a:t>
            </a:r>
            <a:r>
              <a:rPr sz="2200" b="1" spc="11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Reply:</a:t>
            </a:r>
            <a:r>
              <a:rPr sz="2200" b="1" spc="100" dirty="0">
                <a:latin typeface="Trebuchet MS"/>
                <a:cs typeface="Trebuchet MS"/>
              </a:rPr>
              <a:t> </a:t>
            </a:r>
            <a:r>
              <a:rPr sz="2200" spc="90" dirty="0">
                <a:latin typeface="Trebuchet MS"/>
                <a:cs typeface="Trebuchet MS"/>
              </a:rPr>
              <a:t>ICMP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Reply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check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whether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destination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device</a:t>
            </a:r>
            <a:r>
              <a:rPr sz="2200" spc="10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is</a:t>
            </a:r>
            <a:endParaRPr sz="2200">
              <a:latin typeface="Trebuchet MS"/>
              <a:cs typeface="Trebuchet MS"/>
            </a:endParaRPr>
          </a:p>
          <a:p>
            <a:pPr marL="698500" algn="just">
              <a:lnSpc>
                <a:spcPts val="2375"/>
              </a:lnSpc>
            </a:pPr>
            <a:r>
              <a:rPr sz="2200" spc="-20" dirty="0">
                <a:latin typeface="Trebuchet MS"/>
                <a:cs typeface="Trebuchet MS"/>
              </a:rPr>
              <a:t>responding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or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not.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816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ICMP</a:t>
            </a:r>
            <a:r>
              <a:rPr spc="-475" dirty="0"/>
              <a:t> </a:t>
            </a:r>
            <a:r>
              <a:rPr spc="-175" dirty="0"/>
              <a:t>Protocol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5012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365" dirty="0"/>
              <a:t> </a:t>
            </a:r>
            <a:r>
              <a:rPr dirty="0"/>
              <a:t>core</a:t>
            </a:r>
            <a:r>
              <a:rPr spc="360" dirty="0"/>
              <a:t> </a:t>
            </a:r>
            <a:r>
              <a:rPr dirty="0"/>
              <a:t>responsibility</a:t>
            </a:r>
            <a:r>
              <a:rPr spc="365" dirty="0"/>
              <a:t> </a:t>
            </a:r>
            <a:r>
              <a:rPr dirty="0"/>
              <a:t>of</a:t>
            </a:r>
            <a:r>
              <a:rPr spc="355" dirty="0"/>
              <a:t> </a:t>
            </a:r>
            <a:r>
              <a:rPr dirty="0"/>
              <a:t>the</a:t>
            </a:r>
            <a:r>
              <a:rPr spc="360" dirty="0"/>
              <a:t> </a:t>
            </a:r>
            <a:r>
              <a:rPr spc="110" dirty="0"/>
              <a:t>ICMP</a:t>
            </a:r>
            <a:r>
              <a:rPr spc="365" dirty="0"/>
              <a:t> </a:t>
            </a:r>
            <a:r>
              <a:rPr dirty="0"/>
              <a:t>protocol</a:t>
            </a:r>
            <a:r>
              <a:rPr spc="380" dirty="0"/>
              <a:t> </a:t>
            </a:r>
            <a:r>
              <a:rPr dirty="0"/>
              <a:t>is</a:t>
            </a:r>
            <a:r>
              <a:rPr spc="365" dirty="0"/>
              <a:t> </a:t>
            </a:r>
            <a:r>
              <a:rPr dirty="0"/>
              <a:t>to</a:t>
            </a:r>
            <a:r>
              <a:rPr spc="370" dirty="0"/>
              <a:t> </a:t>
            </a:r>
            <a:r>
              <a:rPr dirty="0"/>
              <a:t>report</a:t>
            </a:r>
            <a:r>
              <a:rPr spc="375" dirty="0"/>
              <a:t> </a:t>
            </a:r>
            <a:r>
              <a:rPr spc="-25" dirty="0"/>
              <a:t>the 	</a:t>
            </a:r>
            <a:r>
              <a:rPr dirty="0"/>
              <a:t>problems,</a:t>
            </a:r>
            <a:r>
              <a:rPr spc="-114" dirty="0"/>
              <a:t> </a:t>
            </a:r>
            <a:r>
              <a:rPr dirty="0"/>
              <a:t>not</a:t>
            </a:r>
            <a:r>
              <a:rPr spc="-105" dirty="0"/>
              <a:t> </a:t>
            </a:r>
            <a:r>
              <a:rPr spc="-20" dirty="0"/>
              <a:t>correct</a:t>
            </a:r>
            <a:r>
              <a:rPr spc="-114" dirty="0"/>
              <a:t> </a:t>
            </a:r>
            <a:r>
              <a:rPr spc="-20" dirty="0"/>
              <a:t>them.</a:t>
            </a:r>
            <a:r>
              <a:rPr spc="-100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25" dirty="0"/>
              <a:t>responsibility</a:t>
            </a:r>
            <a:r>
              <a:rPr spc="-11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10" dirty="0"/>
              <a:t>correction 	</a:t>
            </a:r>
            <a:r>
              <a:rPr spc="-25" dirty="0"/>
              <a:t>lies</a:t>
            </a:r>
            <a:r>
              <a:rPr spc="-260" dirty="0"/>
              <a:t> </a:t>
            </a:r>
            <a:r>
              <a:rPr spc="-120" dirty="0"/>
              <a:t>with</a:t>
            </a:r>
            <a:r>
              <a:rPr spc="-260" dirty="0"/>
              <a:t> </a:t>
            </a:r>
            <a:r>
              <a:rPr spc="-105" dirty="0"/>
              <a:t>the</a:t>
            </a:r>
            <a:r>
              <a:rPr spc="-240" dirty="0"/>
              <a:t> </a:t>
            </a:r>
            <a:r>
              <a:rPr spc="-10" dirty="0"/>
              <a:t>sender.</a:t>
            </a:r>
          </a:p>
          <a:p>
            <a:pPr marL="240029" marR="5080" indent="-227965" algn="just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pc="114" dirty="0"/>
              <a:t>ICMP</a:t>
            </a:r>
            <a:r>
              <a:rPr dirty="0"/>
              <a:t> can</a:t>
            </a:r>
            <a:r>
              <a:rPr spc="5" dirty="0"/>
              <a:t> </a:t>
            </a:r>
            <a:r>
              <a:rPr dirty="0"/>
              <a:t>send</a:t>
            </a:r>
            <a:r>
              <a:rPr spc="5" dirty="0"/>
              <a:t> </a:t>
            </a:r>
            <a:r>
              <a:rPr dirty="0"/>
              <a:t>the </a:t>
            </a:r>
            <a:r>
              <a:rPr spc="60" dirty="0"/>
              <a:t>messages</a:t>
            </a:r>
            <a:r>
              <a:rPr dirty="0"/>
              <a:t> only</a:t>
            </a:r>
            <a:r>
              <a:rPr spc="-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source,</a:t>
            </a:r>
            <a:r>
              <a:rPr spc="5" dirty="0"/>
              <a:t> </a:t>
            </a:r>
            <a:r>
              <a:rPr dirty="0"/>
              <a:t>but</a:t>
            </a:r>
            <a:r>
              <a:rPr spc="10" dirty="0"/>
              <a:t> </a:t>
            </a:r>
            <a:r>
              <a:rPr dirty="0"/>
              <a:t>not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25" dirty="0"/>
              <a:t>the 	</a:t>
            </a:r>
            <a:r>
              <a:rPr dirty="0"/>
              <a:t>intermediate</a:t>
            </a:r>
            <a:r>
              <a:rPr spc="65" dirty="0"/>
              <a:t>  </a:t>
            </a:r>
            <a:r>
              <a:rPr dirty="0"/>
              <a:t>routers</a:t>
            </a:r>
            <a:r>
              <a:rPr spc="55" dirty="0"/>
              <a:t>  </a:t>
            </a:r>
            <a:r>
              <a:rPr dirty="0"/>
              <a:t>because</a:t>
            </a:r>
            <a:r>
              <a:rPr spc="70" dirty="0"/>
              <a:t>  </a:t>
            </a:r>
            <a:r>
              <a:rPr dirty="0"/>
              <a:t>the</a:t>
            </a:r>
            <a:r>
              <a:rPr spc="65" dirty="0"/>
              <a:t>  </a:t>
            </a:r>
            <a:r>
              <a:rPr dirty="0"/>
              <a:t>IP</a:t>
            </a:r>
            <a:r>
              <a:rPr spc="60" dirty="0"/>
              <a:t>  </a:t>
            </a:r>
            <a:r>
              <a:rPr dirty="0"/>
              <a:t>datagram</a:t>
            </a:r>
            <a:r>
              <a:rPr spc="75" dirty="0"/>
              <a:t>  </a:t>
            </a:r>
            <a:r>
              <a:rPr dirty="0"/>
              <a:t>carries</a:t>
            </a:r>
            <a:r>
              <a:rPr spc="65" dirty="0"/>
              <a:t>  </a:t>
            </a:r>
            <a:r>
              <a:rPr spc="-25" dirty="0"/>
              <a:t>the 	</a:t>
            </a:r>
            <a:r>
              <a:rPr dirty="0"/>
              <a:t>addresses</a:t>
            </a:r>
            <a:r>
              <a:rPr spc="-85" dirty="0"/>
              <a:t> </a:t>
            </a:r>
            <a:r>
              <a:rPr spc="-95" dirty="0"/>
              <a:t>of</a:t>
            </a:r>
            <a:r>
              <a:rPr spc="-90" dirty="0"/>
              <a:t> </a:t>
            </a:r>
            <a:r>
              <a:rPr spc="-110" dirty="0"/>
              <a:t>the</a:t>
            </a:r>
            <a:r>
              <a:rPr spc="-70" dirty="0"/>
              <a:t> </a:t>
            </a:r>
            <a:r>
              <a:rPr dirty="0"/>
              <a:t>source</a:t>
            </a:r>
            <a:r>
              <a:rPr spc="-9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50" dirty="0"/>
              <a:t>destination</a:t>
            </a:r>
            <a:r>
              <a:rPr spc="-85" dirty="0"/>
              <a:t> </a:t>
            </a:r>
            <a:r>
              <a:rPr spc="-55" dirty="0"/>
              <a:t>but</a:t>
            </a:r>
            <a:r>
              <a:rPr spc="-80" dirty="0"/>
              <a:t> </a:t>
            </a:r>
            <a:r>
              <a:rPr spc="-45" dirty="0"/>
              <a:t>not</a:t>
            </a:r>
            <a:r>
              <a:rPr spc="-95" dirty="0"/>
              <a:t> of</a:t>
            </a:r>
            <a:r>
              <a:rPr spc="-90" dirty="0"/>
              <a:t> </a:t>
            </a:r>
            <a:r>
              <a:rPr spc="-120" dirty="0"/>
              <a:t>the</a:t>
            </a:r>
            <a:r>
              <a:rPr spc="-85" dirty="0"/>
              <a:t> </a:t>
            </a:r>
            <a:r>
              <a:rPr spc="-105" dirty="0"/>
              <a:t>router</a:t>
            </a:r>
            <a:r>
              <a:rPr spc="-80" dirty="0"/>
              <a:t> </a:t>
            </a:r>
            <a:r>
              <a:rPr spc="-20" dirty="0"/>
              <a:t>that 	</a:t>
            </a:r>
            <a:r>
              <a:rPr spc="-180" dirty="0"/>
              <a:t>it</a:t>
            </a:r>
            <a:r>
              <a:rPr spc="-254" dirty="0"/>
              <a:t> </a:t>
            </a:r>
            <a:r>
              <a:rPr dirty="0"/>
              <a:t>is</a:t>
            </a:r>
            <a:r>
              <a:rPr spc="-235" dirty="0"/>
              <a:t> </a:t>
            </a:r>
            <a:r>
              <a:rPr spc="55" dirty="0"/>
              <a:t>passed</a:t>
            </a:r>
            <a:r>
              <a:rPr spc="-225" dirty="0"/>
              <a:t> </a:t>
            </a:r>
            <a:r>
              <a:rPr spc="-25" dirty="0"/>
              <a:t>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5090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Transport</a:t>
            </a:r>
            <a:r>
              <a:rPr spc="-484" dirty="0"/>
              <a:t> </a:t>
            </a:r>
            <a:r>
              <a:rPr spc="-19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7485" cy="21367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transport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layer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responsible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for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reliability,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flow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control, 	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correction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being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sent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protocols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transport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are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dirty="0">
                <a:latin typeface="Trebuchet MS"/>
                <a:cs typeface="Trebuchet MS"/>
              </a:rPr>
              <a:t>User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Datagram</a:t>
            </a:r>
            <a:r>
              <a:rPr sz="2400" b="1" spc="-18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protocol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spc="-20" dirty="0">
                <a:latin typeface="Trebuchet MS"/>
                <a:cs typeface="Trebuchet MS"/>
              </a:rPr>
              <a:t>Transmission</a:t>
            </a:r>
            <a:r>
              <a:rPr sz="2400" b="1" spc="-175" dirty="0">
                <a:latin typeface="Trebuchet MS"/>
                <a:cs typeface="Trebuchet MS"/>
              </a:rPr>
              <a:t> </a:t>
            </a:r>
            <a:r>
              <a:rPr sz="2400" b="1" spc="-35" dirty="0">
                <a:latin typeface="Trebuchet MS"/>
                <a:cs typeface="Trebuchet MS"/>
              </a:rPr>
              <a:t>control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protocol.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901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User</a:t>
            </a:r>
            <a:r>
              <a:rPr spc="-430" dirty="0"/>
              <a:t> </a:t>
            </a:r>
            <a:r>
              <a:rPr spc="-220" dirty="0"/>
              <a:t>Datagram</a:t>
            </a:r>
            <a:r>
              <a:rPr spc="-459" dirty="0"/>
              <a:t> </a:t>
            </a:r>
            <a:r>
              <a:rPr spc="-200" dirty="0"/>
              <a:t>Protocol</a:t>
            </a:r>
            <a:r>
              <a:rPr spc="-440" dirty="0"/>
              <a:t> </a:t>
            </a:r>
            <a:r>
              <a:rPr spc="-25" dirty="0"/>
              <a:t>(UDP)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755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40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provides</a:t>
            </a:r>
            <a:r>
              <a:rPr sz="2800" spc="4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connectionless</a:t>
            </a:r>
            <a:r>
              <a:rPr sz="2800" spc="4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service</a:t>
            </a:r>
            <a:r>
              <a:rPr sz="2800" spc="4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42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end-</a:t>
            </a:r>
            <a:r>
              <a:rPr sz="2800" spc="-100" dirty="0">
                <a:latin typeface="Trebuchet MS"/>
                <a:cs typeface="Trebuchet MS"/>
              </a:rPr>
              <a:t>to-</a:t>
            </a:r>
            <a:r>
              <a:rPr sz="2800" dirty="0">
                <a:latin typeface="Trebuchet MS"/>
                <a:cs typeface="Trebuchet MS"/>
              </a:rPr>
              <a:t>end</a:t>
            </a:r>
            <a:r>
              <a:rPr sz="2800" spc="4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delivery</a:t>
            </a:r>
            <a:r>
              <a:rPr sz="2800" spc="4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	</a:t>
            </a:r>
            <a:r>
              <a:rPr sz="2800" spc="-10" dirty="0">
                <a:latin typeface="Trebuchet MS"/>
                <a:cs typeface="Trebuchet MS"/>
              </a:rPr>
              <a:t>transmission.</a:t>
            </a:r>
            <a:endParaRPr sz="2800">
              <a:latin typeface="Trebuchet MS"/>
              <a:cs typeface="Trebuchet MS"/>
            </a:endParaRPr>
          </a:p>
          <a:p>
            <a:pPr marL="240029" marR="8255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3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3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3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unreliable</a:t>
            </a:r>
            <a:r>
              <a:rPr sz="2800" spc="3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protocol</a:t>
            </a:r>
            <a:r>
              <a:rPr sz="2800" spc="34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as</a:t>
            </a:r>
            <a:r>
              <a:rPr sz="2800" spc="3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3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discovers</a:t>
            </a:r>
            <a:r>
              <a:rPr sz="2800" spc="3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3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errors</a:t>
            </a:r>
            <a:r>
              <a:rPr sz="2800" spc="3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but</a:t>
            </a:r>
            <a:r>
              <a:rPr sz="2800" spc="3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not 	</a:t>
            </a:r>
            <a:r>
              <a:rPr sz="2800" spc="-35" dirty="0">
                <a:latin typeface="Trebuchet MS"/>
                <a:cs typeface="Trebuchet MS"/>
              </a:rPr>
              <a:t>specify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error.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User</a:t>
            </a:r>
            <a:r>
              <a:rPr sz="2800" spc="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Datagram</a:t>
            </a:r>
            <a:r>
              <a:rPr sz="2800" spc="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Protocol</a:t>
            </a:r>
            <a:r>
              <a:rPr sz="2800" spc="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discovers</a:t>
            </a:r>
            <a:r>
              <a:rPr sz="2800" spc="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7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error,</a:t>
            </a:r>
            <a:r>
              <a:rPr sz="2800" spc="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75" dirty="0">
                <a:latin typeface="Trebuchet MS"/>
                <a:cs typeface="Trebuchet MS"/>
              </a:rPr>
              <a:t> </a:t>
            </a:r>
            <a:r>
              <a:rPr sz="2800" spc="110" dirty="0">
                <a:latin typeface="Trebuchet MS"/>
                <a:cs typeface="Trebuchet MS"/>
              </a:rPr>
              <a:t>ICMP</a:t>
            </a:r>
            <a:r>
              <a:rPr sz="2800" spc="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protocol 	</a:t>
            </a:r>
            <a:r>
              <a:rPr sz="2800" dirty="0">
                <a:latin typeface="Trebuchet MS"/>
                <a:cs typeface="Trebuchet MS"/>
              </a:rPr>
              <a:t>reports</a:t>
            </a:r>
            <a:r>
              <a:rPr sz="2800" spc="3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3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error</a:t>
            </a:r>
            <a:r>
              <a:rPr sz="2800" spc="3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3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3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sender</a:t>
            </a:r>
            <a:r>
              <a:rPr sz="2800" spc="3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that</a:t>
            </a:r>
            <a:r>
              <a:rPr sz="2800" spc="3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user</a:t>
            </a:r>
            <a:r>
              <a:rPr sz="2800" spc="3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datagram</a:t>
            </a:r>
            <a:r>
              <a:rPr sz="2800" spc="305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has</a:t>
            </a:r>
            <a:r>
              <a:rPr sz="2800" spc="31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been 	</a:t>
            </a:r>
            <a:r>
              <a:rPr sz="2800" spc="-10" dirty="0">
                <a:latin typeface="Trebuchet MS"/>
                <a:cs typeface="Trebuchet MS"/>
              </a:rPr>
              <a:t>damaged.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Fields</a:t>
            </a:r>
            <a:r>
              <a:rPr spc="-445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80" dirty="0"/>
              <a:t>User</a:t>
            </a:r>
            <a:r>
              <a:rPr spc="-465" dirty="0"/>
              <a:t> </a:t>
            </a:r>
            <a:r>
              <a:rPr spc="-220" dirty="0"/>
              <a:t>Datagram</a:t>
            </a:r>
            <a:r>
              <a:rPr spc="-465" dirty="0"/>
              <a:t> </a:t>
            </a:r>
            <a:r>
              <a:rPr spc="-200" dirty="0"/>
              <a:t>Protocol</a:t>
            </a:r>
            <a:r>
              <a:rPr spc="-455" dirty="0"/>
              <a:t> </a:t>
            </a:r>
            <a:r>
              <a:rPr spc="-10" dirty="0"/>
              <a:t>(UDP)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238" y="2868572"/>
            <a:ext cx="366395" cy="25336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00"/>
              </a:lnSpc>
            </a:pPr>
            <a:r>
              <a:rPr sz="2200" dirty="0">
                <a:latin typeface="Trebuchet MS"/>
                <a:cs typeface="Trebuchet MS"/>
              </a:rPr>
              <a:t>Source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port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address: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491" y="2546604"/>
            <a:ext cx="1861566" cy="33992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31416" y="2825623"/>
            <a:ext cx="1530985" cy="27006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spc="-90" dirty="0">
                <a:latin typeface="Trebuchet MS"/>
                <a:cs typeface="Trebuchet MS"/>
              </a:rPr>
              <a:t>The</a:t>
            </a:r>
            <a:r>
              <a:rPr sz="1900" spc="-1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source </a:t>
            </a:r>
            <a:r>
              <a:rPr sz="1900" spc="-75" dirty="0">
                <a:latin typeface="Trebuchet MS"/>
                <a:cs typeface="Trebuchet MS"/>
              </a:rPr>
              <a:t>port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address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dirty="0">
                <a:latin typeface="Trebuchet MS"/>
                <a:cs typeface="Trebuchet MS"/>
              </a:rPr>
              <a:t>address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of the </a:t>
            </a:r>
            <a:r>
              <a:rPr sz="1900" spc="-10" dirty="0">
                <a:latin typeface="Trebuchet MS"/>
                <a:cs typeface="Trebuchet MS"/>
              </a:rPr>
              <a:t>application </a:t>
            </a:r>
            <a:r>
              <a:rPr sz="1900" spc="-50" dirty="0">
                <a:latin typeface="Trebuchet MS"/>
                <a:cs typeface="Trebuchet MS"/>
              </a:rPr>
              <a:t>program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that </a:t>
            </a:r>
            <a:r>
              <a:rPr sz="1900" dirty="0">
                <a:latin typeface="Trebuchet MS"/>
                <a:cs typeface="Trebuchet MS"/>
              </a:rPr>
              <a:t>has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created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message.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4168" y="2052015"/>
            <a:ext cx="758190" cy="758190"/>
            <a:chOff x="894168" y="2052015"/>
            <a:chExt cx="758190" cy="758190"/>
          </a:xfrm>
        </p:grpSpPr>
        <p:sp>
          <p:nvSpPr>
            <p:cNvPr id="7" name="object 7"/>
            <p:cNvSpPr/>
            <p:nvPr/>
          </p:nvSpPr>
          <p:spPr>
            <a:xfrm>
              <a:off x="90051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89" h="745489">
                  <a:moveTo>
                    <a:pt x="745286" y="0"/>
                  </a:moveTo>
                  <a:lnTo>
                    <a:pt x="0" y="0"/>
                  </a:lnTo>
                  <a:lnTo>
                    <a:pt x="0" y="745286"/>
                  </a:lnTo>
                  <a:lnTo>
                    <a:pt x="745286" y="745286"/>
                  </a:lnTo>
                  <a:lnTo>
                    <a:pt x="745286" y="0"/>
                  </a:lnTo>
                  <a:close/>
                </a:path>
              </a:pathLst>
            </a:custGeom>
            <a:solidFill>
              <a:srgbClr val="F4C8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051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89" h="745489">
                  <a:moveTo>
                    <a:pt x="0" y="745286"/>
                  </a:moveTo>
                  <a:lnTo>
                    <a:pt x="745286" y="745286"/>
                  </a:lnTo>
                  <a:lnTo>
                    <a:pt x="745286" y="0"/>
                  </a:lnTo>
                  <a:lnTo>
                    <a:pt x="0" y="0"/>
                  </a:lnTo>
                  <a:lnTo>
                    <a:pt x="0" y="7452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77213" y="2868406"/>
            <a:ext cx="366395" cy="3077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00"/>
              </a:lnSpc>
            </a:pPr>
            <a:r>
              <a:rPr sz="2200" spc="-35" dirty="0">
                <a:latin typeface="Trebuchet MS"/>
                <a:cs typeface="Trebuchet MS"/>
              </a:rPr>
              <a:t>Destination</a:t>
            </a:r>
            <a:r>
              <a:rPr sz="2200" spc="-13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port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address: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9832" y="2546604"/>
            <a:ext cx="1861565" cy="339928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52391" y="2825623"/>
            <a:ext cx="1530985" cy="2700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ts val="218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900" spc="-25" dirty="0">
                <a:latin typeface="Trebuchet MS"/>
                <a:cs typeface="Trebuchet MS"/>
              </a:rPr>
              <a:t>The</a:t>
            </a:r>
            <a:endParaRPr sz="1900">
              <a:latin typeface="Trebuchet MS"/>
              <a:cs typeface="Trebuchet MS"/>
            </a:endParaRPr>
          </a:p>
          <a:p>
            <a:pPr marL="184785" marR="5080">
              <a:lnSpc>
                <a:spcPct val="91600"/>
              </a:lnSpc>
              <a:spcBef>
                <a:spcPts val="90"/>
              </a:spcBef>
            </a:pPr>
            <a:r>
              <a:rPr sz="1900" spc="-10" dirty="0">
                <a:latin typeface="Trebuchet MS"/>
                <a:cs typeface="Trebuchet MS"/>
              </a:rPr>
              <a:t>destination </a:t>
            </a:r>
            <a:r>
              <a:rPr sz="1900" spc="-65" dirty="0">
                <a:latin typeface="Trebuchet MS"/>
                <a:cs typeface="Trebuchet MS"/>
              </a:rPr>
              <a:t>port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address </a:t>
            </a:r>
            <a:r>
              <a:rPr sz="1900" dirty="0">
                <a:latin typeface="Trebuchet MS"/>
                <a:cs typeface="Trebuchet MS"/>
              </a:rPr>
              <a:t>is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dirty="0">
                <a:latin typeface="Trebuchet MS"/>
                <a:cs typeface="Trebuchet MS"/>
              </a:rPr>
              <a:t>address</a:t>
            </a:r>
            <a:r>
              <a:rPr sz="1900" spc="-9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of the </a:t>
            </a:r>
            <a:r>
              <a:rPr sz="1900" spc="-10" dirty="0">
                <a:latin typeface="Trebuchet MS"/>
                <a:cs typeface="Trebuchet MS"/>
              </a:rPr>
              <a:t>application </a:t>
            </a:r>
            <a:r>
              <a:rPr sz="1900" spc="-50" dirty="0">
                <a:latin typeface="Trebuchet MS"/>
                <a:cs typeface="Trebuchet MS"/>
              </a:rPr>
              <a:t>program</a:t>
            </a:r>
            <a:r>
              <a:rPr sz="1900" spc="-15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that </a:t>
            </a:r>
            <a:r>
              <a:rPr sz="1900" spc="-40" dirty="0">
                <a:latin typeface="Trebuchet MS"/>
                <a:cs typeface="Trebuchet MS"/>
              </a:rPr>
              <a:t>receives</a:t>
            </a:r>
            <a:r>
              <a:rPr sz="1900" spc="-11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10" dirty="0">
                <a:latin typeface="Trebuchet MS"/>
                <a:cs typeface="Trebuchet MS"/>
              </a:rPr>
              <a:t>message.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14928" y="2052015"/>
            <a:ext cx="758190" cy="758190"/>
            <a:chOff x="3614928" y="2052015"/>
            <a:chExt cx="758190" cy="758190"/>
          </a:xfrm>
        </p:grpSpPr>
        <p:sp>
          <p:nvSpPr>
            <p:cNvPr id="13" name="object 13"/>
            <p:cNvSpPr/>
            <p:nvPr/>
          </p:nvSpPr>
          <p:spPr>
            <a:xfrm>
              <a:off x="362127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89" h="745489">
                  <a:moveTo>
                    <a:pt x="745286" y="0"/>
                  </a:moveTo>
                  <a:lnTo>
                    <a:pt x="0" y="0"/>
                  </a:lnTo>
                  <a:lnTo>
                    <a:pt x="0" y="745286"/>
                  </a:lnTo>
                  <a:lnTo>
                    <a:pt x="745286" y="745286"/>
                  </a:lnTo>
                  <a:lnTo>
                    <a:pt x="745286" y="0"/>
                  </a:lnTo>
                  <a:close/>
                </a:path>
              </a:pathLst>
            </a:custGeom>
            <a:solidFill>
              <a:srgbClr val="BBC6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2127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89" h="745489">
                  <a:moveTo>
                    <a:pt x="0" y="745286"/>
                  </a:moveTo>
                  <a:lnTo>
                    <a:pt x="745286" y="745286"/>
                  </a:lnTo>
                  <a:lnTo>
                    <a:pt x="745286" y="0"/>
                  </a:lnTo>
                  <a:lnTo>
                    <a:pt x="0" y="0"/>
                  </a:lnTo>
                  <a:lnTo>
                    <a:pt x="0" y="7452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98442" y="2867765"/>
            <a:ext cx="366395" cy="1490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00"/>
              </a:lnSpc>
            </a:pPr>
            <a:r>
              <a:rPr sz="2200" spc="-135" dirty="0">
                <a:latin typeface="Trebuchet MS"/>
                <a:cs typeface="Trebuchet MS"/>
              </a:rPr>
              <a:t>Total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length: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0171" y="2546604"/>
            <a:ext cx="1861566" cy="339928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73367" y="2825623"/>
            <a:ext cx="1427480" cy="190436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90"/>
              </a:spcBef>
              <a:buChar char="•"/>
              <a:tabLst>
                <a:tab pos="184785" algn="l"/>
              </a:tabLst>
            </a:pPr>
            <a:r>
              <a:rPr sz="1900" spc="-100" dirty="0">
                <a:latin typeface="Trebuchet MS"/>
                <a:cs typeface="Trebuchet MS"/>
              </a:rPr>
              <a:t>It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defines </a:t>
            </a:r>
            <a:r>
              <a:rPr sz="1900" spc="-65" dirty="0">
                <a:latin typeface="Trebuchet MS"/>
                <a:cs typeface="Trebuchet MS"/>
              </a:rPr>
              <a:t>the</a:t>
            </a:r>
            <a:r>
              <a:rPr sz="1900" spc="-1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total </a:t>
            </a:r>
            <a:r>
              <a:rPr sz="1900" spc="-30" dirty="0">
                <a:latin typeface="Trebuchet MS"/>
                <a:cs typeface="Trebuchet MS"/>
              </a:rPr>
              <a:t>number</a:t>
            </a:r>
            <a:r>
              <a:rPr sz="1900" spc="-1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of </a:t>
            </a:r>
            <a:r>
              <a:rPr sz="1900" spc="-40" dirty="0">
                <a:latin typeface="Trebuchet MS"/>
                <a:cs typeface="Trebuchet MS"/>
              </a:rPr>
              <a:t>bytes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of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the </a:t>
            </a:r>
            <a:r>
              <a:rPr sz="1900" spc="-20" dirty="0">
                <a:latin typeface="Trebuchet MS"/>
                <a:cs typeface="Trebuchet MS"/>
              </a:rPr>
              <a:t>user </a:t>
            </a:r>
            <a:r>
              <a:rPr sz="1900" spc="-55" dirty="0">
                <a:latin typeface="Trebuchet MS"/>
                <a:cs typeface="Trebuchet MS"/>
              </a:rPr>
              <a:t>datagram</a:t>
            </a:r>
            <a:r>
              <a:rPr sz="1900" spc="-114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in </a:t>
            </a:r>
            <a:r>
              <a:rPr sz="1900" spc="-10" dirty="0">
                <a:latin typeface="Trebuchet MS"/>
                <a:cs typeface="Trebuchet MS"/>
              </a:rPr>
              <a:t>bytes.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35648" y="2052015"/>
            <a:ext cx="758190" cy="758190"/>
            <a:chOff x="6335648" y="2052015"/>
            <a:chExt cx="758190" cy="758190"/>
          </a:xfrm>
        </p:grpSpPr>
        <p:sp>
          <p:nvSpPr>
            <p:cNvPr id="19" name="object 19"/>
            <p:cNvSpPr/>
            <p:nvPr/>
          </p:nvSpPr>
          <p:spPr>
            <a:xfrm>
              <a:off x="634199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90" h="745489">
                  <a:moveTo>
                    <a:pt x="745299" y="0"/>
                  </a:moveTo>
                  <a:lnTo>
                    <a:pt x="0" y="0"/>
                  </a:lnTo>
                  <a:lnTo>
                    <a:pt x="0" y="745286"/>
                  </a:lnTo>
                  <a:lnTo>
                    <a:pt x="745299" y="745286"/>
                  </a:lnTo>
                  <a:lnTo>
                    <a:pt x="745299" y="0"/>
                  </a:lnTo>
                  <a:close/>
                </a:path>
              </a:pathLst>
            </a:custGeom>
            <a:solidFill>
              <a:srgbClr val="BBD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41998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90" h="745489">
                  <a:moveTo>
                    <a:pt x="0" y="745286"/>
                  </a:moveTo>
                  <a:lnTo>
                    <a:pt x="745299" y="745286"/>
                  </a:lnTo>
                  <a:lnTo>
                    <a:pt x="745299" y="0"/>
                  </a:lnTo>
                  <a:lnTo>
                    <a:pt x="0" y="0"/>
                  </a:lnTo>
                  <a:lnTo>
                    <a:pt x="0" y="7452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019416" y="2866306"/>
            <a:ext cx="366395" cy="14077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00"/>
              </a:lnSpc>
            </a:pPr>
            <a:r>
              <a:rPr sz="2200" spc="-10" dirty="0">
                <a:latin typeface="Trebuchet MS"/>
                <a:cs typeface="Trebuchet MS"/>
              </a:rPr>
              <a:t>Checksum: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2035" y="2546604"/>
            <a:ext cx="1861566" cy="339928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9594595" y="2825623"/>
            <a:ext cx="1506220" cy="1374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 algn="just">
              <a:lnSpc>
                <a:spcPts val="2180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900" spc="-25" dirty="0">
                <a:latin typeface="Trebuchet MS"/>
                <a:cs typeface="Trebuchet MS"/>
              </a:rPr>
              <a:t>The</a:t>
            </a:r>
            <a:endParaRPr sz="1900">
              <a:latin typeface="Trebuchet MS"/>
              <a:cs typeface="Trebuchet MS"/>
            </a:endParaRPr>
          </a:p>
          <a:p>
            <a:pPr marL="184785" marR="5080" algn="just">
              <a:lnSpc>
                <a:spcPct val="91600"/>
              </a:lnSpc>
              <a:spcBef>
                <a:spcPts val="90"/>
              </a:spcBef>
            </a:pPr>
            <a:r>
              <a:rPr sz="1900" spc="20" dirty="0">
                <a:latin typeface="Trebuchet MS"/>
                <a:cs typeface="Trebuchet MS"/>
              </a:rPr>
              <a:t>checksum</a:t>
            </a:r>
            <a:r>
              <a:rPr sz="1900" spc="-180" dirty="0">
                <a:latin typeface="Trebuchet MS"/>
                <a:cs typeface="Trebuchet MS"/>
              </a:rPr>
              <a:t> </a:t>
            </a:r>
            <a:r>
              <a:rPr sz="1900" spc="25" dirty="0">
                <a:latin typeface="Trebuchet MS"/>
                <a:cs typeface="Trebuchet MS"/>
              </a:rPr>
              <a:t>is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-19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16-</a:t>
            </a:r>
            <a:r>
              <a:rPr sz="1900" spc="-85" dirty="0">
                <a:latin typeface="Trebuchet MS"/>
                <a:cs typeface="Trebuchet MS"/>
              </a:rPr>
              <a:t>bit</a:t>
            </a:r>
            <a:r>
              <a:rPr sz="1900" spc="-17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field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25" dirty="0">
                <a:latin typeface="Trebuchet MS"/>
                <a:cs typeface="Trebuchet MS"/>
              </a:rPr>
              <a:t>used</a:t>
            </a:r>
            <a:r>
              <a:rPr sz="1900" spc="-18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in</a:t>
            </a:r>
            <a:r>
              <a:rPr sz="1900" spc="-19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error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detection.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56369" y="2052015"/>
            <a:ext cx="758190" cy="758190"/>
            <a:chOff x="9056369" y="2052015"/>
            <a:chExt cx="758190" cy="758190"/>
          </a:xfrm>
        </p:grpSpPr>
        <p:sp>
          <p:nvSpPr>
            <p:cNvPr id="25" name="object 25"/>
            <p:cNvSpPr/>
            <p:nvPr/>
          </p:nvSpPr>
          <p:spPr>
            <a:xfrm>
              <a:off x="9062719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90" h="745489">
                  <a:moveTo>
                    <a:pt x="745299" y="0"/>
                  </a:moveTo>
                  <a:lnTo>
                    <a:pt x="0" y="0"/>
                  </a:lnTo>
                  <a:lnTo>
                    <a:pt x="0" y="745286"/>
                  </a:lnTo>
                  <a:lnTo>
                    <a:pt x="745299" y="745286"/>
                  </a:lnTo>
                  <a:lnTo>
                    <a:pt x="745299" y="0"/>
                  </a:lnTo>
                  <a:close/>
                </a:path>
              </a:pathLst>
            </a:custGeom>
            <a:solidFill>
              <a:srgbClr val="D5BD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62719" y="2058365"/>
              <a:ext cx="745490" cy="745490"/>
            </a:xfrm>
            <a:custGeom>
              <a:avLst/>
              <a:gdLst/>
              <a:ahLst/>
              <a:cxnLst/>
              <a:rect l="l" t="t" r="r" b="b"/>
              <a:pathLst>
                <a:path w="745490" h="745489">
                  <a:moveTo>
                    <a:pt x="0" y="745286"/>
                  </a:moveTo>
                  <a:lnTo>
                    <a:pt x="745299" y="745286"/>
                  </a:lnTo>
                  <a:lnTo>
                    <a:pt x="745299" y="0"/>
                  </a:lnTo>
                  <a:lnTo>
                    <a:pt x="0" y="0"/>
                  </a:lnTo>
                  <a:lnTo>
                    <a:pt x="0" y="7452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Fields</a:t>
            </a:r>
            <a:r>
              <a:rPr spc="-445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80" dirty="0"/>
              <a:t>User</a:t>
            </a:r>
            <a:r>
              <a:rPr spc="-465" dirty="0"/>
              <a:t> </a:t>
            </a:r>
            <a:r>
              <a:rPr spc="-220" dirty="0"/>
              <a:t>Datagram</a:t>
            </a:r>
            <a:r>
              <a:rPr spc="-465" dirty="0"/>
              <a:t> </a:t>
            </a:r>
            <a:r>
              <a:rPr spc="-200" dirty="0"/>
              <a:t>Protocol</a:t>
            </a:r>
            <a:r>
              <a:rPr spc="-455" dirty="0"/>
              <a:t> </a:t>
            </a:r>
            <a:r>
              <a:rPr spc="-10" dirty="0"/>
              <a:t>(UDP)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494" y="4408487"/>
            <a:ext cx="2314575" cy="1247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0442" y="2981960"/>
            <a:ext cx="2876549" cy="1238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1707917"/>
            <a:ext cx="10180955" cy="143065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95" dirty="0">
                <a:latin typeface="Trebuchet MS"/>
                <a:cs typeface="Trebuchet MS"/>
              </a:rPr>
              <a:t>UDP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specify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packet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lost.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95" dirty="0">
                <a:latin typeface="Trebuchet MS"/>
                <a:cs typeface="Trebuchet MS"/>
              </a:rPr>
              <a:t>UDP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contains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only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checksum;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50" dirty="0">
                <a:latin typeface="Trebuchet MS"/>
                <a:cs typeface="Trebuchet MS"/>
              </a:rPr>
              <a:t>does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contain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any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70" dirty="0">
                <a:latin typeface="Trebuchet MS"/>
                <a:cs typeface="Trebuchet MS"/>
              </a:rPr>
              <a:t>ID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data 	</a:t>
            </a:r>
            <a:r>
              <a:rPr sz="2800" spc="-10" dirty="0">
                <a:latin typeface="Trebuchet MS"/>
                <a:cs typeface="Trebuchet MS"/>
              </a:rPr>
              <a:t>segment.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8197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Transmission</a:t>
            </a:r>
            <a:r>
              <a:rPr spc="-445" dirty="0"/>
              <a:t> </a:t>
            </a:r>
            <a:r>
              <a:rPr spc="-195" dirty="0"/>
              <a:t>Control</a:t>
            </a:r>
            <a:r>
              <a:rPr spc="-425" dirty="0"/>
              <a:t> </a:t>
            </a:r>
            <a:r>
              <a:rPr spc="-200" dirty="0"/>
              <a:t>Protocol</a:t>
            </a:r>
            <a:r>
              <a:rPr spc="-415" dirty="0"/>
              <a:t> </a:t>
            </a:r>
            <a:r>
              <a:rPr spc="-114" dirty="0"/>
              <a:t>(TCP)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81724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35" dirty="0">
                <a:latin typeface="Trebuchet MS"/>
                <a:cs typeface="Trebuchet MS"/>
              </a:rPr>
              <a:t>It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provides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full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transport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services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applications.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140966"/>
            <a:ext cx="103593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creates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virtual</a:t>
            </a:r>
            <a:r>
              <a:rPr sz="260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circuit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between</a:t>
            </a:r>
            <a:r>
              <a:rPr sz="2600" dirty="0">
                <a:latin typeface="Trebuchet MS"/>
                <a:cs typeface="Trebuchet MS"/>
              </a:rPr>
              <a:t> the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sender and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receiver,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it </a:t>
            </a:r>
            <a:r>
              <a:rPr sz="2600" spc="-25" dirty="0">
                <a:latin typeface="Trebuchet MS"/>
                <a:cs typeface="Trebuchet MS"/>
              </a:rPr>
              <a:t>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2418029"/>
            <a:ext cx="60248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80" dirty="0">
                <a:latin typeface="Trebuchet MS"/>
                <a:cs typeface="Trebuchet MS"/>
              </a:rPr>
              <a:t>active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for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duration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transmission.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822575"/>
            <a:ext cx="103600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TCP</a:t>
            </a:r>
            <a:r>
              <a:rPr sz="2600" spc="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2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reliable</a:t>
            </a:r>
            <a:r>
              <a:rPr sz="2600" spc="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protocol</a:t>
            </a:r>
            <a:r>
              <a:rPr sz="2600" spc="30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it</a:t>
            </a:r>
            <a:r>
              <a:rPr sz="2600" spc="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detects the</a:t>
            </a:r>
            <a:r>
              <a:rPr sz="2600" spc="2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error</a:t>
            </a:r>
            <a:r>
              <a:rPr sz="2600" spc="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2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retransmits</a:t>
            </a:r>
            <a:r>
              <a:rPr sz="2600" spc="2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844" y="3099943"/>
            <a:ext cx="101307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28445" algn="l"/>
                <a:tab pos="2790825" algn="l"/>
                <a:tab pos="4410710" algn="l"/>
                <a:tab pos="4777105" algn="l"/>
                <a:tab pos="6099810" algn="l"/>
                <a:tab pos="6625590" algn="l"/>
                <a:tab pos="7268845" algn="l"/>
                <a:tab pos="8846185" algn="l"/>
                <a:tab pos="9756775" algn="l"/>
              </a:tabLst>
            </a:pPr>
            <a:r>
              <a:rPr sz="2600" spc="-10" dirty="0">
                <a:latin typeface="Trebuchet MS"/>
                <a:cs typeface="Trebuchet MS"/>
              </a:rPr>
              <a:t>damaged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frames.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Therefore,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it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ensures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all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segments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0" dirty="0">
                <a:latin typeface="Trebuchet MS"/>
                <a:cs typeface="Trebuchet MS"/>
              </a:rPr>
              <a:t>must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be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3377310"/>
            <a:ext cx="101276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35" dirty="0">
                <a:latin typeface="Trebuchet MS"/>
                <a:cs typeface="Trebuchet MS"/>
              </a:rPr>
              <a:t>received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acknowledged</a:t>
            </a:r>
            <a:r>
              <a:rPr sz="260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before</a:t>
            </a:r>
            <a:r>
              <a:rPr sz="2600" dirty="0">
                <a:latin typeface="Trebuchet MS"/>
                <a:cs typeface="Trebuchet MS"/>
              </a:rPr>
              <a:t> the</a:t>
            </a:r>
            <a:r>
              <a:rPr sz="2600" spc="-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transmission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considered</a:t>
            </a:r>
            <a:r>
              <a:rPr sz="2600" spc="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844" y="3654678"/>
            <a:ext cx="66757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5" dirty="0">
                <a:latin typeface="Trebuchet MS"/>
                <a:cs typeface="Trebuchet MS"/>
              </a:rPr>
              <a:t>be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completed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virtual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circuit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discarded.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059758"/>
            <a:ext cx="103606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0" dirty="0">
                <a:latin typeface="Trebuchet MS"/>
                <a:cs typeface="Trebuchet MS"/>
              </a:rPr>
              <a:t>At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the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sending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end,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TCP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divides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the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whole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message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into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smaller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units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844" y="4337684"/>
            <a:ext cx="101295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rebuchet MS"/>
                <a:cs typeface="Trebuchet MS"/>
              </a:rPr>
              <a:t>known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segment</a:t>
            </a:r>
            <a:r>
              <a:rPr sz="2600" dirty="0">
                <a:latin typeface="Trebuchet MS"/>
                <a:cs typeface="Trebuchet MS"/>
              </a:rPr>
              <a:t>,</a:t>
            </a:r>
            <a:r>
              <a:rPr sz="2600" spc="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segment</a:t>
            </a:r>
            <a:r>
              <a:rPr sz="2600" spc="5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contains</a:t>
            </a:r>
            <a:r>
              <a:rPr sz="2600" spc="6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sequence</a:t>
            </a:r>
            <a:r>
              <a:rPr sz="2600" spc="6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number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844" y="4615052"/>
            <a:ext cx="101034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0" dirty="0">
                <a:latin typeface="Trebuchet MS"/>
                <a:cs typeface="Trebuchet MS"/>
              </a:rPr>
              <a:t>which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required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for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reordering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frames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form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original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message.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5018913"/>
            <a:ext cx="103606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65" dirty="0">
                <a:latin typeface="Trebuchet MS"/>
                <a:cs typeface="Trebuchet MS"/>
              </a:rPr>
              <a:t>At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the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receiving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end,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TCP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collects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all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the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segments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reorders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them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5844" y="5296306"/>
            <a:ext cx="42506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rebuchet MS"/>
                <a:cs typeface="Trebuchet MS"/>
              </a:rPr>
              <a:t>based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sequence</a:t>
            </a:r>
            <a:r>
              <a:rPr sz="2600" spc="-13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numbers.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9293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Application</a:t>
            </a:r>
            <a:r>
              <a:rPr spc="-400" dirty="0"/>
              <a:t> </a:t>
            </a:r>
            <a:r>
              <a:rPr spc="-185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57409" y="2209545"/>
            <a:ext cx="15189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19835" algn="l"/>
              </a:tabLst>
            </a:pPr>
            <a:r>
              <a:rPr sz="2600" spc="65" dirty="0">
                <a:latin typeface="Trebuchet MS"/>
                <a:cs typeface="Trebuchet MS"/>
              </a:rPr>
              <a:t>issues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35" dirty="0">
                <a:latin typeface="Trebuchet MS"/>
                <a:cs typeface="Trebuchet MS"/>
              </a:rPr>
              <a:t>of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719427"/>
            <a:ext cx="8861425" cy="12299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application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topmost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in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TCP/IP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model.</a:t>
            </a:r>
            <a:endParaRPr sz="2600">
              <a:latin typeface="Trebuchet MS"/>
              <a:cs typeface="Trebuchet MS"/>
            </a:endParaRPr>
          </a:p>
          <a:p>
            <a:pPr marL="241300" marR="292100" indent="-229235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  <a:tab pos="724535" algn="l"/>
                <a:tab pos="1254760" algn="l"/>
                <a:tab pos="3225800" algn="l"/>
                <a:tab pos="3905250" algn="l"/>
                <a:tab pos="5432425" algn="l"/>
                <a:tab pos="7105650" algn="l"/>
              </a:tabLst>
            </a:pPr>
            <a:r>
              <a:rPr sz="2600" spc="-25" dirty="0">
                <a:latin typeface="Trebuchet MS"/>
                <a:cs typeface="Trebuchet MS"/>
              </a:rPr>
              <a:t>It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is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responsible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25" dirty="0">
                <a:latin typeface="Trebuchet MS"/>
                <a:cs typeface="Trebuchet MS"/>
              </a:rPr>
              <a:t>for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10" dirty="0">
                <a:latin typeface="Trebuchet MS"/>
                <a:cs typeface="Trebuchet MS"/>
              </a:rPr>
              <a:t>handling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50" dirty="0">
                <a:latin typeface="Trebuchet MS"/>
                <a:cs typeface="Trebuchet MS"/>
              </a:rPr>
              <a:t>high-</a:t>
            </a:r>
            <a:r>
              <a:rPr sz="2600" spc="-10" dirty="0">
                <a:latin typeface="Trebuchet MS"/>
                <a:cs typeface="Trebuchet MS"/>
              </a:rPr>
              <a:t>level</a:t>
            </a:r>
            <a:r>
              <a:rPr sz="2600" dirty="0">
                <a:latin typeface="Trebuchet MS"/>
                <a:cs typeface="Trebuchet MS"/>
              </a:rPr>
              <a:t>	</a:t>
            </a:r>
            <a:r>
              <a:rPr sz="2600" spc="-40" dirty="0">
                <a:latin typeface="Trebuchet MS"/>
                <a:cs typeface="Trebuchet MS"/>
              </a:rPr>
              <a:t>protocols, </a:t>
            </a:r>
            <a:r>
              <a:rPr sz="2600" spc="-10" dirty="0">
                <a:latin typeface="Trebuchet MS"/>
                <a:cs typeface="Trebuchet MS"/>
              </a:rPr>
              <a:t>representation.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925292"/>
            <a:ext cx="10360025" cy="31781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5" dirty="0">
                <a:latin typeface="Trebuchet MS"/>
                <a:cs typeface="Trebuchet MS"/>
              </a:rPr>
              <a:t>This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layer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allows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interact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with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application.</a:t>
            </a:r>
            <a:endParaRPr sz="2600">
              <a:latin typeface="Trebuchet MS"/>
              <a:cs typeface="Trebuchet MS"/>
            </a:endParaRPr>
          </a:p>
          <a:p>
            <a:pPr marL="241300" marR="6350" indent="-229235" algn="just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When</a:t>
            </a:r>
            <a:r>
              <a:rPr sz="2600" spc="48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one</a:t>
            </a:r>
            <a:r>
              <a:rPr sz="2600" spc="4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application</a:t>
            </a:r>
            <a:r>
              <a:rPr sz="2600" spc="49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layer</a:t>
            </a:r>
            <a:r>
              <a:rPr sz="2600" spc="48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protocol</a:t>
            </a:r>
            <a:r>
              <a:rPr sz="2600" spc="4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wants</a:t>
            </a:r>
            <a:r>
              <a:rPr sz="2600" spc="4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to</a:t>
            </a:r>
            <a:r>
              <a:rPr sz="2600" spc="4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communicate</a:t>
            </a:r>
            <a:r>
              <a:rPr sz="2600" spc="48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with </a:t>
            </a:r>
            <a:r>
              <a:rPr sz="2600" spc="-55" dirty="0">
                <a:latin typeface="Trebuchet MS"/>
                <a:cs typeface="Trebuchet MS"/>
              </a:rPr>
              <a:t>another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application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layer,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it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forwards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its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transport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layer.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There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ambiguity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occurs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in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the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application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layer.</a:t>
            </a:r>
            <a:r>
              <a:rPr sz="2600" spc="-4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Every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application </a:t>
            </a:r>
            <a:r>
              <a:rPr sz="2600" spc="-30" dirty="0">
                <a:latin typeface="Trebuchet MS"/>
                <a:cs typeface="Trebuchet MS"/>
              </a:rPr>
              <a:t>cannot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be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placed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inside</a:t>
            </a:r>
            <a:r>
              <a:rPr sz="2600" spc="-15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the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application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layer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except</a:t>
            </a:r>
            <a:r>
              <a:rPr sz="2600" spc="-9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those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who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interact </a:t>
            </a:r>
            <a:r>
              <a:rPr sz="2600" spc="-100" dirty="0">
                <a:latin typeface="Trebuchet MS"/>
                <a:cs typeface="Trebuchet MS"/>
              </a:rPr>
              <a:t>with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communication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system.</a:t>
            </a:r>
            <a:endParaRPr sz="2600">
              <a:latin typeface="Trebuchet MS"/>
              <a:cs typeface="Trebuchet MS"/>
            </a:endParaRPr>
          </a:p>
          <a:p>
            <a:pPr marL="698500" marR="5715" lvl="1" indent="-228600" algn="just">
              <a:lnSpc>
                <a:spcPts val="211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rebuchet MS"/>
                <a:cs typeface="Trebuchet MS"/>
              </a:rPr>
              <a:t>For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30" dirty="0">
                <a:latin typeface="Trebuchet MS"/>
                <a:cs typeface="Trebuchet MS"/>
              </a:rPr>
              <a:t>example: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text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editor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cannot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considered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 </a:t>
            </a:r>
            <a:r>
              <a:rPr sz="2200" spc="-10" dirty="0">
                <a:latin typeface="Trebuchet MS"/>
                <a:cs typeface="Trebuchet MS"/>
              </a:rPr>
              <a:t>application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layer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while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web </a:t>
            </a:r>
            <a:r>
              <a:rPr sz="2200" spc="-40" dirty="0">
                <a:latin typeface="Trebuchet MS"/>
                <a:cs typeface="Trebuchet MS"/>
              </a:rPr>
              <a:t>browser</a:t>
            </a:r>
            <a:r>
              <a:rPr sz="2200" spc="-1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using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HTTP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protocol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80" dirty="0">
                <a:latin typeface="Trebuchet MS"/>
                <a:cs typeface="Trebuchet MS"/>
              </a:rPr>
              <a:t>to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90" dirty="0">
                <a:latin typeface="Trebuchet MS"/>
                <a:cs typeface="Trebuchet MS"/>
              </a:rPr>
              <a:t>interact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-130" dirty="0">
                <a:latin typeface="Trebuchet MS"/>
                <a:cs typeface="Trebuchet MS"/>
              </a:rPr>
              <a:t>with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the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network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85" dirty="0">
                <a:latin typeface="Trebuchet MS"/>
                <a:cs typeface="Trebuchet MS"/>
              </a:rPr>
              <a:t>where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14" dirty="0">
                <a:latin typeface="Trebuchet MS"/>
                <a:cs typeface="Trebuchet MS"/>
              </a:rPr>
              <a:t>HTTP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protocol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is </a:t>
            </a:r>
            <a:r>
              <a:rPr sz="2200" dirty="0">
                <a:latin typeface="Trebuchet MS"/>
                <a:cs typeface="Trebuchet MS"/>
              </a:rPr>
              <a:t>an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application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layer</a:t>
            </a:r>
            <a:r>
              <a:rPr sz="2200" spc="-15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protocol.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7564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Protocols</a:t>
            </a:r>
            <a:r>
              <a:rPr spc="-434" dirty="0"/>
              <a:t> </a:t>
            </a:r>
            <a:r>
              <a:rPr spc="-265" dirty="0"/>
              <a:t>of</a:t>
            </a:r>
            <a:r>
              <a:rPr spc="-430" dirty="0"/>
              <a:t> </a:t>
            </a:r>
            <a:r>
              <a:rPr spc="-215" dirty="0"/>
              <a:t>Application</a:t>
            </a:r>
            <a:r>
              <a:rPr spc="-459" dirty="0"/>
              <a:t> </a:t>
            </a:r>
            <a:r>
              <a:rPr spc="-160" dirty="0"/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1850" y="1930895"/>
            <a:ext cx="10528300" cy="1530985"/>
            <a:chOff x="831850" y="1930895"/>
            <a:chExt cx="10528300" cy="1530985"/>
          </a:xfrm>
        </p:grpSpPr>
        <p:sp>
          <p:nvSpPr>
            <p:cNvPr id="4" name="object 4"/>
            <p:cNvSpPr/>
            <p:nvPr/>
          </p:nvSpPr>
          <p:spPr>
            <a:xfrm>
              <a:off x="838200" y="2155825"/>
              <a:ext cx="10515600" cy="1299845"/>
            </a:xfrm>
            <a:custGeom>
              <a:avLst/>
              <a:gdLst/>
              <a:ahLst/>
              <a:cxnLst/>
              <a:rect l="l" t="t" r="r" b="b"/>
              <a:pathLst>
                <a:path w="10515600" h="1299845">
                  <a:moveTo>
                    <a:pt x="0" y="1299337"/>
                  </a:moveTo>
                  <a:lnTo>
                    <a:pt x="10515600" y="1299337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1299337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9408" y="1930895"/>
              <a:ext cx="7366254" cy="44730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31850" y="3532619"/>
            <a:ext cx="10528300" cy="1105535"/>
            <a:chOff x="831850" y="3532619"/>
            <a:chExt cx="10528300" cy="1105535"/>
          </a:xfrm>
        </p:grpSpPr>
        <p:sp>
          <p:nvSpPr>
            <p:cNvPr id="7" name="object 7"/>
            <p:cNvSpPr/>
            <p:nvPr/>
          </p:nvSpPr>
          <p:spPr>
            <a:xfrm>
              <a:off x="838200" y="3757561"/>
              <a:ext cx="10515600" cy="874394"/>
            </a:xfrm>
            <a:custGeom>
              <a:avLst/>
              <a:gdLst/>
              <a:ahLst/>
              <a:cxnLst/>
              <a:rect l="l" t="t" r="r" b="b"/>
              <a:pathLst>
                <a:path w="10515600" h="874395">
                  <a:moveTo>
                    <a:pt x="0" y="874128"/>
                  </a:moveTo>
                  <a:lnTo>
                    <a:pt x="10515600" y="874128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87412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408" y="3532619"/>
              <a:ext cx="7366254" cy="44730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31850" y="4709147"/>
            <a:ext cx="10528300" cy="1365885"/>
            <a:chOff x="831850" y="4709147"/>
            <a:chExt cx="10528300" cy="1365885"/>
          </a:xfrm>
        </p:grpSpPr>
        <p:sp>
          <p:nvSpPr>
            <p:cNvPr id="10" name="object 10"/>
            <p:cNvSpPr/>
            <p:nvPr/>
          </p:nvSpPr>
          <p:spPr>
            <a:xfrm>
              <a:off x="838200" y="4934140"/>
              <a:ext cx="10515600" cy="1134110"/>
            </a:xfrm>
            <a:custGeom>
              <a:avLst/>
              <a:gdLst/>
              <a:ahLst/>
              <a:cxnLst/>
              <a:rect l="l" t="t" r="r" b="b"/>
              <a:pathLst>
                <a:path w="10515600" h="1134110">
                  <a:moveTo>
                    <a:pt x="0" y="1133995"/>
                  </a:moveTo>
                  <a:lnTo>
                    <a:pt x="10515600" y="1133995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1133995"/>
                  </a:lnTo>
                  <a:close/>
                </a:path>
              </a:pathLst>
            </a:custGeom>
            <a:ln w="12699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9408" y="4709147"/>
              <a:ext cx="7366254" cy="44730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41729" y="2004821"/>
            <a:ext cx="8911590" cy="3938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rebuchet MS"/>
                <a:cs typeface="Trebuchet MS"/>
              </a:rPr>
              <a:t>HTTP:</a:t>
            </a:r>
            <a:endParaRPr sz="1500">
              <a:latin typeface="Trebuchet MS"/>
              <a:cs typeface="Trebuchet MS"/>
            </a:endParaRPr>
          </a:p>
          <a:p>
            <a:pPr marL="125730" marR="5080" indent="-113030">
              <a:lnSpc>
                <a:spcPts val="1639"/>
              </a:lnSpc>
              <a:spcBef>
                <a:spcPts val="1675"/>
              </a:spcBef>
              <a:buChar char="•"/>
              <a:tabLst>
                <a:tab pos="127000" algn="l"/>
              </a:tabLst>
            </a:pPr>
            <a:r>
              <a:rPr sz="1500" spc="-45" dirty="0">
                <a:latin typeface="Trebuchet MS"/>
                <a:cs typeface="Trebuchet MS"/>
              </a:rPr>
              <a:t>HTTP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stands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Trebuchet MS"/>
                <a:cs typeface="Trebuchet MS"/>
              </a:rPr>
              <a:t>for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b="1" spc="-40" dirty="0">
                <a:latin typeface="Trebuchet MS"/>
                <a:cs typeface="Trebuchet MS"/>
              </a:rPr>
              <a:t>Hypertext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spc="-45" dirty="0">
                <a:latin typeface="Trebuchet MS"/>
                <a:cs typeface="Trebuchet MS"/>
              </a:rPr>
              <a:t>Transfer</a:t>
            </a:r>
            <a:r>
              <a:rPr sz="1500" b="1" spc="-20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Protocol</a:t>
            </a:r>
            <a:r>
              <a:rPr sz="1500" spc="-10" dirty="0">
                <a:latin typeface="Trebuchet MS"/>
                <a:cs typeface="Trebuchet MS"/>
              </a:rPr>
              <a:t>.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This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protocol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allows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55" dirty="0">
                <a:latin typeface="Trebuchet MS"/>
                <a:cs typeface="Trebuchet MS"/>
              </a:rPr>
              <a:t>us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to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access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the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</a:t>
            </a:r>
            <a:r>
              <a:rPr sz="1500" spc="-1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over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the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world 	</a:t>
            </a:r>
            <a:r>
              <a:rPr sz="1500" spc="-40" dirty="0">
                <a:latin typeface="Trebuchet MS"/>
                <a:cs typeface="Trebuchet MS"/>
              </a:rPr>
              <a:t>wide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web.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It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transfers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data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in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form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of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Trebuchet MS"/>
                <a:cs typeface="Trebuchet MS"/>
              </a:rPr>
              <a:t>plain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14" dirty="0">
                <a:latin typeface="Trebuchet MS"/>
                <a:cs typeface="Trebuchet MS"/>
              </a:rPr>
              <a:t>text,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audio,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video.</a:t>
            </a:r>
            <a:endParaRPr sz="1500">
              <a:latin typeface="Trebuchet MS"/>
              <a:cs typeface="Trebuchet MS"/>
            </a:endParaRPr>
          </a:p>
          <a:p>
            <a:pPr marL="125730" marR="6985" indent="-113030">
              <a:lnSpc>
                <a:spcPts val="1639"/>
              </a:lnSpc>
              <a:spcBef>
                <a:spcPts val="300"/>
              </a:spcBef>
              <a:buChar char="•"/>
              <a:tabLst>
                <a:tab pos="127000" algn="l"/>
              </a:tabLst>
            </a:pPr>
            <a:r>
              <a:rPr sz="1500" spc="-70" dirty="0">
                <a:latin typeface="Trebuchet MS"/>
                <a:cs typeface="Trebuchet MS"/>
              </a:rPr>
              <a:t>It </a:t>
            </a:r>
            <a:r>
              <a:rPr sz="1500" dirty="0">
                <a:latin typeface="Trebuchet MS"/>
                <a:cs typeface="Trebuchet MS"/>
              </a:rPr>
              <a:t>is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known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as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70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Hypertext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transfer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protocol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as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95" dirty="0">
                <a:latin typeface="Trebuchet MS"/>
                <a:cs typeface="Trebuchet MS"/>
              </a:rPr>
              <a:t>it</a:t>
            </a:r>
            <a:r>
              <a:rPr sz="1500" spc="-7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has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the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efficiency </a:t>
            </a:r>
            <a:r>
              <a:rPr sz="1500" spc="-60" dirty="0">
                <a:latin typeface="Trebuchet MS"/>
                <a:cs typeface="Trebuchet MS"/>
              </a:rPr>
              <a:t>to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use</a:t>
            </a:r>
            <a:r>
              <a:rPr sz="1500" spc="-7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in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70" dirty="0">
                <a:latin typeface="Trebuchet MS"/>
                <a:cs typeface="Trebuchet MS"/>
              </a:rPr>
              <a:t> hypertext </a:t>
            </a:r>
            <a:r>
              <a:rPr sz="1500" spc="-45" dirty="0">
                <a:latin typeface="Trebuchet MS"/>
                <a:cs typeface="Trebuchet MS"/>
              </a:rPr>
              <a:t>environment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where 	</a:t>
            </a:r>
            <a:r>
              <a:rPr sz="1500" spc="-65" dirty="0">
                <a:latin typeface="Trebuchet MS"/>
                <a:cs typeface="Trebuchet MS"/>
              </a:rPr>
              <a:t>there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are</a:t>
            </a:r>
            <a:r>
              <a:rPr sz="1500" spc="-135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rapid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jumps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from</a:t>
            </a:r>
            <a:r>
              <a:rPr sz="1500" spc="-1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one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document</a:t>
            </a:r>
            <a:r>
              <a:rPr sz="1500" spc="-145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to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another.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Trebuchet MS"/>
              <a:buChar char="•"/>
            </a:pPr>
            <a:endParaRPr sz="1500">
              <a:latin typeface="Trebuchet MS"/>
              <a:cs typeface="Trebuchet MS"/>
            </a:endParaRPr>
          </a:p>
          <a:p>
            <a:pPr marL="22225">
              <a:lnSpc>
                <a:spcPct val="100000"/>
              </a:lnSpc>
            </a:pPr>
            <a:r>
              <a:rPr sz="1500" b="1" spc="-10" dirty="0">
                <a:latin typeface="Trebuchet MS"/>
                <a:cs typeface="Trebuchet MS"/>
              </a:rPr>
              <a:t>SNMP:</a:t>
            </a:r>
            <a:endParaRPr sz="1500">
              <a:latin typeface="Trebuchet MS"/>
              <a:cs typeface="Trebuchet MS"/>
            </a:endParaRPr>
          </a:p>
          <a:p>
            <a:pPr marL="125730" indent="-113030">
              <a:lnSpc>
                <a:spcPct val="100000"/>
              </a:lnSpc>
              <a:spcBef>
                <a:spcPts val="1490"/>
              </a:spcBef>
              <a:buChar char="•"/>
              <a:tabLst>
                <a:tab pos="125730" algn="l"/>
              </a:tabLst>
            </a:pPr>
            <a:r>
              <a:rPr sz="1500" spc="85" dirty="0">
                <a:latin typeface="Trebuchet MS"/>
                <a:cs typeface="Trebuchet MS"/>
              </a:rPr>
              <a:t>SNMP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stands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70" dirty="0">
                <a:latin typeface="Trebuchet MS"/>
                <a:cs typeface="Trebuchet MS"/>
              </a:rPr>
              <a:t>for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b="1" i="1" dirty="0">
                <a:latin typeface="Trebuchet MS"/>
                <a:cs typeface="Trebuchet MS"/>
              </a:rPr>
              <a:t>Simple</a:t>
            </a:r>
            <a:r>
              <a:rPr sz="1500" b="1" i="1" spc="-95" dirty="0">
                <a:latin typeface="Trebuchet MS"/>
                <a:cs typeface="Trebuchet MS"/>
              </a:rPr>
              <a:t> </a:t>
            </a:r>
            <a:r>
              <a:rPr sz="1500" b="1" i="1" spc="-40" dirty="0">
                <a:latin typeface="Trebuchet MS"/>
                <a:cs typeface="Trebuchet MS"/>
              </a:rPr>
              <a:t>Network</a:t>
            </a:r>
            <a:r>
              <a:rPr sz="1500" b="1" i="1" spc="-95" dirty="0">
                <a:latin typeface="Trebuchet MS"/>
                <a:cs typeface="Trebuchet MS"/>
              </a:rPr>
              <a:t> </a:t>
            </a:r>
            <a:r>
              <a:rPr sz="1500" b="1" i="1" spc="-20" dirty="0">
                <a:latin typeface="Trebuchet MS"/>
                <a:cs typeface="Trebuchet MS"/>
              </a:rPr>
              <a:t>Management</a:t>
            </a:r>
            <a:r>
              <a:rPr sz="1500" b="1" i="1" spc="-90" dirty="0">
                <a:latin typeface="Trebuchet MS"/>
                <a:cs typeface="Trebuchet MS"/>
              </a:rPr>
              <a:t> </a:t>
            </a:r>
            <a:r>
              <a:rPr sz="1500" b="1" i="1" spc="-10" dirty="0">
                <a:latin typeface="Trebuchet MS"/>
                <a:cs typeface="Trebuchet MS"/>
              </a:rPr>
              <a:t>Protocol</a:t>
            </a:r>
            <a:r>
              <a:rPr sz="1500" spc="-10" dirty="0"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  <a:p>
            <a:pPr marL="12573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25730" algn="l"/>
              </a:tabLst>
            </a:pPr>
            <a:r>
              <a:rPr sz="1500" spc="-75" dirty="0">
                <a:latin typeface="Trebuchet MS"/>
                <a:cs typeface="Trebuchet MS"/>
              </a:rPr>
              <a:t>It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is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framework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used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70" dirty="0">
                <a:latin typeface="Trebuchet MS"/>
                <a:cs typeface="Trebuchet MS"/>
              </a:rPr>
              <a:t>for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managing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devices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on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internet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by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using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85" dirty="0">
                <a:latin typeface="Trebuchet MS"/>
                <a:cs typeface="Trebuchet MS"/>
              </a:rPr>
              <a:t>TCP/IP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30" dirty="0">
                <a:latin typeface="Trebuchet MS"/>
                <a:cs typeface="Trebuchet MS"/>
              </a:rPr>
              <a:t>protocol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suite.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  <a:buFont typeface="Trebuchet MS"/>
              <a:buChar char="•"/>
            </a:pPr>
            <a:endParaRPr sz="1500">
              <a:latin typeface="Trebuchet MS"/>
              <a:cs typeface="Trebuchet MS"/>
            </a:endParaRPr>
          </a:p>
          <a:p>
            <a:pPr marL="22225">
              <a:lnSpc>
                <a:spcPct val="100000"/>
              </a:lnSpc>
            </a:pPr>
            <a:r>
              <a:rPr sz="1500" b="1" spc="-10" dirty="0">
                <a:latin typeface="Trebuchet MS"/>
                <a:cs typeface="Trebuchet MS"/>
              </a:rPr>
              <a:t>SMTP:</a:t>
            </a:r>
            <a:endParaRPr sz="1500">
              <a:latin typeface="Trebuchet MS"/>
              <a:cs typeface="Trebuchet MS"/>
            </a:endParaRPr>
          </a:p>
          <a:p>
            <a:pPr marL="125730" indent="-113030">
              <a:lnSpc>
                <a:spcPct val="100000"/>
              </a:lnSpc>
              <a:spcBef>
                <a:spcPts val="1490"/>
              </a:spcBef>
              <a:buChar char="•"/>
              <a:tabLst>
                <a:tab pos="125730" algn="l"/>
              </a:tabLst>
            </a:pPr>
            <a:r>
              <a:rPr sz="1500" dirty="0">
                <a:latin typeface="Trebuchet MS"/>
                <a:cs typeface="Trebuchet MS"/>
              </a:rPr>
              <a:t>SMTP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stands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70" dirty="0">
                <a:latin typeface="Trebuchet MS"/>
                <a:cs typeface="Trebuchet MS"/>
              </a:rPr>
              <a:t>for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b="1" i="1" dirty="0">
                <a:latin typeface="Trebuchet MS"/>
                <a:cs typeface="Trebuchet MS"/>
              </a:rPr>
              <a:t>Simple</a:t>
            </a:r>
            <a:r>
              <a:rPr sz="1500" b="1" i="1" spc="-75" dirty="0">
                <a:latin typeface="Trebuchet MS"/>
                <a:cs typeface="Trebuchet MS"/>
              </a:rPr>
              <a:t> </a:t>
            </a:r>
            <a:r>
              <a:rPr sz="1500" b="1" i="1" spc="-40" dirty="0">
                <a:latin typeface="Trebuchet MS"/>
                <a:cs typeface="Trebuchet MS"/>
              </a:rPr>
              <a:t>Mail</a:t>
            </a:r>
            <a:r>
              <a:rPr sz="1500" b="1" i="1" spc="-110" dirty="0">
                <a:latin typeface="Trebuchet MS"/>
                <a:cs typeface="Trebuchet MS"/>
              </a:rPr>
              <a:t> </a:t>
            </a:r>
            <a:r>
              <a:rPr sz="1500" b="1" i="1" spc="-100" dirty="0">
                <a:latin typeface="Trebuchet MS"/>
                <a:cs typeface="Trebuchet MS"/>
              </a:rPr>
              <a:t>Transfer</a:t>
            </a:r>
            <a:r>
              <a:rPr sz="1500" b="1" i="1" spc="-70" dirty="0">
                <a:latin typeface="Trebuchet MS"/>
                <a:cs typeface="Trebuchet MS"/>
              </a:rPr>
              <a:t> </a:t>
            </a:r>
            <a:r>
              <a:rPr sz="1500" b="1" i="1" spc="-10" dirty="0">
                <a:latin typeface="Trebuchet MS"/>
                <a:cs typeface="Trebuchet MS"/>
              </a:rPr>
              <a:t>Protocol</a:t>
            </a:r>
            <a:r>
              <a:rPr sz="1500" spc="-10" dirty="0"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  <a:p>
            <a:pPr marL="12573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25730" algn="l"/>
              </a:tabLst>
            </a:pPr>
            <a:r>
              <a:rPr sz="1500" spc="-75" dirty="0">
                <a:latin typeface="Trebuchet MS"/>
                <a:cs typeface="Trebuchet MS"/>
              </a:rPr>
              <a:t>The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85" dirty="0">
                <a:latin typeface="Trebuchet MS"/>
                <a:cs typeface="Trebuchet MS"/>
              </a:rPr>
              <a:t>TCP/IP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30" dirty="0">
                <a:latin typeface="Trebuchet MS"/>
                <a:cs typeface="Trebuchet MS"/>
              </a:rPr>
              <a:t>protocol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that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supports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e-</a:t>
            </a:r>
            <a:r>
              <a:rPr sz="1500" spc="-35" dirty="0">
                <a:latin typeface="Trebuchet MS"/>
                <a:cs typeface="Trebuchet MS"/>
              </a:rPr>
              <a:t>mail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is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known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as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Simple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Trebuchet MS"/>
                <a:cs typeface="Trebuchet MS"/>
              </a:rPr>
              <a:t>mail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transfer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protocol.</a:t>
            </a:r>
            <a:endParaRPr sz="1500">
              <a:latin typeface="Trebuchet MS"/>
              <a:cs typeface="Trebuchet MS"/>
            </a:endParaRPr>
          </a:p>
          <a:p>
            <a:pPr marL="12573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25730" algn="l"/>
              </a:tabLst>
            </a:pPr>
            <a:r>
              <a:rPr sz="1500" spc="-35" dirty="0">
                <a:latin typeface="Trebuchet MS"/>
                <a:cs typeface="Trebuchet MS"/>
              </a:rPr>
              <a:t>This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30" dirty="0">
                <a:latin typeface="Trebuchet MS"/>
                <a:cs typeface="Trebuchet MS"/>
              </a:rPr>
              <a:t>protocol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is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used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to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send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data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to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another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e-</a:t>
            </a:r>
            <a:r>
              <a:rPr sz="1500" spc="-35" dirty="0">
                <a:latin typeface="Trebuchet MS"/>
                <a:cs typeface="Trebuchet MS"/>
              </a:rPr>
              <a:t>mail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address.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7564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Protocols</a:t>
            </a:r>
            <a:r>
              <a:rPr spc="-434" dirty="0"/>
              <a:t> </a:t>
            </a:r>
            <a:r>
              <a:rPr spc="-265" dirty="0"/>
              <a:t>of</a:t>
            </a:r>
            <a:r>
              <a:rPr spc="-430" dirty="0"/>
              <a:t> </a:t>
            </a:r>
            <a:r>
              <a:rPr spc="-215" dirty="0"/>
              <a:t>Application</a:t>
            </a:r>
            <a:r>
              <a:rPr spc="-459" dirty="0"/>
              <a:t> </a:t>
            </a:r>
            <a:r>
              <a:rPr spc="-16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911095"/>
            <a:ext cx="10520934" cy="546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567671"/>
            <a:ext cx="10520934" cy="5463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4951476"/>
            <a:ext cx="10520934" cy="5448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5837" y="1803524"/>
            <a:ext cx="10276840" cy="424497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45" dirty="0">
                <a:latin typeface="Trebuchet MS"/>
                <a:cs typeface="Trebuchet MS"/>
              </a:rPr>
              <a:t>DNS:</a:t>
            </a:r>
            <a:endParaRPr sz="2200">
              <a:latin typeface="Trebuchet MS"/>
              <a:cs typeface="Trebuchet MS"/>
            </a:endParaRPr>
          </a:p>
          <a:p>
            <a:pPr marL="407670" indent="-171450">
              <a:lnSpc>
                <a:spcPct val="100000"/>
              </a:lnSpc>
              <a:spcBef>
                <a:spcPts val="1019"/>
              </a:spcBef>
              <a:buChar char="•"/>
              <a:tabLst>
                <a:tab pos="407670" algn="l"/>
              </a:tabLst>
            </a:pPr>
            <a:r>
              <a:rPr sz="1700" spc="120" dirty="0">
                <a:latin typeface="Trebuchet MS"/>
                <a:cs typeface="Trebuchet MS"/>
              </a:rPr>
              <a:t>DNS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stands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b="1" i="1" dirty="0">
                <a:latin typeface="Trebuchet MS"/>
                <a:cs typeface="Trebuchet MS"/>
              </a:rPr>
              <a:t>Domain</a:t>
            </a:r>
            <a:r>
              <a:rPr sz="1700" b="1" i="1" spc="-105" dirty="0">
                <a:latin typeface="Trebuchet MS"/>
                <a:cs typeface="Trebuchet MS"/>
              </a:rPr>
              <a:t> </a:t>
            </a:r>
            <a:r>
              <a:rPr sz="1700" b="1" i="1" dirty="0">
                <a:latin typeface="Trebuchet MS"/>
                <a:cs typeface="Trebuchet MS"/>
              </a:rPr>
              <a:t>Name</a:t>
            </a:r>
            <a:r>
              <a:rPr sz="1700" b="1" i="1" spc="-120" dirty="0">
                <a:latin typeface="Trebuchet MS"/>
                <a:cs typeface="Trebuchet MS"/>
              </a:rPr>
              <a:t> </a:t>
            </a:r>
            <a:r>
              <a:rPr sz="1700" b="1" i="1" spc="-10" dirty="0">
                <a:latin typeface="Trebuchet MS"/>
                <a:cs typeface="Trebuchet MS"/>
              </a:rPr>
              <a:t>System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407034" marR="5080" indent="-171450">
              <a:lnSpc>
                <a:spcPts val="1870"/>
              </a:lnSpc>
              <a:spcBef>
                <a:spcPts val="445"/>
              </a:spcBef>
              <a:buChar char="•"/>
              <a:tabLst>
                <a:tab pos="408305" algn="l"/>
              </a:tabLst>
            </a:pPr>
            <a:r>
              <a:rPr sz="1700" dirty="0">
                <a:latin typeface="Trebuchet MS"/>
                <a:cs typeface="Trebuchet MS"/>
              </a:rPr>
              <a:t>An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IP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address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used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to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identify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connection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of</a:t>
            </a:r>
            <a:r>
              <a:rPr sz="1700" spc="-9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host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to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internet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uniquely.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But,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people</a:t>
            </a:r>
            <a:r>
              <a:rPr sz="1700" spc="-90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prefer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to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use 	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names</a:t>
            </a:r>
            <a:r>
              <a:rPr sz="1700" spc="-10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instead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of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addresses.</a:t>
            </a:r>
            <a:endParaRPr sz="1700">
              <a:latin typeface="Trebuchet MS"/>
              <a:cs typeface="Trebuchet MS"/>
            </a:endParaRPr>
          </a:p>
          <a:p>
            <a:pPr marL="407670" indent="-171450">
              <a:lnSpc>
                <a:spcPct val="100000"/>
              </a:lnSpc>
              <a:spcBef>
                <a:spcPts val="204"/>
              </a:spcBef>
              <a:buChar char="•"/>
              <a:tabLst>
                <a:tab pos="407670" algn="l"/>
              </a:tabLst>
            </a:pPr>
            <a:r>
              <a:rPr sz="1700" spc="-90" dirty="0">
                <a:latin typeface="Trebuchet MS"/>
                <a:cs typeface="Trebuchet MS"/>
              </a:rPr>
              <a:t>Therefore,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system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that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maps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name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to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address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spc="-20" dirty="0">
                <a:latin typeface="Trebuchet MS"/>
                <a:cs typeface="Trebuchet MS"/>
              </a:rPr>
              <a:t>known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75" dirty="0">
                <a:latin typeface="Trebuchet MS"/>
                <a:cs typeface="Trebuchet MS"/>
              </a:rPr>
              <a:t>as</a:t>
            </a:r>
            <a:r>
              <a:rPr sz="1700" spc="-110" dirty="0">
                <a:latin typeface="Trebuchet MS"/>
                <a:cs typeface="Trebuchet MS"/>
              </a:rPr>
              <a:t> </a:t>
            </a:r>
            <a:r>
              <a:rPr sz="1700" b="1" i="1" dirty="0">
                <a:latin typeface="Trebuchet MS"/>
                <a:cs typeface="Trebuchet MS"/>
              </a:rPr>
              <a:t>Domain</a:t>
            </a:r>
            <a:r>
              <a:rPr sz="1700" b="1" i="1" spc="-114" dirty="0">
                <a:latin typeface="Trebuchet MS"/>
                <a:cs typeface="Trebuchet MS"/>
              </a:rPr>
              <a:t> </a:t>
            </a:r>
            <a:r>
              <a:rPr sz="1700" b="1" i="1" dirty="0">
                <a:latin typeface="Trebuchet MS"/>
                <a:cs typeface="Trebuchet MS"/>
              </a:rPr>
              <a:t>Name</a:t>
            </a:r>
            <a:r>
              <a:rPr sz="1700" b="1" i="1" spc="-125" dirty="0">
                <a:latin typeface="Trebuchet MS"/>
                <a:cs typeface="Trebuchet MS"/>
              </a:rPr>
              <a:t> </a:t>
            </a:r>
            <a:r>
              <a:rPr sz="1700" b="1" i="1" spc="-10" dirty="0">
                <a:latin typeface="Trebuchet MS"/>
                <a:cs typeface="Trebuchet MS"/>
              </a:rPr>
              <a:t>System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200" b="1" spc="-10" dirty="0">
                <a:latin typeface="Trebuchet MS"/>
                <a:cs typeface="Trebuchet MS"/>
              </a:rPr>
              <a:t>TELNET:</a:t>
            </a:r>
            <a:endParaRPr sz="2200">
              <a:latin typeface="Trebuchet MS"/>
              <a:cs typeface="Trebuchet MS"/>
            </a:endParaRPr>
          </a:p>
          <a:p>
            <a:pPr marL="407670" indent="-171450">
              <a:lnSpc>
                <a:spcPct val="100000"/>
              </a:lnSpc>
              <a:spcBef>
                <a:spcPts val="1020"/>
              </a:spcBef>
              <a:buChar char="•"/>
              <a:tabLst>
                <a:tab pos="407670" algn="l"/>
              </a:tabLst>
            </a:pPr>
            <a:r>
              <a:rPr sz="1700" spc="-90" dirty="0">
                <a:latin typeface="Trebuchet MS"/>
                <a:cs typeface="Trebuchet MS"/>
              </a:rPr>
              <a:t>It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abbreviation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b="1" i="1" spc="-85" dirty="0">
                <a:latin typeface="Trebuchet MS"/>
                <a:cs typeface="Trebuchet MS"/>
              </a:rPr>
              <a:t>Terminal</a:t>
            </a:r>
            <a:r>
              <a:rPr sz="1700" b="1" i="1" spc="-155" dirty="0">
                <a:latin typeface="Trebuchet MS"/>
                <a:cs typeface="Trebuchet MS"/>
              </a:rPr>
              <a:t> </a:t>
            </a:r>
            <a:r>
              <a:rPr sz="1700" b="1" i="1" spc="-10" dirty="0">
                <a:latin typeface="Trebuchet MS"/>
                <a:cs typeface="Trebuchet MS"/>
              </a:rPr>
              <a:t>Network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407034" marR="5080" indent="-171450">
              <a:lnSpc>
                <a:spcPts val="1870"/>
              </a:lnSpc>
              <a:spcBef>
                <a:spcPts val="440"/>
              </a:spcBef>
              <a:buChar char="•"/>
              <a:tabLst>
                <a:tab pos="408305" algn="l"/>
              </a:tabLst>
            </a:pPr>
            <a:r>
              <a:rPr sz="1700" spc="-10" dirty="0">
                <a:latin typeface="Trebuchet MS"/>
                <a:cs typeface="Trebuchet MS"/>
              </a:rPr>
              <a:t>It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establishes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connection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30" dirty="0">
                <a:latin typeface="Trebuchet MS"/>
                <a:cs typeface="Trebuchet MS"/>
              </a:rPr>
              <a:t>between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the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local</a:t>
            </a:r>
            <a:r>
              <a:rPr sz="1700" spc="-6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computer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and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remote</a:t>
            </a:r>
            <a:r>
              <a:rPr sz="1700" spc="-4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computer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in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55" dirty="0">
                <a:latin typeface="Trebuchet MS"/>
                <a:cs typeface="Trebuchet MS"/>
              </a:rPr>
              <a:t>such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5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way</a:t>
            </a:r>
            <a:r>
              <a:rPr sz="1700" spc="-4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that</a:t>
            </a:r>
            <a:r>
              <a:rPr sz="1700" spc="-50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the 	</a:t>
            </a:r>
            <a:r>
              <a:rPr sz="1700" spc="-10" dirty="0">
                <a:latin typeface="Trebuchet MS"/>
                <a:cs typeface="Trebuchet MS"/>
              </a:rPr>
              <a:t>local</a:t>
            </a:r>
            <a:r>
              <a:rPr sz="1700" spc="-16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terminal</a:t>
            </a:r>
            <a:r>
              <a:rPr sz="1700" spc="-14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appears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to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be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terminal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70" dirty="0">
                <a:latin typeface="Trebuchet MS"/>
                <a:cs typeface="Trebuchet MS"/>
              </a:rPr>
              <a:t>at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remote</a:t>
            </a:r>
            <a:r>
              <a:rPr sz="1700" spc="-15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system.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200" b="1" spc="-20" dirty="0">
                <a:latin typeface="Trebuchet MS"/>
                <a:cs typeface="Trebuchet MS"/>
              </a:rPr>
              <a:t>FTP:</a:t>
            </a:r>
            <a:endParaRPr sz="2200">
              <a:latin typeface="Trebuchet MS"/>
              <a:cs typeface="Trebuchet MS"/>
            </a:endParaRPr>
          </a:p>
          <a:p>
            <a:pPr marL="407670" indent="-171450">
              <a:lnSpc>
                <a:spcPct val="100000"/>
              </a:lnSpc>
              <a:spcBef>
                <a:spcPts val="1015"/>
              </a:spcBef>
              <a:buChar char="•"/>
              <a:tabLst>
                <a:tab pos="407670" algn="l"/>
              </a:tabLst>
            </a:pPr>
            <a:r>
              <a:rPr sz="1700" spc="-60" dirty="0">
                <a:latin typeface="Trebuchet MS"/>
                <a:cs typeface="Trebuchet MS"/>
              </a:rPr>
              <a:t>FTP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stands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80" dirty="0">
                <a:latin typeface="Trebuchet MS"/>
                <a:cs typeface="Trebuchet MS"/>
              </a:rPr>
              <a:t>for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b="1" i="1" spc="-60" dirty="0">
                <a:latin typeface="Trebuchet MS"/>
                <a:cs typeface="Trebuchet MS"/>
              </a:rPr>
              <a:t>File</a:t>
            </a:r>
            <a:r>
              <a:rPr sz="1700" b="1" i="1" spc="-120" dirty="0">
                <a:latin typeface="Trebuchet MS"/>
                <a:cs typeface="Trebuchet MS"/>
              </a:rPr>
              <a:t> </a:t>
            </a:r>
            <a:r>
              <a:rPr sz="1700" b="1" i="1" spc="-110" dirty="0">
                <a:latin typeface="Trebuchet MS"/>
                <a:cs typeface="Trebuchet MS"/>
              </a:rPr>
              <a:t>Transfer</a:t>
            </a:r>
            <a:r>
              <a:rPr sz="1700" b="1" i="1" spc="-140" dirty="0">
                <a:latin typeface="Trebuchet MS"/>
                <a:cs typeface="Trebuchet MS"/>
              </a:rPr>
              <a:t> </a:t>
            </a:r>
            <a:r>
              <a:rPr sz="1700" b="1" i="1" spc="-10" dirty="0">
                <a:latin typeface="Trebuchet MS"/>
                <a:cs typeface="Trebuchet MS"/>
              </a:rPr>
              <a:t>Protocol</a:t>
            </a:r>
            <a:r>
              <a:rPr sz="1700" spc="-10" dirty="0">
                <a:latin typeface="Trebuchet MS"/>
                <a:cs typeface="Trebuchet MS"/>
              </a:rPr>
              <a:t>.</a:t>
            </a:r>
            <a:endParaRPr sz="1700">
              <a:latin typeface="Trebuchet MS"/>
              <a:cs typeface="Trebuchet MS"/>
            </a:endParaRPr>
          </a:p>
          <a:p>
            <a:pPr marL="407670" indent="-171450">
              <a:lnSpc>
                <a:spcPct val="100000"/>
              </a:lnSpc>
              <a:spcBef>
                <a:spcPts val="240"/>
              </a:spcBef>
              <a:buChar char="•"/>
              <a:tabLst>
                <a:tab pos="407670" algn="l"/>
              </a:tabLst>
            </a:pPr>
            <a:r>
              <a:rPr sz="1700" spc="-60" dirty="0">
                <a:latin typeface="Trebuchet MS"/>
                <a:cs typeface="Trebuchet MS"/>
              </a:rPr>
              <a:t>FTP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is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a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standard</a:t>
            </a:r>
            <a:r>
              <a:rPr sz="1700" spc="-105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internet</a:t>
            </a:r>
            <a:r>
              <a:rPr sz="1700" spc="-135" dirty="0">
                <a:latin typeface="Trebuchet MS"/>
                <a:cs typeface="Trebuchet MS"/>
              </a:rPr>
              <a:t> </a:t>
            </a:r>
            <a:r>
              <a:rPr sz="1700" spc="-35" dirty="0">
                <a:latin typeface="Trebuchet MS"/>
                <a:cs typeface="Trebuchet MS"/>
              </a:rPr>
              <a:t>protocol</a:t>
            </a:r>
            <a:r>
              <a:rPr sz="1700" spc="-114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used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75" dirty="0">
                <a:latin typeface="Trebuchet MS"/>
                <a:cs typeface="Trebuchet MS"/>
              </a:rPr>
              <a:t>for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Trebuchet MS"/>
                <a:cs typeface="Trebuchet MS"/>
              </a:rPr>
              <a:t>transmitting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Trebuchet MS"/>
                <a:cs typeface="Trebuchet MS"/>
              </a:rPr>
              <a:t>the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files</a:t>
            </a:r>
            <a:r>
              <a:rPr sz="1700" spc="-145" dirty="0">
                <a:latin typeface="Trebuchet MS"/>
                <a:cs typeface="Trebuchet MS"/>
              </a:rPr>
              <a:t> </a:t>
            </a:r>
            <a:r>
              <a:rPr sz="1700" spc="-50" dirty="0">
                <a:latin typeface="Trebuchet MS"/>
                <a:cs typeface="Trebuchet MS"/>
              </a:rPr>
              <a:t>from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dirty="0">
                <a:latin typeface="Trebuchet MS"/>
                <a:cs typeface="Trebuchet MS"/>
              </a:rPr>
              <a:t>one</a:t>
            </a:r>
            <a:r>
              <a:rPr sz="1700" spc="-125" dirty="0">
                <a:latin typeface="Trebuchet MS"/>
                <a:cs typeface="Trebuchet MS"/>
              </a:rPr>
              <a:t> </a:t>
            </a:r>
            <a:r>
              <a:rPr sz="1700" spc="-25" dirty="0">
                <a:latin typeface="Trebuchet MS"/>
                <a:cs typeface="Trebuchet MS"/>
              </a:rPr>
              <a:t>computer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Trebuchet MS"/>
                <a:cs typeface="Trebuchet MS"/>
              </a:rPr>
              <a:t>to</a:t>
            </a:r>
            <a:r>
              <a:rPr sz="1700" spc="-130" dirty="0">
                <a:latin typeface="Trebuchet MS"/>
                <a:cs typeface="Trebuchet MS"/>
              </a:rPr>
              <a:t> </a:t>
            </a:r>
            <a:r>
              <a:rPr sz="1700" spc="-40" dirty="0">
                <a:latin typeface="Trebuchet MS"/>
                <a:cs typeface="Trebuchet MS"/>
              </a:rPr>
              <a:t>another</a:t>
            </a:r>
            <a:r>
              <a:rPr sz="1700" spc="-120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computer.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969</Words>
  <Application>Microsoft Office PowerPoint</Application>
  <PresentationFormat>Widescreen</PresentationFormat>
  <Paragraphs>182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 MT</vt:lpstr>
      <vt:lpstr>Trebuchet MS</vt:lpstr>
      <vt:lpstr>Office Theme</vt:lpstr>
      <vt:lpstr>Computer Networks [TCP/IP Model]</vt:lpstr>
      <vt:lpstr>TCP/IP Model</vt:lpstr>
      <vt:lpstr>TCP/IP Model</vt:lpstr>
      <vt:lpstr>Functions of TCP/IP Layers</vt:lpstr>
      <vt:lpstr>Network Access Layer</vt:lpstr>
      <vt:lpstr>Internet Layer</vt:lpstr>
      <vt:lpstr>IP Protocol</vt:lpstr>
      <vt:lpstr>Host to Host Communication</vt:lpstr>
      <vt:lpstr>IP Addressing</vt:lpstr>
      <vt:lpstr>IP Addressing</vt:lpstr>
      <vt:lpstr>IP Addressing</vt:lpstr>
      <vt:lpstr>IP Addressing</vt:lpstr>
      <vt:lpstr>IP Addressing</vt:lpstr>
      <vt:lpstr>ARP Protocol</vt:lpstr>
      <vt:lpstr>ICMP Protocol</vt:lpstr>
      <vt:lpstr>ICMP Protocol</vt:lpstr>
      <vt:lpstr>Transport Layer</vt:lpstr>
      <vt:lpstr>User Datagram Protocol (UDP)</vt:lpstr>
      <vt:lpstr>Fields of User Datagram Protocol (UDP)</vt:lpstr>
      <vt:lpstr>Fields of User Datagram Protocol (UDP)</vt:lpstr>
      <vt:lpstr>Transmission Control Protocol (TCP)</vt:lpstr>
      <vt:lpstr>Application Layer</vt:lpstr>
      <vt:lpstr>Protocols of Application Layer</vt:lpstr>
      <vt:lpstr>Protocols of Application Layer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[TCP/IP Model]</dc:title>
  <dc:creator>Muhammad Hammad Waseem</dc:creator>
  <cp:lastModifiedBy>Windows User</cp:lastModifiedBy>
  <cp:revision>1</cp:revision>
  <dcterms:created xsi:type="dcterms:W3CDTF">2025-06-30T07:10:59Z</dcterms:created>
  <dcterms:modified xsi:type="dcterms:W3CDTF">2025-06-30T07:18:16Z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